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ngesInfos/changesInfo1.xml" ContentType="application/vnd.ms-powerpoint.changesinfo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9"/>
  </p:notesMasterIdLst>
  <p:handoutMasterIdLst>
    <p:handoutMasterId r:id="rId100"/>
  </p:handoutMasterIdLst>
  <p:sldIdLst>
    <p:sldId id="256" r:id="rId2"/>
    <p:sldId id="315" r:id="rId3"/>
    <p:sldId id="308" r:id="rId4"/>
    <p:sldId id="316" r:id="rId5"/>
    <p:sldId id="325" r:id="rId6"/>
    <p:sldId id="605" r:id="rId7"/>
    <p:sldId id="317" r:id="rId8"/>
    <p:sldId id="326" r:id="rId9"/>
    <p:sldId id="606" r:id="rId10"/>
    <p:sldId id="328" r:id="rId11"/>
    <p:sldId id="329" r:id="rId12"/>
    <p:sldId id="607" r:id="rId13"/>
    <p:sldId id="620" r:id="rId14"/>
    <p:sldId id="334" r:id="rId15"/>
    <p:sldId id="622" r:id="rId16"/>
    <p:sldId id="332" r:id="rId17"/>
    <p:sldId id="609" r:id="rId18"/>
    <p:sldId id="610" r:id="rId19"/>
    <p:sldId id="627" r:id="rId20"/>
    <p:sldId id="625" r:id="rId21"/>
    <p:sldId id="618" r:id="rId22"/>
    <p:sldId id="633" r:id="rId23"/>
    <p:sldId id="338" r:id="rId24"/>
    <p:sldId id="630" r:id="rId25"/>
    <p:sldId id="631" r:id="rId26"/>
    <p:sldId id="611" r:id="rId27"/>
    <p:sldId id="341" r:id="rId28"/>
    <p:sldId id="612" r:id="rId29"/>
    <p:sldId id="637" r:id="rId30"/>
    <p:sldId id="638" r:id="rId31"/>
    <p:sldId id="344" r:id="rId32"/>
    <p:sldId id="345" r:id="rId33"/>
    <p:sldId id="640" r:id="rId34"/>
    <p:sldId id="342" r:id="rId35"/>
    <p:sldId id="613" r:id="rId36"/>
    <p:sldId id="601" r:id="rId37"/>
    <p:sldId id="623" r:id="rId38"/>
    <p:sldId id="346" r:id="rId39"/>
    <p:sldId id="347" r:id="rId40"/>
    <p:sldId id="643" r:id="rId41"/>
    <p:sldId id="349" r:id="rId42"/>
    <p:sldId id="351" r:id="rId43"/>
    <p:sldId id="645" r:id="rId44"/>
    <p:sldId id="646" r:id="rId45"/>
    <p:sldId id="644" r:id="rId46"/>
    <p:sldId id="641" r:id="rId47"/>
    <p:sldId id="352" r:id="rId48"/>
    <p:sldId id="649" r:id="rId49"/>
    <p:sldId id="355" r:id="rId50"/>
    <p:sldId id="650" r:id="rId51"/>
    <p:sldId id="372" r:id="rId52"/>
    <p:sldId id="616" r:id="rId53"/>
    <p:sldId id="374" r:id="rId54"/>
    <p:sldId id="376" r:id="rId55"/>
    <p:sldId id="614" r:id="rId56"/>
    <p:sldId id="358" r:id="rId57"/>
    <p:sldId id="362" r:id="rId58"/>
    <p:sldId id="591" r:id="rId59"/>
    <p:sldId id="365" r:id="rId60"/>
    <p:sldId id="366" r:id="rId61"/>
    <p:sldId id="367" r:id="rId62"/>
    <p:sldId id="642" r:id="rId63"/>
    <p:sldId id="368" r:id="rId64"/>
    <p:sldId id="371" r:id="rId65"/>
    <p:sldId id="603" r:id="rId66"/>
    <p:sldId id="381" r:id="rId67"/>
    <p:sldId id="377" r:id="rId68"/>
    <p:sldId id="594" r:id="rId69"/>
    <p:sldId id="595" r:id="rId70"/>
    <p:sldId id="596" r:id="rId71"/>
    <p:sldId id="597" r:id="rId72"/>
    <p:sldId id="598" r:id="rId73"/>
    <p:sldId id="599" r:id="rId74"/>
    <p:sldId id="624" r:id="rId75"/>
    <p:sldId id="600" r:id="rId76"/>
    <p:sldId id="588" r:id="rId77"/>
    <p:sldId id="589" r:id="rId78"/>
    <p:sldId id="293" r:id="rId79"/>
    <p:sldId id="306" r:id="rId80"/>
    <p:sldId id="335" r:id="rId81"/>
    <p:sldId id="590" r:id="rId82"/>
    <p:sldId id="608" r:id="rId83"/>
    <p:sldId id="330" r:id="rId84"/>
    <p:sldId id="340" r:id="rId85"/>
    <p:sldId id="348" r:id="rId86"/>
    <p:sldId id="350" r:id="rId87"/>
    <p:sldId id="353" r:id="rId88"/>
    <p:sldId id="354" r:id="rId89"/>
    <p:sldId id="373" r:id="rId90"/>
    <p:sldId id="647" r:id="rId91"/>
    <p:sldId id="357" r:id="rId92"/>
    <p:sldId id="359" r:id="rId93"/>
    <p:sldId id="592" r:id="rId94"/>
    <p:sldId id="363" r:id="rId95"/>
    <p:sldId id="364" r:id="rId96"/>
    <p:sldId id="369" r:id="rId97"/>
    <p:sldId id="370" r:id="rId98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84140" autoAdjust="0"/>
  </p:normalViewPr>
  <p:slideViewPr>
    <p:cSldViewPr snapToGrid="0">
      <p:cViewPr varScale="1">
        <p:scale>
          <a:sx n="62" d="100"/>
          <a:sy n="62" d="100"/>
        </p:scale>
        <p:origin x="1218" y="60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87" Type="http://schemas.openxmlformats.org/officeDocument/2006/relationships/slide" Target="slides/slide86.xml"/><Relationship Id="rId102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100" Type="http://schemas.openxmlformats.org/officeDocument/2006/relationships/handoutMaster" Target="handoutMasters/handoutMaster1.xml"/><Relationship Id="rId105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103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microsoft.com/office/2015/10/relationships/revisionInfo" Target="revisionInfo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notesMaster" Target="notesMasters/notesMaster1.xml"/><Relationship Id="rId10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16/05/2026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16/05/2026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918296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18875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614177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BDC9BA21-D8BC-1049-8F29-21ED16A8E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0C584FCD-2462-F8A2-1938-163C0709B9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3DB09072-013A-0614-ACA7-D012EF0DB6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A Flexibilidade da RNN:</a:t>
            </a:r>
            <a:r>
              <a:rPr lang="pt-BR" dirty="0"/>
              <a:t> Elas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Elas iteram sobre a sequência elemento por elemento, o que as torna ideais para tradução automática ou reconhecimento de fala.</a:t>
            </a:r>
          </a:p>
          <a:p>
            <a:endParaRPr lang="pt-BR" dirty="0"/>
          </a:p>
          <a:p>
            <a:r>
              <a:rPr lang="pt-BR" dirty="0"/>
              <a:t>De forma mais geral, as </a:t>
            </a:r>
            <a:r>
              <a:rPr lang="pt-BR" dirty="0" err="1"/>
              <a:t>RNNs</a:t>
            </a:r>
            <a:r>
              <a:rPr lang="pt-BR" dirty="0"/>
              <a:t> podem operar com sequências de comprimento arbitrário, em vez de entradas de tamanho fixo. Por exemplo, elas podem receber frases, documentos ou amostras de áudio como entrada, tornando-as extremamente úteis para aplicações de processamento de linguagem natural, como tradução automática ou reconhecimento de fala.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C7CDC41C-7FEE-80DC-975E-EFA1C4B2ED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48972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D418785D-4777-F14B-69C3-B6BAFCD38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45DDF803-A9A3-9633-2028-623E4F4F6C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5B8DD547-B2C7-7112-A7DE-ADDBBB01FE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A Flexibilidade da RNN:</a:t>
            </a:r>
            <a:r>
              <a:rPr lang="pt-BR" dirty="0"/>
              <a:t> Elas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Elas iteram sobre a sequência elemento por elemento, o que as torna ideais para tradução automática ou reconhecimento de fala.</a:t>
            </a:r>
          </a:p>
          <a:p>
            <a:endParaRPr lang="pt-BR" dirty="0"/>
          </a:p>
          <a:p>
            <a:r>
              <a:rPr lang="pt-BR" dirty="0"/>
              <a:t>De forma mais geral, as </a:t>
            </a:r>
            <a:r>
              <a:rPr lang="pt-BR" dirty="0" err="1"/>
              <a:t>RNNs</a:t>
            </a:r>
            <a:r>
              <a:rPr lang="pt-BR" dirty="0"/>
              <a:t> podem operar com sequências de comprimento arbitrário, em vez de entradas de tamanho fixo. Por exemplo, elas podem receber frases, documentos ou amostras de áudio como entrada, tornando-as extremamente úteis para aplicações de processamento de linguagem natural, como tradução automática ou reconhecimento de fala.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3B49C1D4-72A0-501C-3168-8B2BFC61F9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07777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06458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9B08C83C-E5C2-59A6-3FC8-4E2D171F1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1D81688C-1D87-2F5A-4988-70044477EE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9600B931-26FB-6145-DA32-A111606D0B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A902DE62-EF02-CB68-14EE-B0761BA33C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2092949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C27FFBCC-42BA-B539-3F67-3279DB213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A5431CD9-A853-64E7-A5E5-D3ECC95EE9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FAC67AC3-547A-D3B7-E0B8-941A9C4502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AEF2FE16-CDFB-CD86-2334-D4869C4266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29551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31181A3B-733B-928E-1D84-1F64E3273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E3272983-0C6A-43FE-BA89-508E0B2125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AE2D7C08-7E68-409C-ED9B-AB35F3D740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D6ED3A18-642E-C99A-850A-9619C8CAE3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64675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5499F5C7-5805-714A-EEAF-1B426C0B73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0A6AF7C2-0C10-C2A5-74DF-5E146878EE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64F328DC-EA99-659D-C499-951EB30A4B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9D342C4F-189E-6908-E236-D10BBFF538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55336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788417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16EADFEA-E95A-172D-702A-934274076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67AC315E-90E4-B26B-DD23-4038DAFE15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7BDD3B6A-D9DA-B9E1-FF00-029F9EB2C8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D55A26C4-FEAF-EF41-9345-35B39655AF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826538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DA29DFDB-891A-E1E1-B52D-C6AEE82A0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A09A31C3-41B0-5F66-EB31-75D513FCF3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D4DE66F0-452A-52F2-65BD-1FF17CCD73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Isso transforma a RNN em algo parecido com uma rede profunda muito longa. </a:t>
            </a:r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516B5623-27E3-33B1-40FA-9BBE163816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1541341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F373F99E-96D4-E465-0481-26D4E9A59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3D81308E-10FA-7DC6-DD9D-04986B6059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087E0819-3FAB-6761-340F-977AD24197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F73537D7-7245-E4B2-0788-AD0C39EF12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6653117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E6F3C868-5C56-1670-F210-879F8B7FD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3293D50E-077B-AFB9-5B77-826A49853D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1130AECB-823E-350D-513D-259055D2E3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BA60C77D-4D54-B0EE-D5AD-64F9D79EEE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7303540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D78709CC-EB52-3D3B-C97B-A4100429D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16970236-CFE9-6513-855E-E0F06E6065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F6C7DE70-17BD-8B6B-2FC7-2B8628B0FF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5D220820-D23F-935D-8BEE-E1A04620EA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3671788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5D0F856F-66E3-CBE0-6437-99B234229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1AEBFE94-D230-7B0E-C887-977799B28B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7D8F8232-9A2A-7AF1-C33B-59B7B8D325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8D1F3297-B90D-C7C9-16F5-94E583ECE2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584069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b="1" dirty="0"/>
                  <a:t>O </a:t>
                </a:r>
                <a:r>
                  <a:rPr lang="en-US" b="1" dirty="0" err="1"/>
                  <a:t>problema</a:t>
                </a:r>
                <a:endParaRPr lang="en-US" b="1" dirty="0"/>
              </a:p>
              <a:p>
                <a:r>
                  <a:rPr lang="en-US" dirty="0" err="1"/>
                  <a:t>Suponha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a </a:t>
                </a:r>
                <a:r>
                  <a:rPr lang="en-US" dirty="0" err="1"/>
                  <a:t>saída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𝑡</m:t>
                    </m:r>
                    <m:r>
                      <a:rPr lang="en-U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=4</m:t>
                    </m:r>
                  </m:oMath>
                </a14:m>
                <a:r>
                  <a:rPr lang="en-US" dirty="0" err="1"/>
                  <a:t>esteja</a:t>
                </a:r>
                <a:r>
                  <a:rPr lang="en-US" dirty="0"/>
                  <a:t> </a:t>
                </a:r>
                <a:r>
                  <a:rPr lang="en-US" dirty="0" err="1"/>
                  <a:t>errada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Esse </a:t>
                </a:r>
                <a:r>
                  <a:rPr lang="en-US" dirty="0" err="1"/>
                  <a:t>erro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ter </a:t>
                </a:r>
                <a:r>
                  <a:rPr lang="en-US" dirty="0" err="1"/>
                  <a:t>sido</a:t>
                </a:r>
                <a:r>
                  <a:rPr lang="en-US" dirty="0"/>
                  <a:t> </a:t>
                </a:r>
                <a:r>
                  <a:rPr lang="en-US" dirty="0" err="1"/>
                  <a:t>causado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:</a:t>
                </a:r>
              </a:p>
              <a:p>
                <a:r>
                  <a:rPr lang="en-US" dirty="0"/>
                  <a:t>o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4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:r>
                  <a:rPr lang="en-US" dirty="0"/>
                  <a:t>mas </a:t>
                </a:r>
                <a:r>
                  <a:rPr lang="en-US" dirty="0" err="1"/>
                  <a:t>também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3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:r>
                  <a:rPr lang="en-US" dirty="0"/>
                  <a:t>e </a:t>
                </a:r>
                <a:r>
                  <a:rPr lang="en-US" dirty="0" err="1"/>
                  <a:t>até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1</m:t>
                        </m:r>
                      </m:sub>
                    </m:sSub>
                  </m:oMath>
                </a14:m>
                <a:r>
                  <a:rPr lang="ar-AE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b="1" dirty="0"/>
                  <a:t>O </a:t>
                </a:r>
                <a:r>
                  <a:rPr lang="en-US" b="1" dirty="0" err="1"/>
                  <a:t>problema</a:t>
                </a:r>
                <a:endParaRPr lang="en-US" b="1" dirty="0"/>
              </a:p>
              <a:p>
                <a:r>
                  <a:rPr lang="en-US" dirty="0" err="1"/>
                  <a:t>Suponha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a </a:t>
                </a:r>
                <a:r>
                  <a:rPr lang="en-US" dirty="0" err="1"/>
                  <a:t>saída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𝑡=4</a:t>
                </a:r>
                <a:r>
                  <a:rPr lang="en-US" dirty="0" err="1"/>
                  <a:t>esteja</a:t>
                </a:r>
                <a:r>
                  <a:rPr lang="en-US" dirty="0"/>
                  <a:t> </a:t>
                </a:r>
                <a:r>
                  <a:rPr lang="en-US" dirty="0" err="1"/>
                  <a:t>errada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Esse </a:t>
                </a:r>
                <a:r>
                  <a:rPr lang="en-US" dirty="0" err="1"/>
                  <a:t>erro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ter </a:t>
                </a:r>
                <a:r>
                  <a:rPr lang="en-US" dirty="0" err="1"/>
                  <a:t>sido</a:t>
                </a:r>
                <a:r>
                  <a:rPr lang="en-US" dirty="0"/>
                  <a:t> </a:t>
                </a:r>
                <a:r>
                  <a:rPr lang="en-US" dirty="0" err="1"/>
                  <a:t>causado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:</a:t>
                </a:r>
              </a:p>
              <a:p>
                <a:r>
                  <a:rPr lang="en-US" dirty="0"/>
                  <a:t>o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ℎ_4</a:t>
                </a:r>
                <a:r>
                  <a:rPr lang="ar-AE" dirty="0"/>
                  <a:t>, </a:t>
                </a:r>
              </a:p>
              <a:p>
                <a:r>
                  <a:rPr lang="en-US" dirty="0"/>
                  <a:t>mas </a:t>
                </a:r>
                <a:r>
                  <a:rPr lang="en-US" dirty="0" err="1"/>
                  <a:t>também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ℎ_3</a:t>
                </a:r>
                <a:r>
                  <a:rPr lang="ar-AE" dirty="0"/>
                  <a:t>, </a:t>
                </a:r>
              </a:p>
              <a:p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ℎ_2</a:t>
                </a:r>
                <a:r>
                  <a:rPr lang="ar-AE" dirty="0"/>
                  <a:t>, </a:t>
                </a:r>
              </a:p>
              <a:p>
                <a:r>
                  <a:rPr lang="en-US" dirty="0"/>
                  <a:t>e </a:t>
                </a:r>
                <a:r>
                  <a:rPr lang="en-US" dirty="0" err="1"/>
                  <a:t>até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ℎ_1</a:t>
                </a:r>
                <a:r>
                  <a:rPr lang="ar-AE" dirty="0"/>
                  <a:t>.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0928084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https://web.stanford.edu/class/archive/cs/cs224n/cs224n.1194/slides/cs224n-2019-lecture07-fancy-rnn.pdf </a:t>
            </a:r>
          </a:p>
          <a:p>
            <a:r>
              <a:rPr lang="pt-BR" dirty="0"/>
              <a:t>[2] https://medium.com/@surajprakash612/recurrent-neural-networks-rnns-the-engine-for-sequential-data-fc1d552ebfc1</a:t>
            </a:r>
          </a:p>
          <a:p>
            <a:r>
              <a:rPr lang="pt-BR" dirty="0"/>
              <a:t>[3] https://d2l.ai/chapter_recurrent-neural-networks/bptt.html</a:t>
            </a:r>
          </a:p>
          <a:p>
            <a:r>
              <a:rPr lang="pt-BR" dirty="0"/>
              <a:t>[4] https://weberna.github.io/blog/2017/11/15/LSTM-Vanishing-Gradients.html</a:t>
            </a:r>
          </a:p>
          <a:p>
            <a:r>
              <a:rPr lang="pt-BR" dirty="0"/>
              <a:t>[5] https://eclass.upatras.gr/modules/document/file.php/EE935/%CE%97%CE%BB%CE%B5%CE%BA%CF%84%CF%81%CE%BF%CE%BD%CE%B9%CE%BA%CE%AC%20%CE%92%CE%B9%CE%B2%CE%BB%CE%AF%CE%B1/2018_Book_NeuralNetworksAndDeepLeaning.pdf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5435138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0F599D2F-876E-BB1A-961B-A09112115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7B8F1673-F1CD-2EC3-16A4-998A51A1E4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B7EBEC6C-FBC9-4C08-4997-2DF40721D9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https://web.stanford.edu/class/archive/cs/cs224n/cs224n.1194/slides/cs224n-2019-lecture07-fancy-rnn.pdf </a:t>
            </a:r>
          </a:p>
          <a:p>
            <a:r>
              <a:rPr lang="pt-BR" dirty="0"/>
              <a:t>[2] https://medium.com/@surajprakash612/recurrent-neural-networks-rnns-the-engine-for-sequential-data-fc1d552ebfc1</a:t>
            </a:r>
          </a:p>
          <a:p>
            <a:r>
              <a:rPr lang="pt-BR" dirty="0"/>
              <a:t>[3] https://d2l.ai/chapter_recurrent-neural-networks/bptt.html</a:t>
            </a:r>
          </a:p>
          <a:p>
            <a:r>
              <a:rPr lang="pt-BR" dirty="0"/>
              <a:t>[4] https://weberna.github.io/blog/2017/11/15/LSTM-Vanishing-Gradients.html</a:t>
            </a:r>
          </a:p>
          <a:p>
            <a:r>
              <a:rPr lang="pt-BR" dirty="0"/>
              <a:t>[5] https://eclass.upatras.gr/modules/document/file.php/EE935/%CE%97%CE%BB%CE%B5%CE%BA%CF%84%CF%81%CE%BF%CE%BD%CE%B9%CE%BA%CE%AC%20%CE%92%CE%B9%CE%B2%CE%BB%CE%AF%CE%B1/2018_Book_NeuralNetworksAndDeepLeaning.pdf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73DD59FC-4009-0F3A-348B-B8D4863BDC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0035744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EE0F0EAF-7848-C03E-2CE6-EB11D22641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771F3D72-ADBB-EBCB-029C-4C93AF8DB9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40EF2D66-FEE9-BF28-90BD-C438366309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https://web.stanford.edu/class/archive/cs/cs224n/cs224n.1194/slides/cs224n-2019-lecture07-fancy-rnn.pdf </a:t>
            </a:r>
          </a:p>
          <a:p>
            <a:r>
              <a:rPr lang="pt-BR" dirty="0"/>
              <a:t>[2] https://medium.com/@surajprakash612/recurrent-neural-networks-rnns-the-engine-for-sequential-data-fc1d552ebfc1</a:t>
            </a:r>
          </a:p>
          <a:p>
            <a:r>
              <a:rPr lang="pt-BR" dirty="0"/>
              <a:t>[3] https://d2l.ai/chapter_recurrent-neural-networks/bptt.html</a:t>
            </a:r>
          </a:p>
          <a:p>
            <a:r>
              <a:rPr lang="pt-BR" dirty="0"/>
              <a:t>[4] https://weberna.github.io/blog/2017/11/15/LSTM-Vanishing-Gradients.html</a:t>
            </a:r>
          </a:p>
          <a:p>
            <a:r>
              <a:rPr lang="pt-BR" dirty="0"/>
              <a:t>[5] https://eclass.upatras.gr/modules/document/file.php/EE935/%CE%97%CE%BB%CE%B5%CE%BA%CF%84%CF%81%CE%BF%CE%BD%CE%B9%CE%BA%CE%AC%20%CE%92%CE%B9%CE%B2%CE%BB%CE%AF%CE%B1/2018_Book_NeuralNetworksAndDeepLeaning.pdf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78DFDBA4-83C0-D64A-1B55-22DBA7D828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823145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655836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Esses </a:t>
            </a:r>
            <a:r>
              <a:rPr lang="pt-BR" dirty="0" err="1"/>
              <a:t>gates</a:t>
            </a:r>
            <a:r>
              <a:rPr lang="pt-BR" dirty="0"/>
              <a:t> permitem que a rede:</a:t>
            </a:r>
          </a:p>
          <a:p>
            <a:r>
              <a:rPr lang="pt-BR" b="1" dirty="0"/>
              <a:t>controle o fluxo de informação</a:t>
            </a:r>
            <a:r>
              <a:rPr lang="pt-BR" dirty="0"/>
              <a:t> </a:t>
            </a:r>
          </a:p>
          <a:p>
            <a:r>
              <a:rPr lang="pt-BR" b="1" dirty="0"/>
              <a:t>controle o fluxo do gradiente</a:t>
            </a:r>
            <a:r>
              <a:rPr lang="pt-BR" dirty="0"/>
              <a:t> </a:t>
            </a:r>
          </a:p>
          <a:p>
            <a:r>
              <a:rPr lang="pt-BR" dirty="0"/>
              <a:t>👉 Diferente da RNN simples, onde tudo é propagado sem controle.</a:t>
            </a:r>
          </a:p>
          <a:p>
            <a:r>
              <a:rPr lang="en-US" dirty="0"/>
              <a:t>	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0622370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325EF0C8-2D91-FA35-AF2B-95E36E0E1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B9AAD211-78C1-76CF-37C1-2799926821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3984A298-DEE7-D577-1EDF-6AEC8A4A40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Porque cada estado carrega um pouco de informação de cada entrada anterior.</a:t>
            </a:r>
          </a:p>
          <a:p>
            <a:endParaRPr lang="pt-BR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memória acumulada no estado oculto atual é suficiente para representar o passado distante, evitando a necessidade matemática de voltar até o primeiro passo da sequência para calcular o gradiente.</a:t>
            </a:r>
            <a:endParaRPr lang="pt-BR" dirty="0"/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https://d2l.ai/chapter_recurrent-neural-networks/bptt.html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B6FFB4E4-8199-22E4-AFF4-DEB1442C3C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508771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C1A56F62-4748-BDBD-8E9B-797882C58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66D2DC2D-12C6-EEBA-90B7-40B867D944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="" xmlns:a16="http://schemas.microsoft.com/office/drawing/2014/main" id="{256DD416-D9FB-0245-EEFF-AA12A9C8096A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Porque cada estado carrega um pouco de informação de cada entrada anterior.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pt-BR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 memória acumulada no estado oculto atual é suficiente para representar o passado distante, evitando a necessidade matemática de voltar até o primeiro passo da sequência para calcular o gradiente.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b="1" dirty="0" err="1"/>
                  <a:t>Outra</a:t>
                </a:r>
                <a:r>
                  <a:rPr lang="en-US" b="1" dirty="0"/>
                  <a:t> </a:t>
                </a:r>
                <a:r>
                  <a:rPr lang="en-US" b="1" dirty="0" err="1"/>
                  <a:t>razão</a:t>
                </a:r>
                <a:r>
                  <a:rPr lang="en-US" b="1" dirty="0"/>
                  <a:t> </a:t>
                </a:r>
                <a:r>
                  <a:rPr lang="en-US" b="1" dirty="0" err="1"/>
                  <a:t>importante</a:t>
                </a:r>
                <a:endParaRPr lang="en-US" b="1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gradientes</a:t>
                </a:r>
                <a:r>
                  <a:rPr lang="en-US" dirty="0"/>
                  <a:t> </a:t>
                </a:r>
                <a:r>
                  <a:rPr lang="en-US" dirty="0" err="1"/>
                  <a:t>antigos</a:t>
                </a:r>
                <a:r>
                  <a:rPr lang="en-US" dirty="0"/>
                  <a:t> </a:t>
                </a:r>
                <a:r>
                  <a:rPr lang="en-US" dirty="0" err="1"/>
                  <a:t>normalmente</a:t>
                </a:r>
                <a:r>
                  <a:rPr lang="en-US" dirty="0"/>
                  <a:t> </a:t>
                </a:r>
                <a:r>
                  <a:rPr lang="en-US" dirty="0" err="1"/>
                  <a:t>ficam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pequenos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Durante o BPTT: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∏"/>
                          <m:limLoc m:val="subSup"/>
                          <m:grow m:val="on"/>
                          <m:supHide m:val="on"/>
                          <m:ctrlPr>
                            <a:rPr lang="ar-AE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𝑘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𝑘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𝑘</m:t>
                                  </m:r>
                                  <m:r>
                                    <a:rPr lang="ar-AE" sz="1200" i="0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−</m:t>
                                  </m:r>
                                  <m:r>
                                    <a:rPr lang="ar-AE" sz="1200" i="0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</m:oMath>
                  </m:oMathPara>
                </a14:m>
                <a:endParaRPr lang="ar-AE" dirty="0"/>
              </a:p>
              <a:p>
                <a:r>
                  <a:rPr lang="en-US" dirty="0" err="1"/>
                  <a:t>Multiplicações</a:t>
                </a:r>
                <a:r>
                  <a:rPr lang="en-US" dirty="0"/>
                  <a:t> </a:t>
                </a:r>
                <a:r>
                  <a:rPr lang="en-US" dirty="0" err="1"/>
                  <a:t>sucessivas</a:t>
                </a:r>
                <a:r>
                  <a:rPr lang="en-US" dirty="0"/>
                  <a:t> </a:t>
                </a:r>
                <a:r>
                  <a:rPr lang="en-US" dirty="0" err="1"/>
                  <a:t>tendem</a:t>
                </a:r>
                <a:r>
                  <a:rPr lang="en-US" dirty="0"/>
                  <a:t> a:</a:t>
                </a:r>
              </a:p>
              <a:p>
                <a:r>
                  <a:rPr lang="en-US" dirty="0" err="1"/>
                  <a:t>desaparecer</a:t>
                </a:r>
                <a:r>
                  <a:rPr lang="en-US" dirty="0"/>
                  <a:t> (vanishing gradient); </a:t>
                </a:r>
              </a:p>
              <a:p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explodir</a:t>
                </a:r>
                <a:r>
                  <a:rPr lang="en-US" dirty="0"/>
                  <a:t>. </a:t>
                </a:r>
              </a:p>
              <a:p>
                <a:r>
                  <a:rPr lang="en-US" dirty="0"/>
                  <a:t>Na </a:t>
                </a:r>
                <a:r>
                  <a:rPr lang="en-US" dirty="0" err="1"/>
                  <a:t>prática</a:t>
                </a:r>
                <a:r>
                  <a:rPr lang="en-US" dirty="0"/>
                  <a:t>:</a:t>
                </a:r>
              </a:p>
              <a:p>
                <a:r>
                  <a:rPr lang="en-US" dirty="0" err="1"/>
                  <a:t>contribuições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antigas</a:t>
                </a:r>
                <a:r>
                  <a:rPr lang="en-US" dirty="0"/>
                  <a:t> </a:t>
                </a:r>
                <a:r>
                  <a:rPr lang="en-US" dirty="0" err="1"/>
                  <a:t>já</a:t>
                </a:r>
                <a:r>
                  <a:rPr lang="en-US" dirty="0"/>
                  <a:t> </a:t>
                </a:r>
                <a:r>
                  <a:rPr lang="en-US" dirty="0" err="1"/>
                  <a:t>têm</a:t>
                </a:r>
                <a:r>
                  <a:rPr lang="en-US" dirty="0"/>
                  <a:t> </a:t>
                </a:r>
                <a:r>
                  <a:rPr lang="en-US" dirty="0" err="1"/>
                  <a:t>impacto</a:t>
                </a:r>
                <a:r>
                  <a:rPr lang="en-US" dirty="0"/>
                  <a:t> </a:t>
                </a:r>
                <a:r>
                  <a:rPr lang="en-US" dirty="0" err="1"/>
                  <a:t>quase</a:t>
                </a:r>
                <a:r>
                  <a:rPr lang="en-US" dirty="0"/>
                  <a:t> </a:t>
                </a:r>
                <a:r>
                  <a:rPr lang="en-US" dirty="0" err="1"/>
                  <a:t>nulo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Então</a:t>
                </a:r>
                <a:r>
                  <a:rPr lang="en-US" dirty="0"/>
                  <a:t> </a:t>
                </a:r>
                <a:r>
                  <a:rPr lang="en-US" dirty="0" err="1"/>
                  <a:t>truncar</a:t>
                </a:r>
                <a:r>
                  <a:rPr lang="en-US" dirty="0"/>
                  <a:t> </a:t>
                </a:r>
                <a:r>
                  <a:rPr lang="en-US" dirty="0" err="1"/>
                  <a:t>frequentemente</a:t>
                </a:r>
                <a:r>
                  <a:rPr lang="en-US" dirty="0"/>
                  <a:t> </a:t>
                </a:r>
                <a:r>
                  <a:rPr lang="en-US" dirty="0" err="1"/>
                  <a:t>perde</a:t>
                </a:r>
                <a:r>
                  <a:rPr lang="en-US" dirty="0"/>
                  <a:t> </a:t>
                </a:r>
                <a:r>
                  <a:rPr lang="en-US" dirty="0" err="1"/>
                  <a:t>pouca</a:t>
                </a:r>
                <a:r>
                  <a:rPr lang="en-US" dirty="0"/>
                  <a:t> </a:t>
                </a:r>
                <a:r>
                  <a:rPr lang="en-US" dirty="0" err="1"/>
                  <a:t>informação</a:t>
                </a:r>
                <a:r>
                  <a:rPr lang="en-US" dirty="0"/>
                  <a:t> </a:t>
                </a:r>
                <a:r>
                  <a:rPr lang="en-US" dirty="0" err="1"/>
                  <a:t>útil</a:t>
                </a:r>
                <a:r>
                  <a:rPr lang="en-US" dirty="0"/>
                  <a:t>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Referências</a:t>
                </a:r>
              </a:p>
              <a:p>
                <a:r>
                  <a:rPr lang="pt-BR" dirty="0"/>
                  <a:t>[1] https://d2l.ai/chapter_recurrent-neural-networks/bptt.html</a:t>
                </a:r>
                <a:endParaRPr lang="en-US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256DD416-D9FB-0245-EEFF-AA12A9C8096A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Porque cada estado carrega um pouco de informação de cada entrada anterior.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pt-BR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 memória acumulada no estado oculto atual é suficiente para representar o passado distante, evitando a necessidade matemática de voltar até o primeiro passo da sequência para calcular o gradiente.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b="1" dirty="0" err="1"/>
                  <a:t>Outra</a:t>
                </a:r>
                <a:r>
                  <a:rPr lang="en-US" b="1" dirty="0"/>
                  <a:t> </a:t>
                </a:r>
                <a:r>
                  <a:rPr lang="en-US" b="1" dirty="0" err="1"/>
                  <a:t>razão</a:t>
                </a:r>
                <a:r>
                  <a:rPr lang="en-US" b="1" dirty="0"/>
                  <a:t> </a:t>
                </a:r>
                <a:r>
                  <a:rPr lang="en-US" b="1" dirty="0" err="1"/>
                  <a:t>importante</a:t>
                </a:r>
                <a:endParaRPr lang="en-US" b="1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gradientes</a:t>
                </a:r>
                <a:r>
                  <a:rPr lang="en-US" dirty="0"/>
                  <a:t> </a:t>
                </a:r>
                <a:r>
                  <a:rPr lang="en-US" dirty="0" err="1"/>
                  <a:t>antigos</a:t>
                </a:r>
                <a:r>
                  <a:rPr lang="en-US" dirty="0"/>
                  <a:t> </a:t>
                </a:r>
                <a:r>
                  <a:rPr lang="en-US" dirty="0" err="1"/>
                  <a:t>normalmente</a:t>
                </a:r>
                <a:r>
                  <a:rPr lang="en-US" dirty="0"/>
                  <a:t> </a:t>
                </a:r>
                <a:r>
                  <a:rPr lang="en-US" dirty="0" err="1"/>
                  <a:t>ficam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pequenos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Durante o BPTT:</a:t>
                </a:r>
              </a:p>
              <a:p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∏130_𝑘▒(∂ℎ_𝑘)/(∂ℎ_(𝑘−1) )</a:t>
                </a:r>
                <a:endParaRPr lang="ar-AE" dirty="0"/>
              </a:p>
              <a:p>
                <a:r>
                  <a:rPr lang="en-US" dirty="0" err="1"/>
                  <a:t>Multiplicações</a:t>
                </a:r>
                <a:r>
                  <a:rPr lang="en-US" dirty="0"/>
                  <a:t> </a:t>
                </a:r>
                <a:r>
                  <a:rPr lang="en-US" dirty="0" err="1"/>
                  <a:t>sucessivas</a:t>
                </a:r>
                <a:r>
                  <a:rPr lang="en-US" dirty="0"/>
                  <a:t> </a:t>
                </a:r>
                <a:r>
                  <a:rPr lang="en-US" dirty="0" err="1"/>
                  <a:t>tendem</a:t>
                </a:r>
                <a:r>
                  <a:rPr lang="en-US" dirty="0"/>
                  <a:t> a:</a:t>
                </a:r>
              </a:p>
              <a:p>
                <a:r>
                  <a:rPr lang="en-US" dirty="0" err="1"/>
                  <a:t>desaparecer</a:t>
                </a:r>
                <a:r>
                  <a:rPr lang="en-US" dirty="0"/>
                  <a:t> (vanishing gradient); </a:t>
                </a:r>
              </a:p>
              <a:p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explodir</a:t>
                </a:r>
                <a:r>
                  <a:rPr lang="en-US" dirty="0"/>
                  <a:t>. </a:t>
                </a:r>
              </a:p>
              <a:p>
                <a:r>
                  <a:rPr lang="en-US" dirty="0"/>
                  <a:t>Na </a:t>
                </a:r>
                <a:r>
                  <a:rPr lang="en-US" dirty="0" err="1"/>
                  <a:t>prática</a:t>
                </a:r>
                <a:r>
                  <a:rPr lang="en-US" dirty="0"/>
                  <a:t>:</a:t>
                </a:r>
              </a:p>
              <a:p>
                <a:r>
                  <a:rPr lang="en-US" dirty="0" err="1"/>
                  <a:t>contribuições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antigas</a:t>
                </a:r>
                <a:r>
                  <a:rPr lang="en-US" dirty="0"/>
                  <a:t> </a:t>
                </a:r>
                <a:r>
                  <a:rPr lang="en-US" dirty="0" err="1"/>
                  <a:t>já</a:t>
                </a:r>
                <a:r>
                  <a:rPr lang="en-US" dirty="0"/>
                  <a:t> </a:t>
                </a:r>
                <a:r>
                  <a:rPr lang="en-US" dirty="0" err="1"/>
                  <a:t>têm</a:t>
                </a:r>
                <a:r>
                  <a:rPr lang="en-US" dirty="0"/>
                  <a:t> </a:t>
                </a:r>
                <a:r>
                  <a:rPr lang="en-US" dirty="0" err="1"/>
                  <a:t>impacto</a:t>
                </a:r>
                <a:r>
                  <a:rPr lang="en-US" dirty="0"/>
                  <a:t> </a:t>
                </a:r>
                <a:r>
                  <a:rPr lang="en-US" dirty="0" err="1"/>
                  <a:t>quase</a:t>
                </a:r>
                <a:r>
                  <a:rPr lang="en-US" dirty="0"/>
                  <a:t> </a:t>
                </a:r>
                <a:r>
                  <a:rPr lang="en-US" dirty="0" err="1"/>
                  <a:t>nulo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Então</a:t>
                </a:r>
                <a:r>
                  <a:rPr lang="en-US" dirty="0"/>
                  <a:t> </a:t>
                </a:r>
                <a:r>
                  <a:rPr lang="en-US" dirty="0" err="1"/>
                  <a:t>truncar</a:t>
                </a:r>
                <a:r>
                  <a:rPr lang="en-US" dirty="0"/>
                  <a:t> </a:t>
                </a:r>
                <a:r>
                  <a:rPr lang="en-US" dirty="0" err="1"/>
                  <a:t>frequentemente</a:t>
                </a:r>
                <a:r>
                  <a:rPr lang="en-US" dirty="0"/>
                  <a:t> </a:t>
                </a:r>
                <a:r>
                  <a:rPr lang="en-US" dirty="0" err="1"/>
                  <a:t>perde</a:t>
                </a:r>
                <a:r>
                  <a:rPr lang="en-US" dirty="0"/>
                  <a:t> </a:t>
                </a:r>
                <a:r>
                  <a:rPr lang="en-US" dirty="0" err="1"/>
                  <a:t>pouca</a:t>
                </a:r>
                <a:r>
                  <a:rPr lang="en-US" dirty="0"/>
                  <a:t> </a:t>
                </a:r>
                <a:r>
                  <a:rPr lang="en-US" dirty="0" err="1"/>
                  <a:t>informação</a:t>
                </a:r>
                <a:r>
                  <a:rPr lang="en-US" dirty="0"/>
                  <a:t> </a:t>
                </a:r>
                <a:r>
                  <a:rPr lang="en-US" dirty="0" err="1"/>
                  <a:t>útil</a:t>
                </a:r>
                <a:r>
                  <a:rPr lang="en-US" dirty="0"/>
                  <a:t>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Referências</a:t>
                </a:r>
              </a:p>
              <a:p>
                <a:r>
                  <a:rPr lang="pt-BR" dirty="0"/>
                  <a:t>[1] https://d2l.ai/chapter_recurrent-neural-networks/bptt.html</a:t>
                </a:r>
                <a:endParaRPr lang="en-US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400EFD99-EFF4-77CF-2316-515A128489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0725485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4534BABD-C6BA-B242-44D4-0D6C5A374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="" xmlns:a16="http://schemas.microsoft.com/office/drawing/2014/main" id="{F27738A7-2AEB-8A53-4EB7-BC3FD88636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="" xmlns:a16="http://schemas.microsoft.com/office/drawing/2014/main" id="{5458E17C-27B6-C886-364B-BADEC2D448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Procurando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Dory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3D0D4AB1-9E8B-F207-5580-BB12C93E1C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7449397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Eventos separados por mais do que esse horizonte não geram sinal de atualização direto, impedindo a rede de aprender correlações temporais que excedam a janela definida.</a:t>
            </a:r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6447570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2937327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6789552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BA9240E1-B284-11DC-DF84-9C55257C5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="" xmlns:a16="http://schemas.microsoft.com/office/drawing/2014/main" id="{DF6BFCF8-5C7F-EDC5-7B8C-6F5469516D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="" xmlns:a16="http://schemas.microsoft.com/office/drawing/2014/main" id="{6F91DB64-6563-C7F5-B8B4-E9E21B36C7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C5192F11-8162-11BC-1C3D-C6222C1CA4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9185046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Mecanismos de Controle: As </a:t>
            </a:r>
            <a:r>
              <a:rPr lang="pt-BR" dirty="0" err="1"/>
              <a:t>LSTMs</a:t>
            </a:r>
            <a:r>
              <a:rPr lang="pt-BR" dirty="0"/>
              <a:t> utilizam três mecanismos principais (ativados por sigmoide) para regular o fluxo de informações: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Esquecimento: Determina o que descartar do estado anterior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Entrada: Determina qual nova informação adicionar ao estado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Saída: Determina qual parte do estado da célula será emitida.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3595676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8866E6D1-C5A9-5E02-CF49-31B3C4C63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51536EFD-EBEE-4772-D65A-6AB582407E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AE7AC9C5-F488-A6D7-4F15-65AEE652BA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Mecanismos de Controle: As </a:t>
            </a:r>
            <a:r>
              <a:rPr lang="pt-BR" dirty="0" err="1"/>
              <a:t>LSTMs</a:t>
            </a:r>
            <a:r>
              <a:rPr lang="pt-BR" dirty="0"/>
              <a:t> utilizam três mecanismos principais (ativados por sigmoide) para regular o fluxo de informações: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Esquecimento: Determina o que descartar do estado anterior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Entrada: Determina qual nova informação adicionar ao estado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Saída: Determina qual parte do estado da célula será emitida.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36E7E4DB-58B1-DD85-186B-2CF37F5738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3883710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7707427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058806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FAF21517-1760-10C5-9ACD-3D4AD737C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5F98B198-C479-EA3D-55BA-9D67166985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30F676CF-1DC3-F6BB-6166-82AE18D625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77642C76-6177-C1C7-E8A0-9A1EAA8D06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4531073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779292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469682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https://towardsdatascience.com/a-brief-introduction-to-recurrent-neural-networks-638f64a61ff4/</a:t>
            </a:r>
          </a:p>
          <a:p>
            <a:r>
              <a:rPr lang="pt-BR" dirty="0"/>
              <a:t>[2] https://colah.github.io/posts/2015-08-Understanding-LSTMs/</a:t>
            </a:r>
          </a:p>
          <a:p>
            <a:r>
              <a:rPr lang="pt-BR" dirty="0"/>
              <a:t>[3] https://www.sintef.no/contentassets/9689621c8cda44d9b2bc91c5fba21135/bianchi.pdf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270727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As </a:t>
            </a:r>
            <a:r>
              <a:rPr lang="pt-BR" dirty="0" err="1"/>
              <a:t>GRUs</a:t>
            </a:r>
            <a:r>
              <a:rPr lang="pt-BR" dirty="0"/>
              <a:t> possuem as seguintes duas características distintivas:</a:t>
            </a:r>
          </a:p>
          <a:p>
            <a:endParaRPr lang="pt-BR" dirty="0"/>
          </a:p>
          <a:p>
            <a:r>
              <a:rPr lang="pt-BR" dirty="0"/>
              <a:t>Portas de reinicialização ajudam a capturar dependências de curto prazo em sequências.</a:t>
            </a:r>
          </a:p>
          <a:p>
            <a:endParaRPr lang="pt-BR" dirty="0"/>
          </a:p>
          <a:p>
            <a:r>
              <a:rPr lang="pt-BR" dirty="0"/>
              <a:t>Portas de atualização ajudam a capturar dependências de longo prazo em sequências.</a:t>
            </a:r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https://towardsdatascience.com/a-brief-introduction-to-recurrent-neural-networks-638f64a61ff4/</a:t>
            </a:r>
          </a:p>
          <a:p>
            <a:r>
              <a:rPr lang="pt-BR" dirty="0"/>
              <a:t>[2] https://colah.github.io/posts/2015-08-Understanding-LSTMs/</a:t>
            </a:r>
          </a:p>
          <a:p>
            <a:r>
              <a:rPr lang="pt-BR" dirty="0"/>
              <a:t>[3]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2435495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https://weberna.github.io/blog/2017/11/15/LSTM-Vanishing-Gradients.html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0594373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083D3213-0C35-07AC-78F8-52C6D5CDA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D9EE4CB0-4107-1059-1A28-15E957C15E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BC6654DA-65BA-C1F1-6DD3-9F046560DB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https://weberna.github.io/blog/2017/11/15/LSTM-Vanishing-Gradients.html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5EA4336C-1795-AE8D-9FED-22ABF296F5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9885035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8374224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D41E7141-3BE9-0C7C-2257-7BBC9CBA8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BF43EC88-AB52-4AEA-3FC4-7FA49BA592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8978DEF2-1B77-EE8D-7E78-A5DF19845A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C35FF1CD-7004-7DEE-2019-1AB6EC1121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2858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Uma rede do tipo sequência para vetor (</a:t>
            </a:r>
            <a:r>
              <a:rPr lang="pt-BR" dirty="0" err="1"/>
              <a:t>encoder</a:t>
            </a:r>
            <a:r>
              <a:rPr lang="pt-BR" dirty="0"/>
              <a:t>) conectada a uma rede do tipo vetor para sequência (</a:t>
            </a:r>
            <a:r>
              <a:rPr lang="pt-BR" dirty="0" err="1"/>
              <a:t>decoder</a:t>
            </a:r>
            <a:r>
              <a:rPr lang="pt-BR" dirty="0"/>
              <a:t>)</a:t>
            </a:r>
          </a:p>
          <a:p>
            <a:r>
              <a:rPr lang="pt-BR" dirty="0"/>
              <a:t>O </a:t>
            </a:r>
            <a:r>
              <a:rPr lang="pt-BR" dirty="0" err="1"/>
              <a:t>encoder</a:t>
            </a:r>
            <a:r>
              <a:rPr lang="pt-BR" dirty="0"/>
              <a:t> gera um vetor contendo informação latente da sequência de entrada e o </a:t>
            </a:r>
            <a:r>
              <a:rPr lang="pt-BR" dirty="0" err="1"/>
              <a:t>decoder</a:t>
            </a:r>
            <a:r>
              <a:rPr lang="pt-BR" dirty="0"/>
              <a:t> decodifica ele em uma sequência.</a:t>
            </a:r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807479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https://colab.research.google.com/github/zz4fap/c24_inteligencia_artificial/blob/master/notebooks/rnn.ipynb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12130604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6355876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258539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C8D7C511-A7D2-5EB1-97DA-D3F90E4E1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96374BD0-DC0C-EDA8-E7F1-DE8D8E563B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EEAD1AE6-6E02-5D42-7E6C-4FEB17403E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2CD063DC-C958-65C8-2E55-CB2FF95203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7688155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C8D7C511-A7D2-5EB1-97DA-D3F90E4E1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96374BD0-DC0C-EDA8-E7F1-DE8D8E563B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EEAD1AE6-6E02-5D42-7E6C-4FEB17403E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2CD063DC-C958-65C8-2E55-CB2FF95203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58189113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05383363-000A-0D60-6C1E-B401D6511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0FBA9BC8-6559-200B-A0DC-C7C193B50C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CB93FD94-0D0E-D985-C243-70A96161BF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8444AF09-4A8D-EB58-C542-61C146A8C5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3144282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FB775DFA-E39B-0EF4-1143-A327A7CAA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87859BB1-D8C1-65C8-6748-CB851BA5D5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F422EE45-2516-549E-714A-C375BCD8BB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900447B7-D6A2-FFD4-F49A-1A0A90A830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5739186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F6D5BA58-4E58-75EA-7BEC-ED2E6436B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E53AD002-AA40-E355-B02F-572AE6190D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C40F3552-4534-C924-31C6-211591DD81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387906D9-35CD-7BBD-9B83-9AF5394718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96017809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2888EBD2-AA05-D187-F34B-ABF6C940A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2541C393-F2DD-B5B3-8124-2A3017B81B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04BF964D-0563-00C6-DDFF-D33E4F0D35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CD49EF4F-E76D-C638-D820-CC9A1EFEA9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29653135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FFC757CE-BF53-437D-28DC-9D1656072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1B0179AB-2D11-DEBD-9B1F-449BB16F92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6F126D2B-715D-BDF5-8BC7-7ACBED6228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F6DE5B57-5F1E-72D0-DAE3-0F58D801D6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9719633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72845150-E3A0-4AA8-1B82-4EB9CA0E8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A53E8584-A895-574E-5864-7A79AC8845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C4C0F3F9-B45E-5A1E-7FC6-0155077F71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761CD3A3-7795-BD62-EC53-236C1B172A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8610720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AFC3BFA3-59AF-04F9-0576-93E8CE77B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90AC571C-6EE6-6F3D-F881-BE06D868B3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30E6B7E9-D7F9-10C6-4778-8BEC26413A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17BE00AF-4D89-539C-EE0E-6F52B8BD50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14569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=""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16/05/2026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16/05/2026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16/05/2026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16/05/2026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=""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=""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=""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16/05/2026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=""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=""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=""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16/05/2026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=""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=""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=""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16/05/2026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=""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=""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16/05/2026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=""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=""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16/05/2026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=""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16/05/2026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=""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=""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16/05/2026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=""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16/05/2026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geeksforgeeks.org/deep-learning/deep-learning-introduction-to-long-short-term-memory/" TargetMode="Externa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7" Type="http://schemas.openxmlformats.org/officeDocument/2006/relationships/image" Target="../media/image30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1.png"/><Relationship Id="rId5" Type="http://schemas.openxmlformats.org/officeDocument/2006/relationships/image" Target="../media/image281.png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6.png"/><Relationship Id="rId7" Type="http://schemas.openxmlformats.org/officeDocument/2006/relationships/image" Target="../media/image30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1.png"/><Relationship Id="rId5" Type="http://schemas.openxmlformats.org/officeDocument/2006/relationships/image" Target="../media/image281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1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1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geeksforgeeks.org/machine-learning/gated-recurrent-unit-networks/" TargetMode="Externa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1.png"/><Relationship Id="rId2" Type="http://schemas.openxmlformats.org/officeDocument/2006/relationships/image" Target="../media/image451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1.png"/><Relationship Id="rId2" Type="http://schemas.openxmlformats.org/officeDocument/2006/relationships/image" Target="../media/image45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1.png"/><Relationship Id="rId4" Type="http://schemas.openxmlformats.org/officeDocument/2006/relationships/image" Target="../media/image471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1.png"/><Relationship Id="rId2" Type="http://schemas.openxmlformats.org/officeDocument/2006/relationships/image" Target="../media/image49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7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491.png"/><Relationship Id="rId7" Type="http://schemas.openxmlformats.org/officeDocument/2006/relationships/image" Target="../media/image54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7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491.png"/><Relationship Id="rId7" Type="http://schemas.openxmlformats.org/officeDocument/2006/relationships/image" Target="../media/image54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7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441.png"/><Relationship Id="rId7" Type="http://schemas.openxmlformats.org/officeDocument/2006/relationships/image" Target="../media/image59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Relationship Id="rId9" Type="http://schemas.openxmlformats.org/officeDocument/2006/relationships/image" Target="../media/image61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rnn.ipynb" TargetMode="Externa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48.jpeg"/><Relationship Id="rId4" Type="http://schemas.openxmlformats.org/officeDocument/2006/relationships/image" Target="../media/image47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z4fap/c24_inteligencia_artificial/blob/main/listas/Lista%2011%20-%20RNN.pdf" TargetMode="External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10" Type="http://schemas.openxmlformats.org/officeDocument/2006/relationships/image" Target="../media/image73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/Relationships>
</file>

<file path=ppt/slides/_rels/slide8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77.png"/><Relationship Id="rId18" Type="http://schemas.openxmlformats.org/officeDocument/2006/relationships/image" Target="../media/image82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12" Type="http://schemas.openxmlformats.org/officeDocument/2006/relationships/image" Target="../media/image76.png"/><Relationship Id="rId17" Type="http://schemas.openxmlformats.org/officeDocument/2006/relationships/image" Target="../media/image81.png"/><Relationship Id="rId2" Type="http://schemas.openxmlformats.org/officeDocument/2006/relationships/image" Target="../media/image65.png"/><Relationship Id="rId16" Type="http://schemas.openxmlformats.org/officeDocument/2006/relationships/image" Target="../media/image80.png"/><Relationship Id="rId20" Type="http://schemas.openxmlformats.org/officeDocument/2006/relationships/image" Target="../media/image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11" Type="http://schemas.openxmlformats.org/officeDocument/2006/relationships/image" Target="../media/image75.png"/><Relationship Id="rId5" Type="http://schemas.openxmlformats.org/officeDocument/2006/relationships/image" Target="../media/image68.png"/><Relationship Id="rId15" Type="http://schemas.openxmlformats.org/officeDocument/2006/relationships/image" Target="../media/image79.png"/><Relationship Id="rId10" Type="http://schemas.openxmlformats.org/officeDocument/2006/relationships/image" Target="../media/image73.png"/><Relationship Id="rId19" Type="http://schemas.openxmlformats.org/officeDocument/2006/relationships/image" Target="../media/image83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Relationship Id="rId14" Type="http://schemas.openxmlformats.org/officeDocument/2006/relationships/image" Target="../media/image78.png"/></Relationships>
</file>

<file path=ppt/slides/_rels/slide8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0.png"/><Relationship Id="rId13" Type="http://schemas.openxmlformats.org/officeDocument/2006/relationships/image" Target="../media/image640.png"/><Relationship Id="rId18" Type="http://schemas.openxmlformats.org/officeDocument/2006/relationships/image" Target="../media/image420.png"/><Relationship Id="rId26" Type="http://schemas.openxmlformats.org/officeDocument/2006/relationships/image" Target="../media/image490.png"/><Relationship Id="rId3" Type="http://schemas.openxmlformats.org/officeDocument/2006/relationships/image" Target="../media/image280.png"/><Relationship Id="rId21" Type="http://schemas.openxmlformats.org/officeDocument/2006/relationships/image" Target="../media/image86.png"/><Relationship Id="rId7" Type="http://schemas.openxmlformats.org/officeDocument/2006/relationships/image" Target="../media/image320.png"/><Relationship Id="rId12" Type="http://schemas.openxmlformats.org/officeDocument/2006/relationships/image" Target="../media/image370.png"/><Relationship Id="rId17" Type="http://schemas.openxmlformats.org/officeDocument/2006/relationships/image" Target="../media/image85.png"/><Relationship Id="rId25" Type="http://schemas.openxmlformats.org/officeDocument/2006/relationships/image" Target="../media/image480.png"/><Relationship Id="rId2" Type="http://schemas.openxmlformats.org/officeDocument/2006/relationships/image" Target="../media/image270.png"/><Relationship Id="rId16" Type="http://schemas.openxmlformats.org/officeDocument/2006/relationships/image" Target="../media/image400.png"/><Relationship Id="rId20" Type="http://schemas.openxmlformats.org/officeDocument/2006/relationships/image" Target="../media/image440.png"/><Relationship Id="rId29" Type="http://schemas.openxmlformats.org/officeDocument/2006/relationships/image" Target="../media/image5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0.png"/><Relationship Id="rId11" Type="http://schemas.openxmlformats.org/officeDocument/2006/relationships/image" Target="../media/image360.png"/><Relationship Id="rId24" Type="http://schemas.openxmlformats.org/officeDocument/2006/relationships/image" Target="../media/image470.png"/><Relationship Id="rId5" Type="http://schemas.openxmlformats.org/officeDocument/2006/relationships/image" Target="../media/image300.png"/><Relationship Id="rId15" Type="http://schemas.openxmlformats.org/officeDocument/2006/relationships/image" Target="../media/image390.png"/><Relationship Id="rId23" Type="http://schemas.openxmlformats.org/officeDocument/2006/relationships/image" Target="../media/image460.png"/><Relationship Id="rId28" Type="http://schemas.openxmlformats.org/officeDocument/2006/relationships/image" Target="../media/image510.png"/><Relationship Id="rId10" Type="http://schemas.openxmlformats.org/officeDocument/2006/relationships/image" Target="../media/image350.png"/><Relationship Id="rId19" Type="http://schemas.openxmlformats.org/officeDocument/2006/relationships/image" Target="../media/image430.png"/><Relationship Id="rId4" Type="http://schemas.openxmlformats.org/officeDocument/2006/relationships/image" Target="../media/image290.png"/><Relationship Id="rId9" Type="http://schemas.openxmlformats.org/officeDocument/2006/relationships/image" Target="../media/image63.png"/><Relationship Id="rId14" Type="http://schemas.openxmlformats.org/officeDocument/2006/relationships/image" Target="../media/image380.png"/><Relationship Id="rId22" Type="http://schemas.openxmlformats.org/officeDocument/2006/relationships/image" Target="../media/image450.png"/><Relationship Id="rId27" Type="http://schemas.openxmlformats.org/officeDocument/2006/relationships/image" Target="../media/image500.png"/><Relationship Id="rId30" Type="http://schemas.openxmlformats.org/officeDocument/2006/relationships/image" Target="../media/image530.png"/></Relationships>
</file>

<file path=ppt/slides/_rels/slide8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0.png"/><Relationship Id="rId13" Type="http://schemas.openxmlformats.org/officeDocument/2006/relationships/image" Target="../media/image86.png"/><Relationship Id="rId18" Type="http://schemas.openxmlformats.org/officeDocument/2006/relationships/image" Target="../media/image490.png"/><Relationship Id="rId3" Type="http://schemas.openxmlformats.org/officeDocument/2006/relationships/image" Target="../media/image360.png"/><Relationship Id="rId21" Type="http://schemas.openxmlformats.org/officeDocument/2006/relationships/image" Target="../media/image520.png"/><Relationship Id="rId7" Type="http://schemas.openxmlformats.org/officeDocument/2006/relationships/image" Target="../media/image390.png"/><Relationship Id="rId12" Type="http://schemas.openxmlformats.org/officeDocument/2006/relationships/image" Target="../media/image440.png"/><Relationship Id="rId17" Type="http://schemas.openxmlformats.org/officeDocument/2006/relationships/image" Target="../media/image480.png"/><Relationship Id="rId2" Type="http://schemas.openxmlformats.org/officeDocument/2006/relationships/image" Target="../media/image350.png"/><Relationship Id="rId16" Type="http://schemas.openxmlformats.org/officeDocument/2006/relationships/image" Target="../media/image470.png"/><Relationship Id="rId20" Type="http://schemas.openxmlformats.org/officeDocument/2006/relationships/image" Target="../media/image5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0.png"/><Relationship Id="rId11" Type="http://schemas.openxmlformats.org/officeDocument/2006/relationships/image" Target="../media/image430.png"/><Relationship Id="rId5" Type="http://schemas.openxmlformats.org/officeDocument/2006/relationships/image" Target="../media/image640.png"/><Relationship Id="rId15" Type="http://schemas.openxmlformats.org/officeDocument/2006/relationships/image" Target="../media/image460.png"/><Relationship Id="rId10" Type="http://schemas.openxmlformats.org/officeDocument/2006/relationships/image" Target="../media/image420.png"/><Relationship Id="rId19" Type="http://schemas.openxmlformats.org/officeDocument/2006/relationships/image" Target="../media/image500.png"/><Relationship Id="rId4" Type="http://schemas.openxmlformats.org/officeDocument/2006/relationships/image" Target="../media/image370.png"/><Relationship Id="rId9" Type="http://schemas.openxmlformats.org/officeDocument/2006/relationships/image" Target="../media/image85.png"/><Relationship Id="rId14" Type="http://schemas.openxmlformats.org/officeDocument/2006/relationships/image" Target="../media/image450.png"/><Relationship Id="rId22" Type="http://schemas.openxmlformats.org/officeDocument/2006/relationships/image" Target="../media/image530.png"/></Relationships>
</file>

<file path=ppt/slides/_rels/slide8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0.png"/><Relationship Id="rId3" Type="http://schemas.openxmlformats.org/officeDocument/2006/relationships/image" Target="../media/image751.png"/><Relationship Id="rId7" Type="http://schemas.openxmlformats.org/officeDocument/2006/relationships/image" Target="../media/image790.png"/><Relationship Id="rId2" Type="http://schemas.openxmlformats.org/officeDocument/2006/relationships/image" Target="../media/image7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0.png"/><Relationship Id="rId5" Type="http://schemas.openxmlformats.org/officeDocument/2006/relationships/image" Target="../media/image770.png"/><Relationship Id="rId4" Type="http://schemas.openxmlformats.org/officeDocument/2006/relationships/image" Target="../media/image760.png"/><Relationship Id="rId9" Type="http://schemas.openxmlformats.org/officeDocument/2006/relationships/image" Target="../media/image811.png"/></Relationships>
</file>

<file path=ppt/slides/_rels/slide8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0.png"/><Relationship Id="rId3" Type="http://schemas.openxmlformats.org/officeDocument/2006/relationships/image" Target="../media/image751.png"/><Relationship Id="rId7" Type="http://schemas.openxmlformats.org/officeDocument/2006/relationships/image" Target="../media/image790.png"/><Relationship Id="rId12" Type="http://schemas.openxmlformats.org/officeDocument/2006/relationships/image" Target="../media/image87.png"/><Relationship Id="rId2" Type="http://schemas.openxmlformats.org/officeDocument/2006/relationships/image" Target="../media/image7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0.png"/><Relationship Id="rId11" Type="http://schemas.openxmlformats.org/officeDocument/2006/relationships/image" Target="../media/image860.png"/><Relationship Id="rId5" Type="http://schemas.openxmlformats.org/officeDocument/2006/relationships/image" Target="../media/image831.png"/><Relationship Id="rId10" Type="http://schemas.openxmlformats.org/officeDocument/2006/relationships/image" Target="../media/image811.png"/><Relationship Id="rId4" Type="http://schemas.openxmlformats.org/officeDocument/2006/relationships/image" Target="../media/image821.png"/><Relationship Id="rId9" Type="http://schemas.openxmlformats.org/officeDocument/2006/relationships/image" Target="../media/image850.png"/></Relationships>
</file>

<file path=ppt/slides/_rels/slide8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.png"/><Relationship Id="rId7" Type="http://schemas.openxmlformats.org/officeDocument/2006/relationships/image" Target="../media/image9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0.png"/><Relationship Id="rId5" Type="http://schemas.openxmlformats.org/officeDocument/2006/relationships/image" Target="../media/image89.png"/><Relationship Id="rId10" Type="http://schemas.openxmlformats.org/officeDocument/2006/relationships/image" Target="../media/image94.png"/><Relationship Id="rId4" Type="http://schemas.openxmlformats.org/officeDocument/2006/relationships/image" Target="../media/image88.png"/><Relationship Id="rId9" Type="http://schemas.openxmlformats.org/officeDocument/2006/relationships/image" Target="../media/image93.png"/></Relationships>
</file>

<file path=ppt/slides/_rels/slide8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9.png"/><Relationship Id="rId3" Type="http://schemas.openxmlformats.org/officeDocument/2006/relationships/image" Target="../media/image64.png"/><Relationship Id="rId7" Type="http://schemas.openxmlformats.org/officeDocument/2006/relationships/image" Target="../media/image98.png"/><Relationship Id="rId12" Type="http://schemas.openxmlformats.org/officeDocument/2006/relationships/image" Target="../media/image103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.png"/><Relationship Id="rId11" Type="http://schemas.openxmlformats.org/officeDocument/2006/relationships/image" Target="../media/image102.png"/><Relationship Id="rId5" Type="http://schemas.openxmlformats.org/officeDocument/2006/relationships/image" Target="../media/image96.png"/><Relationship Id="rId10" Type="http://schemas.openxmlformats.org/officeDocument/2006/relationships/image" Target="../media/image101.png"/><Relationship Id="rId4" Type="http://schemas.openxmlformats.org/officeDocument/2006/relationships/image" Target="../media/image95.png"/><Relationship Id="rId9" Type="http://schemas.openxmlformats.org/officeDocument/2006/relationships/image" Target="../media/image100.png"/></Relationships>
</file>

<file path=ppt/slides/_rels/slide8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1.png"/><Relationship Id="rId3" Type="http://schemas.openxmlformats.org/officeDocument/2006/relationships/image" Target="../media/image810.png"/><Relationship Id="rId7" Type="http://schemas.openxmlformats.org/officeDocument/2006/relationships/image" Target="../media/image981.png"/><Relationship Id="rId12" Type="http://schemas.openxmlformats.org/officeDocument/2006/relationships/image" Target="../media/image104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0.png"/><Relationship Id="rId11" Type="http://schemas.openxmlformats.org/officeDocument/2006/relationships/image" Target="../media/image1010.png"/><Relationship Id="rId5" Type="http://schemas.openxmlformats.org/officeDocument/2006/relationships/image" Target="../media/image830.png"/><Relationship Id="rId10" Type="http://schemas.openxmlformats.org/officeDocument/2006/relationships/image" Target="../media/image1000.png"/><Relationship Id="rId4" Type="http://schemas.openxmlformats.org/officeDocument/2006/relationships/image" Target="../media/image820.png"/><Relationship Id="rId9" Type="http://schemas.openxmlformats.org/officeDocument/2006/relationships/image" Target="../media/image991.png"/></Relationships>
</file>

<file path=ppt/slides/_rels/slide9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1.png"/><Relationship Id="rId3" Type="http://schemas.openxmlformats.org/officeDocument/2006/relationships/image" Target="../media/image810.png"/><Relationship Id="rId7" Type="http://schemas.openxmlformats.org/officeDocument/2006/relationships/image" Target="../media/image981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0.png"/><Relationship Id="rId11" Type="http://schemas.openxmlformats.org/officeDocument/2006/relationships/image" Target="../media/image1010.png"/><Relationship Id="rId5" Type="http://schemas.openxmlformats.org/officeDocument/2006/relationships/image" Target="../media/image830.png"/><Relationship Id="rId10" Type="http://schemas.openxmlformats.org/officeDocument/2006/relationships/image" Target="../media/image1000.png"/><Relationship Id="rId4" Type="http://schemas.openxmlformats.org/officeDocument/2006/relationships/image" Target="../media/image820.png"/><Relationship Id="rId9" Type="http://schemas.openxmlformats.org/officeDocument/2006/relationships/image" Target="../media/image991.png"/></Relationships>
</file>

<file path=ppt/slides/_rels/slide9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0.png"/><Relationship Id="rId13" Type="http://schemas.openxmlformats.org/officeDocument/2006/relationships/image" Target="../media/image1040.png"/><Relationship Id="rId18" Type="http://schemas.openxmlformats.org/officeDocument/2006/relationships/image" Target="../media/image109.png"/><Relationship Id="rId7" Type="http://schemas.openxmlformats.org/officeDocument/2006/relationships/image" Target="../media/image931.png"/><Relationship Id="rId12" Type="http://schemas.openxmlformats.org/officeDocument/2006/relationships/image" Target="../media/image1030.png"/><Relationship Id="rId17" Type="http://schemas.openxmlformats.org/officeDocument/2006/relationships/image" Target="../media/image108.png"/><Relationship Id="rId2" Type="http://schemas.openxmlformats.org/officeDocument/2006/relationships/notesSlide" Target="../notesSlides/notesSlide51.xml"/><Relationship Id="rId16" Type="http://schemas.openxmlformats.org/officeDocument/2006/relationships/image" Target="../media/image107.png"/><Relationship Id="rId20" Type="http://schemas.openxmlformats.org/officeDocument/2006/relationships/image" Target="../media/image1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20.png"/><Relationship Id="rId11" Type="http://schemas.openxmlformats.org/officeDocument/2006/relationships/image" Target="../media/image1020.png"/><Relationship Id="rId5" Type="http://schemas.openxmlformats.org/officeDocument/2006/relationships/image" Target="../media/image910.png"/><Relationship Id="rId15" Type="http://schemas.openxmlformats.org/officeDocument/2006/relationships/image" Target="../media/image106.png"/><Relationship Id="rId10" Type="http://schemas.openxmlformats.org/officeDocument/2006/relationships/image" Target="../media/image830.png"/><Relationship Id="rId19" Type="http://schemas.openxmlformats.org/officeDocument/2006/relationships/image" Target="../media/image110.png"/><Relationship Id="rId4" Type="http://schemas.openxmlformats.org/officeDocument/2006/relationships/image" Target="../media/image900.png"/><Relationship Id="rId9" Type="http://schemas.openxmlformats.org/officeDocument/2006/relationships/image" Target="../media/image820.png"/><Relationship Id="rId14" Type="http://schemas.openxmlformats.org/officeDocument/2006/relationships/image" Target="../media/image105.png"/></Relationships>
</file>

<file path=ppt/slides/_rels/slide9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0.png"/><Relationship Id="rId3" Type="http://schemas.openxmlformats.org/officeDocument/2006/relationships/image" Target="../media/image720.png"/><Relationship Id="rId7" Type="http://schemas.openxmlformats.org/officeDocument/2006/relationships/image" Target="../media/image710.png"/><Relationship Id="rId12" Type="http://schemas.openxmlformats.org/officeDocument/2006/relationships/image" Target="../media/image113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0.png"/><Relationship Id="rId11" Type="http://schemas.openxmlformats.org/officeDocument/2006/relationships/image" Target="../media/image107.png"/><Relationship Id="rId5" Type="http://schemas.openxmlformats.org/officeDocument/2006/relationships/image" Target="../media/image105.png"/><Relationship Id="rId10" Type="http://schemas.openxmlformats.org/officeDocument/2006/relationships/image" Target="../media/image106.png"/><Relationship Id="rId4" Type="http://schemas.openxmlformats.org/officeDocument/2006/relationships/image" Target="../media/image730.png"/><Relationship Id="rId9" Type="http://schemas.openxmlformats.org/officeDocument/2006/relationships/image" Target="../media/image112.png"/></Relationships>
</file>

<file path=ppt/slides/_rels/slide9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0.png"/><Relationship Id="rId13" Type="http://schemas.openxmlformats.org/officeDocument/2006/relationships/image" Target="../media/image117.png"/><Relationship Id="rId3" Type="http://schemas.openxmlformats.org/officeDocument/2006/relationships/image" Target="../media/image114.png"/><Relationship Id="rId7" Type="http://schemas.openxmlformats.org/officeDocument/2006/relationships/image" Target="../media/image116.png"/><Relationship Id="rId12" Type="http://schemas.openxmlformats.org/officeDocument/2006/relationships/image" Target="../media/image113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0.png"/><Relationship Id="rId11" Type="http://schemas.openxmlformats.org/officeDocument/2006/relationships/image" Target="../media/image107.png"/><Relationship Id="rId5" Type="http://schemas.openxmlformats.org/officeDocument/2006/relationships/image" Target="../media/image105.png"/><Relationship Id="rId10" Type="http://schemas.openxmlformats.org/officeDocument/2006/relationships/image" Target="../media/image106.png"/><Relationship Id="rId4" Type="http://schemas.openxmlformats.org/officeDocument/2006/relationships/image" Target="../media/image115.png"/><Relationship Id="rId9" Type="http://schemas.openxmlformats.org/officeDocument/2006/relationships/image" Target="../media/image112.png"/><Relationship Id="rId14" Type="http://schemas.openxmlformats.org/officeDocument/2006/relationships/image" Target="../media/image118.png"/></Relationships>
</file>

<file path=ppt/slides/_rels/slide9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0.png"/><Relationship Id="rId13" Type="http://schemas.openxmlformats.org/officeDocument/2006/relationships/image" Target="../media/image119.png"/><Relationship Id="rId3" Type="http://schemas.openxmlformats.org/officeDocument/2006/relationships/image" Target="../media/image1030.png"/><Relationship Id="rId7" Type="http://schemas.openxmlformats.org/officeDocument/2006/relationships/image" Target="../media/image710.png"/><Relationship Id="rId12" Type="http://schemas.openxmlformats.org/officeDocument/2006/relationships/image" Target="../media/image720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5.png"/><Relationship Id="rId11" Type="http://schemas.openxmlformats.org/officeDocument/2006/relationships/image" Target="../media/image930.png"/><Relationship Id="rId5" Type="http://schemas.openxmlformats.org/officeDocument/2006/relationships/image" Target="../media/image730.png"/><Relationship Id="rId10" Type="http://schemas.openxmlformats.org/officeDocument/2006/relationships/image" Target="../media/image107.png"/><Relationship Id="rId4" Type="http://schemas.openxmlformats.org/officeDocument/2006/relationships/image" Target="../media/image106.png"/><Relationship Id="rId9" Type="http://schemas.openxmlformats.org/officeDocument/2006/relationships/image" Target="../media/image112.png"/><Relationship Id="rId14" Type="http://schemas.openxmlformats.org/officeDocument/2006/relationships/image" Target="../media/image120.png"/></Relationships>
</file>

<file path=ppt/slides/_rels/slide9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0.png"/><Relationship Id="rId13" Type="http://schemas.openxmlformats.org/officeDocument/2006/relationships/image" Target="../media/image125.png"/><Relationship Id="rId3" Type="http://schemas.openxmlformats.org/officeDocument/2006/relationships/image" Target="../media/image710.png"/><Relationship Id="rId7" Type="http://schemas.openxmlformats.org/officeDocument/2006/relationships/image" Target="../media/image940.png"/><Relationship Id="rId12" Type="http://schemas.openxmlformats.org/officeDocument/2006/relationships/image" Target="../media/image124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11" Type="http://schemas.openxmlformats.org/officeDocument/2006/relationships/image" Target="../media/image730.png"/><Relationship Id="rId5" Type="http://schemas.openxmlformats.org/officeDocument/2006/relationships/image" Target="../media/image930.png"/><Relationship Id="rId15" Type="http://schemas.openxmlformats.org/officeDocument/2006/relationships/image" Target="../media/image127.png"/><Relationship Id="rId10" Type="http://schemas.openxmlformats.org/officeDocument/2006/relationships/image" Target="../media/image123.png"/><Relationship Id="rId4" Type="http://schemas.openxmlformats.org/officeDocument/2006/relationships/image" Target="../media/image121.png"/><Relationship Id="rId9" Type="http://schemas.openxmlformats.org/officeDocument/2006/relationships/image" Target="../media/image122.png"/><Relationship Id="rId14" Type="http://schemas.openxmlformats.org/officeDocument/2006/relationships/image" Target="../media/image126.png"/></Relationships>
</file>

<file path=ppt/slides/_rels/slide9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1.png"/><Relationship Id="rId3" Type="http://schemas.openxmlformats.org/officeDocument/2006/relationships/image" Target="../media/image128.png"/><Relationship Id="rId7" Type="http://schemas.openxmlformats.org/officeDocument/2006/relationships/image" Target="../media/image130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9.png"/><Relationship Id="rId5" Type="http://schemas.openxmlformats.org/officeDocument/2006/relationships/image" Target="../media/image990.png"/><Relationship Id="rId10" Type="http://schemas.openxmlformats.org/officeDocument/2006/relationships/image" Target="../media/image133.png"/><Relationship Id="rId4" Type="http://schemas.openxmlformats.org/officeDocument/2006/relationships/image" Target="../media/image980.png"/><Relationship Id="rId9" Type="http://schemas.openxmlformats.org/officeDocument/2006/relationships/image" Target="../media/image132.png"/></Relationships>
</file>

<file path=ppt/slides/_rels/slide9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4.png"/><Relationship Id="rId3" Type="http://schemas.openxmlformats.org/officeDocument/2006/relationships/image" Target="../media/image128.png"/><Relationship Id="rId7" Type="http://schemas.openxmlformats.org/officeDocument/2006/relationships/image" Target="../media/image130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9.png"/><Relationship Id="rId5" Type="http://schemas.openxmlformats.org/officeDocument/2006/relationships/image" Target="../media/image990.png"/><Relationship Id="rId10" Type="http://schemas.openxmlformats.org/officeDocument/2006/relationships/image" Target="../media/image133.png"/><Relationship Id="rId4" Type="http://schemas.openxmlformats.org/officeDocument/2006/relationships/image" Target="../media/image980.png"/><Relationship Id="rId9" Type="http://schemas.openxmlformats.org/officeDocument/2006/relationships/image" Target="../media/image13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=""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=""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=""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r>
              <a:rPr lang="pt-BR" sz="7200" dirty="0"/>
              <a:t/>
            </a:r>
            <a:br>
              <a:rPr lang="pt-BR" sz="7200" dirty="0"/>
            </a:br>
            <a:r>
              <a:rPr lang="pt-BR" sz="7200" b="1" i="1" dirty="0"/>
              <a:t>Redes neurais recorrentes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Muitos problemas envolvem </a:t>
            </a:r>
            <a:r>
              <a:rPr lang="pt-BR" altLang="pt-BR" b="1" dirty="0">
                <a:solidFill>
                  <a:schemeClr val="accent2"/>
                </a:solidFill>
              </a:rPr>
              <a:t>dados que são sequenciais</a:t>
            </a:r>
            <a:r>
              <a:rPr lang="pt-BR" altLang="pt-BR" dirty="0"/>
              <a:t>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Voz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Texto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Séries temporais (e.g., EGC, EEG, preço de ações, desvanecimento de um canal)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Vídeo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Para lidarmos com eles, precisamos </a:t>
            </a:r>
            <a:r>
              <a:rPr lang="pt-BR" altLang="pt-BR" b="1" dirty="0">
                <a:solidFill>
                  <a:srgbClr val="7030A0"/>
                </a:solidFill>
              </a:rPr>
              <a:t>modelar dependências temporais!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Em outras palavras, existe</a:t>
            </a:r>
            <a:r>
              <a:rPr lang="pt-BR" altLang="pt-BR" b="1" dirty="0"/>
              <a:t> </a:t>
            </a:r>
            <a:r>
              <a:rPr lang="pt-BR" altLang="pt-BR" b="1" dirty="0">
                <a:solidFill>
                  <a:schemeClr val="accent2"/>
                </a:solidFill>
              </a:rPr>
              <a:t>correlação temporal entre as amostras</a:t>
            </a:r>
            <a:r>
              <a:rPr lang="pt-BR" altLang="pt-BR" b="1" dirty="0"/>
              <a:t>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t-BR" altLang="pt-BR" b="1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t-BR" altLang="pt-BR" b="1" dirty="0"/>
          </a:p>
          <a:p>
            <a:pPr marL="0" indent="0" algn="ctr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pt-BR" altLang="pt-BR" sz="4000" b="1" dirty="0"/>
              <a:t>Cada amostra carrega informação das anteriores.</a:t>
            </a:r>
            <a:endParaRPr lang="pt-BR" altLang="pt-BR" sz="4000" dirty="0"/>
          </a:p>
        </p:txBody>
      </p:sp>
    </p:spTree>
    <p:extLst>
      <p:ext uri="{BB962C8B-B14F-4D97-AF65-F5344CB8AC3E}">
        <p14:creationId xmlns:p14="http://schemas.microsoft.com/office/powerpoint/2010/main" val="14475287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Previsão de séries temporais (e.g., clima, ações, vendas, etc.)</a:t>
            </a:r>
          </a:p>
          <a:p>
            <a:r>
              <a:rPr lang="pt-BR" dirty="0"/>
              <a:t>Tradução automática de texto</a:t>
            </a:r>
          </a:p>
          <a:p>
            <a:r>
              <a:rPr lang="pt-BR" dirty="0"/>
              <a:t>Reconhecimento de fala</a:t>
            </a:r>
          </a:p>
          <a:p>
            <a:r>
              <a:rPr lang="pt-BR" dirty="0"/>
              <a:t>Tradução fala para texto e vice versa</a:t>
            </a:r>
          </a:p>
          <a:p>
            <a:r>
              <a:rPr lang="pt-BR" dirty="0"/>
              <a:t>Classificação de sentimentos</a:t>
            </a:r>
          </a:p>
          <a:p>
            <a:r>
              <a:rPr lang="pt-BR" dirty="0"/>
              <a:t>Geração de texto</a:t>
            </a:r>
          </a:p>
          <a:p>
            <a:r>
              <a:rPr lang="pt-BR" dirty="0"/>
              <a:t>Geração de descrições de texto para imagens (</a:t>
            </a:r>
            <a:r>
              <a:rPr lang="pt-BR" i="1" dirty="0" err="1"/>
              <a:t>image</a:t>
            </a:r>
            <a:r>
              <a:rPr lang="pt-BR" i="1" dirty="0"/>
              <a:t> </a:t>
            </a:r>
            <a:r>
              <a:rPr lang="pt-BR" i="1" dirty="0" err="1"/>
              <a:t>captioning</a:t>
            </a:r>
            <a:r>
              <a:rPr lang="pt-BR" dirty="0"/>
              <a:t>)</a:t>
            </a:r>
          </a:p>
          <a:p>
            <a:r>
              <a:rPr lang="pt-BR" dirty="0"/>
              <a:t>Rastreamento de objetos</a:t>
            </a:r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Limitação de redes tradicionais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256314" y="1825625"/>
            <a:ext cx="7935686" cy="5032375"/>
          </a:xfrm>
        </p:spPr>
        <p:txBody>
          <a:bodyPr>
            <a:normAutofit lnSpcReduction="10000"/>
          </a:bodyPr>
          <a:lstStyle/>
          <a:p>
            <a:r>
              <a:rPr lang="pt-BR" dirty="0" err="1"/>
              <a:t>MLPs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chemeClr val="accent2"/>
                </a:solidFill>
              </a:rPr>
              <a:t>Não armazenam informações de estados anteriores </a:t>
            </a:r>
            <a:r>
              <a:rPr lang="pt-BR" dirty="0"/>
              <a:t>(i.e., sem memória)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As </a:t>
            </a:r>
            <a:r>
              <a:rPr lang="pt-BR" b="1" dirty="0">
                <a:solidFill>
                  <a:srgbClr val="7030A0"/>
                </a:solidFill>
              </a:rPr>
              <a:t>entradas</a:t>
            </a:r>
            <a:r>
              <a:rPr lang="pt-BR" dirty="0"/>
              <a:t> são tratadas de forma </a:t>
            </a:r>
            <a:r>
              <a:rPr lang="pt-BR" b="1" dirty="0">
                <a:solidFill>
                  <a:srgbClr val="7030A0"/>
                </a:solidFill>
              </a:rPr>
              <a:t>independente</a:t>
            </a:r>
            <a:r>
              <a:rPr lang="pt-BR" dirty="0"/>
              <a:t>.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Isso faz com que elas </a:t>
            </a:r>
            <a:r>
              <a:rPr lang="pt-BR" b="1" dirty="0">
                <a:solidFill>
                  <a:srgbClr val="0070C0"/>
                </a:solidFill>
              </a:rPr>
              <a:t>não capturem dependências temporais entre amostras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ser de alimentação direta, a saída </a:t>
            </a:r>
            <a:r>
              <a:rPr lang="pt-BR" b="1" dirty="0">
                <a:solidFill>
                  <a:srgbClr val="7030A0"/>
                </a:solidFill>
              </a:rPr>
              <a:t>depende apenas da entrada atual</a:t>
            </a:r>
            <a:r>
              <a:rPr lang="pt-BR" dirty="0"/>
              <a:t>.</a:t>
            </a:r>
          </a:p>
          <a:p>
            <a:r>
              <a:rPr lang="pt-BR" dirty="0" err="1"/>
              <a:t>CNNs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Compartilham as limitações das </a:t>
            </a:r>
            <a:r>
              <a:rPr lang="pt-BR" dirty="0" err="1"/>
              <a:t>MLPs</a:t>
            </a:r>
            <a:r>
              <a:rPr lang="pt-BR" dirty="0"/>
              <a:t>, mas com uma exceção: elas </a:t>
            </a:r>
            <a:r>
              <a:rPr lang="pt-BR" b="1" dirty="0">
                <a:solidFill>
                  <a:srgbClr val="00B050"/>
                </a:solidFill>
              </a:rPr>
              <a:t>modelam relações espaciais</a:t>
            </a:r>
            <a:r>
              <a:rPr lang="pt-BR" dirty="0"/>
              <a:t>.</a:t>
            </a:r>
          </a:p>
          <a:p>
            <a:r>
              <a:rPr lang="pt-BR" dirty="0"/>
              <a:t>Ambas famílias </a:t>
            </a:r>
            <a:r>
              <a:rPr lang="pt-BR" b="1" dirty="0">
                <a:solidFill>
                  <a:srgbClr val="0070C0"/>
                </a:solidFill>
              </a:rPr>
              <a:t>exigem</a:t>
            </a:r>
            <a:r>
              <a:rPr lang="pt-BR" dirty="0"/>
              <a:t> que o </a:t>
            </a:r>
            <a:r>
              <a:rPr lang="pt-BR" b="1" dirty="0">
                <a:solidFill>
                  <a:srgbClr val="0070C0"/>
                </a:solidFill>
              </a:rPr>
              <a:t>vetor de entrada</a:t>
            </a:r>
            <a:r>
              <a:rPr lang="pt-BR" dirty="0"/>
              <a:t> tenha um </a:t>
            </a:r>
            <a:r>
              <a:rPr lang="pt-BR" b="1" dirty="0">
                <a:solidFill>
                  <a:srgbClr val="0070C0"/>
                </a:solidFill>
              </a:rPr>
              <a:t>tamanho predefinido e constante</a:t>
            </a:r>
            <a:r>
              <a:rPr lang="pt-BR" dirty="0"/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="" xmlns:a16="http://schemas.microsoft.com/office/drawing/2014/main" id="{FA8E2659-A57A-38A3-FD87-03127E9124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103"/>
          <a:stretch>
            <a:fillRect/>
          </a:stretch>
        </p:blipFill>
        <p:spPr>
          <a:xfrm>
            <a:off x="986159" y="1943553"/>
            <a:ext cx="2686768" cy="231057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="" xmlns:a16="http://schemas.microsoft.com/office/drawing/2014/main" id="{9AAB68BF-5C1E-7F73-8FBA-8E33B17EBF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550" y="4795610"/>
            <a:ext cx="3599986" cy="188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4472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97A47F2C-5902-D14E-461A-E03776C92E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6227" y="1637413"/>
            <a:ext cx="10859545" cy="3583173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pt-BR" sz="6000" dirty="0"/>
              <a:t>Como podemos considerar as correlações temporais e trabalhar com entradas sem tamanho predefinido?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20068368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6AD63822-3DC5-17FB-ADF9-A36682320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0C288B7E-EFBE-6F19-F27D-9D5EE10249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9526" y="2576411"/>
            <a:ext cx="3962400" cy="2354237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800" dirty="0"/>
              <a:t>Redes neurais recorrentes têm memória!</a:t>
            </a:r>
            <a:endParaRPr lang="en-US" sz="4800" dirty="0"/>
          </a:p>
        </p:txBody>
      </p:sp>
      <p:pic>
        <p:nvPicPr>
          <p:cNvPr id="2050" name="Picture 2" descr="RNN be like! #RNN #NeuralNetwork #meme">
            <a:extLst>
              <a:ext uri="{FF2B5EF4-FFF2-40B4-BE49-F238E27FC236}">
                <a16:creationId xmlns="" xmlns:a16="http://schemas.microsoft.com/office/drawing/2014/main" id="{3187EE8C-1DA4-D24F-08AF-EBBC6954A9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646" y="1911803"/>
            <a:ext cx="6551109" cy="3683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75835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667152" y="1825624"/>
            <a:ext cx="6524847" cy="5032375"/>
          </a:xfrm>
        </p:spPr>
        <p:txBody>
          <a:bodyPr>
            <a:normAutofit/>
          </a:bodyPr>
          <a:lstStyle/>
          <a:p>
            <a:r>
              <a:rPr lang="pt-BR" dirty="0"/>
              <a:t>Possuem </a:t>
            </a:r>
            <a:r>
              <a:rPr lang="pt-BR" b="1" dirty="0">
                <a:solidFill>
                  <a:srgbClr val="0070C0"/>
                </a:solidFill>
              </a:rPr>
              <a:t>laços de realimentação</a:t>
            </a:r>
            <a:r>
              <a:rPr lang="pt-BR" dirty="0"/>
              <a:t>.</a:t>
            </a:r>
          </a:p>
          <a:p>
            <a:r>
              <a:rPr lang="pt-BR" dirty="0"/>
              <a:t>Mantém um </a:t>
            </a:r>
            <a:r>
              <a:rPr lang="pt-BR" b="1" dirty="0">
                <a:solidFill>
                  <a:srgbClr val="0070C0"/>
                </a:solidFill>
              </a:rPr>
              <a:t>estado interno</a:t>
            </a:r>
            <a:r>
              <a:rPr lang="pt-BR" dirty="0"/>
              <a:t> (</a:t>
            </a:r>
            <a:r>
              <a:rPr lang="pt-BR" b="1" dirty="0">
                <a:solidFill>
                  <a:schemeClr val="accent2"/>
                </a:solidFill>
              </a:rPr>
              <a:t>memória</a:t>
            </a:r>
            <a:r>
              <a:rPr lang="pt-BR" dirty="0"/>
              <a:t>) que </a:t>
            </a:r>
            <a:r>
              <a:rPr lang="pt-BR" b="1" dirty="0">
                <a:solidFill>
                  <a:schemeClr val="accent2"/>
                </a:solidFill>
              </a:rPr>
              <a:t>armazena</a:t>
            </a:r>
            <a:r>
              <a:rPr lang="pt-BR" dirty="0"/>
              <a:t> </a:t>
            </a:r>
            <a:r>
              <a:rPr lang="pt-BR" b="1" dirty="0">
                <a:solidFill>
                  <a:schemeClr val="accent2"/>
                </a:solidFill>
              </a:rPr>
              <a:t>informações</a:t>
            </a:r>
            <a:r>
              <a:rPr lang="pt-BR" dirty="0"/>
              <a:t> observadas até o momento.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7030A0"/>
                </a:solidFill>
              </a:rPr>
              <a:t>saída</a:t>
            </a:r>
            <a:r>
              <a:rPr lang="pt-BR" dirty="0"/>
              <a:t> da rede depende da </a:t>
            </a:r>
            <a:r>
              <a:rPr lang="pt-BR" b="1" dirty="0">
                <a:solidFill>
                  <a:srgbClr val="7030A0"/>
                </a:solidFill>
              </a:rPr>
              <a:t>entrada atual</a:t>
            </a:r>
            <a:r>
              <a:rPr lang="pt-BR" dirty="0"/>
              <a:t> e do valor do </a:t>
            </a:r>
            <a:r>
              <a:rPr lang="pt-BR" b="1" dirty="0">
                <a:solidFill>
                  <a:srgbClr val="7030A0"/>
                </a:solidFill>
              </a:rPr>
              <a:t>estado interno</a:t>
            </a:r>
            <a:r>
              <a:rPr lang="pt-BR" dirty="0"/>
              <a:t>.</a:t>
            </a:r>
          </a:p>
          <a:p>
            <a:r>
              <a:rPr lang="pt-BR" dirty="0"/>
              <a:t>O </a:t>
            </a:r>
            <a:r>
              <a:rPr lang="pt-BR" b="1" dirty="0">
                <a:solidFill>
                  <a:srgbClr val="00B050"/>
                </a:solidFill>
              </a:rPr>
              <a:t>estado interno</a:t>
            </a:r>
            <a:r>
              <a:rPr lang="pt-BR" dirty="0"/>
              <a:t> mantém o histórico de </a:t>
            </a:r>
            <a:r>
              <a:rPr lang="pt-BR" b="1" dirty="0">
                <a:solidFill>
                  <a:srgbClr val="00B050"/>
                </a:solidFill>
              </a:rPr>
              <a:t>das entradas passadas</a:t>
            </a:r>
            <a:r>
              <a:rPr lang="pt-BR" dirty="0"/>
              <a:t>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="" xmlns:a16="http://schemas.microsoft.com/office/drawing/2014/main" id="{CF222E86-9883-F0F3-0C3D-DE894656D1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987209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3774E3A9-57FD-9928-3B76-20D86E536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32CAA669-542C-6851-4558-AB1FBFA2F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7BC8D1AF-6B61-5C93-6D51-B0F1660220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3870" y="1825624"/>
            <a:ext cx="6628387" cy="5032375"/>
          </a:xfrm>
        </p:spPr>
        <p:txBody>
          <a:bodyPr/>
          <a:lstStyle/>
          <a:p>
            <a:r>
              <a:rPr lang="pt-BR" dirty="0"/>
              <a:t>Uma RNN utiliza </a:t>
            </a:r>
            <a:r>
              <a:rPr lang="pt-BR" b="1" dirty="0">
                <a:solidFill>
                  <a:schemeClr val="accent2"/>
                </a:solidFill>
              </a:rPr>
              <a:t>informações sequenciais</a:t>
            </a:r>
            <a:r>
              <a:rPr lang="pt-BR" dirty="0"/>
              <a:t>, </a:t>
            </a:r>
            <a:r>
              <a:rPr lang="pt-BR" b="1" dirty="0">
                <a:solidFill>
                  <a:srgbClr val="00B050"/>
                </a:solidFill>
              </a:rPr>
              <a:t>modelando as dependências temporais</a:t>
            </a:r>
            <a:r>
              <a:rPr lang="pt-BR" dirty="0"/>
              <a:t> entre as amostras de entrada.</a:t>
            </a:r>
          </a:p>
          <a:p>
            <a:r>
              <a:rPr lang="pt-BR" b="1" dirty="0"/>
              <a:t>Exemplo</a:t>
            </a:r>
            <a:r>
              <a:rPr lang="pt-BR" dirty="0"/>
              <a:t>: se quisermos </a:t>
            </a:r>
            <a:r>
              <a:rPr lang="pt-BR" b="1" dirty="0">
                <a:solidFill>
                  <a:srgbClr val="7030A0"/>
                </a:solidFill>
              </a:rPr>
              <a:t>prever a próxima palavra</a:t>
            </a:r>
            <a:r>
              <a:rPr lang="pt-BR" dirty="0"/>
              <a:t> em uma frase, precisamos saber </a:t>
            </a:r>
            <a:r>
              <a:rPr lang="pt-BR" b="1" dirty="0">
                <a:solidFill>
                  <a:srgbClr val="7030A0"/>
                </a:solidFill>
              </a:rPr>
              <a:t>quais palavras vieram antes dela</a:t>
            </a:r>
            <a:r>
              <a:rPr lang="pt-BR" dirty="0"/>
              <a:t>.</a:t>
            </a:r>
          </a:p>
          <a:p>
            <a:r>
              <a:rPr lang="pt-BR" dirty="0"/>
              <a:t>Por exemplo, na frase:</a:t>
            </a:r>
          </a:p>
          <a:p>
            <a:pPr marL="0" indent="0" algn="ctr">
              <a:buNone/>
            </a:pPr>
            <a:r>
              <a:rPr lang="pt-BR" dirty="0"/>
              <a:t>“O gato subiu no ____”</a:t>
            </a:r>
          </a:p>
          <a:p>
            <a:pPr marL="0" indent="0">
              <a:buNone/>
            </a:pPr>
            <a:r>
              <a:rPr lang="pt-BR" dirty="0"/>
              <a:t>a rede usa as palavras anteriores para prever que “telhado”, “muro”, “sofá” têm maior probabilidade.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="" xmlns:a16="http://schemas.microsoft.com/office/drawing/2014/main" id="{65461C4D-C555-02A7-8AE3-2D52AC2FCB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208785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3331C89D-FF1F-2926-B807-E6ABE479C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BB814E7-25AB-B9C9-EA53-FE90228A1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54CAE375-0AC4-4799-2DED-0550BB967A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3870" y="1825624"/>
            <a:ext cx="6628387" cy="5032375"/>
          </a:xfrm>
        </p:spPr>
        <p:txBody>
          <a:bodyPr/>
          <a:lstStyle/>
          <a:p>
            <a:r>
              <a:rPr lang="pt-BR" dirty="0" err="1"/>
              <a:t>RNNs</a:t>
            </a:r>
            <a:r>
              <a:rPr lang="pt-BR" dirty="0"/>
              <a:t> são projetadas para processar sequências de </a:t>
            </a:r>
            <a:r>
              <a:rPr lang="pt-BR" b="1" dirty="0">
                <a:solidFill>
                  <a:srgbClr val="0070C0"/>
                </a:solidFill>
              </a:rPr>
              <a:t>comprimento variável</a:t>
            </a:r>
            <a:r>
              <a:rPr lang="pt-BR" dirty="0"/>
              <a:t>. </a:t>
            </a:r>
          </a:p>
          <a:p>
            <a:r>
              <a:rPr lang="pt-BR" dirty="0"/>
              <a:t>Elas usam o </a:t>
            </a:r>
            <a:r>
              <a:rPr lang="pt-BR" b="1" dirty="0">
                <a:solidFill>
                  <a:schemeClr val="accent2"/>
                </a:solidFill>
              </a:rPr>
              <a:t>histórico de entradas anteriores</a:t>
            </a:r>
            <a:r>
              <a:rPr lang="pt-BR" dirty="0"/>
              <a:t> para </a:t>
            </a:r>
            <a:r>
              <a:rPr lang="pt-BR" b="1" dirty="0">
                <a:solidFill>
                  <a:schemeClr val="accent2"/>
                </a:solidFill>
              </a:rPr>
              <a:t>gerar uma saída</a:t>
            </a:r>
            <a:r>
              <a:rPr lang="pt-BR" dirty="0"/>
              <a:t>.</a:t>
            </a:r>
          </a:p>
          <a:p>
            <a:r>
              <a:rPr lang="pt-BR" dirty="0"/>
              <a:t>Porém, como veremos, um problema das </a:t>
            </a:r>
            <a:r>
              <a:rPr lang="pt-BR" dirty="0" err="1"/>
              <a:t>RNNs</a:t>
            </a:r>
            <a:r>
              <a:rPr lang="pt-BR" dirty="0"/>
              <a:t> é que a </a:t>
            </a:r>
            <a:r>
              <a:rPr lang="pt-BR" b="1" dirty="0">
                <a:solidFill>
                  <a:schemeClr val="accent2"/>
                </a:solidFill>
              </a:rPr>
              <a:t>memória</a:t>
            </a:r>
            <a:r>
              <a:rPr lang="pt-BR" dirty="0"/>
              <a:t> </a:t>
            </a:r>
            <a:r>
              <a:rPr lang="pt-BR" b="1" dirty="0">
                <a:solidFill>
                  <a:schemeClr val="accent2"/>
                </a:solidFill>
              </a:rPr>
              <a:t>desaparece</a:t>
            </a:r>
            <a:r>
              <a:rPr lang="pt-BR" dirty="0"/>
              <a:t> </a:t>
            </a:r>
            <a:r>
              <a:rPr lang="pt-BR" b="1" dirty="0">
                <a:solidFill>
                  <a:srgbClr val="0070C0"/>
                </a:solidFill>
              </a:rPr>
              <a:t>rapidamente</a:t>
            </a:r>
            <a:r>
              <a:rPr lang="pt-BR" dirty="0"/>
              <a:t> ao longo do tempo.</a:t>
            </a:r>
          </a:p>
          <a:p>
            <a:endParaRPr lang="pt-BR" dirty="0"/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="" xmlns:a16="http://schemas.microsoft.com/office/drawing/2014/main" id="{E51D7A82-869E-A081-9F87-50F6BC93FC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78086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BBA7CF3C-2AB5-ECC1-9920-3B2DE38CC3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96041"/>
            <a:ext cx="10515600" cy="126591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O que compõem as </a:t>
            </a:r>
            <a:r>
              <a:rPr lang="pt-BR" sz="6000" dirty="0" err="1"/>
              <a:t>RNNs</a:t>
            </a:r>
            <a:r>
              <a:rPr lang="pt-BR" sz="6000" dirty="0"/>
              <a:t>? 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35140497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671F0C14-67BD-40CF-9A8F-E9FC30FC9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6FF8CB8C-0F2B-7C4F-63CA-34C693F263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4536" y="3218490"/>
            <a:ext cx="6069418" cy="1603375"/>
          </a:xfrm>
        </p:spPr>
        <p:txBody>
          <a:bodyPr/>
          <a:lstStyle/>
          <a:p>
            <a:pPr marL="0" indent="0" algn="ctr">
              <a:buNone/>
            </a:pPr>
            <a:r>
              <a:rPr lang="pt-BR" dirty="0"/>
              <a:t>As </a:t>
            </a:r>
            <a:r>
              <a:rPr lang="pt-BR" dirty="0" err="1"/>
              <a:t>RNNs</a:t>
            </a:r>
            <a:r>
              <a:rPr lang="pt-BR" dirty="0"/>
              <a:t> são compostas por </a:t>
            </a:r>
            <a:r>
              <a:rPr lang="pt-BR" b="1" dirty="0"/>
              <a:t>neurônios recorrentes.</a:t>
            </a:r>
            <a:endParaRPr lang="en-US" dirty="0"/>
          </a:p>
        </p:txBody>
      </p:sp>
      <p:pic>
        <p:nvPicPr>
          <p:cNvPr id="5" name="Imagem 4">
            <a:extLst>
              <a:ext uri="{FF2B5EF4-FFF2-40B4-BE49-F238E27FC236}">
                <a16:creationId xmlns="" xmlns:a16="http://schemas.microsoft.com/office/drawing/2014/main" id="{75EB088D-2DA8-6B63-CFA0-01BFE1AC714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9058" y="1690688"/>
            <a:ext cx="2261084" cy="4513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1643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73B49179-BA46-8C10-00C9-7227EB093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387A993C-DAEE-C4BC-272A-C2D7C3B56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BAE70A3D-8B65-8CA7-8EEA-8792C2A6EC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70400" y="1825624"/>
                <a:ext cx="7721601" cy="5032375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entrada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en-US" dirty="0" err="1"/>
                  <a:t>interno</a:t>
                </a:r>
                <a:r>
                  <a:rPr lang="en-US" dirty="0"/>
                  <a:t> </a:t>
                </a:r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oculto</a:t>
                </a:r>
                <a:r>
                  <a:rPr lang="en-US" dirty="0"/>
                  <a:t> (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memória</a:t>
                </a:r>
                <a:r>
                  <a:rPr lang="en-US" b="1" dirty="0">
                    <a:solidFill>
                      <a:schemeClr val="accent2"/>
                    </a:solidFill>
                  </a:rPr>
                  <a:t> da rede</a:t>
                </a:r>
                <a:r>
                  <a:rPr lang="en-US" dirty="0"/>
                  <a:t>)</a:t>
                </a:r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−1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en-US" dirty="0" err="1"/>
                  <a:t>interno</a:t>
                </a:r>
                <a:r>
                  <a:rPr lang="en-US" dirty="0"/>
                  <a:t> anterior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: pesos de entrada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dirty="0"/>
                  <a:t>: pesos da </a:t>
                </a:r>
                <a:r>
                  <a:rPr lang="en-US" dirty="0" err="1"/>
                  <a:t>camada</a:t>
                </a:r>
                <a:r>
                  <a:rPr lang="en-US" dirty="0"/>
                  <a:t> </a:t>
                </a:r>
                <a:r>
                  <a:rPr lang="en-US" dirty="0" err="1"/>
                  <a:t>recorrente</a:t>
                </a:r>
                <a:r>
                  <a:rPr lang="en-US" dirty="0"/>
                  <a:t> (</a:t>
                </a:r>
                <a:r>
                  <a:rPr lang="en-US" dirty="0" err="1"/>
                  <a:t>oculta</a:t>
                </a:r>
                <a:r>
                  <a:rPr lang="en-US" dirty="0"/>
                  <a:t>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en-US" dirty="0"/>
                  <a:t>: pesos de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pt-BR" dirty="0"/>
                  <a:t>: unidade de retardo de tempo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função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E70A3D-8B65-8CA7-8EEA-8792C2A6EC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70400" y="1825624"/>
                <a:ext cx="7721601" cy="5032375"/>
              </a:xfrm>
              <a:blipFill>
                <a:blip r:embed="rId3"/>
                <a:stretch>
                  <a:fillRect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="" xmlns:a16="http://schemas.microsoft.com/office/drawing/2014/main" id="{A4FBDA72-C26E-0052-AF8A-6E5560FC4E1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6583" y="1419722"/>
            <a:ext cx="2679942" cy="5350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64228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15E58F59-116C-8F6D-B7AC-0250568F7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E9402BEF-ABFC-2E52-8381-46A90E9EE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AAFC11EF-1F73-384D-FC08-ADC0A69BE1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70400" y="1825624"/>
                <a:ext cx="7633615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</a:t>
                </a:r>
                <a:r>
                  <a:rPr lang="pt-BR" dirty="0" err="1"/>
                  <a:t>RNNs</a:t>
                </a:r>
                <a:r>
                  <a:rPr lang="pt-BR" dirty="0"/>
                  <a:t> lidam com as dependências temporais entre amostras mantendo um </a:t>
                </a:r>
                <a:r>
                  <a:rPr lang="pt-BR" b="1" dirty="0">
                    <a:solidFill>
                      <a:srgbClr val="0070C0"/>
                    </a:solidFill>
                  </a:rPr>
                  <a:t>estado oculto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, que armazena informações de todos os passos de tempo anteriores da sequência (</a:t>
                </a:r>
                <a:r>
                  <a:rPr lang="pt-BR" b="1" dirty="0">
                    <a:solidFill>
                      <a:srgbClr val="0070C0"/>
                    </a:solidFill>
                  </a:rPr>
                  <a:t>memória</a:t>
                </a:r>
                <a:r>
                  <a:rPr lang="pt-BR" dirty="0"/>
                  <a:t>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é uma representação compacta da história da sequência.</a:t>
                </a:r>
              </a:p>
              <a:p>
                <a:r>
                  <a:rPr lang="pt-BR" dirty="0"/>
                  <a:t>O mecanismo de </a:t>
                </a:r>
                <a:r>
                  <a:rPr lang="pt-BR" b="1" dirty="0">
                    <a:solidFill>
                      <a:srgbClr val="0070C0"/>
                    </a:solidFill>
                  </a:rPr>
                  <a:t>recorrência</a:t>
                </a:r>
                <a:r>
                  <a:rPr lang="pt-BR" dirty="0"/>
                  <a:t> permite que a rede aplique o contexto aprendido a partir de entradas anteriores às etapas atuais e futuras.</a:t>
                </a:r>
              </a:p>
              <a:p>
                <a:r>
                  <a:rPr lang="pt-BR" dirty="0"/>
                  <a:t>Uma célula recorrente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aprende padrões presentes</a:t>
                </a:r>
                <a:r>
                  <a:rPr lang="pt-BR" dirty="0"/>
                  <a:t> nas sequências.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FC11EF-1F73-384D-FC08-ADC0A69BE1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70400" y="1825624"/>
                <a:ext cx="7633615" cy="5032375"/>
              </a:xfrm>
              <a:blipFill>
                <a:blip r:embed="rId3"/>
                <a:stretch>
                  <a:fillRect l="-1437" t="-1937" r="-2075" b="-9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="" xmlns:a16="http://schemas.microsoft.com/office/drawing/2014/main" id="{9391CBA0-FDD8-1C64-EBF3-4D66D849BEE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6583" y="1419722"/>
            <a:ext cx="2679942" cy="5350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99997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54D77AF7-AEE9-58FC-8805-639651C8A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A7B90BF9-4F35-7CC8-B4A2-9A0C7D20F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recorrente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="" xmlns:a16="http://schemas.microsoft.com/office/drawing/2014/main" id="{32AD1736-B6E9-B84B-54CD-849BC507F7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7678" y="1825625"/>
            <a:ext cx="5773687" cy="5032374"/>
          </a:xfrm>
        </p:spPr>
        <p:txBody>
          <a:bodyPr/>
          <a:lstStyle/>
          <a:p>
            <a:r>
              <a:rPr lang="pt-BR" dirty="0"/>
              <a:t>Representação </a:t>
            </a:r>
            <a:r>
              <a:rPr lang="pt-BR" b="1" dirty="0">
                <a:solidFill>
                  <a:schemeClr val="accent2"/>
                </a:solidFill>
              </a:rPr>
              <a:t>simplificada</a:t>
            </a:r>
            <a:r>
              <a:rPr lang="pt-BR" dirty="0"/>
              <a:t> do neurônio.</a:t>
            </a:r>
          </a:p>
          <a:p>
            <a:r>
              <a:rPr lang="pt-BR" dirty="0"/>
              <a:t>Ela omite a maioria das matrizes de pesos, mostrando uma caixa laranja que corresponde a uma camada densa com função de ativação do tipo tangente hiperbólica (</a:t>
            </a:r>
            <a:r>
              <a:rPr lang="pt-BR" dirty="0" err="1"/>
              <a:t>tanh</a:t>
            </a:r>
            <a:r>
              <a:rPr lang="pt-BR" dirty="0"/>
              <a:t>).</a:t>
            </a:r>
          </a:p>
          <a:p>
            <a:r>
              <a:rPr lang="pt-BR" dirty="0"/>
              <a:t>Essa representação é bastante utilizada na literatura.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3">
                <a:extLst>
                  <a:ext uri="{FF2B5EF4-FFF2-40B4-BE49-F238E27FC236}">
                    <a16:creationId xmlns="" xmlns:a16="http://schemas.microsoft.com/office/drawing/2014/main" id="{7CED28AA-0E05-B2BA-0D30-E8DA542D766E}"/>
                  </a:ext>
                </a:extLst>
              </p:cNvPr>
              <p:cNvSpPr txBox="1"/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b="1" dirty="0"/>
                  <a:t>OBS</a:t>
                </a:r>
                <a:r>
                  <a:rPr lang="pt-BR" sz="1000" dirty="0"/>
                  <a:t>.: Para facilitar a notação, usamos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000" dirty="0"/>
                  <a:t> </a:t>
                </a:r>
                <a:r>
                  <a:rPr lang="en-US" sz="1000" dirty="0" err="1"/>
                  <a:t>ao</a:t>
                </a:r>
                <a:r>
                  <a:rPr lang="en-US" sz="1000" dirty="0"/>
                  <a:t> </a:t>
                </a:r>
                <a:r>
                  <a:rPr lang="en-US" sz="1000" dirty="0" err="1"/>
                  <a:t>invés</a:t>
                </a:r>
                <a:r>
                  <a:rPr lang="en-US" sz="1000" dirty="0"/>
                  <a:t> de </a:t>
                </a:r>
                <a14:m>
                  <m:oMath xmlns:m="http://schemas.openxmlformats.org/officeDocument/2006/math">
                    <m:r>
                      <a:rPr lang="pt-BR" sz="1000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begChr m:val="["/>
                        <m:endChr m:val="]"/>
                        <m:ctrlPr>
                          <a:rPr lang="pt-BR" sz="1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1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000" dirty="0"/>
              </a:p>
            </p:txBody>
          </p:sp>
        </mc:Choice>
        <mc:Fallback xmlns="">
          <p:sp>
            <p:nvSpPr>
              <p:cNvPr id="7" name="TextBox 3">
                <a:extLst>
                  <a:ext uri="{FF2B5EF4-FFF2-40B4-BE49-F238E27FC236}">
                    <a16:creationId xmlns:a16="http://schemas.microsoft.com/office/drawing/2014/main" id="{7CED28AA-0E05-B2BA-0D30-E8DA542D76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blipFill>
                <a:blip r:embed="rId4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="" xmlns:a16="http://schemas.microsoft.com/office/drawing/2014/main" id="{7FCC30CB-CB89-F35B-D92D-21E6B094C071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238" y="2457768"/>
            <a:ext cx="4436269" cy="280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52646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DFF8E223-5A55-598C-6C3A-13F57278F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D3C890A9-36F8-D703-4FF3-2ECF4E39F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="" xmlns:a16="http://schemas.microsoft.com/office/drawing/2014/main" id="{5D53E8F3-31EC-96A2-5086-93E2C9E2F1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01477" y="1825624"/>
                <a:ext cx="7190523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célula processa uma sequência de entradas um elemento (e.g., uma palavra ou um caractere) de cada vez, executando os seguintes passos em um laço: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Recebe a entrada atual da sequência,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Recebe o estado oculto do passo de tempo anterior,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pt-BR" dirty="0"/>
                  <a:t> (sua “memória”).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Combina essas duas entradas para calcular o novo estado oculto,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 o novo estado oculto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para calcular a saída,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para o passo de tempo atual.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novo estado oculto,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é então passado como memória para o próximo passo de tempo,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pt-BR" dirty="0"/>
                  <a:t>.</a:t>
                </a:r>
                <a:endParaRPr lang="en-US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5D53E8F3-31EC-96A2-5086-93E2C9E2F1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01477" y="1825624"/>
                <a:ext cx="7190523" cy="5032375"/>
              </a:xfrm>
              <a:blipFill>
                <a:blip r:embed="rId3"/>
                <a:stretch>
                  <a:fillRect l="-1525" t="-1937" r="-424" b="-2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Imagem 2">
            <a:extLst>
              <a:ext uri="{FF2B5EF4-FFF2-40B4-BE49-F238E27FC236}">
                <a16:creationId xmlns="" xmlns:a16="http://schemas.microsoft.com/office/drawing/2014/main" id="{8380297D-98CD-60DC-3ED7-95B86C2C0CF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240" y="2749999"/>
            <a:ext cx="4436269" cy="280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34530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10058803-0098-D69B-94E1-8CF2F7283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e geração da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988FD72E-BE70-A3E4-42F1-AA2A1AE8D9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829175" y="1825624"/>
                <a:ext cx="7362825" cy="5032375"/>
              </a:xfrm>
            </p:spPr>
            <p:txBody>
              <a:bodyPr/>
              <a:lstStyle/>
              <a:p>
                <a:r>
                  <a:rPr lang="pt-BR" dirty="0"/>
                  <a:t>Equações de </a:t>
                </a:r>
                <a:r>
                  <a:rPr lang="pt-BR" b="1" dirty="0">
                    <a:solidFill>
                      <a:srgbClr val="00B050"/>
                    </a:solidFill>
                  </a:rPr>
                  <a:t>atualização do estado oculto</a:t>
                </a:r>
                <a:r>
                  <a:rPr lang="pt-BR" dirty="0"/>
                  <a:t> e de </a:t>
                </a:r>
                <a:r>
                  <a:rPr lang="pt-BR" b="1" dirty="0">
                    <a:solidFill>
                      <a:srgbClr val="00B050"/>
                    </a:solidFill>
                  </a:rPr>
                  <a:t>saída do neurônio</a:t>
                </a:r>
                <a:r>
                  <a:rPr lang="pt-BR" dirty="0"/>
                  <a:t> recorrente: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sz="7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pt-BR" dirty="0"/>
                  <a:t> é o vetor de </a:t>
                </a:r>
                <a:r>
                  <a:rPr lang="pt-BR" i="1" dirty="0"/>
                  <a:t>bias</a:t>
                </a:r>
                <a:r>
                  <a:rPr lang="pt-BR" dirty="0"/>
                  <a:t>.</a:t>
                </a:r>
                <a:endParaRPr lang="en-US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b="1" dirty="0">
                    <a:solidFill>
                      <a:schemeClr val="accent2"/>
                    </a:solidFill>
                  </a:rPr>
                  <a:t>pesos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são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mesmos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todos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os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intervalos</a:t>
                </a:r>
                <a:r>
                  <a:rPr lang="en-US" b="1" dirty="0">
                    <a:solidFill>
                      <a:srgbClr val="7030A0"/>
                    </a:solidFill>
                  </a:rPr>
                  <a:t> de tempo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Em </a:t>
                </a:r>
                <a:r>
                  <a:rPr lang="en-US" dirty="0" err="1"/>
                  <a:t>geral</a:t>
                </a:r>
                <a:r>
                  <a:rPr lang="en-US" dirty="0"/>
                  <a:t>, </a:t>
                </a:r>
                <a:r>
                  <a:rPr lang="en-US" dirty="0" err="1"/>
                  <a:t>usa</a:t>
                </a:r>
                <a:r>
                  <a:rPr lang="en-US" dirty="0"/>
                  <a:t>-se </a:t>
                </a:r>
                <a:r>
                  <a:rPr lang="en-US" dirty="0" err="1"/>
                  <a:t>funções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en-US" dirty="0"/>
                  <a:t>, do </a:t>
                </a:r>
                <a:r>
                  <a:rPr lang="en-US" dirty="0" err="1"/>
                  <a:t>tipo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tangente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hiperbólica</a:t>
                </a:r>
                <a:r>
                  <a:rPr lang="en-US" dirty="0"/>
                  <a:t> (tanh) </a:t>
                </a:r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sigmóide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Não</a:t>
                </a:r>
                <a:r>
                  <a:rPr lang="en-US" dirty="0"/>
                  <a:t> se </a:t>
                </a:r>
                <a:r>
                  <a:rPr lang="en-US" dirty="0" err="1"/>
                  <a:t>usa</a:t>
                </a:r>
                <a:r>
                  <a:rPr lang="en-US" dirty="0"/>
                  <a:t> </a:t>
                </a:r>
                <a:r>
                  <a:rPr lang="en-US" dirty="0" err="1"/>
                  <a:t>ReLU</a:t>
                </a:r>
                <a:r>
                  <a:rPr lang="en-US" dirty="0"/>
                  <a:t>, pois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por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não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saturarem</a:t>
                </a:r>
                <a:r>
                  <a:rPr lang="en-US" dirty="0"/>
                  <a:t>, a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recorrência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causar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explosão</a:t>
                </a:r>
                <a:r>
                  <a:rPr lang="en-US" b="1" dirty="0">
                    <a:solidFill>
                      <a:schemeClr val="accent1"/>
                    </a:solidFill>
                  </a:rPr>
                  <a:t> do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gradiente</a:t>
                </a:r>
                <a:r>
                  <a:rPr lang="en-US" dirty="0"/>
                  <a:t>.</a:t>
                </a:r>
              </a:p>
              <a:p>
                <a:pPr algn="ctr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8FD72E-BE70-A3E4-42F1-AA2A1AE8D9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29175" y="1825624"/>
                <a:ext cx="7362825" cy="5032375"/>
              </a:xfrm>
              <a:blipFill>
                <a:blip r:embed="rId3"/>
                <a:stretch>
                  <a:fillRect l="-1656" t="-1937" r="-8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m 5">
            <a:extLst>
              <a:ext uri="{FF2B5EF4-FFF2-40B4-BE49-F238E27FC236}">
                <a16:creationId xmlns="" xmlns:a16="http://schemas.microsoft.com/office/drawing/2014/main" id="{F7DDA95C-C5C7-CCA4-CCDB-D86268AAC52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832" y="1592865"/>
            <a:ext cx="2454517" cy="4900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1549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10A6C62E-76B5-FA20-EE1A-654E9CD98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E145478A-CD8C-A7EE-5ED6-FCEA3B528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e geração da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60AAF98E-E627-AE1F-AE39-31FADE78DD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949072" y="1825624"/>
                <a:ext cx="724292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Algumas implementações consideram 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função de ativação na saída </a:t>
                </a:r>
                <a:r>
                  <a:rPr lang="pt-BR" dirty="0"/>
                  <a:t>(e.g., logística ou </a:t>
                </a:r>
                <a:r>
                  <a:rPr lang="pt-BR" dirty="0" err="1"/>
                  <a:t>tanh</a:t>
                </a:r>
                <a:r>
                  <a:rPr lang="pt-BR" dirty="0"/>
                  <a:t>).</a:t>
                </a:r>
              </a:p>
              <a:p>
                <a:r>
                  <a:rPr lang="pt-BR" dirty="0"/>
                  <a:t>Desta forma, a equação de </a:t>
                </a:r>
                <a:r>
                  <a:rPr lang="pt-BR" b="1" dirty="0">
                    <a:solidFill>
                      <a:srgbClr val="00B050"/>
                    </a:solidFill>
                  </a:rPr>
                  <a:t>saída do neurônio</a:t>
                </a:r>
                <a:r>
                  <a:rPr lang="pt-BR" dirty="0"/>
                  <a:t> recorrente fica assim:</a:t>
                </a:r>
                <a:endParaRPr lang="en-US" sz="7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𝒉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pt-BR" dirty="0"/>
                  <a:t> é o vetor de </a:t>
                </a:r>
                <a:r>
                  <a:rPr lang="pt-BR" i="1" dirty="0"/>
                  <a:t>bias.</a:t>
                </a:r>
                <a:endParaRPr lang="en-US" dirty="0"/>
              </a:p>
              <a:p>
                <a:r>
                  <a:rPr lang="pt-BR" dirty="0"/>
                  <a:t>A equação de </a:t>
                </a:r>
                <a:r>
                  <a:rPr lang="pt-BR" b="1" dirty="0">
                    <a:solidFill>
                      <a:srgbClr val="00B050"/>
                    </a:solidFill>
                  </a:rPr>
                  <a:t>atualização do estado oculto </a:t>
                </a:r>
                <a:r>
                  <a:rPr lang="pt-BR" dirty="0"/>
                  <a:t>permanece a mesma.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AAF98E-E627-AE1F-AE39-31FADE78DD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49072" y="1825624"/>
                <a:ext cx="7242928" cy="5032375"/>
              </a:xfrm>
              <a:blipFill>
                <a:blip r:embed="rId3"/>
                <a:stretch>
                  <a:fillRect l="-1768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="" xmlns:a16="http://schemas.microsoft.com/office/drawing/2014/main" id="{18759DC6-199E-9641-2389-B62D876BAC88}"/>
              </a:ext>
            </a:extLst>
          </p:cNvPr>
          <p:cNvGrpSpPr/>
          <p:nvPr/>
        </p:nvGrpSpPr>
        <p:grpSpPr>
          <a:xfrm>
            <a:off x="1676298" y="1517693"/>
            <a:ext cx="2258314" cy="5231527"/>
            <a:chOff x="1582030" y="1498840"/>
            <a:chExt cx="2258314" cy="5231527"/>
          </a:xfrm>
        </p:grpSpPr>
        <p:pic>
          <p:nvPicPr>
            <p:cNvPr id="5" name="Imagem 4">
              <a:extLst>
                <a:ext uri="{FF2B5EF4-FFF2-40B4-BE49-F238E27FC236}">
                  <a16:creationId xmlns="" xmlns:a16="http://schemas.microsoft.com/office/drawing/2014/main" id="{8E2B0E5C-B617-1386-87C2-3A8B717B022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82031" y="1498840"/>
              <a:ext cx="2258313" cy="5231527"/>
            </a:xfrm>
            <a:prstGeom prst="rect">
              <a:avLst/>
            </a:prstGeom>
          </p:spPr>
        </p:pic>
        <p:sp>
          <p:nvSpPr>
            <p:cNvPr id="7" name="Retângulo 6">
              <a:extLst>
                <a:ext uri="{FF2B5EF4-FFF2-40B4-BE49-F238E27FC236}">
                  <a16:creationId xmlns="" xmlns:a16="http://schemas.microsoft.com/office/drawing/2014/main" id="{1E3BC3FD-1B5F-5A63-997C-3561384F2766}"/>
                </a:ext>
              </a:extLst>
            </p:cNvPr>
            <p:cNvSpPr/>
            <p:nvPr/>
          </p:nvSpPr>
          <p:spPr>
            <a:xfrm>
              <a:off x="1582030" y="2066729"/>
              <a:ext cx="557657" cy="61912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rgbClr val="FF0000"/>
                  </a:solidFill>
                </a:ln>
                <a:noFill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798602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6D2474F2-5A89-1CB7-BD28-4A23A7F514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610EFA5E-749F-7C57-0BA6-488F9D44E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BFCF467E-0C2B-3D54-B6F1-85395ED9EC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05395" y="1825624"/>
            <a:ext cx="4386605" cy="5032375"/>
          </a:xfrm>
        </p:spPr>
        <p:txBody>
          <a:bodyPr>
            <a:normAutofit/>
          </a:bodyPr>
          <a:lstStyle/>
          <a:p>
            <a:r>
              <a:rPr lang="pt-BR" dirty="0"/>
              <a:t>Embora visualizemos a RNN com um </a:t>
            </a:r>
            <a:r>
              <a:rPr lang="pt-BR" b="1" dirty="0">
                <a:solidFill>
                  <a:schemeClr val="accent1"/>
                </a:solidFill>
              </a:rPr>
              <a:t>laço</a:t>
            </a:r>
            <a:r>
              <a:rPr lang="pt-BR" dirty="0"/>
              <a:t>, é mais fácil entender seu funcionamento </a:t>
            </a:r>
            <a:r>
              <a:rPr lang="pt-BR" b="1" dirty="0">
                <a:solidFill>
                  <a:schemeClr val="accent2"/>
                </a:solidFill>
              </a:rPr>
              <a:t>desenrolando-a</a:t>
            </a:r>
            <a:r>
              <a:rPr lang="pt-BR" dirty="0"/>
              <a:t> ao longo dos passos de tempo.</a:t>
            </a:r>
          </a:p>
          <a:p>
            <a:r>
              <a:rPr lang="pt-BR" dirty="0"/>
              <a:t>Uma RNN desenrolada pode ser vista como </a:t>
            </a:r>
            <a:r>
              <a:rPr lang="pt-BR" b="1" dirty="0">
                <a:solidFill>
                  <a:srgbClr val="7030A0"/>
                </a:solidFill>
              </a:rPr>
              <a:t>múltiplas cópias da mesma camada</a:t>
            </a:r>
            <a:r>
              <a:rPr lang="pt-BR" dirty="0"/>
              <a:t>, cada uma passando </a:t>
            </a:r>
            <a:r>
              <a:rPr lang="pt-BR" b="1" dirty="0">
                <a:solidFill>
                  <a:schemeClr val="accent2"/>
                </a:solidFill>
              </a:rPr>
              <a:t>uma mensagem para a sua sucessora</a:t>
            </a:r>
            <a:r>
              <a:rPr lang="pt-BR" dirty="0"/>
              <a:t>.</a:t>
            </a:r>
          </a:p>
          <a:p>
            <a:endParaRPr lang="pt-BR" dirty="0"/>
          </a:p>
        </p:txBody>
      </p:sp>
      <p:pic>
        <p:nvPicPr>
          <p:cNvPr id="8" name="Imagem 7">
            <a:extLst>
              <a:ext uri="{FF2B5EF4-FFF2-40B4-BE49-F238E27FC236}">
                <a16:creationId xmlns="" xmlns:a16="http://schemas.microsoft.com/office/drawing/2014/main" id="{7647394D-B8E2-7039-16A8-7702A1CD088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885" y="1851548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2990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21DDC0DF-3D06-4045-B165-7AAB8FC34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64B05D09-B51B-9F1D-840C-8F31ECA8A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05DB0C75-40DB-1344-2644-3F9C51103B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05395" y="1825624"/>
            <a:ext cx="4386605" cy="5032375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pt-BR" dirty="0"/>
              <a:t>Cada </a:t>
            </a:r>
            <a:r>
              <a:rPr lang="pt-BR" b="1" dirty="0">
                <a:solidFill>
                  <a:schemeClr val="accent2"/>
                </a:solidFill>
              </a:rPr>
              <a:t>réplica</a:t>
            </a:r>
            <a:r>
              <a:rPr lang="pt-BR" dirty="0"/>
              <a:t> da rede é </a:t>
            </a:r>
            <a:r>
              <a:rPr lang="pt-BR" b="1" dirty="0">
                <a:solidFill>
                  <a:schemeClr val="accent2"/>
                </a:solidFill>
              </a:rPr>
              <a:t>referente </a:t>
            </a:r>
            <a:r>
              <a:rPr lang="pt-BR" dirty="0"/>
              <a:t>a um </a:t>
            </a:r>
            <a:r>
              <a:rPr lang="pt-BR" b="1" dirty="0">
                <a:solidFill>
                  <a:schemeClr val="accent2"/>
                </a:solidFill>
              </a:rPr>
              <a:t>intervalo de tempo diferente </a:t>
            </a:r>
            <a:r>
              <a:rPr lang="pt-BR" dirty="0"/>
              <a:t>e pode ser pensada como </a:t>
            </a:r>
            <a:r>
              <a:rPr lang="pt-BR" b="1" dirty="0">
                <a:solidFill>
                  <a:srgbClr val="00B050"/>
                </a:solidFill>
              </a:rPr>
              <a:t>uma camada em uma rede MLP</a:t>
            </a:r>
            <a:r>
              <a:rPr lang="pt-BR" dirty="0"/>
              <a:t>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t-BR" dirty="0"/>
              <a:t>Percebam que a </a:t>
            </a:r>
            <a:r>
              <a:rPr lang="pt-BR" b="1" dirty="0">
                <a:solidFill>
                  <a:srgbClr val="7030A0"/>
                </a:solidFill>
              </a:rPr>
              <a:t>arquitetura da rede</a:t>
            </a:r>
            <a:r>
              <a:rPr lang="pt-BR" dirty="0"/>
              <a:t> pode se tornar </a:t>
            </a:r>
            <a:r>
              <a:rPr lang="pt-BR" b="1" dirty="0">
                <a:solidFill>
                  <a:srgbClr val="7030A0"/>
                </a:solidFill>
              </a:rPr>
              <a:t>muito profunda </a:t>
            </a:r>
            <a:r>
              <a:rPr lang="pt-BR" dirty="0"/>
              <a:t>para</a:t>
            </a:r>
            <a:r>
              <a:rPr lang="pt-BR" b="1" dirty="0">
                <a:solidFill>
                  <a:srgbClr val="7030A0"/>
                </a:solidFill>
              </a:rPr>
              <a:t> sequências muito longas</a:t>
            </a:r>
            <a:r>
              <a:rPr lang="pt-BR" dirty="0"/>
              <a:t>.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="" xmlns:a16="http://schemas.microsoft.com/office/drawing/2014/main" id="{5432393F-CC34-9AA6-AE14-3B0ED66B82F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885" y="1851548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0749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27131961-1381-6F3E-8FD0-08285C798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1C74E138-4FDB-0A0C-AE94-7C75814D5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C4D1FC21-9877-8A53-D087-E821889E06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20553" y="1825624"/>
            <a:ext cx="4471447" cy="5032375"/>
          </a:xfrm>
        </p:spPr>
        <p:txBody>
          <a:bodyPr>
            <a:normAutofit/>
          </a:bodyPr>
          <a:lstStyle/>
          <a:p>
            <a:r>
              <a:rPr lang="pt-BR" dirty="0"/>
              <a:t>Essa visão </a:t>
            </a:r>
            <a:r>
              <a:rPr lang="pt-BR" b="1" dirty="0">
                <a:solidFill>
                  <a:schemeClr val="accent2"/>
                </a:solidFill>
              </a:rPr>
              <a:t>desenrolada</a:t>
            </a:r>
            <a:r>
              <a:rPr lang="pt-BR" dirty="0"/>
              <a:t> mostra claramente o fluxo de informações e a </a:t>
            </a:r>
            <a:r>
              <a:rPr lang="pt-BR" b="1" dirty="0">
                <a:solidFill>
                  <a:srgbClr val="0070C0"/>
                </a:solidFill>
              </a:rPr>
              <a:t>reutilização dos pesos</a:t>
            </a:r>
            <a:r>
              <a:rPr lang="pt-BR" dirty="0"/>
              <a:t>.</a:t>
            </a:r>
          </a:p>
          <a:p>
            <a:r>
              <a:rPr lang="pt-BR" dirty="0"/>
              <a:t>Os </a:t>
            </a:r>
            <a:r>
              <a:rPr lang="pt-BR" b="1" dirty="0">
                <a:solidFill>
                  <a:schemeClr val="accent1"/>
                </a:solidFill>
              </a:rPr>
              <a:t>pesos </a:t>
            </a:r>
            <a:r>
              <a:rPr lang="pt-BR" dirty="0"/>
              <a:t>e as </a:t>
            </a:r>
            <a:r>
              <a:rPr lang="pt-BR" b="1" dirty="0">
                <a:solidFill>
                  <a:schemeClr val="accent1"/>
                </a:solidFill>
              </a:rPr>
              <a:t>funções de ativação </a:t>
            </a:r>
            <a:r>
              <a:rPr lang="pt-BR" dirty="0"/>
              <a:t>são</a:t>
            </a:r>
            <a:r>
              <a:rPr lang="pt-BR" b="1" dirty="0">
                <a:solidFill>
                  <a:schemeClr val="accent1"/>
                </a:solidFill>
              </a:rPr>
              <a:t> mantidos constantes</a:t>
            </a:r>
            <a:r>
              <a:rPr lang="pt-BR" dirty="0"/>
              <a:t> em cada </a:t>
            </a:r>
            <a:r>
              <a:rPr lang="pt-BR" b="1" dirty="0">
                <a:solidFill>
                  <a:schemeClr val="accent1"/>
                </a:solidFill>
              </a:rPr>
              <a:t>intervalo de tempo.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="" xmlns:a16="http://schemas.microsoft.com/office/drawing/2014/main" id="{C67339C6-8630-9318-806E-885B3088E3A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043" y="1898682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83572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E08040EC-283E-AF0D-98D2-F63FF4265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6D6B01EA-11FE-E505-9C21-2C7DF649E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9B7EF629-DAD2-6F9E-E547-E7199A3C8A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04910" y="1825624"/>
                <a:ext cx="438709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Esse </a:t>
                </a:r>
                <a:r>
                  <a:rPr lang="pt-BR" b="1" dirty="0">
                    <a:solidFill>
                      <a:schemeClr val="accent2"/>
                    </a:solidFill>
                  </a:rPr>
                  <a:t>conjunto compartilhado de pesos</a:t>
                </a:r>
                <a:r>
                  <a:rPr lang="pt-BR" dirty="0"/>
                  <a:t> é o que torna o modelo "</a:t>
                </a:r>
                <a:r>
                  <a:rPr lang="pt-BR" b="1" dirty="0">
                    <a:solidFill>
                      <a:srgbClr val="00B050"/>
                    </a:solidFill>
                  </a:rPr>
                  <a:t>recorrente</a:t>
                </a:r>
                <a:r>
                  <a:rPr lang="pt-BR" dirty="0"/>
                  <a:t>" e permite que ele </a:t>
                </a:r>
                <a:r>
                  <a:rPr lang="pt-BR" b="1" dirty="0">
                    <a:solidFill>
                      <a:srgbClr val="7030A0"/>
                    </a:solidFill>
                  </a:rPr>
                  <a:t>aprenda (detecte) padrões em sequências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Notem que a saída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begChr m:val="["/>
                        <m:endChr m:val="]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  <a:r>
                  <a:rPr lang="pt-BR" b="1" dirty="0">
                    <a:solidFill>
                      <a:srgbClr val="00B050"/>
                    </a:solidFill>
                  </a:rPr>
                  <a:t>depende de </a:t>
                </a:r>
                <a14:m>
                  <m:oMath xmlns:m="http://schemas.openxmlformats.org/officeDocument/2006/math"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𝒕</m:t>
                    </m:r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] </m:t>
                    </m:r>
                  </m:oMath>
                </a14:m>
                <a:r>
                  <a:rPr lang="pt-BR" b="1" dirty="0">
                    <a:solidFill>
                      <a:srgbClr val="00B050"/>
                    </a:solidFill>
                  </a:rPr>
                  <a:t>e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todos</a:t>
                </a:r>
                <a:r>
                  <a:rPr lang="pt-BR" b="1" dirty="0">
                    <a:solidFill>
                      <a:srgbClr val="00B050"/>
                    </a:solidFill>
                  </a:rPr>
                  <a:t> os seus valores anteriores</a:t>
                </a:r>
                <a:r>
                  <a:rPr lang="pt-BR" dirty="0"/>
                  <a:t> e não apenas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como em uma MLP.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EF629-DAD2-6F9E-E547-E7199A3C8A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04910" y="1825624"/>
                <a:ext cx="4387090" cy="5032375"/>
              </a:xfrm>
              <a:blipFill>
                <a:blip r:embed="rId3"/>
                <a:stretch>
                  <a:fillRect l="-2500" t="-1937" r="-43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="" xmlns:a16="http://schemas.microsoft.com/office/drawing/2014/main" id="{11D00B5F-AE10-DDBA-90FA-2664155E2E1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434" y="1965166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19233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2FA4CF61-CE52-9ED4-4E52-19F813121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70517226-7116-AD96-CC12-97CF12663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34BD94AA-1AF4-CE3E-B58D-37EA5EC188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6096000" cy="5032375"/>
          </a:xfrm>
        </p:spPr>
        <p:txBody>
          <a:bodyPr>
            <a:normAutofit/>
          </a:bodyPr>
          <a:lstStyle/>
          <a:p>
            <a:r>
              <a:rPr lang="pt-BR" dirty="0"/>
              <a:t>O processo de desenrolar uma RNN nos ajuda a treinar a rede usando a </a:t>
            </a:r>
            <a:r>
              <a:rPr lang="pt-BR" b="1" dirty="0">
                <a:solidFill>
                  <a:srgbClr val="7030A0"/>
                </a:solidFill>
              </a:rPr>
              <a:t>retropropagação do erro</a:t>
            </a:r>
            <a:r>
              <a:rPr lang="pt-BR" dirty="0"/>
              <a:t>.</a:t>
            </a:r>
          </a:p>
          <a:p>
            <a:r>
              <a:rPr lang="pt-BR" dirty="0"/>
              <a:t>O objetivo é: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descobrir como cada peso influenciou o erro,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ajustar os pesos para minimizar o erro. </a:t>
            </a:r>
          </a:p>
          <a:p>
            <a:r>
              <a:rPr lang="pt-BR" dirty="0"/>
              <a:t>Nas </a:t>
            </a:r>
            <a:r>
              <a:rPr lang="pt-BR" dirty="0" err="1"/>
              <a:t>RNNs</a:t>
            </a:r>
            <a:r>
              <a:rPr lang="pt-BR" dirty="0"/>
              <a:t>, isso é mais complexo pois: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estado atual depende dos estados anteriores,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então o erro precisa voltar no tempo.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="" xmlns:a16="http://schemas.microsoft.com/office/drawing/2014/main" id="{EFA75654-DF42-EDB9-B152-A60A131AFD6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07271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CE55AF5A-930E-4EB7-9C3A-7CA94CC8D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93167BFA-0FC4-2278-90FE-EEBB76F8C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C856341B-8DD5-B4D0-04B5-B1D29CAF8A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16338" y="1825624"/>
                <a:ext cx="6375662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Para treinar a rede, ela é primeiro </a:t>
                </a:r>
                <a:r>
                  <a:rPr lang="pt-BR" b="1" dirty="0">
                    <a:solidFill>
                      <a:schemeClr val="accent2"/>
                    </a:solidFill>
                  </a:rPr>
                  <a:t>desenrolada</a:t>
                </a:r>
                <a:r>
                  <a:rPr lang="pt-BR" dirty="0"/>
                  <a:t> e </a:t>
                </a:r>
                <a:r>
                  <a:rPr lang="pt-BR" b="1" dirty="0">
                    <a:solidFill>
                      <a:srgbClr val="7030A0"/>
                    </a:solidFill>
                  </a:rPr>
                  <a:t>depois aplica-se a retropropagação</a:t>
                </a:r>
                <a:r>
                  <a:rPr lang="pt-BR" dirty="0"/>
                  <a:t> do erro </a:t>
                </a:r>
                <a:r>
                  <a:rPr lang="pt-BR" b="1" dirty="0">
                    <a:solidFill>
                      <a:srgbClr val="7030A0"/>
                    </a:solidFill>
                  </a:rPr>
                  <a:t>tradicional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Inicialmente, a sequência,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, é processada em uma </a:t>
                </a:r>
                <a:r>
                  <a:rPr lang="pt-BR" b="1" dirty="0">
                    <a:solidFill>
                      <a:srgbClr val="00B050"/>
                    </a:solidFill>
                  </a:rPr>
                  <a:t>etapa direta</a:t>
                </a:r>
                <a:r>
                  <a:rPr lang="pt-BR" dirty="0"/>
                  <a:t>, gerando saídas ao longo dos vários instantes de tempo,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. </a:t>
                </a:r>
              </a:p>
              <a:p>
                <a:r>
                  <a:rPr lang="pt-BR" dirty="0"/>
                  <a:t>Em seguida, uma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de erro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pt-BR" dirty="0"/>
                  <a:t>,(e.g., EQM, EC) é </a:t>
                </a:r>
                <a:r>
                  <a:rPr lang="pt-BR" b="1" dirty="0">
                    <a:solidFill>
                      <a:srgbClr val="00B050"/>
                    </a:solidFill>
                  </a:rPr>
                  <a:t>calculada</a:t>
                </a:r>
                <a:r>
                  <a:rPr lang="pt-BR" dirty="0"/>
                  <a:t> utilizando as saídas e os rótulos,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56341B-8DD5-B4D0-04B5-B1D29CAF8A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16338" y="1825624"/>
                <a:ext cx="6375662" cy="5032376"/>
              </a:xfrm>
              <a:blipFill>
                <a:blip r:embed="rId2"/>
                <a:stretch>
                  <a:fillRect l="-1721" t="-1937" r="-26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="" xmlns:a16="http://schemas.microsoft.com/office/drawing/2014/main" id="{723AD603-5E49-AE24-2071-74753017B5F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46112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20D94518-B943-3652-40D5-8C674576F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3CA5185B-0A25-F012-4043-94A4C6884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C11E477E-D988-C2C5-1555-C6A90F36E3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1180" y="1825624"/>
            <a:ext cx="6290820" cy="5032376"/>
          </a:xfrm>
        </p:spPr>
        <p:txBody>
          <a:bodyPr>
            <a:normAutofit/>
          </a:bodyPr>
          <a:lstStyle/>
          <a:p>
            <a:r>
              <a:rPr lang="pt-BR" noProof="0" dirty="0"/>
              <a:t>Após o cálculo do erro, os </a:t>
            </a:r>
            <a:r>
              <a:rPr lang="pt-BR" b="1" noProof="0" dirty="0">
                <a:solidFill>
                  <a:srgbClr val="00B050"/>
                </a:solidFill>
              </a:rPr>
              <a:t>gradientes são propagados retroativamente </a:t>
            </a:r>
            <a:r>
              <a:rPr lang="pt-BR" noProof="0" dirty="0"/>
              <a:t>ao longo da rede desenrolada no tempo.</a:t>
            </a:r>
          </a:p>
          <a:p>
            <a:r>
              <a:rPr lang="pt-BR" noProof="0" dirty="0"/>
              <a:t>Como os </a:t>
            </a:r>
            <a:r>
              <a:rPr lang="pt-BR" b="1" noProof="0" dirty="0">
                <a:solidFill>
                  <a:schemeClr val="accent2"/>
                </a:solidFill>
              </a:rPr>
              <a:t>mesmos pesos são reutilizados</a:t>
            </a:r>
            <a:r>
              <a:rPr lang="pt-BR" noProof="0" dirty="0"/>
              <a:t> em todos os instantes da sequência, </a:t>
            </a:r>
            <a:r>
              <a:rPr lang="pt-BR" b="1" noProof="0" dirty="0">
                <a:solidFill>
                  <a:schemeClr val="accent2"/>
                </a:solidFill>
              </a:rPr>
              <a:t>cada instante</a:t>
            </a:r>
            <a:r>
              <a:rPr lang="pt-BR" noProof="0" dirty="0"/>
              <a:t> temporal </a:t>
            </a:r>
            <a:r>
              <a:rPr lang="pt-BR" b="1" noProof="0" dirty="0">
                <a:solidFill>
                  <a:schemeClr val="accent2"/>
                </a:solidFill>
              </a:rPr>
              <a:t>produz uma contribuição para o gradiente final</a:t>
            </a:r>
            <a:r>
              <a:rPr lang="pt-BR" noProof="0" dirty="0"/>
              <a:t> desses pesos.</a:t>
            </a:r>
          </a:p>
          <a:p>
            <a:r>
              <a:rPr lang="pt-BR" noProof="0" dirty="0"/>
              <a:t>Durante o treinamento, </a:t>
            </a:r>
            <a:r>
              <a:rPr lang="pt-BR" b="1" noProof="0" dirty="0">
                <a:solidFill>
                  <a:srgbClr val="7030A0"/>
                </a:solidFill>
              </a:rPr>
              <a:t>essas contribuições são somadas</a:t>
            </a:r>
            <a:r>
              <a:rPr lang="pt-BR" noProof="0" dirty="0"/>
              <a:t> para gerar o </a:t>
            </a:r>
            <a:r>
              <a:rPr lang="pt-BR" b="1" noProof="0" dirty="0">
                <a:solidFill>
                  <a:srgbClr val="7030A0"/>
                </a:solidFill>
              </a:rPr>
              <a:t>gradiente final</a:t>
            </a:r>
            <a:r>
              <a:rPr lang="pt-BR" noProof="0" dirty="0"/>
              <a:t> e atualizar os pesos da rede.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="" xmlns:a16="http://schemas.microsoft.com/office/drawing/2014/main" id="{FFEFC366-25A0-8801-988D-FFCD224F3E1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479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BAD87738-FC7E-21B4-8EC1-0DABBFF6B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95A50FF2-35C9-AA04-ED08-BE06602518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818A30A8-8D7E-A868-522E-8860A7F87F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01180" y="1825624"/>
                <a:ext cx="629082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 fim, os pesos da rede são atualizados utilizando algum método de otimização baseados no vetor gradiente.</a:t>
                </a:r>
              </a:p>
              <a:p>
                <a:r>
                  <a:rPr lang="pt-BR" dirty="0"/>
                  <a:t>Por exemplo, usando o gradiente descendente em batelada: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𝑾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𝑾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 é uma das matrizes de peso da célula,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 é o passo de aprendizagem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pt-BR" dirty="0"/>
                  <a:t> é a função de erro.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8A30A8-8D7E-A868-522E-8860A7F87F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01180" y="1825624"/>
                <a:ext cx="6290820" cy="5032376"/>
              </a:xfrm>
              <a:blipFill>
                <a:blip r:embed="rId2"/>
                <a:stretch>
                  <a:fillRect l="-1938" t="-1937" r="-26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="" xmlns:a16="http://schemas.microsoft.com/office/drawing/2014/main" id="{72E6F4CD-19AC-4CEA-A975-5768600757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75050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93C3594B-041E-A819-7F40-ADDA10695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17353FE7-29C4-832D-D880-18B70E1AC7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D0C5AC7A-B3D7-B83C-747E-584985A7A3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67168" y="1825624"/>
            <a:ext cx="6224832" cy="5032376"/>
          </a:xfrm>
        </p:spPr>
        <p:txBody>
          <a:bodyPr>
            <a:normAutofit/>
          </a:bodyPr>
          <a:lstStyle/>
          <a:p>
            <a:r>
              <a:rPr lang="pt-BR" dirty="0"/>
              <a:t>O </a:t>
            </a:r>
            <a:r>
              <a:rPr lang="pt-BR" b="1" dirty="0">
                <a:solidFill>
                  <a:srgbClr val="00B050"/>
                </a:solidFill>
              </a:rPr>
              <a:t>desenrolar da rede</a:t>
            </a:r>
            <a:r>
              <a:rPr lang="pt-BR" dirty="0"/>
              <a:t> para aplicação da retropropagação do erro é chamado de </a:t>
            </a:r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(BPTT).</a:t>
            </a:r>
          </a:p>
          <a:p>
            <a:r>
              <a:rPr lang="pt-BR" dirty="0"/>
              <a:t>Ele é uma </a:t>
            </a:r>
            <a:r>
              <a:rPr lang="pt-BR" b="1" dirty="0">
                <a:solidFill>
                  <a:schemeClr val="accent2"/>
                </a:solidFill>
              </a:rPr>
              <a:t>extensão</a:t>
            </a:r>
            <a:r>
              <a:rPr lang="pt-BR" dirty="0"/>
              <a:t> do </a:t>
            </a:r>
            <a:r>
              <a:rPr lang="pt-BR" i="1" dirty="0" err="1"/>
              <a:t>backpropagation</a:t>
            </a:r>
            <a:r>
              <a:rPr lang="pt-BR" dirty="0"/>
              <a:t> tradicional, mas </a:t>
            </a:r>
            <a:r>
              <a:rPr lang="pt-BR" b="1" dirty="0">
                <a:solidFill>
                  <a:schemeClr val="accent2"/>
                </a:solidFill>
              </a:rPr>
              <a:t>aplicado ao longo do tempo</a:t>
            </a:r>
            <a:r>
              <a:rPr lang="pt-BR" dirty="0"/>
              <a:t>.</a:t>
            </a:r>
          </a:p>
          <a:p>
            <a:r>
              <a:rPr lang="pt-BR" dirty="0"/>
              <a:t>A ideia central é:</a:t>
            </a:r>
          </a:p>
          <a:p>
            <a:pPr marL="0" indent="0" algn="ctr">
              <a:buNone/>
            </a:pPr>
            <a:r>
              <a:rPr lang="pt-BR" dirty="0"/>
              <a:t>o </a:t>
            </a:r>
            <a:r>
              <a:rPr lang="pt-BR" b="1" dirty="0">
                <a:solidFill>
                  <a:schemeClr val="accent1"/>
                </a:solidFill>
              </a:rPr>
              <a:t>erro atual</a:t>
            </a:r>
            <a:r>
              <a:rPr lang="pt-BR" dirty="0"/>
              <a:t> pode ter </a:t>
            </a:r>
            <a:r>
              <a:rPr lang="pt-BR" b="1" dirty="0">
                <a:solidFill>
                  <a:schemeClr val="accent1"/>
                </a:solidFill>
              </a:rPr>
              <a:t>sido causado por </a:t>
            </a:r>
            <a:r>
              <a:rPr lang="pt-BR" b="1" dirty="0">
                <a:solidFill>
                  <a:srgbClr val="7030A0"/>
                </a:solidFill>
              </a:rPr>
              <a:t>estados passados</a:t>
            </a:r>
            <a:r>
              <a:rPr lang="pt-BR" dirty="0"/>
              <a:t> da rede.</a:t>
            </a:r>
          </a:p>
          <a:p>
            <a:r>
              <a:rPr lang="pt-BR" dirty="0"/>
              <a:t>Então o gradiente precisa “</a:t>
            </a:r>
            <a:r>
              <a:rPr lang="pt-BR" b="1" dirty="0">
                <a:solidFill>
                  <a:srgbClr val="00B050"/>
                </a:solidFill>
              </a:rPr>
              <a:t>voltar no tempo</a:t>
            </a:r>
            <a:r>
              <a:rPr lang="pt-BR" dirty="0"/>
              <a:t>”.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="" xmlns:a16="http://schemas.microsoft.com/office/drawing/2014/main" id="{DD1162C9-8039-1879-F87F-8925166F46B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53823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725BD8C-59A6-E96C-9CCD-7115BEC93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D0347F1D-7D82-FBF2-C746-409D3CF4FA0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objetivo do treinamento é minimizar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erro total</a:t>
                </a:r>
                <a:r>
                  <a:rPr lang="pt-BR" dirty="0"/>
                  <a:t> gerado pela rede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ao longo de todos os passos de tempo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Inicialmente, o </a:t>
                </a:r>
                <a:r>
                  <a:rPr lang="pt-BR" b="1" dirty="0">
                    <a:solidFill>
                      <a:schemeClr val="accent2"/>
                    </a:solidFill>
                  </a:rPr>
                  <a:t>erro instantâneo</a:t>
                </a:r>
                <a:r>
                  <a:rPr lang="pt-BR" dirty="0"/>
                  <a:t> é calculado para cada passo de tempo,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pt-BR" dirty="0"/>
                  <a:t>, da sequência temporal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0" dirty="0"/>
              </a:p>
              <a:p>
                <a:r>
                  <a:rPr lang="pt-BR" dirty="0"/>
                  <a:t>O </a:t>
                </a:r>
                <a:r>
                  <a:rPr lang="pt-BR" b="1" dirty="0">
                    <a:solidFill>
                      <a:srgbClr val="7030A0"/>
                    </a:solidFill>
                  </a:rPr>
                  <a:t>erro total</a:t>
                </a:r>
                <a:r>
                  <a:rPr lang="pt-BR" dirty="0"/>
                  <a:t> é a média do </a:t>
                </a:r>
                <a:r>
                  <a:rPr lang="pt-BR" b="1" dirty="0">
                    <a:solidFill>
                      <a:schemeClr val="accent2"/>
                    </a:solidFill>
                  </a:rPr>
                  <a:t>erro instantâneo</a:t>
                </a:r>
                <a:r>
                  <a:rPr lang="pt-BR" dirty="0"/>
                  <a:t> para todos os instantes de tempo considerados,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pt-B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])</m:t>
                          </m:r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en-US" dirty="0"/>
                  <a:t>Em </a:t>
                </a:r>
                <a:r>
                  <a:rPr lang="en-US" dirty="0" err="1"/>
                  <a:t>outras</a:t>
                </a:r>
                <a:r>
                  <a:rPr lang="en-US" dirty="0"/>
                  <a:t> </a:t>
                </a:r>
                <a:r>
                  <a:rPr lang="en-US" dirty="0" err="1"/>
                  <a:t>palavras</a:t>
                </a:r>
                <a:r>
                  <a:rPr lang="en-US" dirty="0"/>
                  <a:t>, o </a:t>
                </a:r>
                <a:r>
                  <a:rPr lang="en-US" b="1" dirty="0" err="1">
                    <a:solidFill>
                      <a:srgbClr val="00B050"/>
                    </a:solidFill>
                  </a:rPr>
                  <a:t>erro</a:t>
                </a:r>
                <a:r>
                  <a:rPr lang="en-US" b="1" dirty="0">
                    <a:solidFill>
                      <a:srgbClr val="00B050"/>
                    </a:solidFill>
                  </a:rPr>
                  <a:t> total </a:t>
                </a:r>
                <a:r>
                  <a:rPr lang="en-US" dirty="0"/>
                  <a:t>é </a:t>
                </a:r>
                <a:r>
                  <a:rPr lang="en-US" dirty="0" err="1"/>
                  <a:t>uma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média</a:t>
                </a:r>
                <a:r>
                  <a:rPr lang="en-US" b="1" dirty="0">
                    <a:solidFill>
                      <a:schemeClr val="accent2"/>
                    </a:solidFill>
                  </a:rPr>
                  <a:t> temporal dos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erros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dirty="0" err="1"/>
                  <a:t>cometidos</a:t>
                </a:r>
                <a:r>
                  <a:rPr lang="en-US" dirty="0"/>
                  <a:t> pela rede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ao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longo</a:t>
                </a:r>
                <a:r>
                  <a:rPr lang="en-US" b="1" dirty="0">
                    <a:solidFill>
                      <a:schemeClr val="accent2"/>
                    </a:solidFill>
                  </a:rPr>
                  <a:t> de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todos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b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instantes</a:t>
                </a:r>
                <a:r>
                  <a:rPr lang="en-US" b="1" dirty="0">
                    <a:solidFill>
                      <a:schemeClr val="accent2"/>
                    </a:solidFill>
                  </a:rPr>
                  <a:t> de tempo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347F1D-7D82-FBF2-C746-409D3CF4FA0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1937" b="-2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06234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3689DD09-FA86-3CAE-7297-B124DDFD9D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71FEC256-B082-7183-4AD1-C2355A6FD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03AA9B93-41C8-CC75-5F29-FD0909CE60C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noProof="0" dirty="0"/>
                  <a:t>De forma genérica, a derivada do erro em relação à matriz de pesos, </a:t>
                </a:r>
                <a14:m>
                  <m:oMath xmlns:m="http://schemas.openxmlformats.org/officeDocument/2006/math">
                    <m:r>
                      <a:rPr lang="pt-BR" b="1" i="1" noProof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noProof="0" dirty="0"/>
                  <a:t> é obtida usando a </a:t>
                </a:r>
                <a:r>
                  <a:rPr lang="pt-BR" b="1" noProof="0" dirty="0"/>
                  <a:t>regra da cadeia</a:t>
                </a:r>
                <a:r>
                  <a:rPr lang="pt-BR" noProof="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noProof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 noProof="0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den>
                          </m:f>
                        </m:e>
                      </m:nary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noProof="0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b="0" i="1" noProof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 noProof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noProof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noProof="0" dirty="0"/>
              </a:p>
              <a:p>
                <a:pPr marL="0" indent="0">
                  <a:buNone/>
                </a:pPr>
                <a:r>
                  <a:rPr lang="pt-BR" dirty="0"/>
                  <a:t>o</a:t>
                </a:r>
                <a:r>
                  <a:rPr lang="pt-BR" noProof="0" dirty="0" err="1"/>
                  <a:t>nde</a:t>
                </a:r>
                <a:r>
                  <a:rPr lang="pt-BR" noProof="0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begChr m:val="["/>
                        <m:endChr m:val="]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begChr m:val="["/>
                        <m:endChr m:val="]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noProof="0" dirty="0"/>
                  <a:t> é o estado oculto.</a:t>
                </a:r>
              </a:p>
              <a:p>
                <a:r>
                  <a:rPr lang="pt-BR" noProof="0" dirty="0"/>
                  <a:t>O gradiente é obtido somando-se as </a:t>
                </a:r>
                <a:r>
                  <a:rPr lang="pt-BR" b="1" dirty="0">
                    <a:solidFill>
                      <a:srgbClr val="00B050"/>
                    </a:solidFill>
                  </a:rPr>
                  <a:t>contribuições de cada passo de tempo.</a:t>
                </a:r>
                <a:endParaRPr lang="pt-BR" noProof="0" dirty="0"/>
              </a:p>
              <a:p>
                <a:r>
                  <a:rPr lang="pt-BR" noProof="0" dirty="0"/>
                  <a:t>Como os pesos são compartilhados ao longo do tempo, uma única atualização de peso deve levar em conta sua influência na predição (e, consequentemente, no erro) feita em </a:t>
                </a: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noProof="0" dirty="0"/>
                  <a:t>,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 noProof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noProof="0" dirty="0"/>
                  <a:t> até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 noProof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pt-BR" noProof="0" dirty="0"/>
                  <a:t>.</a:t>
                </a:r>
              </a:p>
              <a:p>
                <a:r>
                  <a:rPr lang="pt-BR" dirty="0"/>
                  <a:t>Em outras palavras, o BPTT propaga os erros do futuro para o passado.</a:t>
                </a:r>
                <a:endParaRPr lang="pt-BR" noProof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AA9B93-41C8-CC75-5F29-FD0909CE60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1128" t="-26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43999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4F2798CD-19D6-ECEC-B650-20958EB82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3F7A14C7-1400-69E1-2BE4-A1A26E2E2D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9D8FEDBB-8B0C-1AAA-8297-CE500B93DB3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noProof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 noProof="0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den>
                          </m:f>
                        </m:e>
                      </m:nary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noProof="0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b="0" i="1" noProof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 noProof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noProof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noProof="0" dirty="0"/>
              </a:p>
              <a:p>
                <a:r>
                  <a:rPr lang="pt-BR" dirty="0"/>
                  <a:t>Os dois primeiros termos são fáceis de se calcular, mas o terceiro é onde as coisas se complicam, já que precisamos calcular </a:t>
                </a:r>
                <a:r>
                  <a:rPr lang="pt-BR" b="1" dirty="0">
                    <a:solidFill>
                      <a:srgbClr val="7030A0"/>
                    </a:solidFill>
                  </a:rPr>
                  <a:t>recursivamente</a:t>
                </a:r>
                <a:r>
                  <a:rPr lang="pt-BR" dirty="0"/>
                  <a:t> o efeito da matriz de pesos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 sobre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 afeta o erro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de duas maneiras: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Diretamente:</a:t>
                </a:r>
                <a:r>
                  <a:rPr lang="pt-BR" dirty="0"/>
                  <a:t> No cálculo do estado oculto atual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Indiretamente:</a:t>
                </a:r>
                <a:r>
                  <a:rPr lang="pt-BR" dirty="0"/>
                  <a:t> Porque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depende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−1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, que por sua vez dependeu 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 no passado, que dependeu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−2]</m:t>
                    </m:r>
                  </m:oMath>
                </a14:m>
                <a:r>
                  <a:rPr lang="pt-BR" dirty="0"/>
                  <a:t>, e assim por diante, voltando até o estado inicial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[0]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D8FEDBB-8B0C-1AAA-8297-CE500B93DB3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r="-1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tângulo 4">
            <a:extLst>
              <a:ext uri="{FF2B5EF4-FFF2-40B4-BE49-F238E27FC236}">
                <a16:creationId xmlns="" xmlns:a16="http://schemas.microsoft.com/office/drawing/2014/main" id="{50E1D4C1-A556-7B10-9906-749DD399F979}"/>
              </a:ext>
            </a:extLst>
          </p:cNvPr>
          <p:cNvSpPr/>
          <p:nvPr/>
        </p:nvSpPr>
        <p:spPr>
          <a:xfrm>
            <a:off x="9341749" y="1898923"/>
            <a:ext cx="867267" cy="98981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43033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4FE833D8-2F7F-4BE1-D525-5FAE41667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1EF0B173-DE7A-5E16-3DD6-EB66D50745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Aplicando a regra da cadeia ao terceiro termo, obtemos a formulação analítica completa do BPTT para o passo de tempo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pt-BR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den>
                          </m:f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brk m:alnAt="23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])</m:t>
                                  </m:r>
                                </m:num>
                                <m:den>
                                  <m: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∏"/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m:rPr>
                                          <m:brk m:alnAt="23"/>
                                        </m:r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=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m:rPr>
                                          <m:brk m:alnAt="23"/>
                                        </m:r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p>
                                    <m:e>
                                      <m:f>
                                        <m:fPr>
                                          <m:ctrlPr>
                                            <a:rPr lang="pt-BR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pt-BR" i="1" smtClean="0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[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]</m:t>
                                          </m:r>
                                        </m:num>
                                        <m:den>
                                          <m:r>
                                            <a:rPr lang="pt-BR" i="1" smtClean="0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[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−1]</m:t>
                                          </m:r>
                                        </m:den>
                                      </m:f>
                                    </m:e>
                                  </m:nary>
                                </m:e>
                              </m:d>
                            </m:e>
                          </m:nary>
                        </m:e>
                      </m:nary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Notem que o gradiente envolve um </a:t>
                </a:r>
                <a:r>
                  <a:rPr lang="pt-BR" b="1" dirty="0">
                    <a:solidFill>
                      <a:srgbClr val="7030A0"/>
                    </a:solidFill>
                  </a:rPr>
                  <a:t>produto de muitas derivadas sucessivas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 </a:t>
                </a:r>
                <a:r>
                  <a:rPr lang="pt-BR" b="1" dirty="0" err="1">
                    <a:solidFill>
                      <a:schemeClr val="accent2"/>
                    </a:solidFill>
                  </a:rPr>
                  <a:t>produtório</a:t>
                </a:r>
                <a:r>
                  <a:rPr lang="pt-BR" dirty="0"/>
                  <a:t> na equação acima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pode causar o desaparecimento ou a explosão do gradiente</a:t>
                </a:r>
                <a:r>
                  <a:rPr lang="pt-BR" dirty="0"/>
                  <a:t> dependendo dos valores das derivadas parciais,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−1]</m:t>
                        </m:r>
                      </m:den>
                    </m:f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EF0B173-DE7A-5E16-3DD6-EB66D50745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  <a:blipFill>
                <a:blip r:embed="rId2"/>
                <a:stretch>
                  <a:fillRect l="-91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7288623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930B3E83-9EAE-E8A7-7AA4-FBE22E963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e explosão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3B29E5B8-582B-19A9-B4A3-70C3734023A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den>
                    </m:f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pt-BR" dirty="0"/>
                  <a:t>, então o produto tende a </a:t>
                </a:r>
                <a:r>
                  <a:rPr lang="pt-BR" b="1" dirty="0"/>
                  <a:t>zero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rede </a:t>
                </a:r>
                <a:r>
                  <a:rPr lang="pt-BR" b="1" dirty="0">
                    <a:solidFill>
                      <a:srgbClr val="7030A0"/>
                    </a:solidFill>
                  </a:rPr>
                  <a:t>esquece o passado mais distante</a:t>
                </a:r>
                <a:r>
                  <a:rPr lang="pt-BR" b="1" dirty="0"/>
                  <a:t> </a:t>
                </a:r>
                <a:r>
                  <a:rPr lang="pt-BR" dirty="0"/>
                  <a:t>(informação antiga se perde).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aprende </a:t>
                </a:r>
                <a:r>
                  <a:rPr lang="pt-BR" b="1" dirty="0"/>
                  <a:t>dependências de longo prazo, apenas curtas.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Estados ocultos anteriores não têm efeito sobre os estados posteriores.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Treinamento se torna </a:t>
                </a:r>
                <a:r>
                  <a:rPr lang="pt-BR" b="1" dirty="0">
                    <a:solidFill>
                      <a:srgbClr val="7030A0"/>
                    </a:solidFill>
                  </a:rPr>
                  <a:t>muito lento</a:t>
                </a:r>
                <a:r>
                  <a:rPr lang="pt-BR" dirty="0"/>
                  <a:t> ou fica</a:t>
                </a:r>
                <a:r>
                  <a:rPr lang="pt-BR" b="1" dirty="0">
                    <a:solidFill>
                      <a:srgbClr val="7030A0"/>
                    </a:solidFill>
                  </a:rPr>
                  <a:t> estagnado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den>
                    </m:f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pt-BR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, então o produto </a:t>
                </a:r>
                <a:r>
                  <a:rPr lang="pt-BR" b="1" dirty="0"/>
                  <a:t>explode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O </a:t>
                </a:r>
                <a:r>
                  <a:rPr lang="en-US" dirty="0" err="1"/>
                  <a:t>modelo</a:t>
                </a:r>
                <a:r>
                  <a:rPr lang="en-US" dirty="0"/>
                  <a:t> </a:t>
                </a:r>
                <a:r>
                  <a:rPr lang="en-US" b="1" dirty="0">
                    <a:solidFill>
                      <a:schemeClr val="accent2"/>
                    </a:solidFill>
                  </a:rPr>
                  <a:t>diverge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Atualizações de pesos se tornam enormes.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chemeClr val="accent2"/>
                    </a:solidFill>
                  </a:rPr>
                  <a:t>Treinamento instável</a:t>
                </a:r>
                <a:r>
                  <a:rPr lang="pt-BR" dirty="0"/>
                  <a:t>: erro vira </a:t>
                </a:r>
                <a:r>
                  <a:rPr lang="pt-BR" dirty="0" err="1"/>
                  <a:t>NaN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Sintoma típico: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oscilação</a:t>
                </a:r>
                <a:r>
                  <a:rPr lang="en-US" b="1" dirty="0">
                    <a:solidFill>
                      <a:schemeClr val="accent2"/>
                    </a:solidFill>
                  </a:rPr>
                  <a:t> do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erro</a:t>
                </a:r>
                <a:r>
                  <a:rPr lang="en-US" dirty="0"/>
                  <a:t>.</a:t>
                </a:r>
              </a:p>
              <a:p>
                <a:r>
                  <a:rPr lang="pt-BR" dirty="0"/>
                  <a:t>Na prática, o desaparecimento do gradiente é mais comum.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29E5B8-582B-19A9-B4A3-70C3734023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9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4775622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ACD051B6-265A-12A8-3776-6A1674C72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mitigar esses problemas?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174046BC-6244-425E-9E7B-A8996ECB3C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Para a explosão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Limitar a magnitude do gradiente (</a:t>
                </a:r>
                <a:r>
                  <a:rPr lang="pt-BR" i="1" dirty="0" err="1"/>
                  <a:t>gradient</a:t>
                </a:r>
                <a:r>
                  <a:rPr lang="pt-BR" i="1" dirty="0"/>
                  <a:t> clipping</a:t>
                </a:r>
                <a:r>
                  <a:rPr lang="pt-BR" dirty="0"/>
                  <a:t>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  <a:p>
                <a:r>
                  <a:rPr lang="pt-BR" b="1" dirty="0"/>
                  <a:t>Para o desaparecimento</a:t>
                </a:r>
                <a:r>
                  <a:rPr lang="pt-BR" dirty="0"/>
                  <a:t>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Usar arquiteturas de </a:t>
                </a:r>
                <a:r>
                  <a:rPr lang="pt-BR" dirty="0" err="1"/>
                  <a:t>RNNs</a:t>
                </a:r>
                <a:r>
                  <a:rPr lang="pt-BR" dirty="0"/>
                  <a:t> mais avançadas: LSTM e GRU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2100" dirty="0"/>
                  <a:t>Introduzem o </a:t>
                </a:r>
                <a:r>
                  <a:rPr lang="pt-BR" sz="2100" b="1" dirty="0">
                    <a:solidFill>
                      <a:schemeClr val="accent2"/>
                    </a:solidFill>
                  </a:rPr>
                  <a:t>conceito de </a:t>
                </a:r>
                <a:r>
                  <a:rPr lang="pt-BR" sz="2100" b="1" i="1" dirty="0" err="1">
                    <a:solidFill>
                      <a:schemeClr val="accent2"/>
                    </a:solidFill>
                  </a:rPr>
                  <a:t>gates</a:t>
                </a:r>
                <a:r>
                  <a:rPr lang="pt-BR" sz="2100" dirty="0"/>
                  <a:t>, funcionando como </a:t>
                </a:r>
                <a:r>
                  <a:rPr lang="pt-BR" sz="2100" b="1" dirty="0">
                    <a:solidFill>
                      <a:schemeClr val="accent2"/>
                    </a:solidFill>
                  </a:rPr>
                  <a:t>válvulas </a:t>
                </a:r>
                <a:r>
                  <a:rPr lang="en-US" sz="2100" b="1" dirty="0">
                    <a:solidFill>
                      <a:schemeClr val="accent2"/>
                    </a:solidFill>
                  </a:rPr>
                  <a:t>de </a:t>
                </a:r>
                <a:r>
                  <a:rPr lang="en-US" sz="2100" b="1" dirty="0" err="1">
                    <a:solidFill>
                      <a:schemeClr val="accent2"/>
                    </a:solidFill>
                  </a:rPr>
                  <a:t>informação</a:t>
                </a:r>
                <a:r>
                  <a:rPr lang="en-US" sz="2100" b="1" dirty="0">
                    <a:solidFill>
                      <a:schemeClr val="accent2"/>
                    </a:solidFill>
                  </a:rPr>
                  <a:t> e </a:t>
                </a:r>
                <a:r>
                  <a:rPr lang="en-US" sz="2100" b="1" dirty="0" err="1">
                    <a:solidFill>
                      <a:schemeClr val="accent2"/>
                    </a:solidFill>
                  </a:rPr>
                  <a:t>gradiente</a:t>
                </a:r>
                <a:endParaRPr lang="pt-BR" sz="2100" b="1" dirty="0">
                  <a:solidFill>
                    <a:schemeClr val="accent2"/>
                  </a:solidFill>
                </a:endParaRPr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dirty="0"/>
                  <a:t>Eles são funções (em geral, sigmoide) que produzem valores entre 0 e 1: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0 → bloqueia informação 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1 → deixa passar totalmente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1800" dirty="0"/>
                  <a:t>Criam caminhos com derivada </a:t>
                </a:r>
                <a14:m>
                  <m:oMath xmlns:m="http://schemas.openxmlformats.org/officeDocument/2006/math">
                    <m:r>
                      <a:rPr lang="pt-BR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pt-BR" sz="1800" dirty="0"/>
                  <a:t> 1</a:t>
                </a:r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b="1" dirty="0">
                    <a:solidFill>
                      <a:schemeClr val="accent2"/>
                    </a:solidFill>
                  </a:rPr>
                  <a:t>Mantendo o gradiente estável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chemeClr val="accent6"/>
                    </a:solidFill>
                  </a:rPr>
                  <a:t>Conexões residuais</a:t>
                </a:r>
                <a:r>
                  <a:rPr lang="pt-BR" dirty="0"/>
                  <a:t>: criam </a:t>
                </a:r>
                <a:r>
                  <a:rPr lang="pt-BR" b="1" dirty="0">
                    <a:solidFill>
                      <a:schemeClr val="accent6"/>
                    </a:solidFill>
                  </a:rPr>
                  <a:t>caminhos diretos</a:t>
                </a:r>
                <a:r>
                  <a:rPr lang="pt-BR" dirty="0"/>
                  <a:t> para o gradiente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4046BC-6244-425E-9E7B-A8996ECB3C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217843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E8E720CE-A76C-A8B2-DCF8-0B3E17CD9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DE327AF2-2A80-2FD6-C65B-1F47B4EFD6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94F3B9AB-2499-75D6-23C6-F253DEDF362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den>
                          </m:f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])</m:t>
                                  </m:r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∏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m:rPr>
                                          <m:brk m:alnAt="23"/>
                                        </m:r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=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p>
                                    <m:e>
                                      <m:f>
                                        <m:f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[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]</m:t>
                                          </m:r>
                                        </m:num>
                                        <m:den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[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]</m:t>
                                          </m:r>
                                        </m:den>
                                      </m:f>
                                    </m:e>
                                  </m:nary>
                                </m:e>
                              </m:d>
                            </m:e>
                          </m:nary>
                        </m:e>
                      </m:nary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Na prática, essa equação diz que para atualizar a matriz de pesos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, a rede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calcula o erro em cada saída,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propaga esse erro de volta através das conexões recorrentes até o início da sequência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acumula os ajustes baseados nos estados passados.</a:t>
                </a:r>
              </a:p>
              <a:p>
                <a:r>
                  <a:rPr lang="pt-BR" dirty="0"/>
                  <a:t>Se o valor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pt-BR" dirty="0"/>
                  <a:t> for grande (i.e., uma </a:t>
                </a:r>
                <a:r>
                  <a:rPr lang="pt-BR" b="1" dirty="0">
                    <a:solidFill>
                      <a:srgbClr val="00B050"/>
                    </a:solidFill>
                  </a:rPr>
                  <a:t>sequência muito longa</a:t>
                </a:r>
                <a:r>
                  <a:rPr lang="pt-BR" dirty="0"/>
                  <a:t>), temos uma </a:t>
                </a:r>
                <a:r>
                  <a:rPr lang="pt-BR" b="1" dirty="0">
                    <a:solidFill>
                      <a:srgbClr val="00B050"/>
                    </a:solidFill>
                  </a:rPr>
                  <a:t>profundidade intratável</a:t>
                </a:r>
                <a:r>
                  <a:rPr lang="pt-BR" dirty="0"/>
                  <a:t>, o que torna o </a:t>
                </a:r>
                <a:r>
                  <a:rPr lang="pt-BR" b="1" dirty="0">
                    <a:solidFill>
                      <a:srgbClr val="7030A0"/>
                    </a:solidFill>
                  </a:rPr>
                  <a:t>treinamento muito lento</a:t>
                </a:r>
                <a:r>
                  <a:rPr lang="pt-BR" dirty="0"/>
                  <a:t>, </a:t>
                </a:r>
                <a:r>
                  <a:rPr lang="pt-BR" b="1" dirty="0">
                    <a:solidFill>
                      <a:schemeClr val="accent1"/>
                    </a:solidFill>
                  </a:rPr>
                  <a:t>consome muita memória</a:t>
                </a:r>
                <a:r>
                  <a:rPr lang="pt-BR" dirty="0"/>
                  <a:t> e pode deixar o </a:t>
                </a:r>
                <a:r>
                  <a:rPr lang="pt-BR" b="1" dirty="0">
                    <a:solidFill>
                      <a:schemeClr val="accent6"/>
                    </a:solidFill>
                  </a:rPr>
                  <a:t>treinamento instável devido à recursão</a:t>
                </a:r>
                <a:r>
                  <a:rPr lang="pt-BR" dirty="0"/>
                  <a:t>.</a:t>
                </a:r>
                <a:endParaRPr lang="en-US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4F3B9AB-2499-75D6-23C6-F253DEDF362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  <a:blipFill>
                <a:blip r:embed="rId2"/>
                <a:stretch>
                  <a:fillRect l="-913" r="-11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6203684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CD14D433-326F-849D-932A-FF7EE19B3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355088ED-FFA8-2495-4BDA-71832C583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9318CD52-A943-7B32-573B-CF8EC5A121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Na prática, muitas vezes </a:t>
                </a:r>
                <a:r>
                  <a:rPr lang="pt-BR" b="1" dirty="0">
                    <a:solidFill>
                      <a:schemeClr val="accent2"/>
                    </a:solidFill>
                  </a:rPr>
                  <a:t>não propagamos até o início da sequência</a:t>
                </a:r>
                <a:r>
                  <a:rPr lang="pt-BR" dirty="0"/>
                  <a:t>, mas até um determinado instante de tempo,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Esse processo é chamado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BPPT truncado (TBPPT)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pt-BR" dirty="0"/>
                  <a:t> é um </a:t>
                </a:r>
                <a:r>
                  <a:rPr lang="pt-BR" dirty="0" err="1"/>
                  <a:t>hiperparâmetro</a:t>
                </a:r>
                <a:r>
                  <a:rPr lang="pt-BR" dirty="0"/>
                  <a:t> crucial que deve ser otimizado: pequeno demais prejudica a memória de longo prazo e grande demais perde a eficiência que motivou a técnica.</a:t>
                </a:r>
              </a:p>
              <a:p>
                <a:r>
                  <a:rPr lang="pt-BR" dirty="0"/>
                  <a:t>Ele reduz: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custo computacional,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uso de memória.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e </a:t>
                </a:r>
                <a:r>
                  <a:rPr lang="en-US" dirty="0" err="1"/>
                  <a:t>ajuda</a:t>
                </a:r>
                <a:r>
                  <a:rPr lang="en-US" dirty="0"/>
                  <a:t> a combater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problemas</a:t>
                </a:r>
                <a:r>
                  <a:rPr lang="en-US" dirty="0"/>
                  <a:t> de </a:t>
                </a:r>
                <a:r>
                  <a:rPr lang="en-US" dirty="0" err="1"/>
                  <a:t>explosão</a:t>
                </a:r>
                <a:r>
                  <a:rPr lang="en-US" dirty="0"/>
                  <a:t> e </a:t>
                </a:r>
                <a:r>
                  <a:rPr lang="en-US" dirty="0" err="1"/>
                  <a:t>desaparecimento</a:t>
                </a:r>
                <a:r>
                  <a:rPr lang="en-US" dirty="0"/>
                  <a:t> do </a:t>
                </a:r>
                <a:r>
                  <a:rPr lang="en-US" dirty="0" err="1"/>
                  <a:t>gradiente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Porém</a:t>
                </a:r>
                <a:r>
                  <a:rPr lang="en-US" dirty="0"/>
                  <a:t>, o TBPPT </a:t>
                </a:r>
                <a:r>
                  <a:rPr lang="pt-BR" dirty="0"/>
                  <a:t>força a rede a se concentrar em padrões de curto e médio alcance.</a:t>
                </a:r>
              </a:p>
              <a:p>
                <a:r>
                  <a:rPr lang="pt-BR" dirty="0"/>
                  <a:t>Dependências que excedem o tamanho do truncamento </a:t>
                </a:r>
                <a:r>
                  <a:rPr lang="pt-BR" b="1" dirty="0"/>
                  <a:t>não são aprendidas.</a:t>
                </a: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8CD52-A943-7B32-573B-CF8EC5A121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2663" r="-215" b="-16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842944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2AB1BAB6-1EE4-4547-07FC-97B0B6DEB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BE3B04ED-99C9-38B8-A6B7-07300AEB9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o BPTT truncado funciona?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A6B4DBBF-C43B-70AC-AAA4-A3D9A2DAAB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/>
          </a:bodyPr>
          <a:lstStyle/>
          <a:p>
            <a:r>
              <a:rPr lang="pt-BR" dirty="0"/>
              <a:t>Funciona porque, na prática, </a:t>
            </a:r>
            <a:r>
              <a:rPr lang="pt-BR" b="1" dirty="0">
                <a:solidFill>
                  <a:schemeClr val="accent2"/>
                </a:solidFill>
              </a:rPr>
              <a:t>muitas dependências temporais relevantes </a:t>
            </a:r>
            <a:r>
              <a:rPr lang="pt-BR" b="1" dirty="0">
                <a:solidFill>
                  <a:srgbClr val="FF0000"/>
                </a:solidFill>
              </a:rPr>
              <a:t>são locais</a:t>
            </a:r>
            <a:r>
              <a:rPr lang="pt-BR" dirty="0"/>
              <a:t>.</a:t>
            </a:r>
          </a:p>
          <a:p>
            <a:r>
              <a:rPr lang="pt-BR" dirty="0"/>
              <a:t>Além disso, muitas </a:t>
            </a:r>
            <a:r>
              <a:rPr lang="pt-BR" b="1" dirty="0">
                <a:solidFill>
                  <a:srgbClr val="00B050"/>
                </a:solidFill>
              </a:rPr>
              <a:t>dependências temporais relevantes decaem com o tempo</a:t>
            </a:r>
            <a:r>
              <a:rPr lang="pt-BR" dirty="0"/>
              <a:t>.</a:t>
            </a:r>
          </a:p>
          <a:p>
            <a:r>
              <a:rPr lang="pt-BR" dirty="0"/>
              <a:t>Isso </a:t>
            </a:r>
            <a:r>
              <a:rPr lang="pt-BR" b="1" dirty="0">
                <a:solidFill>
                  <a:srgbClr val="7030A0"/>
                </a:solidFill>
              </a:rPr>
              <a:t>evita</a:t>
            </a:r>
            <a:r>
              <a:rPr lang="pt-BR" dirty="0"/>
              <a:t> a necessidade de </a:t>
            </a:r>
            <a:r>
              <a:rPr lang="pt-BR" b="1" dirty="0">
                <a:solidFill>
                  <a:srgbClr val="7030A0"/>
                </a:solidFill>
              </a:rPr>
              <a:t>voltar até o primeiro passo</a:t>
            </a:r>
            <a:r>
              <a:rPr lang="pt-BR" dirty="0"/>
              <a:t> da sequência </a:t>
            </a:r>
            <a:r>
              <a:rPr lang="pt-BR" b="1" dirty="0">
                <a:solidFill>
                  <a:srgbClr val="7030A0"/>
                </a:solidFill>
              </a:rPr>
              <a:t>para calcular o gradiente</a:t>
            </a:r>
            <a:r>
              <a:rPr lang="pt-BR" dirty="0"/>
              <a:t>.</a:t>
            </a:r>
          </a:p>
          <a:p>
            <a:r>
              <a:rPr lang="pt-BR" dirty="0"/>
              <a:t>Ou seja: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</a:t>
            </a:r>
            <a:r>
              <a:rPr lang="pt-BR" b="1" dirty="0">
                <a:solidFill>
                  <a:srgbClr val="0070C0"/>
                </a:solidFill>
              </a:rPr>
              <a:t>estado atual</a:t>
            </a:r>
            <a:r>
              <a:rPr lang="pt-BR" dirty="0"/>
              <a:t> geralmente depende mais do </a:t>
            </a:r>
            <a:r>
              <a:rPr lang="pt-BR" b="1" dirty="0">
                <a:solidFill>
                  <a:srgbClr val="0070C0"/>
                </a:solidFill>
              </a:rPr>
              <a:t>passado recente</a:t>
            </a:r>
            <a:r>
              <a:rPr lang="pt-BR" dirty="0"/>
              <a:t>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0070C0"/>
                </a:solidFill>
              </a:rPr>
              <a:t>contribuições</a:t>
            </a:r>
            <a:r>
              <a:rPr lang="pt-BR" dirty="0"/>
              <a:t> muito </a:t>
            </a:r>
            <a:r>
              <a:rPr lang="pt-BR" b="1" dirty="0">
                <a:solidFill>
                  <a:srgbClr val="0070C0"/>
                </a:solidFill>
              </a:rPr>
              <a:t>antigas</a:t>
            </a:r>
            <a:r>
              <a:rPr lang="pt-BR" dirty="0"/>
              <a:t> tendem a </a:t>
            </a:r>
            <a:r>
              <a:rPr lang="pt-BR" b="1" dirty="0">
                <a:solidFill>
                  <a:srgbClr val="0070C0"/>
                </a:solidFill>
              </a:rPr>
              <a:t>ficar pequenas</a:t>
            </a:r>
            <a:r>
              <a:rPr lang="pt-BR" dirty="0"/>
              <a:t>.</a:t>
            </a:r>
          </a:p>
          <a:p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442391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não usar funções de ativação </a:t>
            </a:r>
            <a:r>
              <a:rPr lang="pt-BR" dirty="0" err="1"/>
              <a:t>ReLU</a:t>
            </a:r>
            <a:r>
              <a:rPr lang="pt-BR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21036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RNNs </a:t>
                </a:r>
                <a:r>
                  <a:rPr lang="pt-BR" b="1" dirty="0"/>
                  <a:t>reusam</a:t>
                </a:r>
                <a:r>
                  <a:rPr lang="pt-BR" dirty="0"/>
                  <a:t> a </a:t>
                </a:r>
                <a:r>
                  <a:rPr lang="pt-BR" b="1" dirty="0">
                    <a:solidFill>
                      <a:srgbClr val="7030A0"/>
                    </a:solidFill>
                  </a:rPr>
                  <a:t>mesma matriz de pesos e a mesma função de ativação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rgbClr val="7030A0"/>
                    </a:solidFill>
                  </a:rPr>
                  <a:t>repetidamente</a:t>
                </a:r>
                <a:r>
                  <a:rPr lang="pt-BR" dirty="0"/>
                  <a:t> em cada passo.</a:t>
                </a:r>
              </a:p>
              <a:p>
                <a:r>
                  <a:rPr lang="pt-BR" b="1" dirty="0">
                    <a:solidFill>
                      <a:srgbClr val="00B050"/>
                    </a:solidFill>
                  </a:rPr>
                  <a:t>Valores maiores que 1</a:t>
                </a:r>
                <a:r>
                  <a:rPr lang="pt-BR" dirty="0"/>
                  <a:t> na entrada de uma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que não satura</a:t>
                </a:r>
                <a:r>
                  <a:rPr lang="pt-BR" dirty="0"/>
                  <a:t> como a </a:t>
                </a:r>
                <a:r>
                  <a:rPr lang="pt-BR" dirty="0" err="1"/>
                  <a:t>ReLU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𝒚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pt-BR" b="0" i="0" smtClean="0">
                        <a:latin typeface="Cambria Math" panose="02040503050406030204" pitchFamily="18" charset="0"/>
                      </a:rPr>
                      <m:t>max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,0</m:t>
                    </m:r>
                  </m:oMath>
                </a14:m>
                <a:r>
                  <a:rPr lang="pt-BR" dirty="0"/>
                  <a:t>) podem causar um crescimento exponencial (explosão) dos valores do estado oculto,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Isso torna o treinamento instável: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estados podem crescer sem limite, causando dinâmica instável no tempo.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Em </a:t>
                </a:r>
                <a:r>
                  <a:rPr lang="pt-BR" b="1" dirty="0">
                    <a:solidFill>
                      <a:schemeClr val="accent1"/>
                    </a:solidFill>
                  </a:rPr>
                  <a:t>sistemas dinâmicos </a:t>
                </a:r>
                <a:r>
                  <a:rPr lang="pt-BR" dirty="0"/>
                  <a:t>(como em </a:t>
                </a:r>
                <a:r>
                  <a:rPr lang="pt-BR" dirty="0" err="1"/>
                  <a:t>RNNs</a:t>
                </a:r>
                <a:r>
                  <a:rPr lang="pt-BR" dirty="0"/>
                  <a:t>), isso é ruim, pois </a:t>
                </a:r>
                <a:r>
                  <a:rPr lang="pt-BR" b="1" dirty="0">
                    <a:solidFill>
                      <a:schemeClr val="accent1"/>
                    </a:solidFill>
                  </a:rPr>
                  <a:t>causa oscilações ou divergência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Além disso, </a:t>
                </a:r>
                <a:r>
                  <a:rPr lang="pt-BR" b="1" dirty="0">
                    <a:solidFill>
                      <a:schemeClr val="accent2"/>
                    </a:solidFill>
                  </a:rPr>
                  <a:t>valores negativos</a:t>
                </a:r>
                <a:r>
                  <a:rPr lang="pt-BR" dirty="0"/>
                  <a:t> em sua entrada </a:t>
                </a:r>
                <a:r>
                  <a:rPr lang="pt-BR" b="1" dirty="0">
                    <a:solidFill>
                      <a:schemeClr val="accent2"/>
                    </a:solidFill>
                  </a:rPr>
                  <a:t>geram saídas e derivadas iguais a 0</a:t>
                </a:r>
                <a:r>
                  <a:rPr lang="pt-BR" dirty="0"/>
                  <a:t>, fazendo com que o </a:t>
                </a:r>
                <a:r>
                  <a:rPr lang="pt-BR" b="1" dirty="0">
                    <a:solidFill>
                      <a:schemeClr val="accent2"/>
                    </a:solidFill>
                  </a:rPr>
                  <a:t>fluxo de aprendizado morra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210364" cy="5032375"/>
              </a:xfrm>
              <a:blipFill>
                <a:blip r:embed="rId2"/>
                <a:stretch>
                  <a:fillRect l="-979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380572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5776FCFB-336A-8296-6F79-4601798B9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B6A579CB-F7BE-007A-141C-207261894D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18608" y="904126"/>
            <a:ext cx="5661060" cy="5640512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3600" dirty="0"/>
              <a:t>Quando uma RNN tradicional processa uma sequência muito longa, ela se esquece gradualmente das primeiras amostras da sequência.</a:t>
            </a:r>
          </a:p>
          <a:p>
            <a:pPr marL="0" indent="0" algn="ctr">
              <a:buNone/>
            </a:pPr>
            <a:endParaRPr lang="pt-BR" sz="3600" dirty="0"/>
          </a:p>
          <a:p>
            <a:pPr marL="0" indent="0" algn="ctr">
              <a:buNone/>
            </a:pPr>
            <a:r>
              <a:rPr lang="pt-BR" sz="3600" dirty="0"/>
              <a:t>Ou seja, elas não aprendem dependências longas</a:t>
            </a:r>
            <a:endParaRPr lang="en-US" sz="3600" dirty="0"/>
          </a:p>
        </p:txBody>
      </p:sp>
      <p:pic>
        <p:nvPicPr>
          <p:cNvPr id="1026" name="Picture 2" descr="I AM NEVER DRINKING AGAIN! OOOHHH LOOK, ALCOHOL! - Dory from Nemo (5 second  memory) | Make a Meme">
            <a:extLst>
              <a:ext uri="{FF2B5EF4-FFF2-40B4-BE49-F238E27FC236}">
                <a16:creationId xmlns="" xmlns:a16="http://schemas.microsoft.com/office/drawing/2014/main" id="{E63707F4-DB83-9062-72ED-B2E6A96EE6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333" y="1410817"/>
            <a:ext cx="5957678" cy="4627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727924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4D6302C1-1D71-8369-2652-1C4831795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F210C7DC-900E-A12D-9EE8-1087C3111C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799" cy="5032375"/>
          </a:xfrm>
        </p:spPr>
        <p:txBody>
          <a:bodyPr>
            <a:normAutofit/>
          </a:bodyPr>
          <a:lstStyle/>
          <a:p>
            <a:r>
              <a:rPr lang="pt-BR" dirty="0"/>
              <a:t>Devido ao </a:t>
            </a:r>
            <a:r>
              <a:rPr lang="pt-BR" b="1" dirty="0">
                <a:solidFill>
                  <a:schemeClr val="accent2"/>
                </a:solidFill>
              </a:rPr>
              <a:t>desaparecimento do gradiente</a:t>
            </a:r>
            <a:r>
              <a:rPr lang="pt-BR" dirty="0"/>
              <a:t>, as </a:t>
            </a:r>
            <a:r>
              <a:rPr lang="pt-BR" dirty="0" err="1"/>
              <a:t>RNNs</a:t>
            </a:r>
            <a:r>
              <a:rPr lang="pt-BR" dirty="0"/>
              <a:t> tradicionais (baunilha) treinadas usando o BPTT </a:t>
            </a:r>
            <a:r>
              <a:rPr lang="pt-BR" b="1" dirty="0">
                <a:solidFill>
                  <a:schemeClr val="accent2"/>
                </a:solidFill>
              </a:rPr>
              <a:t>são incapazes de aprender dependências de longo prazo</a:t>
            </a:r>
            <a:r>
              <a:rPr lang="pt-BR" dirty="0"/>
              <a:t>.</a:t>
            </a:r>
          </a:p>
          <a:p>
            <a:r>
              <a:rPr lang="pt-BR" dirty="0"/>
              <a:t>Quando uma RNN processa uma </a:t>
            </a:r>
            <a:r>
              <a:rPr lang="pt-BR" b="1" dirty="0">
                <a:solidFill>
                  <a:srgbClr val="7030A0"/>
                </a:solidFill>
              </a:rPr>
              <a:t>sequência longa</a:t>
            </a:r>
            <a:r>
              <a:rPr lang="pt-BR" dirty="0"/>
              <a:t>, ela </a:t>
            </a:r>
            <a:r>
              <a:rPr lang="pt-BR" b="1" dirty="0">
                <a:solidFill>
                  <a:srgbClr val="7030A0"/>
                </a:solidFill>
              </a:rPr>
              <a:t>gradualmente esquece as primeiras entradas</a:t>
            </a:r>
            <a:r>
              <a:rPr lang="pt-BR" dirty="0"/>
              <a:t> da sequência.</a:t>
            </a:r>
          </a:p>
          <a:p>
            <a:r>
              <a:rPr lang="pt-BR" dirty="0"/>
              <a:t>O TBPTT </a:t>
            </a:r>
            <a:r>
              <a:rPr lang="pt-BR" b="1" dirty="0"/>
              <a:t>também limita o aprendizado de longo prazo</a:t>
            </a:r>
            <a:r>
              <a:rPr lang="pt-BR" dirty="0"/>
              <a:t>, pois impõe um horizonte máximo para a retropropagação dos gradientes.</a:t>
            </a:r>
          </a:p>
          <a:p>
            <a:r>
              <a:rPr lang="pt-BR" dirty="0"/>
              <a:t>Entretanto, </a:t>
            </a:r>
            <a:r>
              <a:rPr lang="pt-BR" b="1" dirty="0">
                <a:solidFill>
                  <a:srgbClr val="00B050"/>
                </a:solidFill>
              </a:rPr>
              <a:t>algumas aplicações</a:t>
            </a:r>
            <a:r>
              <a:rPr lang="pt-BR" dirty="0"/>
              <a:t> </a:t>
            </a:r>
            <a:r>
              <a:rPr lang="pt-BR" b="1" dirty="0">
                <a:solidFill>
                  <a:srgbClr val="00B050"/>
                </a:solidFill>
              </a:rPr>
              <a:t>exigem</a:t>
            </a:r>
            <a:r>
              <a:rPr lang="pt-BR" dirty="0"/>
              <a:t> </a:t>
            </a:r>
            <a:r>
              <a:rPr lang="pt-BR" b="1" dirty="0">
                <a:solidFill>
                  <a:srgbClr val="00B050"/>
                </a:solidFill>
              </a:rPr>
              <a:t>dependências tanto de curto quanto de longo prazo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Tradução</a:t>
            </a:r>
            <a:r>
              <a:rPr lang="en-US" dirty="0"/>
              <a:t> </a:t>
            </a:r>
            <a:r>
              <a:rPr lang="en-US" dirty="0" err="1"/>
              <a:t>automática</a:t>
            </a:r>
            <a:r>
              <a:rPr lang="en-US" dirty="0"/>
              <a:t>: </a:t>
            </a:r>
            <a:r>
              <a:rPr lang="pt-BR" dirty="0"/>
              <a:t>o significado de uma palavra ou frase pode depender de palavras vizinhas ou de um contexto que apareceu muito antes no texto.</a:t>
            </a:r>
          </a:p>
        </p:txBody>
      </p:sp>
    </p:spTree>
    <p:extLst>
      <p:ext uri="{BB962C8B-B14F-4D97-AF65-F5344CB8AC3E}">
        <p14:creationId xmlns:p14="http://schemas.microsoft.com/office/powerpoint/2010/main" val="301211373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8C27CE59-D8FC-0683-12EB-3BCB0F761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D5446177-ADB3-5B28-1AA8-5319ACA6457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490" y="2158372"/>
            <a:ext cx="4373006" cy="377459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="" xmlns:a16="http://schemas.microsoft.com/office/drawing/2014/main" id="{0DA6D747-76A0-672E-907C-B0D4EB836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F0A8BB54-C317-2A6B-095D-1AE7527080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8910" y="1825624"/>
            <a:ext cx="6373090" cy="5032375"/>
          </a:xfrm>
        </p:spPr>
        <p:txBody>
          <a:bodyPr>
            <a:normAutofit/>
          </a:bodyPr>
          <a:lstStyle/>
          <a:p>
            <a:r>
              <a:rPr lang="pt-BR" dirty="0"/>
              <a:t>Considere treinar a RNN ao lado para prever </a:t>
            </a:r>
            <a:r>
              <a:rPr lang="pt-BR" b="1" dirty="0">
                <a:solidFill>
                  <a:srgbClr val="00B050"/>
                </a:solidFill>
              </a:rPr>
              <a:t>a próxima palavra</a:t>
            </a:r>
            <a:r>
              <a:rPr lang="pt-BR" dirty="0"/>
              <a:t>.</a:t>
            </a:r>
          </a:p>
          <a:p>
            <a:r>
              <a:rPr lang="pt-BR" dirty="0"/>
              <a:t>Para </a:t>
            </a:r>
            <a:r>
              <a:rPr lang="pt-BR" b="1" dirty="0">
                <a:solidFill>
                  <a:schemeClr val="accent2"/>
                </a:solidFill>
              </a:rPr>
              <a:t>prever </a:t>
            </a:r>
            <a:r>
              <a:rPr lang="pt-BR" dirty="0"/>
              <a:t>a palavra</a:t>
            </a:r>
            <a:r>
              <a:rPr lang="pt-BR" b="1" dirty="0">
                <a:solidFill>
                  <a:schemeClr val="accent2"/>
                </a:solidFill>
              </a:rPr>
              <a:t> </a:t>
            </a:r>
            <a:r>
              <a:rPr lang="pt-BR" b="1" dirty="0">
                <a:solidFill>
                  <a:schemeClr val="accent5"/>
                </a:solidFill>
              </a:rPr>
              <a:t>“azul”</a:t>
            </a:r>
            <a:r>
              <a:rPr lang="pt-BR" dirty="0"/>
              <a:t>, a RNN precisa apenas de </a:t>
            </a:r>
            <a:r>
              <a:rPr lang="pt-BR" b="1" dirty="0">
                <a:solidFill>
                  <a:srgbClr val="00B050"/>
                </a:solidFill>
              </a:rPr>
              <a:t>informação de dois passos atrás</a:t>
            </a:r>
            <a:r>
              <a:rPr lang="pt-BR" dirty="0"/>
              <a:t>, i.e., a informação relevante está a poucos passos no tempo (</a:t>
            </a:r>
            <a:r>
              <a:rPr lang="pt-BR" b="1" dirty="0">
                <a:solidFill>
                  <a:schemeClr val="accent2"/>
                </a:solidFill>
              </a:rPr>
              <a:t>contexto recente</a:t>
            </a:r>
            <a:r>
              <a:rPr lang="pt-BR" dirty="0"/>
              <a:t>).</a:t>
            </a:r>
          </a:p>
          <a:p>
            <a:endParaRPr lang="pt-BR" dirty="0"/>
          </a:p>
        </p:txBody>
      </p:sp>
      <p:sp>
        <p:nvSpPr>
          <p:cNvPr id="8" name="Rectangle 7">
            <a:extLst>
              <a:ext uri="{FF2B5EF4-FFF2-40B4-BE49-F238E27FC236}">
                <a16:creationId xmlns="" xmlns:a16="http://schemas.microsoft.com/office/drawing/2014/main" id="{C53011F6-166D-E866-27C5-69A2EF65F07A}"/>
              </a:ext>
            </a:extLst>
          </p:cNvPr>
          <p:cNvSpPr/>
          <p:nvPr/>
        </p:nvSpPr>
        <p:spPr>
          <a:xfrm>
            <a:off x="3314699" y="2225711"/>
            <a:ext cx="716973" cy="13255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373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3C64356E-F5FE-E5D3-9E6C-6927EBEC8C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3A944CD8-CBDA-65AB-AE05-7694FE8B6C7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490" y="2158372"/>
            <a:ext cx="4373006" cy="377459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="" xmlns:a16="http://schemas.microsoft.com/office/drawing/2014/main" id="{FE9B53B2-8E68-BEE1-0D8A-E19655A49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B571CB8A-DBB4-30C0-9F19-9763A30E40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8910" y="1825624"/>
            <a:ext cx="6373090" cy="5032375"/>
          </a:xfrm>
        </p:spPr>
        <p:txBody>
          <a:bodyPr>
            <a:normAutofit/>
          </a:bodyPr>
          <a:lstStyle/>
          <a:p>
            <a:r>
              <a:rPr lang="pt-BR" dirty="0"/>
              <a:t>Assim, durante o treinamento, o erro precisa ser retropropagado por apenas alguns instantes temporais.</a:t>
            </a:r>
          </a:p>
          <a:p>
            <a:r>
              <a:rPr lang="pt-BR" dirty="0"/>
              <a:t>Porém, em muitas aplicações, a informação importante pode estar muito distante na sequência.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="" xmlns:a16="http://schemas.microsoft.com/office/drawing/2014/main" id="{DA4B9400-011F-CE71-B12A-9EB45E21B3C6}"/>
              </a:ext>
            </a:extLst>
          </p:cNvPr>
          <p:cNvSpPr/>
          <p:nvPr/>
        </p:nvSpPr>
        <p:spPr>
          <a:xfrm>
            <a:off x="3314699" y="2225711"/>
            <a:ext cx="716973" cy="13255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340925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0D984BD1-9D88-7A7E-95C0-39AB6310B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BB6B7A25-7D9F-2655-41EB-F9274FE4A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A60FF3FD-0963-BC17-8992-4327E5058B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7810" y="1825624"/>
            <a:ext cx="5884189" cy="5032375"/>
          </a:xfrm>
        </p:spPr>
        <p:txBody>
          <a:bodyPr>
            <a:normAutofit/>
          </a:bodyPr>
          <a:lstStyle/>
          <a:p>
            <a:r>
              <a:rPr lang="pt-BR" dirty="0" smtClean="0"/>
              <a:t>Agora, vamos considerar </a:t>
            </a:r>
            <a:r>
              <a:rPr lang="pt-BR" dirty="0"/>
              <a:t>a frase: </a:t>
            </a:r>
          </a:p>
          <a:p>
            <a:pPr marL="457200" lvl="1" indent="0" algn="ctr">
              <a:buNone/>
            </a:pPr>
            <a:r>
              <a:rPr lang="pt-BR" dirty="0"/>
              <a:t>“Sou de Roma. Nasci há 30 anos. Gosto de comer bem e andar de bicicleta. Minha língua materna é o italiano</a:t>
            </a:r>
            <a:r>
              <a:rPr lang="pt-BR" dirty="0" smtClean="0"/>
              <a:t>.”</a:t>
            </a:r>
          </a:p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pt-BR" dirty="0"/>
              <a:t>Para prever </a:t>
            </a:r>
            <a:r>
              <a:rPr lang="pt-BR" b="1" dirty="0" smtClean="0">
                <a:solidFill>
                  <a:schemeClr val="accent2"/>
                </a:solidFill>
              </a:rPr>
              <a:t>“italiano”</a:t>
            </a:r>
            <a:r>
              <a:rPr lang="pt-BR" dirty="0" smtClean="0"/>
              <a:t>, </a:t>
            </a:r>
            <a:r>
              <a:rPr lang="pt-BR" dirty="0"/>
              <a:t>a rede precisa lembrar uma informação muito antiga da </a:t>
            </a:r>
            <a:r>
              <a:rPr lang="pt-BR" dirty="0" smtClean="0"/>
              <a:t>sequência, a palavra </a:t>
            </a:r>
            <a:r>
              <a:rPr lang="pt-BR" b="1" dirty="0" smtClean="0">
                <a:solidFill>
                  <a:schemeClr val="accent2"/>
                </a:solidFill>
              </a:rPr>
              <a:t>“Roma”</a:t>
            </a:r>
            <a:r>
              <a:rPr lang="pt-BR" dirty="0" smtClean="0"/>
              <a:t>.</a:t>
            </a:r>
          </a:p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pt-BR" dirty="0" smtClean="0"/>
              <a:t>Durante </a:t>
            </a:r>
            <a:r>
              <a:rPr lang="pt-BR" dirty="0"/>
              <a:t>o treinamento, o erro precisa ser </a:t>
            </a:r>
            <a:r>
              <a:rPr lang="pt-BR" dirty="0" err="1"/>
              <a:t>retropropagado</a:t>
            </a:r>
            <a:r>
              <a:rPr lang="pt-BR" dirty="0"/>
              <a:t> por </a:t>
            </a:r>
            <a:r>
              <a:rPr lang="pt-BR" dirty="0" smtClean="0"/>
              <a:t>vários instantes de tempo, o que pode fazer com que o </a:t>
            </a:r>
            <a:r>
              <a:rPr lang="pt-BR" b="1" dirty="0" smtClean="0">
                <a:solidFill>
                  <a:srgbClr val="7030A0"/>
                </a:solidFill>
              </a:rPr>
              <a:t>gradiente desapareça</a:t>
            </a:r>
            <a:r>
              <a:rPr lang="pt-BR" dirty="0" smtClean="0"/>
              <a:t>.</a:t>
            </a:r>
            <a:endParaRPr lang="pt-BR" dirty="0"/>
          </a:p>
        </p:txBody>
      </p:sp>
      <p:sp>
        <p:nvSpPr>
          <p:cNvPr id="8" name="Rectangle 7">
            <a:extLst>
              <a:ext uri="{FF2B5EF4-FFF2-40B4-BE49-F238E27FC236}">
                <a16:creationId xmlns="" xmlns:a16="http://schemas.microsoft.com/office/drawing/2014/main" id="{EB82918D-ADE2-AAB7-1AE4-7AF0D762FD32}"/>
              </a:ext>
            </a:extLst>
          </p:cNvPr>
          <p:cNvSpPr/>
          <p:nvPr/>
        </p:nvSpPr>
        <p:spPr>
          <a:xfrm>
            <a:off x="4322619" y="2597510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C4D27DDD-946D-AB8C-ED06-3C325B14C52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597510"/>
            <a:ext cx="5885468" cy="2740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04079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99FCAA46-FB18-7F4A-9CA9-0600DE6F2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80D115FB-FCD8-EC8B-4716-893C9868673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597510"/>
            <a:ext cx="5885468" cy="27404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="" xmlns:a16="http://schemas.microsoft.com/office/drawing/2014/main" id="{54791B03-E616-FD43-80C5-5DF812B2B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6C1404A6-E7DD-907F-A21B-91BD8A91FA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99158" y="1825624"/>
            <a:ext cx="5992842" cy="5032375"/>
          </a:xfrm>
        </p:spPr>
        <p:txBody>
          <a:bodyPr>
            <a:normAutofit/>
          </a:bodyPr>
          <a:lstStyle/>
          <a:p>
            <a:r>
              <a:rPr lang="pt-BR" dirty="0" smtClean="0"/>
              <a:t>Quanto </a:t>
            </a:r>
            <a:r>
              <a:rPr lang="pt-BR" dirty="0"/>
              <a:t>maior a distância temporal, mais difícil é para a RNN manter a informação relevante</a:t>
            </a:r>
            <a:r>
              <a:rPr lang="pt-BR" dirty="0" smtClean="0"/>
              <a:t>.</a:t>
            </a:r>
          </a:p>
          <a:p>
            <a:r>
              <a:rPr lang="pt-BR" dirty="0" smtClean="0"/>
              <a:t>As </a:t>
            </a:r>
            <a:r>
              <a:rPr lang="pt-BR" dirty="0" err="1"/>
              <a:t>RNNs</a:t>
            </a:r>
            <a:r>
              <a:rPr lang="pt-BR" dirty="0"/>
              <a:t> tradicionais têm dificuldade em preservar informações por muitos passos temporais</a:t>
            </a:r>
            <a:r>
              <a:rPr lang="pt-BR" dirty="0" smtClean="0"/>
              <a:t>.</a:t>
            </a:r>
            <a:endParaRPr lang="pt-BR" dirty="0"/>
          </a:p>
          <a:p>
            <a:pPr marL="0" indent="0">
              <a:buNone/>
            </a:pPr>
            <a:endParaRPr lang="pt-BR" dirty="0" smtClean="0"/>
          </a:p>
          <a:p>
            <a:pPr marL="0" indent="0" algn="ctr">
              <a:buNone/>
            </a:pPr>
            <a:r>
              <a:rPr lang="pt-BR" dirty="0" smtClean="0"/>
              <a:t>Como </a:t>
            </a:r>
            <a:r>
              <a:rPr lang="pt-BR" dirty="0"/>
              <a:t>permitir que a rede preserve </a:t>
            </a:r>
            <a:r>
              <a:rPr lang="pt-BR" b="1" dirty="0">
                <a:solidFill>
                  <a:schemeClr val="accent2"/>
                </a:solidFill>
              </a:rPr>
              <a:t>informações importantes</a:t>
            </a:r>
            <a:r>
              <a:rPr lang="pt-BR" dirty="0"/>
              <a:t> por muito mais tempo</a:t>
            </a:r>
            <a:r>
              <a:rPr lang="pt-BR" dirty="0" smtClean="0"/>
              <a:t>?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="" xmlns:a16="http://schemas.microsoft.com/office/drawing/2014/main" id="{ADCDC70A-B3DA-C5F7-B8FF-163E59F072E4}"/>
              </a:ext>
            </a:extLst>
          </p:cNvPr>
          <p:cNvSpPr/>
          <p:nvPr/>
        </p:nvSpPr>
        <p:spPr>
          <a:xfrm>
            <a:off x="4322619" y="2618292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4102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99FCAA46-FB18-7F4A-9CA9-0600DE6F2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4791B03-E616-FD43-80C5-5DF812B2B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6C1404A6-E7DD-907F-A21B-91BD8A91FA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dirty="0" smtClean="0"/>
              <a:t>Para </a:t>
            </a:r>
            <a:r>
              <a:rPr lang="pt-BR" dirty="0" smtClean="0"/>
              <a:t>resolver o problema das dependências de longo prazo, causado principalmente pelo desaparecimento do gradiente, </a:t>
            </a:r>
            <a:r>
              <a:rPr lang="pt-BR" dirty="0"/>
              <a:t>foram propostas arquiteturas com mecanismos de </a:t>
            </a:r>
            <a:r>
              <a:rPr lang="pt-BR" dirty="0" smtClean="0"/>
              <a:t>memória: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 smtClean="0"/>
              <a:t>Long</a:t>
            </a:r>
            <a:r>
              <a:rPr lang="pt-BR" dirty="0" smtClean="0"/>
              <a:t> </a:t>
            </a:r>
            <a:r>
              <a:rPr lang="pt-BR" dirty="0"/>
              <a:t>Short-</a:t>
            </a:r>
            <a:r>
              <a:rPr lang="pt-BR" dirty="0" err="1"/>
              <a:t>Term</a:t>
            </a:r>
            <a:r>
              <a:rPr lang="pt-BR" dirty="0"/>
              <a:t> </a:t>
            </a:r>
            <a:r>
              <a:rPr lang="pt-BR" dirty="0" err="1" smtClean="0"/>
              <a:t>Memory</a:t>
            </a:r>
            <a:r>
              <a:rPr lang="pt-BR" dirty="0"/>
              <a:t> </a:t>
            </a:r>
            <a:r>
              <a:rPr lang="pt-BR" dirty="0" smtClean="0"/>
              <a:t>(LSTM)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 smtClean="0"/>
              <a:t>Gated</a:t>
            </a:r>
            <a:r>
              <a:rPr lang="pt-BR" dirty="0" smtClean="0"/>
              <a:t> </a:t>
            </a:r>
            <a:r>
              <a:rPr lang="pt-BR" dirty="0" err="1"/>
              <a:t>Recurrent</a:t>
            </a:r>
            <a:r>
              <a:rPr lang="pt-BR" dirty="0"/>
              <a:t> </a:t>
            </a:r>
            <a:r>
              <a:rPr lang="pt-BR" dirty="0" smtClean="0"/>
              <a:t>Unit</a:t>
            </a:r>
            <a:r>
              <a:rPr lang="pt-BR" dirty="0"/>
              <a:t> </a:t>
            </a:r>
            <a:r>
              <a:rPr lang="pt-BR" dirty="0" smtClean="0"/>
              <a:t>(GRU)</a:t>
            </a:r>
          </a:p>
          <a:p>
            <a:r>
              <a:rPr lang="pt-BR" dirty="0"/>
              <a:t>Essas redes utilizam </a:t>
            </a:r>
            <a:r>
              <a:rPr lang="pt-BR" b="1" dirty="0"/>
              <a:t>portas (</a:t>
            </a:r>
            <a:r>
              <a:rPr lang="pt-BR" b="1" i="1" dirty="0" err="1"/>
              <a:t>gates</a:t>
            </a:r>
            <a:r>
              <a:rPr lang="pt-BR" b="1" dirty="0"/>
              <a:t>)</a:t>
            </a:r>
            <a:r>
              <a:rPr lang="pt-BR" dirty="0"/>
              <a:t> para controlar: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quais informações devem ser </a:t>
            </a:r>
            <a:r>
              <a:rPr lang="pt-BR" dirty="0" smtClean="0"/>
              <a:t>armazenadas (o que lembrar).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quais devem ser </a:t>
            </a:r>
            <a:r>
              <a:rPr lang="pt-BR" dirty="0" smtClean="0"/>
              <a:t>esquecidas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quais devem ser utilizadas na </a:t>
            </a:r>
            <a:r>
              <a:rPr lang="pt-BR" dirty="0" smtClean="0"/>
              <a:t>saída (quando usar uma informação armazenada).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626507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C982EBEB-341A-ECC3-30F7-25CD742B1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095CE4D4-E809-49EE-AE7E-DDF85AA267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5400" b="1" dirty="0">
                <a:solidFill>
                  <a:srgbClr val="FF0000"/>
                </a:solidFill>
              </a:rPr>
              <a:t>PAREI!!!!!</a:t>
            </a:r>
            <a:endParaRPr lang="en-US" sz="5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8247472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2680008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207813F-29AC-CA2B-5D4C-CBF0DFE05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/>
              <a:t>LSTMs</a:t>
            </a:r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DD061630-90D1-B2B3-6AFE-E7A4E63DEF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 fontScale="92500"/>
          </a:bodyPr>
          <a:lstStyle/>
          <a:p>
            <a:r>
              <a:rPr lang="en-US" sz="3200" u="sng" dirty="0">
                <a:solidFill>
                  <a:srgbClr val="FF0000"/>
                </a:solidFill>
                <a:hlinkClick r:id="rId2">
                  <a:extLst>
                    <a:ext uri="{A12FA001-AC4F-418D-AE19-62706E023703}">
                      <ahyp:hlinkClr xmlns="" xmlns:ahyp="http://schemas.microsoft.com/office/drawing/2018/hyperlinkcolor" val="tx"/>
                    </a:ext>
                  </a:extLst>
                </a:hlinkClick>
              </a:rPr>
              <a:t>Long Short-Term Memory Networks (LSTMs)</a:t>
            </a:r>
            <a:r>
              <a:rPr lang="en-US" sz="3200" dirty="0">
                <a:solidFill>
                  <a:srgbClr val="FF0000"/>
                </a:solidFill>
              </a:rPr>
              <a:t> introduce a memory mechanism to overcome the vanishing gradient problem.</a:t>
            </a:r>
          </a:p>
          <a:p>
            <a:pPr fontAlgn="base"/>
            <a:r>
              <a:rPr lang="en-US" sz="3200" dirty="0">
                <a:solidFill>
                  <a:srgbClr val="FF0000"/>
                </a:solidFill>
              </a:rPr>
              <a:t>Each LSTM cell has three gates:</a:t>
            </a:r>
          </a:p>
          <a:p>
            <a:pPr fontAlgn="base"/>
            <a:r>
              <a:rPr lang="en-US" sz="3200" b="1" dirty="0">
                <a:solidFill>
                  <a:srgbClr val="FF0000"/>
                </a:solidFill>
              </a:rPr>
              <a:t>Input Gate</a:t>
            </a:r>
            <a:r>
              <a:rPr lang="en-US" sz="3200" dirty="0">
                <a:solidFill>
                  <a:srgbClr val="FF0000"/>
                </a:solidFill>
              </a:rPr>
              <a:t>: Controls how much new information should be added to the cell state.</a:t>
            </a:r>
          </a:p>
          <a:p>
            <a:pPr fontAlgn="base"/>
            <a:r>
              <a:rPr lang="en-US" sz="3200" b="1" dirty="0">
                <a:solidFill>
                  <a:srgbClr val="FF0000"/>
                </a:solidFill>
              </a:rPr>
              <a:t>Forget Gate</a:t>
            </a:r>
            <a:r>
              <a:rPr lang="en-US" sz="3200" dirty="0">
                <a:solidFill>
                  <a:srgbClr val="FF0000"/>
                </a:solidFill>
              </a:rPr>
              <a:t>: Decides what past information should be discarded.</a:t>
            </a:r>
          </a:p>
          <a:p>
            <a:pPr fontAlgn="base"/>
            <a:r>
              <a:rPr lang="en-US" sz="3200" b="1" dirty="0">
                <a:solidFill>
                  <a:srgbClr val="FF0000"/>
                </a:solidFill>
              </a:rPr>
              <a:t>Output Gate</a:t>
            </a:r>
            <a:r>
              <a:rPr lang="en-US" sz="3200" dirty="0">
                <a:solidFill>
                  <a:srgbClr val="FF0000"/>
                </a:solidFill>
              </a:rPr>
              <a:t>: Regulates what information should be output at the current step. This selective memory enables LSTMs to handle long-term dependencies, making them ideal for tasks where earlier context is critical.</a:t>
            </a:r>
          </a:p>
          <a:p>
            <a:endParaRPr lang="en-US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55102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11608"/>
            <a:ext cx="7882811" cy="431024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="" xmlns:a16="http://schemas.microsoft.com/office/drawing/2014/main" id="{CE5FE4D3-51CB-D07E-2D42-B438EA185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E0BCFCB7-6C37-0809-93AB-AF41803617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18156" y="1825624"/>
            <a:ext cx="4473845" cy="5032375"/>
          </a:xfrm>
        </p:spPr>
        <p:txBody>
          <a:bodyPr/>
          <a:lstStyle/>
          <a:p>
            <a:r>
              <a:rPr lang="pt-BR" dirty="0"/>
              <a:t>Introduzida por </a:t>
            </a:r>
            <a:r>
              <a:rPr lang="pt-BR" dirty="0" err="1"/>
              <a:t>Hochreiter</a:t>
            </a:r>
            <a:r>
              <a:rPr lang="pt-BR" dirty="0"/>
              <a:t> e </a:t>
            </a:r>
            <a:r>
              <a:rPr lang="pt-BR" dirty="0" err="1"/>
              <a:t>Schmidhuber</a:t>
            </a:r>
            <a:r>
              <a:rPr lang="pt-BR" dirty="0"/>
              <a:t> em 1997.</a:t>
            </a:r>
          </a:p>
          <a:p>
            <a:r>
              <a:rPr lang="pt-BR" dirty="0"/>
              <a:t>Funcionam muito bem em </a:t>
            </a:r>
            <a:r>
              <a:rPr lang="pt-BR" b="1" dirty="0">
                <a:solidFill>
                  <a:schemeClr val="accent2"/>
                </a:solidFill>
              </a:rPr>
              <a:t>diversos problemas que envolvem dados </a:t>
            </a:r>
            <a:r>
              <a:rPr lang="pt-BR" b="1" dirty="0" smtClean="0">
                <a:solidFill>
                  <a:schemeClr val="accent2"/>
                </a:solidFill>
              </a:rPr>
              <a:t>sequenciais</a:t>
            </a:r>
            <a:r>
              <a:rPr lang="pt-BR" dirty="0" smtClean="0"/>
              <a:t>.</a:t>
            </a:r>
          </a:p>
          <a:p>
            <a:r>
              <a:rPr lang="pt-BR" dirty="0" smtClean="0"/>
              <a:t>São </a:t>
            </a:r>
            <a:r>
              <a:rPr lang="pt-BR" dirty="0"/>
              <a:t>amplamente utilizadas </a:t>
            </a:r>
            <a:r>
              <a:rPr lang="pt-BR" dirty="0" smtClean="0"/>
              <a:t>atualmente</a:t>
            </a:r>
            <a:r>
              <a:rPr lang="pt-BR" dirty="0" smtClean="0"/>
              <a:t>.</a:t>
            </a:r>
            <a:endParaRPr lang="pt-BR" dirty="0" smtClean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="" xmlns:a16="http://schemas.microsoft.com/office/drawing/2014/main" id="{767CEB79-6A0F-ABB3-2CE7-334D403DD862}"/>
                  </a:ext>
                </a:extLst>
              </p:cNvPr>
              <p:cNvSpPr txBox="1"/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b="1" dirty="0"/>
                  <a:t>OBS</a:t>
                </a:r>
                <a:r>
                  <a:rPr lang="pt-BR" sz="1000" dirty="0"/>
                  <a:t>.: Para facilitar a notação, usamos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000" dirty="0"/>
                  <a:t> </a:t>
                </a:r>
                <a:r>
                  <a:rPr lang="en-US" sz="1000" dirty="0" err="1"/>
                  <a:t>ao</a:t>
                </a:r>
                <a:r>
                  <a:rPr lang="en-US" sz="1000" dirty="0"/>
                  <a:t> </a:t>
                </a:r>
                <a:r>
                  <a:rPr lang="en-US" sz="1000" dirty="0" err="1"/>
                  <a:t>inves</a:t>
                </a:r>
                <a:r>
                  <a:rPr lang="en-US" sz="1000" dirty="0"/>
                  <a:t> de </a:t>
                </a:r>
                <a14:m>
                  <m:oMath xmlns:m="http://schemas.openxmlformats.org/officeDocument/2006/math">
                    <m:r>
                      <a:rPr lang="pt-BR" sz="1000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begChr m:val="["/>
                        <m:endChr m:val="]"/>
                        <m:ctrlPr>
                          <a:rPr lang="pt-BR" sz="1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1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7CEB79-6A0F-ABB3-2CE7-334D403DD8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blipFill>
                <a:blip r:embed="rId3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867053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11608"/>
            <a:ext cx="7882811" cy="431024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="" xmlns:a16="http://schemas.microsoft.com/office/drawing/2014/main" id="{CE5FE4D3-51CB-D07E-2D42-B438EA185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E0BCFCB7-6C37-0809-93AB-AF41803617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18156" y="1825624"/>
            <a:ext cx="4473845" cy="5032375"/>
          </a:xfrm>
        </p:spPr>
        <p:txBody>
          <a:bodyPr/>
          <a:lstStyle/>
          <a:p>
            <a:r>
              <a:rPr lang="pt-BR" dirty="0" smtClean="0"/>
              <a:t>Elas </a:t>
            </a:r>
            <a:r>
              <a:rPr lang="pt-BR" b="1" dirty="0">
                <a:solidFill>
                  <a:schemeClr val="accent1"/>
                </a:solidFill>
              </a:rPr>
              <a:t>capturam </a:t>
            </a:r>
            <a:r>
              <a:rPr lang="pt-BR" b="1" dirty="0" smtClean="0">
                <a:solidFill>
                  <a:schemeClr val="accent1"/>
                </a:solidFill>
              </a:rPr>
              <a:t>padrões </a:t>
            </a:r>
            <a:r>
              <a:rPr lang="pt-BR" b="1" dirty="0">
                <a:solidFill>
                  <a:schemeClr val="accent1"/>
                </a:solidFill>
              </a:rPr>
              <a:t>de longo e curto prazo</a:t>
            </a:r>
            <a:r>
              <a:rPr lang="pt-BR" dirty="0"/>
              <a:t> de uma sequência de dados. </a:t>
            </a:r>
            <a:endParaRPr lang="pt-BR" dirty="0" smtClean="0"/>
          </a:p>
          <a:p>
            <a:r>
              <a:rPr lang="pt-BR" dirty="0"/>
              <a:t>Assim como as </a:t>
            </a:r>
            <a:r>
              <a:rPr lang="pt-BR" dirty="0" err="1"/>
              <a:t>RNNs</a:t>
            </a:r>
            <a:r>
              <a:rPr lang="pt-BR" dirty="0"/>
              <a:t> tradicionais, elas </a:t>
            </a:r>
            <a:r>
              <a:rPr lang="pt-BR" b="1" dirty="0">
                <a:solidFill>
                  <a:srgbClr val="7030A0"/>
                </a:solidFill>
              </a:rPr>
              <a:t>precisam ser desdobradas</a:t>
            </a:r>
            <a:r>
              <a:rPr lang="pt-BR" dirty="0"/>
              <a:t> no tempo para serem </a:t>
            </a:r>
            <a:r>
              <a:rPr lang="pt-BR" b="1" dirty="0">
                <a:solidFill>
                  <a:srgbClr val="7030A0"/>
                </a:solidFill>
              </a:rPr>
              <a:t>treinadas</a:t>
            </a:r>
            <a:r>
              <a:rPr lang="pt-BR" dirty="0" smtClean="0"/>
              <a:t>.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="" xmlns:a16="http://schemas.microsoft.com/office/drawing/2014/main" id="{767CEB79-6A0F-ABB3-2CE7-334D403DD862}"/>
                  </a:ext>
                </a:extLst>
              </p:cNvPr>
              <p:cNvSpPr txBox="1"/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b="1" dirty="0"/>
                  <a:t>OBS</a:t>
                </a:r>
                <a:r>
                  <a:rPr lang="pt-BR" sz="1000" dirty="0"/>
                  <a:t>.: Para facilitar a notação, usamos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000" dirty="0"/>
                  <a:t> </a:t>
                </a:r>
                <a:r>
                  <a:rPr lang="en-US" sz="1000" dirty="0" err="1"/>
                  <a:t>ao</a:t>
                </a:r>
                <a:r>
                  <a:rPr lang="en-US" sz="1000" dirty="0"/>
                  <a:t> </a:t>
                </a:r>
                <a:r>
                  <a:rPr lang="en-US" sz="1000" dirty="0" err="1"/>
                  <a:t>inves</a:t>
                </a:r>
                <a:r>
                  <a:rPr lang="en-US" sz="1000" dirty="0"/>
                  <a:t> de </a:t>
                </a:r>
                <a14:m>
                  <m:oMath xmlns:m="http://schemas.openxmlformats.org/officeDocument/2006/math">
                    <m:r>
                      <a:rPr lang="pt-BR" sz="1000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begChr m:val="["/>
                        <m:endChr m:val="]"/>
                        <m:ctrlPr>
                          <a:rPr lang="pt-BR" sz="1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1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7CEB79-6A0F-ABB3-2CE7-334D403DD8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blipFill>
                <a:blip r:embed="rId3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103805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80A8604B-8785-D978-9325-685488A932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A8A21FDD-8B38-01BA-02A2-E93917D46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D789EFBE-5969-6A4D-8EA1-2E41201F52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80149" y="1825624"/>
            <a:ext cx="4411852" cy="5032375"/>
          </a:xfrm>
        </p:spPr>
        <p:txBody>
          <a:bodyPr>
            <a:normAutofit/>
          </a:bodyPr>
          <a:lstStyle/>
          <a:p>
            <a:r>
              <a:rPr lang="pt-BR" dirty="0" smtClean="0"/>
              <a:t>A </a:t>
            </a:r>
            <a:r>
              <a:rPr lang="pt-BR" b="1" dirty="0">
                <a:solidFill>
                  <a:srgbClr val="7030A0"/>
                </a:solidFill>
              </a:rPr>
              <a:t>unidade de processamento</a:t>
            </a:r>
            <a:r>
              <a:rPr lang="pt-BR" dirty="0"/>
              <a:t> (neurônio) da LSTM é mais </a:t>
            </a:r>
            <a:r>
              <a:rPr lang="pt-BR" b="1" dirty="0">
                <a:solidFill>
                  <a:srgbClr val="7030A0"/>
                </a:solidFill>
              </a:rPr>
              <a:t>complexa</a:t>
            </a:r>
            <a:r>
              <a:rPr lang="pt-BR" dirty="0"/>
              <a:t> e é chamada de </a:t>
            </a:r>
            <a:r>
              <a:rPr lang="pt-BR" b="1" dirty="0">
                <a:solidFill>
                  <a:srgbClr val="7030A0"/>
                </a:solidFill>
              </a:rPr>
              <a:t>célula</a:t>
            </a:r>
            <a:r>
              <a:rPr lang="pt-BR" dirty="0"/>
              <a:t>.</a:t>
            </a:r>
          </a:p>
          <a:p>
            <a:r>
              <a:rPr lang="pt-BR" dirty="0"/>
              <a:t>Uma célula LSTM é composta por </a:t>
            </a:r>
            <a:r>
              <a:rPr lang="pt-BR" b="1" dirty="0">
                <a:solidFill>
                  <a:schemeClr val="accent2"/>
                </a:solidFill>
              </a:rPr>
              <a:t>4 camadas totalmente conectadas</a:t>
            </a:r>
            <a:r>
              <a:rPr lang="pt-BR" dirty="0"/>
              <a:t>, </a:t>
            </a:r>
            <a:r>
              <a:rPr lang="pt-BR" dirty="0" smtClean="0"/>
              <a:t>que formam 3 portas.</a:t>
            </a:r>
            <a:endParaRPr lang="pt-BR" dirty="0"/>
          </a:p>
          <a:p>
            <a:endParaRPr lang="pt-BR" dirty="0"/>
          </a:p>
        </p:txBody>
      </p:sp>
      <p:pic>
        <p:nvPicPr>
          <p:cNvPr id="6" name="Imagem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11608"/>
            <a:ext cx="7882811" cy="43102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192022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39C3E673-1103-7EA7-9CAE-C63E5DA9C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Estados da célula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F6C3165D-F5CE-BE8B-AF39-F79FAD0B84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23280" y="1825624"/>
                <a:ext cx="666872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Uma célula LSTM possui dois estados: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estado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o estado oculto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a memória de longo prazo.</a:t>
                </a:r>
              </a:p>
              <a:p>
                <a:r>
                  <a:rPr lang="pt-B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memória de curto prazo e saída atual da célula.</a:t>
                </a:r>
              </a:p>
              <a:p>
                <a:r>
                  <a:rPr lang="pt-BR" dirty="0"/>
                  <a:t>A célula modifica o estado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apenas por meio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interações lineares*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informação flui suavemente ao longo do tempo.</a:t>
                </a:r>
              </a:p>
              <a:p>
                <a:r>
                  <a:rPr lang="pt-BR" dirty="0"/>
                  <a:t>A célula </a:t>
                </a:r>
                <a:r>
                  <a:rPr lang="pt-BR" b="1" dirty="0">
                    <a:solidFill>
                      <a:srgbClr val="00B050"/>
                    </a:solidFill>
                  </a:rPr>
                  <a:t>decide o quanto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</m:sSub>
                  </m:oMath>
                </a14:m>
                <a:r>
                  <a:rPr lang="pt-BR" b="1" dirty="0">
                    <a:solidFill>
                      <a:srgbClr val="00B050"/>
                    </a:solidFill>
                  </a:rPr>
                  <a:t> revelar/mostrar</a:t>
                </a:r>
                <a:r>
                  <a:rPr lang="pt-BR" dirty="0"/>
                  <a:t> usando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porta de saída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F6C3165D-F5CE-BE8B-AF39-F79FAD0B84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23280" y="1825624"/>
                <a:ext cx="6668721" cy="5032375"/>
              </a:xfrm>
              <a:blipFill rotWithShape="0">
                <a:blip r:embed="rId2"/>
                <a:stretch>
                  <a:fillRect l="-1645" t="-2663" r="-137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7">
            <a:extLst>
              <a:ext uri="{FF2B5EF4-FFF2-40B4-BE49-F238E27FC236}">
                <a16:creationId xmlns="" xmlns:a16="http://schemas.microsoft.com/office/drawing/2014/main" id="{08B4F401-8089-55FA-9674-E0D136960DBF}"/>
              </a:ext>
            </a:extLst>
          </p:cNvPr>
          <p:cNvSpPr txBox="1"/>
          <p:nvPr/>
        </p:nvSpPr>
        <p:spPr>
          <a:xfrm>
            <a:off x="0" y="6550222"/>
            <a:ext cx="47635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* importante, pois minimiza o desaparecimento do gradiente.</a:t>
            </a:r>
            <a:endParaRPr lang="en-US" sz="1400" dirty="0"/>
          </a:p>
        </p:txBody>
      </p:sp>
      <p:pic>
        <p:nvPicPr>
          <p:cNvPr id="7" name="Picture 5">
            <a:extLst>
              <a:ext uri="{FF2B5EF4-FFF2-40B4-BE49-F238E27FC236}">
                <a16:creationId xmlns="" xmlns:a16="http://schemas.microsoft.com/office/drawing/2014/main" id="{E6F33E3F-21F0-98F8-7A75-265BBFA1F4F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016" y="2374154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381771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96EDB9C1-2571-2FA0-E43E-54FD8004FF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327A93D8-34FE-B0E1-EB4D-06EB0C123C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62918" y="1825624"/>
            <a:ext cx="6329081" cy="5032375"/>
          </a:xfrm>
        </p:spPr>
        <p:txBody>
          <a:bodyPr>
            <a:normAutofit/>
          </a:bodyPr>
          <a:lstStyle/>
          <a:p>
            <a:r>
              <a:rPr lang="pt-BR" dirty="0"/>
              <a:t>Uma célula LSTM possui </a:t>
            </a:r>
            <a:r>
              <a:rPr lang="pt-BR" b="1" dirty="0"/>
              <a:t>3 portas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Forget </a:t>
            </a:r>
            <a:r>
              <a:rPr lang="pt-BR" b="1" i="1" dirty="0" err="1"/>
              <a:t>gate</a:t>
            </a:r>
            <a:r>
              <a:rPr lang="pt-BR" dirty="0"/>
              <a:t> (porta de esquecimento)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Input </a:t>
            </a:r>
            <a:r>
              <a:rPr lang="pt-BR" b="1" i="1" dirty="0" err="1"/>
              <a:t>gate</a:t>
            </a:r>
            <a:r>
              <a:rPr lang="pt-BR" dirty="0"/>
              <a:t> (porta de entrada)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Output </a:t>
            </a:r>
            <a:r>
              <a:rPr lang="pt-BR" b="1" i="1" dirty="0" err="1"/>
              <a:t>gate</a:t>
            </a:r>
            <a:r>
              <a:rPr lang="pt-BR" dirty="0"/>
              <a:t> (porta de saída)</a:t>
            </a:r>
          </a:p>
          <a:p>
            <a:r>
              <a:rPr lang="pt-BR" dirty="0"/>
              <a:t>A informação na célula é </a:t>
            </a:r>
            <a:r>
              <a:rPr lang="pt-BR" b="1" dirty="0">
                <a:solidFill>
                  <a:srgbClr val="00B050"/>
                </a:solidFill>
              </a:rPr>
              <a:t>protegida e controlada</a:t>
            </a:r>
            <a:r>
              <a:rPr lang="pt-BR" dirty="0"/>
              <a:t> por meio das 3 portas.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E0180B18-707C-9189-F385-D0DD1450619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831" y="2222745"/>
            <a:ext cx="5320197" cy="3228140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="" xmlns:a16="http://schemas.microsoft.com/office/drawing/2014/main" id="{9B1DA347-BBC4-AE49-41A5-6D28C39A35B8}"/>
              </a:ext>
            </a:extLst>
          </p:cNvPr>
          <p:cNvSpPr/>
          <p:nvPr/>
        </p:nvSpPr>
        <p:spPr>
          <a:xfrm>
            <a:off x="1678193" y="2893806"/>
            <a:ext cx="484094" cy="182584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aixaDeTexto 5">
            <a:extLst>
              <a:ext uri="{FF2B5EF4-FFF2-40B4-BE49-F238E27FC236}">
                <a16:creationId xmlns="" xmlns:a16="http://schemas.microsoft.com/office/drawing/2014/main" id="{BC6A37ED-D7FF-0A9B-246C-6A1327E19771}"/>
              </a:ext>
            </a:extLst>
          </p:cNvPr>
          <p:cNvSpPr txBox="1"/>
          <p:nvPr/>
        </p:nvSpPr>
        <p:spPr>
          <a:xfrm>
            <a:off x="1371600" y="2361749"/>
            <a:ext cx="10972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esquecimento</a:t>
            </a:r>
            <a:endParaRPr lang="en-US" sz="1100" dirty="0"/>
          </a:p>
        </p:txBody>
      </p:sp>
      <p:sp>
        <p:nvSpPr>
          <p:cNvPr id="7" name="Retângulo 6">
            <a:extLst>
              <a:ext uri="{FF2B5EF4-FFF2-40B4-BE49-F238E27FC236}">
                <a16:creationId xmlns="" xmlns:a16="http://schemas.microsoft.com/office/drawing/2014/main" id="{D841BE1E-2151-5C15-382E-E4E866E97366}"/>
              </a:ext>
            </a:extLst>
          </p:cNvPr>
          <p:cNvSpPr/>
          <p:nvPr/>
        </p:nvSpPr>
        <p:spPr>
          <a:xfrm>
            <a:off x="2259105" y="3603812"/>
            <a:ext cx="1312433" cy="111584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aixaDeTexto 7">
            <a:extLst>
              <a:ext uri="{FF2B5EF4-FFF2-40B4-BE49-F238E27FC236}">
                <a16:creationId xmlns="" xmlns:a16="http://schemas.microsoft.com/office/drawing/2014/main" id="{9FE171E2-98E2-80BF-7246-2FA7AC491881}"/>
              </a:ext>
            </a:extLst>
          </p:cNvPr>
          <p:cNvSpPr txBox="1"/>
          <p:nvPr/>
        </p:nvSpPr>
        <p:spPr>
          <a:xfrm>
            <a:off x="2366681" y="4776881"/>
            <a:ext cx="10972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entrada</a:t>
            </a:r>
            <a:endParaRPr lang="en-US" sz="1100" dirty="0"/>
          </a:p>
        </p:txBody>
      </p:sp>
      <p:sp>
        <p:nvSpPr>
          <p:cNvPr id="9" name="Retângulo 8">
            <a:extLst>
              <a:ext uri="{FF2B5EF4-FFF2-40B4-BE49-F238E27FC236}">
                <a16:creationId xmlns="" xmlns:a16="http://schemas.microsoft.com/office/drawing/2014/main" id="{B5D41BF3-5175-2D98-868F-9949FD2DD01F}"/>
              </a:ext>
            </a:extLst>
          </p:cNvPr>
          <p:cNvSpPr/>
          <p:nvPr/>
        </p:nvSpPr>
        <p:spPr>
          <a:xfrm>
            <a:off x="3668355" y="3162748"/>
            <a:ext cx="1140313" cy="155690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aixaDeTexto 9">
            <a:extLst>
              <a:ext uri="{FF2B5EF4-FFF2-40B4-BE49-F238E27FC236}">
                <a16:creationId xmlns="" xmlns:a16="http://schemas.microsoft.com/office/drawing/2014/main" id="{5690B213-E976-D58E-3664-2CC432FE0432}"/>
              </a:ext>
            </a:extLst>
          </p:cNvPr>
          <p:cNvSpPr txBox="1"/>
          <p:nvPr/>
        </p:nvSpPr>
        <p:spPr>
          <a:xfrm>
            <a:off x="3626869" y="4820825"/>
            <a:ext cx="10972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saída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92425130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D6586379-E466-E661-270D-8BE5BF3F1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89580765-C6E3-77E8-073B-A8B3F6BA3C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8B06E7DB-3A45-270A-379C-5B53CF58BB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14845" y="1825624"/>
            <a:ext cx="6077154" cy="5032375"/>
          </a:xfrm>
        </p:spPr>
        <p:txBody>
          <a:bodyPr>
            <a:normAutofit/>
          </a:bodyPr>
          <a:lstStyle/>
          <a:p>
            <a:r>
              <a:rPr lang="pt-BR" dirty="0"/>
              <a:t>A </a:t>
            </a:r>
            <a:r>
              <a:rPr lang="pt-BR" b="1" dirty="0">
                <a:solidFill>
                  <a:srgbClr val="00B050"/>
                </a:solidFill>
              </a:rPr>
              <a:t>informação entra na célula</a:t>
            </a:r>
            <a:r>
              <a:rPr lang="pt-BR" dirty="0"/>
              <a:t> sempre que sua </a:t>
            </a:r>
            <a:r>
              <a:rPr lang="pt-BR" b="1" dirty="0">
                <a:solidFill>
                  <a:schemeClr val="accent2"/>
                </a:solidFill>
              </a:rPr>
              <a:t>porta de entrada</a:t>
            </a:r>
            <a:r>
              <a:rPr lang="pt-BR" dirty="0"/>
              <a:t> está </a:t>
            </a:r>
            <a:r>
              <a:rPr lang="pt-BR" b="1" dirty="0">
                <a:solidFill>
                  <a:schemeClr val="accent2"/>
                </a:solidFill>
              </a:rPr>
              <a:t>ligada</a:t>
            </a:r>
            <a:r>
              <a:rPr lang="pt-BR" dirty="0"/>
              <a:t>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00B050"/>
                </a:solidFill>
              </a:rPr>
              <a:t>informação é descartada</a:t>
            </a:r>
            <a:r>
              <a:rPr lang="pt-BR" dirty="0"/>
              <a:t> da célula sempre que sua </a:t>
            </a:r>
            <a:r>
              <a:rPr lang="pt-BR" b="1" dirty="0">
                <a:solidFill>
                  <a:schemeClr val="accent2"/>
                </a:solidFill>
              </a:rPr>
              <a:t>porta de esquecimento está desligada</a:t>
            </a:r>
            <a:r>
              <a:rPr lang="pt-BR" dirty="0"/>
              <a:t>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00B050"/>
                </a:solidFill>
              </a:rPr>
              <a:t>informação pode ser lida</a:t>
            </a:r>
            <a:r>
              <a:rPr lang="pt-BR" dirty="0"/>
              <a:t> da célula </a:t>
            </a:r>
            <a:r>
              <a:rPr lang="pt-BR" b="1" dirty="0">
                <a:solidFill>
                  <a:schemeClr val="accent2"/>
                </a:solidFill>
              </a:rPr>
              <a:t>ligando sua porta de saída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DB390354-76AE-6D7E-6109-156C51E09BD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831" y="2222745"/>
            <a:ext cx="5320197" cy="3228140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="" xmlns:a16="http://schemas.microsoft.com/office/drawing/2014/main" id="{5B538100-869E-9015-E39A-A1340D4D0515}"/>
              </a:ext>
            </a:extLst>
          </p:cNvPr>
          <p:cNvSpPr/>
          <p:nvPr/>
        </p:nvSpPr>
        <p:spPr>
          <a:xfrm>
            <a:off x="1678193" y="2893806"/>
            <a:ext cx="484094" cy="182584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aixaDeTexto 5">
            <a:extLst>
              <a:ext uri="{FF2B5EF4-FFF2-40B4-BE49-F238E27FC236}">
                <a16:creationId xmlns="" xmlns:a16="http://schemas.microsoft.com/office/drawing/2014/main" id="{45DD632F-0686-568D-5F9B-260BA967E010}"/>
              </a:ext>
            </a:extLst>
          </p:cNvPr>
          <p:cNvSpPr txBox="1"/>
          <p:nvPr/>
        </p:nvSpPr>
        <p:spPr>
          <a:xfrm>
            <a:off x="1371600" y="2361749"/>
            <a:ext cx="10972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esquecimento</a:t>
            </a:r>
            <a:endParaRPr lang="en-US" sz="1100" dirty="0"/>
          </a:p>
        </p:txBody>
      </p:sp>
      <p:sp>
        <p:nvSpPr>
          <p:cNvPr id="7" name="Retângulo 6">
            <a:extLst>
              <a:ext uri="{FF2B5EF4-FFF2-40B4-BE49-F238E27FC236}">
                <a16:creationId xmlns="" xmlns:a16="http://schemas.microsoft.com/office/drawing/2014/main" id="{AA82173B-E627-D5F4-C24A-C8EFB8591AF2}"/>
              </a:ext>
            </a:extLst>
          </p:cNvPr>
          <p:cNvSpPr/>
          <p:nvPr/>
        </p:nvSpPr>
        <p:spPr>
          <a:xfrm>
            <a:off x="2259105" y="3603812"/>
            <a:ext cx="1312433" cy="111584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aixaDeTexto 7">
            <a:extLst>
              <a:ext uri="{FF2B5EF4-FFF2-40B4-BE49-F238E27FC236}">
                <a16:creationId xmlns="" xmlns:a16="http://schemas.microsoft.com/office/drawing/2014/main" id="{B738DFC6-B08A-BCAF-A6DC-558964B054EF}"/>
              </a:ext>
            </a:extLst>
          </p:cNvPr>
          <p:cNvSpPr txBox="1"/>
          <p:nvPr/>
        </p:nvSpPr>
        <p:spPr>
          <a:xfrm>
            <a:off x="2366681" y="4776881"/>
            <a:ext cx="10972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entrada</a:t>
            </a:r>
            <a:endParaRPr lang="en-US" sz="1100" dirty="0"/>
          </a:p>
        </p:txBody>
      </p:sp>
      <p:sp>
        <p:nvSpPr>
          <p:cNvPr id="9" name="Retângulo 8">
            <a:extLst>
              <a:ext uri="{FF2B5EF4-FFF2-40B4-BE49-F238E27FC236}">
                <a16:creationId xmlns="" xmlns:a16="http://schemas.microsoft.com/office/drawing/2014/main" id="{724DFD49-F8A1-B391-4C4D-9D392820E8F5}"/>
              </a:ext>
            </a:extLst>
          </p:cNvPr>
          <p:cNvSpPr/>
          <p:nvPr/>
        </p:nvSpPr>
        <p:spPr>
          <a:xfrm>
            <a:off x="3668355" y="3162748"/>
            <a:ext cx="1140313" cy="155690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aixaDeTexto 9">
            <a:extLst>
              <a:ext uri="{FF2B5EF4-FFF2-40B4-BE49-F238E27FC236}">
                <a16:creationId xmlns="" xmlns:a16="http://schemas.microsoft.com/office/drawing/2014/main" id="{256C62AF-7481-CE0B-1BB2-B4A93CE957B9}"/>
              </a:ext>
            </a:extLst>
          </p:cNvPr>
          <p:cNvSpPr txBox="1"/>
          <p:nvPr/>
        </p:nvSpPr>
        <p:spPr>
          <a:xfrm>
            <a:off x="3626869" y="4820825"/>
            <a:ext cx="10972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saída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78010532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8F262C8C-8191-2D84-EFBA-74B11AA29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CF49B969-F400-92D5-152D-2637CB490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ideia central por trás das </a:t>
            </a:r>
            <a:r>
              <a:rPr lang="pt-BR" dirty="0" err="1"/>
              <a:t>LSTMs</a:t>
            </a:r>
            <a:r>
              <a:rPr lang="pt-BR" dirty="0"/>
              <a:t>: o estado da célula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29079D43-D4FA-D0BA-8D88-3951453F2C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72163" y="1825624"/>
            <a:ext cx="6186488" cy="5032375"/>
          </a:xfrm>
        </p:spPr>
        <p:txBody>
          <a:bodyPr>
            <a:normAutofit/>
          </a:bodyPr>
          <a:lstStyle/>
          <a:p>
            <a:r>
              <a:rPr lang="pt-BR" dirty="0"/>
              <a:t>A </a:t>
            </a:r>
            <a:r>
              <a:rPr lang="pt-BR" b="1" dirty="0">
                <a:solidFill>
                  <a:schemeClr val="accent2"/>
                </a:solidFill>
              </a:rPr>
              <a:t>informação</a:t>
            </a:r>
            <a:r>
              <a:rPr lang="pt-BR" dirty="0"/>
              <a:t> pode </a:t>
            </a:r>
            <a:r>
              <a:rPr lang="pt-BR" b="1" dirty="0">
                <a:solidFill>
                  <a:schemeClr val="accent2"/>
                </a:solidFill>
              </a:rPr>
              <a:t>fluir ao longo da célula</a:t>
            </a:r>
            <a:r>
              <a:rPr lang="pt-BR" dirty="0"/>
              <a:t> de memória </a:t>
            </a:r>
            <a:r>
              <a:rPr lang="pt-BR" b="1" dirty="0">
                <a:solidFill>
                  <a:srgbClr val="7030A0"/>
                </a:solidFill>
              </a:rPr>
              <a:t>sem sofrer alterações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Interações lineares.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Mitiga o desaparecimento do gradiente.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chemeClr val="accent2"/>
                </a:solidFill>
              </a:rPr>
              <a:t>informação</a:t>
            </a:r>
            <a:r>
              <a:rPr lang="pt-BR" dirty="0"/>
              <a:t> pode ser </a:t>
            </a:r>
            <a:r>
              <a:rPr lang="pt-BR" b="1" dirty="0">
                <a:solidFill>
                  <a:schemeClr val="accent2"/>
                </a:solidFill>
              </a:rPr>
              <a:t>removida</a:t>
            </a:r>
            <a:r>
              <a:rPr lang="pt-BR" dirty="0"/>
              <a:t> ou </a:t>
            </a:r>
            <a:r>
              <a:rPr lang="pt-BR" b="1" dirty="0">
                <a:solidFill>
                  <a:schemeClr val="accent2"/>
                </a:solidFill>
              </a:rPr>
              <a:t>gravada</a:t>
            </a:r>
            <a:r>
              <a:rPr lang="pt-BR" dirty="0"/>
              <a:t> na célula de memória </a:t>
            </a:r>
            <a:r>
              <a:rPr lang="pt-BR" b="1" dirty="0">
                <a:solidFill>
                  <a:srgbClr val="7030A0"/>
                </a:solidFill>
              </a:rPr>
              <a:t>regulando-se as portas</a:t>
            </a:r>
            <a:r>
              <a:rPr lang="pt-BR" dirty="0"/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="" xmlns:a16="http://schemas.microsoft.com/office/drawing/2014/main" id="{E6F33E3F-21F0-98F8-7A75-265BBFA1F4F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480" y="2513639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399196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DA6D7632-DD0B-773B-931F-622479528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091B612C-6F65-E184-0E1E-387461C17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ideia central por trás das </a:t>
            </a:r>
            <a:r>
              <a:rPr lang="pt-BR" dirty="0" err="1"/>
              <a:t>LSTMs</a:t>
            </a:r>
            <a:r>
              <a:rPr lang="pt-BR" dirty="0"/>
              <a:t>: o estado da célula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CA3812A4-BB08-CF51-52EF-8F212B136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8037" y="1825624"/>
            <a:ext cx="6933963" cy="5032375"/>
          </a:xfrm>
        </p:spPr>
        <p:txBody>
          <a:bodyPr>
            <a:normAutofit/>
          </a:bodyPr>
          <a:lstStyle/>
          <a:p>
            <a:r>
              <a:rPr lang="pt-BR" dirty="0"/>
              <a:t>As portas são uma forma de </a:t>
            </a:r>
            <a:r>
              <a:rPr lang="pt-BR" b="1" dirty="0">
                <a:solidFill>
                  <a:srgbClr val="7030A0"/>
                </a:solidFill>
              </a:rPr>
              <a:t>permitir opcionalmente</a:t>
            </a:r>
            <a:r>
              <a:rPr lang="pt-BR" dirty="0"/>
              <a:t> a </a:t>
            </a:r>
            <a:r>
              <a:rPr lang="pt-BR" b="1" dirty="0">
                <a:solidFill>
                  <a:srgbClr val="00B050"/>
                </a:solidFill>
              </a:rPr>
              <a:t>passagem de informações</a:t>
            </a:r>
            <a:r>
              <a:rPr lang="pt-BR" dirty="0"/>
              <a:t>.</a:t>
            </a:r>
          </a:p>
          <a:p>
            <a:r>
              <a:rPr lang="pt-BR" dirty="0"/>
              <a:t>Por exemplo, uma camada densa com função de ativação sigmoide gera valores entre 0 e 1.</a:t>
            </a:r>
          </a:p>
          <a:p>
            <a:r>
              <a:rPr lang="pt-BR" dirty="0"/>
              <a:t>Uma </a:t>
            </a:r>
            <a:r>
              <a:rPr lang="pt-BR" b="1" dirty="0">
                <a:solidFill>
                  <a:schemeClr val="accent2"/>
                </a:solidFill>
              </a:rPr>
              <a:t>operação de multiplicação elemento a elemento</a:t>
            </a:r>
            <a:r>
              <a:rPr lang="pt-BR" dirty="0"/>
              <a:t> decide o quanto da entrada passar.</a:t>
            </a:r>
          </a:p>
          <a:p>
            <a:r>
              <a:rPr lang="pt-BR" dirty="0"/>
              <a:t>Com isso a porta decide (</a:t>
            </a:r>
            <a:r>
              <a:rPr lang="pt-BR" b="1" dirty="0">
                <a:solidFill>
                  <a:srgbClr val="00B050"/>
                </a:solidFill>
              </a:rPr>
              <a:t>aprende</a:t>
            </a:r>
            <a:r>
              <a:rPr lang="pt-BR" dirty="0"/>
              <a:t>) o quanto de cada elemento deve ser permitido passar.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="" xmlns:a16="http://schemas.microsoft.com/office/drawing/2014/main" id="{B9728557-869E-BAFB-3066-1D739731CD5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5284" y="2051849"/>
            <a:ext cx="1834360" cy="1839902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="" xmlns:a16="http://schemas.microsoft.com/office/drawing/2014/main" id="{070CEDC2-429E-FD22-6690-830CD30AF0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2710488"/>
              </p:ext>
            </p:extLst>
          </p:nvPr>
        </p:nvGraphicFramePr>
        <p:xfrm>
          <a:off x="8382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=""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0.58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1.24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2751490427"/>
                  </a:ext>
                </a:extLst>
              </a:tr>
            </a:tbl>
          </a:graphicData>
        </a:graphic>
      </p:graphicFrame>
      <p:sp>
        <p:nvSpPr>
          <p:cNvPr id="10" name="Oval 9">
            <a:extLst>
              <a:ext uri="{FF2B5EF4-FFF2-40B4-BE49-F238E27FC236}">
                <a16:creationId xmlns="" xmlns:a16="http://schemas.microsoft.com/office/drawing/2014/main" id="{8B26B905-DC25-9DA7-2367-B16D6608B5DA}"/>
              </a:ext>
            </a:extLst>
          </p:cNvPr>
          <p:cNvSpPr/>
          <p:nvPr/>
        </p:nvSpPr>
        <p:spPr>
          <a:xfrm>
            <a:off x="1748784" y="5351237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="" xmlns:a16="http://schemas.microsoft.com/office/drawing/2014/main" id="{5E348D4B-93D4-C098-7AF9-B153BE1F75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979572"/>
              </p:ext>
            </p:extLst>
          </p:nvPr>
        </p:nvGraphicFramePr>
        <p:xfrm>
          <a:off x="22478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=""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0.99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0.95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2751490427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="" xmlns:a16="http://schemas.microsoft.com/office/drawing/2014/main" id="{32B1D0E7-53E6-C236-1C2B-B2CE4AE3DE25}"/>
              </a:ext>
            </a:extLst>
          </p:cNvPr>
          <p:cNvSpPr txBox="1"/>
          <p:nvPr/>
        </p:nvSpPr>
        <p:spPr>
          <a:xfrm>
            <a:off x="3045720" y="519537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200" dirty="0"/>
              <a:t>=</a:t>
            </a:r>
            <a:endParaRPr lang="en-US" sz="3200" dirty="0"/>
          </a:p>
        </p:txBody>
      </p:sp>
      <p:graphicFrame>
        <p:nvGraphicFramePr>
          <p:cNvPr id="13" name="Table 12">
            <a:extLst>
              <a:ext uri="{FF2B5EF4-FFF2-40B4-BE49-F238E27FC236}">
                <a16:creationId xmlns="" xmlns:a16="http://schemas.microsoft.com/office/drawing/2014/main" id="{01F8917B-8816-341A-558C-A1CAEB0704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5979028"/>
              </p:ext>
            </p:extLst>
          </p:nvPr>
        </p:nvGraphicFramePr>
        <p:xfrm>
          <a:off x="3548871" y="4746082"/>
          <a:ext cx="920346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0346">
                  <a:extLst>
                    <a:ext uri="{9D8B030D-6E8A-4147-A177-3AD203B41FA5}">
                      <a16:colId xmlns=""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0.116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-0.3168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1.178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275149042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="" xmlns:a16="http://schemas.microsoft.com/office/drawing/2014/main" id="{53BADD3D-2C82-CCC1-B891-BEB0379E4781}"/>
                  </a:ext>
                </a:extLst>
              </p:cNvPr>
              <p:cNvSpPr txBox="1"/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3BADD3D-2C82-CCC1-B891-BEB0379E47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="" xmlns:a16="http://schemas.microsoft.com/office/drawing/2014/main" id="{BF8D9E77-C242-804E-69C9-0B2514AE0614}"/>
                  </a:ext>
                </a:extLst>
              </p:cNvPr>
              <p:cNvSpPr txBox="1"/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F8D9E77-C242-804E-69C9-0B2514AE06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="" xmlns:a16="http://schemas.microsoft.com/office/drawing/2014/main" id="{98D3637C-D10A-1278-EAC9-E3EAAC103B78}"/>
                  </a:ext>
                </a:extLst>
              </p:cNvPr>
              <p:cNvSpPr txBox="1"/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8D3637C-D10A-1278-EAC9-E3EAAC103B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375011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1095C087-743B-C7CF-BE89-B5D6C39626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EE915137-761A-DF31-B5AF-A324F7C30D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ideia central por trás das </a:t>
            </a:r>
            <a:r>
              <a:rPr lang="pt-BR" dirty="0" err="1"/>
              <a:t>LSTMs</a:t>
            </a:r>
            <a:r>
              <a:rPr lang="pt-BR" dirty="0"/>
              <a:t>: o estado da célula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0006F197-D087-7D0F-80F1-D4BCF89B742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58037" y="1825624"/>
                <a:ext cx="6933963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Os valores no vetor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variam entre 0 e 1, onde: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0 significa “fechado”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1 significa “aberto”.</a:t>
                </a:r>
              </a:p>
              <a:p>
                <a:r>
                  <a:rPr lang="pt-BR" dirty="0"/>
                  <a:t>Resumindo,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porta “filtra”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chemeClr val="accent2"/>
                    </a:solidFill>
                  </a:rPr>
                  <a:t>a informação</a:t>
                </a:r>
                <a:r>
                  <a:rPr lang="pt-BR" dirty="0"/>
                  <a:t> multiplicando o vetor de entrada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pelo vetor de porta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elemento a elemento.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06F197-D087-7D0F-80F1-D4BCF89B74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58037" y="1825624"/>
                <a:ext cx="6933963" cy="5032375"/>
              </a:xfrm>
              <a:blipFill>
                <a:blip r:embed="rId3"/>
                <a:stretch>
                  <a:fillRect l="-158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="" xmlns:a16="http://schemas.microsoft.com/office/drawing/2014/main" id="{1A36C67E-2EAB-F79C-D505-DE79D767793A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=""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0.58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1.24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2751490427"/>
                  </a:ext>
                </a:extLst>
              </a:tr>
            </a:tbl>
          </a:graphicData>
        </a:graphic>
      </p:graphicFrame>
      <p:sp>
        <p:nvSpPr>
          <p:cNvPr id="10" name="Oval 9">
            <a:extLst>
              <a:ext uri="{FF2B5EF4-FFF2-40B4-BE49-F238E27FC236}">
                <a16:creationId xmlns="" xmlns:a16="http://schemas.microsoft.com/office/drawing/2014/main" id="{F887BFCD-6D50-ACA8-946F-28EDF6FF4E02}"/>
              </a:ext>
            </a:extLst>
          </p:cNvPr>
          <p:cNvSpPr/>
          <p:nvPr/>
        </p:nvSpPr>
        <p:spPr>
          <a:xfrm>
            <a:off x="1748784" y="5351237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="" xmlns:a16="http://schemas.microsoft.com/office/drawing/2014/main" id="{435936FD-C97F-B176-82F3-FD34E8A9ECCF}"/>
              </a:ext>
            </a:extLst>
          </p:cNvPr>
          <p:cNvGraphicFramePr>
            <a:graphicFrameLocks noGrp="1"/>
          </p:cNvGraphicFramePr>
          <p:nvPr/>
        </p:nvGraphicFramePr>
        <p:xfrm>
          <a:off x="22478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=""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0.99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0.95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2751490427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="" xmlns:a16="http://schemas.microsoft.com/office/drawing/2014/main" id="{AA400603-03D8-6D82-0212-139747E4B31D}"/>
              </a:ext>
            </a:extLst>
          </p:cNvPr>
          <p:cNvSpPr txBox="1"/>
          <p:nvPr/>
        </p:nvSpPr>
        <p:spPr>
          <a:xfrm>
            <a:off x="3045720" y="519537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200" dirty="0"/>
              <a:t>=</a:t>
            </a:r>
            <a:endParaRPr lang="en-US" sz="3200" dirty="0"/>
          </a:p>
        </p:txBody>
      </p:sp>
      <p:graphicFrame>
        <p:nvGraphicFramePr>
          <p:cNvPr id="13" name="Table 12">
            <a:extLst>
              <a:ext uri="{FF2B5EF4-FFF2-40B4-BE49-F238E27FC236}">
                <a16:creationId xmlns="" xmlns:a16="http://schemas.microsoft.com/office/drawing/2014/main" id="{11939FB0-0AA3-25B0-B525-F0D1DAB311A5}"/>
              </a:ext>
            </a:extLst>
          </p:cNvPr>
          <p:cNvGraphicFramePr>
            <a:graphicFrameLocks noGrp="1"/>
          </p:cNvGraphicFramePr>
          <p:nvPr/>
        </p:nvGraphicFramePr>
        <p:xfrm>
          <a:off x="3548871" y="4746082"/>
          <a:ext cx="920346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0346">
                  <a:extLst>
                    <a:ext uri="{9D8B030D-6E8A-4147-A177-3AD203B41FA5}">
                      <a16:colId xmlns=""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0.116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-0.3168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1.178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275149042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="" xmlns:a16="http://schemas.microsoft.com/office/drawing/2014/main" id="{C4B4D6A2-75FA-8B46-5F44-282DBA566656}"/>
                  </a:ext>
                </a:extLst>
              </p:cNvPr>
              <p:cNvSpPr txBox="1"/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3BADD3D-2C82-CCC1-B891-BEB0379E47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="" xmlns:a16="http://schemas.microsoft.com/office/drawing/2014/main" id="{8FC98C86-8C6F-A5B7-34CD-39F2F88063D8}"/>
                  </a:ext>
                </a:extLst>
              </p:cNvPr>
              <p:cNvSpPr txBox="1"/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F8D9E77-C242-804E-69C9-0B2514AE06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="" xmlns:a16="http://schemas.microsoft.com/office/drawing/2014/main" id="{95AAF2C3-7FC3-BC24-A1B1-38A5EE18C5BA}"/>
                  </a:ext>
                </a:extLst>
              </p:cNvPr>
              <p:cNvSpPr txBox="1"/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8D3637C-D10A-1278-EAC9-E3EAAC103B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Picture 7">
            <a:extLst>
              <a:ext uri="{FF2B5EF4-FFF2-40B4-BE49-F238E27FC236}">
                <a16:creationId xmlns="" xmlns:a16="http://schemas.microsoft.com/office/drawing/2014/main" id="{B9728557-869E-BAFB-3066-1D739731CD5C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5284" y="2051849"/>
            <a:ext cx="1834360" cy="1839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143984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34F0908E-61BC-4EE3-3C23-07FB350F4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Porta de esquecimento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2AB8871D-05B3-0B5D-B7A9-8B87B3BFA9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09130" y="1825624"/>
                <a:ext cx="6382872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Controla quais informações devem ser descartadas do estado de longo prazo da célula.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esquece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completamente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1" i="1" smtClean="0">
                                            <a:latin typeface="Cambria Math" panose="02040503050406030204" pitchFamily="18" charset="0"/>
                                          </a:rPr>
                                          <m:t>𝒄</m:t>
                                        </m:r>
                                      </m:e>
                                      <m:sub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mant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é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100%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de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1" i="1" smtClean="0">
                                            <a:latin typeface="Cambria Math" panose="02040503050406030204" pitchFamily="18" charset="0"/>
                                          </a:rPr>
                                          <m:t>𝒄</m:t>
                                        </m:r>
                                      </m:e>
                                      <m:sub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sub>
                                    </m:sSub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Porta controlada pela entrada atual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pela saída da célula anterior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Exemplo de PLN: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estado da célula mantém o gênero do sujeito presente para usar os pronomes corretos.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Ao ver um novo sujeito, esqueça o gênero do sujeito anterior.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B8871D-05B3-0B5D-B7A9-8B87B3BFA9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09130" y="1825624"/>
                <a:ext cx="6382872" cy="5032375"/>
              </a:xfrm>
              <a:blipFill>
                <a:blip r:embed="rId3"/>
                <a:stretch>
                  <a:fillRect l="-1719" t="-2663" r="-18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m 5">
            <a:extLst>
              <a:ext uri="{FF2B5EF4-FFF2-40B4-BE49-F238E27FC236}">
                <a16:creationId xmlns="" xmlns:a16="http://schemas.microsoft.com/office/drawing/2014/main" id="{BCAB297B-CDDB-7EF5-2A7E-0434E34079D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183" y="2387448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806058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F81B4BE9-24E6-DBC5-186F-61B6FA668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entrada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7D2F9DE0-B3FD-2A90-3146-043295CAFD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38826" y="1825624"/>
                <a:ext cx="635317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Determina o quanto atualizar o estado antigo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com um novo candidato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</m:acc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       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sem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atualiza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çã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o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atualiza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com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100%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de</m:t>
                                    </m:r>
                                    <m:sSub>
                                      <m:sSubPr>
                                        <m:ctrlP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acc>
                                          <m:accPr>
                                            <m:chr m:val="̃"/>
                                            <m:ctrlP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  <m:t>𝐶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sz="2000" dirty="0"/>
              </a:p>
              <a:p>
                <a:r>
                  <a:rPr lang="pt-BR" dirty="0"/>
                  <a:t>No exemplo de PNL: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Gostaríamos de adicionar o gênero do novo sujeito ao estado da célula, para substituir o antigo que estamos esquecendo.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2F9DE0-B3FD-2A90-3146-043295CAFD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38826" y="1825624"/>
                <a:ext cx="6353174" cy="5032375"/>
              </a:xfrm>
              <a:blipFill>
                <a:blip r:embed="rId3"/>
                <a:stretch>
                  <a:fillRect l="-1727" t="-1937" r="-18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C9028197-6E3A-D453-E14C-79F999DC2F8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182" y="2338664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93376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0772FAD1-4DBD-A371-7565-6081A1219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C9476E6C-21FE-5575-46B7-F6F5257A0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da célula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="" xmlns:a16="http://schemas.microsoft.com/office/drawing/2014/main" id="{7B42820C-05C1-F0F4-4D04-180E613444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353801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Calcular o vetor da porta de esquecimento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Calcular o vetor da porta de entrada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Calcular o vetor de informação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̃"/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i="0" smtClean="0">
                              <a:latin typeface="Cambria Math" panose="02040503050406030204" pitchFamily="18" charset="0"/>
                            </a:rPr>
                            <m:t>tanh</m:t>
                          </m:r>
                        </m:fName>
                        <m:e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𝒉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𝒃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Calcular o novo vetor de estado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𝒇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𝒄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esquece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da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informa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çã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anterior</m:t>
                          </m:r>
                        </m:lim>
                      </m:limLow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limLow>
                        <m:limLow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𝒊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acc>
                                    <m:accPr>
                                      <m:chr m:val="̃"/>
                                      <m:ctrlP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𝒄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entarda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de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nova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informa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çã</m:t>
                          </m:r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o</m:t>
                          </m:r>
                        </m:lim>
                      </m:limLow>
                      <m:r>
                        <a:rPr lang="pt-BR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7B42820C-05C1-F0F4-4D04-180E613444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353801" cy="5032376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>
            <a:extLst>
              <a:ext uri="{FF2B5EF4-FFF2-40B4-BE49-F238E27FC236}">
                <a16:creationId xmlns="" xmlns:a16="http://schemas.microsoft.com/office/drawing/2014/main" id="{8A3055A6-AFBF-722F-46B1-12B03F916C6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8567" y="2222205"/>
            <a:ext cx="3443433" cy="2119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621222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B1C7D1F2-6CA4-20EA-CC21-706A3BBFA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9E3B3B1D-D2B0-1301-7FA6-4831F5728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0A65D47D-498E-037A-E3AD-6F97600C32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29300" y="1825624"/>
                <a:ext cx="63627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saída é uma versão filtrada do estado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passado através de uma </a:t>
                </a:r>
                <a:r>
                  <a:rPr lang="pt-BR" i="1" dirty="0" err="1"/>
                  <a:t>tanh</a:t>
                </a:r>
                <a:r>
                  <a:rPr lang="pt-BR" dirty="0"/>
                  <a:t>, que comprime seus valores entre -1 e 1.</a:t>
                </a:r>
              </a:p>
              <a:p>
                <a:r>
                  <a:rPr lang="pt-BR" dirty="0"/>
                  <a:t>Em seguida, a porta decide quais partes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serão passadas para a saída.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>
                              <a:latin typeface="Cambria Math" panose="02040503050406030204" pitchFamily="18" charset="0"/>
                            </a:rPr>
                            <m:t>𝒐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                       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sem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sa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í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da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passa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do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estado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sz="2000" dirty="0"/>
              </a:p>
              <a:p>
                <a:r>
                  <a:rPr lang="pt-BR" dirty="0"/>
                  <a:t>No exemplo de PLN: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Pode indicar se o sujeito é singular ou plural, para que se um verbo vier em seguida, ele seja conjugado corretamente.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65D47D-498E-037A-E3AD-6F97600C32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29300" y="1825624"/>
                <a:ext cx="6362700" cy="5032375"/>
              </a:xfrm>
              <a:blipFill>
                <a:blip r:embed="rId3"/>
                <a:stretch>
                  <a:fillRect l="-1724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AA5BC753-8840-8C1C-7822-2E7EFD9C53F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611" y="2422339"/>
            <a:ext cx="5131773" cy="3161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338841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ACA9160B-0A9F-1A85-6B15-1990ABAB50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65A0CB09-932B-8FCE-FD61-796D1203C8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42518" cy="5032375"/>
              </a:xfrm>
            </p:spPr>
            <p:txBody>
              <a:bodyPr/>
              <a:lstStyle/>
              <a:p>
                <a:r>
                  <a:rPr lang="pt-BR" dirty="0"/>
                  <a:t>Resumindo, uma célula LSTM pode: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aprender a reconhecer uma entrada importante (essa é a função da porta de entrada),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armazená-la no estado de longo prazo,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preservá-la pelo tempo que for necessário (essa é a função da porta do esquecimento)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extraí-la sempre que necessário (essa é a função da porta de saída).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A0CB09-932B-8FCE-FD61-796D1203C8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42518" cy="5032375"/>
              </a:xfrm>
              <a:blipFill>
                <a:blip r:embed="rId2"/>
                <a:stretch>
                  <a:fillRect l="-985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7387287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FF2A2A55-F68E-8442-C0DD-A2410B7AC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Principais</a:t>
            </a:r>
            <a:r>
              <a:rPr lang="en-US" dirty="0"/>
              <a:t> </a:t>
            </a:r>
            <a:r>
              <a:rPr lang="en-US" dirty="0" err="1"/>
              <a:t>desvantagens</a:t>
            </a:r>
            <a:r>
              <a:rPr lang="en-US" dirty="0"/>
              <a:t> de LSTMs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4BBE798D-84FA-D85F-AF66-CCB3774595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saídas das portas nunca são realmente 0 ou 1.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Assim, o conteúdo da célula inevitavelmente se corrompe após um longo período.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Portanto, ainda apresenta dificuldades com dependências temporais muito longas.</a:t>
                </a:r>
              </a:p>
              <a:p>
                <a:r>
                  <a:rPr lang="en-US" dirty="0"/>
                  <a:t>Alta </a:t>
                </a:r>
                <a:r>
                  <a:rPr lang="en-US" dirty="0" err="1"/>
                  <a:t>complexidade</a:t>
                </a:r>
                <a:r>
                  <a:rPr lang="en-US" dirty="0"/>
                  <a:t> </a:t>
                </a:r>
                <a:r>
                  <a:rPr lang="en-US" dirty="0" err="1"/>
                  <a:t>computacional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Muito mais parâmetros que RNN simples.</a:t>
                </a:r>
              </a:p>
              <a:p>
                <a:r>
                  <a:rPr lang="en-US" dirty="0" err="1"/>
                  <a:t>Dificuldade</a:t>
                </a:r>
                <a:r>
                  <a:rPr lang="en-US" dirty="0"/>
                  <a:t> de </a:t>
                </a:r>
                <a:r>
                  <a:rPr lang="en-US" dirty="0" err="1"/>
                  <a:t>paralelização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Processamento sequencial: depende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pt-BR" dirty="0"/>
                  <a:t> para calcular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Difícil explorar paralelismo em GPU</a:t>
                </a:r>
              </a:p>
              <a:p>
                <a:r>
                  <a:rPr lang="pt-BR" dirty="0"/>
                  <a:t>Hoje é superada em muitos cenários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Modelos</a:t>
                </a:r>
                <a:r>
                  <a:rPr lang="en-US" dirty="0"/>
                  <a:t> </a:t>
                </a:r>
                <a:r>
                  <a:rPr lang="en-US" dirty="0" err="1"/>
                  <a:t>mais</a:t>
                </a:r>
                <a:r>
                  <a:rPr lang="en-US" dirty="0"/>
                  <a:t> </a:t>
                </a:r>
                <a:r>
                  <a:rPr lang="en-US" dirty="0" err="1"/>
                  <a:t>modernos</a:t>
                </a:r>
                <a:r>
                  <a:rPr lang="en-US" dirty="0"/>
                  <a:t>: Transformers com attention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Eles </a:t>
                </a:r>
                <a:r>
                  <a:rPr lang="en-US" dirty="0" err="1"/>
                  <a:t>apresentam</a:t>
                </a:r>
                <a:r>
                  <a:rPr lang="en-US" dirty="0"/>
                  <a:t> m</a:t>
                </a:r>
                <a:r>
                  <a:rPr lang="pt-BR" dirty="0" err="1"/>
                  <a:t>elhor</a:t>
                </a:r>
                <a:r>
                  <a:rPr lang="pt-BR" dirty="0"/>
                  <a:t>: paralelização e capturam de dependências globais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BE798D-84FA-D85F-AF66-CCB3774595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999936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40CC6145-8996-89DD-159B-03716E375E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/>
              <a:t>GRUs</a:t>
            </a:r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E7B9C5FB-79E3-59EE-FDA7-C5472E6684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fontAlgn="base"/>
            <a:r>
              <a:rPr lang="en-US" sz="4400" b="1" dirty="0">
                <a:solidFill>
                  <a:srgbClr val="FF0000"/>
                </a:solidFill>
              </a:rPr>
              <a:t>4. Gated Recurrent Units (GRUs)</a:t>
            </a:r>
          </a:p>
          <a:p>
            <a:pPr fontAlgn="base"/>
            <a:r>
              <a:rPr lang="en-US" sz="4400" u="sng" dirty="0">
                <a:solidFill>
                  <a:srgbClr val="FF0000"/>
                </a:solidFill>
                <a:hlinkClick r:id="rId2">
                  <a:extLst>
                    <a:ext uri="{A12FA001-AC4F-418D-AE19-62706E023703}">
                      <ahyp:hlinkClr xmlns="" xmlns:ahyp="http://schemas.microsoft.com/office/drawing/2018/hyperlinkcolor" val="tx"/>
                    </a:ext>
                  </a:extLst>
                </a:hlinkClick>
              </a:rPr>
              <a:t>Gated Recurrent Units (GRUs) </a:t>
            </a:r>
            <a:r>
              <a:rPr lang="en-US" sz="4400" dirty="0">
                <a:solidFill>
                  <a:srgbClr val="FF0000"/>
                </a:solidFill>
              </a:rPr>
              <a:t>simplify LSTMs by combining the input and forget gates into a single update gate and streamlining the output mechanism. This design is computationally efficient, often performing similarly to LSTMs and is useful in tasks where simplicity and faster training are beneficial.</a:t>
            </a:r>
          </a:p>
          <a:p>
            <a:endParaRPr lang="en-US" sz="4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858253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45D02D76-2EBA-1393-BE09-7CDA497C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7EBE64A2-9011-342C-7697-75B6C48776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8692" y="1825624"/>
            <a:ext cx="6743307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Com o sucesso das </a:t>
            </a:r>
            <a:r>
              <a:rPr lang="pt-BR" dirty="0" err="1"/>
              <a:t>LSTMs</a:t>
            </a:r>
            <a:r>
              <a:rPr lang="pt-BR" dirty="0"/>
              <a:t> em capturar dependências de longo prazo, arquiteturas simplificadas foram propostas com o objetivo de acelerar a computação.</a:t>
            </a:r>
          </a:p>
          <a:p>
            <a:r>
              <a:rPr lang="pt-BR" dirty="0" err="1"/>
              <a:t>GRUs</a:t>
            </a:r>
            <a:r>
              <a:rPr lang="pt-BR" dirty="0"/>
              <a:t> foram propostas em 2014 por Cho et al.</a:t>
            </a:r>
          </a:p>
          <a:p>
            <a:r>
              <a:rPr lang="pt-BR" dirty="0"/>
              <a:t>São uma versão simplificada da célula de memória LSTM.</a:t>
            </a:r>
          </a:p>
          <a:p>
            <a:r>
              <a:rPr lang="pt-BR" dirty="0"/>
              <a:t>Em geral, atingem desempenho comparável, mas com a vantagem de terem menos parâmetros e serem mais rápidas em termos de computação.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FEE9C48C-C90C-F33E-D12D-C8B6D0A1B56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303" y="3013147"/>
            <a:ext cx="4929495" cy="2657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6729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C46CC0D9-476E-8E7D-EC3C-28E97B88A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6B5BE93B-0FD8-4FAC-CF58-5DD52D3DB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26A8CC03-24B7-54E8-63B4-1022B00698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97500" y="1825624"/>
            <a:ext cx="6794500" cy="5032375"/>
          </a:xfrm>
        </p:spPr>
        <p:txBody>
          <a:bodyPr>
            <a:normAutofit/>
          </a:bodyPr>
          <a:lstStyle/>
          <a:p>
            <a:r>
              <a:rPr lang="pt-BR" dirty="0"/>
              <a:t>Usam menos portas e não possuem um estado da célula.</a:t>
            </a:r>
          </a:p>
          <a:p>
            <a:r>
              <a:rPr lang="pt-BR" dirty="0"/>
              <a:t>A porta de </a:t>
            </a:r>
            <a:r>
              <a:rPr lang="pt-BR" i="1" dirty="0"/>
              <a:t>reset</a:t>
            </a:r>
            <a:r>
              <a:rPr lang="pt-BR" dirty="0"/>
              <a:t> é responsável pela memória de curto prazo, pois decide quanta informação passada será mantida e quanta informação será descartada.</a:t>
            </a:r>
          </a:p>
          <a:p>
            <a:r>
              <a:rPr lang="pt-BR" dirty="0"/>
              <a:t>Em contraste, a porta de atualização é responsável pela memória de longo prazo e é comparável à porta de esquecimento da LSTM.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É a combinação das portas de esquecimento e de entrada da LSTM.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FEBB883C-AF65-D3CE-B74B-0176B4408C4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159" y="2601160"/>
            <a:ext cx="4929495" cy="299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532342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F6F46201-70AB-3101-010F-37663AAAB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C31D9534-0BDC-5AAE-8B8A-DE28FBF11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0843" y="2170398"/>
            <a:ext cx="11598442" cy="270640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Como </a:t>
            </a:r>
            <a:r>
              <a:rPr lang="pt-BR" sz="6000" dirty="0" err="1"/>
              <a:t>LSTMs</a:t>
            </a:r>
            <a:r>
              <a:rPr lang="pt-BR" sz="6000" dirty="0"/>
              <a:t> e </a:t>
            </a:r>
            <a:r>
              <a:rPr lang="pt-BR" sz="6000" dirty="0" err="1"/>
              <a:t>GRUs</a:t>
            </a:r>
            <a:r>
              <a:rPr lang="pt-BR" sz="6000" dirty="0"/>
              <a:t> minimizam o problema do desaparecimento do gradiente?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161994258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E217C2CC-E86F-6285-9CEE-AEE63628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72691B0C-DF41-453D-2999-4912A83FED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80074" y="1825624"/>
                <a:ext cx="6811926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GRUs e </a:t>
                </a:r>
                <a:r>
                  <a:rPr lang="pt-BR" dirty="0" err="1"/>
                  <a:t>LSTMs</a:t>
                </a:r>
                <a:r>
                  <a:rPr lang="pt-BR" dirty="0"/>
                  <a:t> têm um caminho quase linear para o gradiente.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acc>
                            <m:accPr>
                              <m:chr m:val="̃"/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Já as </a:t>
                </a:r>
                <a:r>
                  <a:rPr lang="pt-BR" dirty="0" err="1"/>
                  <a:t>RNNs</a:t>
                </a:r>
                <a:r>
                  <a:rPr lang="pt-BR" dirty="0"/>
                  <a:t> baunilha têm uma caminha </a:t>
                </a:r>
                <a:r>
                  <a:rPr lang="pt-BR" dirty="0" err="1"/>
                  <a:t>nã</a:t>
                </a:r>
                <a:r>
                  <a:rPr lang="pt-BR" dirty="0"/>
                  <a:t>-linear: o novo estado passa por um função </a:t>
                </a:r>
                <a:r>
                  <a:rPr lang="pt-BR" dirty="0" err="1"/>
                  <a:t>tanh</a:t>
                </a:r>
                <a:r>
                  <a:rPr lang="pt-BR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i="0" smtClean="0">
                              <a:latin typeface="Cambria Math" panose="02040503050406030204" pitchFamily="18" charset="0"/>
                            </a:rPr>
                            <m:t>tanh</m:t>
                          </m:r>
                        </m:fName>
                        <m:e>
                          <m:d>
                            <m:d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𝒉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691B0C-DF41-453D-2999-4912A83FED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80074" y="1825624"/>
                <a:ext cx="6811926" cy="5032375"/>
              </a:xfrm>
              <a:blipFill>
                <a:blip r:embed="rId2"/>
                <a:stretch>
                  <a:fillRect l="-1611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A0DB283C-57CF-8CCB-475A-8E64A9D1D90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3888430" cy="239352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945A00CD-C690-0519-A0B6-48532CE3E9E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243" y="4667693"/>
            <a:ext cx="4112520" cy="2041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242794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9CDD7DCE-1242-9C51-3F89-48626CD90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01089038-AB05-41BB-2D39-80FBAB0804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71459" y="1825625"/>
            <a:ext cx="6620541" cy="5032376"/>
          </a:xfrm>
        </p:spPr>
        <p:txBody>
          <a:bodyPr>
            <a:normAutofit/>
          </a:bodyPr>
          <a:lstStyle/>
          <a:p>
            <a:r>
              <a:rPr lang="pt-BR" dirty="0" err="1"/>
              <a:t>LSTMs</a:t>
            </a:r>
            <a:r>
              <a:rPr lang="pt-BR" dirty="0"/>
              <a:t> e </a:t>
            </a:r>
            <a:r>
              <a:rPr lang="pt-BR" dirty="0" err="1"/>
              <a:t>GRUs</a:t>
            </a:r>
            <a:r>
              <a:rPr lang="pt-BR" dirty="0"/>
              <a:t> minimizam o problema do desaparecimento do gradiente porque a atualização do estado da célula é aditiva e não puramente multiplicativa</a:t>
            </a:r>
            <a:r>
              <a:rPr lang="en-US" dirty="0"/>
              <a:t>.</a:t>
            </a:r>
            <a:endParaRPr lang="pt-BR" dirty="0"/>
          </a:p>
          <a:p>
            <a:r>
              <a:rPr lang="pt-BR" dirty="0"/>
              <a:t>A soma cria um “atalho” </a:t>
            </a:r>
            <a:r>
              <a:rPr lang="pt-BR" b="1" dirty="0"/>
              <a:t>configurável</a:t>
            </a:r>
            <a:r>
              <a:rPr lang="pt-BR" dirty="0"/>
              <a:t> para o gradiente.</a:t>
            </a:r>
          </a:p>
          <a:p>
            <a:r>
              <a:rPr lang="pt-BR" dirty="0"/>
              <a:t>Esse atalho permite que os gradientes retrocedam no tempo sem necessariamente desaparecer.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="" xmlns:a16="http://schemas.microsoft.com/office/drawing/2014/main" id="{F63E2320-9C7D-2BEC-DBF2-A340E846740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3888430" cy="239352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="" xmlns:a16="http://schemas.microsoft.com/office/drawing/2014/main" id="{739B0D30-CDE5-D51A-1F46-F2F7055CCA3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243" y="4667693"/>
            <a:ext cx="4112520" cy="2041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087009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C27262E0-3E97-671D-6E9F-7D5CF88F7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F5C8D3E-7443-40D0-EFC0-AE612DDB87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77E5298F-0274-DB9E-3AE4-1B71C47C51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33237" y="1825625"/>
                <a:ext cx="6645349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Para </a:t>
                </a:r>
                <a:r>
                  <a:rPr lang="pt-BR" dirty="0" err="1"/>
                  <a:t>LSTMs</a:t>
                </a:r>
                <a:r>
                  <a:rPr lang="pt-BR" dirty="0"/>
                  <a:t> e </a:t>
                </a:r>
                <a:r>
                  <a:rPr lang="pt-BR" dirty="0" err="1"/>
                  <a:t>GRUs</a:t>
                </a:r>
                <a:r>
                  <a:rPr lang="pt-BR" dirty="0"/>
                  <a:t>, o valor da derivada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den>
                    </m:f>
                  </m:oMath>
                </a14:m>
                <a:r>
                  <a:rPr lang="pt-BR" dirty="0"/>
                  <a:t> é função das 3 portas: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do estado de atualização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Esses 4 valores são configurações que a rede aprende a definir.</a:t>
                </a:r>
              </a:p>
              <a:p>
                <a:r>
                  <a:rPr lang="pt-BR" dirty="0"/>
                  <a:t>Dessa forma, a rede aprende a decidir quando deixar o gradiente desaparecer e quando preservá-lo, ajustando os valores das portas.</a:t>
                </a:r>
              </a:p>
              <a:p>
                <a:r>
                  <a:rPr lang="pt-BR" dirty="0"/>
                  <a:t>Assim, as portas permitem que a rede decida o que guardar e o que descartar.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E5298F-0274-DB9E-3AE4-1B71C47C51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33237" y="1825625"/>
                <a:ext cx="6645349" cy="5032376"/>
              </a:xfrm>
              <a:blipFill>
                <a:blip r:embed="rId3"/>
                <a:stretch>
                  <a:fillRect l="-1651" t="-1937" r="-2752" b="-13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="" xmlns:a16="http://schemas.microsoft.com/office/drawing/2014/main" id="{D4662DC6-AD4B-B713-EE3A-3FDEE28D9C6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3888430" cy="2393526"/>
          </a:xfrm>
          <a:prstGeom prst="rect">
            <a:avLst/>
          </a:prstGeom>
        </p:spPr>
      </p:pic>
      <p:pic>
        <p:nvPicPr>
          <p:cNvPr id="4" name="Picture 4">
            <a:extLst>
              <a:ext uri="{FF2B5EF4-FFF2-40B4-BE49-F238E27FC236}">
                <a16:creationId xmlns="" xmlns:a16="http://schemas.microsoft.com/office/drawing/2014/main" id="{BA697ABF-3D68-0137-7426-7AD16763889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243" y="4667693"/>
            <a:ext cx="4112520" cy="2041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536372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F6F46201-70AB-3101-010F-37663AAAB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C31D9534-0BDC-5AAE-8B8A-DE28FBF11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96041"/>
            <a:ext cx="10515600" cy="126591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Diferentes aplicações de </a:t>
            </a:r>
            <a:r>
              <a:rPr lang="pt-BR" sz="6000" dirty="0" err="1"/>
              <a:t>RNNs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285363786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1E75519F-4E97-D41B-FEDC-5985815D8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um-para-um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73FB7023-EEE1-0137-9550-E8D35802B0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4"/>
            <a:ext cx="5971952" cy="5032375"/>
          </a:xfrm>
        </p:spPr>
        <p:txBody>
          <a:bodyPr/>
          <a:lstStyle/>
          <a:p>
            <a:r>
              <a:rPr lang="pt-BR" dirty="0"/>
              <a:t>Rede neural de alimentação direta tradicional.</a:t>
            </a:r>
          </a:p>
          <a:p>
            <a:r>
              <a:rPr lang="pt-BR" dirty="0"/>
              <a:t>Entrada e saída de tamanhos fixos.</a:t>
            </a:r>
          </a:p>
          <a:p>
            <a:r>
              <a:rPr lang="pt-BR" dirty="0"/>
              <a:t>Não há dados sequenciais envolvidos.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imagens.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imagem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classe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="" xmlns:a16="http://schemas.microsoft.com/office/drawing/2014/main" id="{15122A6D-DC79-2AF9-1085-14936C685310}"/>
              </a:ext>
            </a:extLst>
          </p:cNvPr>
          <p:cNvGrpSpPr/>
          <p:nvPr/>
        </p:nvGrpSpPr>
        <p:grpSpPr>
          <a:xfrm>
            <a:off x="2551812" y="1825625"/>
            <a:ext cx="393407" cy="4188675"/>
            <a:chOff x="1754370" y="1988288"/>
            <a:chExt cx="393407" cy="4188675"/>
          </a:xfrm>
        </p:grpSpPr>
        <p:sp>
          <p:nvSpPr>
            <p:cNvPr id="4" name="Rectangle 3">
              <a:extLst>
                <a:ext uri="{FF2B5EF4-FFF2-40B4-BE49-F238E27FC236}">
                  <a16:creationId xmlns="" xmlns:a16="http://schemas.microsoft.com/office/drawing/2014/main" id="{01948E46-812A-1E66-F7BB-490F2947AA8F}"/>
                </a:ext>
              </a:extLst>
            </p:cNvPr>
            <p:cNvSpPr/>
            <p:nvPr/>
          </p:nvSpPr>
          <p:spPr>
            <a:xfrm>
              <a:off x="1754372" y="1988288"/>
              <a:ext cx="393405" cy="108452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="" xmlns:a16="http://schemas.microsoft.com/office/drawing/2014/main" id="{9DBCB693-614D-5B50-C07B-DA27AF31D3BA}"/>
                </a:ext>
              </a:extLst>
            </p:cNvPr>
            <p:cNvSpPr/>
            <p:nvPr/>
          </p:nvSpPr>
          <p:spPr>
            <a:xfrm>
              <a:off x="1754371" y="3540365"/>
              <a:ext cx="393405" cy="1084521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="" xmlns:a16="http://schemas.microsoft.com/office/drawing/2014/main" id="{A514DA19-CE6F-9767-CCCD-49466007DF08}"/>
                </a:ext>
              </a:extLst>
            </p:cNvPr>
            <p:cNvSpPr/>
            <p:nvPr/>
          </p:nvSpPr>
          <p:spPr>
            <a:xfrm>
              <a:off x="1754370" y="5092442"/>
              <a:ext cx="393405" cy="1084521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="" xmlns:a16="http://schemas.microsoft.com/office/drawing/2014/main" id="{8AC2FB4A-7CD4-042C-9701-B24C1E6C7FE3}"/>
                </a:ext>
              </a:extLst>
            </p:cNvPr>
            <p:cNvCxnSpPr>
              <a:stCxn id="5" idx="0"/>
              <a:endCxn id="4" idx="2"/>
            </p:cNvCxnSpPr>
            <p:nvPr/>
          </p:nvCxnSpPr>
          <p:spPr>
            <a:xfrm flipV="1">
              <a:off x="1951074" y="3072809"/>
              <a:ext cx="1" cy="4675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="" xmlns:a16="http://schemas.microsoft.com/office/drawing/2014/main" id="{960CE189-87E8-01A6-FFCA-A4F6919BBAE0}"/>
                </a:ext>
              </a:extLst>
            </p:cNvPr>
            <p:cNvCxnSpPr>
              <a:cxnSpLocks/>
              <a:stCxn id="6" idx="0"/>
              <a:endCxn id="5" idx="2"/>
            </p:cNvCxnSpPr>
            <p:nvPr/>
          </p:nvCxnSpPr>
          <p:spPr>
            <a:xfrm flipV="1">
              <a:off x="1951073" y="4624886"/>
              <a:ext cx="1" cy="4675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="" xmlns:a16="http://schemas.microsoft.com/office/drawing/2014/main" id="{624E2679-792C-F87E-14FB-2AF9E64F6E79}"/>
                    </a:ext>
                  </a:extLst>
                </p:cNvPr>
                <p:cNvSpPr txBox="1"/>
                <p:nvPr/>
              </p:nvSpPr>
              <p:spPr>
                <a:xfrm>
                  <a:off x="1754370" y="5450036"/>
                  <a:ext cx="39340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24E2679-792C-F87E-14FB-2AF9E64F6E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4370" y="5450036"/>
                  <a:ext cx="393406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="" xmlns:a16="http://schemas.microsoft.com/office/drawing/2014/main" id="{1668DFCE-0DD9-DC2F-2185-D32B6C069879}"/>
                    </a:ext>
                  </a:extLst>
                </p:cNvPr>
                <p:cNvSpPr txBox="1"/>
                <p:nvPr/>
              </p:nvSpPr>
              <p:spPr>
                <a:xfrm>
                  <a:off x="1754370" y="2340014"/>
                  <a:ext cx="39340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668DFCE-0DD9-DC2F-2185-D32B6C0698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4370" y="2340014"/>
                  <a:ext cx="393406" cy="369332"/>
                </a:xfrm>
                <a:prstGeom prst="rect">
                  <a:avLst/>
                </a:prstGeom>
                <a:blipFill>
                  <a:blip r:embed="rId3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12919767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DA56FE1B-2F4B-3642-C94B-B94B9E919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6A24085D-74A3-7DF1-5CE0-BB50E2AA9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um-para-vários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310758ED-F051-FFC1-8759-DD2BFDD237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4"/>
            <a:ext cx="5971952" cy="5032375"/>
          </a:xfrm>
        </p:spPr>
        <p:txBody>
          <a:bodyPr/>
          <a:lstStyle/>
          <a:p>
            <a:r>
              <a:rPr lang="pt-BR" dirty="0"/>
              <a:t>Entrada de tamanho fixo.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Rede do tipo vetor para sequência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Legendas de imagens.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Imagem de entrada -&gt; sequência de palavras descrevendo a imagem na saída.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Geração de música.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="" xmlns:a16="http://schemas.microsoft.com/office/drawing/2014/main" id="{173BC90E-401F-9CA8-D485-C705D4BC18A0}"/>
              </a:ext>
            </a:extLst>
          </p:cNvPr>
          <p:cNvSpPr/>
          <p:nvPr/>
        </p:nvSpPr>
        <p:spPr>
          <a:xfrm>
            <a:off x="2551814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9B4DE169-2DEC-FD02-39D3-4ED036488B2C}"/>
              </a:ext>
            </a:extLst>
          </p:cNvPr>
          <p:cNvSpPr/>
          <p:nvPr/>
        </p:nvSpPr>
        <p:spPr>
          <a:xfrm>
            <a:off x="2551813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="" xmlns:a16="http://schemas.microsoft.com/office/drawing/2014/main" id="{B071E458-90CC-1CD9-F668-0F83E5EC2B49}"/>
              </a:ext>
            </a:extLst>
          </p:cNvPr>
          <p:cNvSpPr/>
          <p:nvPr/>
        </p:nvSpPr>
        <p:spPr>
          <a:xfrm>
            <a:off x="2551812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="" xmlns:a16="http://schemas.microsoft.com/office/drawing/2014/main" id="{74C9AC7C-2534-C237-037C-6BFE9DD1441F}"/>
              </a:ext>
            </a:extLst>
          </p:cNvPr>
          <p:cNvCxnSpPr>
            <a:stCxn id="5" idx="0"/>
            <a:endCxn id="4" idx="2"/>
          </p:cNvCxnSpPr>
          <p:nvPr/>
        </p:nvCxnSpPr>
        <p:spPr>
          <a:xfrm flipV="1">
            <a:off x="2748516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="" xmlns:a16="http://schemas.microsoft.com/office/drawing/2014/main" id="{949FE849-8DE0-FC82-5C8D-E6F4F451D705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748515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="" xmlns:a16="http://schemas.microsoft.com/office/drawing/2014/main" id="{BF0B0C31-83B7-B86A-1FDA-929B051F4519}"/>
                  </a:ext>
                </a:extLst>
              </p:cNvPr>
              <p:cNvSpPr txBox="1"/>
              <p:nvPr/>
            </p:nvSpPr>
            <p:spPr>
              <a:xfrm>
                <a:off x="2551812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F0B0C31-83B7-B86A-1FDA-929B051F45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1812" y="5287373"/>
                <a:ext cx="39340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="" xmlns:a16="http://schemas.microsoft.com/office/drawing/2014/main" id="{5C4EB947-2B00-01B1-897A-ECEC27DA1157}"/>
                  </a:ext>
                </a:extLst>
              </p:cNvPr>
              <p:cNvSpPr txBox="1"/>
              <p:nvPr/>
            </p:nvSpPr>
            <p:spPr>
              <a:xfrm>
                <a:off x="2551812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C4EB947-2B00-01B1-897A-ECEC27DA11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1812" y="2177351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4195ADE5-EFD2-2CE4-120C-33F17F06CF8E}"/>
              </a:ext>
            </a:extLst>
          </p:cNvPr>
          <p:cNvSpPr/>
          <p:nvPr/>
        </p:nvSpPr>
        <p:spPr>
          <a:xfrm>
            <a:off x="3342167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="" xmlns:a16="http://schemas.microsoft.com/office/drawing/2014/main" id="{8BE88036-7171-C33B-3FF7-46CC4F7712FE}"/>
              </a:ext>
            </a:extLst>
          </p:cNvPr>
          <p:cNvSpPr/>
          <p:nvPr/>
        </p:nvSpPr>
        <p:spPr>
          <a:xfrm>
            <a:off x="4127204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="" xmlns:a16="http://schemas.microsoft.com/office/drawing/2014/main" id="{B91DF6AC-A6FD-8CCC-389D-EA539B1BD52C}"/>
              </a:ext>
            </a:extLst>
          </p:cNvPr>
          <p:cNvSpPr/>
          <p:nvPr/>
        </p:nvSpPr>
        <p:spPr>
          <a:xfrm>
            <a:off x="3342166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="" xmlns:a16="http://schemas.microsoft.com/office/drawing/2014/main" id="{DB7CDD93-437A-87E6-0718-836C2DF6B602}"/>
              </a:ext>
            </a:extLst>
          </p:cNvPr>
          <p:cNvSpPr/>
          <p:nvPr/>
        </p:nvSpPr>
        <p:spPr>
          <a:xfrm>
            <a:off x="4127204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="" xmlns:a16="http://schemas.microsoft.com/office/drawing/2014/main" id="{E681BE14-7B2A-5CF4-E10E-A7DEB61B11C4}"/>
                  </a:ext>
                </a:extLst>
              </p:cNvPr>
              <p:cNvSpPr txBox="1"/>
              <p:nvPr/>
            </p:nvSpPr>
            <p:spPr>
              <a:xfrm>
                <a:off x="3336851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681BE14-7B2A-5CF4-E10E-A7DEB61B11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6851" y="2177351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="" xmlns:a16="http://schemas.microsoft.com/office/drawing/2014/main" id="{CBEA5730-C4C7-738D-E0EB-6B0AC22615B6}"/>
                  </a:ext>
                </a:extLst>
              </p:cNvPr>
              <p:cNvSpPr txBox="1"/>
              <p:nvPr/>
            </p:nvSpPr>
            <p:spPr>
              <a:xfrm>
                <a:off x="4127203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BEA5730-C4C7-738D-E0EB-6B0AC22615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7203" y="2177351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="" xmlns:a16="http://schemas.microsoft.com/office/drawing/2014/main" id="{56B2A9D7-DA78-68D1-4F93-5197D873212F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945218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="" xmlns:a16="http://schemas.microsoft.com/office/drawing/2014/main" id="{B6A2E247-2561-B91B-B93F-32FFD3EDDC5F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735572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="" xmlns:a16="http://schemas.microsoft.com/office/drawing/2014/main" id="{6F1616EF-3A72-1259-59E2-590EFB39D927}"/>
              </a:ext>
            </a:extLst>
          </p:cNvPr>
          <p:cNvCxnSpPr>
            <a:stCxn id="7" idx="0"/>
            <a:endCxn id="11" idx="2"/>
          </p:cNvCxnSpPr>
          <p:nvPr/>
        </p:nvCxnSpPr>
        <p:spPr>
          <a:xfrm flipH="1" flipV="1">
            <a:off x="3538869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="" xmlns:a16="http://schemas.microsoft.com/office/drawing/2014/main" id="{7B138E64-74E4-4721-F500-DB7B5398D8BA}"/>
              </a:ext>
            </a:extLst>
          </p:cNvPr>
          <p:cNvCxnSpPr>
            <a:stCxn id="10" idx="0"/>
            <a:endCxn id="12" idx="2"/>
          </p:cNvCxnSpPr>
          <p:nvPr/>
        </p:nvCxnSpPr>
        <p:spPr>
          <a:xfrm flipV="1">
            <a:off x="4323907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226899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B3444CC4-1F8D-1221-E0A5-2DD7F9D11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0347A3C2-C6DB-13A0-B8F1-546D0E455D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vários-para-um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426CAEBD-083F-C12D-7B6A-7E3651A6C2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74942" y="1825624"/>
            <a:ext cx="6393012" cy="5032375"/>
          </a:xfrm>
        </p:spPr>
        <p:txBody>
          <a:bodyPr>
            <a:normAutofit/>
          </a:bodyPr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fixo.</a:t>
            </a:r>
          </a:p>
          <a:p>
            <a:r>
              <a:rPr lang="pt-BR" dirty="0"/>
              <a:t>Rede do tipo sequência para vetor.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sentimentos.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Por exemplo, classificar o sentimento em uma mensagem de rede social.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Entrada: sequência de palavras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Saída: sentimento.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sequência de palavras correspondentes a uma crítica de um filme.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pontuação de sentimento: 0 [odiou] até 1 [amou]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="" xmlns:a16="http://schemas.microsoft.com/office/drawing/2014/main" id="{C9302BEE-2F04-7DDD-4454-3518684E7D47}"/>
              </a:ext>
            </a:extLst>
          </p:cNvPr>
          <p:cNvSpPr/>
          <p:nvPr/>
        </p:nvSpPr>
        <p:spPr>
          <a:xfrm>
            <a:off x="356367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5C42A486-679A-4E3B-7913-6F218BD23A83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="" xmlns:a16="http://schemas.microsoft.com/office/drawing/2014/main" id="{84137C4D-A821-FEC0-D8F6-AE7B0C2954FE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="" xmlns:a16="http://schemas.microsoft.com/office/drawing/2014/main" id="{03ADAD61-EE48-411E-977D-6A94581807B9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="" xmlns:a16="http://schemas.microsoft.com/office/drawing/2014/main" id="{D438ACA1-F975-B9C5-FACB-89F4912E372A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438ACA1-F975-B9C5-FACB-89F4912E37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="" xmlns:a16="http://schemas.microsoft.com/office/drawing/2014/main" id="{7E8B84A3-F2D0-4ED5-997A-BF31055ECC10}"/>
                  </a:ext>
                </a:extLst>
              </p:cNvPr>
              <p:cNvSpPr txBox="1"/>
              <p:nvPr/>
            </p:nvSpPr>
            <p:spPr>
              <a:xfrm>
                <a:off x="3550387" y="216486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E8B84A3-F2D0-4ED5-997A-BF31055ECC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6486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706B4863-BE44-D743-50A1-A3EEBEF19A35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="" xmlns:a16="http://schemas.microsoft.com/office/drawing/2014/main" id="{E3232E91-DB17-6760-4C7B-BAFB26A059DE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="" xmlns:a16="http://schemas.microsoft.com/office/drawing/2014/main" id="{E5FC7DDE-A424-45F8-3EC3-88B4FA815788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="" xmlns:a16="http://schemas.microsoft.com/office/drawing/2014/main" id="{3996B64A-481D-45A0-6C85-EF8B17685CE6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="" xmlns:a16="http://schemas.microsoft.com/office/drawing/2014/main" id="{E23C1344-9F0C-C2A8-439A-E28032095064}"/>
              </a:ext>
            </a:extLst>
          </p:cNvPr>
          <p:cNvCxnSpPr>
            <a:cxnSpLocks/>
            <a:stCxn id="10" idx="0"/>
          </p:cNvCxnSpPr>
          <p:nvPr/>
        </p:nvCxnSpPr>
        <p:spPr>
          <a:xfrm flipV="1">
            <a:off x="3760382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="" xmlns:a16="http://schemas.microsoft.com/office/drawing/2014/main" id="{8B36DB85-1904-3FAD-DB09-F697141543B7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="" xmlns:a16="http://schemas.microsoft.com/office/drawing/2014/main" id="{BAFB01E3-9980-BEE6-183B-C3D6A9366013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AFB01E3-9980-BEE6-183B-C3D6A93660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="" xmlns:a16="http://schemas.microsoft.com/office/drawing/2014/main" id="{85D741A9-7260-51BF-BD2E-69E1839284AD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="" xmlns:a16="http://schemas.microsoft.com/office/drawing/2014/main" id="{A840B1E8-BB78-B6D2-D8D6-825201C6243F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840B1E8-BB78-B6D2-D8D6-825201C624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="" xmlns:a16="http://schemas.microsoft.com/office/drawing/2014/main" id="{03AA0414-818E-6F6B-1BE6-D96E6EE87D8B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="" xmlns:a16="http://schemas.microsoft.com/office/drawing/2014/main" id="{86CC9551-6E4F-358E-26ED-41D46B38457B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3508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20F404BC-1C10-75A1-B4B9-0F07ABD96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79B0E4F9-E85F-5499-E6C5-4B935396A4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6D63A1C2-4E07-2232-684D-8A7C66D92F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45891" y="1825624"/>
            <a:ext cx="6422062" cy="5032375"/>
          </a:xfrm>
        </p:spPr>
        <p:txBody>
          <a:bodyPr>
            <a:normAutofit/>
          </a:bodyPr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Rede do tipo sequência para sequência</a:t>
            </a:r>
          </a:p>
          <a:p>
            <a:r>
              <a:rPr lang="pt-BR" dirty="0"/>
              <a:t>Entrada e saída sincronizadas.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Comprimentos de entrada e saída são iguais.</a:t>
            </a:r>
          </a:p>
          <a:p>
            <a:r>
              <a:rPr lang="pt-BR" dirty="0"/>
              <a:t>Exemplos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vídeo em nível de quadro.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Contagem de tráfego: 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Entrada: Imagem de carros em um semáforo.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Saída: quantos carros na imagem.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4995F72F-2BD9-38FB-B83A-AB47646799CC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="" xmlns:a16="http://schemas.microsoft.com/office/drawing/2014/main" id="{4A8E543B-2A6C-76EE-A90B-AF59A3BC4B35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="" xmlns:a16="http://schemas.microsoft.com/office/drawing/2014/main" id="{D9813126-B789-1A77-F6A1-7A11925203A8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="" xmlns:a16="http://schemas.microsoft.com/office/drawing/2014/main" id="{150A4A27-B2A2-9AEE-E4C4-3E3FD4C84292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50A4A27-B2A2-9AEE-E4C4-3E3FD4C842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558C9C3B-60A4-C64D-B49B-1B1C9E194593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="" xmlns:a16="http://schemas.microsoft.com/office/drawing/2014/main" id="{7676B9C2-12DC-9ABF-3BAF-AC571AACC871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="" xmlns:a16="http://schemas.microsoft.com/office/drawing/2014/main" id="{46A19DB0-6685-2AD8-373E-D2F68ECAF744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="" xmlns:a16="http://schemas.microsoft.com/office/drawing/2014/main" id="{E1E13E0C-1119-C2C4-FCB5-4819B3CCF11B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="" xmlns:a16="http://schemas.microsoft.com/office/drawing/2014/main" id="{6AE3F7AB-D78A-57A0-6D37-1952662B3091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="" xmlns:a16="http://schemas.microsoft.com/office/drawing/2014/main" id="{8A6FCE55-45B7-948C-5BF5-B5109D06298E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A6FCE55-45B7-948C-5BF5-B5109D0629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="" xmlns:a16="http://schemas.microsoft.com/office/drawing/2014/main" id="{628D5E02-FAD3-DE67-0AFB-5246C0981DBF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="" xmlns:a16="http://schemas.microsoft.com/office/drawing/2014/main" id="{360B5F50-7612-CF7D-5752-6D6B29496A45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0B5F50-7612-CF7D-5752-6D6B29496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="" xmlns:a16="http://schemas.microsoft.com/office/drawing/2014/main" id="{134BE841-89F2-A2C4-C9B5-D0DB8124B0D6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="" xmlns:a16="http://schemas.microsoft.com/office/drawing/2014/main" id="{93135856-AF84-67C1-10D1-525E750AED6A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="" xmlns:a16="http://schemas.microsoft.com/office/drawing/2014/main" id="{EA502664-2B02-D8DD-2049-E6242569B361}"/>
              </a:ext>
            </a:extLst>
          </p:cNvPr>
          <p:cNvSpPr/>
          <p:nvPr/>
        </p:nvSpPr>
        <p:spPr>
          <a:xfrm>
            <a:off x="1974998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="" xmlns:a16="http://schemas.microsoft.com/office/drawing/2014/main" id="{8A70192F-4EE8-A08F-E106-F257ECAA7DA0}"/>
              </a:ext>
            </a:extLst>
          </p:cNvPr>
          <p:cNvCxnSpPr>
            <a:endCxn id="8" idx="2"/>
          </p:cNvCxnSpPr>
          <p:nvPr/>
        </p:nvCxnSpPr>
        <p:spPr>
          <a:xfrm flipV="1">
            <a:off x="2171700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="" xmlns:a16="http://schemas.microsoft.com/office/drawing/2014/main" id="{A02AA77B-A4A9-98E6-A431-1FF627F50371}"/>
                  </a:ext>
                </a:extLst>
              </p:cNvPr>
              <p:cNvSpPr txBox="1"/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02AA77B-A4A9-98E6-A431-1FF627F503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="" xmlns:a16="http://schemas.microsoft.com/office/drawing/2014/main" id="{A69FB649-89CE-B9B7-1DA9-70653D12A0EB}"/>
              </a:ext>
            </a:extLst>
          </p:cNvPr>
          <p:cNvSpPr/>
          <p:nvPr/>
        </p:nvSpPr>
        <p:spPr>
          <a:xfrm>
            <a:off x="2765350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="" xmlns:a16="http://schemas.microsoft.com/office/drawing/2014/main" id="{0535F41B-B1EC-9A7E-FDFC-47DBBCE4E7BC}"/>
              </a:ext>
            </a:extLst>
          </p:cNvPr>
          <p:cNvSpPr/>
          <p:nvPr/>
        </p:nvSpPr>
        <p:spPr>
          <a:xfrm>
            <a:off x="355038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="" xmlns:a16="http://schemas.microsoft.com/office/drawing/2014/main" id="{323C9920-DB11-694B-4711-8E46CF485FF0}"/>
                  </a:ext>
                </a:extLst>
              </p:cNvPr>
              <p:cNvSpPr txBox="1"/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23C9920-DB11-694B-4711-8E46CF485F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="" xmlns:a16="http://schemas.microsoft.com/office/drawing/2014/main" id="{A1E7D38B-069D-1161-9EB1-AE548F7B17FD}"/>
                  </a:ext>
                </a:extLst>
              </p:cNvPr>
              <p:cNvSpPr txBox="1"/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1E7D38B-069D-1161-9EB1-AE548F7B17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blipFill>
                <a:blip r:embed="rId8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="" xmlns:a16="http://schemas.microsoft.com/office/drawing/2014/main" id="{6E3989D9-DC44-B559-A01E-848ADB238AD5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2962053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="" xmlns:a16="http://schemas.microsoft.com/office/drawing/2014/main" id="{374BD4A0-F2CD-47D6-7C05-F5BABD485877}"/>
              </a:ext>
            </a:extLst>
          </p:cNvPr>
          <p:cNvCxnSpPr>
            <a:endCxn id="16" idx="2"/>
          </p:cNvCxnSpPr>
          <p:nvPr/>
        </p:nvCxnSpPr>
        <p:spPr>
          <a:xfrm flipV="1">
            <a:off x="3747091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026594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E4341BD3-0D3E-6DEB-5946-3B872D362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039BF0EC-97E2-611C-7E0B-006D6C50A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824A5087-1F81-BC00-EC85-E49ADC7954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45890" y="1825624"/>
            <a:ext cx="6458123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Exemplos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Etiquetagem gramatical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noProof="0" dirty="0"/>
              <a:t>Entrada: sequência de palavras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noProof="0" dirty="0"/>
              <a:t>Saída: classe gramatical de cada palavra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Previsão de séries temporais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noProof="0" dirty="0"/>
              <a:t>Entrada: dados de consumo diário de energia de uma residência ao longo dos últimos N dias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noProof="0" dirty="0"/>
              <a:t>Saída: consumo de energia deslocado de um dia no futuro (i.e., N-1 dias atrás até amanhã)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546D22A6-623A-3A53-AB0D-AA63A915A314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="" xmlns:a16="http://schemas.microsoft.com/office/drawing/2014/main" id="{0F04D59B-D01A-C064-63E3-A934C9B06E64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="" xmlns:a16="http://schemas.microsoft.com/office/drawing/2014/main" id="{6BAF60DC-5533-F7AF-10EF-97B4A0D9742E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="" xmlns:a16="http://schemas.microsoft.com/office/drawing/2014/main" id="{0D787C19-D55D-062A-8993-9F3BDE7D0CFB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50A4A27-B2A2-9AEE-E4C4-3E3FD4C842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81C8F54F-37AE-0851-1255-2C402C7B9A81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="" xmlns:a16="http://schemas.microsoft.com/office/drawing/2014/main" id="{979428AF-F5F3-DC4C-AA34-E7A63E46722C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="" xmlns:a16="http://schemas.microsoft.com/office/drawing/2014/main" id="{BA203DD1-2CF6-1DDE-B1DD-496D64170841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="" xmlns:a16="http://schemas.microsoft.com/office/drawing/2014/main" id="{A87BCE60-0271-DC90-5527-BBE682A671E4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="" xmlns:a16="http://schemas.microsoft.com/office/drawing/2014/main" id="{2CB26EE5-E8FC-BE89-CFE3-EE2202917209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="" xmlns:a16="http://schemas.microsoft.com/office/drawing/2014/main" id="{2D6684CC-F798-C72E-26E9-9CDEF2479856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A6FCE55-45B7-948C-5BF5-B5109D0629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="" xmlns:a16="http://schemas.microsoft.com/office/drawing/2014/main" id="{3DE7201E-33CE-0959-D2D5-B7C43895F5F5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="" xmlns:a16="http://schemas.microsoft.com/office/drawing/2014/main" id="{D2559753-208A-D5E7-C823-02D1917A440C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0B5F50-7612-CF7D-5752-6D6B29496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="" xmlns:a16="http://schemas.microsoft.com/office/drawing/2014/main" id="{6316211B-1712-8829-AEA6-C2DF1665B708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="" xmlns:a16="http://schemas.microsoft.com/office/drawing/2014/main" id="{D7052F20-B3D8-1A26-9511-8F6498789785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="" xmlns:a16="http://schemas.microsoft.com/office/drawing/2014/main" id="{2A036A00-5879-D13D-1FF2-C1F2CD766239}"/>
              </a:ext>
            </a:extLst>
          </p:cNvPr>
          <p:cNvSpPr/>
          <p:nvPr/>
        </p:nvSpPr>
        <p:spPr>
          <a:xfrm>
            <a:off x="1974998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="" xmlns:a16="http://schemas.microsoft.com/office/drawing/2014/main" id="{D8602EFC-88D4-F298-D3BA-798BF3C78A47}"/>
              </a:ext>
            </a:extLst>
          </p:cNvPr>
          <p:cNvCxnSpPr>
            <a:endCxn id="8" idx="2"/>
          </p:cNvCxnSpPr>
          <p:nvPr/>
        </p:nvCxnSpPr>
        <p:spPr>
          <a:xfrm flipV="1">
            <a:off x="2171700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="" xmlns:a16="http://schemas.microsoft.com/office/drawing/2014/main" id="{52965A74-FDA5-49EC-7C7D-F5D921B6BC0B}"/>
                  </a:ext>
                </a:extLst>
              </p:cNvPr>
              <p:cNvSpPr txBox="1"/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02AA77B-A4A9-98E6-A431-1FF627F503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="" xmlns:a16="http://schemas.microsoft.com/office/drawing/2014/main" id="{D3366F43-9817-FE8F-AB7E-1BEC1A59BE1B}"/>
              </a:ext>
            </a:extLst>
          </p:cNvPr>
          <p:cNvSpPr/>
          <p:nvPr/>
        </p:nvSpPr>
        <p:spPr>
          <a:xfrm>
            <a:off x="2765350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="" xmlns:a16="http://schemas.microsoft.com/office/drawing/2014/main" id="{0399464E-DF61-887E-96F5-F2503641F4AE}"/>
              </a:ext>
            </a:extLst>
          </p:cNvPr>
          <p:cNvSpPr/>
          <p:nvPr/>
        </p:nvSpPr>
        <p:spPr>
          <a:xfrm>
            <a:off x="355038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="" xmlns:a16="http://schemas.microsoft.com/office/drawing/2014/main" id="{E5C6F255-66BF-8187-D7FE-3DBC6B1AAAFF}"/>
                  </a:ext>
                </a:extLst>
              </p:cNvPr>
              <p:cNvSpPr txBox="1"/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23C9920-DB11-694B-4711-8E46CF485F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="" xmlns:a16="http://schemas.microsoft.com/office/drawing/2014/main" id="{87457A1D-6101-F8F4-7D24-8AB84781E22C}"/>
                  </a:ext>
                </a:extLst>
              </p:cNvPr>
              <p:cNvSpPr txBox="1"/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1E7D38B-069D-1161-9EB1-AE548F7B17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blipFill>
                <a:blip r:embed="rId8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="" xmlns:a16="http://schemas.microsoft.com/office/drawing/2014/main" id="{216B3E8F-47DC-A048-59E4-A18211C53B53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2962053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="" xmlns:a16="http://schemas.microsoft.com/office/drawing/2014/main" id="{76EAC032-39F4-1ED8-9E80-E4721885453B}"/>
              </a:ext>
            </a:extLst>
          </p:cNvPr>
          <p:cNvCxnSpPr>
            <a:endCxn id="16" idx="2"/>
          </p:cNvCxnSpPr>
          <p:nvPr/>
        </p:nvCxnSpPr>
        <p:spPr>
          <a:xfrm flipV="1">
            <a:off x="3747091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959413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492F80CB-9E3E-541A-008D-49B810D2E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7693B55B-5A45-B168-45F1-33C226DBC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assíncrono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9CC483E7-E17F-0BD3-09E3-C6956FD7A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43637" y="1825624"/>
            <a:ext cx="6248363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Rede do tipo </a:t>
            </a:r>
            <a:r>
              <a:rPr lang="pt-BR" i="1" dirty="0" err="1"/>
              <a:t>encoder</a:t>
            </a:r>
            <a:r>
              <a:rPr lang="pt-BR" dirty="0"/>
              <a:t>/</a:t>
            </a:r>
            <a:r>
              <a:rPr lang="pt-BR" i="1" dirty="0" err="1"/>
              <a:t>decoder</a:t>
            </a:r>
            <a:r>
              <a:rPr lang="pt-BR" dirty="0"/>
              <a:t>.</a:t>
            </a:r>
          </a:p>
          <a:p>
            <a:r>
              <a:rPr lang="pt-BR" dirty="0"/>
              <a:t>Entrada e saída não são sincronizadas.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Comprimentos de entrada e saída não são necessariamente iguais.</a:t>
            </a:r>
          </a:p>
          <a:p>
            <a:r>
              <a:rPr lang="pt-BR" dirty="0"/>
              <a:t>Exemplo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Tradução automática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sequência de palavras em uma língua.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sequência de palavras em outra língua.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 err="1"/>
              <a:t>chatbots</a:t>
            </a:r>
            <a:endParaRPr lang="pt-BR" dirty="0"/>
          </a:p>
        </p:txBody>
      </p:sp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798C9BC5-15E8-FB86-A2FF-03CF2C96CB13}"/>
              </a:ext>
            </a:extLst>
          </p:cNvPr>
          <p:cNvSpPr/>
          <p:nvPr/>
        </p:nvSpPr>
        <p:spPr>
          <a:xfrm>
            <a:off x="1857517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63577D96-6FE7-F60B-ED7E-0CE5B6852522}"/>
              </a:ext>
            </a:extLst>
          </p:cNvPr>
          <p:cNvSpPr/>
          <p:nvPr/>
        </p:nvSpPr>
        <p:spPr>
          <a:xfrm>
            <a:off x="2647871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="" xmlns:a16="http://schemas.microsoft.com/office/drawing/2014/main" id="{C8E04DD1-F3A6-5114-B79F-4BC65F8FEA96}"/>
              </a:ext>
            </a:extLst>
          </p:cNvPr>
          <p:cNvSpPr/>
          <p:nvPr/>
        </p:nvSpPr>
        <p:spPr>
          <a:xfrm>
            <a:off x="3432908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="" xmlns:a16="http://schemas.microsoft.com/office/drawing/2014/main" id="{544DBCE3-F503-E62D-06A2-1F1E871B411F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250922" y="3971261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="" xmlns:a16="http://schemas.microsoft.com/office/drawing/2014/main" id="{96DD0089-EB3B-2E96-D1AD-99C175C43B5D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041276" y="397126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="" xmlns:a16="http://schemas.microsoft.com/office/drawing/2014/main" id="{8EBFA63A-7A7F-C301-161E-58CB3778B150}"/>
              </a:ext>
            </a:extLst>
          </p:cNvPr>
          <p:cNvSpPr/>
          <p:nvPr/>
        </p:nvSpPr>
        <p:spPr>
          <a:xfrm>
            <a:off x="4217946" y="1871053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="" xmlns:a16="http://schemas.microsoft.com/office/drawing/2014/main" id="{C88EB1AD-6975-BCC1-C82D-8CF2AB176F0A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4414648" y="2955574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="" xmlns:a16="http://schemas.microsoft.com/office/drawing/2014/main" id="{9C6940C0-6ABE-A439-AED8-8F3DA6633B44}"/>
                  </a:ext>
                </a:extLst>
              </p:cNvPr>
              <p:cNvSpPr txBox="1"/>
              <p:nvPr/>
            </p:nvSpPr>
            <p:spPr>
              <a:xfrm>
                <a:off x="4217944" y="222277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C6940C0-6ABE-A439-AED8-8F3DA6633B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7944" y="2222779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="" xmlns:a16="http://schemas.microsoft.com/office/drawing/2014/main" id="{A6970E72-E9CD-203F-5D6D-CD2520CE5E69}"/>
              </a:ext>
            </a:extLst>
          </p:cNvPr>
          <p:cNvSpPr/>
          <p:nvPr/>
        </p:nvSpPr>
        <p:spPr>
          <a:xfrm>
            <a:off x="2634579" y="1876923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="" xmlns:a16="http://schemas.microsoft.com/office/drawing/2014/main" id="{DFFB94F9-963A-CC29-C51E-098A134A1737}"/>
              </a:ext>
            </a:extLst>
          </p:cNvPr>
          <p:cNvSpPr/>
          <p:nvPr/>
        </p:nvSpPr>
        <p:spPr>
          <a:xfrm>
            <a:off x="3419617" y="1871054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="" xmlns:a16="http://schemas.microsoft.com/office/drawing/2014/main" id="{C270900E-2C0E-C040-BAF6-1BBA1B85CAE2}"/>
                  </a:ext>
                </a:extLst>
              </p:cNvPr>
              <p:cNvSpPr txBox="1"/>
              <p:nvPr/>
            </p:nvSpPr>
            <p:spPr>
              <a:xfrm>
                <a:off x="2629264" y="222864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270900E-2C0E-C040-BAF6-1BBA1B85CA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9264" y="2228649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="" xmlns:a16="http://schemas.microsoft.com/office/drawing/2014/main" id="{53791838-1266-112F-718E-55D7F92583EF}"/>
                  </a:ext>
                </a:extLst>
              </p:cNvPr>
              <p:cNvSpPr txBox="1"/>
              <p:nvPr/>
            </p:nvSpPr>
            <p:spPr>
              <a:xfrm>
                <a:off x="3419616" y="222864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3791838-1266-112F-718E-55D7F92583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9616" y="2228649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="" xmlns:a16="http://schemas.microsoft.com/office/drawing/2014/main" id="{085B9A2E-6534-2437-D967-5DF1514BF9F3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2831282" y="2961444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="" xmlns:a16="http://schemas.microsoft.com/office/drawing/2014/main" id="{2668834C-FD74-F5C2-962C-47E7E949C549}"/>
              </a:ext>
            </a:extLst>
          </p:cNvPr>
          <p:cNvCxnSpPr>
            <a:endCxn id="16" idx="2"/>
          </p:cNvCxnSpPr>
          <p:nvPr/>
        </p:nvCxnSpPr>
        <p:spPr>
          <a:xfrm flipV="1">
            <a:off x="3616320" y="2955575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="" xmlns:a16="http://schemas.microsoft.com/office/drawing/2014/main" id="{F078DBB0-1AC8-EAEA-D2B3-81EBA1BC73AB}"/>
              </a:ext>
            </a:extLst>
          </p:cNvPr>
          <p:cNvSpPr/>
          <p:nvPr/>
        </p:nvSpPr>
        <p:spPr>
          <a:xfrm>
            <a:off x="268836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="" xmlns:a16="http://schemas.microsoft.com/office/drawing/2014/main" id="{7B7F1159-D526-3036-9F30-22158503DAFC}"/>
              </a:ext>
            </a:extLst>
          </p:cNvPr>
          <p:cNvSpPr/>
          <p:nvPr/>
        </p:nvSpPr>
        <p:spPr>
          <a:xfrm>
            <a:off x="1059190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="" xmlns:a16="http://schemas.microsoft.com/office/drawing/2014/main" id="{1E7B0A6F-5745-009B-E429-C10DA86AAFB2}"/>
              </a:ext>
            </a:extLst>
          </p:cNvPr>
          <p:cNvCxnSpPr>
            <a:stCxn id="4" idx="3"/>
            <a:endCxn id="15" idx="1"/>
          </p:cNvCxnSpPr>
          <p:nvPr/>
        </p:nvCxnSpPr>
        <p:spPr>
          <a:xfrm>
            <a:off x="662241" y="3971261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="" xmlns:a16="http://schemas.microsoft.com/office/drawing/2014/main" id="{102BBC63-2BC0-6A02-4BFE-A72CD982FBB0}"/>
              </a:ext>
            </a:extLst>
          </p:cNvPr>
          <p:cNvCxnSpPr>
            <a:stCxn id="15" idx="3"/>
          </p:cNvCxnSpPr>
          <p:nvPr/>
        </p:nvCxnSpPr>
        <p:spPr>
          <a:xfrm>
            <a:off x="1452595" y="397126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="" xmlns:a16="http://schemas.microsoft.com/office/drawing/2014/main" id="{5D3FFC8E-6BAF-6DF7-526E-C081A5A48F93}"/>
              </a:ext>
            </a:extLst>
          </p:cNvPr>
          <p:cNvSpPr/>
          <p:nvPr/>
        </p:nvSpPr>
        <p:spPr>
          <a:xfrm>
            <a:off x="264847" y="4995807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="" xmlns:a16="http://schemas.microsoft.com/office/drawing/2014/main" id="{1401AD97-C582-4298-BF25-40AEF15257C9}"/>
              </a:ext>
            </a:extLst>
          </p:cNvPr>
          <p:cNvCxnSpPr>
            <a:cxnSpLocks/>
            <a:stCxn id="31" idx="0"/>
            <a:endCxn id="4" idx="2"/>
          </p:cNvCxnSpPr>
          <p:nvPr/>
        </p:nvCxnSpPr>
        <p:spPr>
          <a:xfrm flipV="1">
            <a:off x="461550" y="4513521"/>
            <a:ext cx="3989" cy="4822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="" xmlns:a16="http://schemas.microsoft.com/office/drawing/2014/main" id="{0ECCB039-D660-E729-AA13-2E270370247F}"/>
                  </a:ext>
                </a:extLst>
              </p:cNvPr>
              <p:cNvSpPr txBox="1"/>
              <p:nvPr/>
            </p:nvSpPr>
            <p:spPr>
              <a:xfrm>
                <a:off x="295415" y="533867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ECCB039-D660-E729-AA13-2E2703702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415" y="533867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ectangle 33">
            <a:extLst>
              <a:ext uri="{FF2B5EF4-FFF2-40B4-BE49-F238E27FC236}">
                <a16:creationId xmlns="" xmlns:a16="http://schemas.microsoft.com/office/drawing/2014/main" id="{61795796-1CB2-CAB5-F67E-063C07C2A635}"/>
              </a:ext>
            </a:extLst>
          </p:cNvPr>
          <p:cNvSpPr/>
          <p:nvPr/>
        </p:nvSpPr>
        <p:spPr>
          <a:xfrm>
            <a:off x="1059190" y="5025933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="" xmlns:a16="http://schemas.microsoft.com/office/drawing/2014/main" id="{FC51BB95-2E57-AE1B-0448-EEF63C3319E4}"/>
                  </a:ext>
                </a:extLst>
              </p:cNvPr>
              <p:cNvSpPr txBox="1"/>
              <p:nvPr/>
            </p:nvSpPr>
            <p:spPr>
              <a:xfrm>
                <a:off x="1085770" y="5344540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C51BB95-2E57-AE1B-0448-EEF63C3319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5770" y="5344540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Rectangle 35">
            <a:extLst>
              <a:ext uri="{FF2B5EF4-FFF2-40B4-BE49-F238E27FC236}">
                <a16:creationId xmlns="" xmlns:a16="http://schemas.microsoft.com/office/drawing/2014/main" id="{C5443291-1F22-B419-C44A-99E58D94E756}"/>
              </a:ext>
            </a:extLst>
          </p:cNvPr>
          <p:cNvSpPr/>
          <p:nvPr/>
        </p:nvSpPr>
        <p:spPr>
          <a:xfrm>
            <a:off x="1857516" y="4986946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="" xmlns:a16="http://schemas.microsoft.com/office/drawing/2014/main" id="{94029703-0659-3912-FB5F-EE18C24BD3C7}"/>
                  </a:ext>
                </a:extLst>
              </p:cNvPr>
              <p:cNvSpPr txBox="1"/>
              <p:nvPr/>
            </p:nvSpPr>
            <p:spPr>
              <a:xfrm>
                <a:off x="1857516" y="5344540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4029703-0659-3912-FB5F-EE18C24BD3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7516" y="5344540"/>
                <a:ext cx="393406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" name="Straight Arrow Connector 37">
            <a:extLst>
              <a:ext uri="{FF2B5EF4-FFF2-40B4-BE49-F238E27FC236}">
                <a16:creationId xmlns="" xmlns:a16="http://schemas.microsoft.com/office/drawing/2014/main" id="{049CB08D-F5AA-E52C-D64E-AC29F0A74978}"/>
              </a:ext>
            </a:extLst>
          </p:cNvPr>
          <p:cNvCxnSpPr>
            <a:cxnSpLocks/>
            <a:stCxn id="34" idx="0"/>
            <a:endCxn id="15" idx="2"/>
          </p:cNvCxnSpPr>
          <p:nvPr/>
        </p:nvCxnSpPr>
        <p:spPr>
          <a:xfrm flipV="1">
            <a:off x="1255893" y="4513521"/>
            <a:ext cx="0" cy="5124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="" xmlns:a16="http://schemas.microsoft.com/office/drawing/2014/main" id="{8D3C2576-5153-3012-FA03-0337C7695948}"/>
              </a:ext>
            </a:extLst>
          </p:cNvPr>
          <p:cNvCxnSpPr>
            <a:cxnSpLocks/>
            <a:stCxn id="36" idx="0"/>
            <a:endCxn id="5" idx="2"/>
          </p:cNvCxnSpPr>
          <p:nvPr/>
        </p:nvCxnSpPr>
        <p:spPr>
          <a:xfrm flipV="1">
            <a:off x="2054219" y="4513521"/>
            <a:ext cx="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Rectangle 9">
            <a:extLst>
              <a:ext uri="{FF2B5EF4-FFF2-40B4-BE49-F238E27FC236}">
                <a16:creationId xmlns="" xmlns:a16="http://schemas.microsoft.com/office/drawing/2014/main" id="{26BA397E-5740-263D-B08B-906451E582EA}"/>
              </a:ext>
            </a:extLst>
          </p:cNvPr>
          <p:cNvSpPr/>
          <p:nvPr/>
        </p:nvSpPr>
        <p:spPr>
          <a:xfrm>
            <a:off x="4216969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20">
            <a:extLst>
              <a:ext uri="{FF2B5EF4-FFF2-40B4-BE49-F238E27FC236}">
                <a16:creationId xmlns="" xmlns:a16="http://schemas.microsoft.com/office/drawing/2014/main" id="{C43B1F7D-195A-9A30-C98A-8808DEDB70A1}"/>
              </a:ext>
            </a:extLst>
          </p:cNvPr>
          <p:cNvCxnSpPr>
            <a:endCxn id="6" idx="1"/>
          </p:cNvCxnSpPr>
          <p:nvPr/>
        </p:nvCxnSpPr>
        <p:spPr>
          <a:xfrm>
            <a:off x="3825337" y="397126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Rectangle 7">
            <a:extLst>
              <a:ext uri="{FF2B5EF4-FFF2-40B4-BE49-F238E27FC236}">
                <a16:creationId xmlns="" xmlns:a16="http://schemas.microsoft.com/office/drawing/2014/main" id="{5367D5C5-083B-1D09-F4AB-A3D1E257E22D}"/>
              </a:ext>
            </a:extLst>
          </p:cNvPr>
          <p:cNvSpPr/>
          <p:nvPr/>
        </p:nvSpPr>
        <p:spPr>
          <a:xfrm>
            <a:off x="5013526" y="1865183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Arrow Connector 10">
            <a:extLst>
              <a:ext uri="{FF2B5EF4-FFF2-40B4-BE49-F238E27FC236}">
                <a16:creationId xmlns="" xmlns:a16="http://schemas.microsoft.com/office/drawing/2014/main" id="{885B04B9-C592-171E-A0A1-B25B746EACB5}"/>
              </a:ext>
            </a:extLst>
          </p:cNvPr>
          <p:cNvCxnSpPr>
            <a:cxnSpLocks/>
            <a:endCxn id="14" idx="2"/>
          </p:cNvCxnSpPr>
          <p:nvPr/>
        </p:nvCxnSpPr>
        <p:spPr>
          <a:xfrm flipV="1">
            <a:off x="5210228" y="2949704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1">
                <a:extLst>
                  <a:ext uri="{FF2B5EF4-FFF2-40B4-BE49-F238E27FC236}">
                    <a16:creationId xmlns="" xmlns:a16="http://schemas.microsoft.com/office/drawing/2014/main" id="{180B069D-B5EE-8B0D-ED92-AF0BA5BBA75C}"/>
                  </a:ext>
                </a:extLst>
              </p:cNvPr>
              <p:cNvSpPr txBox="1"/>
              <p:nvPr/>
            </p:nvSpPr>
            <p:spPr>
              <a:xfrm>
                <a:off x="5013524" y="221690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1">
                <a:extLst>
                  <a:ext uri="{FF2B5EF4-FFF2-40B4-BE49-F238E27FC236}">
                    <a16:creationId xmlns:a16="http://schemas.microsoft.com/office/drawing/2014/main" id="{180B069D-B5EE-8B0D-ED92-AF0BA5BBA7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3524" y="2216909"/>
                <a:ext cx="393406" cy="369332"/>
              </a:xfrm>
              <a:prstGeom prst="rect">
                <a:avLst/>
              </a:prstGeom>
              <a:blipFill>
                <a:blip r:embed="rId9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9">
            <a:extLst>
              <a:ext uri="{FF2B5EF4-FFF2-40B4-BE49-F238E27FC236}">
                <a16:creationId xmlns="" xmlns:a16="http://schemas.microsoft.com/office/drawing/2014/main" id="{E10C2FC0-915E-3754-CB58-210B42F3F1CC}"/>
              </a:ext>
            </a:extLst>
          </p:cNvPr>
          <p:cNvSpPr/>
          <p:nvPr/>
        </p:nvSpPr>
        <p:spPr>
          <a:xfrm>
            <a:off x="5012549" y="342313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Straight Arrow Connector 20">
            <a:extLst>
              <a:ext uri="{FF2B5EF4-FFF2-40B4-BE49-F238E27FC236}">
                <a16:creationId xmlns="" xmlns:a16="http://schemas.microsoft.com/office/drawing/2014/main" id="{BF33D4D8-000A-D268-E3D6-DBE55534455E}"/>
              </a:ext>
            </a:extLst>
          </p:cNvPr>
          <p:cNvCxnSpPr>
            <a:endCxn id="22" idx="1"/>
          </p:cNvCxnSpPr>
          <p:nvPr/>
        </p:nvCxnSpPr>
        <p:spPr>
          <a:xfrm>
            <a:off x="4620917" y="396539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Retângulo 25">
            <a:extLst>
              <a:ext uri="{FF2B5EF4-FFF2-40B4-BE49-F238E27FC236}">
                <a16:creationId xmlns="" xmlns:a16="http://schemas.microsoft.com/office/drawing/2014/main" id="{D7B5CC2B-59F2-0721-6F7F-1F194BA7EDF4}"/>
              </a:ext>
            </a:extLst>
          </p:cNvPr>
          <p:cNvSpPr/>
          <p:nvPr/>
        </p:nvSpPr>
        <p:spPr>
          <a:xfrm>
            <a:off x="120378" y="3305301"/>
            <a:ext cx="2219329" cy="2916389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CaixaDeTexto 28">
            <a:extLst>
              <a:ext uri="{FF2B5EF4-FFF2-40B4-BE49-F238E27FC236}">
                <a16:creationId xmlns="" xmlns:a16="http://schemas.microsoft.com/office/drawing/2014/main" id="{CDD4DB52-5878-5675-CF1D-C88AD8295959}"/>
              </a:ext>
            </a:extLst>
          </p:cNvPr>
          <p:cNvSpPr txBox="1"/>
          <p:nvPr/>
        </p:nvSpPr>
        <p:spPr>
          <a:xfrm>
            <a:off x="688821" y="6195027"/>
            <a:ext cx="9569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encoder</a:t>
            </a:r>
            <a:endParaRPr lang="en-US" dirty="0"/>
          </a:p>
        </p:txBody>
      </p:sp>
      <p:sp>
        <p:nvSpPr>
          <p:cNvPr id="40" name="Retângulo 39">
            <a:extLst>
              <a:ext uri="{FF2B5EF4-FFF2-40B4-BE49-F238E27FC236}">
                <a16:creationId xmlns="" xmlns:a16="http://schemas.microsoft.com/office/drawing/2014/main" id="{7F7DEE5D-466F-66F4-91E6-234AF002DE61}"/>
              </a:ext>
            </a:extLst>
          </p:cNvPr>
          <p:cNvSpPr/>
          <p:nvPr/>
        </p:nvSpPr>
        <p:spPr>
          <a:xfrm>
            <a:off x="2464880" y="1734092"/>
            <a:ext cx="3112355" cy="2916389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CaixaDeTexto 40">
            <a:extLst>
              <a:ext uri="{FF2B5EF4-FFF2-40B4-BE49-F238E27FC236}">
                <a16:creationId xmlns="" xmlns:a16="http://schemas.microsoft.com/office/drawing/2014/main" id="{534B0A90-B886-D96D-37BA-01A7E49780CA}"/>
              </a:ext>
            </a:extLst>
          </p:cNvPr>
          <p:cNvSpPr txBox="1"/>
          <p:nvPr/>
        </p:nvSpPr>
        <p:spPr>
          <a:xfrm>
            <a:off x="3542560" y="4632875"/>
            <a:ext cx="9569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decoder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811313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rnn.ipynb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=""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=""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=""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=""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=""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=""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405788333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>
                <a:hlinkClick r:id="rId3"/>
              </a:rPr>
              <a:t>Lista #11 - RNN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7217039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9C8F1BEC-82EA-8E7D-59D1-DE7E34F44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="" xmlns:a16="http://schemas.microsoft.com/office/drawing/2014/main" id="{C86FB9B7-731C-2994-71E3-590F6E30894D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61963078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="" xmlns:a16="http://schemas.microsoft.com/office/drawing/2014/main" id="{388A46A3-09D1-BF84-46BF-5DD0CFCB54BB}"/>
              </a:ext>
            </a:extLst>
          </p:cNvPr>
          <p:cNvGrpSpPr/>
          <p:nvPr/>
        </p:nvGrpSpPr>
        <p:grpSpPr>
          <a:xfrm>
            <a:off x="3630565" y="1067128"/>
            <a:ext cx="2259869" cy="4507363"/>
            <a:chOff x="3630565" y="1067128"/>
            <a:chExt cx="2259869" cy="4507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="" xmlns:a16="http://schemas.microsoft.com/office/drawing/2014/main" id="{6023DD78-A989-E94C-DAE1-B296D3C4E21C}"/>
                    </a:ext>
                  </a:extLst>
                </p:cNvPr>
                <p:cNvSpPr/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="" xmlns:a16="http://schemas.microsoft.com/office/drawing/2014/main" id="{3D42FE05-5457-F925-05EF-0E3701418F8C}"/>
                    </a:ext>
                  </a:extLst>
                </p:cNvPr>
                <p:cNvSpPr/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="" xmlns:a16="http://schemas.microsoft.com/office/drawing/2014/main" id="{28D2664B-9505-156A-4753-DDE3DEC9FD22}"/>
                    </a:ext>
                  </a:extLst>
                </p:cNvPr>
                <p:cNvSpPr/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>
              <a:extLst>
                <a:ext uri="{FF2B5EF4-FFF2-40B4-BE49-F238E27FC236}">
                  <a16:creationId xmlns="" xmlns:a16="http://schemas.microsoft.com/office/drawing/2014/main" id="{BAAA4727-42FC-D852-70A3-FE7D6EFC060F}"/>
                </a:ext>
              </a:extLst>
            </p:cNvPr>
            <p:cNvSpPr/>
            <p:nvPr/>
          </p:nvSpPr>
          <p:spPr>
            <a:xfrm>
              <a:off x="3672040" y="106712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="" xmlns:a16="http://schemas.microsoft.com/office/drawing/2014/main" id="{4F0F4DCF-1128-7141-872A-5150C966E5B4}"/>
                </a:ext>
              </a:extLst>
            </p:cNvPr>
            <p:cNvSpPr/>
            <p:nvPr/>
          </p:nvSpPr>
          <p:spPr>
            <a:xfrm>
              <a:off x="3672040" y="3216065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="" xmlns:a16="http://schemas.microsoft.com/office/drawing/2014/main" id="{9B044B29-E334-B283-ECE9-172FFEED329B}"/>
                </a:ext>
              </a:extLst>
            </p:cNvPr>
            <p:cNvSpPr/>
            <p:nvPr/>
          </p:nvSpPr>
          <p:spPr>
            <a:xfrm>
              <a:off x="3672040" y="514249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="" xmlns:a16="http://schemas.microsoft.com/office/drawing/2014/main" id="{312629E1-FE97-AB15-90EC-002877C4697A}"/>
                    </a:ext>
                  </a:extLst>
                </p:cNvPr>
                <p:cNvSpPr/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="" xmlns:a16="http://schemas.microsoft.com/office/drawing/2014/main" id="{CA3B853E-0B5B-6325-4CC5-A2C4E5EE4A2A}"/>
                    </a:ext>
                  </a:extLst>
                </p:cNvPr>
                <p:cNvSpPr/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CA3B853E-0B5B-6325-4CC5-A2C4E5EE4A2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="" xmlns:a16="http://schemas.microsoft.com/office/drawing/2014/main" id="{43F79C63-8A97-3798-0A1A-3B97F54CBEDF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3884268" y="494654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="" xmlns:a16="http://schemas.microsoft.com/office/drawing/2014/main" id="{1DE13DB6-EB3A-33B1-B9CD-0D058C9C2D69}"/>
                </a:ext>
              </a:extLst>
            </p:cNvPr>
            <p:cNvCxnSpPr/>
            <p:nvPr/>
          </p:nvCxnSpPr>
          <p:spPr>
            <a:xfrm flipH="1" flipV="1">
              <a:off x="3888040" y="428260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="" xmlns:a16="http://schemas.microsoft.com/office/drawing/2014/main" id="{E68AB800-6BC7-A115-99F7-7F9B7DBA3E4F}"/>
                </a:ext>
              </a:extLst>
            </p:cNvPr>
            <p:cNvCxnSpPr/>
            <p:nvPr/>
          </p:nvCxnSpPr>
          <p:spPr>
            <a:xfrm flipH="1" flipV="1">
              <a:off x="3884268" y="3654662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="" xmlns:a16="http://schemas.microsoft.com/office/drawing/2014/main" id="{19812C75-10B2-9725-A4FB-608050339CDD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3888040" y="2178993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="" xmlns:a16="http://schemas.microsoft.com/office/drawing/2014/main" id="{245F456D-9193-75AC-AD0C-F0AEF65F581F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4714062" y="2745444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="" xmlns:a16="http://schemas.microsoft.com/office/drawing/2014/main" id="{D7679F52-FF4E-A676-77F3-69261169E611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3900740" y="274544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="" xmlns:a16="http://schemas.microsoft.com/office/drawing/2014/main" id="{48139367-BD98-8B0F-B273-9E6711E213AE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4297659" y="3464902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="" xmlns:a16="http://schemas.microsoft.com/office/drawing/2014/main" id="{F8353AC8-4824-D852-D532-76B054942D98}"/>
                </a:ext>
              </a:extLst>
            </p:cNvPr>
            <p:cNvCxnSpPr/>
            <p:nvPr/>
          </p:nvCxnSpPr>
          <p:spPr>
            <a:xfrm flipH="1" flipV="1">
              <a:off x="3890883" y="150845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="" xmlns:a16="http://schemas.microsoft.com/office/drawing/2014/main" id="{03C120BA-79E8-ADD5-3D67-6C901D8D1494}"/>
                    </a:ext>
                  </a:extLst>
                </p:cNvPr>
                <p:cNvSpPr txBox="1"/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158" t="-6667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="" xmlns:a16="http://schemas.microsoft.com/office/drawing/2014/main" id="{B9898A35-5D27-3AFD-DCEC-B3870EE9A20C}"/>
                    </a:ext>
                  </a:extLst>
                </p:cNvPr>
                <p:cNvSpPr txBox="1"/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="" xmlns:a16="http://schemas.microsoft.com/office/drawing/2014/main" id="{2EAF4EBF-06B1-79A7-1B72-595DB550A38F}"/>
                    </a:ext>
                  </a:extLst>
                </p:cNvPr>
                <p:cNvSpPr txBox="1"/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4211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="" xmlns:a16="http://schemas.microsoft.com/office/drawing/2014/main" id="{EF8E314D-D94B-E03E-107A-3344F9B3AAC5}"/>
                    </a:ext>
                  </a:extLst>
                </p:cNvPr>
                <p:cNvSpPr txBox="1"/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2484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940114278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56BDBFA4-777B-82AF-1A9B-F48A28DB9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="" xmlns:a16="http://schemas.microsoft.com/office/drawing/2014/main" id="{382B2D82-0D27-C941-539F-498F105E3DA0}"/>
              </a:ext>
            </a:extLst>
          </p:cNvPr>
          <p:cNvGrpSpPr/>
          <p:nvPr/>
        </p:nvGrpSpPr>
        <p:grpSpPr>
          <a:xfrm>
            <a:off x="3630565" y="1067128"/>
            <a:ext cx="2259869" cy="4507363"/>
            <a:chOff x="3630565" y="1067128"/>
            <a:chExt cx="2259869" cy="4507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="" xmlns:a16="http://schemas.microsoft.com/office/drawing/2014/main" id="{DF055540-C990-1A9A-9C94-41EB929A64A7}"/>
                    </a:ext>
                  </a:extLst>
                </p:cNvPr>
                <p:cNvSpPr/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="" xmlns:a16="http://schemas.microsoft.com/office/drawing/2014/main" id="{042FA5CD-9CE3-87BD-4B6D-3A2AA78339A7}"/>
                    </a:ext>
                  </a:extLst>
                </p:cNvPr>
                <p:cNvSpPr/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="" xmlns:a16="http://schemas.microsoft.com/office/drawing/2014/main" id="{2F14954C-7EC0-B9F4-6F9E-53AC300DD5FF}"/>
                    </a:ext>
                  </a:extLst>
                </p:cNvPr>
                <p:cNvSpPr/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>
              <a:extLst>
                <a:ext uri="{FF2B5EF4-FFF2-40B4-BE49-F238E27FC236}">
                  <a16:creationId xmlns="" xmlns:a16="http://schemas.microsoft.com/office/drawing/2014/main" id="{7DA2C43F-1B49-FEC7-FAE7-A0ACA4D4234B}"/>
                </a:ext>
              </a:extLst>
            </p:cNvPr>
            <p:cNvSpPr/>
            <p:nvPr/>
          </p:nvSpPr>
          <p:spPr>
            <a:xfrm>
              <a:off x="3672040" y="106712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="" xmlns:a16="http://schemas.microsoft.com/office/drawing/2014/main" id="{2029031C-EE39-DC4A-38B6-6AB3AA7D2240}"/>
                </a:ext>
              </a:extLst>
            </p:cNvPr>
            <p:cNvSpPr/>
            <p:nvPr/>
          </p:nvSpPr>
          <p:spPr>
            <a:xfrm>
              <a:off x="3672040" y="3216065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="" xmlns:a16="http://schemas.microsoft.com/office/drawing/2014/main" id="{9C4F7EB3-D0C6-9F8D-7706-7CD68BAC8D89}"/>
                </a:ext>
              </a:extLst>
            </p:cNvPr>
            <p:cNvSpPr/>
            <p:nvPr/>
          </p:nvSpPr>
          <p:spPr>
            <a:xfrm>
              <a:off x="3672040" y="514249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="" xmlns:a16="http://schemas.microsoft.com/office/drawing/2014/main" id="{D5082C2A-8327-CEDD-4900-C2D931D47946}"/>
                    </a:ext>
                  </a:extLst>
                </p:cNvPr>
                <p:cNvSpPr/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="" xmlns:a16="http://schemas.microsoft.com/office/drawing/2014/main" id="{802244E2-BFC4-2AD6-2773-81CB8869D482}"/>
                    </a:ext>
                  </a:extLst>
                </p:cNvPr>
                <p:cNvSpPr/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802244E2-BFC4-2AD6-2773-81CB8869D48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="" xmlns:a16="http://schemas.microsoft.com/office/drawing/2014/main" id="{4A43B19B-1AF9-B52D-782E-9684B3C10C01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3884268" y="494654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="" xmlns:a16="http://schemas.microsoft.com/office/drawing/2014/main" id="{CFEE0C87-5541-88B8-CF13-7700BB245BE2}"/>
                </a:ext>
              </a:extLst>
            </p:cNvPr>
            <p:cNvCxnSpPr/>
            <p:nvPr/>
          </p:nvCxnSpPr>
          <p:spPr>
            <a:xfrm flipH="1" flipV="1">
              <a:off x="3888040" y="428260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="" xmlns:a16="http://schemas.microsoft.com/office/drawing/2014/main" id="{A3B9126E-856B-A481-2BDC-2BCDB3E8C46B}"/>
                </a:ext>
              </a:extLst>
            </p:cNvPr>
            <p:cNvCxnSpPr/>
            <p:nvPr/>
          </p:nvCxnSpPr>
          <p:spPr>
            <a:xfrm flipH="1" flipV="1">
              <a:off x="3884268" y="3654662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="" xmlns:a16="http://schemas.microsoft.com/office/drawing/2014/main" id="{4B365E45-03C9-2E0C-E041-90FBE73656A7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3888040" y="2178993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="" xmlns:a16="http://schemas.microsoft.com/office/drawing/2014/main" id="{0F1A1930-40E8-C197-F80E-372AB039654C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4714062" y="2745444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="" xmlns:a16="http://schemas.microsoft.com/office/drawing/2014/main" id="{A68586CC-B615-4023-89FD-BE8617ECB8DA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3900740" y="274544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="" xmlns:a16="http://schemas.microsoft.com/office/drawing/2014/main" id="{D1722F0A-10F9-92E8-89F5-5A6C1427DC3A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4297659" y="3464902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="" xmlns:a16="http://schemas.microsoft.com/office/drawing/2014/main" id="{65341A0C-7341-971A-6542-8F7BD907C5F2}"/>
                </a:ext>
              </a:extLst>
            </p:cNvPr>
            <p:cNvCxnSpPr/>
            <p:nvPr/>
          </p:nvCxnSpPr>
          <p:spPr>
            <a:xfrm flipH="1" flipV="1">
              <a:off x="3890883" y="150845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="" xmlns:a16="http://schemas.microsoft.com/office/drawing/2014/main" id="{1479DF22-88BC-7AF2-D47B-E7EDAA7CB1FB}"/>
                    </a:ext>
                  </a:extLst>
                </p:cNvPr>
                <p:cNvSpPr txBox="1"/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158" t="-6667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="" xmlns:a16="http://schemas.microsoft.com/office/drawing/2014/main" id="{29FB4D8B-3A52-D2C4-EB21-AFAB1BD12521}"/>
                    </a:ext>
                  </a:extLst>
                </p:cNvPr>
                <p:cNvSpPr txBox="1"/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="" xmlns:a16="http://schemas.microsoft.com/office/drawing/2014/main" id="{DE891D50-0373-CCDA-A4D1-7C229656E91C}"/>
                    </a:ext>
                  </a:extLst>
                </p:cNvPr>
                <p:cNvSpPr txBox="1"/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4211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="" xmlns:a16="http://schemas.microsoft.com/office/drawing/2014/main" id="{45D6AF3B-B78D-5F77-466B-A91F78E4DCA6}"/>
                    </a:ext>
                  </a:extLst>
                </p:cNvPr>
                <p:cNvSpPr txBox="1"/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2484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0" name="Agrupar 49">
            <a:extLst>
              <a:ext uri="{FF2B5EF4-FFF2-40B4-BE49-F238E27FC236}">
                <a16:creationId xmlns="" xmlns:a16="http://schemas.microsoft.com/office/drawing/2014/main" id="{68106E7F-C424-D8F9-32BD-AB1D97C0EBF4}"/>
              </a:ext>
            </a:extLst>
          </p:cNvPr>
          <p:cNvGrpSpPr/>
          <p:nvPr/>
        </p:nvGrpSpPr>
        <p:grpSpPr>
          <a:xfrm>
            <a:off x="7876500" y="320782"/>
            <a:ext cx="2259869" cy="5225594"/>
            <a:chOff x="7876500" y="320782"/>
            <a:chExt cx="2259869" cy="522559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Rectangle 4">
                  <a:extLst>
                    <a:ext uri="{FF2B5EF4-FFF2-40B4-BE49-F238E27FC236}">
                      <a16:creationId xmlns="" xmlns:a16="http://schemas.microsoft.com/office/drawing/2014/main" id="{76A85B48-7380-2CCD-FF64-7ADAA61C49CD}"/>
                    </a:ext>
                  </a:extLst>
                </p:cNvPr>
                <p:cNvSpPr/>
                <p:nvPr/>
              </p:nvSpPr>
              <p:spPr>
                <a:xfrm>
                  <a:off x="7902735" y="1601766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" name="Rectangle 4">
                  <a:extLst>
                    <a:ext uri="{FF2B5EF4-FFF2-40B4-BE49-F238E27FC236}">
                      <a16:creationId xmlns:a16="http://schemas.microsoft.com/office/drawing/2014/main" id="{76A85B48-7380-2CCD-FF64-7ADAA61C49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02735" y="1601766"/>
                  <a:ext cx="468000" cy="477825"/>
                </a:xfrm>
                <a:prstGeom prst="rect">
                  <a:avLst/>
                </a:prstGeom>
                <a:blipFill>
                  <a:blip r:embed="rId11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Rectangle 5">
                  <a:extLst>
                    <a:ext uri="{FF2B5EF4-FFF2-40B4-BE49-F238E27FC236}">
                      <a16:creationId xmlns="" xmlns:a16="http://schemas.microsoft.com/office/drawing/2014/main" id="{381AC555-FEB7-CFA8-583A-EFB748428BC7}"/>
                    </a:ext>
                  </a:extLst>
                </p:cNvPr>
                <p:cNvSpPr/>
                <p:nvPr/>
              </p:nvSpPr>
              <p:spPr>
                <a:xfrm>
                  <a:off x="7896203" y="4427424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Rectangle 5">
                  <a:extLst>
                    <a:ext uri="{FF2B5EF4-FFF2-40B4-BE49-F238E27FC236}">
                      <a16:creationId xmlns:a16="http://schemas.microsoft.com/office/drawing/2014/main" id="{381AC555-FEB7-CFA8-583A-EFB748428BC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6203" y="4427424"/>
                  <a:ext cx="468000" cy="477825"/>
                </a:xfrm>
                <a:prstGeom prst="rect">
                  <a:avLst/>
                </a:prstGeom>
                <a:blipFill>
                  <a:blip r:embed="rId12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Rectangle 6">
                  <a:extLst>
                    <a:ext uri="{FF2B5EF4-FFF2-40B4-BE49-F238E27FC236}">
                      <a16:creationId xmlns="" xmlns:a16="http://schemas.microsoft.com/office/drawing/2014/main" id="{81A71E86-23EC-43BE-4CDC-F69180FEC82F}"/>
                    </a:ext>
                  </a:extLst>
                </p:cNvPr>
                <p:cNvSpPr/>
                <p:nvPr/>
              </p:nvSpPr>
              <p:spPr>
                <a:xfrm>
                  <a:off x="8911297" y="3120058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Rectangle 6">
                  <a:extLst>
                    <a:ext uri="{FF2B5EF4-FFF2-40B4-BE49-F238E27FC236}">
                      <a16:creationId xmlns:a16="http://schemas.microsoft.com/office/drawing/2014/main" id="{81A71E86-23EC-43BE-4CDC-F69180FEC8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11297" y="3120058"/>
                  <a:ext cx="468000" cy="477825"/>
                </a:xfrm>
                <a:prstGeom prst="rect">
                  <a:avLst/>
                </a:prstGeom>
                <a:blipFill>
                  <a:blip r:embed="rId13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" name="Oval 7">
              <a:extLst>
                <a:ext uri="{FF2B5EF4-FFF2-40B4-BE49-F238E27FC236}">
                  <a16:creationId xmlns="" xmlns:a16="http://schemas.microsoft.com/office/drawing/2014/main" id="{CA988B7A-1B0B-82F5-9415-E8E6402D7314}"/>
                </a:ext>
              </a:extLst>
            </p:cNvPr>
            <p:cNvSpPr/>
            <p:nvPr/>
          </p:nvSpPr>
          <p:spPr>
            <a:xfrm>
              <a:off x="7925595" y="320782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28" name="Oval 8">
              <a:extLst>
                <a:ext uri="{FF2B5EF4-FFF2-40B4-BE49-F238E27FC236}">
                  <a16:creationId xmlns="" xmlns:a16="http://schemas.microsoft.com/office/drawing/2014/main" id="{AAE1E49D-9B08-0B79-5467-F9E05E71413E}"/>
                </a:ext>
              </a:extLst>
            </p:cNvPr>
            <p:cNvSpPr/>
            <p:nvPr/>
          </p:nvSpPr>
          <p:spPr>
            <a:xfrm>
              <a:off x="7917975" y="3138436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9" name="Oval 9">
              <a:extLst>
                <a:ext uri="{FF2B5EF4-FFF2-40B4-BE49-F238E27FC236}">
                  <a16:creationId xmlns="" xmlns:a16="http://schemas.microsoft.com/office/drawing/2014/main" id="{B8BE4B74-3C6A-2E82-FCA0-6556493DD525}"/>
                </a:ext>
              </a:extLst>
            </p:cNvPr>
            <p:cNvSpPr/>
            <p:nvPr/>
          </p:nvSpPr>
          <p:spPr>
            <a:xfrm>
              <a:off x="7917975" y="5105306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Diamond 10">
                  <a:extLst>
                    <a:ext uri="{FF2B5EF4-FFF2-40B4-BE49-F238E27FC236}">
                      <a16:creationId xmlns="" xmlns:a16="http://schemas.microsoft.com/office/drawing/2014/main" id="{C3D54E13-140B-5E52-0B82-E85F5AEF036A}"/>
                    </a:ext>
                  </a:extLst>
                </p:cNvPr>
                <p:cNvSpPr/>
                <p:nvPr/>
              </p:nvSpPr>
              <p:spPr>
                <a:xfrm>
                  <a:off x="8413479" y="2419022"/>
                  <a:ext cx="546518" cy="477825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0" name="Diamond 10">
                  <a:extLst>
                    <a:ext uri="{FF2B5EF4-FFF2-40B4-BE49-F238E27FC236}">
                      <a16:creationId xmlns:a16="http://schemas.microsoft.com/office/drawing/2014/main" id="{C3D54E13-140B-5E52-0B82-E85F5AEF036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13479" y="2419022"/>
                  <a:ext cx="546518" cy="477825"/>
                </a:xfrm>
                <a:prstGeom prst="diamond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val 11">
                  <a:extLst>
                    <a:ext uri="{FF2B5EF4-FFF2-40B4-BE49-F238E27FC236}">
                      <a16:creationId xmlns="" xmlns:a16="http://schemas.microsoft.com/office/drawing/2014/main" id="{3A515DFD-2273-43CA-BC90-55C35DE12AE2}"/>
                    </a:ext>
                  </a:extLst>
                </p:cNvPr>
                <p:cNvSpPr/>
                <p:nvPr/>
              </p:nvSpPr>
              <p:spPr>
                <a:xfrm>
                  <a:off x="7910431" y="3786298"/>
                  <a:ext cx="432000" cy="44107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1" name="Oval 11">
                  <a:extLst>
                    <a:ext uri="{FF2B5EF4-FFF2-40B4-BE49-F238E27FC236}">
                      <a16:creationId xmlns:a16="http://schemas.microsoft.com/office/drawing/2014/main" id="{3A515DFD-2273-43CA-BC90-55C35DE12AE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0431" y="3786298"/>
                  <a:ext cx="432000" cy="441070"/>
                </a:xfrm>
                <a:prstGeom prst="ellipse">
                  <a:avLst/>
                </a:prstGeom>
                <a:blipFill>
                  <a:blip r:embed="rId15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12">
              <a:extLst>
                <a:ext uri="{FF2B5EF4-FFF2-40B4-BE49-F238E27FC236}">
                  <a16:creationId xmlns="" xmlns:a16="http://schemas.microsoft.com/office/drawing/2014/main" id="{4C7F79EF-BDDD-A3E9-801D-ECB66DFEA188}"/>
                </a:ext>
              </a:extLst>
            </p:cNvPr>
            <p:cNvCxnSpPr>
              <a:stCxn id="29" idx="0"/>
              <a:endCxn id="4" idx="2"/>
            </p:cNvCxnSpPr>
            <p:nvPr/>
          </p:nvCxnSpPr>
          <p:spPr>
            <a:xfrm flipH="1" flipV="1">
              <a:off x="8130203" y="4905250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13">
              <a:extLst>
                <a:ext uri="{FF2B5EF4-FFF2-40B4-BE49-F238E27FC236}">
                  <a16:creationId xmlns="" xmlns:a16="http://schemas.microsoft.com/office/drawing/2014/main" id="{B5CF0874-65C0-A04C-D46E-1D31438CA4BA}"/>
                </a:ext>
              </a:extLst>
            </p:cNvPr>
            <p:cNvCxnSpPr/>
            <p:nvPr/>
          </p:nvCxnSpPr>
          <p:spPr>
            <a:xfrm flipH="1" flipV="1">
              <a:off x="8133975" y="4227367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Straight Arrow Connector 14">
              <a:extLst>
                <a:ext uri="{FF2B5EF4-FFF2-40B4-BE49-F238E27FC236}">
                  <a16:creationId xmlns="" xmlns:a16="http://schemas.microsoft.com/office/drawing/2014/main" id="{B7FC0459-C9D3-5EC5-CA8E-F63D1801A265}"/>
                </a:ext>
              </a:extLst>
            </p:cNvPr>
            <p:cNvCxnSpPr/>
            <p:nvPr/>
          </p:nvCxnSpPr>
          <p:spPr>
            <a:xfrm flipH="1" flipV="1">
              <a:off x="8130203" y="3586241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Arrow Connector 15">
              <a:extLst>
                <a:ext uri="{FF2B5EF4-FFF2-40B4-BE49-F238E27FC236}">
                  <a16:creationId xmlns="" xmlns:a16="http://schemas.microsoft.com/office/drawing/2014/main" id="{62627B63-6154-491C-CEF1-B37C66D42BAF}"/>
                </a:ext>
              </a:extLst>
            </p:cNvPr>
            <p:cNvCxnSpPr>
              <a:stCxn id="28" idx="0"/>
              <a:endCxn id="3" idx="2"/>
            </p:cNvCxnSpPr>
            <p:nvPr/>
          </p:nvCxnSpPr>
          <p:spPr>
            <a:xfrm flipV="1">
              <a:off x="8133975" y="2079591"/>
              <a:ext cx="2760" cy="105884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Connector: Elbow 16">
              <a:extLst>
                <a:ext uri="{FF2B5EF4-FFF2-40B4-BE49-F238E27FC236}">
                  <a16:creationId xmlns="" xmlns:a16="http://schemas.microsoft.com/office/drawing/2014/main" id="{3519258D-B8C1-DE2B-9AB3-D478E3C893D8}"/>
                </a:ext>
              </a:extLst>
            </p:cNvPr>
            <p:cNvCxnSpPr>
              <a:stCxn id="30" idx="3"/>
              <a:endCxn id="21" idx="0"/>
            </p:cNvCxnSpPr>
            <p:nvPr/>
          </p:nvCxnSpPr>
          <p:spPr>
            <a:xfrm>
              <a:off x="8959997" y="2657934"/>
              <a:ext cx="185300" cy="462124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Connector 17">
              <a:extLst>
                <a:ext uri="{FF2B5EF4-FFF2-40B4-BE49-F238E27FC236}">
                  <a16:creationId xmlns="" xmlns:a16="http://schemas.microsoft.com/office/drawing/2014/main" id="{9079B4A8-8566-C8E3-FD26-1AD2E579A563}"/>
                </a:ext>
              </a:extLst>
            </p:cNvPr>
            <p:cNvCxnSpPr>
              <a:stCxn id="30" idx="1"/>
            </p:cNvCxnSpPr>
            <p:nvPr/>
          </p:nvCxnSpPr>
          <p:spPr>
            <a:xfrm flipH="1">
              <a:off x="8146675" y="265793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Connector: Elbow 18">
              <a:extLst>
                <a:ext uri="{FF2B5EF4-FFF2-40B4-BE49-F238E27FC236}">
                  <a16:creationId xmlns="" xmlns:a16="http://schemas.microsoft.com/office/drawing/2014/main" id="{FB5A9D70-A6BA-5543-5036-B306037D4314}"/>
                </a:ext>
              </a:extLst>
            </p:cNvPr>
            <p:cNvCxnSpPr>
              <a:cxnSpLocks/>
              <a:stCxn id="21" idx="2"/>
              <a:endCxn id="31" idx="6"/>
            </p:cNvCxnSpPr>
            <p:nvPr/>
          </p:nvCxnSpPr>
          <p:spPr>
            <a:xfrm rot="5400000">
              <a:off x="8539389" y="3400925"/>
              <a:ext cx="408949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Straight Arrow Connector 19">
              <a:extLst>
                <a:ext uri="{FF2B5EF4-FFF2-40B4-BE49-F238E27FC236}">
                  <a16:creationId xmlns="" xmlns:a16="http://schemas.microsoft.com/office/drawing/2014/main" id="{165E681B-13AF-F55B-80BE-0268B15154D6}"/>
                </a:ext>
              </a:extLst>
            </p:cNvPr>
            <p:cNvCxnSpPr>
              <a:cxnSpLocks/>
              <a:stCxn id="3" idx="0"/>
              <a:endCxn id="44" idx="4"/>
            </p:cNvCxnSpPr>
            <p:nvPr/>
          </p:nvCxnSpPr>
          <p:spPr>
            <a:xfrm flipV="1">
              <a:off x="8136735" y="1376596"/>
              <a:ext cx="3848" cy="22517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21">
                  <a:extLst>
                    <a:ext uri="{FF2B5EF4-FFF2-40B4-BE49-F238E27FC236}">
                      <a16:creationId xmlns="" xmlns:a16="http://schemas.microsoft.com/office/drawing/2014/main" id="{D1348BBD-068C-A363-3005-B1289B8D89CD}"/>
                    </a:ext>
                  </a:extLst>
                </p:cNvPr>
                <p:cNvSpPr txBox="1"/>
                <p:nvPr/>
              </p:nvSpPr>
              <p:spPr>
                <a:xfrm>
                  <a:off x="7895191" y="332534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0" name="TextBox 21">
                  <a:extLst>
                    <a:ext uri="{FF2B5EF4-FFF2-40B4-BE49-F238E27FC236}">
                      <a16:creationId xmlns:a16="http://schemas.microsoft.com/office/drawing/2014/main" id="{D1348BBD-068C-A363-3005-B1289B8D89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5191" y="332534"/>
                  <a:ext cx="578748" cy="377086"/>
                </a:xfrm>
                <a:prstGeom prst="rect">
                  <a:avLst/>
                </a:prstGeom>
                <a:blipFill>
                  <a:blip r:embed="rId16"/>
                  <a:stretch>
                    <a:fillRect l="-4211" t="-6557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22">
                  <a:extLst>
                    <a:ext uri="{FF2B5EF4-FFF2-40B4-BE49-F238E27FC236}">
                      <a16:creationId xmlns="" xmlns:a16="http://schemas.microsoft.com/office/drawing/2014/main" id="{61AF4ACA-82A7-38B5-1AA0-CF7EA98E07ED}"/>
                    </a:ext>
                  </a:extLst>
                </p:cNvPr>
                <p:cNvSpPr txBox="1"/>
                <p:nvPr/>
              </p:nvSpPr>
              <p:spPr>
                <a:xfrm>
                  <a:off x="7876500" y="5140585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1" name="TextBox 22">
                  <a:extLst>
                    <a:ext uri="{FF2B5EF4-FFF2-40B4-BE49-F238E27FC236}">
                      <a16:creationId xmlns:a16="http://schemas.microsoft.com/office/drawing/2014/main" id="{61AF4ACA-82A7-38B5-1AA0-CF7EA98E07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6500" y="5140585"/>
                  <a:ext cx="578748" cy="377086"/>
                </a:xfrm>
                <a:prstGeom prst="rect">
                  <a:avLst/>
                </a:prstGeom>
                <a:blipFill>
                  <a:blip r:embed="rId17"/>
                  <a:stretch>
                    <a:fillRect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23">
                  <a:extLst>
                    <a:ext uri="{FF2B5EF4-FFF2-40B4-BE49-F238E27FC236}">
                      <a16:creationId xmlns="" xmlns:a16="http://schemas.microsoft.com/office/drawing/2014/main" id="{566E3115-AE91-024B-A6A4-0767F86DE0D5}"/>
                    </a:ext>
                  </a:extLst>
                </p:cNvPr>
                <p:cNvSpPr txBox="1"/>
                <p:nvPr/>
              </p:nvSpPr>
              <p:spPr>
                <a:xfrm>
                  <a:off x="7880288" y="3159159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2" name="TextBox 23">
                  <a:extLst>
                    <a:ext uri="{FF2B5EF4-FFF2-40B4-BE49-F238E27FC236}">
                      <a16:creationId xmlns:a16="http://schemas.microsoft.com/office/drawing/2014/main" id="{566E3115-AE91-024B-A6A4-0767F86DE0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80288" y="3159159"/>
                  <a:ext cx="578748" cy="377086"/>
                </a:xfrm>
                <a:prstGeom prst="rect">
                  <a:avLst/>
                </a:prstGeom>
                <a:blipFill>
                  <a:blip r:embed="rId18"/>
                  <a:stretch>
                    <a:fillRect l="-4211"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24">
                  <a:extLst>
                    <a:ext uri="{FF2B5EF4-FFF2-40B4-BE49-F238E27FC236}">
                      <a16:creationId xmlns="" xmlns:a16="http://schemas.microsoft.com/office/drawing/2014/main" id="{9E370B18-E5BE-A9AC-F9B6-139BB6C7D877}"/>
                    </a:ext>
                  </a:extLst>
                </p:cNvPr>
                <p:cNvSpPr txBox="1"/>
                <p:nvPr/>
              </p:nvSpPr>
              <p:spPr>
                <a:xfrm>
                  <a:off x="9151676" y="2667884"/>
                  <a:ext cx="984693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3" name="TextBox 24">
                  <a:extLst>
                    <a:ext uri="{FF2B5EF4-FFF2-40B4-BE49-F238E27FC236}">
                      <a16:creationId xmlns:a16="http://schemas.microsoft.com/office/drawing/2014/main" id="{9E370B18-E5BE-A9AC-F9B6-139BB6C7D8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51676" y="2667884"/>
                  <a:ext cx="984693" cy="377086"/>
                </a:xfrm>
                <a:prstGeom prst="rect">
                  <a:avLst/>
                </a:prstGeom>
                <a:blipFill>
                  <a:blip r:embed="rId19"/>
                  <a:stretch>
                    <a:fillRect l="-2469"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Oval 11">
                  <a:extLst>
                    <a:ext uri="{FF2B5EF4-FFF2-40B4-BE49-F238E27FC236}">
                      <a16:creationId xmlns="" xmlns:a16="http://schemas.microsoft.com/office/drawing/2014/main" id="{7A4582A7-DB9A-8D9D-8E97-BCEC8C6FBEEA}"/>
                    </a:ext>
                  </a:extLst>
                </p:cNvPr>
                <p:cNvSpPr/>
                <p:nvPr/>
              </p:nvSpPr>
              <p:spPr>
                <a:xfrm>
                  <a:off x="7924583" y="935526"/>
                  <a:ext cx="432000" cy="44107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4" name="Oval 11">
                  <a:extLst>
                    <a:ext uri="{FF2B5EF4-FFF2-40B4-BE49-F238E27FC236}">
                      <a16:creationId xmlns:a16="http://schemas.microsoft.com/office/drawing/2014/main" id="{7A4582A7-DB9A-8D9D-8E97-BCEC8C6FBEE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4583" y="935526"/>
                  <a:ext cx="432000" cy="441070"/>
                </a:xfrm>
                <a:prstGeom prst="ellipse">
                  <a:avLst/>
                </a:prstGeom>
                <a:blipFill>
                  <a:blip r:embed="rId20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7" name="Straight Arrow Connector 19">
              <a:extLst>
                <a:ext uri="{FF2B5EF4-FFF2-40B4-BE49-F238E27FC236}">
                  <a16:creationId xmlns="" xmlns:a16="http://schemas.microsoft.com/office/drawing/2014/main" id="{08F3B26B-77C0-F7A6-9D1B-EFA91EC5706D}"/>
                </a:ext>
              </a:extLst>
            </p:cNvPr>
            <p:cNvCxnSpPr>
              <a:cxnSpLocks/>
              <a:stCxn id="44" idx="0"/>
              <a:endCxn id="27" idx="4"/>
            </p:cNvCxnSpPr>
            <p:nvPr/>
          </p:nvCxnSpPr>
          <p:spPr>
            <a:xfrm flipV="1">
              <a:off x="8140583" y="761852"/>
              <a:ext cx="1012" cy="17367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53955372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Group 65">
            <a:extLst>
              <a:ext uri="{FF2B5EF4-FFF2-40B4-BE49-F238E27FC236}">
                <a16:creationId xmlns="" xmlns:a16="http://schemas.microsoft.com/office/drawing/2014/main" id="{22ECFCAF-AE04-0921-2229-1CAFB376C6C4}"/>
              </a:ext>
            </a:extLst>
          </p:cNvPr>
          <p:cNvGrpSpPr/>
          <p:nvPr/>
        </p:nvGrpSpPr>
        <p:grpSpPr>
          <a:xfrm>
            <a:off x="776817" y="1394981"/>
            <a:ext cx="7495804" cy="4521741"/>
            <a:chOff x="776817" y="1394981"/>
            <a:chExt cx="7495804" cy="4521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="" xmlns:a16="http://schemas.microsoft.com/office/drawing/2014/main" id="{D50E87A4-4DE1-5096-E2D7-2696ABAE4BD9}"/>
                    </a:ext>
                  </a:extLst>
                </p:cNvPr>
                <p:cNvSpPr/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0E87A4-4DE1-5096-E2D7-2696ABAE4BD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="" xmlns:a16="http://schemas.microsoft.com/office/drawing/2014/main" id="{5A8CCC43-1D42-7F2F-E428-E85BBDA67D37}"/>
                    </a:ext>
                  </a:extLst>
                </p:cNvPr>
                <p:cNvSpPr/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5A8CCC43-1D42-7F2F-E428-E85BBDA67D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="" xmlns:a16="http://schemas.microsoft.com/office/drawing/2014/main" id="{60C4F936-CDC1-6A01-F955-FDED61DA084A}"/>
                    </a:ext>
                  </a:extLst>
                </p:cNvPr>
                <p:cNvSpPr/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60C4F936-CDC1-6A01-F955-FDED61DA084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Oval 7">
                  <a:extLst>
                    <a:ext uri="{FF2B5EF4-FFF2-40B4-BE49-F238E27FC236}">
                      <a16:creationId xmlns="" xmlns:a16="http://schemas.microsoft.com/office/drawing/2014/main" id="{410E7DC3-8E48-A5D7-D205-DC7611FFE8EE}"/>
                    </a:ext>
                  </a:extLst>
                </p:cNvPr>
                <p:cNvSpPr/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410E7DC3-8E48-A5D7-D205-DC7611FFE8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12500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Oval 8">
                  <a:extLst>
                    <a:ext uri="{FF2B5EF4-FFF2-40B4-BE49-F238E27FC236}">
                      <a16:creationId xmlns="" xmlns:a16="http://schemas.microsoft.com/office/drawing/2014/main" id="{967F25C8-3A9B-7637-C6F3-B9857C012763}"/>
                    </a:ext>
                  </a:extLst>
                </p:cNvPr>
                <p:cNvSpPr/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967F25C8-3A9B-7637-C6F3-B9857C01276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13889" r="-694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Oval 9">
                  <a:extLst>
                    <a:ext uri="{FF2B5EF4-FFF2-40B4-BE49-F238E27FC236}">
                      <a16:creationId xmlns="" xmlns:a16="http://schemas.microsoft.com/office/drawing/2014/main" id="{CC6B1917-7E5F-F008-0FC7-4FE6D71A2353}"/>
                    </a:ext>
                  </a:extLst>
                </p:cNvPr>
                <p:cNvSpPr/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CC6B1917-7E5F-F008-0FC7-4FE6D71A235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  <a:blipFill>
                  <a:blip r:embed="rId7"/>
                  <a:stretch>
                    <a:fillRect l="-6944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="" xmlns:a16="http://schemas.microsoft.com/office/drawing/2014/main" id="{60284885-263A-F227-A49B-F9CB80C834EB}"/>
                    </a:ext>
                  </a:extLst>
                </p:cNvPr>
                <p:cNvSpPr/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60284885-263A-F227-A49B-F9CB80C834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="" xmlns:a16="http://schemas.microsoft.com/office/drawing/2014/main" id="{079DA998-9F52-469B-DD25-D55FBEE92922}"/>
                    </a:ext>
                  </a:extLst>
                </p:cNvPr>
                <p:cNvSpPr/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79DA998-9F52-469B-DD25-D55FBEE929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5556" r="-2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="" xmlns:a16="http://schemas.microsoft.com/office/drawing/2014/main" id="{6E1ADF88-3F46-3F6C-D44A-25CFCFF58380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1010817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="" xmlns:a16="http://schemas.microsoft.com/office/drawing/2014/main" id="{4213198D-DC17-2470-5AB4-FBACBBC41374}"/>
                </a:ext>
              </a:extLst>
            </p:cNvPr>
            <p:cNvCxnSpPr/>
            <p:nvPr/>
          </p:nvCxnSpPr>
          <p:spPr>
            <a:xfrm flipH="1" flipV="1">
              <a:off x="1014589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="" xmlns:a16="http://schemas.microsoft.com/office/drawing/2014/main" id="{E2EEB733-16FD-5318-5CC4-8001B20FED06}"/>
                </a:ext>
              </a:extLst>
            </p:cNvPr>
            <p:cNvCxnSpPr/>
            <p:nvPr/>
          </p:nvCxnSpPr>
          <p:spPr>
            <a:xfrm flipH="1" flipV="1">
              <a:off x="1010817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="" xmlns:a16="http://schemas.microsoft.com/office/drawing/2014/main" id="{134D4DC2-A277-FD4E-40F5-DE2014B8CF64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1014589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="" xmlns:a16="http://schemas.microsoft.com/office/drawing/2014/main" id="{80866249-EC15-EB3A-E296-1474E5364721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1840611" y="3087675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="" xmlns:a16="http://schemas.microsoft.com/office/drawing/2014/main" id="{2DC952F7-2D10-9433-7DE4-21443557DCB2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1027289" y="3087675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="" xmlns:a16="http://schemas.microsoft.com/office/drawing/2014/main" id="{CA1FB7FE-64DA-AD96-0437-50FF891D4C76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1424208" y="3807133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="" xmlns:a16="http://schemas.microsoft.com/office/drawing/2014/main" id="{0D7B5B44-7EE7-8F6D-8655-20CC522D805D}"/>
                </a:ext>
              </a:extLst>
            </p:cNvPr>
            <p:cNvCxnSpPr/>
            <p:nvPr/>
          </p:nvCxnSpPr>
          <p:spPr>
            <a:xfrm flipH="1" flipV="1">
              <a:off x="1017432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="" xmlns:a16="http://schemas.microsoft.com/office/drawing/2014/main" id="{3F732168-587A-F518-C9A0-C396F786016E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3F732168-587A-F518-C9A0-C396F78601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="" xmlns:a16="http://schemas.microsoft.com/office/drawing/2014/main" id="{DF8C03E3-8716-2E6D-369B-AC1813574A57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8C03E3-8716-2E6D-369B-AC1813574A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="" xmlns:a16="http://schemas.microsoft.com/office/drawing/2014/main" id="{E2D972F1-922C-BE5B-4DE2-1F83A9F164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2D972F1-922C-BE5B-4DE2-1F83A9F164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="" xmlns:a16="http://schemas.microsoft.com/office/drawing/2014/main" id="{AD295B7E-C267-873F-E0E0-6F754810CBE3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="" xmlns:a16="http://schemas.microsoft.com/office/drawing/2014/main" id="{48BC489B-02C6-E486-E972-34A1CF1476C7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="" xmlns:a16="http://schemas.microsoft.com/office/drawing/2014/main" id="{22F39AD1-94B7-7A64-F11A-A209AC4FBCED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val 28">
                  <a:extLst>
                    <a:ext uri="{FF2B5EF4-FFF2-40B4-BE49-F238E27FC236}">
                      <a16:creationId xmlns="" xmlns:a16="http://schemas.microsoft.com/office/drawing/2014/main" id="{9ADE25A5-BE1D-ABA0-A628-A6BB52EC7BCB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9ADE25A5-BE1D-ABA0-A628-A6BB52EC7BC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13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="" xmlns:a16="http://schemas.microsoft.com/office/drawing/2014/main" id="{A265BF78-156E-E80F-64A8-219A58A58CD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="" xmlns:a16="http://schemas.microsoft.com/office/drawing/2014/main" id="{DBAA1E31-4ACF-4A4A-4878-2FDC1544D4AC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="" xmlns:a16="http://schemas.microsoft.com/office/drawing/2014/main" id="{556BC459-E07F-8B38-40B7-C40DE6F65CCC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="" xmlns:a16="http://schemas.microsoft.com/office/drawing/2014/main" id="{C1BDF5E7-1B84-C21C-89E8-5BBB07E38580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="" xmlns:a16="http://schemas.microsoft.com/office/drawing/2014/main" id="{8712AE4D-2FE9-5832-6870-304083EF637F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="" xmlns:a16="http://schemas.microsoft.com/office/drawing/2014/main" id="{2B4E3A99-2587-3850-4484-D40AF1A376B3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="" xmlns:a16="http://schemas.microsoft.com/office/drawing/2014/main" id="{5EE8A078-E420-65CE-F198-2ACDE8F319E7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="" xmlns:a16="http://schemas.microsoft.com/office/drawing/2014/main" id="{B64B2562-9B66-F9DC-AC17-84E794F0C2A4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B64B2562-9B66-F9DC-AC17-84E794F0C2A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1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="" xmlns:a16="http://schemas.microsoft.com/office/drawing/2014/main" id="{C935B77A-2A90-8654-7AA4-487ED72D18B7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C935B77A-2A90-8654-7AA4-487ED72D18B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15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="" xmlns:a16="http://schemas.microsoft.com/office/drawing/2014/main" id="{CD41D7EC-FEBE-0970-5028-78102734AEDB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D41D7EC-FEBE-0970-5028-78102734AED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16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="" xmlns:a16="http://schemas.microsoft.com/office/drawing/2014/main" id="{08C12D3D-1458-CB06-00FF-813305E88984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="" xmlns:a16="http://schemas.microsoft.com/office/drawing/2014/main" id="{2AC7B9B4-2A7C-64AA-026F-7DB52BAED14B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="" xmlns:a16="http://schemas.microsoft.com/office/drawing/2014/main" id="{033A37FD-3D2D-1C32-A21B-3476BA69473A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="" xmlns:a16="http://schemas.microsoft.com/office/drawing/2014/main" id="{39CDF73B-805C-E8B7-7546-C55D8F1C08F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39CDF73B-805C-E8B7-7546-C55D8F1C08F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17"/>
                  <a:stretch>
                    <a:fillRect l="-1389" r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="" xmlns:a16="http://schemas.microsoft.com/office/drawing/2014/main" id="{D03D73B0-F40C-EA41-E76B-E7EB0E170398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="" xmlns:a16="http://schemas.microsoft.com/office/drawing/2014/main" id="{001566B3-ACB2-0F70-F410-8B26149B92AA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="" xmlns:a16="http://schemas.microsoft.com/office/drawing/2014/main" id="{A2E71A66-C086-B192-CBF8-A6ADCDE67B96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="" xmlns:a16="http://schemas.microsoft.com/office/drawing/2014/main" id="{44DBF132-C67B-43B1-8396-02C753C33482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="" xmlns:a16="http://schemas.microsoft.com/office/drawing/2014/main" id="{06DC19FF-C6CB-E2FF-D08F-2EED992C1F16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="" xmlns:a16="http://schemas.microsoft.com/office/drawing/2014/main" id="{81526F28-5C26-E6E7-DB90-96E6E4383D7E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="" xmlns:a16="http://schemas.microsoft.com/office/drawing/2014/main" id="{47D4ECCA-1B5E-7F2C-A9FC-B18B5CB0BADE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 67">
                  <a:extLst>
                    <a:ext uri="{FF2B5EF4-FFF2-40B4-BE49-F238E27FC236}">
                      <a16:creationId xmlns="" xmlns:a16="http://schemas.microsoft.com/office/drawing/2014/main" id="{6F8EB797-5698-E042-FF57-E65BBC096EB6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6F8EB797-5698-E042-FF57-E65BBC096E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8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="" xmlns:a16="http://schemas.microsoft.com/office/drawing/2014/main" id="{41D8D43E-E48E-C188-72E9-121AEB1D37C4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1D8D43E-E48E-C188-72E9-121AEB1D37C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9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="" xmlns:a16="http://schemas.microsoft.com/office/drawing/2014/main" id="{473AF7E6-4193-2A83-11DB-56A80EAC8C6E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473AF7E6-4193-2A83-11DB-56A80EAC8C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2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="" xmlns:a16="http://schemas.microsoft.com/office/drawing/2014/main" id="{4CE11F32-F73C-593D-2BB1-23924A5693E0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="" xmlns:a16="http://schemas.microsoft.com/office/drawing/2014/main" id="{795687D3-C897-50E8-7FD2-2C5BAA88152E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="" xmlns:a16="http://schemas.microsoft.com/office/drawing/2014/main" id="{62CE4D63-E952-565F-A041-5FE4F250C5CE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Oval 73">
                  <a:extLst>
                    <a:ext uri="{FF2B5EF4-FFF2-40B4-BE49-F238E27FC236}">
                      <a16:creationId xmlns="" xmlns:a16="http://schemas.microsoft.com/office/drawing/2014/main" id="{86EEAEB3-B546-95C8-F54D-9562C3C46A5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86EEAEB3-B546-95C8-F54D-9562C3C46A5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21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="" xmlns:a16="http://schemas.microsoft.com/office/drawing/2014/main" id="{3080287C-8306-9C65-7A6F-2D218C99C919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="" xmlns:a16="http://schemas.microsoft.com/office/drawing/2014/main" id="{554A301A-E6EA-C46C-78E5-5942556E42DF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="" xmlns:a16="http://schemas.microsoft.com/office/drawing/2014/main" id="{F1FBB8CC-7B58-3828-8D59-845FC6145CD3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="" xmlns:a16="http://schemas.microsoft.com/office/drawing/2014/main" id="{112EE4C8-C51C-8DBB-3C89-672F8D8D53B5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="" xmlns:a16="http://schemas.microsoft.com/office/drawing/2014/main" id="{CBB9CBD8-9F5B-3611-67FF-D958304DF83A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="" xmlns:a16="http://schemas.microsoft.com/office/drawing/2014/main" id="{729D2BFC-99F1-AA14-B4EB-0843932843B9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="" xmlns:a16="http://schemas.microsoft.com/office/drawing/2014/main" id="{45188B31-976F-6366-AAD8-A63C479F343F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="" xmlns:a16="http://schemas.microsoft.com/office/drawing/2014/main" id="{693E3011-495E-7E76-8871-F30E1F5C8088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6" name="Arrow: Right 85">
              <a:extLst>
                <a:ext uri="{FF2B5EF4-FFF2-40B4-BE49-F238E27FC236}">
                  <a16:creationId xmlns="" xmlns:a16="http://schemas.microsoft.com/office/drawing/2014/main" id="{19912397-A908-9D98-7A8E-1257E21D0881}"/>
                </a:ext>
              </a:extLst>
            </p:cNvPr>
            <p:cNvSpPr/>
            <p:nvPr/>
          </p:nvSpPr>
          <p:spPr>
            <a:xfrm>
              <a:off x="2672771" y="3651918"/>
              <a:ext cx="447018" cy="216000"/>
            </a:xfrm>
            <a:prstGeom prst="rightArrow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TextBox 86">
              <a:extLst>
                <a:ext uri="{FF2B5EF4-FFF2-40B4-BE49-F238E27FC236}">
                  <a16:creationId xmlns="" xmlns:a16="http://schemas.microsoft.com/office/drawing/2014/main" id="{7038FDD0-F92D-0792-1189-9D15218C870B}"/>
                </a:ext>
              </a:extLst>
            </p:cNvPr>
            <p:cNvSpPr txBox="1"/>
            <p:nvPr/>
          </p:nvSpPr>
          <p:spPr>
            <a:xfrm>
              <a:off x="2259911" y="3843004"/>
              <a:ext cx="121806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desenrolando</a:t>
              </a:r>
              <a:endParaRPr lang="en-US" sz="14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="" xmlns:a16="http://schemas.microsoft.com/office/drawing/2014/main" id="{377E887F-EDBB-0313-5CE7-0FFA5FC4E09D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77E887F-EDBB-0313-5CE7-0FFA5FC4E0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2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="" xmlns:a16="http://schemas.microsoft.com/office/drawing/2014/main" id="{E4EC7983-6440-106E-40A4-B9271A9AD72F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4EC7983-6440-106E-40A4-B9271A9AD7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23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="" xmlns:a16="http://schemas.microsoft.com/office/drawing/2014/main" id="{DD5EA899-4635-3E2A-C4DF-7472C47377E5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D5EA899-4635-3E2A-C4DF-7472C47377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24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="" xmlns:a16="http://schemas.microsoft.com/office/drawing/2014/main" id="{4F88E0E9-05F4-B69C-9592-D8DDF331EB10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4F88E0E9-05F4-B69C-9592-D8DDF331EB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25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="" xmlns:a16="http://schemas.microsoft.com/office/drawing/2014/main" id="{86F263A7-30BD-E91C-D8BD-5BF37E71E050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6F263A7-30BD-E91C-D8BD-5BF37E71E0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26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="" xmlns:a16="http://schemas.microsoft.com/office/drawing/2014/main" id="{EEA3AB4B-4256-3B9E-5840-580E6B1EDB73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EA3AB4B-4256-3B9E-5840-580E6B1EDB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2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="" xmlns:a16="http://schemas.microsoft.com/office/drawing/2014/main" id="{DB33A7FE-46D7-DEBB-AF6F-0E2BF6B23F69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B33A7FE-46D7-DEBB-AF6F-0E2BF6B23F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2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="" xmlns:a16="http://schemas.microsoft.com/office/drawing/2014/main" id="{EF26E3FE-6209-F4AA-637B-22DC9834FEA1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F26E3FE-6209-F4AA-637B-22DC9834FE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9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="" xmlns:a16="http://schemas.microsoft.com/office/drawing/2014/main" id="{C00EA537-BE98-DE0B-50F5-FFC11DA371D0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C00EA537-BE98-DE0B-50F5-FFC11DA37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3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742077524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65FD3EB3-5EBF-59B6-185F-3A0830768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="" xmlns:a16="http://schemas.microsoft.com/office/drawing/2014/main" id="{CE6F6907-3D96-B227-166E-896DA60436B6}"/>
              </a:ext>
            </a:extLst>
          </p:cNvPr>
          <p:cNvGrpSpPr/>
          <p:nvPr/>
        </p:nvGrpSpPr>
        <p:grpSpPr>
          <a:xfrm>
            <a:off x="3458971" y="1394981"/>
            <a:ext cx="4813650" cy="4521741"/>
            <a:chOff x="3458971" y="1394981"/>
            <a:chExt cx="4813650" cy="4521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="" xmlns:a16="http://schemas.microsoft.com/office/drawing/2014/main" id="{9037E731-6093-52C9-FF64-477D5D5902E5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037E731-6093-52C9-FF64-477D5D5902E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="" xmlns:a16="http://schemas.microsoft.com/office/drawing/2014/main" id="{DF0C5B7A-BCE3-F052-50EC-9B88A67812E2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0C5B7A-BCE3-F052-50EC-9B88A67812E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="" xmlns:a16="http://schemas.microsoft.com/office/drawing/2014/main" id="{58741BD0-606E-9F1C-3E99-578839912D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58741BD0-606E-9F1C-3E99-578839912D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="" xmlns:a16="http://schemas.microsoft.com/office/drawing/2014/main" id="{B46C2697-6BEA-7C20-191A-6BD4799A3BDB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="" xmlns:a16="http://schemas.microsoft.com/office/drawing/2014/main" id="{18FB23CC-D060-A350-089A-54E8CB7ADFEE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="" xmlns:a16="http://schemas.microsoft.com/office/drawing/2014/main" id="{F2369338-A44F-7A99-25FB-2434D64DDD85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val 28">
                  <a:extLst>
                    <a:ext uri="{FF2B5EF4-FFF2-40B4-BE49-F238E27FC236}">
                      <a16:creationId xmlns="" xmlns:a16="http://schemas.microsoft.com/office/drawing/2014/main" id="{E6544A4A-65E5-3677-5B6F-90CE14CBC247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E6544A4A-65E5-3677-5B6F-90CE14CBC2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="" xmlns:a16="http://schemas.microsoft.com/office/drawing/2014/main" id="{ED20FD6C-87CA-F9A4-BF29-4A9DDE387B4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="" xmlns:a16="http://schemas.microsoft.com/office/drawing/2014/main" id="{33BBAECB-E07B-3C9A-CF9F-4D33D251BB64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="" xmlns:a16="http://schemas.microsoft.com/office/drawing/2014/main" id="{3613390A-F0EF-6DC1-FE10-D768AD8F70A2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="" xmlns:a16="http://schemas.microsoft.com/office/drawing/2014/main" id="{CFF5E1B4-9351-9FFE-87AA-72B9EDEF149C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="" xmlns:a16="http://schemas.microsoft.com/office/drawing/2014/main" id="{F5B52639-55A0-BC72-2057-1160DF41D5A9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="" xmlns:a16="http://schemas.microsoft.com/office/drawing/2014/main" id="{5B7DEA0A-FC6B-AA97-CF60-3AD7C50CACAF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="" xmlns:a16="http://schemas.microsoft.com/office/drawing/2014/main" id="{2F4252DA-9D7D-1337-D118-43C1F1ED2820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="" xmlns:a16="http://schemas.microsoft.com/office/drawing/2014/main" id="{95E93986-12E0-00EE-A36A-3CCFDB7284C9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95E93986-12E0-00EE-A36A-3CCFDB7284C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6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="" xmlns:a16="http://schemas.microsoft.com/office/drawing/2014/main" id="{7CDFC847-46C3-2DA1-011C-F5DCADB42DCC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7CDFC847-46C3-2DA1-011C-F5DCADB42D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7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="" xmlns:a16="http://schemas.microsoft.com/office/drawing/2014/main" id="{C9003F32-FF22-F8C7-D909-D98E50A379E8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9003F32-FF22-F8C7-D909-D98E50A379E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8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="" xmlns:a16="http://schemas.microsoft.com/office/drawing/2014/main" id="{CDFD11FA-B131-9D81-4E0A-363A3400B3AF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="" xmlns:a16="http://schemas.microsoft.com/office/drawing/2014/main" id="{5A71F691-F9B4-DBCD-5A2F-F4FE6ED218F1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="" xmlns:a16="http://schemas.microsoft.com/office/drawing/2014/main" id="{C4236D7E-FDB3-350E-288B-59C66F3B92DE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="" xmlns:a16="http://schemas.microsoft.com/office/drawing/2014/main" id="{2D680CE4-4C2C-EAB2-8166-DAA2E76F1D5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2D680CE4-4C2C-EAB2-8166-DAA2E76F1D5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1389" r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="" xmlns:a16="http://schemas.microsoft.com/office/drawing/2014/main" id="{267136A0-6D98-74F4-BC06-E399AA2C8CA1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="" xmlns:a16="http://schemas.microsoft.com/office/drawing/2014/main" id="{C17629BF-E3F8-1CFE-9840-ACD35AE829D2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="" xmlns:a16="http://schemas.microsoft.com/office/drawing/2014/main" id="{4F6C6731-5C72-4F8C-3D3F-D0A75C98A7AF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="" xmlns:a16="http://schemas.microsoft.com/office/drawing/2014/main" id="{49EC2415-5780-09A1-6E95-25715135C6AF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="" xmlns:a16="http://schemas.microsoft.com/office/drawing/2014/main" id="{285042DD-1CE7-8819-4A4D-023EA751F111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="" xmlns:a16="http://schemas.microsoft.com/office/drawing/2014/main" id="{9556B928-D372-CFDD-293D-ACBEEC241F4C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="" xmlns:a16="http://schemas.microsoft.com/office/drawing/2014/main" id="{312DFA69-9ADD-E60D-49A2-C5E09A907A21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 67">
                  <a:extLst>
                    <a:ext uri="{FF2B5EF4-FFF2-40B4-BE49-F238E27FC236}">
                      <a16:creationId xmlns="" xmlns:a16="http://schemas.microsoft.com/office/drawing/2014/main" id="{FB57FCA5-4AE7-F1D4-5313-E7C61D1521CC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FB57FCA5-4AE7-F1D4-5313-E7C61D1521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="" xmlns:a16="http://schemas.microsoft.com/office/drawing/2014/main" id="{7D97202F-5367-82C3-A597-F264450888D6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7D97202F-5367-82C3-A597-F264450888D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="" xmlns:a16="http://schemas.microsoft.com/office/drawing/2014/main" id="{616304BC-E218-7F40-A5FE-AF61796A5FF8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616304BC-E218-7F40-A5FE-AF61796A5FF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="" xmlns:a16="http://schemas.microsoft.com/office/drawing/2014/main" id="{09273FA2-4059-259C-EA18-EB97F916DE67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="" xmlns:a16="http://schemas.microsoft.com/office/drawing/2014/main" id="{DFF6184A-A6ED-0D56-4E38-4F6CDA7A0E2B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="" xmlns:a16="http://schemas.microsoft.com/office/drawing/2014/main" id="{2121102B-C918-3940-6CF1-E75935317C81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Oval 73">
                  <a:extLst>
                    <a:ext uri="{FF2B5EF4-FFF2-40B4-BE49-F238E27FC236}">
                      <a16:creationId xmlns="" xmlns:a16="http://schemas.microsoft.com/office/drawing/2014/main" id="{64F9467F-B7FB-69CB-D6EF-0437402FB82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64F9467F-B7FB-69CB-D6EF-0437402FB82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13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="" xmlns:a16="http://schemas.microsoft.com/office/drawing/2014/main" id="{722BA7B2-AE96-181C-AD84-36105B49ABE7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="" xmlns:a16="http://schemas.microsoft.com/office/drawing/2014/main" id="{6C64B0C0-12C6-3252-D13D-AA422EA7C3B0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="" xmlns:a16="http://schemas.microsoft.com/office/drawing/2014/main" id="{E4CA3838-A40C-8B9E-1D6B-F85B59667588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="" xmlns:a16="http://schemas.microsoft.com/office/drawing/2014/main" id="{39487332-3618-8A01-F0BB-84D13D9712FF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="" xmlns:a16="http://schemas.microsoft.com/office/drawing/2014/main" id="{71DB84C7-7B11-1862-C76C-54F0E7671AAD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="" xmlns:a16="http://schemas.microsoft.com/office/drawing/2014/main" id="{D5054840-0F89-8CAA-CC7A-84281836C332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="" xmlns:a16="http://schemas.microsoft.com/office/drawing/2014/main" id="{169FFFE1-DA65-0934-D4DB-A1388A72A745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="" xmlns:a16="http://schemas.microsoft.com/office/drawing/2014/main" id="{5317DB74-CA78-5EF6-06B9-38C66CF38F67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="" xmlns:a16="http://schemas.microsoft.com/office/drawing/2014/main" id="{77F60FEF-A404-8FB2-5EE7-81C000751BF6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7F60FEF-A404-8FB2-5EE7-81C000751B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14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="" xmlns:a16="http://schemas.microsoft.com/office/drawing/2014/main" id="{4E37C70B-1CCE-C852-EA6E-B0EA32D80266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4E37C70B-1CCE-C852-EA6E-B0EA32D802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15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="" xmlns:a16="http://schemas.microsoft.com/office/drawing/2014/main" id="{C7DCB563-40B7-B6A4-D465-0D1BADFA0CCF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C7DCB563-40B7-B6A4-D465-0D1BADFA0C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16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="" xmlns:a16="http://schemas.microsoft.com/office/drawing/2014/main" id="{5A0C2E9F-587C-97B2-5025-2264937181F7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5A0C2E9F-587C-97B2-5025-2264937181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1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="" xmlns:a16="http://schemas.microsoft.com/office/drawing/2014/main" id="{17395D95-79E5-D78E-09A6-D0FADC418687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7395D95-79E5-D78E-09A6-D0FADC4186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1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="" xmlns:a16="http://schemas.microsoft.com/office/drawing/2014/main" id="{E06A6EBF-4AE5-6650-6BFA-221AD79ED5F5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06A6EBF-4AE5-6650-6BFA-221AD79E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19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="" xmlns:a16="http://schemas.microsoft.com/office/drawing/2014/main" id="{65384143-FEF8-7CF0-F802-2CC38B7C25D8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65384143-FEF8-7CF0-F802-2CC38B7C25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2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="" xmlns:a16="http://schemas.microsoft.com/office/drawing/2014/main" id="{E3AD042C-4051-B4C6-A8B2-8015CF873920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3AD042C-4051-B4C6-A8B2-8015CF8739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="" xmlns:a16="http://schemas.microsoft.com/office/drawing/2014/main" id="{8312CF0C-65D9-B808-C295-661A2F44742D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8312CF0C-65D9-B808-C295-661A2F4474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2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1429463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6AFC46F5-9D39-3200-9315-7E41F8A21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roup 99">
            <a:extLst>
              <a:ext uri="{FF2B5EF4-FFF2-40B4-BE49-F238E27FC236}">
                <a16:creationId xmlns="" xmlns:a16="http://schemas.microsoft.com/office/drawing/2014/main" id="{5848EDA5-D183-93CF-2EA4-41FF8DEF531E}"/>
              </a:ext>
            </a:extLst>
          </p:cNvPr>
          <p:cNvGrpSpPr/>
          <p:nvPr/>
        </p:nvGrpSpPr>
        <p:grpSpPr>
          <a:xfrm>
            <a:off x="3532909" y="1911927"/>
            <a:ext cx="3090150" cy="2613440"/>
            <a:chOff x="3532909" y="1911927"/>
            <a:chExt cx="3090150" cy="2613440"/>
          </a:xfrm>
        </p:grpSpPr>
        <p:sp>
          <p:nvSpPr>
            <p:cNvPr id="3" name="Rectangle 2">
              <a:extLst>
                <a:ext uri="{FF2B5EF4-FFF2-40B4-BE49-F238E27FC236}">
                  <a16:creationId xmlns="" xmlns:a16="http://schemas.microsoft.com/office/drawing/2014/main" id="{C0534D28-CEEB-F347-7428-695FCFDD6FD0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="" xmlns:a16="http://schemas.microsoft.com/office/drawing/2014/main" id="{026D259C-2F42-013A-4513-8545895EBC0A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="" xmlns:a16="http://schemas.microsoft.com/office/drawing/2014/main" id="{22DC3002-17E7-8F70-DAB0-4CE49CBA033A}"/>
                </a:ext>
              </a:extLst>
            </p:cNvPr>
            <p:cNvSpPr/>
            <p:nvPr/>
          </p:nvSpPr>
          <p:spPr>
            <a:xfrm>
              <a:off x="5209307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="" xmlns:a16="http://schemas.microsoft.com/office/drawing/2014/main" id="{8EF0ACA0-1266-E99E-2733-10E832A0C15D}"/>
                </a:ext>
              </a:extLst>
            </p:cNvPr>
            <p:cNvSpPr/>
            <p:nvPr/>
          </p:nvSpPr>
          <p:spPr>
            <a:xfrm>
              <a:off x="6047506" y="303950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="" xmlns:a16="http://schemas.microsoft.com/office/drawing/2014/main" id="{F7F6D4AE-C331-40DD-5100-DC5C7B3F44A9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="" xmlns:a16="http://schemas.microsoft.com/office/drawing/2014/main" id="{386C2C92-0CC5-ADC3-4EEC-0177DFD60A37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 flipV="1">
              <a:off x="4911108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="" xmlns:a16="http://schemas.microsoft.com/office/drawing/2014/main" id="{EFF6839D-CACE-9E2F-A029-736CE3391E11}"/>
                </a:ext>
              </a:extLst>
            </p:cNvPr>
            <p:cNvCxnSpPr>
              <a:stCxn id="6" idx="3"/>
              <a:endCxn id="7" idx="1"/>
            </p:cNvCxnSpPr>
            <p:nvPr/>
          </p:nvCxnSpPr>
          <p:spPr>
            <a:xfrm>
              <a:off x="5749307" y="323660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="" xmlns:a16="http://schemas.microsoft.com/office/drawing/2014/main" id="{8A25C4F4-BDDD-1357-5894-BBBEAB136FDF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[0]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8A25C4F4-BDDD-1357-5894-BBBEAB136F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="" xmlns:a16="http://schemas.microsoft.com/office/drawing/2014/main" id="{2FDBCC82-BD5A-68A7-87A4-4A651886FB80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Oval 16">
                  <a:extLst>
                    <a:ext uri="{FF2B5EF4-FFF2-40B4-BE49-F238E27FC236}">
                      <a16:creationId xmlns="" xmlns:a16="http://schemas.microsoft.com/office/drawing/2014/main" id="{52722EC4-648E-315C-70C6-C19E306B6E1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52722EC4-648E-315C-70C6-C19E306B6E1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="" xmlns:a16="http://schemas.microsoft.com/office/drawing/2014/main" id="{B83D5045-507C-09DE-9249-D35934725844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val 18">
                  <a:extLst>
                    <a:ext uri="{FF2B5EF4-FFF2-40B4-BE49-F238E27FC236}">
                      <a16:creationId xmlns="" xmlns:a16="http://schemas.microsoft.com/office/drawing/2014/main" id="{C5E5668A-3613-7850-70F3-C9B8E4A52FF1}"/>
                    </a:ext>
                  </a:extLst>
                </p:cNvPr>
                <p:cNvSpPr/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C5E5668A-3613-7850-70F3-C9B8E4A52FF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="" xmlns:a16="http://schemas.microsoft.com/office/drawing/2014/main" id="{F7E15D01-6FDB-794A-E003-736262810557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>
                  <a:extLst>
                    <a:ext uri="{FF2B5EF4-FFF2-40B4-BE49-F238E27FC236}">
                      <a16:creationId xmlns="" xmlns:a16="http://schemas.microsoft.com/office/drawing/2014/main" id="{0031823E-FE60-1D2D-F19F-55B0E209D968}"/>
                    </a:ext>
                  </a:extLst>
                </p:cNvPr>
                <p:cNvSpPr/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031823E-FE60-1D2D-F19F-55B0E209D96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4286" r="-28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="" xmlns:a16="http://schemas.microsoft.com/office/drawing/2014/main" id="{4F964C84-B656-9E27-A3FA-BB652F5F18AF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6336978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="" xmlns:a16="http://schemas.microsoft.com/office/drawing/2014/main" id="{D3E890DB-71EF-713A-14D8-3C24E4337EE1}"/>
                </a:ext>
              </a:extLst>
            </p:cNvPr>
            <p:cNvSpPr txBox="1"/>
            <p:nvPr/>
          </p:nvSpPr>
          <p:spPr>
            <a:xfrm>
              <a:off x="3634433" y="4156035"/>
              <a:ext cx="3369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="" xmlns:a16="http://schemas.microsoft.com/office/drawing/2014/main" id="{57B34361-3900-1266-3D58-C3384D25DB7D}"/>
                </a:ext>
              </a:extLst>
            </p:cNvPr>
            <p:cNvSpPr txBox="1"/>
            <p:nvPr/>
          </p:nvSpPr>
          <p:spPr>
            <a:xfrm>
              <a:off x="4391414" y="4151004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="" xmlns:a16="http://schemas.microsoft.com/office/drawing/2014/main" id="{D8BB3D9F-5B39-1045-1636-9A97CDA0FC7A}"/>
                </a:ext>
              </a:extLst>
            </p:cNvPr>
            <p:cNvSpPr txBox="1"/>
            <p:nvPr/>
          </p:nvSpPr>
          <p:spPr>
            <a:xfrm>
              <a:off x="5310176" y="4151004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="" xmlns:a16="http://schemas.microsoft.com/office/drawing/2014/main" id="{73D30054-6A82-5512-0EE4-37AF61A11200}"/>
                </a:ext>
              </a:extLst>
            </p:cNvPr>
            <p:cNvSpPr txBox="1"/>
            <p:nvPr/>
          </p:nvSpPr>
          <p:spPr>
            <a:xfrm>
              <a:off x="6062841" y="4150676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Oval 63">
                  <a:extLst>
                    <a:ext uri="{FF2B5EF4-FFF2-40B4-BE49-F238E27FC236}">
                      <a16:creationId xmlns="" xmlns:a16="http://schemas.microsoft.com/office/drawing/2014/main" id="{F87D58A6-2B88-2E5E-90B2-E06F40638232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[0]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87D58A6-2B88-2E5E-90B2-E06F4063823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="" xmlns:a16="http://schemas.microsoft.com/office/drawing/2014/main" id="{6439B11B-0286-EBCA-49E0-335FE5EBE8FA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Oval 66">
                  <a:extLst>
                    <a:ext uri="{FF2B5EF4-FFF2-40B4-BE49-F238E27FC236}">
                      <a16:creationId xmlns="" xmlns:a16="http://schemas.microsoft.com/office/drawing/2014/main" id="{E08AEBD1-432B-3013-BE2F-DF9CF8403889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E08AEBD1-432B-3013-BE2F-DF9CF840388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10145" r="-57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Oval 80">
                  <a:extLst>
                    <a:ext uri="{FF2B5EF4-FFF2-40B4-BE49-F238E27FC236}">
                      <a16:creationId xmlns="" xmlns:a16="http://schemas.microsoft.com/office/drawing/2014/main" id="{28850714-0B6D-B080-5A71-750BA6C67D95}"/>
                    </a:ext>
                  </a:extLst>
                </p:cNvPr>
                <p:cNvSpPr/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28850714-0B6D-B080-5A71-750BA6C67D9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Oval 82">
                  <a:extLst>
                    <a:ext uri="{FF2B5EF4-FFF2-40B4-BE49-F238E27FC236}">
                      <a16:creationId xmlns="" xmlns:a16="http://schemas.microsoft.com/office/drawing/2014/main" id="{DF32C4FF-E000-6153-5A85-CFD8746E3222}"/>
                    </a:ext>
                  </a:extLst>
                </p:cNvPr>
                <p:cNvSpPr/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F32C4FF-E000-6153-5A85-CFD8746E32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="" xmlns:a16="http://schemas.microsoft.com/office/drawing/2014/main" id="{F40667E5-8E58-C310-CBFB-57422FB0D492}"/>
                </a:ext>
              </a:extLst>
            </p:cNvPr>
            <p:cNvSpPr txBox="1"/>
            <p:nvPr/>
          </p:nvSpPr>
          <p:spPr>
            <a:xfrm>
              <a:off x="3553215" y="1912255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="" xmlns:a16="http://schemas.microsoft.com/office/drawing/2014/main" id="{65A7BAD0-E22A-00A7-79D3-E281691F9BFA}"/>
                </a:ext>
              </a:extLst>
            </p:cNvPr>
            <p:cNvSpPr txBox="1"/>
            <p:nvPr/>
          </p:nvSpPr>
          <p:spPr>
            <a:xfrm>
              <a:off x="4513541" y="191225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="" xmlns:a16="http://schemas.microsoft.com/office/drawing/2014/main" id="{0347D807-1FF8-98CB-58CE-4939C4B01C91}"/>
                </a:ext>
              </a:extLst>
            </p:cNvPr>
            <p:cNvSpPr txBox="1"/>
            <p:nvPr/>
          </p:nvSpPr>
          <p:spPr>
            <a:xfrm>
              <a:off x="5183078" y="1911927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="" xmlns:a16="http://schemas.microsoft.com/office/drawing/2014/main" id="{7159E20A-C910-CA52-1ABE-5C094C505360}"/>
                </a:ext>
              </a:extLst>
            </p:cNvPr>
            <p:cNvSpPr txBox="1"/>
            <p:nvPr/>
          </p:nvSpPr>
          <p:spPr>
            <a:xfrm>
              <a:off x="6148539" y="1911927"/>
              <a:ext cx="3577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="" xmlns:a16="http://schemas.microsoft.com/office/drawing/2014/main" id="{4D2EEB39-53FF-4D7F-6AAD-272D9A605970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="" xmlns:a16="http://schemas.microsoft.com/office/drawing/2014/main" id="{7925EE7B-7FE6-D157-299F-C4532C92625C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22091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="" xmlns:a16="http://schemas.microsoft.com/office/drawing/2014/main" id="{1A59467C-A62E-94C1-6003-D3BD8B84751F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6316149" y="272209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01133895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B5573694-5604-5578-962F-15A2E6C1A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="" xmlns:a16="http://schemas.microsoft.com/office/drawing/2014/main" id="{2E164ADA-3029-B0E6-C546-EC28E23B01A5}"/>
              </a:ext>
            </a:extLst>
          </p:cNvPr>
          <p:cNvGrpSpPr/>
          <p:nvPr/>
        </p:nvGrpSpPr>
        <p:grpSpPr>
          <a:xfrm>
            <a:off x="3470087" y="1912255"/>
            <a:ext cx="5837554" cy="2626162"/>
            <a:chOff x="3470087" y="1912255"/>
            <a:chExt cx="5837554" cy="2626162"/>
          </a:xfrm>
        </p:grpSpPr>
        <p:sp>
          <p:nvSpPr>
            <p:cNvPr id="3" name="Rectangle 2">
              <a:extLst>
                <a:ext uri="{FF2B5EF4-FFF2-40B4-BE49-F238E27FC236}">
                  <a16:creationId xmlns="" xmlns:a16="http://schemas.microsoft.com/office/drawing/2014/main" id="{2CA71C07-A927-7553-9A53-EA7C1F0FD54D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="" xmlns:a16="http://schemas.microsoft.com/office/drawing/2014/main" id="{D5756A99-BCC4-DB10-974D-9BC155740184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="" xmlns:a16="http://schemas.microsoft.com/office/drawing/2014/main" id="{0F4C5972-08B6-39F9-5752-5DEFC6E9A590}"/>
                </a:ext>
              </a:extLst>
            </p:cNvPr>
            <p:cNvSpPr/>
            <p:nvPr/>
          </p:nvSpPr>
          <p:spPr>
            <a:xfrm>
              <a:off x="5209307" y="304453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="" xmlns:a16="http://schemas.microsoft.com/office/drawing/2014/main" id="{20920392-DFDC-1C8D-8962-1C191C9B874E}"/>
                </a:ext>
              </a:extLst>
            </p:cNvPr>
            <p:cNvSpPr/>
            <p:nvPr/>
          </p:nvSpPr>
          <p:spPr>
            <a:xfrm>
              <a:off x="6805709" y="3057913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="" xmlns:a16="http://schemas.microsoft.com/office/drawing/2014/main" id="{CC4000C8-59B4-CB55-CF73-071EADD1E13A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="" xmlns:a16="http://schemas.microsoft.com/office/drawing/2014/main" id="{816E4A48-D71F-43E1-A17C-7346F79DEE88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>
              <a:off x="4911108" y="3241635"/>
              <a:ext cx="298199" cy="536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="" xmlns:a16="http://schemas.microsoft.com/office/drawing/2014/main" id="{1E77AE6D-1F96-FB35-1187-485D66AD36CD}"/>
                </a:ext>
              </a:extLst>
            </p:cNvPr>
            <p:cNvCxnSpPr>
              <a:cxnSpLocks/>
              <a:endCxn id="7" idx="1"/>
            </p:cNvCxnSpPr>
            <p:nvPr/>
          </p:nvCxnSpPr>
          <p:spPr>
            <a:xfrm>
              <a:off x="6507510" y="3255013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="" xmlns:a16="http://schemas.microsoft.com/office/drawing/2014/main" id="{BEF50F89-3F9C-B7A0-D32B-766398AF529D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[0]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BEF50F89-3F9C-B7A0-D32B-766398AF529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="" xmlns:a16="http://schemas.microsoft.com/office/drawing/2014/main" id="{5536ECC4-8EDC-BF81-A381-67C4AA33FE42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Oval 16">
                  <a:extLst>
                    <a:ext uri="{FF2B5EF4-FFF2-40B4-BE49-F238E27FC236}">
                      <a16:creationId xmlns="" xmlns:a16="http://schemas.microsoft.com/office/drawing/2014/main" id="{EA1B6128-BF0B-0502-7C92-F80DC5E8DF8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EA1B6128-BF0B-0502-7C92-F80DC5E8DF8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="" xmlns:a16="http://schemas.microsoft.com/office/drawing/2014/main" id="{4832C06D-CF74-766F-FFC2-610ACF8FC042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val 18">
                  <a:extLst>
                    <a:ext uri="{FF2B5EF4-FFF2-40B4-BE49-F238E27FC236}">
                      <a16:creationId xmlns="" xmlns:a16="http://schemas.microsoft.com/office/drawing/2014/main" id="{E5CA2E1F-C39D-CBA3-A6E1-D4C1F4AF373C}"/>
                    </a:ext>
                  </a:extLst>
                </p:cNvPr>
                <p:cNvSpPr/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E5CA2E1F-C39D-CBA3-A6E1-D4C1F4AF37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="" xmlns:a16="http://schemas.microsoft.com/office/drawing/2014/main" id="{90D394B9-6B7A-EE4E-A95D-801F9C111BDA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494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>
                  <a:extLst>
                    <a:ext uri="{FF2B5EF4-FFF2-40B4-BE49-F238E27FC236}">
                      <a16:creationId xmlns="" xmlns:a16="http://schemas.microsoft.com/office/drawing/2014/main" id="{278B2A68-FDF3-D539-0397-EB5939ABFA5D}"/>
                    </a:ext>
                  </a:extLst>
                </p:cNvPr>
                <p:cNvSpPr/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278B2A68-FDF3-D539-0397-EB5939ABFA5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="" xmlns:a16="http://schemas.microsoft.com/office/drawing/2014/main" id="{0E40F23A-D8D4-25F6-DDDB-17B95E9C8E39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7095181" y="3457472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="" xmlns:a16="http://schemas.microsoft.com/office/drawing/2014/main" id="{EB19DA87-A58F-46A6-EDE2-943BC4C3D386}"/>
                </a:ext>
              </a:extLst>
            </p:cNvPr>
            <p:cNvSpPr txBox="1"/>
            <p:nvPr/>
          </p:nvSpPr>
          <p:spPr>
            <a:xfrm>
              <a:off x="3609879" y="4161395"/>
              <a:ext cx="4219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de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="" xmlns:a16="http://schemas.microsoft.com/office/drawing/2014/main" id="{C6D6550D-0169-2E65-9876-AB1FF91B3C6B}"/>
                </a:ext>
              </a:extLst>
            </p:cNvPr>
            <p:cNvSpPr txBox="1"/>
            <p:nvPr/>
          </p:nvSpPr>
          <p:spPr>
            <a:xfrm>
              <a:off x="4328259" y="416139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="" xmlns:a16="http://schemas.microsoft.com/office/drawing/2014/main" id="{B1F4A0A2-8071-5489-B1DC-AE37EE9B6CC4}"/>
                </a:ext>
              </a:extLst>
            </p:cNvPr>
            <p:cNvSpPr txBox="1"/>
            <p:nvPr/>
          </p:nvSpPr>
          <p:spPr>
            <a:xfrm>
              <a:off x="5373693" y="416139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="" xmlns:a16="http://schemas.microsoft.com/office/drawing/2014/main" id="{233D19E0-8BC8-DCF3-25F7-112FD8019AAF}"/>
                </a:ext>
              </a:extLst>
            </p:cNvPr>
            <p:cNvSpPr txBox="1"/>
            <p:nvPr/>
          </p:nvSpPr>
          <p:spPr>
            <a:xfrm>
              <a:off x="6966518" y="416908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Oval 63">
                  <a:extLst>
                    <a:ext uri="{FF2B5EF4-FFF2-40B4-BE49-F238E27FC236}">
                      <a16:creationId xmlns="" xmlns:a16="http://schemas.microsoft.com/office/drawing/2014/main" id="{F36D6E33-7BC5-5E4C-56CB-E03DF0F68ED7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[0]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36D6E33-7BC5-5E4C-56CB-E03DF0F68ED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="" xmlns:a16="http://schemas.microsoft.com/office/drawing/2014/main" id="{DEE5256F-F5BF-0D94-50CE-460735EE0070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Oval 66">
                  <a:extLst>
                    <a:ext uri="{FF2B5EF4-FFF2-40B4-BE49-F238E27FC236}">
                      <a16:creationId xmlns="" xmlns:a16="http://schemas.microsoft.com/office/drawing/2014/main" id="{D5CB3226-5F82-6A5B-41B1-CC0280509CB6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D5CB3226-5F82-6A5B-41B1-CC0280509C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10145" r="-57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Oval 80">
                  <a:extLst>
                    <a:ext uri="{FF2B5EF4-FFF2-40B4-BE49-F238E27FC236}">
                      <a16:creationId xmlns="" xmlns:a16="http://schemas.microsoft.com/office/drawing/2014/main" id="{A4595E6A-8A12-4BE5-B8A9-4620252A3DF7}"/>
                    </a:ext>
                  </a:extLst>
                </p:cNvPr>
                <p:cNvSpPr/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A4595E6A-8A12-4BE5-B8A9-4620252A3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Oval 82">
                  <a:extLst>
                    <a:ext uri="{FF2B5EF4-FFF2-40B4-BE49-F238E27FC236}">
                      <a16:creationId xmlns="" xmlns:a16="http://schemas.microsoft.com/office/drawing/2014/main" id="{DB641876-7756-4556-5D5B-3FF6052D5D67}"/>
                    </a:ext>
                  </a:extLst>
                </p:cNvPr>
                <p:cNvSpPr/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B641876-7756-4556-5D5B-3FF6052D5D6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10000" r="-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="" xmlns:a16="http://schemas.microsoft.com/office/drawing/2014/main" id="{6F325E6A-0D08-A66B-C255-CB42FFF9995F}"/>
                </a:ext>
              </a:extLst>
            </p:cNvPr>
            <p:cNvSpPr txBox="1"/>
            <p:nvPr/>
          </p:nvSpPr>
          <p:spPr>
            <a:xfrm>
              <a:off x="3470087" y="191225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="" xmlns:a16="http://schemas.microsoft.com/office/drawing/2014/main" id="{9AF428C7-99F7-79EE-905C-5BFFD1D6B794}"/>
                </a:ext>
              </a:extLst>
            </p:cNvPr>
            <p:cNvSpPr txBox="1"/>
            <p:nvPr/>
          </p:nvSpPr>
          <p:spPr>
            <a:xfrm>
              <a:off x="4513541" y="191225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="" xmlns:a16="http://schemas.microsoft.com/office/drawing/2014/main" id="{DD2D0EBE-EFA3-2C35-531F-42E1FB1848CF}"/>
                </a:ext>
              </a:extLst>
            </p:cNvPr>
            <p:cNvSpPr txBox="1"/>
            <p:nvPr/>
          </p:nvSpPr>
          <p:spPr>
            <a:xfrm>
              <a:off x="5151905" y="1922318"/>
              <a:ext cx="6848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Nasci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="" xmlns:a16="http://schemas.microsoft.com/office/drawing/2014/main" id="{D18C53F0-5275-B2B1-41F3-3E7649629DDA}"/>
                </a:ext>
              </a:extLst>
            </p:cNvPr>
            <p:cNvSpPr txBox="1"/>
            <p:nvPr/>
          </p:nvSpPr>
          <p:spPr>
            <a:xfrm>
              <a:off x="6906742" y="193033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="" xmlns:a16="http://schemas.microsoft.com/office/drawing/2014/main" id="{DE520B99-8262-A48A-55C7-26AE0E413875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="" xmlns:a16="http://schemas.microsoft.com/office/drawing/2014/main" id="{2C8AC8EA-926E-E9E1-49ED-DCA004E88087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32482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="" xmlns:a16="http://schemas.microsoft.com/office/drawing/2014/main" id="{871252BB-9DB8-A8D2-D42B-16B83AE1A7C8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7074352" y="2740500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ectangle 1">
              <a:extLst>
                <a:ext uri="{FF2B5EF4-FFF2-40B4-BE49-F238E27FC236}">
                  <a16:creationId xmlns="" xmlns:a16="http://schemas.microsoft.com/office/drawing/2014/main" id="{42C90E03-64F0-F10B-EC25-ED11EC008951}"/>
                </a:ext>
              </a:extLst>
            </p:cNvPr>
            <p:cNvSpPr/>
            <p:nvPr/>
          </p:nvSpPr>
          <p:spPr>
            <a:xfrm>
              <a:off x="7654226" y="305255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="" xmlns:a16="http://schemas.microsoft.com/office/drawing/2014/main" id="{022EED10-87AA-5C00-4822-C3520E39F05F}"/>
                </a:ext>
              </a:extLst>
            </p:cNvPr>
            <p:cNvCxnSpPr>
              <a:cxnSpLocks/>
              <a:endCxn id="2" idx="1"/>
            </p:cNvCxnSpPr>
            <p:nvPr/>
          </p:nvCxnSpPr>
          <p:spPr>
            <a:xfrm>
              <a:off x="7356027" y="324965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" name="Oval 7">
              <a:extLst>
                <a:ext uri="{FF2B5EF4-FFF2-40B4-BE49-F238E27FC236}">
                  <a16:creationId xmlns="" xmlns:a16="http://schemas.microsoft.com/office/drawing/2014/main" id="{96C5BE88-049C-7EB4-1781-EEA2A0A41860}"/>
                </a:ext>
              </a:extLst>
            </p:cNvPr>
            <p:cNvSpPr/>
            <p:nvPr/>
          </p:nvSpPr>
          <p:spPr>
            <a:xfrm>
              <a:off x="7735880" y="3764167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400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="" xmlns:a16="http://schemas.microsoft.com/office/drawing/2014/main" id="{083CB2E8-EF82-839D-F96B-B6727E29EFA5}"/>
                </a:ext>
              </a:extLst>
            </p:cNvPr>
            <p:cNvCxnSpPr>
              <a:stCxn id="8" idx="0"/>
            </p:cNvCxnSpPr>
            <p:nvPr/>
          </p:nvCxnSpPr>
          <p:spPr>
            <a:xfrm flipV="1">
              <a:off x="7943698" y="345211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="" xmlns:a16="http://schemas.microsoft.com/office/drawing/2014/main" id="{DFE4C0D3-DCC2-D3B6-B855-67D6DC13EFF3}"/>
                </a:ext>
              </a:extLst>
            </p:cNvPr>
            <p:cNvSpPr txBox="1"/>
            <p:nvPr/>
          </p:nvSpPr>
          <p:spPr>
            <a:xfrm>
              <a:off x="7823504" y="416372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Oval 14">
                  <a:extLst>
                    <a:ext uri="{FF2B5EF4-FFF2-40B4-BE49-F238E27FC236}">
                      <a16:creationId xmlns="" xmlns:a16="http://schemas.microsoft.com/office/drawing/2014/main" id="{23F9A3F4-2E58-124C-03D9-237E2903604B}"/>
                    </a:ext>
                  </a:extLst>
                </p:cNvPr>
                <p:cNvSpPr/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23F9A3F4-2E58-124C-03D9-237E2903604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TextBox 21">
              <a:extLst>
                <a:ext uri="{FF2B5EF4-FFF2-40B4-BE49-F238E27FC236}">
                  <a16:creationId xmlns="" xmlns:a16="http://schemas.microsoft.com/office/drawing/2014/main" id="{E9C8EE0E-F481-3EAF-0B16-38FF89D122F2}"/>
                </a:ext>
              </a:extLst>
            </p:cNvPr>
            <p:cNvSpPr txBox="1"/>
            <p:nvPr/>
          </p:nvSpPr>
          <p:spPr>
            <a:xfrm>
              <a:off x="7500115" y="195349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="" xmlns:a16="http://schemas.microsoft.com/office/drawing/2014/main" id="{777CB690-B844-9432-D277-3DAEF181FA47}"/>
                </a:ext>
              </a:extLst>
            </p:cNvPr>
            <p:cNvCxnSpPr>
              <a:stCxn id="2" idx="0"/>
              <a:endCxn id="15" idx="4"/>
            </p:cNvCxnSpPr>
            <p:nvPr/>
          </p:nvCxnSpPr>
          <p:spPr>
            <a:xfrm flipH="1" flipV="1">
              <a:off x="7922869" y="273514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="" xmlns:a16="http://schemas.microsoft.com/office/drawing/2014/main" id="{B342B593-E0A1-FA17-862E-41D6D0D679FC}"/>
                </a:ext>
              </a:extLst>
            </p:cNvPr>
            <p:cNvCxnSpPr>
              <a:cxnSpLocks/>
            </p:cNvCxnSpPr>
            <p:nvPr/>
          </p:nvCxnSpPr>
          <p:spPr>
            <a:xfrm>
              <a:off x="5749307" y="3252027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="" xmlns:a16="http://schemas.microsoft.com/office/drawing/2014/main" id="{781F298F-67A3-70DF-C0A7-49BE483D54BE}"/>
                </a:ext>
              </a:extLst>
            </p:cNvPr>
            <p:cNvSpPr txBox="1"/>
            <p:nvPr/>
          </p:nvSpPr>
          <p:spPr>
            <a:xfrm>
              <a:off x="6096000" y="3018393"/>
              <a:ext cx="3633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="" xmlns:a16="http://schemas.microsoft.com/office/drawing/2014/main" id="{804F6421-1237-F1A2-5E79-FE7BCA610A48}"/>
                </a:ext>
              </a:extLst>
            </p:cNvPr>
            <p:cNvSpPr/>
            <p:nvPr/>
          </p:nvSpPr>
          <p:spPr>
            <a:xfrm>
              <a:off x="8501386" y="304719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="" xmlns:a16="http://schemas.microsoft.com/office/drawing/2014/main" id="{BF98A6BA-A4C3-1228-F3C0-DD2836B87CD4}"/>
                </a:ext>
              </a:extLst>
            </p:cNvPr>
            <p:cNvCxnSpPr>
              <a:cxnSpLocks/>
              <a:endCxn id="26" idx="1"/>
            </p:cNvCxnSpPr>
            <p:nvPr/>
          </p:nvCxnSpPr>
          <p:spPr>
            <a:xfrm>
              <a:off x="8203187" y="3244295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8" name="Oval 27">
              <a:extLst>
                <a:ext uri="{FF2B5EF4-FFF2-40B4-BE49-F238E27FC236}">
                  <a16:creationId xmlns="" xmlns:a16="http://schemas.microsoft.com/office/drawing/2014/main" id="{592DE97E-7082-B851-330D-322A2228597A}"/>
                </a:ext>
              </a:extLst>
            </p:cNvPr>
            <p:cNvSpPr/>
            <p:nvPr/>
          </p:nvSpPr>
          <p:spPr>
            <a:xfrm>
              <a:off x="8583040" y="3758808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900" dirty="0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="" xmlns:a16="http://schemas.microsoft.com/office/drawing/2014/main" id="{0EAB2269-9766-9629-F24D-AD449A7D529B}"/>
                </a:ext>
              </a:extLst>
            </p:cNvPr>
            <p:cNvCxnSpPr>
              <a:stCxn id="28" idx="0"/>
            </p:cNvCxnSpPr>
            <p:nvPr/>
          </p:nvCxnSpPr>
          <p:spPr>
            <a:xfrm flipV="1">
              <a:off x="8790858" y="34467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="" xmlns:a16="http://schemas.microsoft.com/office/drawing/2014/main" id="{8D037400-C2BB-9BDD-2FCF-C6DD77FA2016}"/>
                </a:ext>
              </a:extLst>
            </p:cNvPr>
            <p:cNvSpPr txBox="1"/>
            <p:nvPr/>
          </p:nvSpPr>
          <p:spPr>
            <a:xfrm>
              <a:off x="8368747" y="415297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val 30">
                  <a:extLst>
                    <a:ext uri="{FF2B5EF4-FFF2-40B4-BE49-F238E27FC236}">
                      <a16:creationId xmlns="" xmlns:a16="http://schemas.microsoft.com/office/drawing/2014/main" id="{4991E1B3-322B-85B2-8F5E-1AA5F8458D09}"/>
                    </a:ext>
                  </a:extLst>
                </p:cNvPr>
                <p:cNvSpPr/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4991E1B3-322B-85B2-8F5E-1AA5F8458D0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31">
              <a:extLst>
                <a:ext uri="{FF2B5EF4-FFF2-40B4-BE49-F238E27FC236}">
                  <a16:creationId xmlns="" xmlns:a16="http://schemas.microsoft.com/office/drawing/2014/main" id="{2A561BD5-0CAE-FB6F-CB1A-2A227C613163}"/>
                </a:ext>
              </a:extLst>
            </p:cNvPr>
            <p:cNvCxnSpPr>
              <a:stCxn id="26" idx="0"/>
              <a:endCxn id="31" idx="4"/>
            </p:cNvCxnSpPr>
            <p:nvPr/>
          </p:nvCxnSpPr>
          <p:spPr>
            <a:xfrm flipH="1" flipV="1">
              <a:off x="8770029" y="2729782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="" xmlns:a16="http://schemas.microsoft.com/office/drawing/2014/main" id="{B150E44D-343B-AC49-B71A-0BE368DAD0F9}"/>
                    </a:ext>
                  </a:extLst>
                </p:cNvPr>
                <p:cNvSpPr txBox="1"/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150E44D-343B-AC49-B71A-0BE368DAD0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blipFill>
                  <a:blip r:embed="rId1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="" xmlns:a16="http://schemas.microsoft.com/office/drawing/2014/main" id="{208D4C2E-77B0-7513-CAC1-139708606D42}"/>
                    </a:ext>
                  </a:extLst>
                </p:cNvPr>
                <p:cNvSpPr txBox="1"/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+2]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208D4C2E-77B0-7513-CAC1-139708606D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blipFill>
                  <a:blip r:embed="rId1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TextBox 36">
              <a:extLst>
                <a:ext uri="{FF2B5EF4-FFF2-40B4-BE49-F238E27FC236}">
                  <a16:creationId xmlns="" xmlns:a16="http://schemas.microsoft.com/office/drawing/2014/main" id="{48B2946E-9ED7-EB8C-9669-04C9C3EA8A23}"/>
                </a:ext>
              </a:extLst>
            </p:cNvPr>
            <p:cNvSpPr txBox="1"/>
            <p:nvPr/>
          </p:nvSpPr>
          <p:spPr>
            <a:xfrm>
              <a:off x="8648842" y="1930336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964192973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5861A8E6-4B10-4A75-B9D7-6D57BC91B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="" xmlns:a16="http://schemas.microsoft.com/office/drawing/2014/main" id="{C80F7944-C56A-4918-32CC-D4E7982F8ACD}"/>
              </a:ext>
            </a:extLst>
          </p:cNvPr>
          <p:cNvGrpSpPr/>
          <p:nvPr/>
        </p:nvGrpSpPr>
        <p:grpSpPr>
          <a:xfrm>
            <a:off x="7045381" y="2909386"/>
            <a:ext cx="5001376" cy="2479740"/>
            <a:chOff x="7045381" y="2909386"/>
            <a:chExt cx="5001376" cy="247974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="" xmlns:a16="http://schemas.microsoft.com/office/drawing/2014/main" id="{6952C40A-6BC1-7D50-9FEA-BBFC70E1732F}"/>
                    </a:ext>
                  </a:extLst>
                </p:cNvPr>
                <p:cNvSpPr txBox="1"/>
                <p:nvPr/>
              </p:nvSpPr>
              <p:spPr>
                <a:xfrm>
                  <a:off x="11429537" y="3038594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952C40A-6BC1-7D50-9FEA-BBFC70E173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29537" y="3038594"/>
                  <a:ext cx="617220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Rectangle: Rounded Corners 1">
              <a:extLst>
                <a:ext uri="{FF2B5EF4-FFF2-40B4-BE49-F238E27FC236}">
                  <a16:creationId xmlns="" xmlns:a16="http://schemas.microsoft.com/office/drawing/2014/main" id="{E389E7D6-0E03-C09E-A5BD-EF4F78F47BED}"/>
                </a:ext>
              </a:extLst>
            </p:cNvPr>
            <p:cNvSpPr/>
            <p:nvPr/>
          </p:nvSpPr>
          <p:spPr>
            <a:xfrm>
              <a:off x="8042034" y="2909386"/>
              <a:ext cx="3069771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="" xmlns:a16="http://schemas.microsoft.com/office/drawing/2014/main" id="{4B906B69-397B-E0FA-9BAF-87CDB2217708}"/>
                </a:ext>
              </a:extLst>
            </p:cNvPr>
            <p:cNvSpPr/>
            <p:nvPr/>
          </p:nvSpPr>
          <p:spPr>
            <a:xfrm>
              <a:off x="9263573" y="3050897"/>
              <a:ext cx="674915" cy="35922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="" xmlns:a16="http://schemas.microsoft.com/office/drawing/2014/main" id="{86885ED8-AB22-72C4-5CEA-3CE25FC19B23}"/>
                </a:ext>
              </a:extLst>
            </p:cNvPr>
            <p:cNvCxnSpPr>
              <a:endCxn id="3" idx="1"/>
            </p:cNvCxnSpPr>
            <p:nvPr/>
          </p:nvCxnSpPr>
          <p:spPr>
            <a:xfrm>
              <a:off x="7559040" y="3223260"/>
              <a:ext cx="1704533" cy="725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="" xmlns:a16="http://schemas.microsoft.com/office/drawing/2014/main" id="{22EBD8D7-1711-1660-5F56-EBD07F649D6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68376" y="3230511"/>
              <a:ext cx="3184" cy="1832438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="" xmlns:a16="http://schemas.microsoft.com/office/drawing/2014/main" id="{D658E785-464A-A8FA-4EBA-DADD72D51FEB}"/>
                    </a:ext>
                  </a:extLst>
                </p:cNvPr>
                <p:cNvSpPr txBox="1"/>
                <p:nvPr/>
              </p:nvSpPr>
              <p:spPr>
                <a:xfrm>
                  <a:off x="8359766" y="5019794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658E785-464A-A8FA-4EBA-DADD72D51F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59766" y="5019794"/>
                  <a:ext cx="61722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" name="Straight Arrow Connector 25">
              <a:extLst>
                <a:ext uri="{FF2B5EF4-FFF2-40B4-BE49-F238E27FC236}">
                  <a16:creationId xmlns="" xmlns:a16="http://schemas.microsoft.com/office/drawing/2014/main" id="{489BFDFC-AB2B-933B-5EF7-48728379F3B2}"/>
                </a:ext>
              </a:extLst>
            </p:cNvPr>
            <p:cNvCxnSpPr/>
            <p:nvPr/>
          </p:nvCxnSpPr>
          <p:spPr>
            <a:xfrm>
              <a:off x="9938488" y="3230511"/>
              <a:ext cx="1605812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="" xmlns:a16="http://schemas.microsoft.com/office/drawing/2014/main" id="{89A2981D-B8A0-3122-77FD-ECBC0C46E0E6}"/>
                    </a:ext>
                  </a:extLst>
                </p:cNvPr>
                <p:cNvSpPr txBox="1"/>
                <p:nvPr/>
              </p:nvSpPr>
              <p:spPr>
                <a:xfrm>
                  <a:off x="7045381" y="3045845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89A2981D-B8A0-3122-77FD-ECBC0C46E0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45381" y="3045845"/>
                  <a:ext cx="61722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0" name="Agrupar 29">
            <a:extLst>
              <a:ext uri="{FF2B5EF4-FFF2-40B4-BE49-F238E27FC236}">
                <a16:creationId xmlns="" xmlns:a16="http://schemas.microsoft.com/office/drawing/2014/main" id="{A0125BEA-E856-3203-44A2-4CB6E4673641}"/>
              </a:ext>
            </a:extLst>
          </p:cNvPr>
          <p:cNvGrpSpPr/>
          <p:nvPr/>
        </p:nvGrpSpPr>
        <p:grpSpPr>
          <a:xfrm>
            <a:off x="260912" y="1662798"/>
            <a:ext cx="4435239" cy="2809250"/>
            <a:chOff x="260912" y="1662798"/>
            <a:chExt cx="4435239" cy="2809250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="" xmlns:a16="http://schemas.microsoft.com/office/drawing/2014/main" id="{F843DECB-C956-D955-D499-DD22189CE5D6}"/>
                </a:ext>
              </a:extLst>
            </p:cNvPr>
            <p:cNvSpPr/>
            <p:nvPr/>
          </p:nvSpPr>
          <p:spPr>
            <a:xfrm>
              <a:off x="948207" y="2169156"/>
              <a:ext cx="3069771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="" xmlns:a16="http://schemas.microsoft.com/office/drawing/2014/main" id="{7C21CDDD-60F4-254E-D0B1-DD9880058CAE}"/>
                </a:ext>
              </a:extLst>
            </p:cNvPr>
            <p:cNvSpPr/>
            <p:nvPr/>
          </p:nvSpPr>
          <p:spPr>
            <a:xfrm>
              <a:off x="2095472" y="2872797"/>
              <a:ext cx="674915" cy="35922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2" name="Connector: Elbow 41">
              <a:extLst>
                <a:ext uri="{FF2B5EF4-FFF2-40B4-BE49-F238E27FC236}">
                  <a16:creationId xmlns="" xmlns:a16="http://schemas.microsoft.com/office/drawing/2014/main" id="{E01C2A5B-A164-6913-FA94-CA99DB0244FA}"/>
                </a:ext>
              </a:extLst>
            </p:cNvPr>
            <p:cNvCxnSpPr>
              <a:cxnSpLocks/>
              <a:endCxn id="40" idx="2"/>
            </p:cNvCxnSpPr>
            <p:nvPr/>
          </p:nvCxnSpPr>
          <p:spPr>
            <a:xfrm rot="5400000" flipH="1" flipV="1">
              <a:off x="1289550" y="3229045"/>
              <a:ext cx="1140399" cy="1146362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Connector: Elbow 42">
              <a:extLst>
                <a:ext uri="{FF2B5EF4-FFF2-40B4-BE49-F238E27FC236}">
                  <a16:creationId xmlns="" xmlns:a16="http://schemas.microsoft.com/office/drawing/2014/main" id="{396F9498-A53F-5856-A31E-72DF09B3702B}"/>
                </a:ext>
              </a:extLst>
            </p:cNvPr>
            <p:cNvCxnSpPr>
              <a:cxnSpLocks/>
              <a:stCxn id="40" idx="0"/>
            </p:cNvCxnSpPr>
            <p:nvPr/>
          </p:nvCxnSpPr>
          <p:spPr>
            <a:xfrm rot="5400000" flipH="1" flipV="1">
              <a:off x="3275955" y="1600184"/>
              <a:ext cx="429588" cy="211563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="" xmlns:a16="http://schemas.microsoft.com/office/drawing/2014/main" id="{466E2E6D-A249-7CAB-4045-844CE9311D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85978" y="1773736"/>
              <a:ext cx="0" cy="66947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Connector: Elbow 45">
              <a:extLst>
                <a:ext uri="{FF2B5EF4-FFF2-40B4-BE49-F238E27FC236}">
                  <a16:creationId xmlns="" xmlns:a16="http://schemas.microsoft.com/office/drawing/2014/main" id="{B4EFE449-B504-6CD4-C0C2-B0B6CF080A10}"/>
                </a:ext>
              </a:extLst>
            </p:cNvPr>
            <p:cNvCxnSpPr>
              <a:cxnSpLocks/>
            </p:cNvCxnSpPr>
            <p:nvPr/>
          </p:nvCxnSpPr>
          <p:spPr>
            <a:xfrm>
              <a:off x="578644" y="2434828"/>
              <a:ext cx="1199096" cy="1368028"/>
            </a:xfrm>
            <a:prstGeom prst="bentConnector2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27">
                  <a:extLst>
                    <a:ext uri="{FF2B5EF4-FFF2-40B4-BE49-F238E27FC236}">
                      <a16:creationId xmlns="" xmlns:a16="http://schemas.microsoft.com/office/drawing/2014/main" id="{864BEB98-D0A6-8E21-632A-DA567336A9C4}"/>
                    </a:ext>
                  </a:extLst>
                </p:cNvPr>
                <p:cNvSpPr txBox="1"/>
                <p:nvPr/>
              </p:nvSpPr>
              <p:spPr>
                <a:xfrm>
                  <a:off x="260912" y="2073875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8" name="TextBox 27">
                  <a:extLst>
                    <a:ext uri="{FF2B5EF4-FFF2-40B4-BE49-F238E27FC236}">
                      <a16:creationId xmlns:a16="http://schemas.microsoft.com/office/drawing/2014/main" id="{864BEB98-D0A6-8E21-632A-DA567336A9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0912" y="2073875"/>
                  <a:ext cx="617220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26">
                  <a:extLst>
                    <a:ext uri="{FF2B5EF4-FFF2-40B4-BE49-F238E27FC236}">
                      <a16:creationId xmlns="" xmlns:a16="http://schemas.microsoft.com/office/drawing/2014/main" id="{23C0A7C0-E234-D21C-25F8-B0FE9763391F}"/>
                    </a:ext>
                  </a:extLst>
                </p:cNvPr>
                <p:cNvSpPr txBox="1"/>
                <p:nvPr/>
              </p:nvSpPr>
              <p:spPr>
                <a:xfrm>
                  <a:off x="4078931" y="2065496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26">
                  <a:extLst>
                    <a:ext uri="{FF2B5EF4-FFF2-40B4-BE49-F238E27FC236}">
                      <a16:creationId xmlns:a16="http://schemas.microsoft.com/office/drawing/2014/main" id="{23C0A7C0-E234-D21C-25F8-B0FE976339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78931" y="2065496"/>
                  <a:ext cx="617220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26">
                  <a:extLst>
                    <a:ext uri="{FF2B5EF4-FFF2-40B4-BE49-F238E27FC236}">
                      <a16:creationId xmlns="" xmlns:a16="http://schemas.microsoft.com/office/drawing/2014/main" id="{5B72E209-48BF-DCE5-F02F-5A30F57B54CA}"/>
                    </a:ext>
                  </a:extLst>
                </p:cNvPr>
                <p:cNvSpPr txBox="1"/>
                <p:nvPr/>
              </p:nvSpPr>
              <p:spPr>
                <a:xfrm>
                  <a:off x="3486809" y="1662798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0" name="TextBox 26">
                  <a:extLst>
                    <a:ext uri="{FF2B5EF4-FFF2-40B4-BE49-F238E27FC236}">
                      <a16:creationId xmlns:a16="http://schemas.microsoft.com/office/drawing/2014/main" id="{5B72E209-48BF-DCE5-F02F-5A30F57B54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86809" y="1662798"/>
                  <a:ext cx="617220" cy="369332"/>
                </a:xfrm>
                <a:prstGeom prst="rect">
                  <a:avLst/>
                </a:prstGeom>
                <a:blipFill>
                  <a:blip r:embed="rId9"/>
                  <a:stretch>
                    <a:fillRect t="-6667" r="-15842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3">
                  <a:extLst>
                    <a:ext uri="{FF2B5EF4-FFF2-40B4-BE49-F238E27FC236}">
                      <a16:creationId xmlns="" xmlns:a16="http://schemas.microsoft.com/office/drawing/2014/main" id="{0E57B151-E333-76CA-A791-FC163B5574D4}"/>
                    </a:ext>
                  </a:extLst>
                </p:cNvPr>
                <p:cNvSpPr txBox="1"/>
                <p:nvPr/>
              </p:nvSpPr>
              <p:spPr>
                <a:xfrm>
                  <a:off x="824364" y="4102716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3">
                  <a:extLst>
                    <a:ext uri="{FF2B5EF4-FFF2-40B4-BE49-F238E27FC236}">
                      <a16:creationId xmlns:a16="http://schemas.microsoft.com/office/drawing/2014/main" id="{0E57B151-E333-76CA-A791-FC163B5574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4364" y="4102716"/>
                  <a:ext cx="617220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34503089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080909C4-DA03-1F5F-0403-1DEE60B89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: Rounded Corners 38">
            <a:extLst>
              <a:ext uri="{FF2B5EF4-FFF2-40B4-BE49-F238E27FC236}">
                <a16:creationId xmlns="" xmlns:a16="http://schemas.microsoft.com/office/drawing/2014/main" id="{348B5B75-FB28-2E80-145D-B7B4D142BE9D}"/>
              </a:ext>
            </a:extLst>
          </p:cNvPr>
          <p:cNvSpPr/>
          <p:nvPr/>
        </p:nvSpPr>
        <p:spPr>
          <a:xfrm>
            <a:off x="4301176" y="2438400"/>
            <a:ext cx="3522024" cy="19812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="" xmlns:a16="http://schemas.microsoft.com/office/drawing/2014/main" id="{84CE6692-2FDA-8E8D-AB8D-4C22F39EF85B}"/>
                  </a:ext>
                </a:extLst>
              </p:cNvPr>
              <p:cNvSpPr/>
              <p:nvPr/>
            </p:nvSpPr>
            <p:spPr>
              <a:xfrm>
                <a:off x="4558205" y="3736102"/>
                <a:ext cx="332510" cy="29787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84CE6692-2FDA-8E8D-AB8D-4C22F39EF85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8205" y="3736102"/>
                <a:ext cx="332510" cy="297872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="" xmlns:a16="http://schemas.microsoft.com/office/drawing/2014/main" id="{6ACD58FC-A360-C11A-7C44-B9487691833B}"/>
                  </a:ext>
                </a:extLst>
              </p:cNvPr>
              <p:cNvSpPr/>
              <p:nvPr/>
            </p:nvSpPr>
            <p:spPr>
              <a:xfrm>
                <a:off x="5122344" y="3736102"/>
                <a:ext cx="332510" cy="29787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6ACD58FC-A360-C11A-7C44-B9487691833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2344" y="3736102"/>
                <a:ext cx="332510" cy="297872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="" xmlns:a16="http://schemas.microsoft.com/office/drawing/2014/main" id="{BE5C8D3A-0A6E-2136-613E-58C2566A481B}"/>
                  </a:ext>
                </a:extLst>
              </p:cNvPr>
              <p:cNvSpPr/>
              <p:nvPr/>
            </p:nvSpPr>
            <p:spPr>
              <a:xfrm>
                <a:off x="6540167" y="3738898"/>
                <a:ext cx="332510" cy="29787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BE5C8D3A-0A6E-2136-613E-58C2566A481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0167" y="3738898"/>
                <a:ext cx="332510" cy="297872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="" xmlns:a16="http://schemas.microsoft.com/office/drawing/2014/main" id="{44C478EC-B109-7888-038E-8DBF57461B91}"/>
              </a:ext>
            </a:extLst>
          </p:cNvPr>
          <p:cNvSpPr/>
          <p:nvPr/>
        </p:nvSpPr>
        <p:spPr>
          <a:xfrm>
            <a:off x="5686483" y="3736102"/>
            <a:ext cx="614781" cy="29787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>
                <a:solidFill>
                  <a:schemeClr val="tx1"/>
                </a:solidFill>
              </a:rPr>
              <a:t>tanh</a:t>
            </a:r>
            <a:endParaRPr lang="en-US" dirty="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="" xmlns:a16="http://schemas.microsoft.com/office/drawing/2014/main" id="{FFC53C9F-10FB-711C-2512-7250BF72FAA1}"/>
              </a:ext>
            </a:extLst>
          </p:cNvPr>
          <p:cNvGrpSpPr/>
          <p:nvPr/>
        </p:nvGrpSpPr>
        <p:grpSpPr>
          <a:xfrm>
            <a:off x="6922167" y="2849398"/>
            <a:ext cx="627482" cy="369332"/>
            <a:chOff x="6108367" y="2910505"/>
            <a:chExt cx="627482" cy="369332"/>
          </a:xfrm>
        </p:grpSpPr>
        <p:sp>
          <p:nvSpPr>
            <p:cNvPr id="13" name="Oval 12">
              <a:extLst>
                <a:ext uri="{FF2B5EF4-FFF2-40B4-BE49-F238E27FC236}">
                  <a16:creationId xmlns="" xmlns:a16="http://schemas.microsoft.com/office/drawing/2014/main" id="{CE50EACA-BDC6-7C2A-E8C3-F5699FD5BCD0}"/>
                </a:ext>
              </a:extLst>
            </p:cNvPr>
            <p:cNvSpPr/>
            <p:nvPr/>
          </p:nvSpPr>
          <p:spPr>
            <a:xfrm>
              <a:off x="6108367" y="2964609"/>
              <a:ext cx="614781" cy="29787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50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="" xmlns:a16="http://schemas.microsoft.com/office/drawing/2014/main" id="{37990D6E-A5C5-CDF4-C0D9-387966509DC6}"/>
                </a:ext>
              </a:extLst>
            </p:cNvPr>
            <p:cNvSpPr txBox="1"/>
            <p:nvPr/>
          </p:nvSpPr>
          <p:spPr>
            <a:xfrm>
              <a:off x="6108701" y="2910505"/>
              <a:ext cx="62714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7" name="Oval 16">
            <a:extLst>
              <a:ext uri="{FF2B5EF4-FFF2-40B4-BE49-F238E27FC236}">
                <a16:creationId xmlns="" xmlns:a16="http://schemas.microsoft.com/office/drawing/2014/main" id="{74B85D8D-87CD-87BC-E833-CE9988D869DD}"/>
              </a:ext>
            </a:extLst>
          </p:cNvPr>
          <p:cNvSpPr/>
          <p:nvPr/>
        </p:nvSpPr>
        <p:spPr>
          <a:xfrm>
            <a:off x="4587935" y="2579263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="" xmlns:a16="http://schemas.microsoft.com/office/drawing/2014/main" id="{A878B83A-9006-D2B3-60B8-E2D14A5914D1}"/>
              </a:ext>
            </a:extLst>
          </p:cNvPr>
          <p:cNvCxnSpPr>
            <a:stCxn id="8" idx="0"/>
            <a:endCxn id="17" idx="4"/>
          </p:cNvCxnSpPr>
          <p:nvPr/>
        </p:nvCxnSpPr>
        <p:spPr>
          <a:xfrm flipV="1">
            <a:off x="4724460" y="2852313"/>
            <a:ext cx="0" cy="883789"/>
          </a:xfrm>
          <a:prstGeom prst="straightConnector1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="" xmlns:a16="http://schemas.microsoft.com/office/drawing/2014/main" id="{43F4CC40-6B8A-C2D7-30F9-5E2A663458EB}"/>
              </a:ext>
            </a:extLst>
          </p:cNvPr>
          <p:cNvCxnSpPr>
            <a:cxnSpLocks/>
            <a:endCxn id="11" idx="2"/>
          </p:cNvCxnSpPr>
          <p:nvPr/>
        </p:nvCxnSpPr>
        <p:spPr>
          <a:xfrm rot="5400000" flipH="1" flipV="1">
            <a:off x="5288165" y="3260341"/>
            <a:ext cx="641827" cy="2194687"/>
          </a:xfrm>
          <a:prstGeom prst="bentConnector3">
            <a:avLst>
              <a:gd name="adj1" fmla="val 67289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="" xmlns:a16="http://schemas.microsoft.com/office/drawing/2014/main" id="{584D7DD5-AF06-660E-B8AB-56FEBD03D05B}"/>
              </a:ext>
            </a:extLst>
          </p:cNvPr>
          <p:cNvCxnSpPr>
            <a:cxnSpLocks/>
          </p:cNvCxnSpPr>
          <p:nvPr/>
        </p:nvCxnSpPr>
        <p:spPr>
          <a:xfrm>
            <a:off x="4724460" y="4033974"/>
            <a:ext cx="0" cy="211613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="" xmlns:a16="http://schemas.microsoft.com/office/drawing/2014/main" id="{76F3A98F-48B9-9CD1-B9F1-E75DD2E8FE3C}"/>
              </a:ext>
            </a:extLst>
          </p:cNvPr>
          <p:cNvCxnSpPr>
            <a:cxnSpLocks/>
          </p:cNvCxnSpPr>
          <p:nvPr/>
        </p:nvCxnSpPr>
        <p:spPr>
          <a:xfrm>
            <a:off x="5283260" y="4033974"/>
            <a:ext cx="0" cy="211613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="" xmlns:a16="http://schemas.microsoft.com/office/drawing/2014/main" id="{72E979E6-DCC4-331B-D941-6882D88766DC}"/>
              </a:ext>
            </a:extLst>
          </p:cNvPr>
          <p:cNvCxnSpPr>
            <a:cxnSpLocks/>
          </p:cNvCxnSpPr>
          <p:nvPr/>
        </p:nvCxnSpPr>
        <p:spPr>
          <a:xfrm>
            <a:off x="5988110" y="4033974"/>
            <a:ext cx="0" cy="211613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Oval 36">
            <a:extLst>
              <a:ext uri="{FF2B5EF4-FFF2-40B4-BE49-F238E27FC236}">
                <a16:creationId xmlns="" xmlns:a16="http://schemas.microsoft.com/office/drawing/2014/main" id="{BCF5E98C-CA06-9023-8D8F-DC58885C84A8}"/>
              </a:ext>
            </a:extLst>
          </p:cNvPr>
          <p:cNvSpPr/>
          <p:nvPr/>
        </p:nvSpPr>
        <p:spPr>
          <a:xfrm>
            <a:off x="5856481" y="3328952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="" xmlns:a16="http://schemas.microsoft.com/office/drawing/2014/main" id="{6EAF062E-2592-CB45-36A5-2A33D358D8BF}"/>
              </a:ext>
            </a:extLst>
          </p:cNvPr>
          <p:cNvCxnSpPr>
            <a:cxnSpLocks/>
            <a:stCxn id="12" idx="0"/>
            <a:endCxn id="37" idx="4"/>
          </p:cNvCxnSpPr>
          <p:nvPr/>
        </p:nvCxnSpPr>
        <p:spPr>
          <a:xfrm flipH="1" flipV="1">
            <a:off x="5993006" y="3602002"/>
            <a:ext cx="868" cy="134100"/>
          </a:xfrm>
          <a:prstGeom prst="straightConnector1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8" name="Oval 47">
            <a:extLst>
              <a:ext uri="{FF2B5EF4-FFF2-40B4-BE49-F238E27FC236}">
                <a16:creationId xmlns="" xmlns:a16="http://schemas.microsoft.com/office/drawing/2014/main" id="{52EAE681-2114-E3E3-C3A4-320425997F09}"/>
              </a:ext>
            </a:extLst>
          </p:cNvPr>
          <p:cNvSpPr/>
          <p:nvPr/>
        </p:nvSpPr>
        <p:spPr>
          <a:xfrm>
            <a:off x="5853141" y="2580426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+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="" xmlns:a16="http://schemas.microsoft.com/office/drawing/2014/main" id="{D1D65BD3-E604-D135-F107-EC4CC81E93DD}"/>
              </a:ext>
            </a:extLst>
          </p:cNvPr>
          <p:cNvCxnSpPr>
            <a:cxnSpLocks/>
            <a:stCxn id="37" idx="0"/>
            <a:endCxn id="48" idx="4"/>
          </p:cNvCxnSpPr>
          <p:nvPr/>
        </p:nvCxnSpPr>
        <p:spPr>
          <a:xfrm flipH="1" flipV="1">
            <a:off x="5989666" y="2853476"/>
            <a:ext cx="3340" cy="475476"/>
          </a:xfrm>
          <a:prstGeom prst="straightConnector1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2" name="Oval 51">
            <a:extLst>
              <a:ext uri="{FF2B5EF4-FFF2-40B4-BE49-F238E27FC236}">
                <a16:creationId xmlns="" xmlns:a16="http://schemas.microsoft.com/office/drawing/2014/main" id="{C9DC9C7A-C05F-76B8-966F-44753826D4BF}"/>
              </a:ext>
            </a:extLst>
          </p:cNvPr>
          <p:cNvSpPr/>
          <p:nvPr/>
        </p:nvSpPr>
        <p:spPr>
          <a:xfrm>
            <a:off x="7100175" y="3328952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57" name="Straight Connector 56">
            <a:extLst>
              <a:ext uri="{FF2B5EF4-FFF2-40B4-BE49-F238E27FC236}">
                <a16:creationId xmlns="" xmlns:a16="http://schemas.microsoft.com/office/drawing/2014/main" id="{A822FBB9-C029-EAAD-530F-8A6805EE47F8}"/>
              </a:ext>
            </a:extLst>
          </p:cNvPr>
          <p:cNvCxnSpPr>
            <a:cxnSpLocks/>
          </p:cNvCxnSpPr>
          <p:nvPr/>
        </p:nvCxnSpPr>
        <p:spPr>
          <a:xfrm flipH="1" flipV="1">
            <a:off x="7236075" y="3192538"/>
            <a:ext cx="625" cy="144000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="" xmlns:a16="http://schemas.microsoft.com/office/drawing/2014/main" id="{6BFA24E6-0E52-669D-D3F8-9864EDC5552B}"/>
              </a:ext>
            </a:extLst>
          </p:cNvPr>
          <p:cNvCxnSpPr>
            <a:cxnSpLocks/>
            <a:endCxn id="17" idx="2"/>
          </p:cNvCxnSpPr>
          <p:nvPr/>
        </p:nvCxnSpPr>
        <p:spPr>
          <a:xfrm flipV="1">
            <a:off x="4012696" y="2715788"/>
            <a:ext cx="575239" cy="168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="" xmlns:a16="http://schemas.microsoft.com/office/drawing/2014/main" id="{0BF0A013-C46F-87B6-A913-AB6006AD99D3}"/>
              </a:ext>
            </a:extLst>
          </p:cNvPr>
          <p:cNvCxnSpPr>
            <a:cxnSpLocks/>
            <a:stCxn id="17" idx="6"/>
            <a:endCxn id="48" idx="2"/>
          </p:cNvCxnSpPr>
          <p:nvPr/>
        </p:nvCxnSpPr>
        <p:spPr>
          <a:xfrm>
            <a:off x="4860985" y="2715788"/>
            <a:ext cx="992156" cy="1163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="" xmlns:a16="http://schemas.microsoft.com/office/drawing/2014/main" id="{BBA55220-0A3C-FB05-7E36-C68DDF50F072}"/>
              </a:ext>
            </a:extLst>
          </p:cNvPr>
          <p:cNvCxnSpPr>
            <a:cxnSpLocks/>
          </p:cNvCxnSpPr>
          <p:nvPr/>
        </p:nvCxnSpPr>
        <p:spPr>
          <a:xfrm>
            <a:off x="6126191" y="2715788"/>
            <a:ext cx="1980000" cy="1163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="" xmlns:a16="http://schemas.microsoft.com/office/drawing/2014/main" id="{CF73AECF-36D3-CBDF-5806-CA480B4C4499}"/>
              </a:ext>
            </a:extLst>
          </p:cNvPr>
          <p:cNvCxnSpPr>
            <a:cxnSpLocks/>
          </p:cNvCxnSpPr>
          <p:nvPr/>
        </p:nvCxnSpPr>
        <p:spPr>
          <a:xfrm flipH="1" flipV="1">
            <a:off x="7232357" y="2715838"/>
            <a:ext cx="625" cy="180000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Connector: Elbow 77">
            <a:extLst>
              <a:ext uri="{FF2B5EF4-FFF2-40B4-BE49-F238E27FC236}">
                <a16:creationId xmlns="" xmlns:a16="http://schemas.microsoft.com/office/drawing/2014/main" id="{A0680E3E-2512-6A1A-E3EA-44839A3E0D64}"/>
              </a:ext>
            </a:extLst>
          </p:cNvPr>
          <p:cNvCxnSpPr>
            <a:cxnSpLocks/>
            <a:endCxn id="52" idx="2"/>
          </p:cNvCxnSpPr>
          <p:nvPr/>
        </p:nvCxnSpPr>
        <p:spPr>
          <a:xfrm flipV="1">
            <a:off x="6706422" y="3465477"/>
            <a:ext cx="393753" cy="270625"/>
          </a:xfrm>
          <a:prstGeom prst="bentConnector3">
            <a:avLst>
              <a:gd name="adj1" fmla="val 1620"/>
            </a:avLst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="" xmlns:a16="http://schemas.microsoft.com/office/drawing/2014/main" id="{A4015C41-4587-E1BF-7A8F-3DF236C02ABD}"/>
              </a:ext>
            </a:extLst>
          </p:cNvPr>
          <p:cNvCxnSpPr>
            <a:stCxn id="10" idx="0"/>
            <a:endCxn id="37" idx="2"/>
          </p:cNvCxnSpPr>
          <p:nvPr/>
        </p:nvCxnSpPr>
        <p:spPr>
          <a:xfrm rot="5400000" flipH="1" flipV="1">
            <a:off x="5437228" y="3316849"/>
            <a:ext cx="270625" cy="567882"/>
          </a:xfrm>
          <a:prstGeom prst="bentConnector2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="" xmlns:a16="http://schemas.microsoft.com/office/drawing/2014/main" id="{089EBFBE-86AF-DCA0-9896-A6D5E6FBA8F6}"/>
              </a:ext>
            </a:extLst>
          </p:cNvPr>
          <p:cNvCxnSpPr>
            <a:cxnSpLocks/>
          </p:cNvCxnSpPr>
          <p:nvPr/>
        </p:nvCxnSpPr>
        <p:spPr>
          <a:xfrm>
            <a:off x="7233694" y="4241954"/>
            <a:ext cx="876634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="" xmlns:a16="http://schemas.microsoft.com/office/drawing/2014/main" id="{10EF1A2A-AF97-E7D2-178C-FFE80B3251D1}"/>
              </a:ext>
            </a:extLst>
          </p:cNvPr>
          <p:cNvCxnSpPr>
            <a:cxnSpLocks/>
            <a:endCxn id="52" idx="4"/>
          </p:cNvCxnSpPr>
          <p:nvPr/>
        </p:nvCxnSpPr>
        <p:spPr>
          <a:xfrm flipV="1">
            <a:off x="7236700" y="3602002"/>
            <a:ext cx="0" cy="639952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="" xmlns:a16="http://schemas.microsoft.com/office/drawing/2014/main" id="{C0636B7D-2A5C-4392-28D4-DBDF85E54A2A}"/>
              </a:ext>
            </a:extLst>
          </p:cNvPr>
          <p:cNvCxnSpPr>
            <a:cxnSpLocks/>
          </p:cNvCxnSpPr>
          <p:nvPr/>
        </p:nvCxnSpPr>
        <p:spPr>
          <a:xfrm flipV="1">
            <a:off x="7650185" y="2204176"/>
            <a:ext cx="0" cy="468000"/>
          </a:xfrm>
          <a:prstGeom prst="straightConnector1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="" xmlns:a16="http://schemas.microsoft.com/office/drawing/2014/main" id="{F7CB8566-5FA8-4AE1-E1A3-37AA355FE51D}"/>
              </a:ext>
            </a:extLst>
          </p:cNvPr>
          <p:cNvCxnSpPr>
            <a:cxnSpLocks/>
          </p:cNvCxnSpPr>
          <p:nvPr/>
        </p:nvCxnSpPr>
        <p:spPr>
          <a:xfrm flipH="1" flipV="1">
            <a:off x="7650185" y="2756590"/>
            <a:ext cx="625" cy="1476000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7" name="Rectangle: Rounded Corners 96">
            <a:extLst>
              <a:ext uri="{FF2B5EF4-FFF2-40B4-BE49-F238E27FC236}">
                <a16:creationId xmlns="" xmlns:a16="http://schemas.microsoft.com/office/drawing/2014/main" id="{A6D9F0B4-913F-1EED-8A29-810518E05463}"/>
              </a:ext>
            </a:extLst>
          </p:cNvPr>
          <p:cNvSpPr/>
          <p:nvPr/>
        </p:nvSpPr>
        <p:spPr>
          <a:xfrm>
            <a:off x="492094" y="2438176"/>
            <a:ext cx="3522024" cy="19812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6000" dirty="0"/>
              <a:t>A</a:t>
            </a:r>
            <a:endParaRPr lang="en-US" dirty="0"/>
          </a:p>
        </p:txBody>
      </p:sp>
      <p:cxnSp>
        <p:nvCxnSpPr>
          <p:cNvPr id="98" name="Straight Connector 97">
            <a:extLst>
              <a:ext uri="{FF2B5EF4-FFF2-40B4-BE49-F238E27FC236}">
                <a16:creationId xmlns="" xmlns:a16="http://schemas.microsoft.com/office/drawing/2014/main" id="{092FA1F5-FD24-F58C-C0EA-B1FA15F86729}"/>
              </a:ext>
            </a:extLst>
          </p:cNvPr>
          <p:cNvCxnSpPr>
            <a:cxnSpLocks/>
          </p:cNvCxnSpPr>
          <p:nvPr/>
        </p:nvCxnSpPr>
        <p:spPr>
          <a:xfrm>
            <a:off x="4012696" y="2715788"/>
            <a:ext cx="212435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="" xmlns:a16="http://schemas.microsoft.com/office/drawing/2014/main" id="{C2AF8E87-6151-A661-474A-AD4443F2A4DC}"/>
              </a:ext>
            </a:extLst>
          </p:cNvPr>
          <p:cNvCxnSpPr>
            <a:cxnSpLocks/>
          </p:cNvCxnSpPr>
          <p:nvPr/>
        </p:nvCxnSpPr>
        <p:spPr>
          <a:xfrm flipV="1">
            <a:off x="3971971" y="4234824"/>
            <a:ext cx="575239" cy="168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="" xmlns:a16="http://schemas.microsoft.com/office/drawing/2014/main" id="{E38F9929-0D9E-7BAE-3976-F3AACAC47318}"/>
              </a:ext>
            </a:extLst>
          </p:cNvPr>
          <p:cNvCxnSpPr>
            <a:cxnSpLocks/>
          </p:cNvCxnSpPr>
          <p:nvPr/>
        </p:nvCxnSpPr>
        <p:spPr>
          <a:xfrm>
            <a:off x="3971971" y="4238634"/>
            <a:ext cx="212435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3" name="Rectangle: Rounded Corners 102">
            <a:extLst>
              <a:ext uri="{FF2B5EF4-FFF2-40B4-BE49-F238E27FC236}">
                <a16:creationId xmlns="" xmlns:a16="http://schemas.microsoft.com/office/drawing/2014/main" id="{0549E296-9BF6-1073-36A7-44A6BC84E646}"/>
              </a:ext>
            </a:extLst>
          </p:cNvPr>
          <p:cNvSpPr/>
          <p:nvPr/>
        </p:nvSpPr>
        <p:spPr>
          <a:xfrm>
            <a:off x="8083166" y="2438176"/>
            <a:ext cx="3522024" cy="19812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6000" dirty="0"/>
              <a:t>A</a:t>
            </a:r>
            <a:endParaRPr lang="en-US" dirty="0"/>
          </a:p>
        </p:txBody>
      </p:sp>
      <p:cxnSp>
        <p:nvCxnSpPr>
          <p:cNvPr id="104" name="Straight Connector 103">
            <a:extLst>
              <a:ext uri="{FF2B5EF4-FFF2-40B4-BE49-F238E27FC236}">
                <a16:creationId xmlns="" xmlns:a16="http://schemas.microsoft.com/office/drawing/2014/main" id="{3F4FFE22-901A-5ECB-8DD0-DE274D49C1CE}"/>
              </a:ext>
            </a:extLst>
          </p:cNvPr>
          <p:cNvCxnSpPr>
            <a:cxnSpLocks/>
          </p:cNvCxnSpPr>
          <p:nvPr/>
        </p:nvCxnSpPr>
        <p:spPr>
          <a:xfrm>
            <a:off x="11572921" y="4241954"/>
            <a:ext cx="212435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="" xmlns:a16="http://schemas.microsoft.com/office/drawing/2014/main" id="{63C39462-6C16-B627-F0AA-034DBCEEAFBA}"/>
              </a:ext>
            </a:extLst>
          </p:cNvPr>
          <p:cNvCxnSpPr>
            <a:cxnSpLocks/>
          </p:cNvCxnSpPr>
          <p:nvPr/>
        </p:nvCxnSpPr>
        <p:spPr>
          <a:xfrm>
            <a:off x="11606773" y="2715942"/>
            <a:ext cx="212435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TextBox 107">
                <a:extLst>
                  <a:ext uri="{FF2B5EF4-FFF2-40B4-BE49-F238E27FC236}">
                    <a16:creationId xmlns="" xmlns:a16="http://schemas.microsoft.com/office/drawing/2014/main" id="{74B7AA29-1794-6E8C-61F5-28A8A04CC1A1}"/>
                  </a:ext>
                </a:extLst>
              </p:cNvPr>
              <p:cNvSpPr txBox="1"/>
              <p:nvPr/>
            </p:nvSpPr>
            <p:spPr>
              <a:xfrm>
                <a:off x="234415" y="4579126"/>
                <a:ext cx="102457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74B7AA29-1794-6E8C-61F5-28A8A04CC1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4415" y="4579126"/>
                <a:ext cx="1024570" cy="369332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0" name="Straight Connector 109">
            <a:extLst>
              <a:ext uri="{FF2B5EF4-FFF2-40B4-BE49-F238E27FC236}">
                <a16:creationId xmlns="" xmlns:a16="http://schemas.microsoft.com/office/drawing/2014/main" id="{922EF61C-EF99-D374-EA91-A8D137ADC993}"/>
              </a:ext>
            </a:extLst>
          </p:cNvPr>
          <p:cNvCxnSpPr>
            <a:cxnSpLocks/>
          </p:cNvCxnSpPr>
          <p:nvPr/>
        </p:nvCxnSpPr>
        <p:spPr>
          <a:xfrm flipV="1">
            <a:off x="702412" y="4392609"/>
            <a:ext cx="0" cy="2880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="" xmlns:a16="http://schemas.microsoft.com/office/drawing/2014/main" id="{A2DA2877-36E8-DE52-7D68-11E5A3DA45FF}"/>
              </a:ext>
            </a:extLst>
          </p:cNvPr>
          <p:cNvCxnSpPr>
            <a:cxnSpLocks/>
          </p:cNvCxnSpPr>
          <p:nvPr/>
        </p:nvCxnSpPr>
        <p:spPr>
          <a:xfrm flipV="1">
            <a:off x="8276770" y="4392609"/>
            <a:ext cx="0" cy="2880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="" xmlns:a16="http://schemas.microsoft.com/office/drawing/2014/main" id="{E7D096F0-65EF-76A1-E864-DEFDD7B1DF2E}"/>
              </a:ext>
            </a:extLst>
          </p:cNvPr>
          <p:cNvCxnSpPr>
            <a:cxnSpLocks/>
          </p:cNvCxnSpPr>
          <p:nvPr/>
        </p:nvCxnSpPr>
        <p:spPr>
          <a:xfrm flipV="1">
            <a:off x="11404780" y="2212072"/>
            <a:ext cx="0" cy="273953"/>
          </a:xfrm>
          <a:prstGeom prst="straightConnector1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4" name="Straight Arrow Connector 123">
            <a:extLst>
              <a:ext uri="{FF2B5EF4-FFF2-40B4-BE49-F238E27FC236}">
                <a16:creationId xmlns="" xmlns:a16="http://schemas.microsoft.com/office/drawing/2014/main" id="{43419660-66CC-40DA-03A8-9CA6E7C0AF37}"/>
              </a:ext>
            </a:extLst>
          </p:cNvPr>
          <p:cNvCxnSpPr>
            <a:cxnSpLocks/>
          </p:cNvCxnSpPr>
          <p:nvPr/>
        </p:nvCxnSpPr>
        <p:spPr>
          <a:xfrm flipV="1">
            <a:off x="3693922" y="2204176"/>
            <a:ext cx="0" cy="234000"/>
          </a:xfrm>
          <a:prstGeom prst="straightConnector1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1">
                <a:extLst>
                  <a:ext uri="{FF2B5EF4-FFF2-40B4-BE49-F238E27FC236}">
                    <a16:creationId xmlns="" xmlns:a16="http://schemas.microsoft.com/office/drawing/2014/main" id="{67B8102E-31B3-C3A9-13A3-0364FF9802EB}"/>
                  </a:ext>
                </a:extLst>
              </p:cNvPr>
              <p:cNvSpPr/>
              <p:nvPr/>
            </p:nvSpPr>
            <p:spPr>
              <a:xfrm>
                <a:off x="2646845" y="5294767"/>
                <a:ext cx="375794" cy="29787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67B8102E-31B3-C3A9-13A3-0364FF9802E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6845" y="5294767"/>
                <a:ext cx="375794" cy="297872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94483E7F-A937-DCD5-593D-9BF0A521317D}"/>
              </a:ext>
            </a:extLst>
          </p:cNvPr>
          <p:cNvSpPr txBox="1"/>
          <p:nvPr/>
        </p:nvSpPr>
        <p:spPr>
          <a:xfrm>
            <a:off x="1991126" y="5592639"/>
            <a:ext cx="17050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Camada densa com ativação sigmoide</a:t>
            </a:r>
            <a:endParaRPr lang="en-US" sz="1400" dirty="0"/>
          </a:p>
        </p:txBody>
      </p:sp>
      <p:sp>
        <p:nvSpPr>
          <p:cNvPr id="4" name="Oval 3">
            <a:extLst>
              <a:ext uri="{FF2B5EF4-FFF2-40B4-BE49-F238E27FC236}">
                <a16:creationId xmlns="" xmlns:a16="http://schemas.microsoft.com/office/drawing/2014/main" id="{A10A206D-DE0F-FE1C-4415-C2DFE8541DE1}"/>
              </a:ext>
            </a:extLst>
          </p:cNvPr>
          <p:cNvSpPr/>
          <p:nvPr/>
        </p:nvSpPr>
        <p:spPr>
          <a:xfrm>
            <a:off x="5608613" y="5288522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="" xmlns:a16="http://schemas.microsoft.com/office/drawing/2014/main" id="{E601EEF9-98B3-9F64-F85F-07641BA1F0E3}"/>
              </a:ext>
            </a:extLst>
          </p:cNvPr>
          <p:cNvSpPr txBox="1"/>
          <p:nvPr/>
        </p:nvSpPr>
        <p:spPr>
          <a:xfrm>
            <a:off x="5139666" y="5533393"/>
            <a:ext cx="12109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 err="1"/>
              <a:t>operação</a:t>
            </a:r>
            <a:r>
              <a:rPr lang="en-US" sz="1400" dirty="0"/>
              <a:t> </a:t>
            </a:r>
            <a:r>
              <a:rPr lang="en-US" sz="1400" dirty="0" err="1"/>
              <a:t>pontual</a:t>
            </a:r>
            <a:endParaRPr lang="en-US" sz="1400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="" xmlns:a16="http://schemas.microsoft.com/office/drawing/2014/main" id="{4CCF47AF-2D48-1D6C-D27B-0CC557A4D3BC}"/>
              </a:ext>
            </a:extLst>
          </p:cNvPr>
          <p:cNvCxnSpPr>
            <a:cxnSpLocks/>
          </p:cNvCxnSpPr>
          <p:nvPr/>
        </p:nvCxnSpPr>
        <p:spPr>
          <a:xfrm>
            <a:off x="6637778" y="5441203"/>
            <a:ext cx="576000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="" xmlns:a16="http://schemas.microsoft.com/office/drawing/2014/main" id="{D4D46D6C-FBD0-36BF-A4A0-F0AA4C62BC59}"/>
              </a:ext>
            </a:extLst>
          </p:cNvPr>
          <p:cNvSpPr txBox="1"/>
          <p:nvPr/>
        </p:nvSpPr>
        <p:spPr>
          <a:xfrm>
            <a:off x="6275192" y="5531005"/>
            <a:ext cx="12109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 err="1"/>
              <a:t>transferência</a:t>
            </a:r>
            <a:r>
              <a:rPr lang="en-US" sz="1400" dirty="0"/>
              <a:t> de </a:t>
            </a:r>
            <a:r>
              <a:rPr lang="en-US" sz="1400" dirty="0" err="1"/>
              <a:t>vetor</a:t>
            </a:r>
            <a:endParaRPr lang="en-US" sz="1400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="" xmlns:a16="http://schemas.microsoft.com/office/drawing/2014/main" id="{87FE6DA6-5752-4BD9-4B22-C5A902BD5C6B}"/>
              </a:ext>
            </a:extLst>
          </p:cNvPr>
          <p:cNvCxnSpPr>
            <a:cxnSpLocks/>
          </p:cNvCxnSpPr>
          <p:nvPr/>
        </p:nvCxnSpPr>
        <p:spPr>
          <a:xfrm>
            <a:off x="7871574" y="5441203"/>
            <a:ext cx="576000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="" xmlns:a16="http://schemas.microsoft.com/office/drawing/2014/main" id="{4AA379DA-FDF4-4C2E-212F-301E5D1A6625}"/>
              </a:ext>
            </a:extLst>
          </p:cNvPr>
          <p:cNvCxnSpPr/>
          <p:nvPr/>
        </p:nvCxnSpPr>
        <p:spPr>
          <a:xfrm>
            <a:off x="8134689" y="5434573"/>
            <a:ext cx="0" cy="29041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="" xmlns:a16="http://schemas.microsoft.com/office/drawing/2014/main" id="{F2C1639E-62C8-EF4F-BC59-06D35F047F64}"/>
              </a:ext>
            </a:extLst>
          </p:cNvPr>
          <p:cNvSpPr txBox="1"/>
          <p:nvPr/>
        </p:nvSpPr>
        <p:spPr>
          <a:xfrm>
            <a:off x="7538311" y="5690289"/>
            <a:ext cx="121094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 err="1"/>
              <a:t>concatenação</a:t>
            </a:r>
            <a:endParaRPr lang="en-US" sz="1400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="" xmlns:a16="http://schemas.microsoft.com/office/drawing/2014/main" id="{456BE94A-7B45-0DB7-05F1-86A17C409BD0}"/>
              </a:ext>
            </a:extLst>
          </p:cNvPr>
          <p:cNvCxnSpPr>
            <a:cxnSpLocks/>
          </p:cNvCxnSpPr>
          <p:nvPr/>
        </p:nvCxnSpPr>
        <p:spPr>
          <a:xfrm>
            <a:off x="9030310" y="5689985"/>
            <a:ext cx="576000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="" xmlns:a16="http://schemas.microsoft.com/office/drawing/2014/main" id="{0868D48C-258F-30A1-C079-D3E227346BD5}"/>
              </a:ext>
            </a:extLst>
          </p:cNvPr>
          <p:cNvCxnSpPr/>
          <p:nvPr/>
        </p:nvCxnSpPr>
        <p:spPr>
          <a:xfrm>
            <a:off x="9293364" y="5385798"/>
            <a:ext cx="0" cy="290413"/>
          </a:xfrm>
          <a:prstGeom prst="line">
            <a:avLst/>
          </a:prstGeom>
          <a:ln w="1905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="" xmlns:a16="http://schemas.microsoft.com/office/drawing/2014/main" id="{82CB8A93-557A-5259-EB5A-85D7D4D96AD1}"/>
              </a:ext>
            </a:extLst>
          </p:cNvPr>
          <p:cNvSpPr txBox="1"/>
          <p:nvPr/>
        </p:nvSpPr>
        <p:spPr>
          <a:xfrm>
            <a:off x="8664743" y="5681618"/>
            <a:ext cx="121094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 err="1"/>
              <a:t>cópia</a:t>
            </a:r>
            <a:endParaRPr 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="" xmlns:a16="http://schemas.microsoft.com/office/drawing/2014/main" id="{2246AAD0-1376-49ED-6106-0413203680D6}"/>
                  </a:ext>
                </a:extLst>
              </p:cNvPr>
              <p:cNvSpPr txBox="1"/>
              <p:nvPr/>
            </p:nvSpPr>
            <p:spPr>
              <a:xfrm>
                <a:off x="4285614" y="4613929"/>
                <a:ext cx="4320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2246AAD0-1376-49ED-6106-0413203680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5614" y="4613929"/>
                <a:ext cx="432000" cy="369332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="" xmlns:a16="http://schemas.microsoft.com/office/drawing/2014/main" id="{679AA4D9-0CBE-CBE0-7232-D2B675E04931}"/>
                  </a:ext>
                </a:extLst>
              </p:cNvPr>
              <p:cNvSpPr txBox="1"/>
              <p:nvPr/>
            </p:nvSpPr>
            <p:spPr>
              <a:xfrm>
                <a:off x="7870263" y="4592155"/>
                <a:ext cx="88522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679AA4D9-0CBE-CBE0-7232-D2B675E049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0263" y="4592155"/>
                <a:ext cx="885222" cy="369332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="" xmlns:a16="http://schemas.microsoft.com/office/drawing/2014/main" id="{96FA6F2C-8E33-655A-EAEF-0D0E286BD191}"/>
                  </a:ext>
                </a:extLst>
              </p:cNvPr>
              <p:cNvSpPr txBox="1"/>
              <p:nvPr/>
            </p:nvSpPr>
            <p:spPr>
              <a:xfrm>
                <a:off x="10900134" y="1834844"/>
                <a:ext cx="88522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96FA6F2C-8E33-655A-EAEF-0D0E286BD1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00134" y="1834844"/>
                <a:ext cx="885222" cy="369332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="" xmlns:a16="http://schemas.microsoft.com/office/drawing/2014/main" id="{2E911784-46DC-FD4B-8F99-C5D6064602E6}"/>
                  </a:ext>
                </a:extLst>
              </p:cNvPr>
              <p:cNvSpPr txBox="1"/>
              <p:nvPr/>
            </p:nvSpPr>
            <p:spPr>
              <a:xfrm>
                <a:off x="7229557" y="1834844"/>
                <a:ext cx="88522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2E911784-46DC-FD4B-8F99-C5D6064602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9557" y="1834844"/>
                <a:ext cx="885222" cy="369332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="" xmlns:a16="http://schemas.microsoft.com/office/drawing/2014/main" id="{5276B13D-7144-BE36-299F-CE78D79813D4}"/>
                  </a:ext>
                </a:extLst>
              </p:cNvPr>
              <p:cNvSpPr txBox="1"/>
              <p:nvPr/>
            </p:nvSpPr>
            <p:spPr>
              <a:xfrm>
                <a:off x="3237173" y="1834844"/>
                <a:ext cx="88522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5276B13D-7144-BE36-299F-CE78D79813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7173" y="1834844"/>
                <a:ext cx="885222" cy="369332"/>
              </a:xfrm>
              <a:prstGeom prst="rect">
                <a:avLst/>
              </a:prstGeom>
              <a:blipFill rotWithShape="0"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ectangle 37">
            <a:extLst>
              <a:ext uri="{FF2B5EF4-FFF2-40B4-BE49-F238E27FC236}">
                <a16:creationId xmlns="" xmlns:a16="http://schemas.microsoft.com/office/drawing/2014/main" id="{8A9D5604-42D8-94B0-F0FA-40F8A5FE0687}"/>
              </a:ext>
            </a:extLst>
          </p:cNvPr>
          <p:cNvSpPr/>
          <p:nvPr/>
        </p:nvSpPr>
        <p:spPr>
          <a:xfrm>
            <a:off x="4263911" y="5283385"/>
            <a:ext cx="588587" cy="29787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600" dirty="0" err="1">
                <a:solidFill>
                  <a:schemeClr val="tx1"/>
                </a:solidFill>
              </a:rPr>
              <a:t>tanh</a:t>
            </a:r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="" xmlns:a16="http://schemas.microsoft.com/office/drawing/2014/main" id="{36895CF3-782C-C5FB-0D92-D28EF588D039}"/>
              </a:ext>
            </a:extLst>
          </p:cNvPr>
          <p:cNvSpPr txBox="1"/>
          <p:nvPr/>
        </p:nvSpPr>
        <p:spPr>
          <a:xfrm>
            <a:off x="3608193" y="5581257"/>
            <a:ext cx="17050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Camada densa com ativação </a:t>
            </a:r>
            <a:r>
              <a:rPr lang="pt-BR" sz="1400" dirty="0" err="1"/>
              <a:t>tanh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947565797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8D4EC042-7CB7-B389-4F07-73C2D81EF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1"/>
          <p:cNvGrpSpPr/>
          <p:nvPr/>
        </p:nvGrpSpPr>
        <p:grpSpPr>
          <a:xfrm>
            <a:off x="1975628" y="1834844"/>
            <a:ext cx="7884560" cy="4250019"/>
            <a:chOff x="1975628" y="1834844"/>
            <a:chExt cx="7884560" cy="4250019"/>
          </a:xfrm>
        </p:grpSpPr>
        <p:grpSp>
          <p:nvGrpSpPr>
            <p:cNvPr id="43" name="Group 42">
              <a:extLst>
                <a:ext uri="{FF2B5EF4-FFF2-40B4-BE49-F238E27FC236}">
                  <a16:creationId xmlns="" xmlns:a16="http://schemas.microsoft.com/office/drawing/2014/main" id="{62617247-07D2-6657-99D1-398FE3BE06C0}"/>
                </a:ext>
              </a:extLst>
            </p:cNvPr>
            <p:cNvGrpSpPr/>
            <p:nvPr/>
          </p:nvGrpSpPr>
          <p:grpSpPr>
            <a:xfrm>
              <a:off x="3489806" y="1834844"/>
              <a:ext cx="5319746" cy="3227138"/>
              <a:chOff x="3489806" y="1834844"/>
              <a:chExt cx="5319746" cy="3227138"/>
            </a:xfrm>
          </p:grpSpPr>
          <p:sp>
            <p:nvSpPr>
              <p:cNvPr id="39" name="Rectangle: Rounded Corners 38">
                <a:extLst>
                  <a:ext uri="{FF2B5EF4-FFF2-40B4-BE49-F238E27FC236}">
                    <a16:creationId xmlns="" xmlns:a16="http://schemas.microsoft.com/office/drawing/2014/main" id="{F9B84FA2-83D7-7AD8-9610-5A415E5EE1A1}"/>
                  </a:ext>
                </a:extLst>
              </p:cNvPr>
              <p:cNvSpPr/>
              <p:nvPr/>
            </p:nvSpPr>
            <p:spPr>
              <a:xfrm>
                <a:off x="4301176" y="2438400"/>
                <a:ext cx="3522024" cy="1981200"/>
              </a:xfrm>
              <a:prstGeom prst="round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Rectangle 7">
                    <a:extLst>
                      <a:ext uri="{FF2B5EF4-FFF2-40B4-BE49-F238E27FC236}">
                        <a16:creationId xmlns="" xmlns:a16="http://schemas.microsoft.com/office/drawing/2014/main" id="{62E9A632-1F8F-BB2C-9A7A-07DEA62B46A1}"/>
                      </a:ext>
                    </a:extLst>
                  </p:cNvPr>
                  <p:cNvSpPr/>
                  <p:nvPr/>
                </p:nvSpPr>
                <p:spPr>
                  <a:xfrm>
                    <a:off x="4558205" y="3736102"/>
                    <a:ext cx="332510" cy="297872"/>
                  </a:xfrm>
                  <a:prstGeom prst="rect">
                    <a:avLst/>
                  </a:prstGeom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62E9A632-1F8F-BB2C-9A7A-07DEA62B46A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558205" y="3736102"/>
                    <a:ext cx="332510" cy="29787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Rectangle 9">
                    <a:extLst>
                      <a:ext uri="{FF2B5EF4-FFF2-40B4-BE49-F238E27FC236}">
                        <a16:creationId xmlns="" xmlns:a16="http://schemas.microsoft.com/office/drawing/2014/main" id="{9B13C382-E365-0604-E2B1-4396795DE5DD}"/>
                      </a:ext>
                    </a:extLst>
                  </p:cNvPr>
                  <p:cNvSpPr/>
                  <p:nvPr/>
                </p:nvSpPr>
                <p:spPr>
                  <a:xfrm>
                    <a:off x="5122344" y="3736102"/>
                    <a:ext cx="332510" cy="297872"/>
                  </a:xfrm>
                  <a:prstGeom prst="rect">
                    <a:avLst/>
                  </a:prstGeom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9B13C382-E365-0604-E2B1-4396795DE5D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22344" y="3736102"/>
                    <a:ext cx="332510" cy="29787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Rectangle 10">
                    <a:extLst>
                      <a:ext uri="{FF2B5EF4-FFF2-40B4-BE49-F238E27FC236}">
                        <a16:creationId xmlns="" xmlns:a16="http://schemas.microsoft.com/office/drawing/2014/main" id="{28298EA5-A736-9895-9469-3658052D65D0}"/>
                      </a:ext>
                    </a:extLst>
                  </p:cNvPr>
                  <p:cNvSpPr/>
                  <p:nvPr/>
                </p:nvSpPr>
                <p:spPr>
                  <a:xfrm>
                    <a:off x="6540167" y="3738898"/>
                    <a:ext cx="332510" cy="297872"/>
                  </a:xfrm>
                  <a:prstGeom prst="rect">
                    <a:avLst/>
                  </a:prstGeom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28298EA5-A736-9895-9469-3658052D65D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40167" y="3738898"/>
                    <a:ext cx="332510" cy="29787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" name="Rectangle 11">
                <a:extLst>
                  <a:ext uri="{FF2B5EF4-FFF2-40B4-BE49-F238E27FC236}">
                    <a16:creationId xmlns="" xmlns:a16="http://schemas.microsoft.com/office/drawing/2014/main" id="{FE2E3973-7BB3-5423-9E41-4A439D4AD2FA}"/>
                  </a:ext>
                </a:extLst>
              </p:cNvPr>
              <p:cNvSpPr/>
              <p:nvPr/>
            </p:nvSpPr>
            <p:spPr>
              <a:xfrm>
                <a:off x="5686483" y="3736102"/>
                <a:ext cx="614781" cy="29787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="" xmlns:a16="http://schemas.microsoft.com/office/drawing/2014/main" id="{357EC369-9B76-A27D-EDC3-890F0716751F}"/>
                  </a:ext>
                </a:extLst>
              </p:cNvPr>
              <p:cNvGrpSpPr/>
              <p:nvPr/>
            </p:nvGrpSpPr>
            <p:grpSpPr>
              <a:xfrm>
                <a:off x="6922167" y="2849398"/>
                <a:ext cx="627482" cy="369332"/>
                <a:chOff x="6108367" y="2910505"/>
                <a:chExt cx="627482" cy="369332"/>
              </a:xfrm>
            </p:grpSpPr>
            <p:sp>
              <p:nvSpPr>
                <p:cNvPr id="13" name="Oval 12">
                  <a:extLst>
                    <a:ext uri="{FF2B5EF4-FFF2-40B4-BE49-F238E27FC236}">
                      <a16:creationId xmlns="" xmlns:a16="http://schemas.microsoft.com/office/drawing/2014/main" id="{1105FA2D-CACC-93FD-8147-BCE771CE8357}"/>
                    </a:ext>
                  </a:extLst>
                </p:cNvPr>
                <p:cNvSpPr/>
                <p:nvPr/>
              </p:nvSpPr>
              <p:spPr>
                <a:xfrm>
                  <a:off x="6108367" y="2964609"/>
                  <a:ext cx="614781" cy="297873"/>
                </a:xfrm>
                <a:prstGeom prst="ellipse">
                  <a:avLst/>
                </a:prstGeom>
                <a:solidFill>
                  <a:schemeClr val="accent2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050" dirty="0"/>
                </a:p>
              </p:txBody>
            </p:sp>
            <p:sp>
              <p:nvSpPr>
                <p:cNvPr id="15" name="TextBox 14">
                  <a:extLst>
                    <a:ext uri="{FF2B5EF4-FFF2-40B4-BE49-F238E27FC236}">
                      <a16:creationId xmlns="" xmlns:a16="http://schemas.microsoft.com/office/drawing/2014/main" id="{007EE48F-7B86-5BD2-1F8C-469594A636F0}"/>
                    </a:ext>
                  </a:extLst>
                </p:cNvPr>
                <p:cNvSpPr txBox="1"/>
                <p:nvPr/>
              </p:nvSpPr>
              <p:spPr>
                <a:xfrm>
                  <a:off x="6108701" y="2910505"/>
                  <a:ext cx="6271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pt-BR" dirty="0" err="1">
                      <a:solidFill>
                        <a:schemeClr val="tx1"/>
                      </a:solidFill>
                    </a:rPr>
                    <a:t>tanh</a:t>
                  </a:r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p:grpSp>
          <p:sp>
            <p:nvSpPr>
              <p:cNvPr id="17" name="Oval 16">
                <a:extLst>
                  <a:ext uri="{FF2B5EF4-FFF2-40B4-BE49-F238E27FC236}">
                    <a16:creationId xmlns="" xmlns:a16="http://schemas.microsoft.com/office/drawing/2014/main" id="{734FE972-9F06-C11C-3F53-9D4666EC5095}"/>
                  </a:ext>
                </a:extLst>
              </p:cNvPr>
              <p:cNvSpPr/>
              <p:nvPr/>
            </p:nvSpPr>
            <p:spPr>
              <a:xfrm>
                <a:off x="4587935" y="2579263"/>
                <a:ext cx="273050" cy="273050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x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20" name="Straight Arrow Connector 19">
                <a:extLst>
                  <a:ext uri="{FF2B5EF4-FFF2-40B4-BE49-F238E27FC236}">
                    <a16:creationId xmlns="" xmlns:a16="http://schemas.microsoft.com/office/drawing/2014/main" id="{EA318A7D-6AD1-A164-9144-BD5F28A4E7B7}"/>
                  </a:ext>
                </a:extLst>
              </p:cNvPr>
              <p:cNvCxnSpPr>
                <a:stCxn id="8" idx="0"/>
                <a:endCxn id="17" idx="4"/>
              </p:cNvCxnSpPr>
              <p:nvPr/>
            </p:nvCxnSpPr>
            <p:spPr>
              <a:xfrm flipV="1">
                <a:off x="4724460" y="2852313"/>
                <a:ext cx="0" cy="883789"/>
              </a:xfrm>
              <a:prstGeom prst="straightConnector1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Connector: Elbow 29">
                <a:extLst>
                  <a:ext uri="{FF2B5EF4-FFF2-40B4-BE49-F238E27FC236}">
                    <a16:creationId xmlns="" xmlns:a16="http://schemas.microsoft.com/office/drawing/2014/main" id="{AE5B4441-DF89-25A1-3560-8E5404670E96}"/>
                  </a:ext>
                </a:extLst>
              </p:cNvPr>
              <p:cNvCxnSpPr>
                <a:cxnSpLocks/>
                <a:endCxn id="11" idx="2"/>
              </p:cNvCxnSpPr>
              <p:nvPr/>
            </p:nvCxnSpPr>
            <p:spPr>
              <a:xfrm flipV="1">
                <a:off x="4031369" y="4036770"/>
                <a:ext cx="2675053" cy="214575"/>
              </a:xfrm>
              <a:prstGeom prst="bentConnector2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="" xmlns:a16="http://schemas.microsoft.com/office/drawing/2014/main" id="{0093E439-25EF-02C4-D9C2-A1FE29C3AD6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24460" y="4033974"/>
                <a:ext cx="0" cy="211613"/>
              </a:xfrm>
              <a:prstGeom prst="line">
                <a:avLst/>
              </a:prstGeom>
              <a:ln w="19050">
                <a:headEnd type="triangl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="" xmlns:a16="http://schemas.microsoft.com/office/drawing/2014/main" id="{A60E907D-7CA5-2C6C-E31F-2F003AE9D09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83260" y="4033974"/>
                <a:ext cx="0" cy="211613"/>
              </a:xfrm>
              <a:prstGeom prst="line">
                <a:avLst/>
              </a:prstGeom>
              <a:ln w="19050">
                <a:headEnd type="triangl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="" xmlns:a16="http://schemas.microsoft.com/office/drawing/2014/main" id="{137E1A15-7B2A-4277-FFA1-74355E9235E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88110" y="4033974"/>
                <a:ext cx="0" cy="211613"/>
              </a:xfrm>
              <a:prstGeom prst="line">
                <a:avLst/>
              </a:prstGeom>
              <a:ln w="19050">
                <a:headEnd type="triangl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7" name="Oval 36">
                <a:extLst>
                  <a:ext uri="{FF2B5EF4-FFF2-40B4-BE49-F238E27FC236}">
                    <a16:creationId xmlns="" xmlns:a16="http://schemas.microsoft.com/office/drawing/2014/main" id="{D93AEA26-EC0B-1E3E-D68C-6CE9227A173D}"/>
                  </a:ext>
                </a:extLst>
              </p:cNvPr>
              <p:cNvSpPr/>
              <p:nvPr/>
            </p:nvSpPr>
            <p:spPr>
              <a:xfrm>
                <a:off x="5856481" y="3328952"/>
                <a:ext cx="273050" cy="273050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x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47" name="Straight Arrow Connector 46">
                <a:extLst>
                  <a:ext uri="{FF2B5EF4-FFF2-40B4-BE49-F238E27FC236}">
                    <a16:creationId xmlns="" xmlns:a16="http://schemas.microsoft.com/office/drawing/2014/main" id="{461F8C01-4628-007D-8EE8-08D26131E8B9}"/>
                  </a:ext>
                </a:extLst>
              </p:cNvPr>
              <p:cNvCxnSpPr>
                <a:cxnSpLocks/>
                <a:stCxn id="12" idx="0"/>
                <a:endCxn id="37" idx="4"/>
              </p:cNvCxnSpPr>
              <p:nvPr/>
            </p:nvCxnSpPr>
            <p:spPr>
              <a:xfrm flipH="1" flipV="1">
                <a:off x="5993006" y="3602002"/>
                <a:ext cx="868" cy="134100"/>
              </a:xfrm>
              <a:prstGeom prst="straightConnector1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8" name="Oval 47">
                <a:extLst>
                  <a:ext uri="{FF2B5EF4-FFF2-40B4-BE49-F238E27FC236}">
                    <a16:creationId xmlns="" xmlns:a16="http://schemas.microsoft.com/office/drawing/2014/main" id="{F5D0673A-6CCA-67DE-BB0A-0EAB5B641853}"/>
                  </a:ext>
                </a:extLst>
              </p:cNvPr>
              <p:cNvSpPr/>
              <p:nvPr/>
            </p:nvSpPr>
            <p:spPr>
              <a:xfrm>
                <a:off x="5853141" y="2580426"/>
                <a:ext cx="273050" cy="273050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+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49" name="Straight Arrow Connector 48">
                <a:extLst>
                  <a:ext uri="{FF2B5EF4-FFF2-40B4-BE49-F238E27FC236}">
                    <a16:creationId xmlns="" xmlns:a16="http://schemas.microsoft.com/office/drawing/2014/main" id="{34707AEE-8AB6-332F-D775-5D47B6EAB570}"/>
                  </a:ext>
                </a:extLst>
              </p:cNvPr>
              <p:cNvCxnSpPr>
                <a:cxnSpLocks/>
                <a:stCxn id="37" idx="0"/>
                <a:endCxn id="48" idx="4"/>
              </p:cNvCxnSpPr>
              <p:nvPr/>
            </p:nvCxnSpPr>
            <p:spPr>
              <a:xfrm flipH="1" flipV="1">
                <a:off x="5989666" y="2853476"/>
                <a:ext cx="3340" cy="475476"/>
              </a:xfrm>
              <a:prstGeom prst="straightConnector1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2" name="Oval 51">
                <a:extLst>
                  <a:ext uri="{FF2B5EF4-FFF2-40B4-BE49-F238E27FC236}">
                    <a16:creationId xmlns="" xmlns:a16="http://schemas.microsoft.com/office/drawing/2014/main" id="{E3FDEDCE-1E3B-8147-4D13-A242E9C2B33E}"/>
                  </a:ext>
                </a:extLst>
              </p:cNvPr>
              <p:cNvSpPr/>
              <p:nvPr/>
            </p:nvSpPr>
            <p:spPr>
              <a:xfrm>
                <a:off x="7100175" y="3328952"/>
                <a:ext cx="273050" cy="273050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x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57" name="Straight Connector 56">
                <a:extLst>
                  <a:ext uri="{FF2B5EF4-FFF2-40B4-BE49-F238E27FC236}">
                    <a16:creationId xmlns="" xmlns:a16="http://schemas.microsoft.com/office/drawing/2014/main" id="{06E60737-7998-C245-9FB1-6B1755A8F20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7236075" y="3192538"/>
                <a:ext cx="625" cy="144000"/>
              </a:xfrm>
              <a:prstGeom prst="line">
                <a:avLst/>
              </a:prstGeom>
              <a:ln w="19050">
                <a:headEnd type="triangl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="" xmlns:a16="http://schemas.microsoft.com/office/drawing/2014/main" id="{FE690B6A-0885-819C-6118-6C7D093B193B}"/>
                  </a:ext>
                </a:extLst>
              </p:cNvPr>
              <p:cNvCxnSpPr>
                <a:cxnSpLocks/>
                <a:endCxn id="17" idx="2"/>
              </p:cNvCxnSpPr>
              <p:nvPr/>
            </p:nvCxnSpPr>
            <p:spPr>
              <a:xfrm flipV="1">
                <a:off x="4012696" y="2715788"/>
                <a:ext cx="575239" cy="168"/>
              </a:xfrm>
              <a:prstGeom prst="line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>
                <a:extLst>
                  <a:ext uri="{FF2B5EF4-FFF2-40B4-BE49-F238E27FC236}">
                    <a16:creationId xmlns="" xmlns:a16="http://schemas.microsoft.com/office/drawing/2014/main" id="{4E0DA3A1-C433-12FD-E043-1BB3EB5D0076}"/>
                  </a:ext>
                </a:extLst>
              </p:cNvPr>
              <p:cNvCxnSpPr>
                <a:cxnSpLocks/>
                <a:stCxn id="17" idx="6"/>
                <a:endCxn id="48" idx="2"/>
              </p:cNvCxnSpPr>
              <p:nvPr/>
            </p:nvCxnSpPr>
            <p:spPr>
              <a:xfrm>
                <a:off x="4860985" y="2715788"/>
                <a:ext cx="992156" cy="1163"/>
              </a:xfrm>
              <a:prstGeom prst="line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>
                <a:extLst>
                  <a:ext uri="{FF2B5EF4-FFF2-40B4-BE49-F238E27FC236}">
                    <a16:creationId xmlns="" xmlns:a16="http://schemas.microsoft.com/office/drawing/2014/main" id="{A63A645C-4CC1-5896-32E8-305EA54E21C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26191" y="2715788"/>
                <a:ext cx="1980000" cy="1163"/>
              </a:xfrm>
              <a:prstGeom prst="line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="" xmlns:a16="http://schemas.microsoft.com/office/drawing/2014/main" id="{C7FF5E71-FB7D-9609-3FC5-AD13B5F1C31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7232357" y="2715838"/>
                <a:ext cx="625" cy="180000"/>
              </a:xfrm>
              <a:prstGeom prst="line">
                <a:avLst/>
              </a:prstGeom>
              <a:ln w="19050">
                <a:headEnd type="triangl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8" name="Connector: Elbow 77">
                <a:extLst>
                  <a:ext uri="{FF2B5EF4-FFF2-40B4-BE49-F238E27FC236}">
                    <a16:creationId xmlns="" xmlns:a16="http://schemas.microsoft.com/office/drawing/2014/main" id="{942AD4B1-3DFB-E8BA-0218-D9E850190EBC}"/>
                  </a:ext>
                </a:extLst>
              </p:cNvPr>
              <p:cNvCxnSpPr>
                <a:cxnSpLocks/>
                <a:endCxn id="52" idx="2"/>
              </p:cNvCxnSpPr>
              <p:nvPr/>
            </p:nvCxnSpPr>
            <p:spPr>
              <a:xfrm flipV="1">
                <a:off x="6706422" y="3465477"/>
                <a:ext cx="393753" cy="270625"/>
              </a:xfrm>
              <a:prstGeom prst="bentConnector3">
                <a:avLst>
                  <a:gd name="adj1" fmla="val 1620"/>
                </a:avLst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3" name="Connector: Elbow 82">
                <a:extLst>
                  <a:ext uri="{FF2B5EF4-FFF2-40B4-BE49-F238E27FC236}">
                    <a16:creationId xmlns="" xmlns:a16="http://schemas.microsoft.com/office/drawing/2014/main" id="{4D8692E4-6CA5-D2CA-A76D-73771408476E}"/>
                  </a:ext>
                </a:extLst>
              </p:cNvPr>
              <p:cNvCxnSpPr>
                <a:stCxn id="10" idx="0"/>
                <a:endCxn id="37" idx="2"/>
              </p:cNvCxnSpPr>
              <p:nvPr/>
            </p:nvCxnSpPr>
            <p:spPr>
              <a:xfrm rot="5400000" flipH="1" flipV="1">
                <a:off x="5437228" y="3316849"/>
                <a:ext cx="270625" cy="567882"/>
              </a:xfrm>
              <a:prstGeom prst="bentConnector2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FF2B5EF4-FFF2-40B4-BE49-F238E27FC236}">
                    <a16:creationId xmlns="" xmlns:a16="http://schemas.microsoft.com/office/drawing/2014/main" id="{9FE0230A-FA48-1674-EE72-563556A3AD3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33694" y="4241954"/>
                <a:ext cx="876634" cy="0"/>
              </a:xfrm>
              <a:prstGeom prst="line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="" xmlns:a16="http://schemas.microsoft.com/office/drawing/2014/main" id="{DD806146-5F28-31BB-C91D-206A9C7C1949}"/>
                  </a:ext>
                </a:extLst>
              </p:cNvPr>
              <p:cNvCxnSpPr>
                <a:cxnSpLocks/>
                <a:endCxn id="52" idx="4"/>
              </p:cNvCxnSpPr>
              <p:nvPr/>
            </p:nvCxnSpPr>
            <p:spPr>
              <a:xfrm flipV="1">
                <a:off x="7236700" y="3602002"/>
                <a:ext cx="0" cy="639952"/>
              </a:xfrm>
              <a:prstGeom prst="line">
                <a:avLst/>
              </a:prstGeom>
              <a:ln w="19050"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3" name="Straight Arrow Connector 92">
                <a:extLst>
                  <a:ext uri="{FF2B5EF4-FFF2-40B4-BE49-F238E27FC236}">
                    <a16:creationId xmlns="" xmlns:a16="http://schemas.microsoft.com/office/drawing/2014/main" id="{97AFC188-C5E0-E364-C3F7-EF901703C4F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650185" y="2204176"/>
                <a:ext cx="0" cy="468000"/>
              </a:xfrm>
              <a:prstGeom prst="straightConnector1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6" name="Straight Connector 95">
                <a:extLst>
                  <a:ext uri="{FF2B5EF4-FFF2-40B4-BE49-F238E27FC236}">
                    <a16:creationId xmlns="" xmlns:a16="http://schemas.microsoft.com/office/drawing/2014/main" id="{5C32825B-E0C6-9CDA-AFFC-FEF61AC5A16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7650185" y="2756590"/>
                <a:ext cx="625" cy="1476000"/>
              </a:xfrm>
              <a:prstGeom prst="line">
                <a:avLst/>
              </a:prstGeom>
              <a:ln w="19050"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Box 6">
                    <a:extLst>
                      <a:ext uri="{FF2B5EF4-FFF2-40B4-BE49-F238E27FC236}">
                        <a16:creationId xmlns="" xmlns:a16="http://schemas.microsoft.com/office/drawing/2014/main" id="{CE32A260-F120-9DD1-2C21-2F72B830F80E}"/>
                      </a:ext>
                    </a:extLst>
                  </p:cNvPr>
                  <p:cNvSpPr txBox="1"/>
                  <p:nvPr/>
                </p:nvSpPr>
                <p:spPr>
                  <a:xfrm>
                    <a:off x="3582865" y="4033974"/>
                    <a:ext cx="43200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𝒉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CE32A260-F120-9DD1-2C21-2F72B830F8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82865" y="4033974"/>
                    <a:ext cx="432000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28169" r="-563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TextBox 26">
                    <a:extLst>
                      <a:ext uri="{FF2B5EF4-FFF2-40B4-BE49-F238E27FC236}">
                        <a16:creationId xmlns="" xmlns:a16="http://schemas.microsoft.com/office/drawing/2014/main" id="{CB757A62-58FF-F46D-A7A5-BC95B2F299AF}"/>
                      </a:ext>
                    </a:extLst>
                  </p:cNvPr>
                  <p:cNvSpPr txBox="1"/>
                  <p:nvPr/>
                </p:nvSpPr>
                <p:spPr>
                  <a:xfrm>
                    <a:off x="8030169" y="2525610"/>
                    <a:ext cx="589341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CB757A62-58FF-F46D-A7A5-BC95B2F299A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030169" y="2525610"/>
                    <a:ext cx="589341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Box 28">
                    <a:extLst>
                      <a:ext uri="{FF2B5EF4-FFF2-40B4-BE49-F238E27FC236}">
                        <a16:creationId xmlns="" xmlns:a16="http://schemas.microsoft.com/office/drawing/2014/main" id="{B53DAB36-7F1E-A38E-607F-E5656744709C}"/>
                      </a:ext>
                    </a:extLst>
                  </p:cNvPr>
                  <p:cNvSpPr txBox="1"/>
                  <p:nvPr/>
                </p:nvSpPr>
                <p:spPr>
                  <a:xfrm>
                    <a:off x="7229557" y="1834844"/>
                    <a:ext cx="885222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𝒉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B53DAB36-7F1E-A38E-607F-E5656744709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229557" y="1834844"/>
                    <a:ext cx="885222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" name="TextBox 30">
                    <a:extLst>
                      <a:ext uri="{FF2B5EF4-FFF2-40B4-BE49-F238E27FC236}">
                        <a16:creationId xmlns="" xmlns:a16="http://schemas.microsoft.com/office/drawing/2014/main" id="{D5B871EC-42BA-BC5E-43FA-B2D29508EEFD}"/>
                      </a:ext>
                    </a:extLst>
                  </p:cNvPr>
                  <p:cNvSpPr txBox="1"/>
                  <p:nvPr/>
                </p:nvSpPr>
                <p:spPr>
                  <a:xfrm>
                    <a:off x="3489806" y="2511465"/>
                    <a:ext cx="591877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D5B871EC-42BA-BC5E-43FA-B2D29508EEF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89806" y="2511465"/>
                    <a:ext cx="591877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>
                    <a:extLst>
                      <a:ext uri="{FF2B5EF4-FFF2-40B4-BE49-F238E27FC236}">
                        <a16:creationId xmlns="" xmlns:a16="http://schemas.microsoft.com/office/drawing/2014/main" id="{B05700EA-ADF6-1501-A886-A487A7F4F0DF}"/>
                      </a:ext>
                    </a:extLst>
                  </p:cNvPr>
                  <p:cNvSpPr txBox="1"/>
                  <p:nvPr/>
                </p:nvSpPr>
                <p:spPr>
                  <a:xfrm>
                    <a:off x="7924330" y="4057288"/>
                    <a:ext cx="885222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𝒉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B05700EA-ADF6-1501-A886-A487A7F4F0D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924330" y="4057288"/>
                    <a:ext cx="885222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4" name="Straight Connector 33">
                <a:extLst>
                  <a:ext uri="{FF2B5EF4-FFF2-40B4-BE49-F238E27FC236}">
                    <a16:creationId xmlns="" xmlns:a16="http://schemas.microsoft.com/office/drawing/2014/main" id="{174094E0-AD46-6D7F-26FE-DF8481A5AC18}"/>
                  </a:ext>
                </a:extLst>
              </p:cNvPr>
              <p:cNvCxnSpPr/>
              <p:nvPr/>
            </p:nvCxnSpPr>
            <p:spPr>
              <a:xfrm>
                <a:off x="4558205" y="4251345"/>
                <a:ext cx="0" cy="492105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TextBox 40">
                    <a:extLst>
                      <a:ext uri="{FF2B5EF4-FFF2-40B4-BE49-F238E27FC236}">
                        <a16:creationId xmlns="" xmlns:a16="http://schemas.microsoft.com/office/drawing/2014/main" id="{BABCE601-1CC7-DA51-8E3E-DB40B8174F54}"/>
                      </a:ext>
                    </a:extLst>
                  </p:cNvPr>
                  <p:cNvSpPr txBox="1"/>
                  <p:nvPr/>
                </p:nvSpPr>
                <p:spPr>
                  <a:xfrm>
                    <a:off x="4371935" y="4692650"/>
                    <a:ext cx="43200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BABCE601-1CC7-DA51-8E3E-DB40B8174F5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71935" y="4692650"/>
                    <a:ext cx="432000" cy="369332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Rectangle 1">
                  <a:extLst>
                    <a:ext uri="{FF2B5EF4-FFF2-40B4-BE49-F238E27FC236}">
                      <a16:creationId xmlns="" xmlns:a16="http://schemas.microsoft.com/office/drawing/2014/main" id="{67B8102E-31B3-C3A9-13A3-0364FF9802EB}"/>
                    </a:ext>
                  </a:extLst>
                </p:cNvPr>
                <p:cNvSpPr/>
                <p:nvPr/>
              </p:nvSpPr>
              <p:spPr>
                <a:xfrm>
                  <a:off x="2631347" y="5263771"/>
                  <a:ext cx="375794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0" name="Rectangle 1">
                  <a:extLst>
                    <a:ext uri="{FF2B5EF4-FFF2-40B4-BE49-F238E27FC236}">
                      <a16:creationId xmlns:a16="http://schemas.microsoft.com/office/drawing/2014/main" xmlns:a14="http://schemas.microsoft.com/office/drawing/2010/main" xmlns="" id="{67B8102E-31B3-C3A9-13A3-0364FF9802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31347" y="5263771"/>
                  <a:ext cx="375794" cy="297872"/>
                </a:xfrm>
                <a:prstGeom prst="rect">
                  <a:avLst/>
                </a:prstGeom>
                <a:blipFill rotWithShape="0"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2" name="TextBox 2">
              <a:extLst>
                <a:ext uri="{FF2B5EF4-FFF2-40B4-BE49-F238E27FC236}">
                  <a16:creationId xmlns="" xmlns:a16="http://schemas.microsoft.com/office/drawing/2014/main" id="{94483E7F-A937-DCD5-593D-9BF0A521317D}"/>
                </a:ext>
              </a:extLst>
            </p:cNvPr>
            <p:cNvSpPr txBox="1"/>
            <p:nvPr/>
          </p:nvSpPr>
          <p:spPr>
            <a:xfrm>
              <a:off x="1975628" y="5561643"/>
              <a:ext cx="170502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densa com ativação sigmoide</a:t>
              </a:r>
              <a:endParaRPr lang="en-US" sz="1400" dirty="0"/>
            </a:p>
          </p:txBody>
        </p:sp>
        <p:sp>
          <p:nvSpPr>
            <p:cNvPr id="44" name="Oval 3">
              <a:extLst>
                <a:ext uri="{FF2B5EF4-FFF2-40B4-BE49-F238E27FC236}">
                  <a16:creationId xmlns="" xmlns:a16="http://schemas.microsoft.com/office/drawing/2014/main" id="{A10A206D-DE0F-FE1C-4415-C2DFE8541DE1}"/>
                </a:ext>
              </a:extLst>
            </p:cNvPr>
            <p:cNvSpPr/>
            <p:nvPr/>
          </p:nvSpPr>
          <p:spPr>
            <a:xfrm>
              <a:off x="5593115" y="52575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5" name="TextBox 5">
              <a:extLst>
                <a:ext uri="{FF2B5EF4-FFF2-40B4-BE49-F238E27FC236}">
                  <a16:creationId xmlns="" xmlns:a16="http://schemas.microsoft.com/office/drawing/2014/main" id="{E601EEF9-98B3-9F64-F85F-07641BA1F0E3}"/>
                </a:ext>
              </a:extLst>
            </p:cNvPr>
            <p:cNvSpPr txBox="1"/>
            <p:nvPr/>
          </p:nvSpPr>
          <p:spPr>
            <a:xfrm>
              <a:off x="5124168" y="5502397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operação</a:t>
              </a:r>
              <a:r>
                <a:rPr lang="en-US" sz="1400" dirty="0"/>
                <a:t> </a:t>
              </a:r>
              <a:r>
                <a:rPr lang="en-US" sz="1400" dirty="0" err="1"/>
                <a:t>pontual</a:t>
              </a:r>
              <a:endParaRPr lang="en-US" sz="1400" dirty="0"/>
            </a:p>
          </p:txBody>
        </p:sp>
        <p:cxnSp>
          <p:nvCxnSpPr>
            <p:cNvPr id="46" name="Straight Connector 8">
              <a:extLst>
                <a:ext uri="{FF2B5EF4-FFF2-40B4-BE49-F238E27FC236}">
                  <a16:creationId xmlns="" xmlns:a16="http://schemas.microsoft.com/office/drawing/2014/main" id="{4CCF47AF-2D48-1D6C-D27B-0CC557A4D3BC}"/>
                </a:ext>
              </a:extLst>
            </p:cNvPr>
            <p:cNvCxnSpPr>
              <a:cxnSpLocks/>
            </p:cNvCxnSpPr>
            <p:nvPr/>
          </p:nvCxnSpPr>
          <p:spPr>
            <a:xfrm>
              <a:off x="6622280" y="5410207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TextBox 13">
              <a:extLst>
                <a:ext uri="{FF2B5EF4-FFF2-40B4-BE49-F238E27FC236}">
                  <a16:creationId xmlns="" xmlns:a16="http://schemas.microsoft.com/office/drawing/2014/main" id="{D4D46D6C-FBD0-36BF-A4A0-F0AA4C62BC59}"/>
                </a:ext>
              </a:extLst>
            </p:cNvPr>
            <p:cNvSpPr txBox="1"/>
            <p:nvPr/>
          </p:nvSpPr>
          <p:spPr>
            <a:xfrm>
              <a:off x="6259694" y="5500009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transferência</a:t>
              </a:r>
              <a:r>
                <a:rPr lang="en-US" sz="1400" dirty="0"/>
                <a:t> de </a:t>
              </a:r>
              <a:r>
                <a:rPr lang="en-US" sz="1400" dirty="0" err="1"/>
                <a:t>vetor</a:t>
              </a:r>
              <a:endParaRPr lang="en-US" sz="1400" dirty="0"/>
            </a:p>
          </p:txBody>
        </p:sp>
        <p:cxnSp>
          <p:nvCxnSpPr>
            <p:cNvPr id="51" name="Straight Connector 17">
              <a:extLst>
                <a:ext uri="{FF2B5EF4-FFF2-40B4-BE49-F238E27FC236}">
                  <a16:creationId xmlns="" xmlns:a16="http://schemas.microsoft.com/office/drawing/2014/main" id="{87FE6DA6-5752-4BD9-4B22-C5A902BD5C6B}"/>
                </a:ext>
              </a:extLst>
            </p:cNvPr>
            <p:cNvCxnSpPr>
              <a:cxnSpLocks/>
            </p:cNvCxnSpPr>
            <p:nvPr/>
          </p:nvCxnSpPr>
          <p:spPr>
            <a:xfrm>
              <a:off x="7856076" y="5410207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Connector 20">
              <a:extLst>
                <a:ext uri="{FF2B5EF4-FFF2-40B4-BE49-F238E27FC236}">
                  <a16:creationId xmlns="" xmlns:a16="http://schemas.microsoft.com/office/drawing/2014/main" id="{4AA379DA-FDF4-4C2E-212F-301E5D1A6625}"/>
                </a:ext>
              </a:extLst>
            </p:cNvPr>
            <p:cNvCxnSpPr/>
            <p:nvPr/>
          </p:nvCxnSpPr>
          <p:spPr>
            <a:xfrm>
              <a:off x="8119191" y="5403577"/>
              <a:ext cx="0" cy="29041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TextBox 21">
              <a:extLst>
                <a:ext uri="{FF2B5EF4-FFF2-40B4-BE49-F238E27FC236}">
                  <a16:creationId xmlns="" xmlns:a16="http://schemas.microsoft.com/office/drawing/2014/main" id="{F2C1639E-62C8-EF4F-BC59-06D35F047F64}"/>
                </a:ext>
              </a:extLst>
            </p:cNvPr>
            <p:cNvSpPr txBox="1"/>
            <p:nvPr/>
          </p:nvSpPr>
          <p:spPr>
            <a:xfrm>
              <a:off x="7522813" y="5659293"/>
              <a:ext cx="121094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concatenação</a:t>
              </a:r>
              <a:endParaRPr lang="en-US" sz="1400" dirty="0"/>
            </a:p>
          </p:txBody>
        </p:sp>
        <p:cxnSp>
          <p:nvCxnSpPr>
            <p:cNvPr id="55" name="Straight Connector 22">
              <a:extLst>
                <a:ext uri="{FF2B5EF4-FFF2-40B4-BE49-F238E27FC236}">
                  <a16:creationId xmlns="" xmlns:a16="http://schemas.microsoft.com/office/drawing/2014/main" id="{456BE94A-7B45-0DB7-05F1-86A17C409BD0}"/>
                </a:ext>
              </a:extLst>
            </p:cNvPr>
            <p:cNvCxnSpPr>
              <a:cxnSpLocks/>
            </p:cNvCxnSpPr>
            <p:nvPr/>
          </p:nvCxnSpPr>
          <p:spPr>
            <a:xfrm>
              <a:off x="9014812" y="5658989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Straight Connector 23">
              <a:extLst>
                <a:ext uri="{FF2B5EF4-FFF2-40B4-BE49-F238E27FC236}">
                  <a16:creationId xmlns="" xmlns:a16="http://schemas.microsoft.com/office/drawing/2014/main" id="{0868D48C-258F-30A1-C079-D3E227346BD5}"/>
                </a:ext>
              </a:extLst>
            </p:cNvPr>
            <p:cNvCxnSpPr/>
            <p:nvPr/>
          </p:nvCxnSpPr>
          <p:spPr>
            <a:xfrm>
              <a:off x="9277866" y="5354802"/>
              <a:ext cx="0" cy="290413"/>
            </a:xfrm>
            <a:prstGeom prst="line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24">
              <a:extLst>
                <a:ext uri="{FF2B5EF4-FFF2-40B4-BE49-F238E27FC236}">
                  <a16:creationId xmlns="" xmlns:a16="http://schemas.microsoft.com/office/drawing/2014/main" id="{82CB8A93-557A-5259-EB5A-85D7D4D96AD1}"/>
                </a:ext>
              </a:extLst>
            </p:cNvPr>
            <p:cNvSpPr txBox="1"/>
            <p:nvPr/>
          </p:nvSpPr>
          <p:spPr>
            <a:xfrm>
              <a:off x="8649245" y="5650622"/>
              <a:ext cx="121094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cópia</a:t>
              </a:r>
              <a:endParaRPr lang="en-US" sz="1400" dirty="0"/>
            </a:p>
          </p:txBody>
        </p:sp>
        <p:sp>
          <p:nvSpPr>
            <p:cNvPr id="59" name="Rectangle 37">
              <a:extLst>
                <a:ext uri="{FF2B5EF4-FFF2-40B4-BE49-F238E27FC236}">
                  <a16:creationId xmlns="" xmlns:a16="http://schemas.microsoft.com/office/drawing/2014/main" id="{8A9D5604-42D8-94B0-F0FA-40F8A5FE0687}"/>
                </a:ext>
              </a:extLst>
            </p:cNvPr>
            <p:cNvSpPr/>
            <p:nvPr/>
          </p:nvSpPr>
          <p:spPr>
            <a:xfrm>
              <a:off x="4248413" y="5252389"/>
              <a:ext cx="588587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600" dirty="0" err="1">
                  <a:solidFill>
                    <a:schemeClr val="tx1"/>
                  </a:solidFill>
                </a:rPr>
                <a:t>tanh</a:t>
              </a:r>
              <a:endParaRPr lang="en-US" sz="1000" dirty="0">
                <a:solidFill>
                  <a:schemeClr val="tx1"/>
                </a:solidFill>
              </a:endParaRPr>
            </a:p>
          </p:txBody>
        </p:sp>
        <p:sp>
          <p:nvSpPr>
            <p:cNvPr id="60" name="TextBox 39">
              <a:extLst>
                <a:ext uri="{FF2B5EF4-FFF2-40B4-BE49-F238E27FC236}">
                  <a16:creationId xmlns="" xmlns:a16="http://schemas.microsoft.com/office/drawing/2014/main" id="{36895CF3-782C-C5FB-0D92-D28EF588D039}"/>
                </a:ext>
              </a:extLst>
            </p:cNvPr>
            <p:cNvSpPr txBox="1"/>
            <p:nvPr/>
          </p:nvSpPr>
          <p:spPr>
            <a:xfrm>
              <a:off x="3592695" y="5550261"/>
              <a:ext cx="170502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densa com ativação </a:t>
              </a:r>
              <a:r>
                <a:rPr lang="pt-BR" sz="1400" dirty="0" err="1"/>
                <a:t>tanh</a:t>
              </a:r>
              <a:endParaRPr 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414367477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8D4EC042-7CB7-B389-4F07-73C2D81EF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oup 42">
            <a:extLst>
              <a:ext uri="{FF2B5EF4-FFF2-40B4-BE49-F238E27FC236}">
                <a16:creationId xmlns="" xmlns:a16="http://schemas.microsoft.com/office/drawing/2014/main" id="{62617247-07D2-6657-99D1-398FE3BE06C0}"/>
              </a:ext>
            </a:extLst>
          </p:cNvPr>
          <p:cNvGrpSpPr/>
          <p:nvPr/>
        </p:nvGrpSpPr>
        <p:grpSpPr>
          <a:xfrm>
            <a:off x="3489806" y="1834844"/>
            <a:ext cx="5319746" cy="3227138"/>
            <a:chOff x="3489806" y="1834844"/>
            <a:chExt cx="5319746" cy="3227138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="" xmlns:a16="http://schemas.microsoft.com/office/drawing/2014/main" id="{F9B84FA2-83D7-7AD8-9610-5A415E5EE1A1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="" xmlns:a16="http://schemas.microsoft.com/office/drawing/2014/main" id="{62E9A632-1F8F-BB2C-9A7A-07DEA62B46A1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62E9A632-1F8F-BB2C-9A7A-07DEA62B46A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="" xmlns:a16="http://schemas.microsoft.com/office/drawing/2014/main" id="{9B13C382-E365-0604-E2B1-4396795DE5DD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9B13C382-E365-0604-E2B1-4396795DE5D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="" xmlns:a16="http://schemas.microsoft.com/office/drawing/2014/main" id="{28298EA5-A736-9895-9469-3658052D65D0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28298EA5-A736-9895-9469-3658052D65D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="" xmlns:a16="http://schemas.microsoft.com/office/drawing/2014/main" id="{FE2E3973-7BB3-5423-9E41-4A439D4AD2FA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="" xmlns:a16="http://schemas.microsoft.com/office/drawing/2014/main" id="{357EC369-9B76-A27D-EDC3-890F0716751F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="" xmlns:a16="http://schemas.microsoft.com/office/drawing/2014/main" id="{1105FA2D-CACC-93FD-8147-BCE771CE8357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="" xmlns:a16="http://schemas.microsoft.com/office/drawing/2014/main" id="{007EE48F-7B86-5BD2-1F8C-469594A636F0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7" name="Oval 16">
              <a:extLst>
                <a:ext uri="{FF2B5EF4-FFF2-40B4-BE49-F238E27FC236}">
                  <a16:creationId xmlns="" xmlns:a16="http://schemas.microsoft.com/office/drawing/2014/main" id="{734FE972-9F06-C11C-3F53-9D4666EC5095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="" xmlns:a16="http://schemas.microsoft.com/office/drawing/2014/main" id="{EA318A7D-6AD1-A164-9144-BD5F28A4E7B7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="" xmlns:a16="http://schemas.microsoft.com/office/drawing/2014/main" id="{AE5B4441-DF89-25A1-3560-8E5404670E96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flipV="1">
              <a:off x="4031369" y="4036770"/>
              <a:ext cx="2675053" cy="2145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="" xmlns:a16="http://schemas.microsoft.com/office/drawing/2014/main" id="{0093E439-25EF-02C4-D9C2-A1FE29C3AD6E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="" xmlns:a16="http://schemas.microsoft.com/office/drawing/2014/main" id="{A60E907D-7CA5-2C6C-E31F-2F003AE9D096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="" xmlns:a16="http://schemas.microsoft.com/office/drawing/2014/main" id="{137E1A15-7B2A-4277-FFA1-74355E9235EA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="" xmlns:a16="http://schemas.microsoft.com/office/drawing/2014/main" id="{D93AEA26-EC0B-1E3E-D68C-6CE9227A173D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="" xmlns:a16="http://schemas.microsoft.com/office/drawing/2014/main" id="{461F8C01-4628-007D-8EE8-08D26131E8B9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="" xmlns:a16="http://schemas.microsoft.com/office/drawing/2014/main" id="{F5D0673A-6CCA-67DE-BB0A-0EAB5B641853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="" xmlns:a16="http://schemas.microsoft.com/office/drawing/2014/main" id="{34707AEE-8AB6-332F-D775-5D47B6EAB570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="" xmlns:a16="http://schemas.microsoft.com/office/drawing/2014/main" id="{E3FDEDCE-1E3B-8147-4D13-A242E9C2B33E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="" xmlns:a16="http://schemas.microsoft.com/office/drawing/2014/main" id="{06E60737-7998-C245-9FB1-6B1755A8F20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="" xmlns:a16="http://schemas.microsoft.com/office/drawing/2014/main" id="{FE690B6A-0885-819C-6118-6C7D093B193B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="" xmlns:a16="http://schemas.microsoft.com/office/drawing/2014/main" id="{4E0DA3A1-C433-12FD-E043-1BB3EB5D007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="" xmlns:a16="http://schemas.microsoft.com/office/drawing/2014/main" id="{A63A645C-4CC1-5896-32E8-305EA54E21C7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="" xmlns:a16="http://schemas.microsoft.com/office/drawing/2014/main" id="{C7FF5E71-FB7D-9609-3FC5-AD13B5F1C3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="" xmlns:a16="http://schemas.microsoft.com/office/drawing/2014/main" id="{942AD4B1-3DFB-E8BA-0218-D9E850190EBC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="" xmlns:a16="http://schemas.microsoft.com/office/drawing/2014/main" id="{4D8692E4-6CA5-D2CA-A76D-73771408476E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="" xmlns:a16="http://schemas.microsoft.com/office/drawing/2014/main" id="{9FE0230A-FA48-1674-EE72-563556A3AD37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="" xmlns:a16="http://schemas.microsoft.com/office/drawing/2014/main" id="{DD806146-5F28-31BB-C91D-206A9C7C1949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="" xmlns:a16="http://schemas.microsoft.com/office/drawing/2014/main" id="{97AFC188-C5E0-E364-C3F7-EF901703C4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="" xmlns:a16="http://schemas.microsoft.com/office/drawing/2014/main" id="{5C32825B-E0C6-9CDA-AFFC-FEF61AC5A16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="" xmlns:a16="http://schemas.microsoft.com/office/drawing/2014/main" id="{CE32A260-F120-9DD1-2C21-2F72B830F80E}"/>
                    </a:ext>
                  </a:extLst>
                </p:cNvPr>
                <p:cNvSpPr txBox="1"/>
                <p:nvPr/>
              </p:nvSpPr>
              <p:spPr>
                <a:xfrm>
                  <a:off x="3582865" y="4033974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CE32A260-F120-9DD1-2C21-2F72B830F8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865" y="4033974"/>
                  <a:ext cx="432000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28169" r="-563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="" xmlns:a16="http://schemas.microsoft.com/office/drawing/2014/main" id="{CB757A62-58FF-F46D-A7A5-BC95B2F299AF}"/>
                    </a:ext>
                  </a:extLst>
                </p:cNvPr>
                <p:cNvSpPr txBox="1"/>
                <p:nvPr/>
              </p:nvSpPr>
              <p:spPr>
                <a:xfrm>
                  <a:off x="8030169" y="2525610"/>
                  <a:ext cx="589341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B757A62-58FF-F46D-A7A5-BC95B2F299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0169" y="2525610"/>
                  <a:ext cx="589341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="" xmlns:a16="http://schemas.microsoft.com/office/drawing/2014/main" id="{B53DAB36-7F1E-A38E-607F-E5656744709C}"/>
                    </a:ext>
                  </a:extLst>
                </p:cNvPr>
                <p:cNvSpPr txBox="1"/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53DAB36-7F1E-A38E-607F-E565674470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="" xmlns:a16="http://schemas.microsoft.com/office/drawing/2014/main" id="{D5B871EC-42BA-BC5E-43FA-B2D29508EEFD}"/>
                    </a:ext>
                  </a:extLst>
                </p:cNvPr>
                <p:cNvSpPr txBox="1"/>
                <p:nvPr/>
              </p:nvSpPr>
              <p:spPr>
                <a:xfrm>
                  <a:off x="3489806" y="2511465"/>
                  <a:ext cx="59187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D5B871EC-42BA-BC5E-43FA-B2D29508EE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89806" y="2511465"/>
                  <a:ext cx="5918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="" xmlns:a16="http://schemas.microsoft.com/office/drawing/2014/main" id="{B05700EA-ADF6-1501-A886-A487A7F4F0DF}"/>
                    </a:ext>
                  </a:extLst>
                </p:cNvPr>
                <p:cNvSpPr txBox="1"/>
                <p:nvPr/>
              </p:nvSpPr>
              <p:spPr>
                <a:xfrm>
                  <a:off x="7924330" y="4057288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B05700EA-ADF6-1501-A886-A487A7F4F0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4330" y="4057288"/>
                  <a:ext cx="88522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4" name="Straight Connector 33">
              <a:extLst>
                <a:ext uri="{FF2B5EF4-FFF2-40B4-BE49-F238E27FC236}">
                  <a16:creationId xmlns="" xmlns:a16="http://schemas.microsoft.com/office/drawing/2014/main" id="{174094E0-AD46-6D7F-26FE-DF8481A5AC18}"/>
                </a:ext>
              </a:extLst>
            </p:cNvPr>
            <p:cNvCxnSpPr/>
            <p:nvPr/>
          </p:nvCxnSpPr>
          <p:spPr>
            <a:xfrm>
              <a:off x="4558205" y="4251345"/>
              <a:ext cx="0" cy="49210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="" xmlns:a16="http://schemas.microsoft.com/office/drawing/2014/main" id="{BABCE601-1CC7-DA51-8E3E-DB40B8174F54}"/>
                    </a:ext>
                  </a:extLst>
                </p:cNvPr>
                <p:cNvSpPr txBox="1"/>
                <p:nvPr/>
              </p:nvSpPr>
              <p:spPr>
                <a:xfrm>
                  <a:off x="4371935" y="4692650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ABCE601-1CC7-DA51-8E3E-DB40B8174F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1935" y="4692650"/>
                  <a:ext cx="432000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231970327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6CEF7BC4-3994-CEE8-677F-0741A6B1A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1" name="Group 90">
            <a:extLst>
              <a:ext uri="{FF2B5EF4-FFF2-40B4-BE49-F238E27FC236}">
                <a16:creationId xmlns="" xmlns:a16="http://schemas.microsoft.com/office/drawing/2014/main" id="{259B7582-66CD-ED15-2ABE-5F4548CFEC4D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="" xmlns:a16="http://schemas.microsoft.com/office/drawing/2014/main" id="{A3C354A2-1F93-E0BA-7BEB-1E8BB1A4752E}"/>
                    </a:ext>
                  </a:extLst>
                </p:cNvPr>
                <p:cNvSpPr txBox="1"/>
                <p:nvPr/>
              </p:nvSpPr>
              <p:spPr>
                <a:xfrm>
                  <a:off x="4348602" y="307424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A3C354A2-1F93-E0BA-7BEB-1E8BB1A475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48602" y="3074247"/>
                  <a:ext cx="415947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="" xmlns:a16="http://schemas.microsoft.com/office/drawing/2014/main" id="{A1951F4B-38D3-1319-7B2A-ECDDFF348DBB}"/>
                    </a:ext>
                  </a:extLst>
                </p:cNvPr>
                <p:cNvSpPr txBox="1"/>
                <p:nvPr/>
              </p:nvSpPr>
              <p:spPr>
                <a:xfrm>
                  <a:off x="5341440" y="3053867"/>
                  <a:ext cx="3990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A1951F4B-38D3-1319-7B2A-ECDDFF348D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41440" y="3053867"/>
                  <a:ext cx="399084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TextBox 88">
                  <a:extLst>
                    <a:ext uri="{FF2B5EF4-FFF2-40B4-BE49-F238E27FC236}">
                      <a16:creationId xmlns="" xmlns:a16="http://schemas.microsoft.com/office/drawing/2014/main" id="{106D3A33-618E-C1DA-5D91-C0E86025E614}"/>
                    </a:ext>
                  </a:extLst>
                </p:cNvPr>
                <p:cNvSpPr txBox="1"/>
                <p:nvPr/>
              </p:nvSpPr>
              <p:spPr>
                <a:xfrm>
                  <a:off x="6426038" y="3068367"/>
                  <a:ext cx="44146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106D3A33-618E-C1DA-5D91-C0E86025E6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26038" y="3068367"/>
                  <a:ext cx="441468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TextBox 89">
                  <a:extLst>
                    <a:ext uri="{FF2B5EF4-FFF2-40B4-BE49-F238E27FC236}">
                      <a16:creationId xmlns="" xmlns:a16="http://schemas.microsoft.com/office/drawing/2014/main" id="{0AD91B46-B781-DC41-B1E1-4726FC1FB47E}"/>
                    </a:ext>
                  </a:extLst>
                </p:cNvPr>
                <p:cNvSpPr txBox="1"/>
                <p:nvPr/>
              </p:nvSpPr>
              <p:spPr>
                <a:xfrm>
                  <a:off x="6025977" y="3399083"/>
                  <a:ext cx="4255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0AD91B46-B781-DC41-B1E1-4726FC1FB4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5977" y="3399083"/>
                  <a:ext cx="425501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231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3" name="Straight Arrow Connector 92">
              <a:extLst>
                <a:ext uri="{FF2B5EF4-FFF2-40B4-BE49-F238E27FC236}">
                  <a16:creationId xmlns="" xmlns:a16="http://schemas.microsoft.com/office/drawing/2014/main" id="{23B5C879-86CF-1489-D983-F6C55915B1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="" xmlns:a16="http://schemas.microsoft.com/office/drawing/2014/main" id="{59ED29A8-D33B-A9E0-6FB0-6DA35F11AA6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="" xmlns:a16="http://schemas.microsoft.com/office/drawing/2014/main" id="{C9ED7EA8-2248-C549-C0D3-4789E31F219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="" xmlns:a16="http://schemas.microsoft.com/office/drawing/2014/main" id="{F26C059A-6E06-5777-5754-23C200926D83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F26C059A-6E06-5777-5754-23C200926D8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="" xmlns:a16="http://schemas.microsoft.com/office/drawing/2014/main" id="{D5E7D54C-7034-1BD8-63C6-5043FC65A28D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5E7D54C-7034-1BD8-63C6-5043FC65A28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="" xmlns:a16="http://schemas.microsoft.com/office/drawing/2014/main" id="{177514C8-D2E4-86D6-AF82-FAF60A44C33A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177514C8-D2E4-86D6-AF82-FAF60A44C33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="" xmlns:a16="http://schemas.microsoft.com/office/drawing/2014/main" id="{6F8531BB-5842-5BAF-1D3A-682398D284D2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="" xmlns:a16="http://schemas.microsoft.com/office/drawing/2014/main" id="{C7E17DBB-C7BC-494A-E992-8DE8D288F40F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="" xmlns:a16="http://schemas.microsoft.com/office/drawing/2014/main" id="{9AE3C16C-5A7A-867F-EC09-5B9B011DE1C6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="" xmlns:a16="http://schemas.microsoft.com/office/drawing/2014/main" id="{1D4D654B-F301-B853-EA77-8F8D3F0CAF86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20" name="Straight Arrow Connector 19">
              <a:extLst>
                <a:ext uri="{FF2B5EF4-FFF2-40B4-BE49-F238E27FC236}">
                  <a16:creationId xmlns="" xmlns:a16="http://schemas.microsoft.com/office/drawing/2014/main" id="{D2F697DC-DE68-5F5D-A5BE-F745A119CF71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="" xmlns:a16="http://schemas.microsoft.com/office/drawing/2014/main" id="{8BAC7E3D-1CA3-518E-DD58-B30975FF74A6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="" xmlns:a16="http://schemas.microsoft.com/office/drawing/2014/main" id="{B3565DE1-2C94-76FF-7E49-46F7EA406B1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="" xmlns:a16="http://schemas.microsoft.com/office/drawing/2014/main" id="{1ABDDD09-DD98-0666-3795-306DBE0ECE9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="" xmlns:a16="http://schemas.microsoft.com/office/drawing/2014/main" id="{7F61B55E-723D-2358-27DC-A1C3C16D2B69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="" xmlns:a16="http://schemas.microsoft.com/office/drawing/2014/main" id="{2A4E816D-7056-ACB4-28DE-1431775F31B9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="" xmlns:a16="http://schemas.microsoft.com/office/drawing/2014/main" id="{CF3F4951-741E-7175-755B-F847FABD1A53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="" xmlns:a16="http://schemas.microsoft.com/office/drawing/2014/main" id="{0C9119F5-BC18-B506-6AE3-54BED2ACDE1D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="" xmlns:a16="http://schemas.microsoft.com/office/drawing/2014/main" id="{9A90CFC2-367F-DDD0-0347-A75CC3C46DD8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="" xmlns:a16="http://schemas.microsoft.com/office/drawing/2014/main" id="{742EAAEE-4BC0-0FF8-1B29-921257A94C8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="" xmlns:a16="http://schemas.microsoft.com/office/drawing/2014/main" id="{6B39DB6C-853E-9EC6-5E8B-6D4F3DB4B58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="" xmlns:a16="http://schemas.microsoft.com/office/drawing/2014/main" id="{55E9DF20-2BAA-AD3A-BF01-C8B2A79EBCBF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="" xmlns:a16="http://schemas.microsoft.com/office/drawing/2014/main" id="{F73F4CFE-21DF-A9CF-A0E3-BE6FCD93FD2F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="" xmlns:a16="http://schemas.microsoft.com/office/drawing/2014/main" id="{3B2DE638-D898-6EEE-FDE9-EF6483D3EE43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="" xmlns:a16="http://schemas.microsoft.com/office/drawing/2014/main" id="{B4FC16DB-E8FC-F794-ADC0-7F23CD1719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71971" y="4247524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Rectangle: Rounded Corners 38">
              <a:extLst>
                <a:ext uri="{FF2B5EF4-FFF2-40B4-BE49-F238E27FC236}">
                  <a16:creationId xmlns="" xmlns:a16="http://schemas.microsoft.com/office/drawing/2014/main" id="{842C10F0-6ADD-9912-2061-FB7E19CE2DD3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="" xmlns:a16="http://schemas.microsoft.com/office/drawing/2014/main" id="{290DB68F-D678-91AC-FDAB-0432895FD9FC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="" xmlns:a16="http://schemas.microsoft.com/office/drawing/2014/main" id="{2189D1DB-4B5F-E20F-5E70-0649D2A09125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="" xmlns:a16="http://schemas.microsoft.com/office/drawing/2014/main" id="{2F17F637-CDA3-BC2F-CEC0-EDA23BDF1793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="" xmlns:a16="http://schemas.microsoft.com/office/drawing/2014/main" id="{B7F0BCAC-2A6C-C3FC-BFC1-52890A7CFAFB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="" xmlns:a16="http://schemas.microsoft.com/office/drawing/2014/main" id="{DB10787B-CA55-FACA-097A-B384CCF2FC57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="" xmlns:a16="http://schemas.microsoft.com/office/drawing/2014/main" id="{C4A866C9-4A28-7252-015B-A2E419706176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C4A866C9-4A28-7252-015B-A2E4197061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="" xmlns:a16="http://schemas.microsoft.com/office/drawing/2014/main" id="{426498C2-0A02-0FDF-4FCF-947527EBD09A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26498C2-0A02-0FDF-4FCF-947527EBD0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="" xmlns:a16="http://schemas.microsoft.com/office/drawing/2014/main" id="{12B529DB-2BE0-6E9C-4EBB-DBD7BFF2CD32}"/>
                    </a:ext>
                  </a:extLst>
                </p:cNvPr>
                <p:cNvSpPr txBox="1"/>
                <p:nvPr/>
              </p:nvSpPr>
              <p:spPr>
                <a:xfrm>
                  <a:off x="3387954" y="4062549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12B529DB-2BE0-6E9C-4EBB-DBD7BFF2CD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62549"/>
                  <a:ext cx="69083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="" xmlns:a16="http://schemas.microsoft.com/office/drawing/2014/main" id="{EB1DAE0C-E746-36F2-7A7D-C331502D001C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B1DAE0C-E746-36F2-7A7D-C331502D00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="" xmlns:a16="http://schemas.microsoft.com/office/drawing/2014/main" id="{CE10D406-319D-3BE3-1B60-7827B12CBF7C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CE10D406-319D-3BE3-1B60-7827B12CBF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="" xmlns:a16="http://schemas.microsoft.com/office/drawing/2014/main" id="{35F8E290-BD3E-780B-C51B-6AB841AA0F43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5F8E290-BD3E-780B-C51B-6AB841AA0F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" name="Group 5">
            <a:extLst>
              <a:ext uri="{FF2B5EF4-FFF2-40B4-BE49-F238E27FC236}">
                <a16:creationId xmlns="" xmlns:a16="http://schemas.microsoft.com/office/drawing/2014/main" id="{45231D62-9346-C19A-B2D8-2171CAAC4060}"/>
              </a:ext>
            </a:extLst>
          </p:cNvPr>
          <p:cNvGrpSpPr/>
          <p:nvPr/>
        </p:nvGrpSpPr>
        <p:grpSpPr>
          <a:xfrm>
            <a:off x="510827" y="2688275"/>
            <a:ext cx="1832394" cy="1751496"/>
            <a:chOff x="510827" y="2688275"/>
            <a:chExt cx="1832394" cy="1751496"/>
          </a:xfrm>
        </p:grpSpPr>
        <p:cxnSp>
          <p:nvCxnSpPr>
            <p:cNvPr id="42" name="Straight Connector 41">
              <a:extLst>
                <a:ext uri="{FF2B5EF4-FFF2-40B4-BE49-F238E27FC236}">
                  <a16:creationId xmlns="" xmlns:a16="http://schemas.microsoft.com/office/drawing/2014/main" id="{61EA366A-638B-19A2-FADF-869CD901FD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8898" y="2934602"/>
              <a:ext cx="1008000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Rectangle 30">
                  <a:extLst>
                    <a:ext uri="{FF2B5EF4-FFF2-40B4-BE49-F238E27FC236}">
                      <a16:creationId xmlns="" xmlns:a16="http://schemas.microsoft.com/office/drawing/2014/main" id="{EBC88C9A-7E93-26B5-43AD-0D21BC813E6A}"/>
                    </a:ext>
                  </a:extLst>
                </p:cNvPr>
                <p:cNvSpPr/>
                <p:nvPr/>
              </p:nvSpPr>
              <p:spPr>
                <a:xfrm>
                  <a:off x="1240764" y="3348906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EBC88C9A-7E93-26B5-43AD-0D21BC813E6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0764" y="3348906"/>
                  <a:ext cx="332510" cy="29787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" name="Oval 31">
              <a:extLst>
                <a:ext uri="{FF2B5EF4-FFF2-40B4-BE49-F238E27FC236}">
                  <a16:creationId xmlns="" xmlns:a16="http://schemas.microsoft.com/office/drawing/2014/main" id="{1A354AC7-6F14-F502-309B-B6DF3115DCEC}"/>
                </a:ext>
              </a:extLst>
            </p:cNvPr>
            <p:cNvSpPr/>
            <p:nvPr/>
          </p:nvSpPr>
          <p:spPr>
            <a:xfrm>
              <a:off x="1270494" y="2795317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="" xmlns:a16="http://schemas.microsoft.com/office/drawing/2014/main" id="{4155F256-7522-763D-F307-222BEC825F1D}"/>
                </a:ext>
              </a:extLst>
            </p:cNvPr>
            <p:cNvCxnSpPr>
              <a:stCxn id="31" idx="0"/>
              <a:endCxn id="32" idx="4"/>
            </p:cNvCxnSpPr>
            <p:nvPr/>
          </p:nvCxnSpPr>
          <p:spPr>
            <a:xfrm flipV="1">
              <a:off x="1407019" y="3068367"/>
              <a:ext cx="0" cy="28053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="" xmlns:a16="http://schemas.microsoft.com/office/drawing/2014/main" id="{B515080E-515E-F684-8C15-0D9EE9C6B308}"/>
                </a:ext>
              </a:extLst>
            </p:cNvPr>
            <p:cNvCxnSpPr/>
            <p:nvPr/>
          </p:nvCxnSpPr>
          <p:spPr>
            <a:xfrm flipV="1">
              <a:off x="1407019" y="3646778"/>
              <a:ext cx="0" cy="28053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3" name="Right Brace 42">
              <a:extLst>
                <a:ext uri="{FF2B5EF4-FFF2-40B4-BE49-F238E27FC236}">
                  <a16:creationId xmlns="" xmlns:a16="http://schemas.microsoft.com/office/drawing/2014/main" id="{7FDD430D-62DC-C54E-5726-B5316B0CD7AC}"/>
                </a:ext>
              </a:extLst>
            </p:cNvPr>
            <p:cNvSpPr/>
            <p:nvPr/>
          </p:nvSpPr>
          <p:spPr>
            <a:xfrm rot="5400000">
              <a:off x="1304308" y="3414477"/>
              <a:ext cx="205421" cy="1238994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="" xmlns:a16="http://schemas.microsoft.com/office/drawing/2014/main" id="{EC283BF4-C291-0D01-D34B-CCB67EF0B6CC}"/>
                </a:ext>
              </a:extLst>
            </p:cNvPr>
            <p:cNvSpPr txBox="1"/>
            <p:nvPr/>
          </p:nvSpPr>
          <p:spPr>
            <a:xfrm>
              <a:off x="1047098" y="4070439"/>
              <a:ext cx="6932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porta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TextBox 1">
                  <a:extLst>
                    <a:ext uri="{FF2B5EF4-FFF2-40B4-BE49-F238E27FC236}">
                      <a16:creationId xmlns="" xmlns:a16="http://schemas.microsoft.com/office/drawing/2014/main" id="{F288BC0B-701F-DD40-E539-EE9ACBCA5489}"/>
                    </a:ext>
                  </a:extLst>
                </p:cNvPr>
                <p:cNvSpPr txBox="1"/>
                <p:nvPr/>
              </p:nvSpPr>
              <p:spPr>
                <a:xfrm>
                  <a:off x="510827" y="268827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F288BC0B-701F-DD40-E539-EE9ACBCA54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827" y="2688275"/>
                  <a:ext cx="458394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="" xmlns:a16="http://schemas.microsoft.com/office/drawing/2014/main" id="{EEDC5D6C-3289-0D8E-9DDB-6C9470087026}"/>
                    </a:ext>
                  </a:extLst>
                </p:cNvPr>
                <p:cNvSpPr txBox="1"/>
                <p:nvPr/>
              </p:nvSpPr>
              <p:spPr>
                <a:xfrm>
                  <a:off x="1439043" y="2978310"/>
                  <a:ext cx="48083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𝒈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EEDC5D6C-3289-0D8E-9DDB-6C94700870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9043" y="2978310"/>
                  <a:ext cx="480836" cy="369332"/>
                </a:xfrm>
                <a:prstGeom prst="rect">
                  <a:avLst/>
                </a:prstGeom>
                <a:blipFill>
                  <a:blip r:embed="rId19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="" xmlns:a16="http://schemas.microsoft.com/office/drawing/2014/main" id="{4D40272D-BABB-2719-28B7-93A8B8650926}"/>
                    </a:ext>
                  </a:extLst>
                </p:cNvPr>
                <p:cNvSpPr txBox="1"/>
                <p:nvPr/>
              </p:nvSpPr>
              <p:spPr>
                <a:xfrm>
                  <a:off x="1880017" y="2709477"/>
                  <a:ext cx="4632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4D40272D-BABB-2719-28B7-93A8B86509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80017" y="2709477"/>
                  <a:ext cx="463204" cy="369332"/>
                </a:xfrm>
                <a:prstGeom prst="rect">
                  <a:avLst/>
                </a:prstGeom>
                <a:blipFill>
                  <a:blip r:embed="rId20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548362086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E681C906-BA12-06E8-B408-AC0076449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="" xmlns:a16="http://schemas.microsoft.com/office/drawing/2014/main" id="{FCF6190C-3568-243C-A1F8-FA1F0809E3B8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93" name="Straight Arrow Connector 92">
              <a:extLst>
                <a:ext uri="{FF2B5EF4-FFF2-40B4-BE49-F238E27FC236}">
                  <a16:creationId xmlns="" xmlns:a16="http://schemas.microsoft.com/office/drawing/2014/main" id="{39A730AB-F009-09B7-7FB0-EE9AFB00CB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="" xmlns:a16="http://schemas.microsoft.com/office/drawing/2014/main" id="{E5CFBB8F-7F83-05F4-5991-D9B2A3C177C2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="" xmlns:a16="http://schemas.microsoft.com/office/drawing/2014/main" id="{4329F69A-78DB-87D6-4B31-68E94E84869A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="" xmlns:a16="http://schemas.microsoft.com/office/drawing/2014/main" id="{9309C712-EF05-B2E0-6A0E-9B6B6D832FB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="" xmlns:a16="http://schemas.microsoft.com/office/drawing/2014/main" id="{55605F55-30EA-A9AD-82E9-A71DA52E29E0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="" xmlns:a16="http://schemas.microsoft.com/office/drawing/2014/main" id="{0AFE4F1F-C8AF-2071-1411-B9B18B7B0704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="" xmlns:a16="http://schemas.microsoft.com/office/drawing/2014/main" id="{4BF2B54E-88E4-6623-837A-40C288275AF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="" xmlns:a16="http://schemas.microsoft.com/office/drawing/2014/main" id="{D05F7E73-ADBE-A779-2E49-69EE3D2EF593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05F7E73-ADBE-A779-2E49-69EE3D2EF59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="" xmlns:a16="http://schemas.microsoft.com/office/drawing/2014/main" id="{6AFE5021-0A6E-22A6-DF4A-B232EDC28847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6AFE5021-0A6E-22A6-DF4A-B232EDC288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="" xmlns:a16="http://schemas.microsoft.com/office/drawing/2014/main" id="{62691682-17D1-2759-4AEA-95CB4A2AC442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="" xmlns:a16="http://schemas.microsoft.com/office/drawing/2014/main" id="{1E1B6485-D533-DFBA-CFB6-2D9F4A32B5BC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="" xmlns:a16="http://schemas.microsoft.com/office/drawing/2014/main" id="{7920B390-AA70-127C-665E-BCD4AFAB2692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="" xmlns:a16="http://schemas.microsoft.com/office/drawing/2014/main" id="{8347C514-5C0A-87D8-490F-8BE6DE17F058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="" xmlns:a16="http://schemas.microsoft.com/office/drawing/2014/main" id="{D209583F-0F66-13DA-E8B1-65163BB76534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="" xmlns:a16="http://schemas.microsoft.com/office/drawing/2014/main" id="{9FFD6D3A-4074-C913-6F99-8172D8284BB8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="" xmlns:a16="http://schemas.microsoft.com/office/drawing/2014/main" id="{C6132C55-7CE0-B243-9524-22263E32A9FD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="" xmlns:a16="http://schemas.microsoft.com/office/drawing/2014/main" id="{FF5609EE-16ED-D9C9-C8B6-08BF97D17108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="" xmlns:a16="http://schemas.microsoft.com/office/drawing/2014/main" id="{BBCF3E7F-5361-B4DC-E106-88F2D362536D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BBCF3E7F-5361-B4DC-E106-88F2D36253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8" name="Oval 47">
              <a:extLst>
                <a:ext uri="{FF2B5EF4-FFF2-40B4-BE49-F238E27FC236}">
                  <a16:creationId xmlns="" xmlns:a16="http://schemas.microsoft.com/office/drawing/2014/main" id="{F8D1C230-9AD6-9DC7-AED1-35225D1F83CD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="" xmlns:a16="http://schemas.microsoft.com/office/drawing/2014/main" id="{DC5D7F9A-1009-06DB-C683-3F0A389F7B42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="" xmlns:a16="http://schemas.microsoft.com/office/drawing/2014/main" id="{4F12F6A6-D554-126C-3ECA-862ED1EAA5B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="" xmlns:a16="http://schemas.microsoft.com/office/drawing/2014/main" id="{1CC77F96-16FB-3864-7DB1-07277106DE8B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="" xmlns:a16="http://schemas.microsoft.com/office/drawing/2014/main" id="{822B40A6-CAB4-62EA-370C-1357CAED5D30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="" xmlns:a16="http://schemas.microsoft.com/office/drawing/2014/main" id="{2AE3BC04-7F37-C331-64C8-47928CB17AE3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49" name="Straight Arrow Connector 48">
              <a:extLst>
                <a:ext uri="{FF2B5EF4-FFF2-40B4-BE49-F238E27FC236}">
                  <a16:creationId xmlns="" xmlns:a16="http://schemas.microsoft.com/office/drawing/2014/main" id="{2C216754-64A0-2413-BC8A-9899491730A4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="" xmlns:a16="http://schemas.microsoft.com/office/drawing/2014/main" id="{A6114FA9-48A9-7AB5-089D-28FB8F3DD455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6114FA9-48A9-7AB5-089D-28FB8F3DD4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="" xmlns:a16="http://schemas.microsoft.com/office/drawing/2014/main" id="{2BBC2FE9-36F7-2933-C887-72273FF6AA32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="" xmlns:a16="http://schemas.microsoft.com/office/drawing/2014/main" id="{7ACF06C9-EDD8-B72E-3A6F-2D9C18CE4477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="" xmlns:a16="http://schemas.microsoft.com/office/drawing/2014/main" id="{FA172608-B764-39AB-FC65-DD74524231B1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="" xmlns:a16="http://schemas.microsoft.com/office/drawing/2014/main" id="{7D1E7939-B085-04A7-417C-F8FF5441903B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7D1E7939-B085-04A7-417C-F8FF544190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="" xmlns:a16="http://schemas.microsoft.com/office/drawing/2014/main" id="{BCBA5E58-1A30-E919-16E9-05C7BCBA30AA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="" xmlns:a16="http://schemas.microsoft.com/office/drawing/2014/main" id="{449F04FB-A11C-6CDA-54CF-327E7BE7D9EA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="" xmlns:a16="http://schemas.microsoft.com/office/drawing/2014/main" id="{D866472C-9411-1D10-EBFC-6CE069E407B5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762694" cy="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="" xmlns:a16="http://schemas.microsoft.com/office/drawing/2014/main" id="{E4140CD2-4809-10E5-1F86-BDC4132DD5F5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E4140CD2-4809-10E5-1F86-BDC4132D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="" xmlns:a16="http://schemas.microsoft.com/office/drawing/2014/main" id="{C92B0883-35DE-44C7-12D4-5B70BF0A6B1F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C92B0883-35DE-44C7-12D4-5B70BF0A6B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="" xmlns:a16="http://schemas.microsoft.com/office/drawing/2014/main" id="{0F98C804-71F7-C250-7524-2D037AFFAAC7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0F98C804-71F7-C250-7524-2D037AFFAA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="" xmlns:a16="http://schemas.microsoft.com/office/drawing/2014/main" id="{5EEB1DB6-D554-F46E-BF18-2EF32C38355A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EEB1DB6-D554-F46E-BF18-2EF32C3835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="" xmlns:a16="http://schemas.microsoft.com/office/drawing/2014/main" id="{0E6AD43A-0C05-5B07-5C6E-D66CA2266A17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="" xmlns:a16="http://schemas.microsoft.com/office/drawing/2014/main" id="{F84839D8-1FE8-558D-F04D-CEBF12FBE230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84839D8-1FE8-558D-F04D-CEBF12FBE2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TextBox 1">
              <a:extLst>
                <a:ext uri="{FF2B5EF4-FFF2-40B4-BE49-F238E27FC236}">
                  <a16:creationId xmlns="" xmlns:a16="http://schemas.microsoft.com/office/drawing/2014/main" id="{4748BDEF-2446-FE23-5B2C-793AF909BDCE}"/>
                </a:ext>
              </a:extLst>
            </p:cNvPr>
            <p:cNvSpPr txBox="1"/>
            <p:nvPr/>
          </p:nvSpPr>
          <p:spPr>
            <a:xfrm>
              <a:off x="4384923" y="1911844"/>
              <a:ext cx="11099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esquecimento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="" xmlns:a16="http://schemas.microsoft.com/office/drawing/2014/main" id="{C85B4195-B372-E787-8F12-B08B80B3B37A}"/>
                </a:ext>
              </a:extLst>
            </p:cNvPr>
            <p:cNvCxnSpPr/>
            <p:nvPr/>
          </p:nvCxnSpPr>
          <p:spPr>
            <a:xfrm flipH="1">
              <a:off x="4782073" y="2353118"/>
              <a:ext cx="157824" cy="183542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3699259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4861D64E-2469-FC63-F655-1FF1BC1DD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="" xmlns:a16="http://schemas.microsoft.com/office/drawing/2014/main" id="{DDDC66B4-795D-0386-C6A6-872680ACA1CA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93" name="Straight Arrow Connector 92">
              <a:extLst>
                <a:ext uri="{FF2B5EF4-FFF2-40B4-BE49-F238E27FC236}">
                  <a16:creationId xmlns="" xmlns:a16="http://schemas.microsoft.com/office/drawing/2014/main" id="{41D6A04D-A977-57C6-BBE4-F7117DDBB84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="" xmlns:a16="http://schemas.microsoft.com/office/drawing/2014/main" id="{31835FD8-8AD3-4B0A-A371-E7966EE6A42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="" xmlns:a16="http://schemas.microsoft.com/office/drawing/2014/main" id="{CA7A50D6-894D-6761-436C-B653D779F630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="" xmlns:a16="http://schemas.microsoft.com/office/drawing/2014/main" id="{AEF27BDE-C09D-0D68-9C79-DA7E9ED468F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="" xmlns:a16="http://schemas.microsoft.com/office/drawing/2014/main" id="{060D2FD5-A69E-1D6A-534C-B7C9F72F797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="" xmlns:a16="http://schemas.microsoft.com/office/drawing/2014/main" id="{93D9F307-397C-606E-026E-047B70D57EB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="" xmlns:a16="http://schemas.microsoft.com/office/drawing/2014/main" id="{345AE2C3-FEB2-71A4-AA2C-1F8BD04F7BBA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45AE2C3-FEB2-71A4-AA2C-1F8BD04F7BB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="" xmlns:a16="http://schemas.microsoft.com/office/drawing/2014/main" id="{6AC76772-952E-8B82-1FFD-D73E6C8944FE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="" xmlns:a16="http://schemas.microsoft.com/office/drawing/2014/main" id="{2993F300-F04C-CB11-8596-077DAD6C20A2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="" xmlns:a16="http://schemas.microsoft.com/office/drawing/2014/main" id="{30EB91E8-A109-F185-A3B3-750D3FDB2887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="" xmlns:a16="http://schemas.microsoft.com/office/drawing/2014/main" id="{AABFA6D8-9AE7-2CDF-00A7-00D520C155BE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="" xmlns:a16="http://schemas.microsoft.com/office/drawing/2014/main" id="{39F88B70-CD76-6EAC-06FD-9D255BF40A35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30" name="Connector: Elbow 29">
              <a:extLst>
                <a:ext uri="{FF2B5EF4-FFF2-40B4-BE49-F238E27FC236}">
                  <a16:creationId xmlns="" xmlns:a16="http://schemas.microsoft.com/office/drawing/2014/main" id="{061F6089-8AE3-02BC-8033-D7C3B58283FE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Rectangle: Rounded Corners 38">
              <a:extLst>
                <a:ext uri="{FF2B5EF4-FFF2-40B4-BE49-F238E27FC236}">
                  <a16:creationId xmlns="" xmlns:a16="http://schemas.microsoft.com/office/drawing/2014/main" id="{B9E3D552-CE30-5202-A21A-832984102755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8" name="Straight Connector 67">
              <a:extLst>
                <a:ext uri="{FF2B5EF4-FFF2-40B4-BE49-F238E27FC236}">
                  <a16:creationId xmlns="" xmlns:a16="http://schemas.microsoft.com/office/drawing/2014/main" id="{F28AF39C-2834-16CA-DBA0-AEBFF348E5C1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="" xmlns:a16="http://schemas.microsoft.com/office/drawing/2014/main" id="{6FE9D677-F8B6-B80A-64A4-6B5F9BBFF1AC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="" xmlns:a16="http://schemas.microsoft.com/office/drawing/2014/main" id="{5FF9FAE6-D5F3-4F38-FD2D-96EF300B54D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F9FAE6-D5F3-4F38-FD2D-96EF300B54D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="" xmlns:a16="http://schemas.microsoft.com/office/drawing/2014/main" id="{DDE05879-A92C-038A-26CD-627B3B3BBC9E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="" xmlns:a16="http://schemas.microsoft.com/office/drawing/2014/main" id="{B369DC99-7E45-4694-C02B-8827A4A578AB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="" xmlns:a16="http://schemas.microsoft.com/office/drawing/2014/main" id="{904662E6-BA88-D85D-EFCC-CAA961373AEA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="" xmlns:a16="http://schemas.microsoft.com/office/drawing/2014/main" id="{2263CD92-0FD0-A7D7-9599-9C89CC8A9E39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="" xmlns:a16="http://schemas.microsoft.com/office/drawing/2014/main" id="{77AFBF91-0509-83D7-B0FC-53BB614F4BD3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="" xmlns:a16="http://schemas.microsoft.com/office/drawing/2014/main" id="{EAC61687-6D03-CF74-F42B-08A5DC2E29D1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AC61687-6D03-CF74-F42B-08A5DC2E29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8" name="Oval 47">
              <a:extLst>
                <a:ext uri="{FF2B5EF4-FFF2-40B4-BE49-F238E27FC236}">
                  <a16:creationId xmlns="" xmlns:a16="http://schemas.microsoft.com/office/drawing/2014/main" id="{AD26CA9E-56A6-4198-D806-3A332FD6EB3F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="" xmlns:a16="http://schemas.microsoft.com/office/drawing/2014/main" id="{09734D40-9979-E514-4F53-502671E18AD6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="" xmlns:a16="http://schemas.microsoft.com/office/drawing/2014/main" id="{192221E8-98B0-97BB-6D77-9137D6CE5F62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="" xmlns:a16="http://schemas.microsoft.com/office/drawing/2014/main" id="{6BE2E37D-C9CD-672F-BC9A-55D75190BBF8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6BE2E37D-C9CD-672F-BC9A-55D75190BB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4" name="Straight Connector 63">
              <a:extLst>
                <a:ext uri="{FF2B5EF4-FFF2-40B4-BE49-F238E27FC236}">
                  <a16:creationId xmlns="" xmlns:a16="http://schemas.microsoft.com/office/drawing/2014/main" id="{95187632-EDBE-4A9F-6F24-A0E1DC2389CF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="" xmlns:a16="http://schemas.microsoft.com/office/drawing/2014/main" id="{FB63BB8C-8CDF-507A-D3B3-AEC868E78ACB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="" xmlns:a16="http://schemas.microsoft.com/office/drawing/2014/main" id="{3F479985-A1F4-6572-D403-27A06458A8E1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3F479985-A1F4-6572-D403-27A06458A8E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="" xmlns:a16="http://schemas.microsoft.com/office/drawing/2014/main" id="{9998E1E6-9B24-24E9-20DE-CFED16703223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="" xmlns:a16="http://schemas.microsoft.com/office/drawing/2014/main" id="{169C3F89-4C87-AF8C-C0CE-A02D4E854092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="" xmlns:a16="http://schemas.microsoft.com/office/drawing/2014/main" id="{265FA536-7F65-7BCA-9097-19FF4C657AFE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2016000" cy="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="" xmlns:a16="http://schemas.microsoft.com/office/drawing/2014/main" id="{AEB3C603-8DDE-BBB3-F8E0-B4A4998EAC0C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EB3C603-8DDE-BBB3-F8E0-B4A4998EAC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="" xmlns:a16="http://schemas.microsoft.com/office/drawing/2014/main" id="{8628CEEE-8E89-1C4D-2220-FE4E61FFCE88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628CEEE-8E89-1C4D-2220-FE4E61FFCE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="" xmlns:a16="http://schemas.microsoft.com/office/drawing/2014/main" id="{1985298A-2856-ABFD-C452-1A9F3EBD0134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1985298A-2856-ABFD-C452-1A9F3EBD01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="" xmlns:a16="http://schemas.microsoft.com/office/drawing/2014/main" id="{36215880-FBAA-2090-61D8-3381AF0E06BC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6215880-FBAA-2090-61D8-3381AF0E06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="" xmlns:a16="http://schemas.microsoft.com/office/drawing/2014/main" id="{7D80BECE-9ECC-B9DE-EF50-2C2B2C4AC5DB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="" xmlns:a16="http://schemas.microsoft.com/office/drawing/2014/main" id="{1CBB1F56-3EBF-2506-9BB1-48E8BF989340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CBB1F56-3EBF-2506-9BB1-48E8BF9893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="" xmlns:a16="http://schemas.microsoft.com/office/drawing/2014/main" id="{CA952064-AD70-94D9-E2DD-B91D4A28DC0F}"/>
                    </a:ext>
                  </a:extLst>
                </p:cNvPr>
                <p:cNvSpPr txBox="1"/>
                <p:nvPr/>
              </p:nvSpPr>
              <p:spPr>
                <a:xfrm>
                  <a:off x="5338207" y="3129437"/>
                  <a:ext cx="410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CA952064-AD70-94D9-E2DD-B91D4A28DC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38207" y="3129437"/>
                  <a:ext cx="410304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="" xmlns:a16="http://schemas.microsoft.com/office/drawing/2014/main" id="{906BA239-78D0-0FC7-46DA-9E9A58FF0EA2}"/>
                    </a:ext>
                  </a:extLst>
                </p:cNvPr>
                <p:cNvSpPr txBox="1"/>
                <p:nvPr/>
              </p:nvSpPr>
              <p:spPr>
                <a:xfrm>
                  <a:off x="6012344" y="3390696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06BA239-78D0-0FC7-46DA-9E9A58FF0EA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12344" y="3390696"/>
                  <a:ext cx="442364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274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755455647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AA234DB3-EF34-ECEA-612A-5AF4DB057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="" xmlns:a16="http://schemas.microsoft.com/office/drawing/2014/main" id="{F9BBD2FD-CF73-528D-5800-EBFA500E45CD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19" name="Connector: Elbow 18">
              <a:extLst>
                <a:ext uri="{FF2B5EF4-FFF2-40B4-BE49-F238E27FC236}">
                  <a16:creationId xmlns="" xmlns:a16="http://schemas.microsoft.com/office/drawing/2014/main" id="{DF034DC8-C749-090B-EE51-94854F66C6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97177" y="4033973"/>
              <a:ext cx="709244" cy="20612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="" xmlns:a16="http://schemas.microsoft.com/office/drawing/2014/main" id="{6FE0EB9D-21F9-4127-6D82-435A599952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="" xmlns:a16="http://schemas.microsoft.com/office/drawing/2014/main" id="{13CBD50A-A730-8AFE-B031-D15997274FB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="" xmlns:a16="http://schemas.microsoft.com/office/drawing/2014/main" id="{91D4EC76-045A-4A76-251A-E4E6ACE08988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1D4EC76-045A-4A76-251A-E4E6ACE089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="" xmlns:a16="http://schemas.microsoft.com/office/drawing/2014/main" id="{689F7505-4009-14AF-E17D-4AAF1B48F2F2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89F7505-4009-14AF-E17D-4AAF1B48F2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8" name="Straight Connector 67">
              <a:extLst>
                <a:ext uri="{FF2B5EF4-FFF2-40B4-BE49-F238E27FC236}">
                  <a16:creationId xmlns="" xmlns:a16="http://schemas.microsoft.com/office/drawing/2014/main" id="{E5886DE6-1077-206C-D3CA-99E74DEC9394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="" xmlns:a16="http://schemas.microsoft.com/office/drawing/2014/main" id="{CFF05A71-582D-9191-9743-99F9C78418F2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="" xmlns:a16="http://schemas.microsoft.com/office/drawing/2014/main" id="{654B79FE-0697-96CC-0810-CAF4594A53DB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="" xmlns:a16="http://schemas.microsoft.com/office/drawing/2014/main" id="{C15C5B51-0C20-185B-0040-A8999AD7455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="" xmlns:a16="http://schemas.microsoft.com/office/drawing/2014/main" id="{4A337265-AB1F-6C47-6023-FD5F7C1D768B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="" xmlns:a16="http://schemas.microsoft.com/office/drawing/2014/main" id="{FA8CE05B-78DD-6CF4-4CBF-4D95C037C8E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="" xmlns:a16="http://schemas.microsoft.com/office/drawing/2014/main" id="{35C35CCD-5DF6-163D-A028-0291F843D86F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5C35CCD-5DF6-163D-A028-0291F843D86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="" xmlns:a16="http://schemas.microsoft.com/office/drawing/2014/main" id="{EE08F870-46C7-6BA5-D892-5DC0823B8B82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="" xmlns:a16="http://schemas.microsoft.com/office/drawing/2014/main" id="{70F127C9-AC3F-6FC7-7015-EB3F874395B3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="" xmlns:a16="http://schemas.microsoft.com/office/drawing/2014/main" id="{2DEFA638-D7CB-D2C1-F61C-49C9439A7FA6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="" xmlns:a16="http://schemas.microsoft.com/office/drawing/2014/main" id="{80D1BF60-4C30-885A-46CD-5A06FD769BC1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80D1BF60-4C30-885A-46CD-5A06FD769B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="" xmlns:a16="http://schemas.microsoft.com/office/drawing/2014/main" id="{E8A0CBF4-F2C9-5D9E-588A-3326EE3EECF4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="" xmlns:a16="http://schemas.microsoft.com/office/drawing/2014/main" id="{107CF738-51F4-26CF-4AAC-343FF70BC94C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="" xmlns:a16="http://schemas.microsoft.com/office/drawing/2014/main" id="{4C4917B0-970A-52A6-4BF6-4C187C5F5E93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64" name="Straight Connector 63">
              <a:extLst>
                <a:ext uri="{FF2B5EF4-FFF2-40B4-BE49-F238E27FC236}">
                  <a16:creationId xmlns="" xmlns:a16="http://schemas.microsoft.com/office/drawing/2014/main" id="{F3CB2341-7DBA-D4E4-B23F-BF0D44A485D8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="" xmlns:a16="http://schemas.microsoft.com/office/drawing/2014/main" id="{AA8D110F-2064-E200-21EE-AF61992464EC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="" xmlns:a16="http://schemas.microsoft.com/office/drawing/2014/main" id="{23647E35-392E-B810-6545-AEF318DFD74D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3647E35-392E-B810-6545-AEF318DFD74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="" xmlns:a16="http://schemas.microsoft.com/office/drawing/2014/main" id="{4CDC89E9-0430-8EEF-44E8-B1162A3894FA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="" xmlns:a16="http://schemas.microsoft.com/office/drawing/2014/main" id="{CF52A80A-7364-7C4A-491B-E886D001446E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="" xmlns:a16="http://schemas.microsoft.com/office/drawing/2014/main" id="{B7E1AAE5-0DE3-43D5-FD4E-3B36E025A6D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B7E1AAE5-0DE3-43D5-FD4E-3B36E025A6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="" xmlns:a16="http://schemas.microsoft.com/office/drawing/2014/main" id="{346BD185-FE16-6426-012D-3F5E5BC1B0BF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46BD185-FE16-6426-012D-3F5E5BC1B0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="" xmlns:a16="http://schemas.microsoft.com/office/drawing/2014/main" id="{3083DA91-C8EF-B9D3-7A03-4B16B76C739C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083DA91-C8EF-B9D3-7A03-4B16B76C73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="" xmlns:a16="http://schemas.microsoft.com/office/drawing/2014/main" id="{466CBD43-63E2-FE59-CAE9-5B06AEA54494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66CBD43-63E2-FE59-CAE9-5B06AEA54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11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="" xmlns:a16="http://schemas.microsoft.com/office/drawing/2014/main" id="{27D3300A-C524-4BB3-938B-E7ABEAA66485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>
              <a:extLst>
                <a:ext uri="{FF2B5EF4-FFF2-40B4-BE49-F238E27FC236}">
                  <a16:creationId xmlns="" xmlns:a16="http://schemas.microsoft.com/office/drawing/2014/main" id="{05C896E5-693F-A300-F512-729F492C7D88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="" xmlns:a16="http://schemas.microsoft.com/office/drawing/2014/main" id="{5D3A246B-9585-73E3-9594-FF1ACEFC8834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D3A246B-9585-73E3-9594-FF1ACEFC883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="" xmlns:a16="http://schemas.microsoft.com/office/drawing/2014/main" id="{76A4B15F-241C-8207-6750-4AC1C26C03EF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="" xmlns:a16="http://schemas.microsoft.com/office/drawing/2014/main" id="{4CB04675-C1B8-179E-063A-83532350B5B6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="" xmlns:a16="http://schemas.microsoft.com/office/drawing/2014/main" id="{17CE081A-B21A-762E-73B2-73F86C9D8550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="" xmlns:a16="http://schemas.microsoft.com/office/drawing/2014/main" id="{2C2883E7-1C60-5FCB-605F-9E00B531F42A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="" xmlns:a16="http://schemas.microsoft.com/office/drawing/2014/main" id="{8C799CC9-8CDC-AC46-4D9C-14D8CB6E28DC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="" xmlns:a16="http://schemas.microsoft.com/office/drawing/2014/main" id="{E2DCA249-8B08-434F-AA72-F87E61B41222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" name="TextBox 1">
              <a:extLst>
                <a:ext uri="{FF2B5EF4-FFF2-40B4-BE49-F238E27FC236}">
                  <a16:creationId xmlns="" xmlns:a16="http://schemas.microsoft.com/office/drawing/2014/main" id="{BDC3B73C-A49D-04B7-5662-8E7514E23CD8}"/>
                </a:ext>
              </a:extLst>
            </p:cNvPr>
            <p:cNvSpPr txBox="1"/>
            <p:nvPr/>
          </p:nvSpPr>
          <p:spPr>
            <a:xfrm>
              <a:off x="6106421" y="1896928"/>
              <a:ext cx="11099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entrada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="" xmlns:a16="http://schemas.microsoft.com/office/drawing/2014/main" id="{3B80609F-3EC0-40F6-4D37-14444E24FA3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6673" y="2356574"/>
              <a:ext cx="442406" cy="97237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="" xmlns:a16="http://schemas.microsoft.com/office/drawing/2014/main" id="{9077C205-DBA7-D8FC-2C97-C88478ADBE7F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2016139" cy="465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="" xmlns:a16="http://schemas.microsoft.com/office/drawing/2014/main" id="{868098FF-7972-7827-660D-CE72BBD2AC48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="" xmlns:a16="http://schemas.microsoft.com/office/drawing/2014/main" id="{8C33C103-F223-93E6-D020-D7253E16BE98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8C33C103-F223-93E6-D020-D7253E16BE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="" xmlns:a16="http://schemas.microsoft.com/office/drawing/2014/main" id="{79AD6FF1-1653-82A9-4E02-91F61C3D7321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9AD6FF1-1653-82A9-4E02-91F61C3D73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2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870514809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D535DB89-0292-4C5A-F4B1-0C7B0D5D7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="" xmlns:a16="http://schemas.microsoft.com/office/drawing/2014/main" id="{1E6693AB-9080-966C-4D58-2EA6DBD07FBC}"/>
              </a:ext>
            </a:extLst>
          </p:cNvPr>
          <p:cNvGrpSpPr/>
          <p:nvPr/>
        </p:nvGrpSpPr>
        <p:grpSpPr>
          <a:xfrm>
            <a:off x="134391" y="1849548"/>
            <a:ext cx="5133274" cy="3158904"/>
            <a:chOff x="3387954" y="1841814"/>
            <a:chExt cx="5133274" cy="3158904"/>
          </a:xfrm>
        </p:grpSpPr>
        <p:cxnSp>
          <p:nvCxnSpPr>
            <p:cNvPr id="33" name="Straight Connector 32">
              <a:extLst>
                <a:ext uri="{FF2B5EF4-FFF2-40B4-BE49-F238E27FC236}">
                  <a16:creationId xmlns="" xmlns:a16="http://schemas.microsoft.com/office/drawing/2014/main" id="{9D484352-76E3-BDB1-D326-EDCC4E24536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="" xmlns:a16="http://schemas.microsoft.com/office/drawing/2014/main" id="{45339A55-66C9-1111-90CF-606F78A377C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="" xmlns:a16="http://schemas.microsoft.com/office/drawing/2014/main" id="{B36FCAE8-5860-FC81-28DB-F1330525841E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="" xmlns:a16="http://schemas.microsoft.com/office/drawing/2014/main" id="{CDAD974B-2567-4FED-B1AF-B8BC328A9530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="" xmlns:a16="http://schemas.microsoft.com/office/drawing/2014/main" id="{EEF54D2C-3691-135A-5D48-B7BB3D84F1E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="" xmlns:a16="http://schemas.microsoft.com/office/drawing/2014/main" id="{6CFC43CE-312C-CC1D-0867-9CAB78D3BDC8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="" xmlns:a16="http://schemas.microsoft.com/office/drawing/2014/main" id="{52054C13-DF96-0311-7938-30530BBE6CA2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="" xmlns:a16="http://schemas.microsoft.com/office/drawing/2014/main" id="{6EEDC121-F607-FE73-E57A-90D5378D9C3D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="" xmlns:a16="http://schemas.microsoft.com/office/drawing/2014/main" id="{9C8FF9AB-00C9-B769-9AED-2DC857398DF7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="" xmlns:a16="http://schemas.microsoft.com/office/drawing/2014/main" id="{254208A2-C0A3-CC7C-102B-529EF10CE5E0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="" xmlns:a16="http://schemas.microsoft.com/office/drawing/2014/main" id="{67D2E9AC-D0D7-5FF8-3056-16991D60205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="" xmlns:a16="http://schemas.microsoft.com/office/drawing/2014/main" id="{79558D3F-5963-20E5-DEAE-BB393D386DFC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9558D3F-5963-20E5-DEAE-BB393D386D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Oval 36">
              <a:extLst>
                <a:ext uri="{FF2B5EF4-FFF2-40B4-BE49-F238E27FC236}">
                  <a16:creationId xmlns="" xmlns:a16="http://schemas.microsoft.com/office/drawing/2014/main" id="{41E5331B-7497-3EAB-612D-76B2411DE483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="" xmlns:a16="http://schemas.microsoft.com/office/drawing/2014/main" id="{5F79EBCF-B49E-1CFB-4AB2-62E6C0D8D56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="" xmlns:a16="http://schemas.microsoft.com/office/drawing/2014/main" id="{574A35A4-9645-799F-CFAB-50CBB9BB146C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="" xmlns:a16="http://schemas.microsoft.com/office/drawing/2014/main" id="{372D9875-E4CD-C4BF-D584-E170D8775680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="" xmlns:a16="http://schemas.microsoft.com/office/drawing/2014/main" id="{60BE383E-58A4-904C-1437-9E2DD4690B12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="" xmlns:a16="http://schemas.microsoft.com/office/drawing/2014/main" id="{B44B526B-5C9D-0035-BEF6-CCF89FFA0A78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="" xmlns:a16="http://schemas.microsoft.com/office/drawing/2014/main" id="{3CF19B3A-11ED-BF65-8794-A33574BF5B8D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CF19B3A-11ED-BF65-8794-A33574BF5B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="" xmlns:a16="http://schemas.microsoft.com/office/drawing/2014/main" id="{084BF1A6-CB8D-11E0-69DF-1D0112A2A4FC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84BF1A6-CB8D-11E0-69DF-1D0112A2A4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blipFill>
                  <a:blip r:embed="rId8"/>
                  <a:stretch>
                    <a:fillRect r="-231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="" xmlns:a16="http://schemas.microsoft.com/office/drawing/2014/main" id="{E5E1E212-22FF-F303-C8DD-044D2FD556B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Connector: Elbow 18">
              <a:extLst>
                <a:ext uri="{FF2B5EF4-FFF2-40B4-BE49-F238E27FC236}">
                  <a16:creationId xmlns="" xmlns:a16="http://schemas.microsoft.com/office/drawing/2014/main" id="{FEB49339-2251-0621-3FB2-5F0777E8738C}"/>
                </a:ext>
              </a:extLst>
            </p:cNvPr>
            <p:cNvCxnSpPr>
              <a:cxnSpLocks/>
              <a:stCxn id="50" idx="3"/>
              <a:endCxn id="11" idx="2"/>
            </p:cNvCxnSpPr>
            <p:nvPr/>
          </p:nvCxnSpPr>
          <p:spPr>
            <a:xfrm flipV="1">
              <a:off x="4078784" y="4036770"/>
              <a:ext cx="2627638" cy="20005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="" xmlns:a16="http://schemas.microsoft.com/office/drawing/2014/main" id="{D8D54B05-5AA3-748E-C625-27B672EE4C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="" xmlns:a16="http://schemas.microsoft.com/office/drawing/2014/main" id="{657E8D60-7374-6BC0-8074-CA18852806F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="" xmlns:a16="http://schemas.microsoft.com/office/drawing/2014/main" id="{4614BDFA-040F-E6C8-3A70-82B16A049EA3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="" xmlns:a16="http://schemas.microsoft.com/office/drawing/2014/main" id="{7131B2AC-785B-6A00-6403-4173D30B3DBE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6" name="Straight Connector 95">
              <a:extLst>
                <a:ext uri="{FF2B5EF4-FFF2-40B4-BE49-F238E27FC236}">
                  <a16:creationId xmlns="" xmlns:a16="http://schemas.microsoft.com/office/drawing/2014/main" id="{2F1CAFE8-16C4-F79F-5ED8-5BEB2A55D30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="" xmlns:a16="http://schemas.microsoft.com/office/drawing/2014/main" id="{E3211A3E-6145-4D12-2D22-D70496F9057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="" xmlns:a16="http://schemas.microsoft.com/office/drawing/2014/main" id="{19A8E8F3-38BE-87E6-D274-984A8015898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="" xmlns:a16="http://schemas.microsoft.com/office/drawing/2014/main" id="{7B460A71-A162-3B2F-0534-D5097B71597C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="" xmlns:a16="http://schemas.microsoft.com/office/drawing/2014/main" id="{0D1C2C55-7250-38DB-BDFD-F1FDC6C7AC0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="" xmlns:a16="http://schemas.microsoft.com/office/drawing/2014/main" id="{AA96CA20-B5D2-5828-E8D6-0B6C6EA98888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="" xmlns:a16="http://schemas.microsoft.com/office/drawing/2014/main" id="{D46B60D4-017B-0910-D204-0D84EE74F3CD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="" xmlns:a16="http://schemas.microsoft.com/office/drawing/2014/main" id="{AEB9BA74-F15E-4C0E-554A-8F737160BF12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="" xmlns:a16="http://schemas.microsoft.com/office/drawing/2014/main" id="{67FE728A-0062-CF04-49C7-136BF8661AD5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="" xmlns:a16="http://schemas.microsoft.com/office/drawing/2014/main" id="{BC7D8FBB-5A16-AD70-891F-CF9586387C28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="" xmlns:a16="http://schemas.microsoft.com/office/drawing/2014/main" id="{204CF9FF-C56F-CC88-41C7-A4068C357EFC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="" xmlns:a16="http://schemas.microsoft.com/office/drawing/2014/main" id="{F84BDC07-58AB-814F-9F8F-8414DD043B2C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="" xmlns:a16="http://schemas.microsoft.com/office/drawing/2014/main" id="{1F9BEE74-0585-0BF9-6739-9B6E594E5FE2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TextBox 1">
              <a:extLst>
                <a:ext uri="{FF2B5EF4-FFF2-40B4-BE49-F238E27FC236}">
                  <a16:creationId xmlns="" xmlns:a16="http://schemas.microsoft.com/office/drawing/2014/main" id="{EA3F5154-2CA6-DA77-77EC-40A67ED99630}"/>
                </a:ext>
              </a:extLst>
            </p:cNvPr>
            <p:cNvSpPr txBox="1"/>
            <p:nvPr/>
          </p:nvSpPr>
          <p:spPr>
            <a:xfrm>
              <a:off x="5830072" y="1866123"/>
              <a:ext cx="73227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saída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="" xmlns:a16="http://schemas.microsoft.com/office/drawing/2014/main" id="{92D561B4-41EA-C30D-E56D-D9342BDCD50E}"/>
                </a:ext>
              </a:extLst>
            </p:cNvPr>
            <p:cNvCxnSpPr>
              <a:cxnSpLocks/>
              <a:stCxn id="2" idx="2"/>
            </p:cNvCxnSpPr>
            <p:nvPr/>
          </p:nvCxnSpPr>
          <p:spPr>
            <a:xfrm>
              <a:off x="6196208" y="2327788"/>
              <a:ext cx="884662" cy="1052726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="" xmlns:a16="http://schemas.microsoft.com/office/drawing/2014/main" id="{1783A325-B082-C554-B2BA-28AD9A80CD2C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="" xmlns:a16="http://schemas.microsoft.com/office/drawing/2014/main" id="{9461D240-8679-EED9-2C4E-0B5228660B56}"/>
                    </a:ext>
                  </a:extLst>
                </p:cNvPr>
                <p:cNvSpPr txBox="1"/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𝒐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461D240-8679-EED9-2C4E-0B5228660B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01110884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F794AEBB-1DB3-0C45-B06E-B6487708D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Group 132">
            <a:extLst>
              <a:ext uri="{FF2B5EF4-FFF2-40B4-BE49-F238E27FC236}">
                <a16:creationId xmlns="" xmlns:a16="http://schemas.microsoft.com/office/drawing/2014/main" id="{F7B7D8FC-9645-4A44-7D00-F1E2AE598CBE}"/>
              </a:ext>
            </a:extLst>
          </p:cNvPr>
          <p:cNvGrpSpPr/>
          <p:nvPr/>
        </p:nvGrpSpPr>
        <p:grpSpPr>
          <a:xfrm>
            <a:off x="3581399" y="2244873"/>
            <a:ext cx="4928922" cy="2579854"/>
            <a:chOff x="3581399" y="2244873"/>
            <a:chExt cx="4928922" cy="2579854"/>
          </a:xfrm>
        </p:grpSpPr>
        <p:sp>
          <p:nvSpPr>
            <p:cNvPr id="134" name="Rectangle: Rounded Corners 133">
              <a:extLst>
                <a:ext uri="{FF2B5EF4-FFF2-40B4-BE49-F238E27FC236}">
                  <a16:creationId xmlns="" xmlns:a16="http://schemas.microsoft.com/office/drawing/2014/main" id="{90050B18-8D3F-55EF-2EB2-32D909A3DEA1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35" name="Straight Arrow Connector 134">
              <a:extLst>
                <a:ext uri="{FF2B5EF4-FFF2-40B4-BE49-F238E27FC236}">
                  <a16:creationId xmlns="" xmlns:a16="http://schemas.microsoft.com/office/drawing/2014/main" id="{74C5C52F-9EF8-E099-77E3-78FBC698A9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24149" y="2244873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36" name="Oval 135">
              <a:extLst>
                <a:ext uri="{FF2B5EF4-FFF2-40B4-BE49-F238E27FC236}">
                  <a16:creationId xmlns="" xmlns:a16="http://schemas.microsoft.com/office/drawing/2014/main" id="{10C8CDDB-6BDF-ED81-4C18-815D38FC460E}"/>
                </a:ext>
              </a:extLst>
            </p:cNvPr>
            <p:cNvSpPr/>
            <p:nvPr/>
          </p:nvSpPr>
          <p:spPr>
            <a:xfrm>
              <a:off x="4733602" y="31878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7" name="Oval 136">
              <a:extLst>
                <a:ext uri="{FF2B5EF4-FFF2-40B4-BE49-F238E27FC236}">
                  <a16:creationId xmlns="" xmlns:a16="http://schemas.microsoft.com/office/drawing/2014/main" id="{C878417F-026D-C5E4-7CD5-9AF914BD3FA8}"/>
                </a:ext>
              </a:extLst>
            </p:cNvPr>
            <p:cNvSpPr/>
            <p:nvPr/>
          </p:nvSpPr>
          <p:spPr>
            <a:xfrm>
              <a:off x="6236481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="" xmlns:a16="http://schemas.microsoft.com/office/drawing/2014/main" id="{3690F93B-C813-8543-60EE-FD8C453D5D34}"/>
                </a:ext>
              </a:extLst>
            </p:cNvPr>
            <p:cNvSpPr/>
            <p:nvPr/>
          </p:nvSpPr>
          <p:spPr>
            <a:xfrm>
              <a:off x="7076731" y="3612407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9" name="Oval 138">
              <a:extLst>
                <a:ext uri="{FF2B5EF4-FFF2-40B4-BE49-F238E27FC236}">
                  <a16:creationId xmlns="" xmlns:a16="http://schemas.microsoft.com/office/drawing/2014/main" id="{D95F8E15-9ACA-85AA-D57F-195E21823AC0}"/>
                </a:ext>
              </a:extLst>
            </p:cNvPr>
            <p:cNvSpPr/>
            <p:nvPr/>
          </p:nvSpPr>
          <p:spPr>
            <a:xfrm>
              <a:off x="7247597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TextBox 139">
                  <a:extLst>
                    <a:ext uri="{FF2B5EF4-FFF2-40B4-BE49-F238E27FC236}">
                      <a16:creationId xmlns="" xmlns:a16="http://schemas.microsoft.com/office/drawing/2014/main" id="{DAD0E2EE-D6B9-4EAA-3EA2-01FF5FF7F9A0}"/>
                    </a:ext>
                  </a:extLst>
                </p:cNvPr>
                <p:cNvSpPr txBox="1"/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DAD0E2EE-D6B9-4EAA-3EA2-01FF5FF7F9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1" name="Oval 140">
              <a:extLst>
                <a:ext uri="{FF2B5EF4-FFF2-40B4-BE49-F238E27FC236}">
                  <a16:creationId xmlns="" xmlns:a16="http://schemas.microsoft.com/office/drawing/2014/main" id="{C6E8D3F7-3B24-BD33-C5A8-30120A16C309}"/>
                </a:ext>
              </a:extLst>
            </p:cNvPr>
            <p:cNvSpPr/>
            <p:nvPr/>
          </p:nvSpPr>
          <p:spPr>
            <a:xfrm>
              <a:off x="7247597" y="30862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Rectangle 141">
                  <a:extLst>
                    <a:ext uri="{FF2B5EF4-FFF2-40B4-BE49-F238E27FC236}">
                      <a16:creationId xmlns="" xmlns:a16="http://schemas.microsoft.com/office/drawing/2014/main" id="{BA9026C2-ACF3-B134-C819-4C9178161B1B}"/>
                    </a:ext>
                  </a:extLst>
                </p:cNvPr>
                <p:cNvSpPr/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BA9026C2-ACF3-B134-C819-4C9178161B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3" name="Rectangle 142">
                  <a:extLst>
                    <a:ext uri="{FF2B5EF4-FFF2-40B4-BE49-F238E27FC236}">
                      <a16:creationId xmlns="" xmlns:a16="http://schemas.microsoft.com/office/drawing/2014/main" id="{1628C659-015D-1DA5-CA6B-E8B9389E03EE}"/>
                    </a:ext>
                  </a:extLst>
                </p:cNvPr>
                <p:cNvSpPr/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1628C659-015D-1DA5-CA6B-E8B9389E03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4" name="Oval 143">
              <a:extLst>
                <a:ext uri="{FF2B5EF4-FFF2-40B4-BE49-F238E27FC236}">
                  <a16:creationId xmlns="" xmlns:a16="http://schemas.microsoft.com/office/drawing/2014/main" id="{A167DEAA-A4BC-3DC5-B475-EBB7590347D8}"/>
                </a:ext>
              </a:extLst>
            </p:cNvPr>
            <p:cNvSpPr/>
            <p:nvPr/>
          </p:nvSpPr>
          <p:spPr>
            <a:xfrm>
              <a:off x="6680078" y="308494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145" name="Straight Connector 144">
              <a:extLst>
                <a:ext uri="{FF2B5EF4-FFF2-40B4-BE49-F238E27FC236}">
                  <a16:creationId xmlns="" xmlns:a16="http://schemas.microsoft.com/office/drawing/2014/main" id="{117D1456-CB87-98A7-0EB1-D7D8E8F96920}"/>
                </a:ext>
              </a:extLst>
            </p:cNvPr>
            <p:cNvCxnSpPr>
              <a:cxnSpLocks/>
              <a:stCxn id="140" idx="3"/>
              <a:endCxn id="137" idx="2"/>
            </p:cNvCxnSpPr>
            <p:nvPr/>
          </p:nvCxnSpPr>
          <p:spPr>
            <a:xfrm>
              <a:off x="4092982" y="2704857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6" name="Straight Arrow Connector 145">
              <a:extLst>
                <a:ext uri="{FF2B5EF4-FFF2-40B4-BE49-F238E27FC236}">
                  <a16:creationId xmlns="" xmlns:a16="http://schemas.microsoft.com/office/drawing/2014/main" id="{58E46E7A-E1E3-D586-BCF0-E5340AD35998}"/>
                </a:ext>
              </a:extLst>
            </p:cNvPr>
            <p:cNvCxnSpPr>
              <a:cxnSpLocks/>
              <a:stCxn id="142" idx="0"/>
              <a:endCxn id="137" idx="4"/>
            </p:cNvCxnSpPr>
            <p:nvPr/>
          </p:nvCxnSpPr>
          <p:spPr>
            <a:xfrm flipV="1">
              <a:off x="6372688" y="2849398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7" name="TextBox 146">
              <a:extLst>
                <a:ext uri="{FF2B5EF4-FFF2-40B4-BE49-F238E27FC236}">
                  <a16:creationId xmlns="" xmlns:a16="http://schemas.microsoft.com/office/drawing/2014/main" id="{2B2D2713-80F9-8691-6DD2-110DFD52B741}"/>
                </a:ext>
              </a:extLst>
            </p:cNvPr>
            <p:cNvSpPr txBox="1"/>
            <p:nvPr/>
          </p:nvSpPr>
          <p:spPr>
            <a:xfrm>
              <a:off x="6643013" y="3036802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48" name="Straight Connector 147">
              <a:extLst>
                <a:ext uri="{FF2B5EF4-FFF2-40B4-BE49-F238E27FC236}">
                  <a16:creationId xmlns="" xmlns:a16="http://schemas.microsoft.com/office/drawing/2014/main" id="{89B28A53-8903-1E7F-2167-9D4D45F09B8D}"/>
                </a:ext>
              </a:extLst>
            </p:cNvPr>
            <p:cNvCxnSpPr>
              <a:stCxn id="137" idx="6"/>
              <a:endCxn id="139" idx="2"/>
            </p:cNvCxnSpPr>
            <p:nvPr/>
          </p:nvCxnSpPr>
          <p:spPr>
            <a:xfrm>
              <a:off x="6509531" y="2712873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Arrow Connector 148">
              <a:extLst>
                <a:ext uri="{FF2B5EF4-FFF2-40B4-BE49-F238E27FC236}">
                  <a16:creationId xmlns="" xmlns:a16="http://schemas.microsoft.com/office/drawing/2014/main" id="{D4E7BBA5-09C3-80E0-1CAB-039A11EDF1AE}"/>
                </a:ext>
              </a:extLst>
            </p:cNvPr>
            <p:cNvCxnSpPr>
              <a:stCxn id="141" idx="0"/>
              <a:endCxn id="139" idx="4"/>
            </p:cNvCxnSpPr>
            <p:nvPr/>
          </p:nvCxnSpPr>
          <p:spPr>
            <a:xfrm flipV="1">
              <a:off x="7384122" y="2849398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="" xmlns:a16="http://schemas.microsoft.com/office/drawing/2014/main" id="{92B680C6-14AA-8FD4-B377-1166A521DAE9}"/>
                </a:ext>
              </a:extLst>
            </p:cNvPr>
            <p:cNvCxnSpPr>
              <a:cxnSpLocks/>
              <a:stCxn id="138" idx="0"/>
              <a:endCxn id="141" idx="4"/>
            </p:cNvCxnSpPr>
            <p:nvPr/>
          </p:nvCxnSpPr>
          <p:spPr>
            <a:xfrm flipV="1">
              <a:off x="7384122" y="3359315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1" name="Straight Arrow Connector 150">
              <a:extLst>
                <a:ext uri="{FF2B5EF4-FFF2-40B4-BE49-F238E27FC236}">
                  <a16:creationId xmlns="" xmlns:a16="http://schemas.microsoft.com/office/drawing/2014/main" id="{629C1E56-B71B-009E-0B81-04D4491F1D52}"/>
                </a:ext>
              </a:extLst>
            </p:cNvPr>
            <p:cNvCxnSpPr>
              <a:cxnSpLocks/>
              <a:stCxn id="139" idx="6"/>
            </p:cNvCxnSpPr>
            <p:nvPr/>
          </p:nvCxnSpPr>
          <p:spPr>
            <a:xfrm>
              <a:off x="7520646" y="2712873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2" name="TextBox 151">
                  <a:extLst>
                    <a:ext uri="{FF2B5EF4-FFF2-40B4-BE49-F238E27FC236}">
                      <a16:creationId xmlns="" xmlns:a16="http://schemas.microsoft.com/office/drawing/2014/main" id="{13433DA1-D8F5-0EEE-EEC8-A05EC5E55CCC}"/>
                    </a:ext>
                  </a:extLst>
                </p:cNvPr>
                <p:cNvSpPr txBox="1"/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13433DA1-D8F5-0EEE-EEC8-A05EC5E55C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3" name="Connector: Elbow 152">
              <a:extLst>
                <a:ext uri="{FF2B5EF4-FFF2-40B4-BE49-F238E27FC236}">
                  <a16:creationId xmlns="" xmlns:a16="http://schemas.microsoft.com/office/drawing/2014/main" id="{105EEC1D-3C43-F2A9-88AE-42FA04BF1309}"/>
                </a:ext>
              </a:extLst>
            </p:cNvPr>
            <p:cNvCxnSpPr>
              <a:stCxn id="143" idx="0"/>
              <a:endCxn id="136" idx="6"/>
            </p:cNvCxnSpPr>
            <p:nvPr/>
          </p:nvCxnSpPr>
          <p:spPr>
            <a:xfrm rot="16200000" flipV="1">
              <a:off x="5106929" y="3224114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="" xmlns:a16="http://schemas.microsoft.com/office/drawing/2014/main" id="{2EE7824F-8399-FB24-5842-DC6000E156F9}"/>
                </a:ext>
              </a:extLst>
            </p:cNvPr>
            <p:cNvCxnSpPr/>
            <p:nvPr/>
          </p:nvCxnSpPr>
          <p:spPr>
            <a:xfrm flipV="1">
              <a:off x="4870127" y="2712873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5" name="Connector: Elbow 154">
              <a:extLst>
                <a:ext uri="{FF2B5EF4-FFF2-40B4-BE49-F238E27FC236}">
                  <a16:creationId xmlns="" xmlns:a16="http://schemas.microsoft.com/office/drawing/2014/main" id="{BB4CE004-4534-6E2D-73FA-39554F4B499D}"/>
                </a:ext>
              </a:extLst>
            </p:cNvPr>
            <p:cNvCxnSpPr>
              <a:stCxn id="136" idx="4"/>
              <a:endCxn id="138" idx="2"/>
            </p:cNvCxnSpPr>
            <p:nvPr/>
          </p:nvCxnSpPr>
          <p:spPr>
            <a:xfrm rot="16200000" flipH="1">
              <a:off x="5902442" y="2428599"/>
              <a:ext cx="449364" cy="2513995"/>
            </a:xfrm>
            <a:prstGeom prst="bentConnector3">
              <a:avLst>
                <a:gd name="adj1" fmla="val 17100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6" name="TextBox 155">
                  <a:extLst>
                    <a:ext uri="{FF2B5EF4-FFF2-40B4-BE49-F238E27FC236}">
                      <a16:creationId xmlns="" xmlns:a16="http://schemas.microsoft.com/office/drawing/2014/main" id="{62C37C40-4525-A06C-71DB-6F6890D83DE4}"/>
                    </a:ext>
                  </a:extLst>
                </p:cNvPr>
                <p:cNvSpPr txBox="1"/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6" name="TextBox 155">
                  <a:extLst>
                    <a:ext uri="{FF2B5EF4-FFF2-40B4-BE49-F238E27FC236}">
                      <a16:creationId xmlns:a16="http://schemas.microsoft.com/office/drawing/2014/main" id="{62C37C40-4525-A06C-71DB-6F6890D83D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7" name="Connector: Elbow 156">
              <a:extLst>
                <a:ext uri="{FF2B5EF4-FFF2-40B4-BE49-F238E27FC236}">
                  <a16:creationId xmlns="" xmlns:a16="http://schemas.microsoft.com/office/drawing/2014/main" id="{F21A6FE6-B20A-D2B8-1A2A-BF0CD68E032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779325" y="2625890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8" name="Straight Connector 157">
              <a:extLst>
                <a:ext uri="{FF2B5EF4-FFF2-40B4-BE49-F238E27FC236}">
                  <a16:creationId xmlns="" xmlns:a16="http://schemas.microsoft.com/office/drawing/2014/main" id="{6C9CC7CA-AB4F-1D5E-EE6E-AA03D2E71EB1}"/>
                </a:ext>
              </a:extLst>
            </p:cNvPr>
            <p:cNvCxnSpPr/>
            <p:nvPr/>
          </p:nvCxnSpPr>
          <p:spPr>
            <a:xfrm flipV="1">
              <a:off x="4502150" y="2712873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Connector: Elbow 158">
              <a:extLst>
                <a:ext uri="{FF2B5EF4-FFF2-40B4-BE49-F238E27FC236}">
                  <a16:creationId xmlns="" xmlns:a16="http://schemas.microsoft.com/office/drawing/2014/main" id="{CA24E0D2-DBB3-B807-0058-DB1675A40AD5}"/>
                </a:ext>
              </a:extLst>
            </p:cNvPr>
            <p:cNvCxnSpPr>
              <a:cxnSpLocks/>
              <a:stCxn id="160" idx="2"/>
              <a:endCxn id="142" idx="2"/>
            </p:cNvCxnSpPr>
            <p:nvPr/>
          </p:nvCxnSpPr>
          <p:spPr>
            <a:xfrm flipV="1">
              <a:off x="4600574" y="3905037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0" name="Freeform: Shape 159">
              <a:extLst>
                <a:ext uri="{FF2B5EF4-FFF2-40B4-BE49-F238E27FC236}">
                  <a16:creationId xmlns="" xmlns:a16="http://schemas.microsoft.com/office/drawing/2014/main" id="{388429B5-EC77-54D8-F1D7-DD4559DEA260}"/>
                </a:ext>
              </a:extLst>
            </p:cNvPr>
            <p:cNvSpPr/>
            <p:nvPr/>
          </p:nvSpPr>
          <p:spPr>
            <a:xfrm>
              <a:off x="4495799" y="380285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1" name="Straight Connector 160">
              <a:extLst>
                <a:ext uri="{FF2B5EF4-FFF2-40B4-BE49-F238E27FC236}">
                  <a16:creationId xmlns="" xmlns:a16="http://schemas.microsoft.com/office/drawing/2014/main" id="{EB9F10BE-C0D9-DCE6-20B3-0600C34F7790}"/>
                </a:ext>
              </a:extLst>
            </p:cNvPr>
            <p:cNvCxnSpPr/>
            <p:nvPr/>
          </p:nvCxnSpPr>
          <p:spPr>
            <a:xfrm flipV="1">
              <a:off x="4500561" y="4140756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2" name="Freeform: Shape 161">
              <a:extLst>
                <a:ext uri="{FF2B5EF4-FFF2-40B4-BE49-F238E27FC236}">
                  <a16:creationId xmlns="" xmlns:a16="http://schemas.microsoft.com/office/drawing/2014/main" id="{1F9CCA16-0915-4D37-C307-5E13D4257933}"/>
                </a:ext>
              </a:extLst>
            </p:cNvPr>
            <p:cNvSpPr/>
            <p:nvPr/>
          </p:nvSpPr>
          <p:spPr>
            <a:xfrm rot="5170363">
              <a:off x="4558343" y="397080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3" name="Straight Connector 162">
              <a:extLst>
                <a:ext uri="{FF2B5EF4-FFF2-40B4-BE49-F238E27FC236}">
                  <a16:creationId xmlns="" xmlns:a16="http://schemas.microsoft.com/office/drawing/2014/main" id="{2472D226-670D-5BCA-F37F-C3B918721002}"/>
                </a:ext>
              </a:extLst>
            </p:cNvPr>
            <p:cNvCxnSpPr>
              <a:cxnSpLocks/>
              <a:stCxn id="143" idx="2"/>
            </p:cNvCxnSpPr>
            <p:nvPr/>
          </p:nvCxnSpPr>
          <p:spPr>
            <a:xfrm>
              <a:off x="5492866" y="3907923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4" name="TextBox 163">
                  <a:extLst>
                    <a:ext uri="{FF2B5EF4-FFF2-40B4-BE49-F238E27FC236}">
                      <a16:creationId xmlns="" xmlns:a16="http://schemas.microsoft.com/office/drawing/2014/main" id="{AF66BBF7-1C5B-A091-3F98-EC9EFC352EA7}"/>
                    </a:ext>
                  </a:extLst>
                </p:cNvPr>
                <p:cNvSpPr txBox="1"/>
                <p:nvPr/>
              </p:nvSpPr>
              <p:spPr>
                <a:xfrm>
                  <a:off x="6002906" y="3222817"/>
                  <a:ext cx="43627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𝒕</m:t>
                            </m:r>
                          </m:sub>
                        </m:sSub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64" name="TextBox 163">
                  <a:extLst>
                    <a:ext uri="{FF2B5EF4-FFF2-40B4-BE49-F238E27FC236}">
                      <a16:creationId xmlns:a16="http://schemas.microsoft.com/office/drawing/2014/main" id="{AF66BBF7-1C5B-A091-3F98-EC9EFC352E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2906" y="3222817"/>
                  <a:ext cx="436273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5" name="TextBox 164">
                  <a:extLst>
                    <a:ext uri="{FF2B5EF4-FFF2-40B4-BE49-F238E27FC236}">
                      <a16:creationId xmlns="" xmlns:a16="http://schemas.microsoft.com/office/drawing/2014/main" id="{3DD599C4-3F95-4407-2AF1-A0D0C08AD7CC}"/>
                    </a:ext>
                  </a:extLst>
                </p:cNvPr>
                <p:cNvSpPr txBox="1"/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5" name="TextBox 164">
                  <a:extLst>
                    <a:ext uri="{FF2B5EF4-FFF2-40B4-BE49-F238E27FC236}">
                      <a16:creationId xmlns:a16="http://schemas.microsoft.com/office/drawing/2014/main" id="{3DD599C4-3F95-4407-2AF1-A0D0C08AD7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6" name="TextBox 165">
                  <a:extLst>
                    <a:ext uri="{FF2B5EF4-FFF2-40B4-BE49-F238E27FC236}">
                      <a16:creationId xmlns="" xmlns:a16="http://schemas.microsoft.com/office/drawing/2014/main" id="{450F4BB0-A5D6-64C7-220A-31E7EF22B78D}"/>
                    </a:ext>
                  </a:extLst>
                </p:cNvPr>
                <p:cNvSpPr txBox="1"/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6" name="TextBox 165">
                  <a:extLst>
                    <a:ext uri="{FF2B5EF4-FFF2-40B4-BE49-F238E27FC236}">
                      <a16:creationId xmlns:a16="http://schemas.microsoft.com/office/drawing/2014/main" id="{450F4BB0-A5D6-64C7-220A-31E7EF22B7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blipFill>
                  <a:blip r:embed="rId10"/>
                  <a:stretch>
                    <a:fillRect t="-7937" r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3" name="Straight Arrow Connector 172">
              <a:extLst>
                <a:ext uri="{FF2B5EF4-FFF2-40B4-BE49-F238E27FC236}">
                  <a16:creationId xmlns="" xmlns:a16="http://schemas.microsoft.com/office/drawing/2014/main" id="{392EC775-E042-840D-378B-90F1077C2FE0}"/>
                </a:ext>
              </a:extLst>
            </p:cNvPr>
            <p:cNvCxnSpPr>
              <a:cxnSpLocks/>
              <a:endCxn id="144" idx="2"/>
            </p:cNvCxnSpPr>
            <p:nvPr/>
          </p:nvCxnSpPr>
          <p:spPr>
            <a:xfrm>
              <a:off x="6372688" y="3221468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4" name="Straight Arrow Connector 173">
              <a:extLst>
                <a:ext uri="{FF2B5EF4-FFF2-40B4-BE49-F238E27FC236}">
                  <a16:creationId xmlns="" xmlns:a16="http://schemas.microsoft.com/office/drawing/2014/main" id="{52896F66-9320-EEE1-2DE9-C988426FD4C8}"/>
                </a:ext>
              </a:extLst>
            </p:cNvPr>
            <p:cNvCxnSpPr>
              <a:cxnSpLocks/>
              <a:stCxn id="144" idx="6"/>
              <a:endCxn id="141" idx="2"/>
            </p:cNvCxnSpPr>
            <p:nvPr/>
          </p:nvCxnSpPr>
          <p:spPr>
            <a:xfrm>
              <a:off x="6953128" y="3221468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7450272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562252F6-7CF6-0CB5-2A37-B62D170C7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="" xmlns:a16="http://schemas.microsoft.com/office/drawing/2014/main" id="{5D8E9F3C-B497-3F06-40DA-7AF6840F84ED}"/>
              </a:ext>
            </a:extLst>
          </p:cNvPr>
          <p:cNvGrpSpPr/>
          <p:nvPr/>
        </p:nvGrpSpPr>
        <p:grpSpPr>
          <a:xfrm>
            <a:off x="3581399" y="1829242"/>
            <a:ext cx="4928922" cy="2995485"/>
            <a:chOff x="3581399" y="1829242"/>
            <a:chExt cx="4928922" cy="2995485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="" xmlns:a16="http://schemas.microsoft.com/office/drawing/2014/main" id="{BA002826-58F0-2B0D-1038-C97581B5271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93" name="Straight Arrow Connector 92">
              <a:extLst>
                <a:ext uri="{FF2B5EF4-FFF2-40B4-BE49-F238E27FC236}">
                  <a16:creationId xmlns="" xmlns:a16="http://schemas.microsoft.com/office/drawing/2014/main" id="{1B79736A-236D-E3D9-6C83-C58E440FA78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24149" y="2244873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="" xmlns:a16="http://schemas.microsoft.com/office/drawing/2014/main" id="{D2414ECA-C1B7-3469-AA7E-EC751760A2ED}"/>
                </a:ext>
              </a:extLst>
            </p:cNvPr>
            <p:cNvSpPr/>
            <p:nvPr/>
          </p:nvSpPr>
          <p:spPr>
            <a:xfrm>
              <a:off x="4733602" y="31878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="" xmlns:a16="http://schemas.microsoft.com/office/drawing/2014/main" id="{ED51A595-29D8-A07D-C3F0-F222BCFA01C8}"/>
                </a:ext>
              </a:extLst>
            </p:cNvPr>
            <p:cNvSpPr/>
            <p:nvPr/>
          </p:nvSpPr>
          <p:spPr>
            <a:xfrm>
              <a:off x="6236481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="" xmlns:a16="http://schemas.microsoft.com/office/drawing/2014/main" id="{440BE548-A72A-2BF0-59F6-02658DA115FF}"/>
                </a:ext>
              </a:extLst>
            </p:cNvPr>
            <p:cNvSpPr/>
            <p:nvPr/>
          </p:nvSpPr>
          <p:spPr>
            <a:xfrm>
              <a:off x="7076731" y="3612407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="" xmlns:a16="http://schemas.microsoft.com/office/drawing/2014/main" id="{E6D8DDBB-3D1C-6DFC-433F-295B122112B7}"/>
                </a:ext>
              </a:extLst>
            </p:cNvPr>
            <p:cNvSpPr/>
            <p:nvPr/>
          </p:nvSpPr>
          <p:spPr>
            <a:xfrm>
              <a:off x="7247597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="" xmlns:a16="http://schemas.microsoft.com/office/drawing/2014/main" id="{24262BB3-B947-8525-67E1-678650132CEC}"/>
                    </a:ext>
                  </a:extLst>
                </p:cNvPr>
                <p:cNvSpPr txBox="1"/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4262BB3-B947-8525-67E1-678650132C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Oval 3">
              <a:extLst>
                <a:ext uri="{FF2B5EF4-FFF2-40B4-BE49-F238E27FC236}">
                  <a16:creationId xmlns="" xmlns:a16="http://schemas.microsoft.com/office/drawing/2014/main" id="{1A0E8F15-DE4D-390E-F4A4-F035B779E166}"/>
                </a:ext>
              </a:extLst>
            </p:cNvPr>
            <p:cNvSpPr/>
            <p:nvPr/>
          </p:nvSpPr>
          <p:spPr>
            <a:xfrm>
              <a:off x="7247597" y="30862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ctangle 13">
                  <a:extLst>
                    <a:ext uri="{FF2B5EF4-FFF2-40B4-BE49-F238E27FC236}">
                      <a16:creationId xmlns="" xmlns:a16="http://schemas.microsoft.com/office/drawing/2014/main" id="{9213067C-7827-348E-6613-891F3A96783C}"/>
                    </a:ext>
                  </a:extLst>
                </p:cNvPr>
                <p:cNvSpPr/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9213067C-7827-348E-6613-891F3A9678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Rectangle 18">
                  <a:extLst>
                    <a:ext uri="{FF2B5EF4-FFF2-40B4-BE49-F238E27FC236}">
                      <a16:creationId xmlns="" xmlns:a16="http://schemas.microsoft.com/office/drawing/2014/main" id="{D9360C69-650C-8769-4C8B-CFCD0CF33DA6}"/>
                    </a:ext>
                  </a:extLst>
                </p:cNvPr>
                <p:cNvSpPr/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D9360C69-650C-8769-4C8B-CFCD0CF33DA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Oval 16">
              <a:extLst>
                <a:ext uri="{FF2B5EF4-FFF2-40B4-BE49-F238E27FC236}">
                  <a16:creationId xmlns="" xmlns:a16="http://schemas.microsoft.com/office/drawing/2014/main" id="{C0629450-C119-502D-C9FE-A91B3C7D5847}"/>
                </a:ext>
              </a:extLst>
            </p:cNvPr>
            <p:cNvSpPr/>
            <p:nvPr/>
          </p:nvSpPr>
          <p:spPr>
            <a:xfrm>
              <a:off x="6680078" y="308494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25" name="Straight Connector 24">
              <a:extLst>
                <a:ext uri="{FF2B5EF4-FFF2-40B4-BE49-F238E27FC236}">
                  <a16:creationId xmlns="" xmlns:a16="http://schemas.microsoft.com/office/drawing/2014/main" id="{54C05E61-D20B-738A-2DA6-6C154D176A9D}"/>
                </a:ext>
              </a:extLst>
            </p:cNvPr>
            <p:cNvCxnSpPr>
              <a:cxnSpLocks/>
              <a:stCxn id="5" idx="3"/>
              <a:endCxn id="52" idx="2"/>
            </p:cNvCxnSpPr>
            <p:nvPr/>
          </p:nvCxnSpPr>
          <p:spPr>
            <a:xfrm>
              <a:off x="4092982" y="2704857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="" xmlns:a16="http://schemas.microsoft.com/office/drawing/2014/main" id="{AA92D7CB-640B-D967-DC02-4066C5EB26AA}"/>
                </a:ext>
              </a:extLst>
            </p:cNvPr>
            <p:cNvCxnSpPr>
              <a:cxnSpLocks/>
              <a:stCxn id="14" idx="0"/>
              <a:endCxn id="52" idx="4"/>
            </p:cNvCxnSpPr>
            <p:nvPr/>
          </p:nvCxnSpPr>
          <p:spPr>
            <a:xfrm flipV="1">
              <a:off x="6372688" y="2849398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="" xmlns:a16="http://schemas.microsoft.com/office/drawing/2014/main" id="{0D1B64B4-7D6A-099F-591C-1F74EE2899F3}"/>
                </a:ext>
              </a:extLst>
            </p:cNvPr>
            <p:cNvSpPr txBox="1"/>
            <p:nvPr/>
          </p:nvSpPr>
          <p:spPr>
            <a:xfrm>
              <a:off x="6643013" y="3036802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="" xmlns:a16="http://schemas.microsoft.com/office/drawing/2014/main" id="{F1C8C073-B9C6-A980-3D68-03DD6E4321DA}"/>
                </a:ext>
              </a:extLst>
            </p:cNvPr>
            <p:cNvCxnSpPr>
              <a:stCxn id="52" idx="6"/>
              <a:endCxn id="48" idx="2"/>
            </p:cNvCxnSpPr>
            <p:nvPr/>
          </p:nvCxnSpPr>
          <p:spPr>
            <a:xfrm>
              <a:off x="6509531" y="2712873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="" xmlns:a16="http://schemas.microsoft.com/office/drawing/2014/main" id="{E2228004-25D2-FC50-BB67-5122D67A3E40}"/>
                </a:ext>
              </a:extLst>
            </p:cNvPr>
            <p:cNvCxnSpPr>
              <a:stCxn id="4" idx="0"/>
              <a:endCxn id="48" idx="4"/>
            </p:cNvCxnSpPr>
            <p:nvPr/>
          </p:nvCxnSpPr>
          <p:spPr>
            <a:xfrm flipV="1">
              <a:off x="7384122" y="2849398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="" xmlns:a16="http://schemas.microsoft.com/office/drawing/2014/main" id="{8224F3CC-FC36-8E12-DB65-87AA483CCE92}"/>
                </a:ext>
              </a:extLst>
            </p:cNvPr>
            <p:cNvCxnSpPr>
              <a:cxnSpLocks/>
              <a:stCxn id="12" idx="0"/>
              <a:endCxn id="4" idx="4"/>
            </p:cNvCxnSpPr>
            <p:nvPr/>
          </p:nvCxnSpPr>
          <p:spPr>
            <a:xfrm flipV="1">
              <a:off x="7384122" y="3359315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="" xmlns:a16="http://schemas.microsoft.com/office/drawing/2014/main" id="{FC4C760C-41A3-2B9F-BDBD-EACAF2930C86}"/>
                </a:ext>
              </a:extLst>
            </p:cNvPr>
            <p:cNvCxnSpPr>
              <a:cxnSpLocks/>
              <a:stCxn id="48" idx="6"/>
            </p:cNvCxnSpPr>
            <p:nvPr/>
          </p:nvCxnSpPr>
          <p:spPr>
            <a:xfrm>
              <a:off x="7520646" y="2712873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TextBox 81">
                  <a:extLst>
                    <a:ext uri="{FF2B5EF4-FFF2-40B4-BE49-F238E27FC236}">
                      <a16:creationId xmlns="" xmlns:a16="http://schemas.microsoft.com/office/drawing/2014/main" id="{488590DC-E339-4D94-6CCB-A85E1063A95C}"/>
                    </a:ext>
                  </a:extLst>
                </p:cNvPr>
                <p:cNvSpPr txBox="1"/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488590DC-E339-4D94-6CCB-A85E1063A9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7" name="Connector: Elbow 86">
              <a:extLst>
                <a:ext uri="{FF2B5EF4-FFF2-40B4-BE49-F238E27FC236}">
                  <a16:creationId xmlns="" xmlns:a16="http://schemas.microsoft.com/office/drawing/2014/main" id="{540822DA-C440-2FF8-1393-44F98D89EC54}"/>
                </a:ext>
              </a:extLst>
            </p:cNvPr>
            <p:cNvCxnSpPr>
              <a:stCxn id="19" idx="0"/>
              <a:endCxn id="37" idx="6"/>
            </p:cNvCxnSpPr>
            <p:nvPr/>
          </p:nvCxnSpPr>
          <p:spPr>
            <a:xfrm rot="16200000" flipV="1">
              <a:off x="5106929" y="3224114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="" xmlns:a16="http://schemas.microsoft.com/office/drawing/2014/main" id="{180749C7-0E69-D172-CFA1-210BCB96C9E1}"/>
                </a:ext>
              </a:extLst>
            </p:cNvPr>
            <p:cNvCxnSpPr/>
            <p:nvPr/>
          </p:nvCxnSpPr>
          <p:spPr>
            <a:xfrm flipV="1">
              <a:off x="4870127" y="2712873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Connector: Elbow 90">
              <a:extLst>
                <a:ext uri="{FF2B5EF4-FFF2-40B4-BE49-F238E27FC236}">
                  <a16:creationId xmlns="" xmlns:a16="http://schemas.microsoft.com/office/drawing/2014/main" id="{641E2C6D-8BAA-2586-960B-35BF5D6E68FC}"/>
                </a:ext>
              </a:extLst>
            </p:cNvPr>
            <p:cNvCxnSpPr>
              <a:stCxn id="37" idx="4"/>
              <a:endCxn id="12" idx="2"/>
            </p:cNvCxnSpPr>
            <p:nvPr/>
          </p:nvCxnSpPr>
          <p:spPr>
            <a:xfrm rot="16200000" flipH="1">
              <a:off x="5902442" y="2428599"/>
              <a:ext cx="449364" cy="2513995"/>
            </a:xfrm>
            <a:prstGeom prst="bentConnector3">
              <a:avLst>
                <a:gd name="adj1" fmla="val 17100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8" name="TextBox 97">
                  <a:extLst>
                    <a:ext uri="{FF2B5EF4-FFF2-40B4-BE49-F238E27FC236}">
                      <a16:creationId xmlns="" xmlns:a16="http://schemas.microsoft.com/office/drawing/2014/main" id="{775ACD4F-2125-CA2F-A6D1-F0CFBF0C345E}"/>
                    </a:ext>
                  </a:extLst>
                </p:cNvPr>
                <p:cNvSpPr txBox="1"/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775ACD4F-2125-CA2F-A6D1-F0CFBF0C34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4" name="Connector: Elbow 103">
              <a:extLst>
                <a:ext uri="{FF2B5EF4-FFF2-40B4-BE49-F238E27FC236}">
                  <a16:creationId xmlns="" xmlns:a16="http://schemas.microsoft.com/office/drawing/2014/main" id="{0DE47F14-750D-68C0-E1AD-B3723EE38EF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779325" y="2625890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="" xmlns:a16="http://schemas.microsoft.com/office/drawing/2014/main" id="{716C0B98-441D-08AF-01CE-CB39C12BF5BC}"/>
                </a:ext>
              </a:extLst>
            </p:cNvPr>
            <p:cNvCxnSpPr/>
            <p:nvPr/>
          </p:nvCxnSpPr>
          <p:spPr>
            <a:xfrm flipV="1">
              <a:off x="4502150" y="2712873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or: Elbow 110">
              <a:extLst>
                <a:ext uri="{FF2B5EF4-FFF2-40B4-BE49-F238E27FC236}">
                  <a16:creationId xmlns="" xmlns:a16="http://schemas.microsoft.com/office/drawing/2014/main" id="{737121D0-0380-2E97-A3BF-0A624A417999}"/>
                </a:ext>
              </a:extLst>
            </p:cNvPr>
            <p:cNvCxnSpPr>
              <a:cxnSpLocks/>
              <a:stCxn id="114" idx="2"/>
              <a:endCxn id="14" idx="2"/>
            </p:cNvCxnSpPr>
            <p:nvPr/>
          </p:nvCxnSpPr>
          <p:spPr>
            <a:xfrm flipV="1">
              <a:off x="4600574" y="3905037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4" name="Freeform: Shape 113">
              <a:extLst>
                <a:ext uri="{FF2B5EF4-FFF2-40B4-BE49-F238E27FC236}">
                  <a16:creationId xmlns="" xmlns:a16="http://schemas.microsoft.com/office/drawing/2014/main" id="{11A13A5E-D171-20F2-D972-AD32DF855867}"/>
                </a:ext>
              </a:extLst>
            </p:cNvPr>
            <p:cNvSpPr/>
            <p:nvPr/>
          </p:nvSpPr>
          <p:spPr>
            <a:xfrm>
              <a:off x="4495799" y="380285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2" name="Straight Connector 121">
              <a:extLst>
                <a:ext uri="{FF2B5EF4-FFF2-40B4-BE49-F238E27FC236}">
                  <a16:creationId xmlns="" xmlns:a16="http://schemas.microsoft.com/office/drawing/2014/main" id="{4CA64C18-D2EA-8E55-6B93-5C413921DD43}"/>
                </a:ext>
              </a:extLst>
            </p:cNvPr>
            <p:cNvCxnSpPr/>
            <p:nvPr/>
          </p:nvCxnSpPr>
          <p:spPr>
            <a:xfrm flipV="1">
              <a:off x="4500561" y="4140756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3" name="Freeform: Shape 122">
              <a:extLst>
                <a:ext uri="{FF2B5EF4-FFF2-40B4-BE49-F238E27FC236}">
                  <a16:creationId xmlns="" xmlns:a16="http://schemas.microsoft.com/office/drawing/2014/main" id="{B1F4FBC4-364C-A19F-A81D-DA38A3FDF67F}"/>
                </a:ext>
              </a:extLst>
            </p:cNvPr>
            <p:cNvSpPr/>
            <p:nvPr/>
          </p:nvSpPr>
          <p:spPr>
            <a:xfrm rot="5170363">
              <a:off x="4558343" y="397080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6" name="Straight Connector 125">
              <a:extLst>
                <a:ext uri="{FF2B5EF4-FFF2-40B4-BE49-F238E27FC236}">
                  <a16:creationId xmlns="" xmlns:a16="http://schemas.microsoft.com/office/drawing/2014/main" id="{A4AFA3A5-3D61-AD77-0FD5-E05A04A78770}"/>
                </a:ext>
              </a:extLst>
            </p:cNvPr>
            <p:cNvCxnSpPr>
              <a:cxnSpLocks/>
              <a:stCxn id="19" idx="2"/>
            </p:cNvCxnSpPr>
            <p:nvPr/>
          </p:nvCxnSpPr>
          <p:spPr>
            <a:xfrm>
              <a:off x="5492866" y="3907923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9" name="TextBox 128">
                  <a:extLst>
                    <a:ext uri="{FF2B5EF4-FFF2-40B4-BE49-F238E27FC236}">
                      <a16:creationId xmlns="" xmlns:a16="http://schemas.microsoft.com/office/drawing/2014/main" id="{2ADCA7E5-A076-5B32-BC9D-A16A6D795C3A}"/>
                    </a:ext>
                  </a:extLst>
                </p:cNvPr>
                <p:cNvSpPr txBox="1"/>
                <p:nvPr/>
              </p:nvSpPr>
              <p:spPr>
                <a:xfrm>
                  <a:off x="6002906" y="3222817"/>
                  <a:ext cx="44396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2ADCA7E5-A076-5B32-BC9D-A16A6D795C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2906" y="3222817"/>
                  <a:ext cx="443968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0" name="TextBox 129">
                  <a:extLst>
                    <a:ext uri="{FF2B5EF4-FFF2-40B4-BE49-F238E27FC236}">
                      <a16:creationId xmlns="" xmlns:a16="http://schemas.microsoft.com/office/drawing/2014/main" id="{30D44200-682E-3C64-7263-CD46DB66F451}"/>
                    </a:ext>
                  </a:extLst>
                </p:cNvPr>
                <p:cNvSpPr txBox="1"/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30D44200-682E-3C64-7263-CD46DB66F4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1" name="TextBox 130">
                  <a:extLst>
                    <a:ext uri="{FF2B5EF4-FFF2-40B4-BE49-F238E27FC236}">
                      <a16:creationId xmlns="" xmlns:a16="http://schemas.microsoft.com/office/drawing/2014/main" id="{6700C2E8-30BB-D3C5-50C9-1951D85495E1}"/>
                    </a:ext>
                  </a:extLst>
                </p:cNvPr>
                <p:cNvSpPr txBox="1"/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6700C2E8-30BB-D3C5-50C9-1951D85495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blipFill>
                  <a:blip r:embed="rId10"/>
                  <a:stretch>
                    <a:fillRect t="-7937" r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Rectangle 1">
              <a:extLst>
                <a:ext uri="{FF2B5EF4-FFF2-40B4-BE49-F238E27FC236}">
                  <a16:creationId xmlns="" xmlns:a16="http://schemas.microsoft.com/office/drawing/2014/main" id="{68154BB7-44CA-1D82-2AC2-22171A0642D6}"/>
                </a:ext>
              </a:extLst>
            </p:cNvPr>
            <p:cNvSpPr/>
            <p:nvPr/>
          </p:nvSpPr>
          <p:spPr>
            <a:xfrm>
              <a:off x="6036582" y="2520191"/>
              <a:ext cx="539413" cy="1620565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="" xmlns:a16="http://schemas.microsoft.com/office/drawing/2014/main" id="{84BBC452-1110-2988-2E65-E445EE63C4C7}"/>
                </a:ext>
              </a:extLst>
            </p:cNvPr>
            <p:cNvSpPr/>
            <p:nvPr/>
          </p:nvSpPr>
          <p:spPr>
            <a:xfrm>
              <a:off x="4666818" y="3031273"/>
              <a:ext cx="1117692" cy="1103399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="" xmlns:a16="http://schemas.microsoft.com/office/drawing/2014/main" id="{E3AB5C93-A0FA-4FF5-F0AA-FD75161F0631}"/>
                </a:ext>
              </a:extLst>
            </p:cNvPr>
            <p:cNvSpPr txBox="1"/>
            <p:nvPr/>
          </p:nvSpPr>
          <p:spPr>
            <a:xfrm>
              <a:off x="5835605" y="1829242"/>
              <a:ext cx="9413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atualização</a:t>
              </a:r>
              <a:endParaRPr lang="en-US" sz="1200" dirty="0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="" xmlns:a16="http://schemas.microsoft.com/office/drawing/2014/main" id="{7B4BB778-3C5D-0F93-B5F7-D66D9C30556C}"/>
                </a:ext>
              </a:extLst>
            </p:cNvPr>
            <p:cNvCxnSpPr>
              <a:cxnSpLocks/>
              <a:stCxn id="2" idx="0"/>
              <a:endCxn id="6" idx="2"/>
            </p:cNvCxnSpPr>
            <p:nvPr/>
          </p:nvCxnSpPr>
          <p:spPr>
            <a:xfrm flipH="1" flipV="1">
              <a:off x="6306288" y="2290907"/>
              <a:ext cx="1" cy="229284"/>
            </a:xfrm>
            <a:prstGeom prst="line">
              <a:avLst/>
            </a:prstGeom>
            <a:ln w="19050"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="" xmlns:a16="http://schemas.microsoft.com/office/drawing/2014/main" id="{027BE59C-84F5-3A6A-1F58-4156CACC3A1F}"/>
                </a:ext>
              </a:extLst>
            </p:cNvPr>
            <p:cNvSpPr txBox="1"/>
            <p:nvPr/>
          </p:nvSpPr>
          <p:spPr>
            <a:xfrm>
              <a:off x="4759386" y="1840210"/>
              <a:ext cx="9413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</a:t>
              </a:r>
              <a:r>
                <a:rPr lang="pt-BR" sz="1200" i="1" dirty="0"/>
                <a:t>reset</a:t>
              </a:r>
              <a:endParaRPr lang="en-US" sz="1200" i="1" dirty="0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="" xmlns:a16="http://schemas.microsoft.com/office/drawing/2014/main" id="{F4D7901D-0577-0DF7-A300-F4B8DDD2B08B}"/>
                </a:ext>
              </a:extLst>
            </p:cNvPr>
            <p:cNvCxnSpPr>
              <a:cxnSpLocks/>
              <a:stCxn id="3" idx="0"/>
              <a:endCxn id="9" idx="2"/>
            </p:cNvCxnSpPr>
            <p:nvPr/>
          </p:nvCxnSpPr>
          <p:spPr>
            <a:xfrm flipV="1">
              <a:off x="5225664" y="2301875"/>
              <a:ext cx="4405" cy="729398"/>
            </a:xfrm>
            <a:prstGeom prst="line">
              <a:avLst/>
            </a:prstGeom>
            <a:ln w="19050"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="" xmlns:a16="http://schemas.microsoft.com/office/drawing/2014/main" id="{8CF85A48-30D2-A843-6627-1DD7BA329BD6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>
              <a:off x="6372688" y="3221468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="" xmlns:a16="http://schemas.microsoft.com/office/drawing/2014/main" id="{353162AA-0266-E2D5-F390-ED75645298B3}"/>
                </a:ext>
              </a:extLst>
            </p:cNvPr>
            <p:cNvCxnSpPr>
              <a:cxnSpLocks/>
              <a:stCxn id="17" idx="6"/>
              <a:endCxn id="4" idx="2"/>
            </p:cNvCxnSpPr>
            <p:nvPr/>
          </p:nvCxnSpPr>
          <p:spPr>
            <a:xfrm>
              <a:off x="6953128" y="3221468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7358362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10895</TotalTime>
  <Words>4658</Words>
  <Application>Microsoft Office PowerPoint</Application>
  <PresentationFormat>Widescreen</PresentationFormat>
  <Paragraphs>1015</Paragraphs>
  <Slides>97</Slides>
  <Notes>57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97</vt:i4>
      </vt:variant>
    </vt:vector>
  </HeadingPairs>
  <TitlesOfParts>
    <vt:vector size="104" baseType="lpstr">
      <vt:lpstr>Arial</vt:lpstr>
      <vt:lpstr>Calibri</vt:lpstr>
      <vt:lpstr>Calibri Light</vt:lpstr>
      <vt:lpstr>Cambria Math</vt:lpstr>
      <vt:lpstr>Courier New</vt:lpstr>
      <vt:lpstr>Wingdings</vt:lpstr>
      <vt:lpstr>Tema do Office</vt:lpstr>
      <vt:lpstr>C24 – Inteligência Artificial: Redes neurais recorrentes</vt:lpstr>
      <vt:lpstr>Motivação</vt:lpstr>
      <vt:lpstr>Aplicações</vt:lpstr>
      <vt:lpstr>Limitação de redes tradicionais</vt:lpstr>
      <vt:lpstr>Apresentação do PowerPoint</vt:lpstr>
      <vt:lpstr>Apresentação do PowerPoint</vt:lpstr>
      <vt:lpstr>Redes recorrentes</vt:lpstr>
      <vt:lpstr>Redes recorrentes</vt:lpstr>
      <vt:lpstr>Redes recorrentes</vt:lpstr>
      <vt:lpstr>Apresentação do PowerPoint</vt:lpstr>
      <vt:lpstr>Neurônio (ou célula) recorrente</vt:lpstr>
      <vt:lpstr>Neurônio (ou célula) recorrente</vt:lpstr>
      <vt:lpstr>Neurônio (ou célula) recorrente</vt:lpstr>
      <vt:lpstr>Neurônio recorrente</vt:lpstr>
      <vt:lpstr>Neurônio recorrente</vt:lpstr>
      <vt:lpstr>Atualização do estado e geração da saída</vt:lpstr>
      <vt:lpstr>Atualização do estado e geração da saída</vt:lpstr>
      <vt:lpstr>Desenrolando uma RNN</vt:lpstr>
      <vt:lpstr>Desenrolando uma RNN</vt:lpstr>
      <vt:lpstr>Desenrolando uma RNN</vt:lpstr>
      <vt:lpstr>Desenrolando uma RNN</vt:lpstr>
      <vt:lpstr>Desenrolando uma RNN</vt:lpstr>
      <vt:lpstr>Treinando uma RNN</vt:lpstr>
      <vt:lpstr>Treinando uma RNN</vt:lpstr>
      <vt:lpstr>Treinando uma RNN</vt:lpstr>
      <vt:lpstr>Treinando uma RNN</vt:lpstr>
      <vt:lpstr>Backpropagation Through Time (BPTT)</vt:lpstr>
      <vt:lpstr>Backpropagation Through Time (BPTT)</vt:lpstr>
      <vt:lpstr>Backpropagation Through Time (BPTT)</vt:lpstr>
      <vt:lpstr>Backpropagation Through Time (BPTT)</vt:lpstr>
      <vt:lpstr>Desaparecimento e explosão do gradiente</vt:lpstr>
      <vt:lpstr>Como mitigar esses problemas?</vt:lpstr>
      <vt:lpstr>Backpropagation Through Time (BPTT)</vt:lpstr>
      <vt:lpstr>Backpropagation Through Time (BPTT)</vt:lpstr>
      <vt:lpstr>Por que o BPTT truncado funciona?</vt:lpstr>
      <vt:lpstr>Por que não usar funções de ativação ReLU?</vt:lpstr>
      <vt:lpstr>Apresentação do PowerPoint</vt:lpstr>
      <vt:lpstr>O problema das dependências de longo prazo</vt:lpstr>
      <vt:lpstr>O problema das dependências de longo prazo</vt:lpstr>
      <vt:lpstr>O problema das dependências de longo prazo</vt:lpstr>
      <vt:lpstr>O problema das dependências de longo prazo</vt:lpstr>
      <vt:lpstr>O problema das dependências de longo prazo</vt:lpstr>
      <vt:lpstr>O problema das dependências de longo prazo</vt:lpstr>
      <vt:lpstr>Apresentação do PowerPoint</vt:lpstr>
      <vt:lpstr>Apresentação do PowerPoint</vt:lpstr>
      <vt:lpstr>LSTMs</vt:lpstr>
      <vt:lpstr>Long-short term memory (LSTM)</vt:lpstr>
      <vt:lpstr>Long-short term memory (LSTM)</vt:lpstr>
      <vt:lpstr>Long-short term memory (LSTM)</vt:lpstr>
      <vt:lpstr>Estados da célula</vt:lpstr>
      <vt:lpstr>Long-short term memory (LSTM)</vt:lpstr>
      <vt:lpstr>Long-short term memory (LSTM)</vt:lpstr>
      <vt:lpstr>A ideia central por trás das LSTMs: o estado da célula</vt:lpstr>
      <vt:lpstr>A ideia central por trás das LSTMs: o estado da célula</vt:lpstr>
      <vt:lpstr>A ideia central por trás das LSTMs: o estado da célula</vt:lpstr>
      <vt:lpstr>Porta de esquecimento</vt:lpstr>
      <vt:lpstr>Porta de entrada</vt:lpstr>
      <vt:lpstr>Atualização do estado da célula</vt:lpstr>
      <vt:lpstr>Porta de saída</vt:lpstr>
      <vt:lpstr>Long-short term memory (LSTM)</vt:lpstr>
      <vt:lpstr>Principais desvantagens de LSTMs</vt:lpstr>
      <vt:lpstr>GRUs</vt:lpstr>
      <vt:lpstr>Gated recurrent unit (GRU)</vt:lpstr>
      <vt:lpstr>Gated recurrent unit (GRU)</vt:lpstr>
      <vt:lpstr>Apresentação do PowerPoint</vt:lpstr>
      <vt:lpstr>Desaparecimento do gradiente</vt:lpstr>
      <vt:lpstr>Desaparecimento do gradiente</vt:lpstr>
      <vt:lpstr>Desaparecimento do gradiente</vt:lpstr>
      <vt:lpstr>Apresentação do PowerPoint</vt:lpstr>
      <vt:lpstr>Aplicação: um-para-um</vt:lpstr>
      <vt:lpstr>Aplicação: um-para-vários</vt:lpstr>
      <vt:lpstr>Aplicação: vários-para-um</vt:lpstr>
      <vt:lpstr>Aplicação: vários-para-vários síncrono</vt:lpstr>
      <vt:lpstr>Aplicação: vários-para-vários síncrono</vt:lpstr>
      <vt:lpstr>Aplicação: vários-para-vários assíncrono</vt:lpstr>
      <vt:lpstr>Exemplo</vt:lpstr>
      <vt:lpstr>Lista de exercícios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2085</cp:revision>
  <dcterms:created xsi:type="dcterms:W3CDTF">2020-01-20T13:50:05Z</dcterms:created>
  <dcterms:modified xsi:type="dcterms:W3CDTF">2026-05-16T18:09:04Z</dcterms:modified>
</cp:coreProperties>
</file>