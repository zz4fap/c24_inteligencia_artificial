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0"/>
  </p:notesMasterIdLst>
  <p:handoutMasterIdLst>
    <p:handoutMasterId r:id="rId101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59" r:id="rId52"/>
    <p:sldId id="660" r:id="rId53"/>
    <p:sldId id="358" r:id="rId54"/>
    <p:sldId id="362" r:id="rId55"/>
    <p:sldId id="591" r:id="rId56"/>
    <p:sldId id="365" r:id="rId57"/>
    <p:sldId id="366" r:id="rId58"/>
    <p:sldId id="367" r:id="rId59"/>
    <p:sldId id="669" r:id="rId60"/>
    <p:sldId id="368" r:id="rId61"/>
    <p:sldId id="668" r:id="rId62"/>
    <p:sldId id="671" r:id="rId63"/>
    <p:sldId id="672" r:id="rId64"/>
    <p:sldId id="670" r:id="rId65"/>
    <p:sldId id="603" r:id="rId66"/>
    <p:sldId id="381" r:id="rId67"/>
    <p:sldId id="662" r:id="rId68"/>
    <p:sldId id="667" r:id="rId69"/>
    <p:sldId id="595" r:id="rId70"/>
    <p:sldId id="596" r:id="rId71"/>
    <p:sldId id="597" r:id="rId72"/>
    <p:sldId id="598" r:id="rId73"/>
    <p:sldId id="599" r:id="rId74"/>
    <p:sldId id="624" r:id="rId75"/>
    <p:sldId id="600" r:id="rId76"/>
    <p:sldId id="588" r:id="rId77"/>
    <p:sldId id="589" r:id="rId78"/>
    <p:sldId id="293" r:id="rId79"/>
    <p:sldId id="306" r:id="rId80"/>
    <p:sldId id="335" r:id="rId81"/>
    <p:sldId id="590" r:id="rId82"/>
    <p:sldId id="608" r:id="rId83"/>
    <p:sldId id="330" r:id="rId84"/>
    <p:sldId id="340" r:id="rId85"/>
    <p:sldId id="348" r:id="rId86"/>
    <p:sldId id="350" r:id="rId87"/>
    <p:sldId id="353" r:id="rId88"/>
    <p:sldId id="354" r:id="rId89"/>
    <p:sldId id="373" r:id="rId90"/>
    <p:sldId id="647" r:id="rId91"/>
    <p:sldId id="357" r:id="rId92"/>
    <p:sldId id="359" r:id="rId93"/>
    <p:sldId id="592" r:id="rId94"/>
    <p:sldId id="363" r:id="rId95"/>
    <p:sldId id="364" r:id="rId96"/>
    <p:sldId id="654" r:id="rId97"/>
    <p:sldId id="369" r:id="rId98"/>
    <p:sldId id="370" r:id="rId9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0678" autoAdjust="0"/>
  </p:normalViewPr>
  <p:slideViewPr>
    <p:cSldViewPr snapToGrid="0">
      <p:cViewPr>
        <p:scale>
          <a:sx n="100" d="100"/>
          <a:sy n="100" d="100"/>
        </p:scale>
        <p:origin x="1218" y="-3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5/10/relationships/revisionInfo" Target="revisionInfo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notesMaster" Target="notesMasters/notesMaster1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porta de saída decide </a:t>
            </a:r>
            <a:r>
              <a:rPr lang="pt-BR" i="1" dirty="0"/>
              <a:t>o</a:t>
            </a:r>
            <a:r>
              <a:rPr lang="pt-BR" dirty="0"/>
              <a:t> </a:t>
            </a:r>
            <a:r>
              <a:rPr lang="pt-BR" b="1" dirty="0"/>
              <a:t>quanto da informação armazenada será exposta como saída naquele instante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764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2279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442283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E1F0-BD5F-58F6-0B98-195856CB7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13980-A624-5C36-D922-705246EF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6E628-AC10-6257-A910-0D8913738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85326A-22FD-BA6A-1FFA-405FF4255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348065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E186-D248-19A0-1A87-124CEB36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32F1D-95DB-1978-1776-796129959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96C98-EE2F-5535-DB30-B8C3930A3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0A54A-8706-9B45-68F9-9EBF984A5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85253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99CFB-F71C-A643-C93A-91BD8743B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118884-A733-51F0-166E-874ACE5F9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9E6BA-0364-919A-82CD-6548B62A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865C5-84FC-7423-84BF-215C0499C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14431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0.png"/><Relationship Id="rId9" Type="http://schemas.openxmlformats.org/officeDocument/2006/relationships/image" Target="../media/image6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3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147.png"/><Relationship Id="rId26" Type="http://schemas.openxmlformats.org/officeDocument/2006/relationships/image" Target="../media/image155.png"/><Relationship Id="rId3" Type="http://schemas.openxmlformats.org/officeDocument/2006/relationships/image" Target="../media/image132.png"/><Relationship Id="rId21" Type="http://schemas.openxmlformats.org/officeDocument/2006/relationships/image" Target="../media/image150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4.png"/><Relationship Id="rId2" Type="http://schemas.openxmlformats.org/officeDocument/2006/relationships/notesSlide" Target="../notesSlides/notesSlide59.xml"/><Relationship Id="rId16" Type="http://schemas.openxmlformats.org/officeDocument/2006/relationships/image" Target="../media/image145.png"/><Relationship Id="rId20" Type="http://schemas.openxmlformats.org/officeDocument/2006/relationships/image" Target="../media/image149.png"/><Relationship Id="rId29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24" Type="http://schemas.openxmlformats.org/officeDocument/2006/relationships/image" Target="../media/image153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23" Type="http://schemas.openxmlformats.org/officeDocument/2006/relationships/image" Target="../media/image152.png"/><Relationship Id="rId28" Type="http://schemas.openxmlformats.org/officeDocument/2006/relationships/image" Target="../media/image157.png"/><Relationship Id="rId10" Type="http://schemas.openxmlformats.org/officeDocument/2006/relationships/image" Target="../media/image139.png"/><Relationship Id="rId19" Type="http://schemas.openxmlformats.org/officeDocument/2006/relationships/image" Target="../media/image148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Relationship Id="rId22" Type="http://schemas.openxmlformats.org/officeDocument/2006/relationships/image" Target="../media/image151.png"/><Relationship Id="rId27" Type="http://schemas.openxmlformats.org/officeDocument/2006/relationships/image" Target="../media/image15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59.png"/><Relationship Id="rId7" Type="http://schemas.openxmlformats.org/officeDocument/2006/relationships/image" Target="../media/image16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uma informação muito antiga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erro precisa ser </a:t>
            </a:r>
            <a:r>
              <a:rPr lang="pt-BR" dirty="0" err="1"/>
              <a:t>retropropagado</a:t>
            </a:r>
            <a:r>
              <a:rPr lang="pt-BR" dirty="0"/>
              <a:t> por vários instantes de tempo,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Quanto maior a distância temporal, mais difícil é para a RNN manter a informação relevante.</a:t>
            </a:r>
          </a:p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resolver o problema das dependências de longo prazo, causado pelo desaparecimento ou explosão do gradiente, foram propostas arquiteturas com mecanismos de memória: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criam caminhos ao longo do tempo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armazenadas (o que lembrar).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esquecidas.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 r="-1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esquecimento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entrada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saída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lidas e fornecidas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neste passo de tempo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1985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elementos assumindo valores entre 0 e 1.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o quanto da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isso a porta decide (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Uma nova informação é armazenada na célula sempre que um elemento da porta de entrada tender a 1.</a:t>
            </a:r>
          </a:p>
          <a:p>
            <a:r>
              <a:rPr lang="pt-BR" dirty="0"/>
              <a:t>Uma informação de longo prazo é descartada da célula sempre que um elemento da porta de esquecimento tender a 0.</a:t>
            </a:r>
          </a:p>
          <a:p>
            <a:r>
              <a:rPr lang="pt-BR" dirty="0"/>
              <a:t>Uma informação de longo prazo é lida da célula sempre que um elemento da porta de saída tender a 1.</a:t>
            </a:r>
          </a:p>
          <a:p>
            <a:r>
              <a:rPr lang="pt-BR" dirty="0"/>
              <a:t>Em resumo, uma célula LSTM aprende a reconhecer uma informação importante, armazená-la no estado de longo prazo, preservá-la pelo tempo que for </a:t>
            </a:r>
            <a:r>
              <a:rPr lang="pt-BR"/>
              <a:t>necessário e </a:t>
            </a:r>
            <a:r>
              <a:rPr lang="pt-BR" dirty="0"/>
              <a:t>extraí-la sempre que necessário.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estado interno da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portas de entrada e de esquecimento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flexibilidade de aprender quando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  <a:blipFill>
                <a:blip r:embed="rId2"/>
                <a:stretch>
                  <a:fillRect l="-1626" t="-2663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/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sem inibição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1937" r="-27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quais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informações</a:t>
                </a:r>
                <a:r>
                  <a:rPr lang="pt-BR" dirty="0"/>
                  <a:t> devem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descartadas</a:t>
                </a:r>
                <a:r>
                  <a:rPr lang="pt-BR" dirty="0"/>
                  <a:t> do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anterior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aplicado ao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de longo prazo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1937" r="-2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com um novo candidato,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400" b="1" i="1" smtClean="0">
                                                <a:latin typeface="Cambria Math" panose="02040503050406030204" pitchFamily="18" charset="0"/>
                                              </a:rPr>
                                              <m:t>𝒄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Adicionar o gênero do novo sujeito ao estado de longo prazo da célula para substituir o antigo que foi esquecido.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noProof="0" dirty="0"/>
                  <a:t>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da porta de saída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de informação candidata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 noProof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esque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cimento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sz="2400" i="1" noProof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pt-BR" sz="2400" b="1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</m:oMath>
                  </m:oMathPara>
                </a14:m>
                <a:endParaRPr lang="pt-BR" sz="2400" noProof="0" dirty="0"/>
              </a:p>
              <a:p>
                <a:pPr/>
                <a:r>
                  <a:rPr lang="pt-BR" noProof="0" dirty="0"/>
                  <a:t>Vetor de estado de curto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noProof="0"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pPr marL="0" indent="0">
                  <a:buNone/>
                </a:pPr>
                <a:r>
                  <a:rPr lang="pt-BR" sz="2400" dirty="0"/>
                  <a:t>o</a:t>
                </a:r>
                <a:r>
                  <a:rPr lang="pt-BR" sz="2400" noProof="0" dirty="0" err="1"/>
                  <a:t>nde</a:t>
                </a:r>
                <a:r>
                  <a:rPr lang="pt-BR" sz="2400" noProof="0" dirty="0"/>
                  <a:t> </a:t>
                </a:r>
                <a14:m>
                  <m:oMath xmlns:m="http://schemas.openxmlformats.org/officeDocument/2006/math">
                    <m:r>
                      <a:rPr lang="pt-BR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lang="pt-BR" sz="2400" noProof="0" dirty="0"/>
                  <a:t> é o operador de multiplicação elemento a elemento.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  <a:blipFill>
                <a:blip r:embed="rId3"/>
                <a:stretch>
                  <a:fillRect l="-859" t="-3027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F34C26FC-7CB2-C5BB-4322-287A8FC71D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676" y="2274888"/>
            <a:ext cx="3368249" cy="207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5" y="1825624"/>
                <a:ext cx="652462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rgbClr val="7030A0"/>
                    </a:solidFill>
                  </a:rPr>
                  <a:t>saída da célula</a:t>
                </a:r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7030A0"/>
                    </a:solidFill>
                  </a:rPr>
                  <a:t>versão filtrada</a:t>
                </a:r>
                <a:r>
                  <a:rPr lang="pt-BR" dirty="0"/>
                  <a:t> do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função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decide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será exposto na saída</a:t>
                </a:r>
                <a:endParaRPr lang="pt-BR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célula armazena que o sujeito é plural. Quando o verbo aparece, a porta de saída libera essa informação para escolher a conjugação correta.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5" y="1825624"/>
                <a:ext cx="6524625" cy="5032375"/>
              </a:xfrm>
              <a:blipFill>
                <a:blip r:embed="rId3"/>
                <a:stretch>
                  <a:fillRect l="-1682" t="-2663" r="-2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36" y="23842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(totalmente ou parcialmente)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de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expô-la sempre que necessário (essa é a função da porta de saída).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do que as </a:t>
                </a:r>
                <a:r>
                  <a:rPr lang="pt-BR" dirty="0" err="1"/>
                  <a:t>RNNs</a:t>
                </a:r>
                <a:r>
                  <a:rPr lang="pt-BR" dirty="0"/>
                  <a:t> tradicionais.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GPU.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/>
                  <a:t>attention.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 paralelização e capturam de dependências globais.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5464" y="2120092"/>
            <a:ext cx="11499741" cy="2699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Será que conseguimos algo quase tão bom quanto uma LSTM, porém mais simples?</a:t>
            </a:r>
          </a:p>
        </p:txBody>
      </p:sp>
    </p:spTree>
    <p:extLst>
      <p:ext uri="{BB962C8B-B14F-4D97-AF65-F5344CB8AC3E}">
        <p14:creationId xmlns:p14="http://schemas.microsoft.com/office/powerpoint/2010/main" val="13942240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novas arquiteturas foram propostas com o objetivo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a quantidade de parâmetros,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custo computacional,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consumo de memória,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acelerar o treinamento </a:t>
            </a:r>
          </a:p>
          <a:p>
            <a:pPr marL="0" indent="0">
              <a:buNone/>
            </a:pPr>
            <a:r>
              <a:rPr lang="pt-BR" dirty="0"/>
              <a:t>com relação às </a:t>
            </a:r>
            <a:r>
              <a:rPr lang="pt-BR" dirty="0" err="1"/>
              <a:t>LSTMs</a:t>
            </a:r>
            <a:r>
              <a:rPr lang="pt-BR" dirty="0"/>
              <a:t>.</a:t>
            </a:r>
          </a:p>
          <a:p>
            <a:r>
              <a:rPr lang="pt-BR" dirty="0"/>
              <a:t>Assim, as </a:t>
            </a:r>
            <a:r>
              <a:rPr lang="pt-BR" dirty="0" err="1"/>
              <a:t>GRUs</a:t>
            </a:r>
            <a:r>
              <a:rPr lang="pt-BR" dirty="0"/>
              <a:t> foram propostas em 2014 por </a:t>
            </a:r>
            <a:r>
              <a:rPr lang="pt-BR" dirty="0" err="1"/>
              <a:t>Kyunghyun</a:t>
            </a:r>
            <a:r>
              <a:rPr lang="pt-BR" dirty="0"/>
              <a:t> Cho e colegas com esse objetivo.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31EEDFF-2831-68EB-4816-26ECD567C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são uma </a:t>
            </a:r>
            <a:r>
              <a:rPr lang="pt-BR" b="1" dirty="0">
                <a:solidFill>
                  <a:schemeClr val="accent2"/>
                </a:solidFill>
              </a:rPr>
              <a:t>versão simplificada</a:t>
            </a:r>
            <a:r>
              <a:rPr lang="pt-BR" dirty="0"/>
              <a:t> da célula de memória LSTM.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2"/>
                </a:solidFill>
              </a:rPr>
              <a:t>atingem desempenho comparável</a:t>
            </a:r>
            <a:r>
              <a:rPr lang="pt-BR" dirty="0"/>
              <a:t> às </a:t>
            </a:r>
            <a:r>
              <a:rPr lang="pt-BR" dirty="0" err="1"/>
              <a:t>LSTMs</a:t>
            </a:r>
            <a:r>
              <a:rPr lang="pt-BR" dirty="0"/>
              <a:t>, mas com a vantagem de terem </a:t>
            </a:r>
            <a:r>
              <a:rPr lang="pt-BR" b="1" dirty="0">
                <a:solidFill>
                  <a:srgbClr val="00B050"/>
                </a:solidFill>
              </a:rPr>
              <a:t>menos parâmetros</a:t>
            </a:r>
            <a:r>
              <a:rPr lang="pt-BR" dirty="0"/>
              <a:t>, serem </a:t>
            </a:r>
            <a:r>
              <a:rPr lang="pt-BR" b="1" dirty="0">
                <a:solidFill>
                  <a:srgbClr val="00B050"/>
                </a:solidFill>
              </a:rPr>
              <a:t>menos complexas</a:t>
            </a:r>
            <a:r>
              <a:rPr lang="pt-BR" dirty="0"/>
              <a:t> e serem </a:t>
            </a:r>
            <a:r>
              <a:rPr lang="pt-BR" b="1" dirty="0">
                <a:solidFill>
                  <a:srgbClr val="00B050"/>
                </a:solidFill>
              </a:rPr>
              <a:t>treinadas mais rapidamente</a:t>
            </a:r>
            <a:r>
              <a:rPr lang="pt-BR" dirty="0"/>
              <a:t>.</a:t>
            </a:r>
          </a:p>
          <a:p>
            <a:r>
              <a:rPr lang="pt-BR" dirty="0"/>
              <a:t>Elas têm apenas </a:t>
            </a:r>
            <a:r>
              <a:rPr lang="pt-BR" b="1" dirty="0">
                <a:solidFill>
                  <a:srgbClr val="0070C0"/>
                </a:solidFill>
              </a:rPr>
              <a:t>duas portas</a:t>
            </a:r>
            <a:r>
              <a:rPr lang="pt-BR" dirty="0"/>
              <a:t>: a de </a:t>
            </a:r>
            <a:r>
              <a:rPr lang="pt-BR" i="1" dirty="0"/>
              <a:t>reset</a:t>
            </a:r>
            <a:r>
              <a:rPr lang="pt-BR" dirty="0"/>
              <a:t> e a de atualização.</a:t>
            </a:r>
          </a:p>
          <a:p>
            <a:r>
              <a:rPr lang="pt-BR" dirty="0"/>
              <a:t>Além disso, elas </a:t>
            </a:r>
            <a:r>
              <a:rPr lang="pt-BR" b="1" dirty="0">
                <a:solidFill>
                  <a:srgbClr val="0070C0"/>
                </a:solidFill>
              </a:rPr>
              <a:t>incorporam a memória de longo prazo no próprio estado oculto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E32847C-0C70-9E63-F12B-02171460B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3731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896D-0E5F-15B7-8FA2-57B111C5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EF6DB-1474-DD6E-AD8C-CD2405CD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atualização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é a </a:t>
                </a:r>
                <a:r>
                  <a:rPr lang="pt-BR" b="1" dirty="0">
                    <a:solidFill>
                      <a:srgbClr val="00B050"/>
                    </a:solidFill>
                  </a:rPr>
                  <a:t>combinação</a:t>
                </a:r>
                <a:r>
                  <a:rPr lang="pt-BR" dirty="0"/>
                  <a:t> das portas de </a:t>
                </a:r>
                <a:r>
                  <a:rPr lang="pt-BR" b="1" dirty="0">
                    <a:solidFill>
                      <a:srgbClr val="00B050"/>
                    </a:solidFill>
                  </a:rPr>
                  <a:t>esquecimento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entrada</a:t>
                </a:r>
                <a:r>
                  <a:rPr lang="pt-BR" dirty="0"/>
                  <a:t> da LSTM.</a:t>
                </a:r>
              </a:p>
              <a:p>
                <a:r>
                  <a:rPr lang="pt-BR" dirty="0"/>
                  <a:t>Um </a:t>
                </a:r>
                <a:r>
                  <a:rPr lang="pt-BR" b="1" dirty="0">
                    <a:solidFill>
                      <a:srgbClr val="7030A0"/>
                    </a:solidFill>
                  </a:rPr>
                  <a:t>único sinal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controla</a:t>
                </a:r>
                <a:r>
                  <a:rPr lang="pt-BR" dirty="0"/>
                  <a:t> tanto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esquecimento</a:t>
                </a:r>
                <a:r>
                  <a:rPr lang="pt-BR" dirty="0"/>
                  <a:t> quanto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  <a:blipFill>
                <a:blip r:embed="rId3"/>
                <a:stretch>
                  <a:fillRect l="-17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E70865A-8BA1-07F3-6790-5184F2C37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38" y="261710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7611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75B47-CDB0-8D01-C24B-627D81FF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1009E-6742-3978-C9F4-B66C1CFBE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aberta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fechada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Retem-se o estado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fechada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aberta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oculto passa a ser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sempre que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precisa ser armazenada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local</a:t>
                </a:r>
                <a:r>
                  <a:rPr lang="pt-BR" dirty="0"/>
                  <a:t> (i.e., elemento) </a:t>
                </a:r>
                <a:r>
                  <a:rPr lang="pt-BR" b="1" dirty="0">
                    <a:solidFill>
                      <a:srgbClr val="00B050"/>
                    </a:solidFill>
                  </a:rPr>
                  <a:t>onde ela será armazenada é apagado primeiro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 r="-2034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B2F3CC40-49C1-A17A-D102-481B76DDA4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6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0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3733C-58C8-E4B7-FC35-0AEFAEF0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7EC14-5D3D-1ECB-B8D3-E899D7B33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porta de </a:t>
                </a:r>
                <a:r>
                  <a:rPr lang="pt-BR" i="1" dirty="0"/>
                  <a:t>reset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memória de curto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decide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quanta informação passada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será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mantida ou descartada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célula GRU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contém uma porta de saída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vetor de estado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completo é apresentado na saída</a:t>
                </a:r>
                <a:r>
                  <a:rPr lang="pt-BR" dirty="0"/>
                  <a:t> a cada passo de tempo.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  <a:blipFill>
                <a:blip r:embed="rId3"/>
                <a:stretch>
                  <a:fillRect l="-168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5333D862-8E5E-A7E1-B895-09266BDB67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088" y="250280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7427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não-linear para 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novo estado da célula passa por uma função </a:t>
                </a:r>
                <a:r>
                  <a:rPr lang="pt-BR" dirty="0" err="1"/>
                  <a:t>tanh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de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de 1. </a:t>
                </a:r>
              </a:p>
              <a:p>
                <a:r>
                  <a:rPr lang="pt-BR" dirty="0"/>
                  <a:t>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LSTM e GRU modificam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por meio de um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contém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  <a:blipFill rotWithShape="0">
                <a:blip r:embed="rId2"/>
                <a:stretch>
                  <a:fillRect l="-178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1690688"/>
            <a:ext cx="3888430" cy="239352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540DDFD-8900-4E48-7C98-3C262F3FE9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31FB8-17E6-6325-5B4E-B3F89A3E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0" y="1825624"/>
            <a:ext cx="677751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caminho controlável</a:t>
            </a:r>
            <a:r>
              <a:rPr lang="pt-BR" dirty="0"/>
              <a:t> permite que os gradientes retrocedam no tempo sem </a:t>
            </a:r>
            <a:r>
              <a:rPr lang="pt-BR" b="1" dirty="0">
                <a:solidFill>
                  <a:srgbClr val="7030A0"/>
                </a:solidFill>
              </a:rPr>
              <a:t>necessariamente</a:t>
            </a:r>
            <a:r>
              <a:rPr lang="pt-BR" dirty="0"/>
              <a:t> desaparecer.</a:t>
            </a:r>
          </a:p>
          <a:p>
            <a:r>
              <a:rPr lang="pt-BR" dirty="0"/>
              <a:t>A 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decidir quando deixar o </a:t>
            </a:r>
            <a:r>
              <a:rPr lang="pt-BR" b="1" dirty="0">
                <a:solidFill>
                  <a:schemeClr val="accent2"/>
                </a:solidFill>
              </a:rPr>
              <a:t>gradiente desaparecer </a:t>
            </a:r>
            <a:r>
              <a:rPr lang="pt-BR" dirty="0"/>
              <a:t>e quando </a:t>
            </a:r>
            <a:r>
              <a:rPr lang="pt-BR" b="1" dirty="0">
                <a:solidFill>
                  <a:schemeClr val="accent2"/>
                </a:solidFill>
              </a:rPr>
              <a:t>preservá-lo</a:t>
            </a:r>
            <a:r>
              <a:rPr lang="pt-BR" dirty="0"/>
              <a:t>.</a:t>
            </a:r>
          </a:p>
          <a:p>
            <a:r>
              <a:rPr lang="pt-BR" dirty="0"/>
              <a:t>Portanto, as portas permitem que a rede decida o que guardar e o que descartar.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D22978F-A98B-7B35-B4FF-07AD9BDAC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466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000551" y="722618"/>
            <a:ext cx="4928922" cy="2713085"/>
            <a:chOff x="3581399" y="2111642"/>
            <a:chExt cx="4928922" cy="2713085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3" name="Agrupar 82">
            <a:extLst>
              <a:ext uri="{FF2B5EF4-FFF2-40B4-BE49-F238E27FC236}">
                <a16:creationId xmlns:a16="http://schemas.microsoft.com/office/drawing/2014/main" id="{3829C9C8-68E0-A161-6783-8325BBD0C9AF}"/>
              </a:ext>
            </a:extLst>
          </p:cNvPr>
          <p:cNvGrpSpPr/>
          <p:nvPr/>
        </p:nvGrpSpPr>
        <p:grpSpPr>
          <a:xfrm>
            <a:off x="1393870" y="3892247"/>
            <a:ext cx="4928922" cy="2713085"/>
            <a:chOff x="1393870" y="3892247"/>
            <a:chExt cx="4928922" cy="2713085"/>
          </a:xfrm>
        </p:grpSpPr>
        <p:sp>
          <p:nvSpPr>
            <p:cNvPr id="5" name="Rectangle: Rounded Corners 133">
              <a:extLst>
                <a:ext uri="{FF2B5EF4-FFF2-40B4-BE49-F238E27FC236}">
                  <a16:creationId xmlns:a16="http://schemas.microsoft.com/office/drawing/2014/main" id="{76B82460-6712-509A-7F39-7E3342D21837}"/>
                </a:ext>
              </a:extLst>
            </p:cNvPr>
            <p:cNvSpPr/>
            <p:nvPr/>
          </p:nvSpPr>
          <p:spPr>
            <a:xfrm>
              <a:off x="2113647" y="4219005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Arrow Connector 134">
              <a:extLst>
                <a:ext uri="{FF2B5EF4-FFF2-40B4-BE49-F238E27FC236}">
                  <a16:creationId xmlns:a16="http://schemas.microsoft.com/office/drawing/2014/main" id="{00825B81-BABB-775B-C142-3EB6C20FB5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6620" y="4025478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135">
              <a:extLst>
                <a:ext uri="{FF2B5EF4-FFF2-40B4-BE49-F238E27FC236}">
                  <a16:creationId xmlns:a16="http://schemas.microsoft.com/office/drawing/2014/main" id="{299B97CD-2596-41F1-C944-D841B055FD4F}"/>
                </a:ext>
              </a:extLst>
            </p:cNvPr>
            <p:cNvSpPr/>
            <p:nvPr/>
          </p:nvSpPr>
          <p:spPr>
            <a:xfrm>
              <a:off x="2546073" y="49684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Oval 136">
              <a:extLst>
                <a:ext uri="{FF2B5EF4-FFF2-40B4-BE49-F238E27FC236}">
                  <a16:creationId xmlns:a16="http://schemas.microsoft.com/office/drawing/2014/main" id="{5A2821D2-04DD-590C-E6EF-7FEB220F2DD9}"/>
                </a:ext>
              </a:extLst>
            </p:cNvPr>
            <p:cNvSpPr/>
            <p:nvPr/>
          </p:nvSpPr>
          <p:spPr>
            <a:xfrm>
              <a:off x="4048952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137">
              <a:extLst>
                <a:ext uri="{FF2B5EF4-FFF2-40B4-BE49-F238E27FC236}">
                  <a16:creationId xmlns:a16="http://schemas.microsoft.com/office/drawing/2014/main" id="{51169341-7C6A-C220-1721-4F73952EEF3F}"/>
                </a:ext>
              </a:extLst>
            </p:cNvPr>
            <p:cNvSpPr/>
            <p:nvPr/>
          </p:nvSpPr>
          <p:spPr>
            <a:xfrm>
              <a:off x="4889202" y="539301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138">
              <a:extLst>
                <a:ext uri="{FF2B5EF4-FFF2-40B4-BE49-F238E27FC236}">
                  <a16:creationId xmlns:a16="http://schemas.microsoft.com/office/drawing/2014/main" id="{66B6166C-B62E-A0A3-1C8F-5870F25564FC}"/>
                </a:ext>
              </a:extLst>
            </p:cNvPr>
            <p:cNvSpPr/>
            <p:nvPr/>
          </p:nvSpPr>
          <p:spPr>
            <a:xfrm>
              <a:off x="5060068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/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40">
              <a:extLst>
                <a:ext uri="{FF2B5EF4-FFF2-40B4-BE49-F238E27FC236}">
                  <a16:creationId xmlns:a16="http://schemas.microsoft.com/office/drawing/2014/main" id="{E32641F0-F42D-21EA-BC6A-9B9282C4533E}"/>
                </a:ext>
              </a:extLst>
            </p:cNvPr>
            <p:cNvSpPr/>
            <p:nvPr/>
          </p:nvSpPr>
          <p:spPr>
            <a:xfrm>
              <a:off x="5060068" y="48668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/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/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3">
              <a:extLst>
                <a:ext uri="{FF2B5EF4-FFF2-40B4-BE49-F238E27FC236}">
                  <a16:creationId xmlns:a16="http://schemas.microsoft.com/office/drawing/2014/main" id="{041396E0-C58E-16C3-3F28-E205627319DE}"/>
                </a:ext>
              </a:extLst>
            </p:cNvPr>
            <p:cNvSpPr/>
            <p:nvPr/>
          </p:nvSpPr>
          <p:spPr>
            <a:xfrm>
              <a:off x="4492549" y="48655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44">
              <a:extLst>
                <a:ext uri="{FF2B5EF4-FFF2-40B4-BE49-F238E27FC236}">
                  <a16:creationId xmlns:a16="http://schemas.microsoft.com/office/drawing/2014/main" id="{329DFF21-ACA5-F8F3-FBE8-F05E18912B49}"/>
                </a:ext>
              </a:extLst>
            </p:cNvPr>
            <p:cNvCxnSpPr>
              <a:cxnSpLocks/>
              <a:stCxn id="11" idx="3"/>
              <a:endCxn id="8" idx="2"/>
            </p:cNvCxnSpPr>
            <p:nvPr/>
          </p:nvCxnSpPr>
          <p:spPr>
            <a:xfrm>
              <a:off x="1905453" y="4485462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45">
              <a:extLst>
                <a:ext uri="{FF2B5EF4-FFF2-40B4-BE49-F238E27FC236}">
                  <a16:creationId xmlns:a16="http://schemas.microsoft.com/office/drawing/2014/main" id="{BD8F51DA-A7F5-1B2D-C65A-52E31CC37001}"/>
                </a:ext>
              </a:extLst>
            </p:cNvPr>
            <p:cNvCxnSpPr>
              <a:cxnSpLocks/>
              <a:stCxn id="13" idx="0"/>
              <a:endCxn id="8" idx="4"/>
            </p:cNvCxnSpPr>
            <p:nvPr/>
          </p:nvCxnSpPr>
          <p:spPr>
            <a:xfrm flipV="1">
              <a:off x="4185159" y="4630003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46">
              <a:extLst>
                <a:ext uri="{FF2B5EF4-FFF2-40B4-BE49-F238E27FC236}">
                  <a16:creationId xmlns:a16="http://schemas.microsoft.com/office/drawing/2014/main" id="{8DC40D2B-03A4-E6E0-8F28-A1C990D606DB}"/>
                </a:ext>
              </a:extLst>
            </p:cNvPr>
            <p:cNvSpPr txBox="1"/>
            <p:nvPr/>
          </p:nvSpPr>
          <p:spPr>
            <a:xfrm>
              <a:off x="4455484" y="4817407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Connector 147">
              <a:extLst>
                <a:ext uri="{FF2B5EF4-FFF2-40B4-BE49-F238E27FC236}">
                  <a16:creationId xmlns:a16="http://schemas.microsoft.com/office/drawing/2014/main" id="{CDA71C24-089D-2774-5617-65EA4D14DEA6}"/>
                </a:ext>
              </a:extLst>
            </p:cNvPr>
            <p:cNvCxnSpPr>
              <a:stCxn id="8" idx="6"/>
              <a:endCxn id="10" idx="2"/>
            </p:cNvCxnSpPr>
            <p:nvPr/>
          </p:nvCxnSpPr>
          <p:spPr>
            <a:xfrm>
              <a:off x="4322002" y="4493478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48">
              <a:extLst>
                <a:ext uri="{FF2B5EF4-FFF2-40B4-BE49-F238E27FC236}">
                  <a16:creationId xmlns:a16="http://schemas.microsoft.com/office/drawing/2014/main" id="{2C2EE00C-3585-DF73-1A5B-40B6ADF20BE2}"/>
                </a:ext>
              </a:extLst>
            </p:cNvPr>
            <p:cNvCxnSpPr>
              <a:stCxn id="12" idx="0"/>
              <a:endCxn id="10" idx="4"/>
            </p:cNvCxnSpPr>
            <p:nvPr/>
          </p:nvCxnSpPr>
          <p:spPr>
            <a:xfrm flipV="1">
              <a:off x="5196593" y="4630003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149">
              <a:extLst>
                <a:ext uri="{FF2B5EF4-FFF2-40B4-BE49-F238E27FC236}">
                  <a16:creationId xmlns:a16="http://schemas.microsoft.com/office/drawing/2014/main" id="{B4CA279F-EB35-30D6-EFCA-25E43EFC16BE}"/>
                </a:ext>
              </a:extLst>
            </p:cNvPr>
            <p:cNvCxnSpPr>
              <a:cxnSpLocks/>
              <a:stCxn id="9" idx="0"/>
              <a:endCxn id="12" idx="4"/>
            </p:cNvCxnSpPr>
            <p:nvPr/>
          </p:nvCxnSpPr>
          <p:spPr>
            <a:xfrm flipV="1">
              <a:off x="5196593" y="5139920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150">
              <a:extLst>
                <a:ext uri="{FF2B5EF4-FFF2-40B4-BE49-F238E27FC236}">
                  <a16:creationId xmlns:a16="http://schemas.microsoft.com/office/drawing/2014/main" id="{BDEBB756-37EB-569D-DA71-65F80EDBF030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5333117" y="4493478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/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Connector: Elbow 152">
              <a:extLst>
                <a:ext uri="{FF2B5EF4-FFF2-40B4-BE49-F238E27FC236}">
                  <a16:creationId xmlns:a16="http://schemas.microsoft.com/office/drawing/2014/main" id="{4FF11D69-F448-12A8-95B0-78E5BDBD95AA}"/>
                </a:ext>
              </a:extLst>
            </p:cNvPr>
            <p:cNvCxnSpPr>
              <a:stCxn id="14" idx="0"/>
              <a:endCxn id="7" idx="6"/>
            </p:cNvCxnSpPr>
            <p:nvPr/>
          </p:nvCxnSpPr>
          <p:spPr>
            <a:xfrm rot="16200000" flipV="1">
              <a:off x="2919400" y="5004719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153">
              <a:extLst>
                <a:ext uri="{FF2B5EF4-FFF2-40B4-BE49-F238E27FC236}">
                  <a16:creationId xmlns:a16="http://schemas.microsoft.com/office/drawing/2014/main" id="{C85D28FD-CBC7-37E0-25B1-EF2F02F553F2}"/>
                </a:ext>
              </a:extLst>
            </p:cNvPr>
            <p:cNvCxnSpPr/>
            <p:nvPr/>
          </p:nvCxnSpPr>
          <p:spPr>
            <a:xfrm flipV="1">
              <a:off x="2682598" y="4493478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/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Connector: Elbow 156">
              <a:extLst>
                <a:ext uri="{FF2B5EF4-FFF2-40B4-BE49-F238E27FC236}">
                  <a16:creationId xmlns:a16="http://schemas.microsoft.com/office/drawing/2014/main" id="{DEC0DAD1-6E1E-2C3D-2296-C329C2DB383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591796" y="4406495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157">
              <a:extLst>
                <a:ext uri="{FF2B5EF4-FFF2-40B4-BE49-F238E27FC236}">
                  <a16:creationId xmlns:a16="http://schemas.microsoft.com/office/drawing/2014/main" id="{4EA62229-0791-55FD-3E6E-71532C8BDCB1}"/>
                </a:ext>
              </a:extLst>
            </p:cNvPr>
            <p:cNvCxnSpPr/>
            <p:nvPr/>
          </p:nvCxnSpPr>
          <p:spPr>
            <a:xfrm flipV="1">
              <a:off x="2314621" y="4493478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158">
              <a:extLst>
                <a:ext uri="{FF2B5EF4-FFF2-40B4-BE49-F238E27FC236}">
                  <a16:creationId xmlns:a16="http://schemas.microsoft.com/office/drawing/2014/main" id="{EA1DA73A-2215-EBA2-9BBC-A62FB48161EE}"/>
                </a:ext>
              </a:extLst>
            </p:cNvPr>
            <p:cNvCxnSpPr>
              <a:cxnSpLocks/>
              <a:stCxn id="31" idx="2"/>
              <a:endCxn id="13" idx="2"/>
            </p:cNvCxnSpPr>
            <p:nvPr/>
          </p:nvCxnSpPr>
          <p:spPr>
            <a:xfrm flipV="1">
              <a:off x="2413045" y="5685642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Freeform: Shape 159">
              <a:extLst>
                <a:ext uri="{FF2B5EF4-FFF2-40B4-BE49-F238E27FC236}">
                  <a16:creationId xmlns:a16="http://schemas.microsoft.com/office/drawing/2014/main" id="{894E7D26-6B82-2506-9B0D-661DCACF7BB7}"/>
                </a:ext>
              </a:extLst>
            </p:cNvPr>
            <p:cNvSpPr/>
            <p:nvPr/>
          </p:nvSpPr>
          <p:spPr>
            <a:xfrm>
              <a:off x="2308270" y="558346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Connector 160">
              <a:extLst>
                <a:ext uri="{FF2B5EF4-FFF2-40B4-BE49-F238E27FC236}">
                  <a16:creationId xmlns:a16="http://schemas.microsoft.com/office/drawing/2014/main" id="{57BA2596-1AE8-FD32-F75E-AC2C9EB74155}"/>
                </a:ext>
              </a:extLst>
            </p:cNvPr>
            <p:cNvCxnSpPr/>
            <p:nvPr/>
          </p:nvCxnSpPr>
          <p:spPr>
            <a:xfrm flipV="1">
              <a:off x="2313032" y="5921361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reeform: Shape 161">
              <a:extLst>
                <a:ext uri="{FF2B5EF4-FFF2-40B4-BE49-F238E27FC236}">
                  <a16:creationId xmlns:a16="http://schemas.microsoft.com/office/drawing/2014/main" id="{A40F716A-DA26-CD3D-F640-06D13B113263}"/>
                </a:ext>
              </a:extLst>
            </p:cNvPr>
            <p:cNvSpPr/>
            <p:nvPr/>
          </p:nvSpPr>
          <p:spPr>
            <a:xfrm rot="5170363">
              <a:off x="2370814" y="5751407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162">
              <a:extLst>
                <a:ext uri="{FF2B5EF4-FFF2-40B4-BE49-F238E27FC236}">
                  <a16:creationId xmlns:a16="http://schemas.microsoft.com/office/drawing/2014/main" id="{7AFF4DB5-70AC-A228-2CED-B874D1B909D1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3305337" y="5688528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/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/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/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blipFill>
                  <a:blip r:embed="rId19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172">
              <a:extLst>
                <a:ext uri="{FF2B5EF4-FFF2-40B4-BE49-F238E27FC236}">
                  <a16:creationId xmlns:a16="http://schemas.microsoft.com/office/drawing/2014/main" id="{B6850192-2E70-FA7D-0690-8617CA2A2D95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4185159" y="5002073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173">
              <a:extLst>
                <a:ext uri="{FF2B5EF4-FFF2-40B4-BE49-F238E27FC236}">
                  <a16:creationId xmlns:a16="http://schemas.microsoft.com/office/drawing/2014/main" id="{957CA07F-439B-EA86-6998-D63B28329897}"/>
                </a:ext>
              </a:extLst>
            </p:cNvPr>
            <p:cNvCxnSpPr>
              <a:cxnSpLocks/>
              <a:stCxn id="15" idx="6"/>
              <a:endCxn id="12" idx="2"/>
            </p:cNvCxnSpPr>
            <p:nvPr/>
          </p:nvCxnSpPr>
          <p:spPr>
            <a:xfrm>
              <a:off x="4765599" y="5002073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/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Freeform: Shape 159">
              <a:extLst>
                <a:ext uri="{FF2B5EF4-FFF2-40B4-BE49-F238E27FC236}">
                  <a16:creationId xmlns:a16="http://schemas.microsoft.com/office/drawing/2014/main" id="{3098DFA0-3B06-44D9-2E01-EE616EADE9E3}"/>
                </a:ext>
              </a:extLst>
            </p:cNvPr>
            <p:cNvSpPr/>
            <p:nvPr/>
          </p:nvSpPr>
          <p:spPr>
            <a:xfrm rot="21335253">
              <a:off x="2677364" y="57906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Conector reto 80">
              <a:extLst>
                <a:ext uri="{FF2B5EF4-FFF2-40B4-BE49-F238E27FC236}">
                  <a16:creationId xmlns:a16="http://schemas.microsoft.com/office/drawing/2014/main" id="{BDC6C279-F0D0-F104-A845-992FEF41D8B1}"/>
                </a:ext>
              </a:extLst>
            </p:cNvPr>
            <p:cNvCxnSpPr>
              <a:stCxn id="7" idx="4"/>
              <a:endCxn id="79" idx="0"/>
            </p:cNvCxnSpPr>
            <p:nvPr/>
          </p:nvCxnSpPr>
          <p:spPr>
            <a:xfrm flipH="1">
              <a:off x="2674805" y="5241520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3" name="Agrupar 122">
            <a:extLst>
              <a:ext uri="{FF2B5EF4-FFF2-40B4-BE49-F238E27FC236}">
                <a16:creationId xmlns:a16="http://schemas.microsoft.com/office/drawing/2014/main" id="{A14CA10E-C85E-28AC-674E-E3875C9EB7BE}"/>
              </a:ext>
            </a:extLst>
          </p:cNvPr>
          <p:cNvGrpSpPr/>
          <p:nvPr/>
        </p:nvGrpSpPr>
        <p:grpSpPr>
          <a:xfrm>
            <a:off x="6373737" y="1935366"/>
            <a:ext cx="4928922" cy="2713085"/>
            <a:chOff x="6373737" y="1935366"/>
            <a:chExt cx="4928922" cy="2713085"/>
          </a:xfrm>
        </p:grpSpPr>
        <p:cxnSp>
          <p:nvCxnSpPr>
            <p:cNvPr id="97" name="Straight Arrow Connector 145">
              <a:extLst>
                <a:ext uri="{FF2B5EF4-FFF2-40B4-BE49-F238E27FC236}">
                  <a16:creationId xmlns:a16="http://schemas.microsoft.com/office/drawing/2014/main" id="{FFCE4766-33E0-D27F-4E2E-47FA24C524B1}"/>
                </a:ext>
              </a:extLst>
            </p:cNvPr>
            <p:cNvCxnSpPr>
              <a:cxnSpLocks/>
              <a:stCxn id="93" idx="0"/>
              <a:endCxn id="88" idx="4"/>
            </p:cNvCxnSpPr>
            <p:nvPr/>
          </p:nvCxnSpPr>
          <p:spPr>
            <a:xfrm flipV="1">
              <a:off x="9165026" y="2673122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148">
              <a:extLst>
                <a:ext uri="{FF2B5EF4-FFF2-40B4-BE49-F238E27FC236}">
                  <a16:creationId xmlns:a16="http://schemas.microsoft.com/office/drawing/2014/main" id="{07F340C5-8E03-EE50-399C-BF6C3555B23F}"/>
                </a:ext>
              </a:extLst>
            </p:cNvPr>
            <p:cNvCxnSpPr>
              <a:stCxn id="92" idx="0"/>
              <a:endCxn id="90" idx="4"/>
            </p:cNvCxnSpPr>
            <p:nvPr/>
          </p:nvCxnSpPr>
          <p:spPr>
            <a:xfrm flipV="1">
              <a:off x="10176460" y="2673122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49">
              <a:extLst>
                <a:ext uri="{FF2B5EF4-FFF2-40B4-BE49-F238E27FC236}">
                  <a16:creationId xmlns:a16="http://schemas.microsoft.com/office/drawing/2014/main" id="{9103FDCA-D84F-37DF-CC5A-91588F757EB0}"/>
                </a:ext>
              </a:extLst>
            </p:cNvPr>
            <p:cNvCxnSpPr>
              <a:cxnSpLocks/>
              <a:stCxn id="89" idx="0"/>
              <a:endCxn id="92" idx="4"/>
            </p:cNvCxnSpPr>
            <p:nvPr/>
          </p:nvCxnSpPr>
          <p:spPr>
            <a:xfrm flipV="1">
              <a:off x="10176460" y="3183039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53">
              <a:extLst>
                <a:ext uri="{FF2B5EF4-FFF2-40B4-BE49-F238E27FC236}">
                  <a16:creationId xmlns:a16="http://schemas.microsoft.com/office/drawing/2014/main" id="{AE75D4EB-B1D4-701F-E710-BDE4E4FBB64F}"/>
                </a:ext>
              </a:extLst>
            </p:cNvPr>
            <p:cNvCxnSpPr/>
            <p:nvPr/>
          </p:nvCxnSpPr>
          <p:spPr>
            <a:xfrm flipV="1">
              <a:off x="7662465" y="2536597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60">
              <a:extLst>
                <a:ext uri="{FF2B5EF4-FFF2-40B4-BE49-F238E27FC236}">
                  <a16:creationId xmlns:a16="http://schemas.microsoft.com/office/drawing/2014/main" id="{D754B5F8-378E-308B-8249-A26A4D326863}"/>
                </a:ext>
              </a:extLst>
            </p:cNvPr>
            <p:cNvCxnSpPr/>
            <p:nvPr/>
          </p:nvCxnSpPr>
          <p:spPr>
            <a:xfrm flipV="1">
              <a:off x="7292899" y="3964480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62">
              <a:extLst>
                <a:ext uri="{FF2B5EF4-FFF2-40B4-BE49-F238E27FC236}">
                  <a16:creationId xmlns:a16="http://schemas.microsoft.com/office/drawing/2014/main" id="{A30D0A16-E2D1-7E19-1B40-8CC5510F0079}"/>
                </a:ext>
              </a:extLst>
            </p:cNvPr>
            <p:cNvCxnSpPr>
              <a:cxnSpLocks/>
              <a:stCxn id="94" idx="2"/>
            </p:cNvCxnSpPr>
            <p:nvPr/>
          </p:nvCxnSpPr>
          <p:spPr>
            <a:xfrm>
              <a:off x="8285204" y="3731647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72">
              <a:extLst>
                <a:ext uri="{FF2B5EF4-FFF2-40B4-BE49-F238E27FC236}">
                  <a16:creationId xmlns:a16="http://schemas.microsoft.com/office/drawing/2014/main" id="{17380AA7-33C3-AE39-20FE-857F6BE421A0}"/>
                </a:ext>
              </a:extLst>
            </p:cNvPr>
            <p:cNvCxnSpPr>
              <a:cxnSpLocks/>
              <a:endCxn id="95" idx="2"/>
            </p:cNvCxnSpPr>
            <p:nvPr/>
          </p:nvCxnSpPr>
          <p:spPr>
            <a:xfrm>
              <a:off x="9165026" y="3045192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73">
              <a:extLst>
                <a:ext uri="{FF2B5EF4-FFF2-40B4-BE49-F238E27FC236}">
                  <a16:creationId xmlns:a16="http://schemas.microsoft.com/office/drawing/2014/main" id="{8A0D0F86-73AA-4C37-7FD6-7A351477CA6F}"/>
                </a:ext>
              </a:extLst>
            </p:cNvPr>
            <p:cNvCxnSpPr>
              <a:cxnSpLocks/>
              <a:stCxn id="95" idx="6"/>
              <a:endCxn id="92" idx="2"/>
            </p:cNvCxnSpPr>
            <p:nvPr/>
          </p:nvCxnSpPr>
          <p:spPr>
            <a:xfrm>
              <a:off x="9745466" y="3045192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Freeform: Shape 159">
              <a:extLst>
                <a:ext uri="{FF2B5EF4-FFF2-40B4-BE49-F238E27FC236}">
                  <a16:creationId xmlns:a16="http://schemas.microsoft.com/office/drawing/2014/main" id="{817D3687-4C52-A7B6-4116-0DC677950DA9}"/>
                </a:ext>
              </a:extLst>
            </p:cNvPr>
            <p:cNvSpPr/>
            <p:nvPr/>
          </p:nvSpPr>
          <p:spPr>
            <a:xfrm rot="21335253">
              <a:off x="7657231" y="3833745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140">
              <a:extLst>
                <a:ext uri="{FF2B5EF4-FFF2-40B4-BE49-F238E27FC236}">
                  <a16:creationId xmlns:a16="http://schemas.microsoft.com/office/drawing/2014/main" id="{3C934291-13E8-1615-4FB3-16C593530C71}"/>
                </a:ext>
              </a:extLst>
            </p:cNvPr>
            <p:cNvSpPr/>
            <p:nvPr/>
          </p:nvSpPr>
          <p:spPr>
            <a:xfrm>
              <a:off x="10039935" y="29099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5" name="Oval 143">
              <a:extLst>
                <a:ext uri="{FF2B5EF4-FFF2-40B4-BE49-F238E27FC236}">
                  <a16:creationId xmlns:a16="http://schemas.microsoft.com/office/drawing/2014/main" id="{084FC3E3-2BA8-69D2-39C3-09B20D59055D}"/>
                </a:ext>
              </a:extLst>
            </p:cNvPr>
            <p:cNvSpPr/>
            <p:nvPr/>
          </p:nvSpPr>
          <p:spPr>
            <a:xfrm>
              <a:off x="9472416" y="290866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04" name="Connector: Elbow 152">
              <a:extLst>
                <a:ext uri="{FF2B5EF4-FFF2-40B4-BE49-F238E27FC236}">
                  <a16:creationId xmlns:a16="http://schemas.microsoft.com/office/drawing/2014/main" id="{CE2BFA31-B2A1-3DB2-A292-68B304312768}"/>
                </a:ext>
              </a:extLst>
            </p:cNvPr>
            <p:cNvCxnSpPr>
              <a:stCxn id="94" idx="0"/>
              <a:endCxn id="87" idx="6"/>
            </p:cNvCxnSpPr>
            <p:nvPr/>
          </p:nvCxnSpPr>
          <p:spPr>
            <a:xfrm rot="16200000" flipV="1">
              <a:off x="7899267" y="3047838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Connector: Elbow 156">
              <a:extLst>
                <a:ext uri="{FF2B5EF4-FFF2-40B4-BE49-F238E27FC236}">
                  <a16:creationId xmlns:a16="http://schemas.microsoft.com/office/drawing/2014/main" id="{896C1B2B-91E0-847B-9289-47EB59AD80B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571663" y="2449614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Connector: Elbow 158">
              <a:extLst>
                <a:ext uri="{FF2B5EF4-FFF2-40B4-BE49-F238E27FC236}">
                  <a16:creationId xmlns:a16="http://schemas.microsoft.com/office/drawing/2014/main" id="{F0FA5897-623E-2F28-C0F4-4782D5CCDB4D}"/>
                </a:ext>
              </a:extLst>
            </p:cNvPr>
            <p:cNvCxnSpPr>
              <a:cxnSpLocks/>
              <a:stCxn id="110" idx="2"/>
              <a:endCxn id="93" idx="2"/>
            </p:cNvCxnSpPr>
            <p:nvPr/>
          </p:nvCxnSpPr>
          <p:spPr>
            <a:xfrm flipV="1">
              <a:off x="7412984" y="3728761"/>
              <a:ext cx="1752042" cy="12394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0" name="Freeform: Shape 159">
              <a:extLst>
                <a:ext uri="{FF2B5EF4-FFF2-40B4-BE49-F238E27FC236}">
                  <a16:creationId xmlns:a16="http://schemas.microsoft.com/office/drawing/2014/main" id="{F41FB465-21CE-CF3A-5C9B-60312CA84496}"/>
                </a:ext>
              </a:extLst>
            </p:cNvPr>
            <p:cNvSpPr/>
            <p:nvPr/>
          </p:nvSpPr>
          <p:spPr>
            <a:xfrm rot="21272626">
              <a:off x="7297661" y="363134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Conector reto 120">
              <a:extLst>
                <a:ext uri="{FF2B5EF4-FFF2-40B4-BE49-F238E27FC236}">
                  <a16:creationId xmlns:a16="http://schemas.microsoft.com/office/drawing/2014/main" id="{C46C344B-1AD9-9C35-4670-EFB6F8B3D4CB}"/>
                </a:ext>
              </a:extLst>
            </p:cNvPr>
            <p:cNvCxnSpPr>
              <a:stCxn id="87" idx="4"/>
              <a:endCxn id="120" idx="0"/>
            </p:cNvCxnSpPr>
            <p:nvPr/>
          </p:nvCxnSpPr>
          <p:spPr>
            <a:xfrm flipH="1">
              <a:off x="7654672" y="3284639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7" name="Oval 135">
              <a:extLst>
                <a:ext uri="{FF2B5EF4-FFF2-40B4-BE49-F238E27FC236}">
                  <a16:creationId xmlns:a16="http://schemas.microsoft.com/office/drawing/2014/main" id="{B7B574ED-AB73-EA18-9CBB-7B7DCF08F2BA}"/>
                </a:ext>
              </a:extLst>
            </p:cNvPr>
            <p:cNvSpPr/>
            <p:nvPr/>
          </p:nvSpPr>
          <p:spPr>
            <a:xfrm>
              <a:off x="7525940" y="30115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Rectangle 137">
              <a:extLst>
                <a:ext uri="{FF2B5EF4-FFF2-40B4-BE49-F238E27FC236}">
                  <a16:creationId xmlns:a16="http://schemas.microsoft.com/office/drawing/2014/main" id="{1ADBB6FE-3220-812D-AA74-CBE4E6BDA6FF}"/>
                </a:ext>
              </a:extLst>
            </p:cNvPr>
            <p:cNvSpPr/>
            <p:nvPr/>
          </p:nvSpPr>
          <p:spPr>
            <a:xfrm>
              <a:off x="9869069" y="3436131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/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/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8" name="TextBox 146">
              <a:extLst>
                <a:ext uri="{FF2B5EF4-FFF2-40B4-BE49-F238E27FC236}">
                  <a16:creationId xmlns:a16="http://schemas.microsoft.com/office/drawing/2014/main" id="{E88579DA-24C0-EACC-F7CA-C594474567CA}"/>
                </a:ext>
              </a:extLst>
            </p:cNvPr>
            <p:cNvSpPr txBox="1"/>
            <p:nvPr/>
          </p:nvSpPr>
          <p:spPr>
            <a:xfrm>
              <a:off x="9435351" y="2860526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08" name="Straight Connector 157">
              <a:extLst>
                <a:ext uri="{FF2B5EF4-FFF2-40B4-BE49-F238E27FC236}">
                  <a16:creationId xmlns:a16="http://schemas.microsoft.com/office/drawing/2014/main" id="{864F9693-07A6-4744-FB2C-A4BCBAEDF7FA}"/>
                </a:ext>
              </a:extLst>
            </p:cNvPr>
            <p:cNvCxnSpPr/>
            <p:nvPr/>
          </p:nvCxnSpPr>
          <p:spPr>
            <a:xfrm flipV="1">
              <a:off x="7294488" y="2536597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Freeform: Shape 161">
              <a:extLst>
                <a:ext uri="{FF2B5EF4-FFF2-40B4-BE49-F238E27FC236}">
                  <a16:creationId xmlns:a16="http://schemas.microsoft.com/office/drawing/2014/main" id="{1F87D734-F552-E139-FBF4-397A865A6BAE}"/>
                </a:ext>
              </a:extLst>
            </p:cNvPr>
            <p:cNvSpPr/>
            <p:nvPr/>
          </p:nvSpPr>
          <p:spPr>
            <a:xfrm rot="5093909">
              <a:off x="7348300" y="37945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/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/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/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blipFill>
                  <a:blip r:embed="rId25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5" name="Rectangle: Rounded Corners 133">
              <a:extLst>
                <a:ext uri="{FF2B5EF4-FFF2-40B4-BE49-F238E27FC236}">
                  <a16:creationId xmlns:a16="http://schemas.microsoft.com/office/drawing/2014/main" id="{C22F73FC-22E6-4C04-4138-C6E4840A457B}"/>
                </a:ext>
              </a:extLst>
            </p:cNvPr>
            <p:cNvSpPr/>
            <p:nvPr/>
          </p:nvSpPr>
          <p:spPr>
            <a:xfrm>
              <a:off x="7093514" y="2262124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6" name="Straight Arrow Connector 134">
              <a:extLst>
                <a:ext uri="{FF2B5EF4-FFF2-40B4-BE49-F238E27FC236}">
                  <a16:creationId xmlns:a16="http://schemas.microsoft.com/office/drawing/2014/main" id="{2CC61B4E-8888-D162-6D95-B9FE3B5D36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16487" y="2068597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Oval 136">
              <a:extLst>
                <a:ext uri="{FF2B5EF4-FFF2-40B4-BE49-F238E27FC236}">
                  <a16:creationId xmlns:a16="http://schemas.microsoft.com/office/drawing/2014/main" id="{C68A2736-8717-3DD0-DD01-7B61C8468B69}"/>
                </a:ext>
              </a:extLst>
            </p:cNvPr>
            <p:cNvSpPr/>
            <p:nvPr/>
          </p:nvSpPr>
          <p:spPr>
            <a:xfrm>
              <a:off x="9028819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Oval 138">
              <a:extLst>
                <a:ext uri="{FF2B5EF4-FFF2-40B4-BE49-F238E27FC236}">
                  <a16:creationId xmlns:a16="http://schemas.microsoft.com/office/drawing/2014/main" id="{28474D35-7F2A-1499-BF67-A56E9CBB2FC6}"/>
                </a:ext>
              </a:extLst>
            </p:cNvPr>
            <p:cNvSpPr/>
            <p:nvPr/>
          </p:nvSpPr>
          <p:spPr>
            <a:xfrm>
              <a:off x="10039935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/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blipFill>
                  <a:blip r:embed="rId26"/>
                  <a:stretch>
                    <a:fillRect r="-156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144">
              <a:extLst>
                <a:ext uri="{FF2B5EF4-FFF2-40B4-BE49-F238E27FC236}">
                  <a16:creationId xmlns:a16="http://schemas.microsoft.com/office/drawing/2014/main" id="{94081AD1-ED81-9C0E-2BC9-06E7A6BFA20D}"/>
                </a:ext>
              </a:extLst>
            </p:cNvPr>
            <p:cNvCxnSpPr>
              <a:cxnSpLocks/>
              <a:stCxn id="91" idx="3"/>
              <a:endCxn id="88" idx="2"/>
            </p:cNvCxnSpPr>
            <p:nvPr/>
          </p:nvCxnSpPr>
          <p:spPr>
            <a:xfrm>
              <a:off x="6885320" y="2528581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147">
              <a:extLst>
                <a:ext uri="{FF2B5EF4-FFF2-40B4-BE49-F238E27FC236}">
                  <a16:creationId xmlns:a16="http://schemas.microsoft.com/office/drawing/2014/main" id="{75B733EE-950D-D301-BA46-CA4DC385D6EB}"/>
                </a:ext>
              </a:extLst>
            </p:cNvPr>
            <p:cNvCxnSpPr>
              <a:stCxn id="88" idx="6"/>
              <a:endCxn id="90" idx="2"/>
            </p:cNvCxnSpPr>
            <p:nvPr/>
          </p:nvCxnSpPr>
          <p:spPr>
            <a:xfrm>
              <a:off x="9301869" y="2536597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50">
              <a:extLst>
                <a:ext uri="{FF2B5EF4-FFF2-40B4-BE49-F238E27FC236}">
                  <a16:creationId xmlns:a16="http://schemas.microsoft.com/office/drawing/2014/main" id="{FEFDB515-7ABA-4900-267A-51F10B3F22A9}"/>
                </a:ext>
              </a:extLst>
            </p:cNvPr>
            <p:cNvCxnSpPr>
              <a:cxnSpLocks/>
              <a:stCxn id="90" idx="6"/>
            </p:cNvCxnSpPr>
            <p:nvPr/>
          </p:nvCxnSpPr>
          <p:spPr>
            <a:xfrm>
              <a:off x="10312984" y="2536597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/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/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/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Agrupar 10">
            <a:extLst>
              <a:ext uri="{FF2B5EF4-FFF2-40B4-BE49-F238E27FC236}">
                <a16:creationId xmlns:a16="http://schemas.microsoft.com/office/drawing/2014/main" id="{366F7BF2-C635-C709-4EB5-7F9A5D5B6DBD}"/>
              </a:ext>
            </a:extLst>
          </p:cNvPr>
          <p:cNvGrpSpPr/>
          <p:nvPr/>
        </p:nvGrpSpPr>
        <p:grpSpPr>
          <a:xfrm>
            <a:off x="3105149" y="1848292"/>
            <a:ext cx="4928922" cy="2995485"/>
            <a:chOff x="3105149" y="184829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3824926" y="245745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7899" y="226392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257352" y="32069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5760231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6600481" y="363145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6771347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6771347" y="31053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203828" y="310399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3616732" y="272390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5896438" y="286844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166763" y="305585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033281" y="273192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6907872" y="286844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6907872" y="337836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044396" y="273192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4630679" y="324316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393877" y="273192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303075" y="264494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025900" y="273192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124324" y="392408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019549" y="382190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024311" y="415980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082093" y="398985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016616" y="392697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190568" y="305032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359355" y="184829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H="1" flipV="1">
              <a:off x="5830038" y="2309957"/>
              <a:ext cx="646840" cy="19140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283136" y="185926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4749414" y="232092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5896438" y="324051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476878" y="324051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" name="Agrupar 43">
              <a:extLst>
                <a:ext uri="{FF2B5EF4-FFF2-40B4-BE49-F238E27FC236}">
                  <a16:creationId xmlns:a16="http://schemas.microsoft.com/office/drawing/2014/main" id="{A3051DFC-A45B-FD0E-D278-10E63E4DF97B}"/>
                </a:ext>
              </a:extLst>
            </p:cNvPr>
            <p:cNvGrpSpPr/>
            <p:nvPr/>
          </p:nvGrpSpPr>
          <p:grpSpPr>
            <a:xfrm>
              <a:off x="5584607" y="2516381"/>
              <a:ext cx="1717688" cy="1642522"/>
              <a:chOff x="8827837" y="3357993"/>
              <a:chExt cx="1717688" cy="1642522"/>
            </a:xfrm>
          </p:grpSpPr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3C801D42-BBEE-7EA8-C27E-E2E9B59BE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7837" y="3357993"/>
                <a:ext cx="0" cy="1642522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B1603849-608A-D0CB-04FF-7FFE5C64E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27837" y="3357993"/>
                <a:ext cx="1717688" cy="0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49" name="Conector reto 48">
              <a:extLst>
                <a:ext uri="{FF2B5EF4-FFF2-40B4-BE49-F238E27FC236}">
                  <a16:creationId xmlns:a16="http://schemas.microsoft.com/office/drawing/2014/main" id="{7ED3F87C-EFFD-4DE1-2450-B47542CF5F92}"/>
                </a:ext>
              </a:extLst>
            </p:cNvPr>
            <p:cNvCxnSpPr/>
            <p:nvPr/>
          </p:nvCxnSpPr>
          <p:spPr>
            <a:xfrm>
              <a:off x="5584607" y="4158903"/>
              <a:ext cx="756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to 49">
              <a:extLst>
                <a:ext uri="{FF2B5EF4-FFF2-40B4-BE49-F238E27FC236}">
                  <a16:creationId xmlns:a16="http://schemas.microsoft.com/office/drawing/2014/main" id="{E34E9718-BF01-738B-8B73-3E583890193A}"/>
                </a:ext>
              </a:extLst>
            </p:cNvPr>
            <p:cNvCxnSpPr/>
            <p:nvPr/>
          </p:nvCxnSpPr>
          <p:spPr>
            <a:xfrm>
              <a:off x="6338693" y="3582688"/>
              <a:ext cx="972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:a16="http://schemas.microsoft.com/office/drawing/2014/main" id="{DEA0A1B2-AC93-F32B-6CCA-266EDCD9B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31156" y="3587184"/>
              <a:ext cx="1783" cy="5760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to 58">
              <a:extLst>
                <a:ext uri="{FF2B5EF4-FFF2-40B4-BE49-F238E27FC236}">
                  <a16:creationId xmlns:a16="http://schemas.microsoft.com/office/drawing/2014/main" id="{C7A5282E-7541-7BB9-8579-7C168E5DCB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15217" y="2522793"/>
              <a:ext cx="4437" cy="10241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" name="Freeform: Shape 159">
              <a:extLst>
                <a:ext uri="{FF2B5EF4-FFF2-40B4-BE49-F238E27FC236}">
                  <a16:creationId xmlns:a16="http://schemas.microsoft.com/office/drawing/2014/main" id="{01FDC6DC-1E90-1E8B-0DFA-A33BB1DA9614}"/>
                </a:ext>
              </a:extLst>
            </p:cNvPr>
            <p:cNvSpPr/>
            <p:nvPr/>
          </p:nvSpPr>
          <p:spPr>
            <a:xfrm rot="21335253">
              <a:off x="4397003" y="402907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E74C7B34-C122-8861-FE4A-62F6E6658992}"/>
                </a:ext>
              </a:extLst>
            </p:cNvPr>
            <p:cNvCxnSpPr>
              <a:endCxn id="2" idx="0"/>
            </p:cNvCxnSpPr>
            <p:nvPr/>
          </p:nvCxnSpPr>
          <p:spPr>
            <a:xfrm flipH="1">
              <a:off x="4394444" y="3479965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11627</TotalTime>
  <Words>7571</Words>
  <Application>Microsoft Office PowerPoint</Application>
  <PresentationFormat>Widescreen</PresentationFormat>
  <Paragraphs>1094</Paragraphs>
  <Slides>98</Slides>
  <Notes>60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98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Apresentação do PowerPoint</vt:lpstr>
      <vt:lpstr>Gated recurrent unit (GRU)</vt:lpstr>
      <vt:lpstr>Gated recurrent unit (GRU)</vt:lpstr>
      <vt:lpstr>Gated recurrent unit (GRU)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2196</cp:revision>
  <dcterms:created xsi:type="dcterms:W3CDTF">2020-01-20T13:50:05Z</dcterms:created>
  <dcterms:modified xsi:type="dcterms:W3CDTF">2026-05-18T15:10:50Z</dcterms:modified>
</cp:coreProperties>
</file>