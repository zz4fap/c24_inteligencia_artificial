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1"/>
  </p:notesMasterIdLst>
  <p:handoutMasterIdLst>
    <p:handoutMasterId r:id="rId102"/>
  </p:handoutMasterIdLst>
  <p:sldIdLst>
    <p:sldId id="256" r:id="rId2"/>
    <p:sldId id="315" r:id="rId3"/>
    <p:sldId id="308" r:id="rId4"/>
    <p:sldId id="316" r:id="rId5"/>
    <p:sldId id="325" r:id="rId6"/>
    <p:sldId id="605" r:id="rId7"/>
    <p:sldId id="317" r:id="rId8"/>
    <p:sldId id="326" r:id="rId9"/>
    <p:sldId id="606" r:id="rId10"/>
    <p:sldId id="328" r:id="rId11"/>
    <p:sldId id="329" r:id="rId12"/>
    <p:sldId id="607" r:id="rId13"/>
    <p:sldId id="620" r:id="rId14"/>
    <p:sldId id="334" r:id="rId15"/>
    <p:sldId id="622" r:id="rId16"/>
    <p:sldId id="332" r:id="rId17"/>
    <p:sldId id="609" r:id="rId18"/>
    <p:sldId id="610" r:id="rId19"/>
    <p:sldId id="627" r:id="rId20"/>
    <p:sldId id="625" r:id="rId21"/>
    <p:sldId id="618" r:id="rId22"/>
    <p:sldId id="633" r:id="rId23"/>
    <p:sldId id="338" r:id="rId24"/>
    <p:sldId id="630" r:id="rId25"/>
    <p:sldId id="631" r:id="rId26"/>
    <p:sldId id="611" r:id="rId27"/>
    <p:sldId id="341" r:id="rId28"/>
    <p:sldId id="612" r:id="rId29"/>
    <p:sldId id="637" r:id="rId30"/>
    <p:sldId id="638" r:id="rId31"/>
    <p:sldId id="344" r:id="rId32"/>
    <p:sldId id="345" r:id="rId33"/>
    <p:sldId id="640" r:id="rId34"/>
    <p:sldId id="342" r:id="rId35"/>
    <p:sldId id="613" r:id="rId36"/>
    <p:sldId id="601" r:id="rId37"/>
    <p:sldId id="623" r:id="rId38"/>
    <p:sldId id="346" r:id="rId39"/>
    <p:sldId id="347" r:id="rId40"/>
    <p:sldId id="643" r:id="rId41"/>
    <p:sldId id="349" r:id="rId42"/>
    <p:sldId id="351" r:id="rId43"/>
    <p:sldId id="645" r:id="rId44"/>
    <p:sldId id="352" r:id="rId45"/>
    <p:sldId id="649" r:id="rId46"/>
    <p:sldId id="355" r:id="rId47"/>
    <p:sldId id="650" r:id="rId48"/>
    <p:sldId id="655" r:id="rId49"/>
    <p:sldId id="376" r:id="rId50"/>
    <p:sldId id="616" r:id="rId51"/>
    <p:sldId id="659" r:id="rId52"/>
    <p:sldId id="660" r:id="rId53"/>
    <p:sldId id="656" r:id="rId54"/>
    <p:sldId id="358" r:id="rId55"/>
    <p:sldId id="362" r:id="rId56"/>
    <p:sldId id="591" r:id="rId57"/>
    <p:sldId id="365" r:id="rId58"/>
    <p:sldId id="366" r:id="rId59"/>
    <p:sldId id="367" r:id="rId60"/>
    <p:sldId id="642" r:id="rId61"/>
    <p:sldId id="368" r:id="rId62"/>
    <p:sldId id="371" r:id="rId63"/>
    <p:sldId id="603" r:id="rId64"/>
    <p:sldId id="381" r:id="rId65"/>
    <p:sldId id="662" r:id="rId66"/>
    <p:sldId id="664" r:id="rId67"/>
    <p:sldId id="663" r:id="rId68"/>
    <p:sldId id="594" r:id="rId69"/>
    <p:sldId id="658" r:id="rId70"/>
    <p:sldId id="595" r:id="rId71"/>
    <p:sldId id="596" r:id="rId72"/>
    <p:sldId id="597" r:id="rId73"/>
    <p:sldId id="598" r:id="rId74"/>
    <p:sldId id="599" r:id="rId75"/>
    <p:sldId id="624" r:id="rId76"/>
    <p:sldId id="600" r:id="rId77"/>
    <p:sldId id="588" r:id="rId78"/>
    <p:sldId id="589" r:id="rId79"/>
    <p:sldId id="293" r:id="rId80"/>
    <p:sldId id="306" r:id="rId81"/>
    <p:sldId id="335" r:id="rId82"/>
    <p:sldId id="590" r:id="rId83"/>
    <p:sldId id="608" r:id="rId84"/>
    <p:sldId id="330" r:id="rId85"/>
    <p:sldId id="340" r:id="rId86"/>
    <p:sldId id="348" r:id="rId87"/>
    <p:sldId id="350" r:id="rId88"/>
    <p:sldId id="353" r:id="rId89"/>
    <p:sldId id="354" r:id="rId90"/>
    <p:sldId id="373" r:id="rId91"/>
    <p:sldId id="647" r:id="rId92"/>
    <p:sldId id="357" r:id="rId93"/>
    <p:sldId id="359" r:id="rId94"/>
    <p:sldId id="592" r:id="rId95"/>
    <p:sldId id="363" r:id="rId96"/>
    <p:sldId id="364" r:id="rId97"/>
    <p:sldId id="654" r:id="rId98"/>
    <p:sldId id="369" r:id="rId99"/>
    <p:sldId id="370" r:id="rId10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4140" autoAdjust="0"/>
  </p:normalViewPr>
  <p:slideViewPr>
    <p:cSldViewPr snapToGrid="0">
      <p:cViewPr varScale="1">
        <p:scale>
          <a:sx n="62" d="100"/>
          <a:sy n="62" d="100"/>
        </p:scale>
        <p:origin x="1218" y="6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07" Type="http://schemas.microsoft.com/office/2016/11/relationships/changesInfo" Target="changesInfos/changesInfo1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slide" Target="slides/slide86.xml"/><Relationship Id="rId10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presProps" Target="presProps.xml"/><Relationship Id="rId108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17/05/2026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27FFBCC-42BA-B539-3F67-3279DB21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5431CD9-A853-64E7-A5E5-D3ECC95EE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AC67AC3-547A-D3B7-E0B8-941A9C450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AEF2FE16-CDFB-CD86-2334-D4869C426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95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499F5C7-5805-714A-EEAF-1B426C0B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A6AF7C2-0C10-C2A5-74DF-5E146878E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64F328DC-EA99-659D-C499-951EB30A4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9D342C4F-189E-6908-E236-D10BBFF53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533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Isso transforma a RNN em algo parecido com uma rede profunda muito longa. 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373F99E-96D4-E465-0481-26D4E9A59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3D81308E-10FA-7DC6-DD9D-04986B6059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087E0819-3FAB-6761-340F-977AD2419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73537D7-7245-E4B2-0788-AD0C39EF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65311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F3C868-5C56-1670-F210-879F8B7FD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3293D50E-077B-AFB9-5B77-826A49853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1130AECB-823E-350D-513D-259055D2E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A60C77D-4D54-B0EE-D5AD-64F9D79EE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30354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78709CC-EB52-3D3B-C97B-A4100429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6970236-CFE9-6513-855E-E0F06E6065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6C7DE70-17BD-8B6B-2FC7-2B8628B0F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D220820-D23F-935D-8BEE-E1A04620E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178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D0F856F-66E3-CBE0-6437-99B23422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AEBFE94-D230-7B0E-C887-977799B28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7D8F8232-9A2A-7AF1-C33B-59B7B8D32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8D1F3297-B90D-C7C9-16F5-94E583ECE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406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E0F0EAF-7848-C03E-2CE6-EB11D2264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71F3D72-ADBB-EBCB-029C-4C93AF8DB9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40EF2D66-FEE9-BF28-90BD-C438366309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8DFDBA4-83C0-D64A-1B55-22DBA7D828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314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62237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xmlns="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534BABD-C6BA-B242-44D4-0D6C5A374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F27738A7-2AEB-8A53-4EB7-BC3FD8863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5458E17C-27B6-C886-364B-BADEC2D44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3D0D4AB1-9E8B-F207-5580-BB12C93E1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449397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Eventos separados por mais do que esse horizonte não geram sinal de atualização direto, impedindo a rede de aprender correlações temporais que excedam a janela definida.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447570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93732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775177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83D3213-0C35-07AC-78F8-52C6D5CDA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D9EE4CB0-4107-1059-1A28-15E957C15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C6654DA-65BA-C1F1-6DD3-9F046560D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EA4336C-1795-AE8D-9FED-22ABF296F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885035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41E7141-3BE9-0C7C-2257-7BBC9CBA8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BF43EC88-AB52-4AEA-3FC4-7FA49BA59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8978DEF2-1B77-EE8D-7E78-A5DF19845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35FF1CD-7004-7DEE-2019-1AB6EC1121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2858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rede do tipo sequência para vetor (</a:t>
            </a:r>
            <a:r>
              <a:rPr lang="pt-BR" dirty="0" err="1"/>
              <a:t>encoder</a:t>
            </a:r>
            <a:r>
              <a:rPr lang="pt-BR" dirty="0"/>
              <a:t>) conectada a uma rede do tipo vetor para sequência (</a:t>
            </a:r>
            <a:r>
              <a:rPr lang="pt-BR" dirty="0" err="1"/>
              <a:t>decoder</a:t>
            </a:r>
            <a:r>
              <a:rPr lang="pt-BR" dirty="0"/>
              <a:t>)</a:t>
            </a:r>
          </a:p>
          <a:p>
            <a:r>
              <a:rPr lang="pt-BR" dirty="0"/>
              <a:t>O </a:t>
            </a:r>
            <a:r>
              <a:rPr lang="pt-BR" dirty="0" err="1"/>
              <a:t>encoder</a:t>
            </a:r>
            <a:r>
              <a:rPr lang="pt-BR" dirty="0"/>
              <a:t> gera um vetor contendo informação latente da sequência de entrada e o </a:t>
            </a:r>
            <a:r>
              <a:rPr lang="pt-BR" dirty="0" err="1"/>
              <a:t>decoder</a:t>
            </a:r>
            <a:r>
              <a:rPr lang="pt-BR" dirty="0"/>
              <a:t> decodifica ele em uma sequência.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0747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818911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018552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Relationship Id="rId4" Type="http://schemas.openxmlformats.org/officeDocument/2006/relationships/image" Target="../media/image39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eksforgeeks.org/machine-learning/gated-recurrent-unit-networks/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551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1.png"/><Relationship Id="rId4" Type="http://schemas.openxmlformats.org/officeDocument/2006/relationships/image" Target="../media/image47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3" Type="http://schemas.openxmlformats.org/officeDocument/2006/relationships/image" Target="../media/image491.png"/><Relationship Id="rId7" Type="http://schemas.openxmlformats.org/officeDocument/2006/relationships/image" Target="../media/image54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1.png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3" Type="http://schemas.openxmlformats.org/officeDocument/2006/relationships/image" Target="../media/image491.png"/><Relationship Id="rId7" Type="http://schemas.openxmlformats.org/officeDocument/2006/relationships/image" Target="../media/image54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1.png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441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640.png"/><Relationship Id="rId18" Type="http://schemas.openxmlformats.org/officeDocument/2006/relationships/image" Target="../media/image420.png"/><Relationship Id="rId26" Type="http://schemas.openxmlformats.org/officeDocument/2006/relationships/image" Target="../media/image490.png"/><Relationship Id="rId3" Type="http://schemas.openxmlformats.org/officeDocument/2006/relationships/image" Target="../media/image280.png"/><Relationship Id="rId21" Type="http://schemas.openxmlformats.org/officeDocument/2006/relationships/image" Target="../media/image86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85.png"/><Relationship Id="rId25" Type="http://schemas.openxmlformats.org/officeDocument/2006/relationships/image" Target="../media/image480.png"/><Relationship Id="rId2" Type="http://schemas.openxmlformats.org/officeDocument/2006/relationships/image" Target="../media/image270.png"/><Relationship Id="rId16" Type="http://schemas.openxmlformats.org/officeDocument/2006/relationships/image" Target="../media/image400.png"/><Relationship Id="rId20" Type="http://schemas.openxmlformats.org/officeDocument/2006/relationships/image" Target="../media/image440.png"/><Relationship Id="rId29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70.png"/><Relationship Id="rId5" Type="http://schemas.openxmlformats.org/officeDocument/2006/relationships/image" Target="../media/image300.png"/><Relationship Id="rId15" Type="http://schemas.openxmlformats.org/officeDocument/2006/relationships/image" Target="../media/image390.png"/><Relationship Id="rId23" Type="http://schemas.openxmlformats.org/officeDocument/2006/relationships/image" Target="../media/image460.png"/><Relationship Id="rId28" Type="http://schemas.openxmlformats.org/officeDocument/2006/relationships/image" Target="../media/image510.png"/><Relationship Id="rId10" Type="http://schemas.openxmlformats.org/officeDocument/2006/relationships/image" Target="../media/image350.png"/><Relationship Id="rId19" Type="http://schemas.openxmlformats.org/officeDocument/2006/relationships/image" Target="../media/image430.png"/><Relationship Id="rId4" Type="http://schemas.openxmlformats.org/officeDocument/2006/relationships/image" Target="../media/image290.png"/><Relationship Id="rId9" Type="http://schemas.openxmlformats.org/officeDocument/2006/relationships/image" Target="../media/image63.png"/><Relationship Id="rId14" Type="http://schemas.openxmlformats.org/officeDocument/2006/relationships/image" Target="../media/image380.png"/><Relationship Id="rId22" Type="http://schemas.openxmlformats.org/officeDocument/2006/relationships/image" Target="../media/image450.png"/><Relationship Id="rId27" Type="http://schemas.openxmlformats.org/officeDocument/2006/relationships/image" Target="../media/image500.png"/><Relationship Id="rId30" Type="http://schemas.openxmlformats.org/officeDocument/2006/relationships/image" Target="../media/image530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86.png"/><Relationship Id="rId18" Type="http://schemas.openxmlformats.org/officeDocument/2006/relationships/image" Target="../media/image490.png"/><Relationship Id="rId3" Type="http://schemas.openxmlformats.org/officeDocument/2006/relationships/image" Target="../media/image360.png"/><Relationship Id="rId21" Type="http://schemas.openxmlformats.org/officeDocument/2006/relationships/image" Target="../media/image52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80.png"/><Relationship Id="rId2" Type="http://schemas.openxmlformats.org/officeDocument/2006/relationships/image" Target="../media/image350.png"/><Relationship Id="rId16" Type="http://schemas.openxmlformats.org/officeDocument/2006/relationships/image" Target="../media/image470.png"/><Relationship Id="rId20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640.png"/><Relationship Id="rId15" Type="http://schemas.openxmlformats.org/officeDocument/2006/relationships/image" Target="../media/image460.png"/><Relationship Id="rId10" Type="http://schemas.openxmlformats.org/officeDocument/2006/relationships/image" Target="../media/image420.png"/><Relationship Id="rId19" Type="http://schemas.openxmlformats.org/officeDocument/2006/relationships/image" Target="../media/image500.png"/><Relationship Id="rId4" Type="http://schemas.openxmlformats.org/officeDocument/2006/relationships/image" Target="../media/image370.png"/><Relationship Id="rId9" Type="http://schemas.openxmlformats.org/officeDocument/2006/relationships/image" Target="../media/image85.png"/><Relationship Id="rId14" Type="http://schemas.openxmlformats.org/officeDocument/2006/relationships/image" Target="../media/image450.png"/><Relationship Id="rId22" Type="http://schemas.openxmlformats.org/officeDocument/2006/relationships/image" Target="../media/image530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0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0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7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641.png"/><Relationship Id="rId7" Type="http://schemas.openxmlformats.org/officeDocument/2006/relationships/image" Target="../media/image98.png"/><Relationship Id="rId12" Type="http://schemas.openxmlformats.org/officeDocument/2006/relationships/image" Target="../media/image10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2.png"/><Relationship Id="rId5" Type="http://schemas.openxmlformats.org/officeDocument/2006/relationships/image" Target="../media/image96.png"/><Relationship Id="rId10" Type="http://schemas.openxmlformats.org/officeDocument/2006/relationships/image" Target="../media/image101.png"/><Relationship Id="rId4" Type="http://schemas.openxmlformats.org/officeDocument/2006/relationships/image" Target="../media/image95.png"/><Relationship Id="rId9" Type="http://schemas.openxmlformats.org/officeDocument/2006/relationships/image" Target="../media/image100.png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12" Type="http://schemas.openxmlformats.org/officeDocument/2006/relationships/image" Target="../media/image10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0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0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49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0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9.png"/><Relationship Id="rId3" Type="http://schemas.openxmlformats.org/officeDocument/2006/relationships/image" Target="../media/image1030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129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128.png"/><Relationship Id="rId15" Type="http://schemas.openxmlformats.org/officeDocument/2006/relationships/image" Target="../media/image131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0.png"/><Relationship Id="rId3" Type="http://schemas.openxmlformats.org/officeDocument/2006/relationships/image" Target="../media/image1280.png"/><Relationship Id="rId7" Type="http://schemas.openxmlformats.org/officeDocument/2006/relationships/image" Target="../media/image130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0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_rels/slide9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80.png"/><Relationship Id="rId7" Type="http://schemas.openxmlformats.org/officeDocument/2006/relationships/image" Target="../media/image130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0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que são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4000" b="1" dirty="0"/>
              <a:t>Cada amostra carrega informação das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entradas</a:t>
            </a:r>
            <a:r>
              <a:rPr lang="pt-BR" dirty="0"/>
              <a:t> são tratadas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Isso faz com que elas </a:t>
            </a:r>
            <a:r>
              <a:rPr lang="pt-BR" b="1" dirty="0">
                <a:solidFill>
                  <a:srgbClr val="0070C0"/>
                </a:solidFill>
              </a:rPr>
              <a:t>não capturem dependências temporais entre amostras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27" y="1637413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predefinido?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526" y="2576411"/>
            <a:ext cx="3962400" cy="2354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xmlns="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o histórico de </a:t>
            </a:r>
            <a:r>
              <a:rPr lang="pt-BR" b="1" dirty="0">
                <a:solidFill>
                  <a:srgbClr val="00B050"/>
                </a:solidFill>
              </a:rPr>
              <a:t>das entradas passadas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xmlns="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que “telhado”, “muro”, “sofá” têm maior probabilidade.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xmlns="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Porém, como veremos, um problema das </a:t>
            </a:r>
            <a:r>
              <a:rPr lang="pt-BR" dirty="0" err="1"/>
              <a:t>RNNs</a:t>
            </a:r>
            <a:r>
              <a:rPr lang="pt-BR" dirty="0"/>
              <a:t> é que 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rapidamente</a:t>
            </a:r>
            <a:r>
              <a:rPr lang="pt-BR" dirty="0"/>
              <a:t> ao longo do tempo.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xmlns="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5E58F59-116C-8F6D-B7AC-0250568F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9402BEF-ABFC-2E52-8381-46A90E9EE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AAFC11EF-1F73-384D-FC08-ADC0A69BE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RNNs</a:t>
                </a:r>
                <a:r>
                  <a:rPr lang="pt-BR" dirty="0"/>
                  <a:t> lidam com as dependências temporais entre amostras mantendo um </a:t>
                </a:r>
                <a:r>
                  <a:rPr lang="pt-BR" b="1" dirty="0">
                    <a:solidFill>
                      <a:srgbClr val="0070C0"/>
                    </a:solidFill>
                  </a:rPr>
                  <a:t>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armazena informações de todos os passos de tempo anteriores da sequência (</a:t>
                </a:r>
                <a:r>
                  <a:rPr lang="pt-BR" b="1" dirty="0">
                    <a:solidFill>
                      <a:srgbClr val="0070C0"/>
                    </a:solidFill>
                  </a:rPr>
                  <a:t>memória</a:t>
                </a:r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é uma representação compacta da história da sequência.</a:t>
                </a:r>
              </a:p>
              <a:p>
                <a:r>
                  <a:rPr lang="pt-BR" dirty="0"/>
                  <a:t>O mecanismo de </a:t>
                </a:r>
                <a:r>
                  <a:rPr lang="pt-BR" b="1" dirty="0">
                    <a:solidFill>
                      <a:srgbClr val="0070C0"/>
                    </a:solidFill>
                  </a:rPr>
                  <a:t>recorrência</a:t>
                </a:r>
                <a:r>
                  <a:rPr lang="pt-BR" dirty="0"/>
                  <a:t> permite que a rede aplique o contexto aprendido a partir de entradas anteriores às etapas atuais e futuras.</a:t>
                </a:r>
              </a:p>
              <a:p>
                <a:r>
                  <a:rPr lang="pt-BR" dirty="0"/>
                  <a:t>Uma célula recorrente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aprende padrões presentes</a:t>
                </a:r>
                <a:r>
                  <a:rPr lang="pt-BR" dirty="0"/>
                  <a:t> nas sequências.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  <a:blipFill>
                <a:blip r:embed="rId3"/>
                <a:stretch>
                  <a:fillRect l="-1437" t="-1937" r="-2075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9391CBA0-FDD8-1C64-EBF3-4D66D849BE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999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7678" y="1825625"/>
            <a:ext cx="5773687" cy="5032374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Ela omite a maioria das matrizes de pesos, mostrando uma caixa laranja que corresponde a uma camada densa com função de ativação do tipo tangente hiperbólica (</a:t>
            </a:r>
            <a:r>
              <a:rPr lang="pt-BR" dirty="0" err="1"/>
              <a:t>tanh</a:t>
            </a:r>
            <a:r>
              <a:rPr lang="pt-BR" dirty="0"/>
              <a:t>).</a:t>
            </a:r>
          </a:p>
          <a:p>
            <a:r>
              <a:rPr lang="pt-BR" dirty="0"/>
              <a:t>Essa representação é bastante utilizada na literatura.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xmlns="" id="{7CED28AA-0E05-B2BA-0D30-E8DA542D766E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invés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7FCC30CB-CB89-F35B-D92D-21E6B094C07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238" y="2457768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FF8E223-5A55-598C-6C3A-13F57278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3C890A9-36F8-D703-4FF3-2ECF4E39F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xmlns="" id="{5D53E8F3-31EC-96A2-5086-93E2C9E2F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célula processa uma sequência de entradas um elemento (e.g., uma palavra ou um caractere) de cada vez, executando os seguintes passos em um laço: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a entrada atual da sequência,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o estado oculto do passo de tempo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 (sua “memória”).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Combina essas duas entradas para calcular 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 o novo estado oculto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calcular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o passo de tempo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é então passado como memória para o próximo passo de tempo,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  <a:blipFill>
                <a:blip r:embed="rId3"/>
                <a:stretch>
                  <a:fillRect l="-1525" t="-1937" r="-424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xmlns="" id="{8380297D-98CD-60DC-3ED7-95B86C2C0C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40" y="2749999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53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</a:t>
                </a:r>
                <a:r>
                  <a:rPr lang="pt-BR" dirty="0"/>
                  <a:t>.</a:t>
                </a:r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656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Algumas implementações consideram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 na saída </a:t>
                </a:r>
                <a:r>
                  <a:rPr lang="pt-BR" dirty="0"/>
                  <a:t>(e.g., logística ou </a:t>
                </a:r>
                <a:r>
                  <a:rPr lang="pt-BR" dirty="0" err="1"/>
                  <a:t>tanh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Desta forma, 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bias.</a:t>
                </a:r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  <a:blipFill>
                <a:blip r:embed="rId3"/>
                <a:stretch>
                  <a:fillRect l="-176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18759DC6-199E-9641-2389-B62D876BAC88}"/>
              </a:ext>
            </a:extLst>
          </p:cNvPr>
          <p:cNvGrpSpPr/>
          <p:nvPr/>
        </p:nvGrpSpPr>
        <p:grpSpPr>
          <a:xfrm>
            <a:off x="1676298" y="1517693"/>
            <a:ext cx="2258314" cy="5231527"/>
            <a:chOff x="1582030" y="1498840"/>
            <a:chExt cx="2258314" cy="5231527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xmlns="" id="{8E2B0E5C-B617-1386-87C2-3A8B717B0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2031" y="1498840"/>
              <a:ext cx="2258313" cy="523152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xmlns="" id="{1E3BC3FD-1B5F-5A63-997C-3561384F2766}"/>
                </a:ext>
              </a:extLst>
            </p:cNvPr>
            <p:cNvSpPr/>
            <p:nvPr/>
          </p:nvSpPr>
          <p:spPr>
            <a:xfrm>
              <a:off x="1582030" y="2066729"/>
              <a:ext cx="557657" cy="61912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r>
              <a:rPr lang="pt-BR" dirty="0"/>
              <a:t>Embora visualizemos a RNN com um </a:t>
            </a:r>
            <a:r>
              <a:rPr lang="pt-BR" b="1" dirty="0">
                <a:solidFill>
                  <a:schemeClr val="accent1"/>
                </a:solidFill>
              </a:rPr>
              <a:t>laço</a:t>
            </a:r>
            <a:r>
              <a:rPr lang="pt-BR" dirty="0"/>
              <a:t>, é mais fácil entender seu funcionamento </a:t>
            </a:r>
            <a:r>
              <a:rPr lang="pt-BR" b="1" dirty="0">
                <a:solidFill>
                  <a:schemeClr val="accent2"/>
                </a:solidFill>
              </a:rPr>
              <a:t>desenrolando-a</a:t>
            </a:r>
            <a:r>
              <a:rPr lang="pt-BR" dirty="0"/>
              <a:t> ao longo dos passos de tempo.</a:t>
            </a:r>
          </a:p>
          <a:p>
            <a:r>
              <a:rPr lang="pt-BR" dirty="0"/>
              <a:t>Uma RNN desenrolada pode ser vista como </a:t>
            </a:r>
            <a:r>
              <a:rPr lang="pt-BR" b="1" dirty="0">
                <a:solidFill>
                  <a:srgbClr val="7030A0"/>
                </a:solidFill>
              </a:rPr>
              <a:t>múltiplas cópias da mesma camada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7647394D-B8E2-7039-16A8-7702A1CD088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1DDC0DF-3D06-4045-B165-7AAB8FC3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4B05D09-B51B-9F1D-840C-8F31ECA8A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5DB0C75-40DB-1344-2644-3F9C51103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referente </a:t>
            </a:r>
            <a:r>
              <a:rPr lang="pt-BR" dirty="0"/>
              <a:t>a um </a:t>
            </a:r>
            <a:r>
              <a:rPr lang="pt-BR" b="1" dirty="0">
                <a:solidFill>
                  <a:schemeClr val="accent2"/>
                </a:solidFill>
              </a:rPr>
              <a:t>intervalo de tempo diferente </a:t>
            </a:r>
            <a:r>
              <a:rPr lang="pt-BR" dirty="0"/>
              <a:t>e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 </a:t>
            </a:r>
            <a:r>
              <a:rPr lang="pt-BR" dirty="0"/>
              <a:t>para</a:t>
            </a:r>
            <a:r>
              <a:rPr lang="pt-BR" b="1" dirty="0">
                <a:solidFill>
                  <a:srgbClr val="7030A0"/>
                </a:solidFill>
              </a:rPr>
              <a:t> sequências muito longas</a:t>
            </a:r>
            <a:r>
              <a:rPr lang="pt-BR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5432393F-CC34-9AA6-AE14-3B0ED66B82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74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7131961-1381-6F3E-8FD0-08285C79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C74E138-4FDB-0A0C-AE94-7C75814D5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4D1FC21-9877-8A53-D087-E821889E0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0553" y="1825624"/>
            <a:ext cx="4471447" cy="5032375"/>
          </a:xfrm>
        </p:spPr>
        <p:txBody>
          <a:bodyPr>
            <a:normAutofit/>
          </a:bodyPr>
          <a:lstStyle/>
          <a:p>
            <a:r>
              <a:rPr lang="pt-BR" dirty="0"/>
              <a:t>Essa visão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mostra claramente o fluxo de informações e a </a:t>
            </a:r>
            <a:r>
              <a:rPr lang="pt-BR" b="1" dirty="0">
                <a:solidFill>
                  <a:srgbClr val="0070C0"/>
                </a:solidFill>
              </a:rPr>
              <a:t>reutilização dos pesos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</a:t>
            </a:r>
            <a:r>
              <a:rPr lang="pt-BR" dirty="0"/>
              <a:t>e as </a:t>
            </a:r>
            <a:r>
              <a:rPr lang="pt-BR" b="1" dirty="0">
                <a:solidFill>
                  <a:schemeClr val="accent1"/>
                </a:solidFill>
              </a:rPr>
              <a:t>funções de ativação </a:t>
            </a:r>
            <a:r>
              <a:rPr lang="pt-BR" dirty="0"/>
              <a:t>são</a:t>
            </a:r>
            <a:r>
              <a:rPr lang="pt-BR" b="1" dirty="0">
                <a:solidFill>
                  <a:schemeClr val="accent1"/>
                </a:solidFill>
              </a:rPr>
              <a:t>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C67339C6-8630-9318-806E-885B3088E3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043" y="1898682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572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08040EC-283E-AF0D-98D2-F63FF4265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D6B01EA-11FE-E505-9C21-2C7DF649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B7EF629-DAD2-6F9E-E547-E7199A3C8A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conjunto compartilhado de pesos</a:t>
                </a:r>
                <a:r>
                  <a:rPr lang="pt-BR" dirty="0"/>
                  <a:t> é o que torna o modelo "</a:t>
                </a:r>
                <a:r>
                  <a:rPr lang="pt-BR" b="1" dirty="0">
                    <a:solidFill>
                      <a:srgbClr val="00B050"/>
                    </a:solidFill>
                  </a:rPr>
                  <a:t>recorrente</a:t>
                </a:r>
                <a:r>
                  <a:rPr lang="pt-BR" dirty="0"/>
                  <a:t>" e permite que ele </a:t>
                </a:r>
                <a:r>
                  <a:rPr lang="pt-BR" b="1" dirty="0">
                    <a:solidFill>
                      <a:srgbClr val="7030A0"/>
                    </a:solidFill>
                  </a:rPr>
                  <a:t>aprenda (detecte) padrões em sequências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Notem que 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depende de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e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todos</a:t>
                </a:r>
                <a:r>
                  <a:rPr lang="pt-BR" b="1" dirty="0">
                    <a:solidFill>
                      <a:srgbClr val="00B050"/>
                    </a:solidFill>
                  </a:rPr>
                  <a:t> os seus valores anteriores</a:t>
                </a:r>
                <a:r>
                  <a:rPr lang="pt-BR" dirty="0"/>
                  <a:t> e não apenas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  <a:blipFill>
                <a:blip r:embed="rId3"/>
                <a:stretch>
                  <a:fillRect l="-2500" t="-1937" r="-4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11D00B5F-AE10-DDBA-90FA-2664155E2E1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4" y="1965166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92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FA4CF61-CE52-9ED4-4E52-19F81312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0517226-7116-AD96-CC12-97CF12663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4BD94AA-1AF4-CE3E-B58D-37EA5EC18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6000" cy="5032375"/>
          </a:xfrm>
        </p:spPr>
        <p:txBody>
          <a:bodyPr>
            <a:normAutofit/>
          </a:bodyPr>
          <a:lstStyle/>
          <a:p>
            <a:r>
              <a:rPr lang="pt-BR" dirty="0"/>
              <a:t>O processo de desenrolar uma RNN nos ajuda a treinar a rede usando a </a:t>
            </a:r>
            <a:r>
              <a:rPr lang="pt-BR" b="1" dirty="0">
                <a:solidFill>
                  <a:srgbClr val="7030A0"/>
                </a:solidFill>
              </a:rPr>
              <a:t>retropropagação do erro</a:t>
            </a:r>
            <a:r>
              <a:rPr lang="pt-BR" dirty="0"/>
              <a:t>.</a:t>
            </a:r>
          </a:p>
          <a:p>
            <a:r>
              <a:rPr lang="pt-BR" dirty="0"/>
              <a:t>O objetivo é: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como cada peso influenciou o erro,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os pesos para minimizar o erro. </a:t>
            </a:r>
          </a:p>
          <a:p>
            <a:r>
              <a:rPr lang="pt-BR" dirty="0"/>
              <a:t>Nas </a:t>
            </a:r>
            <a:r>
              <a:rPr lang="pt-BR" dirty="0" err="1"/>
              <a:t>RNNs</a:t>
            </a:r>
            <a:r>
              <a:rPr lang="pt-BR" dirty="0"/>
              <a:t>, isso é mais complexo pois: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estado atual depende dos estados anteriores,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então o erro precisa voltar no tempo.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EFA75654-DF42-EDB9-B152-A60A131AFD6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7271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C856341B-8DD5-B4D0-04B5-B1D29CAF8A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treinar a rede, ela é primeiro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desenrolada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rgbClr val="7030A0"/>
                    </a:solidFill>
                  </a:rPr>
                  <a:t>depois aplica-se a retropropagação</a:t>
                </a:r>
                <a:r>
                  <a:rPr lang="pt-BR" dirty="0"/>
                  <a:t> do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tradicional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a sequência,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, é processada em uma </a:t>
                </a:r>
                <a:r>
                  <a:rPr lang="pt-BR" b="1" dirty="0">
                    <a:solidFill>
                      <a:srgbClr val="00B050"/>
                    </a:solidFill>
                  </a:rPr>
                  <a:t>etapa direta</a:t>
                </a:r>
                <a:r>
                  <a:rPr lang="pt-BR" dirty="0"/>
                  <a:t>, gerando saídas ao longo dos vários instantes de tempo,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Em seguida,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,(e.g., EQM, EC) é </a:t>
                </a:r>
                <a:r>
                  <a:rPr lang="pt-BR" b="1" dirty="0">
                    <a:solidFill>
                      <a:srgbClr val="00B050"/>
                    </a:solidFill>
                  </a:rPr>
                  <a:t>calculada</a:t>
                </a:r>
                <a:r>
                  <a:rPr lang="pt-BR" dirty="0"/>
                  <a:t> utilizando as saídas e os rótulos,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  <a:blipFill>
                <a:blip r:embed="rId2"/>
                <a:stretch>
                  <a:fillRect l="-1721" t="-1937" r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723AD603-5E49-AE24-2071-74753017B5F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0D94518-B943-3652-40D5-8C674576F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CA5185B-0A25-F012-4043-94A4C688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11E477E-D988-C2C5-1555-C6A90F36E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1180" y="1825624"/>
            <a:ext cx="6290820" cy="5032376"/>
          </a:xfrm>
        </p:spPr>
        <p:txBody>
          <a:bodyPr>
            <a:normAutofit/>
          </a:bodyPr>
          <a:lstStyle/>
          <a:p>
            <a:r>
              <a:rPr lang="pt-BR" noProof="0" dirty="0"/>
              <a:t>Após o cálculo do erro, os </a:t>
            </a:r>
            <a:r>
              <a:rPr lang="pt-BR" b="1" noProof="0" dirty="0">
                <a:solidFill>
                  <a:srgbClr val="00B050"/>
                </a:solidFill>
              </a:rPr>
              <a:t>gradientes são propagados retroativamente </a:t>
            </a:r>
            <a:r>
              <a:rPr lang="pt-BR" noProof="0" dirty="0"/>
              <a:t>ao longo da rede desenrolada no tempo.</a:t>
            </a:r>
          </a:p>
          <a:p>
            <a:r>
              <a:rPr lang="pt-BR" noProof="0" dirty="0"/>
              <a:t>Como os </a:t>
            </a:r>
            <a:r>
              <a:rPr lang="pt-BR" b="1" noProof="0" dirty="0">
                <a:solidFill>
                  <a:schemeClr val="accent2"/>
                </a:solidFill>
              </a:rPr>
              <a:t>mesmos pesos são reutilizados</a:t>
            </a:r>
            <a:r>
              <a:rPr lang="pt-BR" noProof="0" dirty="0"/>
              <a:t> em todos os instantes da sequência, </a:t>
            </a:r>
            <a:r>
              <a:rPr lang="pt-BR" b="1" noProof="0" dirty="0">
                <a:solidFill>
                  <a:schemeClr val="accent2"/>
                </a:solidFill>
              </a:rPr>
              <a:t>cada instante</a:t>
            </a:r>
            <a:r>
              <a:rPr lang="pt-BR" noProof="0" dirty="0"/>
              <a:t> temporal </a:t>
            </a:r>
            <a:r>
              <a:rPr lang="pt-BR" b="1" noProof="0" dirty="0">
                <a:solidFill>
                  <a:schemeClr val="accent2"/>
                </a:solidFill>
              </a:rPr>
              <a:t>produz uma contribuição para o gradiente final</a:t>
            </a:r>
            <a:r>
              <a:rPr lang="pt-BR" noProof="0" dirty="0"/>
              <a:t> desses pesos.</a:t>
            </a:r>
          </a:p>
          <a:p>
            <a:r>
              <a:rPr lang="pt-BR" noProof="0" dirty="0"/>
              <a:t>Durante o treinamento, </a:t>
            </a:r>
            <a:r>
              <a:rPr lang="pt-BR" b="1" noProof="0" dirty="0">
                <a:solidFill>
                  <a:srgbClr val="7030A0"/>
                </a:solidFill>
              </a:rPr>
              <a:t>essas contribuições são somadas</a:t>
            </a:r>
            <a:r>
              <a:rPr lang="pt-BR" noProof="0" dirty="0"/>
              <a:t> para gerar o </a:t>
            </a:r>
            <a:r>
              <a:rPr lang="pt-BR" b="1" noProof="0" dirty="0">
                <a:solidFill>
                  <a:srgbClr val="7030A0"/>
                </a:solidFill>
              </a:rPr>
              <a:t>gradiente final</a:t>
            </a:r>
            <a:r>
              <a:rPr lang="pt-BR" noProof="0" dirty="0"/>
              <a:t> e atualizar os pesos da rede.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FFEFC366-25A0-8801-988D-FFCD224F3E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479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AD87738-FC7E-21B4-8EC1-0DABBFF6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5A50FF2-35C9-AA04-ED08-BE0660251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818A30A8-8D7E-A868-522E-8860A7F87F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fim, os pesos da rede são atualizados utilizando algum método de otimização baseados no vetor gradiente.</a:t>
                </a:r>
              </a:p>
              <a:p>
                <a:r>
                  <a:rPr lang="pt-BR" dirty="0"/>
                  <a:t>Por exemplo, usando o gradiente descendente em batelada: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é uma das matrizes de peso da célula,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 é a função de erro.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  <a:blipFill>
                <a:blip r:embed="rId2"/>
                <a:stretch>
                  <a:fillRect l="-1938" t="-1937" r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72E6F4CD-19AC-4CEA-A975-5768600757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05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168" y="1825624"/>
            <a:ext cx="6224832" cy="5032376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desenrolar da rede</a:t>
            </a:r>
            <a:r>
              <a:rPr lang="pt-BR" dirty="0"/>
              <a:t> para aplicação da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</a:t>
            </a:r>
            <a:r>
              <a:rPr lang="pt-BR" b="1" dirty="0">
                <a:solidFill>
                  <a:srgbClr val="00B050"/>
                </a:solidFill>
              </a:rPr>
              <a:t>voltar no tempo</a:t>
            </a:r>
            <a:r>
              <a:rPr lang="pt-BR" dirty="0"/>
              <a:t>”.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DD1162C9-8039-1879-F87F-8925166F46B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do treinamento é minimizar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total</a:t>
                </a:r>
                <a:r>
                  <a:rPr lang="pt-BR" dirty="0"/>
                  <a:t> gerado pela rede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ao longo de todos os passos de tempo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é calculado para cada passo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, da sequência temporal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erro total</a:t>
                </a:r>
                <a:r>
                  <a:rPr lang="pt-BR" dirty="0"/>
                  <a:t> é a média 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para todos os instantes de tempo considerados,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, o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erro</a:t>
                </a:r>
                <a:r>
                  <a:rPr lang="en-US" b="1" dirty="0">
                    <a:solidFill>
                      <a:srgbClr val="00B050"/>
                    </a:solidFill>
                  </a:rPr>
                  <a:t> total </a:t>
                </a: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média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 b="-2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noProof="0" dirty="0"/>
                  <a:t>De forma genérica, a derivada do erro em relação à matriz de pesos, </a:t>
                </a:r>
                <a14:m>
                  <m:oMath xmlns:m="http://schemas.openxmlformats.org/officeDocument/2006/math">
                    <m:r>
                      <a:rPr lang="pt-BR" b="1" i="1" noProof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noProof="0" dirty="0"/>
                  <a:t> é obtida usando a </a:t>
                </a:r>
                <a:r>
                  <a:rPr lang="pt-BR" b="1" noProof="0" dirty="0"/>
                  <a:t>regra da cadeia</a:t>
                </a:r>
                <a:r>
                  <a:rPr lang="pt-BR" noProof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pPr marL="0" indent="0">
                  <a:buNone/>
                </a:pPr>
                <a:r>
                  <a:rPr lang="pt-BR" dirty="0"/>
                  <a:t>o</a:t>
                </a:r>
                <a:r>
                  <a:rPr lang="pt-BR" noProof="0" dirty="0" err="1"/>
                  <a:t>nde</a:t>
                </a:r>
                <a:r>
                  <a:rPr lang="pt-BR" noProof="0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 é o estado oculto.</a:t>
                </a:r>
              </a:p>
              <a:p>
                <a:r>
                  <a:rPr lang="pt-BR" noProof="0" dirty="0"/>
                  <a:t>O gradiente é obtido somando-se as </a:t>
                </a:r>
                <a:r>
                  <a:rPr lang="pt-BR" b="1" dirty="0">
                    <a:solidFill>
                      <a:srgbClr val="00B050"/>
                    </a:solidFill>
                  </a:rPr>
                  <a:t>contribuições de cada passo de tempo.</a:t>
                </a:r>
                <a:endParaRPr lang="pt-BR" noProof="0" dirty="0"/>
              </a:p>
              <a:p>
                <a:r>
                  <a:rPr lang="pt-BR" noProof="0" dirty="0"/>
                  <a:t>Como os pesos são compartilhados ao longo do tempo, uma única atualização de peso deve levar em conta sua influência na predição (e, consequentemente, no erro) feita em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noProof="0" dirty="0"/>
                  <a:t>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noProof="0" dirty="0"/>
                  <a:t> até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r>
                  <a:rPr lang="pt-BR" dirty="0"/>
                  <a:t>Em outras palavras, o BPTT propaga os erros do futuro para o passado.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1128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F2798CD-19D6-ECEC-B650-20958EB8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F7A14C7-1400-69E1-2BE4-A1A26E2E2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D8FEDBB-8B0C-1AAA-8297-CE500B93DB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dirty="0"/>
                  <a:t>Os dois primeiros termos são fáceis de se calcular, mas o terceiro é onde as coisas se complicam, já que precisamos calcular </a:t>
                </a:r>
                <a:r>
                  <a:rPr lang="pt-BR" b="1" dirty="0">
                    <a:solidFill>
                      <a:srgbClr val="7030A0"/>
                    </a:solidFill>
                  </a:rPr>
                  <a:t>recursivamente</a:t>
                </a:r>
                <a:r>
                  <a:rPr lang="pt-BR" dirty="0"/>
                  <a:t> o efeito da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sobre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afeta o erro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de duas maneiras: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Diretamente:</a:t>
                </a:r>
                <a:r>
                  <a:rPr lang="pt-BR" dirty="0"/>
                  <a:t> No cálculo do estado oculto atual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Indiretamente:</a:t>
                </a:r>
                <a:r>
                  <a:rPr lang="pt-BR" dirty="0"/>
                  <a:t> Porque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depende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por sua vez dependeu 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no passado, que dependeu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−2]</m:t>
                    </m:r>
                  </m:oMath>
                </a14:m>
                <a:r>
                  <a:rPr lang="pt-BR" dirty="0"/>
                  <a:t>, e assim por diante, voltando até o estado inicial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[0]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r="-1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xmlns="" id="{50E1D4C1-A556-7B10-9906-749DD399F979}"/>
              </a:ext>
            </a:extLst>
          </p:cNvPr>
          <p:cNvSpPr/>
          <p:nvPr/>
        </p:nvSpPr>
        <p:spPr>
          <a:xfrm>
            <a:off x="9341749" y="1898923"/>
            <a:ext cx="867267" cy="9898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4303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FE833D8-2F7F-4BE1-D525-5FAE41667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EF0B173-DE7A-5E16-3DD6-EB66D50745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Aplicando a regra da cadeia ao terceiro termo, obtemos a formulação analítica completa do BPTT para o passo de tempo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−1]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 dependendo dos valores das derivadas parciais,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28862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se torna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</a:t>
                </a:r>
                <a:r>
                  <a:rPr lang="pt-BR" dirty="0"/>
                  <a:t> ou fica</a:t>
                </a:r>
                <a:r>
                  <a:rPr lang="pt-BR" b="1" dirty="0">
                    <a:solidFill>
                      <a:srgbClr val="7030A0"/>
                    </a:solidFill>
                  </a:rPr>
                  <a:t>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>
                    <a:solidFill>
                      <a:schemeClr val="accent2"/>
                    </a:solidFill>
                  </a:rPr>
                  <a:t>Mantendo o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21784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8E720CE-A76C-A8B2-DCF8-0B3E17CD9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E327AF2-2A80-2FD6-C65B-1F47B4EFD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4F3B9AB-2499-75D6-23C6-F253DEDF36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Na prática, essa equação diz que para atualizar 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, a rede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calcula o erro em cada saída,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propaga esse erro de volta através das conexões recorrentes até o início da sequência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acumula os ajustes baseados nos estados passados.</a:t>
                </a:r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consome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r="-1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0368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 (TBPPT)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 é um </a:t>
                </a:r>
                <a:r>
                  <a:rPr lang="pt-BR" dirty="0" err="1"/>
                  <a:t>hiperparâmetro</a:t>
                </a:r>
                <a:r>
                  <a:rPr lang="pt-BR" dirty="0"/>
                  <a:t> crucial que deve ser otimizado: pequeno demais prejudica a memória de longo prazo e grande demais perde a eficiência que motivou a técnica.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uso de memória.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 </a:t>
                </a:r>
                <a:r>
                  <a:rPr lang="en-US" dirty="0" err="1"/>
                  <a:t>ajuda</a:t>
                </a:r>
                <a:r>
                  <a:rPr lang="en-US" dirty="0"/>
                  <a:t> a combater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explosão</a:t>
                </a:r>
                <a:r>
                  <a:rPr lang="en-US" dirty="0"/>
                  <a:t> e </a:t>
                </a:r>
                <a:r>
                  <a:rPr lang="en-US" dirty="0" err="1"/>
                  <a:t>desaparecimento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Porém</a:t>
                </a:r>
                <a:r>
                  <a:rPr lang="en-US" dirty="0"/>
                  <a:t>, o TBPPT </a:t>
                </a:r>
                <a:r>
                  <a:rPr lang="pt-BR" dirty="0"/>
                  <a:t>força a rede a se concentrar em padrões de curto e médio alcance.</a:t>
                </a:r>
              </a:p>
              <a:p>
                <a:r>
                  <a:rPr lang="pt-BR" dirty="0"/>
                  <a:t>Dependências que excedem o tamanho do truncamento </a:t>
                </a:r>
                <a:r>
                  <a:rPr lang="pt-BR" b="1" dirty="0"/>
                  <a:t>não são aprendidas.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r="-215"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</a:t>
            </a:r>
            <a:r>
              <a:rPr lang="pt-BR" b="1" dirty="0">
                <a:solidFill>
                  <a:srgbClr val="FF0000"/>
                </a:solidFill>
              </a:rPr>
              <a:t>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</a:t>
                </a:r>
                <a:r>
                  <a:rPr lang="pt-BR" b="1" dirty="0">
                    <a:solidFill>
                      <a:schemeClr val="accent1"/>
                    </a:solidFill>
                  </a:rPr>
                  <a:t>sistemas dinâmicos </a:t>
                </a:r>
                <a:r>
                  <a:rPr lang="pt-BR" dirty="0"/>
                  <a:t>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</a:t>
                </a:r>
                <a:r>
                  <a:rPr lang="pt-BR" b="1" dirty="0">
                    <a:solidFill>
                      <a:schemeClr val="accent1"/>
                    </a:solidFill>
                  </a:rPr>
                  <a:t>causa oscilações ou divergência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776FCFB-336A-8296-6F79-4601798B9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6A579CB-F7BE-007A-141C-207261894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8608" y="904126"/>
            <a:ext cx="5661060" cy="564051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Quando uma RNN tradicional processa uma sequência muito longa, ela se esquece gradualmente das primeiras amostras da sequência.</a:t>
            </a:r>
          </a:p>
          <a:p>
            <a:pPr marL="0" indent="0" algn="ctr">
              <a:buNone/>
            </a:pPr>
            <a:endParaRPr lang="pt-BR" sz="3600" dirty="0"/>
          </a:p>
          <a:p>
            <a:pPr marL="0" indent="0" algn="ctr">
              <a:buNone/>
            </a:pPr>
            <a:r>
              <a:rPr lang="pt-BR" sz="3600" dirty="0"/>
              <a:t>Ou seja, elas não aprendem dependências longas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xmlns="" id="{E63707F4-DB83-9062-72ED-B2E6A96EE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33" y="1410817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2792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treinadas usando o BPTT </a:t>
            </a:r>
            <a:r>
              <a:rPr lang="pt-BR" b="1" dirty="0">
                <a:solidFill>
                  <a:schemeClr val="accent2"/>
                </a:solidFill>
              </a:rPr>
              <a:t>são incapazes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Quando uma RNN processa uma </a:t>
            </a:r>
            <a:r>
              <a:rPr lang="pt-BR" b="1" dirty="0">
                <a:solidFill>
                  <a:srgbClr val="7030A0"/>
                </a:solidFill>
              </a:rPr>
              <a:t>sequência longa</a:t>
            </a:r>
            <a:r>
              <a:rPr lang="pt-BR" dirty="0"/>
              <a:t>, ela </a:t>
            </a:r>
            <a:r>
              <a:rPr lang="pt-BR" b="1" dirty="0">
                <a:solidFill>
                  <a:srgbClr val="7030A0"/>
                </a:solidFill>
              </a:rPr>
              <a:t>gradualmente esquece as primeiras entradas</a:t>
            </a:r>
            <a:r>
              <a:rPr lang="pt-BR" dirty="0"/>
              <a:t> da sequência.</a:t>
            </a:r>
          </a:p>
          <a:p>
            <a:r>
              <a:rPr lang="pt-BR" dirty="0"/>
              <a:t>O TBPTT </a:t>
            </a:r>
            <a:r>
              <a:rPr lang="pt-BR" b="1" dirty="0"/>
              <a:t>também limita o aprendizado de longo prazo</a:t>
            </a:r>
            <a:r>
              <a:rPr lang="pt-BR" dirty="0"/>
              <a:t>, pois impõe um horizonte máximo para a retropropagação dos gradientes.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Tradução</a:t>
            </a:r>
            <a:r>
              <a:rPr lang="en-US" dirty="0"/>
              <a:t> </a:t>
            </a:r>
            <a:r>
              <a:rPr lang="en-US" dirty="0" err="1"/>
              <a:t>automática</a:t>
            </a:r>
            <a:r>
              <a:rPr lang="en-US" dirty="0"/>
              <a:t>: </a:t>
            </a:r>
            <a:r>
              <a:rPr lang="pt-BR" dirty="0"/>
              <a:t>o significado de uma palavra ou frase pode depender de palavras vizinhas ou de um contexto que apareceu muito antes no texto.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prever </a:t>
            </a:r>
            <a:r>
              <a:rPr lang="pt-BR" b="1" dirty="0">
                <a:solidFill>
                  <a:srgbClr val="00B050"/>
                </a:solidFill>
              </a:rPr>
              <a:t>a próxima palavra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</a:t>
            </a:r>
            <a:r>
              <a:rPr lang="pt-BR" dirty="0"/>
              <a:t>a palavra</a:t>
            </a:r>
            <a:r>
              <a:rPr lang="pt-BR" b="1" dirty="0">
                <a:solidFill>
                  <a:schemeClr val="accent2"/>
                </a:solidFill>
              </a:rPr>
              <a:t> </a:t>
            </a:r>
            <a:r>
              <a:rPr lang="pt-BR" b="1" dirty="0">
                <a:solidFill>
                  <a:schemeClr val="accent5"/>
                </a:solidFill>
              </a:rPr>
              <a:t>“azul”</a:t>
            </a:r>
            <a:r>
              <a:rPr lang="pt-BR" dirty="0"/>
              <a:t>, a RNN precisa apenas de </a:t>
            </a:r>
            <a:r>
              <a:rPr lang="pt-BR" b="1" dirty="0">
                <a:solidFill>
                  <a:srgbClr val="00B050"/>
                </a:solidFill>
              </a:rPr>
              <a:t>informação de dois passos atrás</a:t>
            </a:r>
            <a:r>
              <a:rPr lang="pt-BR" dirty="0"/>
              <a:t>, i.e., a informação relevante está a poucos passos no tempo (</a:t>
            </a:r>
            <a:r>
              <a:rPr lang="pt-BR" b="1" dirty="0">
                <a:solidFill>
                  <a:schemeClr val="accent2"/>
                </a:solidFill>
              </a:rPr>
              <a:t>contexto recente</a:t>
            </a:r>
            <a:r>
              <a:rPr lang="pt-BR" dirty="0"/>
              <a:t>).</a:t>
            </a:r>
          </a:p>
          <a:p>
            <a:endParaRPr lang="pt-B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C64356E-F5FE-E5D3-9E6C-6927EBEC8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3A944CD8-CBDA-65AB-AE05-7694FE8B6C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FE9B53B2-8E68-BEE1-0D8A-E19655A49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571CB8A-DBB4-30C0-9F19-9763A30E4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Assim, durante o treinamento, o erro precisa ser retropropagado por apenas alguns instantes temporais.</a:t>
            </a:r>
          </a:p>
          <a:p>
            <a:r>
              <a:rPr lang="pt-BR" dirty="0"/>
              <a:t>Porém, em muitas aplicações, a informação importante pode estar muito distante na sequência.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DA4B9400-011F-CE71-B12A-9EB45E21B3C6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092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7810" y="1825624"/>
            <a:ext cx="5884189" cy="5032375"/>
          </a:xfrm>
        </p:spPr>
        <p:txBody>
          <a:bodyPr>
            <a:normAutofit/>
          </a:bodyPr>
          <a:lstStyle/>
          <a:p>
            <a:r>
              <a:rPr lang="pt-BR" dirty="0"/>
              <a:t>Agora, vamos considerar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/>
              <a:t>Para prever </a:t>
            </a:r>
            <a:r>
              <a:rPr lang="pt-BR" b="1" dirty="0">
                <a:solidFill>
                  <a:schemeClr val="accent2"/>
                </a:solidFill>
              </a:rPr>
              <a:t>“italiano”</a:t>
            </a:r>
            <a:r>
              <a:rPr lang="pt-BR" dirty="0"/>
              <a:t>, a rede precisa lembrar uma informação muito antiga da sequência, a palavra </a:t>
            </a:r>
            <a:r>
              <a:rPr lang="pt-BR" b="1" dirty="0">
                <a:solidFill>
                  <a:schemeClr val="accent2"/>
                </a:solidFill>
              </a:rPr>
              <a:t>“Roma”</a:t>
            </a:r>
            <a:r>
              <a:rPr lang="pt-BR" dirty="0"/>
              <a:t>.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/>
              <a:t>Durante o treinamento, o erro precisa ser </a:t>
            </a:r>
            <a:r>
              <a:rPr lang="pt-BR" dirty="0" err="1"/>
              <a:t>retropropagado</a:t>
            </a:r>
            <a:r>
              <a:rPr lang="pt-BR" dirty="0"/>
              <a:t> por vários instantes de tempo, o que pode fazer com que o </a:t>
            </a:r>
            <a:r>
              <a:rPr lang="pt-BR" b="1" dirty="0">
                <a:solidFill>
                  <a:srgbClr val="7030A0"/>
                </a:solidFill>
              </a:rPr>
              <a:t>gradiente desapareça</a:t>
            </a:r>
            <a:r>
              <a:rPr lang="pt-BR" dirty="0"/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Quanto maior a distância temporal, mais difícil é para a RNN manter a informação relevante.</a:t>
            </a:r>
          </a:p>
          <a:p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tradicionais têm dificuldade em preservar informações por muitos passos temporais.</a:t>
            </a:r>
          </a:p>
          <a:p>
            <a:pPr marL="0" indent="0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dirty="0"/>
              <a:t>Como permitir que a rede preserve </a:t>
            </a:r>
            <a:r>
              <a:rPr lang="pt-BR" b="1" dirty="0">
                <a:solidFill>
                  <a:schemeClr val="accent2"/>
                </a:solidFill>
              </a:rPr>
              <a:t>informações importantes</a:t>
            </a:r>
            <a:r>
              <a:rPr lang="pt-BR" dirty="0"/>
              <a:t> por muito mais tempo?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dirty="0"/>
              <a:t>Para resolver o problema das dependências de longo prazo, causado pelo desaparecimento ou explosão do gradiente, foram propostas arquiteturas com mecanismos de memória: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Long</a:t>
            </a:r>
            <a:r>
              <a:rPr lang="pt-BR" dirty="0"/>
              <a:t> Short-</a:t>
            </a:r>
            <a:r>
              <a:rPr lang="pt-BR" dirty="0" err="1"/>
              <a:t>Term</a:t>
            </a:r>
            <a:r>
              <a:rPr lang="pt-BR" dirty="0"/>
              <a:t> </a:t>
            </a:r>
            <a:r>
              <a:rPr lang="pt-BR" dirty="0" err="1"/>
              <a:t>Memory</a:t>
            </a:r>
            <a:r>
              <a:rPr lang="pt-BR" dirty="0"/>
              <a:t> (LSTM)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Gated</a:t>
            </a:r>
            <a:r>
              <a:rPr lang="pt-BR" dirty="0"/>
              <a:t> </a:t>
            </a:r>
            <a:r>
              <a:rPr lang="pt-BR" dirty="0" err="1"/>
              <a:t>Recurrent</a:t>
            </a:r>
            <a:r>
              <a:rPr lang="pt-BR" dirty="0"/>
              <a:t> Unit (GRU)</a:t>
            </a:r>
          </a:p>
          <a:p>
            <a:r>
              <a:rPr lang="pt-BR" dirty="0"/>
              <a:t>Essas redes criam caminhos ao longo do tempo cujas </a:t>
            </a:r>
            <a:r>
              <a:rPr lang="pt-BR" b="1" dirty="0">
                <a:solidFill>
                  <a:schemeClr val="accent2"/>
                </a:solidFill>
              </a:rPr>
              <a:t>derivadas podem ser controladas</a:t>
            </a:r>
            <a:r>
              <a:rPr lang="pt-BR" dirty="0"/>
              <a:t> para não desaparecer nem explodir.</a:t>
            </a:r>
          </a:p>
          <a:p>
            <a:r>
              <a:rPr lang="pt-BR" dirty="0"/>
              <a:t>Elas utilizam </a:t>
            </a:r>
            <a:r>
              <a:rPr lang="pt-BR" b="1" dirty="0"/>
              <a:t>portas (</a:t>
            </a:r>
            <a:r>
              <a:rPr lang="pt-BR" b="1" i="1" dirty="0" err="1"/>
              <a:t>gates</a:t>
            </a:r>
            <a:r>
              <a:rPr lang="pt-BR" b="1" dirty="0"/>
              <a:t>)</a:t>
            </a:r>
            <a:r>
              <a:rPr lang="pt-BR" dirty="0"/>
              <a:t> para controlar: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informações devem ser armazenadas (o que lembrar).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devem ser esquecidas.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devem ser utilizadas na saída (quando usar uma informação armazenada).</a:t>
            </a:r>
          </a:p>
        </p:txBody>
      </p:sp>
    </p:spTree>
    <p:extLst>
      <p:ext uri="{BB962C8B-B14F-4D97-AF65-F5344CB8AC3E}">
        <p14:creationId xmlns:p14="http://schemas.microsoft.com/office/powerpoint/2010/main" val="3862650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1608"/>
            <a:ext cx="7882811" cy="43102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sequenciais</a:t>
            </a:r>
            <a:r>
              <a:rPr lang="pt-BR" dirty="0"/>
              <a:t>.</a:t>
            </a:r>
          </a:p>
          <a:p>
            <a:r>
              <a:rPr lang="pt-BR" dirty="0"/>
              <a:t>São amplamente utilizadas atualmente.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xmlns="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1608"/>
            <a:ext cx="7882811" cy="43102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/>
              <a:t>Elas </a:t>
            </a:r>
            <a:r>
              <a:rPr lang="pt-BR" b="1" dirty="0">
                <a:solidFill>
                  <a:schemeClr val="accent1"/>
                </a:solidFill>
              </a:rPr>
              <a:t>capturam padrões de longo e curto prazo</a:t>
            </a:r>
            <a:r>
              <a:rPr lang="pt-BR" dirty="0"/>
              <a:t> de uma sequência de dados. 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xmlns="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0380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6035" y="1825624"/>
            <a:ext cx="6235967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que formam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 err="1"/>
              <a:t>Forget</a:t>
            </a:r>
            <a:r>
              <a:rPr lang="pt-BR" b="1" i="1" dirty="0"/>
              <a:t>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das 3 portas.</a:t>
            </a:r>
          </a:p>
          <a:p>
            <a:endParaRPr lang="pt-BR" dirty="0"/>
          </a:p>
          <a:p>
            <a:endParaRPr lang="pt-BR" dirty="0"/>
          </a:p>
        </p:txBody>
      </p:sp>
      <p:grpSp>
        <p:nvGrpSpPr>
          <p:cNvPr id="5" name="Grupo 4"/>
          <p:cNvGrpSpPr/>
          <p:nvPr/>
        </p:nvGrpSpPr>
        <p:grpSpPr>
          <a:xfrm>
            <a:off x="635838" y="2424223"/>
            <a:ext cx="5320197" cy="3228140"/>
            <a:chOff x="697831" y="2222745"/>
            <a:chExt cx="5320197" cy="3228140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xmlns="" id="{E0180B18-707C-9189-F385-D0DD14506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7831" y="2222745"/>
              <a:ext cx="5320197" cy="3228140"/>
            </a:xfrm>
            <a:prstGeom prst="rect">
              <a:avLst/>
            </a:prstGeom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xmlns="" id="{9B1DA347-BBC4-AE49-41A5-6D28C39A35B8}"/>
                </a:ext>
              </a:extLst>
            </p:cNvPr>
            <p:cNvSpPr/>
            <p:nvPr/>
          </p:nvSpPr>
          <p:spPr>
            <a:xfrm>
              <a:off x="1678193" y="2893806"/>
              <a:ext cx="484094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BC6A37ED-D7FF-0A9B-246C-6A1327E19771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xmlns="" id="{D841BE1E-2151-5C15-382E-E4E866E97366}"/>
                </a:ext>
              </a:extLst>
            </p:cNvPr>
            <p:cNvSpPr/>
            <p:nvPr/>
          </p:nvSpPr>
          <p:spPr>
            <a:xfrm>
              <a:off x="2259105" y="3603812"/>
              <a:ext cx="1312433" cy="111584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9FE171E2-98E2-80BF-7246-2FA7AC491881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xmlns="" id="{B5D41BF3-5175-2D98-868F-9949FD2DD01F}"/>
                </a:ext>
              </a:extLst>
            </p:cNvPr>
            <p:cNvSpPr/>
            <p:nvPr/>
          </p:nvSpPr>
          <p:spPr>
            <a:xfrm>
              <a:off x="3668355" y="3162748"/>
              <a:ext cx="1140313" cy="1556907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xmlns="" id="{5690B213-E976-D58E-3664-2CC432FE0432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4854" y="1825624"/>
                <a:ext cx="628714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interno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saída da célula.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4854" y="1825624"/>
                <a:ext cx="6287147" cy="5032375"/>
              </a:xfrm>
              <a:blipFill>
                <a:blip r:embed="rId2"/>
                <a:stretch>
                  <a:fillRect l="-1746" t="-1937" r="-16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5">
            <a:extLst>
              <a:ext uri="{FF2B5EF4-FFF2-40B4-BE49-F238E27FC236}">
                <a16:creationId xmlns:a16="http://schemas.microsoft.com/office/drawing/2014/main" xmlns="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88" y="2312161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8177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741381" y="1825624"/>
                <a:ext cx="64506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p</a:t>
                </a:r>
                <a:r>
                  <a:rPr lang="pt-BR" dirty="0">
                    <a:solidFill>
                      <a:schemeClr val="tx1"/>
                    </a:solidFill>
                  </a:rPr>
                  <a:t>orta de esquecimento (controlada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>
                    <a:solidFill>
                      <a:schemeClr val="tx1"/>
                    </a:solidFill>
                  </a:rPr>
                  <a:t>da </a:t>
                </a:r>
                <a:r>
                  <a:rPr lang="pt-BR" b="1" dirty="0">
                    <a:solidFill>
                      <a:srgbClr val="7030A0"/>
                    </a:solidFill>
                  </a:rPr>
                  <a:t>informação passada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apagadas ou mantidas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A p</a:t>
                </a:r>
                <a:r>
                  <a:rPr lang="pt-BR" dirty="0">
                    <a:solidFill>
                      <a:schemeClr val="tx1"/>
                    </a:solidFill>
                  </a:rPr>
                  <a:t>orta de entrada (controlada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/>
                  <a:t>de </a:t>
                </a:r>
                <a:r>
                  <a:rPr lang="pt-BR" b="1" dirty="0">
                    <a:solidFill>
                      <a:srgbClr val="7030A0"/>
                    </a:solidFill>
                  </a:rPr>
                  <a:t>novas informações (memórias)</a:t>
                </a:r>
                <a:r>
                  <a:rPr lang="pt-BR" dirty="0"/>
                  <a:t>,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adicionadas</a:t>
                </a:r>
                <a:r>
                  <a:rPr lang="pt-BR" dirty="0">
                    <a:solidFill>
                      <a:schemeClr val="tx1"/>
                    </a:solidFill>
                  </a:rPr>
                  <a:t>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A p</a:t>
                </a:r>
                <a:r>
                  <a:rPr lang="pt-BR" dirty="0">
                    <a:solidFill>
                      <a:schemeClr val="tx1"/>
                    </a:solidFill>
                  </a:rPr>
                  <a:t>orta de saída (controlada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>
                    <a:solidFill>
                      <a:schemeClr val="tx1"/>
                    </a:solidFill>
                  </a:rPr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lidas e fornecidas como saída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neste passo de tempo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41381" y="1825624"/>
                <a:ext cx="6450619" cy="5032375"/>
              </a:xfrm>
              <a:blipFill rotWithShape="0">
                <a:blip r:embed="rId3"/>
                <a:stretch>
                  <a:fillRect l="-1701" t="-1937" r="-1985" b="-181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/>
          <p:cNvGrpSpPr/>
          <p:nvPr/>
        </p:nvGrpSpPr>
        <p:grpSpPr>
          <a:xfrm>
            <a:off x="336708" y="2419245"/>
            <a:ext cx="5133277" cy="3164098"/>
            <a:chOff x="584681" y="2224681"/>
            <a:chExt cx="5133277" cy="3164098"/>
          </a:xfrm>
        </p:grpSpPr>
        <p:pic>
          <p:nvPicPr>
            <p:cNvPr id="5" name="Imagem 4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xmlns="" id="{5B538100-869E-9015-E39A-A1340D4D0515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xmlns="" id="{45DD632F-0686-568D-5F9B-260BA967E010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xmlns="" id="{AA82173B-E627-D5F4-C24A-C8EFB8591AF2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B738DFC6-B08A-BCAF-A6DC-558964B054EF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xmlns="" id="{724DFD49-F8A1-B391-4C4D-9D392820E8F5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256C62AF-7481-CE0B-1BB2-B4A93CE957B9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7727670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CA3812A4-BB08-CF51-52EF-8F212B136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85670" y="1825624"/>
                <a:ext cx="710633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portas são uma forma de </a:t>
                </a:r>
                <a:r>
                  <a:rPr lang="pt-BR" b="1" dirty="0">
                    <a:solidFill>
                      <a:srgbClr val="7030A0"/>
                    </a:solidFill>
                  </a:rPr>
                  <a:t>permitir </a:t>
                </a:r>
                <a:r>
                  <a:rPr lang="pt-BR" dirty="0"/>
                  <a:t>a </a:t>
                </a:r>
                <a:r>
                  <a:rPr lang="pt-BR" b="1" dirty="0">
                    <a:solidFill>
                      <a:srgbClr val="00B050"/>
                    </a:solidFill>
                  </a:rPr>
                  <a:t>passagem ou não de informações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Imaginem uma das 3 camadas densas com função de ativação sigmoide da célula LSTM.</a:t>
                </a:r>
              </a:p>
              <a:p>
                <a:r>
                  <a:rPr lang="pt-BR" dirty="0"/>
                  <a:t>A camada gera um vetor,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com elementos assumindo valores entre 0 e 1.</a:t>
                </a:r>
              </a:p>
              <a:p>
                <a:r>
                  <a:rPr lang="pt-BR" dirty="0"/>
                  <a:t>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operação de multiplicação elemento a elemento</a:t>
                </a:r>
                <a:r>
                  <a:rPr lang="pt-BR" dirty="0"/>
                  <a:t> decide o quanto da entrada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passa para a saída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Com isso a porta decide (</a:t>
                </a:r>
                <a:r>
                  <a:rPr lang="pt-BR" b="1" dirty="0">
                    <a:solidFill>
                      <a:srgbClr val="00B050"/>
                    </a:solidFill>
                  </a:rPr>
                  <a:t>aprende</a:t>
                </a:r>
                <a:r>
                  <a:rPr lang="pt-BR" dirty="0"/>
                  <a:t>) o quanto de cada elemento deve ser permitido passar.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CA3812A4-BB08-CF51-52EF-8F212B136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85670" y="1825624"/>
                <a:ext cx="7106331" cy="5032375"/>
              </a:xfrm>
              <a:blipFill rotWithShape="0">
                <a:blip r:embed="rId3"/>
                <a:stretch>
                  <a:fillRect l="-154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xmlns="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4853161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xmlns="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xmlns="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1257650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xmlns="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xmlns="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xmlns="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="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B06E7DB-3A45-270A-379C-5B53CF58B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Uma nova informação é armazenada na célula sempre que um elemento da porta de entrada tender a 1.</a:t>
            </a:r>
          </a:p>
          <a:p>
            <a:r>
              <a:rPr lang="pt-BR" dirty="0"/>
              <a:t>Uma informação de longo prazo é descartada da célula sempre que um elemento da porta de esquecimento tender a 0.</a:t>
            </a:r>
          </a:p>
          <a:p>
            <a:r>
              <a:rPr lang="pt-BR" dirty="0"/>
              <a:t>Uma informação de longo prazo é lida da célula sempre que um elemento da porta de saída tender a 1.</a:t>
            </a:r>
          </a:p>
          <a:p>
            <a:r>
              <a:rPr lang="pt-BR" dirty="0"/>
              <a:t>Em resumo, uma célula LSTM aprende a reconhecer uma informação importante, armazená-la no estado de longo prazo, preservá-la pelo tempo que for </a:t>
            </a:r>
            <a:r>
              <a:rPr lang="pt-BR"/>
              <a:t>necessário e </a:t>
            </a:r>
            <a:r>
              <a:rPr lang="pt-BR" dirty="0"/>
              <a:t>extraí-la sempre que necessário.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A9546B0-E611-8DE0-67E8-AC0E006F9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Dinâmica das portas em uma célula LSTM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EE102919-44DD-475F-D93A-6A393403DF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27410" y="1825624"/>
                <a:ext cx="6743665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sempre </a:t>
                </a:r>
                <a:r>
                  <a:rPr lang="pt-BR" b="1" dirty="0"/>
                  <a:t>1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sempre </a:t>
                </a:r>
                <a:r>
                  <a:rPr lang="pt-BR" b="1" dirty="0"/>
                  <a:t>0</a:t>
                </a:r>
                <a:r>
                  <a:rPr lang="pt-BR" dirty="0"/>
                  <a:t>, então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Ou seja, o estado interno da célula </a:t>
                </a:r>
                <a:r>
                  <a:rPr lang="pt-BR" b="1" dirty="0">
                    <a:solidFill>
                      <a:srgbClr val="00B050"/>
                    </a:solidFill>
                  </a:rPr>
                  <a:t>permanecerá constante para sempre</a:t>
                </a:r>
                <a:r>
                  <a:rPr lang="pt-BR" dirty="0"/>
                  <a:t>, passando inalterado para cada passo de tempo subsequente.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É assim que a memória de longo prazo é mantida.</a:t>
                </a:r>
              </a:p>
              <a:p>
                <a:r>
                  <a:rPr lang="pt-BR" dirty="0"/>
                  <a:t>No entanto, as portas de entrada e de esquecimento dão ao modelo a </a:t>
                </a:r>
                <a:r>
                  <a:rPr lang="pt-BR" b="1" dirty="0">
                    <a:solidFill>
                      <a:srgbClr val="7030A0"/>
                    </a:solidFill>
                  </a:rPr>
                  <a:t>flexibilidade de aprender quando manter ou não</a:t>
                </a:r>
                <a:r>
                  <a:rPr lang="pt-BR" dirty="0"/>
                  <a:t> esse valor inalterado em resposta a entradas subsequentes.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E102919-44DD-475F-D93A-6A393403DF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27410" y="1825624"/>
                <a:ext cx="6743665" cy="5032375"/>
              </a:xfrm>
              <a:blipFill>
                <a:blip r:embed="rId2"/>
                <a:stretch>
                  <a:fillRect l="-1626" t="-2663" r="-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xmlns="" id="{177CA027-CFCC-FCF8-FD37-50222E2DAA65}"/>
              </a:ext>
            </a:extLst>
          </p:cNvPr>
          <p:cNvGrpSpPr/>
          <p:nvPr/>
        </p:nvGrpSpPr>
        <p:grpSpPr>
          <a:xfrm>
            <a:off x="131225" y="2429518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xmlns="" id="{32060EE7-289F-5B75-AB76-73E333DE6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xmlns="" id="{56302AEA-37ED-B440-6221-CCAC9091219A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xmlns="" id="{31C094EB-7488-FB9B-1E9C-03B1C6C799F0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xmlns="" id="{DF703A9D-5199-717A-7731-5781954D7F20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C8FC18C0-A7EF-FB6B-7E12-D72DD3F13622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xmlns="" id="{D6C3AADC-9B70-D706-CC6D-0DC43A127731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6E3A303C-5914-D4DD-FEA0-76EC3BB8CCF4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3821165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BD5BAE2-6A9C-5F01-525B-45AB07730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Dinâmica das portas em uma célula LSTM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D67E614-DAEB-F5E1-30D0-2E4A5E8BE3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63802" y="1825624"/>
                <a:ext cx="6428198" cy="5032375"/>
              </a:xfrm>
            </p:spPr>
            <p:txBody>
              <a:bodyPr/>
              <a:lstStyle/>
              <a:p>
                <a:r>
                  <a:rPr lang="pt-BR" dirty="0"/>
                  <a:t>Sempre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próximo de </a:t>
                </a:r>
                <a:r>
                  <a:rPr lang="pt-BR" b="1" dirty="0"/>
                  <a:t>1</a:t>
                </a:r>
                <a:r>
                  <a:rPr lang="pt-BR" dirty="0"/>
                  <a:t>, permitimos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interno atual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impacte os instantes de tempo subsequentes</a:t>
                </a:r>
                <a:r>
                  <a:rPr lang="pt-BR" dirty="0"/>
                  <a:t> sem inibição via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Por outro lado,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próximo de </a:t>
                </a:r>
                <a:r>
                  <a:rPr lang="pt-BR" b="1" dirty="0"/>
                  <a:t>0</a:t>
                </a:r>
                <a:r>
                  <a:rPr lang="pt-BR" dirty="0"/>
                  <a:t>, impedimos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interno atual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impacte os instantes de tempo subsequentes.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D67E614-DAEB-F5E1-30D0-2E4A5E8BE3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63802" y="1825624"/>
                <a:ext cx="6428198" cy="5032375"/>
              </a:xfrm>
              <a:blipFill>
                <a:blip r:embed="rId2"/>
                <a:stretch>
                  <a:fillRect l="-1708" t="-1937" r="-27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xmlns="" id="{79E4F418-670A-DED4-CF7C-05F26F21CCCB}"/>
              </a:ext>
            </a:extLst>
          </p:cNvPr>
          <p:cNvGrpSpPr/>
          <p:nvPr/>
        </p:nvGrpSpPr>
        <p:grpSpPr>
          <a:xfrm>
            <a:off x="223692" y="2408970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xmlns="" id="{035911D9-7242-6F9F-9F6D-8C568A0F1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xmlns="" id="{89568A9D-6534-78D5-9441-295D48B12F12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xmlns="" id="{3820B776-09FD-3576-AAD3-BD2DD712BEDE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xmlns="" id="{18B8C167-A714-6FEF-845B-8A21565C6038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D7A11C8E-1A5D-C6CB-FB98-99CBC8D5BFFC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xmlns="" id="{694C4716-9A87-CC7F-64FE-06EDC9867093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A6A3A084-0B5C-153E-599D-70B15346BEA3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6205074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982EBEB-341A-ECC3-30F7-25CD742B1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095CE4D4-E809-49EE-AE7E-DDF85AA26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PAREI!!!!!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41100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esquecimento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>
                <a:blip r:embed="rId3"/>
                <a:stretch>
                  <a:fillRect l="-1719" t="-2663" r="-1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xmlns="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Calcular o 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Calcular o vetor de informação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novo vetor de estado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esquece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entrada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8A3055A6-AFBF-722F-46B1-12B03F916C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567" y="2222205"/>
            <a:ext cx="3443433" cy="211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AA5BC753-8840-8C1C-7822-2E7EFD9C53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11" y="2422339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</a:t>
                </a:r>
                <a:r>
                  <a:rPr lang="pt-BR" dirty="0" smtClean="0"/>
                  <a:t>(totalmente ou parcialmente) no </a:t>
                </a:r>
                <a:r>
                  <a:rPr lang="pt-BR" dirty="0"/>
                  <a:t>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</a:t>
                </a:r>
                <a:r>
                  <a:rPr lang="pt-BR" dirty="0" smtClean="0"/>
                  <a:t>de </a:t>
                </a:r>
                <a:r>
                  <a:rPr lang="pt-BR" dirty="0"/>
                  <a:t>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 rotWithShape="0"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</a:t>
                </a:r>
                <a:r>
                  <a:rPr lang="pt-BR" dirty="0" smtClean="0"/>
                  <a:t>do que as </a:t>
                </a:r>
                <a:r>
                  <a:rPr lang="pt-BR" dirty="0" err="1" smtClean="0"/>
                  <a:t>RNNs</a:t>
                </a:r>
                <a:r>
                  <a:rPr lang="pt-BR" dirty="0"/>
                  <a:t> </a:t>
                </a:r>
                <a:r>
                  <a:rPr lang="pt-BR" dirty="0" smtClean="0"/>
                  <a:t>tradicionais.</a:t>
                </a:r>
                <a:endParaRPr lang="pt-BR" dirty="0"/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 smtClean="0"/>
                  <a:t>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</a:t>
                </a:r>
                <a:r>
                  <a:rPr lang="pt-BR" dirty="0" smtClean="0"/>
                  <a:t>GPU.</a:t>
                </a:r>
                <a:endParaRPr lang="pt-BR" dirty="0"/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</a:t>
                </a:r>
                <a:r>
                  <a:rPr lang="en-US" i="1" dirty="0"/>
                  <a:t>Transformers</a:t>
                </a:r>
                <a:r>
                  <a:rPr lang="en-US" dirty="0"/>
                  <a:t> com </a:t>
                </a:r>
                <a:r>
                  <a:rPr lang="en-US" i="1" dirty="0" smtClean="0"/>
                  <a:t>attention.</a:t>
                </a:r>
                <a:endParaRPr lang="en-US" i="1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 smtClean="0"/>
                  <a:t>elhor</a:t>
                </a:r>
                <a:r>
                  <a:rPr lang="pt-BR" dirty="0" smtClean="0"/>
                  <a:t> paralelização </a:t>
                </a:r>
                <a:r>
                  <a:rPr lang="pt-BR" dirty="0"/>
                  <a:t>e capturam de dependências </a:t>
                </a:r>
                <a:r>
                  <a:rPr lang="pt-BR" dirty="0" smtClean="0"/>
                  <a:t>globais.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0CC6145-8996-89DD-159B-03716E375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GRUs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7B9C5FB-79E3-59EE-FDA7-C5472E668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fontAlgn="base"/>
            <a:r>
              <a:rPr lang="en-US" sz="4400" b="1" dirty="0">
                <a:solidFill>
                  <a:srgbClr val="FF0000"/>
                </a:solidFill>
              </a:rPr>
              <a:t>4. Gated Recurrent Units (GRUs)</a:t>
            </a:r>
          </a:p>
          <a:p>
            <a:pPr fontAlgn="base"/>
            <a:r>
              <a:rPr lang="en-US" sz="4400" u="sng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Gated Recurrent Units (GRUs) </a:t>
            </a:r>
            <a:r>
              <a:rPr lang="en-US" sz="4400" dirty="0">
                <a:solidFill>
                  <a:srgbClr val="FF0000"/>
                </a:solidFill>
              </a:rPr>
              <a:t>simplify LSTMs by combining the input and forget gates into a single update gate and streamlining the output mechanism. This design is computationally efficient, often performing similarly to LSTMs and is useful in tasks where simplicity and faster training are beneficial.</a:t>
            </a:r>
          </a:p>
          <a:p>
            <a:endParaRPr lang="en-US" sz="4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858253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4481" y="1825624"/>
            <a:ext cx="6777518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FEE9C48C-C90C-F33E-D12D-C8B6D0A1B5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03" y="3013147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FEBB883C-AF65-D3CE-B74B-0176B4408C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59" y="2601160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6779" y="1230330"/>
            <a:ext cx="11598442" cy="439734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as células LSTM e GRU minimizam o problema do desaparecimento do gradiente e, consequentemente, mantém a memória de longo prazo?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células de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</a:t>
                </a:r>
                <a:r>
                  <a:rPr lang="pt-BR" b="1" dirty="0">
                    <a:solidFill>
                      <a:srgbClr val="7030A0"/>
                    </a:solidFill>
                  </a:rPr>
                  <a:t>caminho não-linear para o gradiente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novo estado da célula passa por uma função </a:t>
                </a:r>
                <a:r>
                  <a:rPr lang="pt-BR" dirty="0" err="1"/>
                  <a:t>tanh</a:t>
                </a:r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Como sabemos, a derivada de </a:t>
                </a:r>
                <a:r>
                  <a:rPr lang="pt-BR" dirty="0" err="1"/>
                  <a:t>tanh</a:t>
                </a:r>
                <a:r>
                  <a:rPr lang="pt-BR" dirty="0"/>
                  <a:t> tem um valor máximo de 1. </a:t>
                </a:r>
              </a:p>
              <a:p>
                <a:r>
                  <a:rPr lang="pt-BR" dirty="0"/>
                  <a:t>O resultado é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gradiente diminui exponencialmente</a:t>
                </a:r>
                <a:r>
                  <a:rPr lang="pt-BR" dirty="0"/>
                  <a:t> à medida que volta no tempo,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impedindo que a rede aprenda dependências de longo prazo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 r="-1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758" y="3177798"/>
            <a:ext cx="4689828" cy="2328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7AA2CFE-86F0-EADA-5F6B-21779E0D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F846F83-8A94-AC30-CA13-A79DBA57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4731FB8-17E6-6325-5B4E-B3F89A3E62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4480" y="1825624"/>
                <a:ext cx="67775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Já as células LSTM e GRU modificam 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por meio de um </a:t>
                </a:r>
                <a:r>
                  <a:rPr lang="pt-BR" b="1" dirty="0">
                    <a:solidFill>
                      <a:srgbClr val="00B050"/>
                    </a:solidFill>
                  </a:rPr>
                  <a:t>caminho controlável</a:t>
                </a:r>
                <a:r>
                  <a:rPr lang="pt-BR" dirty="0">
                    <a:solidFill>
                      <a:schemeClr val="tx1"/>
                    </a:solidFill>
                  </a:rPr>
                  <a:t> (por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</a:t>
                </a:r>
                <a:r>
                  <a:rPr lang="pt-BR" dirty="0"/>
                  <a:t>que contém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apenas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atualizado usando </a:t>
                </a:r>
                <a:r>
                  <a:rPr lang="pt-BR" b="1" dirty="0"/>
                  <a:t>uma</a:t>
                </a:r>
                <a:r>
                  <a:rPr lang="pt-BR" dirty="0"/>
                  <a:t> </a:t>
                </a:r>
                <a:r>
                  <a:rPr lang="pt-BR" b="1" dirty="0"/>
                  <a:t>soma e multiplicações elemento a elemento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rgbClr val="7030A0"/>
                    </a:solidFill>
                  </a:rPr>
                  <a:t>sem passar por transformações não lineares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Esse </a:t>
                </a:r>
                <a:r>
                  <a:rPr lang="pt-BR" b="1" dirty="0">
                    <a:solidFill>
                      <a:srgbClr val="00B050"/>
                    </a:solidFill>
                  </a:rPr>
                  <a:t>caminho controlável</a:t>
                </a:r>
                <a:r>
                  <a:rPr lang="pt-BR" dirty="0"/>
                  <a:t> permite que os gradientes retrocedam no tempo sem necessariamente desaparecer.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731FB8-17E6-6325-5B4E-B3F89A3E62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4480" y="1825624"/>
                <a:ext cx="6777519" cy="5032375"/>
              </a:xfrm>
              <a:blipFill>
                <a:blip r:embed="rId2"/>
                <a:stretch>
                  <a:fillRect l="-161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C6B5183E-9AC1-0221-501F-8EC3C14578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385C46CB-56B7-5DD1-52FD-87B9D73E999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228149"/>
            <a:ext cx="3888430" cy="2393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96956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7AA2CFE-86F0-EADA-5F6B-21779E0D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F846F83-8A94-AC30-CA13-A79DBA57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4731FB8-17E6-6325-5B4E-B3F89A3E62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4480" y="1825624"/>
                <a:ext cx="67775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Assim como nas </a:t>
                </a:r>
                <a:r>
                  <a:rPr lang="pt-BR" dirty="0" err="1"/>
                  <a:t>RNNs</a:t>
                </a:r>
                <a:r>
                  <a:rPr lang="pt-BR" dirty="0"/>
                  <a:t> tradicionais </a:t>
                </a:r>
                <a:r>
                  <a:rPr lang="pt-BR" dirty="0" smtClean="0"/>
                  <a:t>há um </a:t>
                </a:r>
                <a:r>
                  <a:rPr lang="pt-BR" dirty="0"/>
                  <a:t>termo recursivo envolvendo </a:t>
                </a:r>
                <a:r>
                  <a:rPr lang="pt-BR" dirty="0" smtClean="0"/>
                  <a:t>a derivada parcial do </a:t>
                </a:r>
                <a:r>
                  <a:rPr lang="pt-BR" dirty="0"/>
                  <a:t>estado </a:t>
                </a:r>
                <a:r>
                  <a:rPr lang="pt-BR" dirty="0" smtClean="0"/>
                  <a:t>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 smtClean="0"/>
                  <a:t>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 smtClean="0"/>
                  <a:t>nas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 </a:t>
                </a:r>
                <a:r>
                  <a:rPr lang="pt-BR" dirty="0" smtClean="0"/>
                  <a:t>há um </a:t>
                </a:r>
                <a:r>
                  <a:rPr lang="pt-BR" dirty="0"/>
                  <a:t>termo recorrente envolvendo </a:t>
                </a:r>
                <a:r>
                  <a:rPr lang="pt-BR" dirty="0" smtClean="0"/>
                  <a:t>a derivada do </a:t>
                </a:r>
                <a:r>
                  <a:rPr lang="pt-BR" dirty="0"/>
                  <a:t>estado interno da </a:t>
                </a:r>
                <a:r>
                  <a:rPr lang="pt-BR" dirty="0" smtClean="0"/>
                  <a:t>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 smtClean="0"/>
                  <a:t>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 smtClean="0"/>
              </a:p>
              <a:p>
                <a:r>
                  <a:rPr lang="pt-BR" dirty="0" smtClean="0"/>
                  <a:t>Esse termo é função </a:t>
                </a:r>
                <a:r>
                  <a:rPr lang="pt-BR" dirty="0"/>
                  <a:t>dos </a:t>
                </a:r>
                <a:r>
                  <a:rPr lang="pt-BR" dirty="0" smtClean="0"/>
                  <a:t>vetores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 smtClean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04731FB8-17E6-6325-5B4E-B3F89A3E62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4480" y="1825624"/>
                <a:ext cx="6777519" cy="5032375"/>
              </a:xfrm>
              <a:blipFill rotWithShape="0">
                <a:blip r:embed="rId2"/>
                <a:stretch>
                  <a:fillRect l="-1799" t="-1937" r="-1978" b="-290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C6B5183E-9AC1-0221-501F-8EC3C14578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385C46CB-56B7-5DD1-52FD-87B9D73E999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228149"/>
            <a:ext cx="3888430" cy="2393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76497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9143CF0-9F49-DAEC-18D2-77BFC9144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80325E21-C66F-5A89-71B4-232BE482D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4800" b="1" dirty="0">
                <a:solidFill>
                  <a:srgbClr val="FF0000"/>
                </a:solidFill>
              </a:rPr>
              <a:t>Melhorar e integrar dos dois slides na sequência</a:t>
            </a:r>
            <a:endParaRPr lang="en-US" sz="4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965952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27262E0-3E97-671D-6E9F-7D5CF88F7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F5C8D3E-7443-40D0-EFC0-AE612DDB8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mc="http://schemas.openxmlformats.org/markup-compatibility/2006" xmlns:a14="http://schemas.microsoft.com/office/drawing/2010/main" xmlns:a16="http://schemas.microsoft.com/office/drawing/2014/main" xmlns="" id="{77E5298F-0274-DB9E-3AE4-1B71C47C51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3237" y="1825625"/>
            <a:ext cx="6645349" cy="5032376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Assim, a rede </a:t>
            </a:r>
            <a:r>
              <a:rPr lang="pt-BR" b="1" dirty="0">
                <a:solidFill>
                  <a:srgbClr val="00B050"/>
                </a:solidFill>
              </a:rPr>
              <a:t>aprende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dirty="0"/>
              <a:t>a </a:t>
            </a:r>
            <a:r>
              <a:rPr lang="pt-BR" dirty="0" smtClean="0"/>
              <a:t>decidir quando deixar </a:t>
            </a:r>
            <a:r>
              <a:rPr lang="pt-BR" dirty="0"/>
              <a:t>o gradiente desaparecer e quando preservá-lo, ajustando os valores </a:t>
            </a:r>
            <a:r>
              <a:rPr lang="pt-BR" dirty="0" smtClean="0"/>
              <a:t>destes vetores.</a:t>
            </a:r>
            <a:endParaRPr lang="pt-BR" dirty="0"/>
          </a:p>
          <a:p>
            <a:r>
              <a:rPr lang="pt-BR" dirty="0"/>
              <a:t>Portanto, as portas permitem que a rede decida o que guardar e o que descartar.</a:t>
            </a:r>
          </a:p>
          <a:p>
            <a:endParaRPr lang="pt-BR" dirty="0" smtClean="0"/>
          </a:p>
          <a:p>
            <a:pPr marL="0" indent="0">
              <a:buNone/>
            </a:pPr>
            <a:endParaRPr lang="pt-BR" dirty="0" smtClean="0"/>
          </a:p>
          <a:p>
            <a:endParaRPr lang="pt-BR" dirty="0"/>
          </a:p>
          <a:p>
            <a:r>
              <a:rPr lang="pt-BR" dirty="0" smtClean="0">
                <a:solidFill>
                  <a:srgbClr val="FF0000"/>
                </a:solidFill>
              </a:rPr>
              <a:t>Esses </a:t>
            </a:r>
            <a:r>
              <a:rPr lang="pt-BR" dirty="0">
                <a:solidFill>
                  <a:srgbClr val="FF0000"/>
                </a:solidFill>
              </a:rPr>
              <a:t>4 </a:t>
            </a:r>
            <a:r>
              <a:rPr lang="pt-BR" dirty="0" smtClean="0">
                <a:solidFill>
                  <a:srgbClr val="FF0000"/>
                </a:solidFill>
              </a:rPr>
              <a:t>vetores são </a:t>
            </a:r>
            <a:r>
              <a:rPr lang="pt-BR" dirty="0">
                <a:solidFill>
                  <a:srgbClr val="FF0000"/>
                </a:solidFill>
              </a:rPr>
              <a:t>configurações que a rede aprende a definir.</a:t>
            </a:r>
          </a:p>
          <a:p>
            <a:r>
              <a:rPr lang="pt-BR" dirty="0">
                <a:solidFill>
                  <a:srgbClr val="FF0000"/>
                </a:solidFill>
              </a:rPr>
              <a:t>Dessa forma, a rede aprende a decidir quando deixar o gradiente desaparecer e quando preservá-lo, ajustando os valores das portas</a:t>
            </a:r>
            <a:r>
              <a:rPr lang="pt-BR" dirty="0" smtClean="0">
                <a:solidFill>
                  <a:srgbClr val="FF0000"/>
                </a:solidFill>
              </a:rPr>
              <a:t>.</a:t>
            </a:r>
            <a:endParaRPr lang="pt-BR" dirty="0">
              <a:solidFill>
                <a:srgbClr val="FF0000"/>
              </a:solidFill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xmlns="" id="{C6B5183E-9AC1-0221-501F-8EC3C14578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385C46CB-56B7-5DD1-52FD-87B9D73E999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228149"/>
            <a:ext cx="3888430" cy="2393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36372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7897FA8-995E-6E5C-E176-9980DDAF5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C67D99B-33D2-086E-BF94-57B852357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 célula mantém a memória de longo prazo?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33FD33B3-EF62-AB89-F38A-0DAD602CF5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72163" y="1825624"/>
                <a:ext cx="61864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principal vantagem vem da derivada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A derivada de </a:t>
                </a:r>
              </a:p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informação</a:t>
                </a:r>
                <a:r>
                  <a:rPr lang="pt-BR" dirty="0"/>
                  <a:t> pode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fluir ao longo da célula</a:t>
                </a:r>
                <a:r>
                  <a:rPr lang="pt-BR" dirty="0"/>
                  <a:t> de memória </a:t>
                </a:r>
                <a:r>
                  <a:rPr lang="pt-BR" b="1" dirty="0">
                    <a:solidFill>
                      <a:srgbClr val="7030A0"/>
                    </a:solidFill>
                  </a:rPr>
                  <a:t>sem sofrer alterações, mitigando</a:t>
                </a:r>
                <a:r>
                  <a:rPr lang="pt-BR" dirty="0"/>
                  <a:t> </a:t>
                </a:r>
                <a:r>
                  <a:rPr lang="pt-BR"/>
                  <a:t>o problema do </a:t>
                </a:r>
                <a:r>
                  <a:rPr lang="pt-BR" dirty="0"/>
                  <a:t>desaparecimento do gradiente.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FD33B3-EF62-AB89-F38A-0DAD602CF5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72163" y="1825624"/>
                <a:ext cx="6186488" cy="5032375"/>
              </a:xfrm>
              <a:blipFill>
                <a:blip r:embed="rId2"/>
                <a:stretch>
                  <a:fillRect l="-177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505517BC-4356-F71D-48AB-B991F64844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480" y="2513639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53554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351" y="2890341"/>
            <a:ext cx="11291298" cy="107731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para as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xmlns="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xmlns="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xmlns="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xmlns="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xmlns="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xmlns="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vetor para sequência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xmlns="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xmlns="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xmlns="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xmlns="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xmlns="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4942" y="1825624"/>
            <a:ext cx="639301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Rede do tipo sequência para vetor.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correspondentes a uma crítica de um filme.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pontuação de sentimento: 0 [odiou] até 1 [amou]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xmlns="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xmlns="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xmlns="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xmlns="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xmlns="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sequência para sequência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xmlns="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xmlns="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xmlns="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xmlns="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xmlns="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xmlns="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xmlns="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xmlns="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xmlns="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xmlns="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4341BD3-0D3E-6DEB-5946-3B872D362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39BF0EC-97E2-611C-7E0B-006D6C50A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24A5087-1F81-BC00-EC85-E49ADC795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0" y="1825624"/>
            <a:ext cx="6458123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Saída: classe gramatical de cada palavra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Previsão de séries temporais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Entrada: dados de consumo diário de energia de uma residência ao longo dos últimos N dias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Saída: consumo de energia deslocado de um dia no futuro (i.e., N-1 dias atrás até amanhã)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546D22A6-623A-3A53-AB0D-AA63A915A314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0F04D59B-D01A-C064-63E3-A934C9B06E64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6BAF60DC-5533-F7AF-10EF-97B4A0D9742E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0D787C19-D55D-062A-8993-9F3BDE7D0CFB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81C8F54F-37AE-0851-1255-2C402C7B9A81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979428AF-F5F3-DC4C-AA34-E7A63E46722C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BA203DD1-2CF6-1DDE-B1DD-496D64170841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A87BCE60-0271-DC90-5527-BBE682A671E4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2CB26EE5-E8FC-BE89-CFE3-EE2202917209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xmlns="" id="{2D6684CC-F798-C72E-26E9-9CDEF2479856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3DE7201E-33CE-0959-D2D5-B7C43895F5F5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xmlns="" id="{D2559753-208A-D5E7-C823-02D1917A440C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xmlns="" id="{6316211B-1712-8829-AEA6-C2DF1665B708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xmlns="" id="{D7052F20-B3D8-1A26-9511-8F6498789785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2A036A00-5879-D13D-1FF2-C1F2CD766239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xmlns="" id="{D8602EFC-88D4-F298-D3BA-798BF3C78A47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xmlns="" id="{52965A74-FDA5-49EC-7C7D-F5D921B6BC0B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D3366F43-9817-FE8F-AB7E-1BEC1A59BE1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0399464E-DF61-887E-96F5-F2503641F4AE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xmlns="" id="{E5C6F255-66BF-8187-D7FE-3DBC6B1AAAFF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xmlns="" id="{87457A1D-6101-F8F4-7D24-8AB84781E22C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xmlns="" id="{216B3E8F-47DC-A048-59E4-A18211C53B5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xmlns="" id="{76EAC032-39F4-1ED8-9E80-E4721885453B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959413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37" y="1825624"/>
            <a:ext cx="6248363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</a:t>
            </a:r>
            <a:r>
              <a:rPr lang="pt-BR" i="1" dirty="0" err="1"/>
              <a:t>encoder</a:t>
            </a:r>
            <a:r>
              <a:rPr lang="pt-BR" dirty="0"/>
              <a:t>/</a:t>
            </a:r>
            <a:r>
              <a:rPr lang="pt-BR" i="1" dirty="0" err="1"/>
              <a:t>decoder</a:t>
            </a:r>
            <a:r>
              <a:rPr lang="pt-BR" dirty="0"/>
              <a:t>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em uma língua.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 em outra língua.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chatbots</a:t>
            </a: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798C9BC5-15E8-FB86-A2FF-03CF2C96CB13}"/>
              </a:ext>
            </a:extLst>
          </p:cNvPr>
          <p:cNvSpPr/>
          <p:nvPr/>
        </p:nvSpPr>
        <p:spPr>
          <a:xfrm>
            <a:off x="1857517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63577D96-6FE7-F60B-ED7E-0CE5B6852522}"/>
              </a:ext>
            </a:extLst>
          </p:cNvPr>
          <p:cNvSpPr/>
          <p:nvPr/>
        </p:nvSpPr>
        <p:spPr>
          <a:xfrm>
            <a:off x="2647871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C8E04DD1-F3A6-5114-B79F-4BC65F8FEA96}"/>
              </a:ext>
            </a:extLst>
          </p:cNvPr>
          <p:cNvSpPr/>
          <p:nvPr/>
        </p:nvSpPr>
        <p:spPr>
          <a:xfrm>
            <a:off x="3432908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250922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041276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8EBFA63A-7A7F-C301-161E-58CB3778B150}"/>
              </a:ext>
            </a:extLst>
          </p:cNvPr>
          <p:cNvSpPr/>
          <p:nvPr/>
        </p:nvSpPr>
        <p:spPr>
          <a:xfrm>
            <a:off x="4217946" y="187105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xmlns="" id="{C88EB1AD-6975-BCC1-C82D-8CF2AB176F0A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414648" y="295557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xmlns="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A6970E72-E9CD-203F-5D6D-CD2520CE5E69}"/>
              </a:ext>
            </a:extLst>
          </p:cNvPr>
          <p:cNvSpPr/>
          <p:nvPr/>
        </p:nvSpPr>
        <p:spPr>
          <a:xfrm>
            <a:off x="2634579" y="187692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DFFB94F9-963A-CC29-C51E-098A134A1737}"/>
              </a:ext>
            </a:extLst>
          </p:cNvPr>
          <p:cNvSpPr/>
          <p:nvPr/>
        </p:nvSpPr>
        <p:spPr>
          <a:xfrm>
            <a:off x="3419617" y="187105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xmlns="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xmlns="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xmlns="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831282" y="296144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xmlns="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3616320" y="2955575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F078DBB0-1AC8-EAEA-D2B3-81EBA1BC73AB}"/>
              </a:ext>
            </a:extLst>
          </p:cNvPr>
          <p:cNvSpPr/>
          <p:nvPr/>
        </p:nvSpPr>
        <p:spPr>
          <a:xfrm>
            <a:off x="268836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7B7F1159-D526-3036-9F30-22158503DAFC}"/>
              </a:ext>
            </a:extLst>
          </p:cNvPr>
          <p:cNvSpPr/>
          <p:nvPr/>
        </p:nvSpPr>
        <p:spPr>
          <a:xfrm>
            <a:off x="1059190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xmlns="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662241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xmlns="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1452595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xmlns="" id="{5D3FFC8E-6BAF-6DF7-526E-C081A5A48F93}"/>
              </a:ext>
            </a:extLst>
          </p:cNvPr>
          <p:cNvSpPr/>
          <p:nvPr/>
        </p:nvSpPr>
        <p:spPr>
          <a:xfrm>
            <a:off x="264847" y="499580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xmlns="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461550" y="4513521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xmlns="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xmlns="" id="{61795796-1CB2-CAB5-F67E-063C07C2A635}"/>
              </a:ext>
            </a:extLst>
          </p:cNvPr>
          <p:cNvSpPr/>
          <p:nvPr/>
        </p:nvSpPr>
        <p:spPr>
          <a:xfrm>
            <a:off x="1059190" y="5025933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xmlns="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xmlns="" id="{C5443291-1F22-B419-C44A-99E58D94E756}"/>
              </a:ext>
            </a:extLst>
          </p:cNvPr>
          <p:cNvSpPr/>
          <p:nvPr/>
        </p:nvSpPr>
        <p:spPr>
          <a:xfrm>
            <a:off x="1857516" y="4986946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xmlns="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xmlns="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1255893" y="4513521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xmlns="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2054219" y="4513521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9">
            <a:extLst>
              <a:ext uri="{FF2B5EF4-FFF2-40B4-BE49-F238E27FC236}">
                <a16:creationId xmlns:a16="http://schemas.microsoft.com/office/drawing/2014/main" xmlns="" id="{26BA397E-5740-263D-B08B-906451E582EA}"/>
              </a:ext>
            </a:extLst>
          </p:cNvPr>
          <p:cNvSpPr/>
          <p:nvPr/>
        </p:nvSpPr>
        <p:spPr>
          <a:xfrm>
            <a:off x="4216969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20">
            <a:extLst>
              <a:ext uri="{FF2B5EF4-FFF2-40B4-BE49-F238E27FC236}">
                <a16:creationId xmlns:a16="http://schemas.microsoft.com/office/drawing/2014/main" xmlns="" id="{C43B1F7D-195A-9A30-C98A-8808DEDB70A1}"/>
              </a:ext>
            </a:extLst>
          </p:cNvPr>
          <p:cNvCxnSpPr>
            <a:endCxn id="6" idx="1"/>
          </p:cNvCxnSpPr>
          <p:nvPr/>
        </p:nvCxnSpPr>
        <p:spPr>
          <a:xfrm>
            <a:off x="3825337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tangle 7">
            <a:extLst>
              <a:ext uri="{FF2B5EF4-FFF2-40B4-BE49-F238E27FC236}">
                <a16:creationId xmlns:a16="http://schemas.microsoft.com/office/drawing/2014/main" xmlns="" id="{5367D5C5-083B-1D09-F4AB-A3D1E257E22D}"/>
              </a:ext>
            </a:extLst>
          </p:cNvPr>
          <p:cNvSpPr/>
          <p:nvPr/>
        </p:nvSpPr>
        <p:spPr>
          <a:xfrm>
            <a:off x="5013526" y="186518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0">
            <a:extLst>
              <a:ext uri="{FF2B5EF4-FFF2-40B4-BE49-F238E27FC236}">
                <a16:creationId xmlns:a16="http://schemas.microsoft.com/office/drawing/2014/main" xmlns="" id="{885B04B9-C592-171E-A0A1-B25B746EACB5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5210228" y="294970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xmlns="" id="{180B069D-B5EE-8B0D-ED92-AF0BA5BBA75C}"/>
                  </a:ext>
                </a:extLst>
              </p:cNvPr>
              <p:cNvSpPr txBox="1"/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9">
            <a:extLst>
              <a:ext uri="{FF2B5EF4-FFF2-40B4-BE49-F238E27FC236}">
                <a16:creationId xmlns:a16="http://schemas.microsoft.com/office/drawing/2014/main" xmlns="" id="{E10C2FC0-915E-3754-CB58-210B42F3F1CC}"/>
              </a:ext>
            </a:extLst>
          </p:cNvPr>
          <p:cNvSpPr/>
          <p:nvPr/>
        </p:nvSpPr>
        <p:spPr>
          <a:xfrm>
            <a:off x="5012549" y="342313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0">
            <a:extLst>
              <a:ext uri="{FF2B5EF4-FFF2-40B4-BE49-F238E27FC236}">
                <a16:creationId xmlns:a16="http://schemas.microsoft.com/office/drawing/2014/main" xmlns="" id="{BF33D4D8-000A-D268-E3D6-DBE55534455E}"/>
              </a:ext>
            </a:extLst>
          </p:cNvPr>
          <p:cNvCxnSpPr>
            <a:endCxn id="22" idx="1"/>
          </p:cNvCxnSpPr>
          <p:nvPr/>
        </p:nvCxnSpPr>
        <p:spPr>
          <a:xfrm>
            <a:off x="4620917" y="396539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tângulo 25">
            <a:extLst>
              <a:ext uri="{FF2B5EF4-FFF2-40B4-BE49-F238E27FC236}">
                <a16:creationId xmlns:a16="http://schemas.microsoft.com/office/drawing/2014/main" xmlns="" id="{D7B5CC2B-59F2-0721-6F7F-1F194BA7EDF4}"/>
              </a:ext>
            </a:extLst>
          </p:cNvPr>
          <p:cNvSpPr/>
          <p:nvPr/>
        </p:nvSpPr>
        <p:spPr>
          <a:xfrm>
            <a:off x="120378" y="3305301"/>
            <a:ext cx="2219329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xmlns="" id="{CDD4DB52-5878-5675-CF1D-C88AD8295959}"/>
              </a:ext>
            </a:extLst>
          </p:cNvPr>
          <p:cNvSpPr txBox="1"/>
          <p:nvPr/>
        </p:nvSpPr>
        <p:spPr>
          <a:xfrm>
            <a:off x="688821" y="6195027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encoder</a:t>
            </a:r>
            <a:endParaRPr lang="en-US" dirty="0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xmlns="" id="{7F7DEE5D-466F-66F4-91E6-234AF002DE61}"/>
              </a:ext>
            </a:extLst>
          </p:cNvPr>
          <p:cNvSpPr/>
          <p:nvPr/>
        </p:nvSpPr>
        <p:spPr>
          <a:xfrm>
            <a:off x="2464880" y="1734092"/>
            <a:ext cx="3112355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xmlns="" id="{534B0A90-B886-D96D-37BA-01A7E49780CA}"/>
              </a:ext>
            </a:extLst>
          </p:cNvPr>
          <p:cNvSpPr txBox="1"/>
          <p:nvPr/>
        </p:nvSpPr>
        <p:spPr>
          <a:xfrm>
            <a:off x="3542560" y="4632875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decoder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xmlns="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xmlns="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xmlns="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xmlns="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xmlns="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xmlns="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xmlns="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xmlns="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xmlns="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xmlns="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xmlns="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xmlns="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xmlns="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xmlns="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xmlns="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xmlns="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xmlns="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xmlns="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xmlns="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xmlns="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xmlns="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xmlns="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xmlns="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xmlns="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xmlns="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xmlns="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xmlns="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xmlns="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xmlns="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xmlns="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xmlns="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xmlns="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xmlns="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xmlns="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xmlns="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xmlns="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xmlns="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xmlns="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xmlns="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xmlns="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xmlns="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:a16="http://schemas.microsoft.com/office/drawing/2014/main" xmlns="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:a16="http://schemas.microsoft.com/office/drawing/2014/main" xmlns="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:a16="http://schemas.microsoft.com/office/drawing/2014/main" xmlns="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xmlns="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xmlns="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:a16="http://schemas.microsoft.com/office/drawing/2014/main" xmlns="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:a16="http://schemas.microsoft.com/office/drawing/2014/main" xmlns="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:a16="http://schemas.microsoft.com/office/drawing/2014/main" xmlns="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:a16="http://schemas.microsoft.com/office/drawing/2014/main" xmlns="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:a16="http://schemas.microsoft.com/office/drawing/2014/main" xmlns="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:a16="http://schemas.microsoft.com/office/drawing/2014/main" xmlns="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:a16="http://schemas.microsoft.com/office/drawing/2014/main" xmlns="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:a16="http://schemas.microsoft.com/office/drawing/2014/main" xmlns="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xmlns="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xmlns="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xmlns="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xmlns="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xmlns="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:a16="http://schemas.microsoft.com/office/drawing/2014/main" xmlns="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xmlns="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xmlns="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xmlns="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xmlns="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xmlns="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xmlns="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xmlns="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xmlns="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xmlns="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5556"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xmlns="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xmlns="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xmlns="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xmlns="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xmlns="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xmlns="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xmlns="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xmlns="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xmlns="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xmlns="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xmlns="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xmlns="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xmlns="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xmlns="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xmlns="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xmlns="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xmlns="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xmlns="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6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xmlns="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xmlns="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xmlns="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7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xmlns="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xmlns="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xmlns="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xmlns="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xmlns="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xmlns="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xmlns="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xmlns="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xmlns="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2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xmlns="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xmlns="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xmlns="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xmlns="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21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xmlns="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xmlns="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xmlns="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xmlns="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xmlns="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xmlns="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xmlns="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xmlns="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xmlns="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7038FDD0-F92D-0792-1189-9D15218C870B}"/>
                </a:ext>
              </a:extLst>
            </p:cNvPr>
            <p:cNvSpPr txBox="1"/>
            <p:nvPr/>
          </p:nvSpPr>
          <p:spPr>
            <a:xfrm>
              <a:off x="2259911" y="3843004"/>
              <a:ext cx="1218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desenrolando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xmlns="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xmlns="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xmlns="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xmlns="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xmlns="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3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xmlns="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xmlns="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xmlns="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xmlns="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xmlns="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xmlns="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xmlns="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xmlns="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xmlns="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xmlns="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xmlns="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xmlns="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xmlns="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xmlns="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xmlns="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xmlns="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xmlns="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xmlns="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xmlns="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xmlns="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xmlns="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xmlns="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xmlns="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xmlns="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xmlns="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xmlns="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xmlns="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xmlns="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xmlns="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xmlns="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xmlns="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xmlns="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xmlns="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xmlns="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xmlns="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xmlns="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xmlns="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xmlns="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xmlns="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xmlns="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xmlns="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xmlns="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xmlns="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xmlns="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xmlns="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xmlns="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xmlns="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xmlns="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xmlns="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xmlns="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xmlns="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xmlns="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xmlns="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xmlns="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xmlns="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xmlns="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xmlns="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xmlns="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xmlns="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xmlns="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xmlns="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xmlns="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xmlns="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xmlns="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xmlns="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xmlns="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xmlns="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xmlns="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xmlns="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xmlns="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xmlns="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xmlns="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xmlns="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xmlns="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xmlns="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xmlns="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xmlns="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xmlns="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xmlns="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xmlns="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xmlns="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xmlns="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xmlns="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xmlns="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xmlns="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xmlns="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xmlns="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xmlns="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xmlns="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xmlns="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xmlns="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xmlns="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xmlns="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xmlns="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xmlns="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xmlns="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xmlns="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xmlns="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xmlns="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xmlns="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xmlns="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xmlns="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xmlns="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xmlns="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xmlns="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xmlns="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xmlns="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xmlns="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xmlns="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xmlns="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xmlns="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xmlns="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+2]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xmlns="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xmlns="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xmlns="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xmlns="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xmlns="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xmlns="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Agrupar 29">
            <a:extLst>
              <a:ext uri="{FF2B5EF4-FFF2-40B4-BE49-F238E27FC236}">
                <a16:creationId xmlns:a16="http://schemas.microsoft.com/office/drawing/2014/main" xmlns="" id="{A0125BEA-E856-3203-44A2-4CB6E4673641}"/>
              </a:ext>
            </a:extLst>
          </p:cNvPr>
          <p:cNvGrpSpPr/>
          <p:nvPr/>
        </p:nvGrpSpPr>
        <p:grpSpPr>
          <a:xfrm>
            <a:off x="260912" y="1662798"/>
            <a:ext cx="4435239" cy="2809250"/>
            <a:chOff x="260912" y="1662798"/>
            <a:chExt cx="4435239" cy="280925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F843DECB-C956-D955-D499-DD22189CE5D6}"/>
                </a:ext>
              </a:extLst>
            </p:cNvPr>
            <p:cNvSpPr/>
            <p:nvPr/>
          </p:nvSpPr>
          <p:spPr>
            <a:xfrm>
              <a:off x="948207" y="216915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xmlns="" id="{7C21CDDD-60F4-254E-D0B1-DD9880058CAE}"/>
                </a:ext>
              </a:extLst>
            </p:cNvPr>
            <p:cNvSpPr/>
            <p:nvPr/>
          </p:nvSpPr>
          <p:spPr>
            <a:xfrm>
              <a:off x="2095472" y="28727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xmlns="" id="{E01C2A5B-A164-6913-FA94-CA99DB0244FA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rot="5400000" flipH="1" flipV="1">
              <a:off x="1289550" y="3229045"/>
              <a:ext cx="1140399" cy="114636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xmlns="" id="{396F9498-A53F-5856-A31E-72DF09B3702B}"/>
                </a:ext>
              </a:extLst>
            </p:cNvPr>
            <p:cNvCxnSpPr>
              <a:cxnSpLocks/>
              <a:stCxn id="40" idx="0"/>
            </p:cNvCxnSpPr>
            <p:nvPr/>
          </p:nvCxnSpPr>
          <p:spPr>
            <a:xfrm rot="5400000" flipH="1" flipV="1">
              <a:off x="3275955" y="1600184"/>
              <a:ext cx="429588" cy="211563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xmlns="" id="{466E2E6D-A249-7CAB-4045-844CE9311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5978" y="1773736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xmlns="" id="{B4EFE449-B504-6CD4-C0C2-B0B6CF080A1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44" y="2434828"/>
              <a:ext cx="1199096" cy="1368028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xmlns="" id="{864BEB98-D0A6-8E21-632A-DA567336A9C4}"/>
                    </a:ext>
                  </a:extLst>
                </p:cNvPr>
                <p:cNvSpPr txBox="1"/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xmlns="" id="{23C0A7C0-E234-D21C-25F8-B0FE9763391F}"/>
                    </a:ext>
                  </a:extLst>
                </p:cNvPr>
                <p:cNvSpPr txBox="1"/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xmlns="" id="{5B72E209-48BF-DCE5-F02F-5A30F57B54CA}"/>
                    </a:ext>
                  </a:extLst>
                </p:cNvPr>
                <p:cNvSpPr txBox="1"/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667" r="-15842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xmlns="" id="{0E57B151-E333-76CA-A791-FC163B5574D4}"/>
                    </a:ext>
                  </a:extLst>
                </p:cNvPr>
                <p:cNvSpPr txBox="1"/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xmlns="" id="{348B5B75-FB28-2E80-145D-B7B4D142BE9D}"/>
              </a:ext>
            </a:extLst>
          </p:cNvPr>
          <p:cNvSpPr/>
          <p:nvPr/>
        </p:nvSpPr>
        <p:spPr>
          <a:xfrm>
            <a:off x="4301176" y="2438400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xmlns="" id="{84CE6692-2FDA-8E8D-AB8D-4C22F39EF85B}"/>
                  </a:ext>
                </a:extLst>
              </p:cNvPr>
              <p:cNvSpPr/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4CE6692-2FDA-8E8D-AB8D-4C22F39EF8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xmlns="" id="{6ACD58FC-A360-C11A-7C44-B9487691833B}"/>
                  </a:ext>
                </a:extLst>
              </p:cNvPr>
              <p:cNvSpPr/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ACD58FC-A360-C11A-7C44-B948769183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xmlns="" id="{BE5C8D3A-0A6E-2136-613E-58C2566A481B}"/>
                  </a:ext>
                </a:extLst>
              </p:cNvPr>
              <p:cNvSpPr/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BE5C8D3A-0A6E-2136-613E-58C2566A48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44C478EC-B109-7888-038E-8DBF57461B91}"/>
              </a:ext>
            </a:extLst>
          </p:cNvPr>
          <p:cNvSpPr/>
          <p:nvPr/>
        </p:nvSpPr>
        <p:spPr>
          <a:xfrm>
            <a:off x="5686483" y="3736102"/>
            <a:ext cx="614781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xmlns="" id="{FFC53C9F-10FB-711C-2512-7250BF72FAA1}"/>
              </a:ext>
            </a:extLst>
          </p:cNvPr>
          <p:cNvGrpSpPr/>
          <p:nvPr/>
        </p:nvGrpSpPr>
        <p:grpSpPr>
          <a:xfrm>
            <a:off x="6922167" y="2849398"/>
            <a:ext cx="627482" cy="369332"/>
            <a:chOff x="6108367" y="2910505"/>
            <a:chExt cx="627482" cy="369332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xmlns="" id="{CE50EACA-BDC6-7C2A-E8C3-F5699FD5BCD0}"/>
                </a:ext>
              </a:extLst>
            </p:cNvPr>
            <p:cNvSpPr/>
            <p:nvPr/>
          </p:nvSpPr>
          <p:spPr>
            <a:xfrm>
              <a:off x="6108367" y="2964609"/>
              <a:ext cx="614781" cy="29787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xmlns="" id="{37990D6E-A5C5-CDF4-C0D9-387966509DC6}"/>
                </a:ext>
              </a:extLst>
            </p:cNvPr>
            <p:cNvSpPr txBox="1"/>
            <p:nvPr/>
          </p:nvSpPr>
          <p:spPr>
            <a:xfrm>
              <a:off x="6108701" y="2910505"/>
              <a:ext cx="62714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xmlns="" id="{74B85D8D-87CD-87BC-E833-CE9988D869DD}"/>
              </a:ext>
            </a:extLst>
          </p:cNvPr>
          <p:cNvSpPr/>
          <p:nvPr/>
        </p:nvSpPr>
        <p:spPr>
          <a:xfrm>
            <a:off x="4587935" y="2579263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xmlns="" id="{A878B83A-9006-D2B3-60B8-E2D14A5914D1}"/>
              </a:ext>
            </a:extLst>
          </p:cNvPr>
          <p:cNvCxnSpPr>
            <a:stCxn id="8" idx="0"/>
            <a:endCxn id="17" idx="4"/>
          </p:cNvCxnSpPr>
          <p:nvPr/>
        </p:nvCxnSpPr>
        <p:spPr>
          <a:xfrm flipV="1">
            <a:off x="4724460" y="2852313"/>
            <a:ext cx="0" cy="883789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xmlns="" id="{43F4CC40-6B8A-C2D7-30F9-5E2A663458EB}"/>
              </a:ext>
            </a:extLst>
          </p:cNvPr>
          <p:cNvCxnSpPr>
            <a:cxnSpLocks/>
            <a:endCxn id="11" idx="2"/>
          </p:cNvCxnSpPr>
          <p:nvPr/>
        </p:nvCxnSpPr>
        <p:spPr>
          <a:xfrm rot="5400000" flipH="1" flipV="1">
            <a:off x="5288165" y="3260341"/>
            <a:ext cx="641827" cy="2194687"/>
          </a:xfrm>
          <a:prstGeom prst="bentConnector3">
            <a:avLst>
              <a:gd name="adj1" fmla="val 67289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xmlns="" id="{584D7DD5-AF06-660E-B8AB-56FEBD03D05B}"/>
              </a:ext>
            </a:extLst>
          </p:cNvPr>
          <p:cNvCxnSpPr>
            <a:cxnSpLocks/>
          </p:cNvCxnSpPr>
          <p:nvPr/>
        </p:nvCxnSpPr>
        <p:spPr>
          <a:xfrm>
            <a:off x="47244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xmlns="" id="{76F3A98F-48B9-9CD1-B9F1-E75DD2E8FE3C}"/>
              </a:ext>
            </a:extLst>
          </p:cNvPr>
          <p:cNvCxnSpPr>
            <a:cxnSpLocks/>
          </p:cNvCxnSpPr>
          <p:nvPr/>
        </p:nvCxnSpPr>
        <p:spPr>
          <a:xfrm>
            <a:off x="52832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xmlns="" id="{72E979E6-DCC4-331B-D941-6882D88766DC}"/>
              </a:ext>
            </a:extLst>
          </p:cNvPr>
          <p:cNvCxnSpPr>
            <a:cxnSpLocks/>
          </p:cNvCxnSpPr>
          <p:nvPr/>
        </p:nvCxnSpPr>
        <p:spPr>
          <a:xfrm>
            <a:off x="598811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xmlns="" id="{BCF5E98C-CA06-9023-8D8F-DC58885C84A8}"/>
              </a:ext>
            </a:extLst>
          </p:cNvPr>
          <p:cNvSpPr/>
          <p:nvPr/>
        </p:nvSpPr>
        <p:spPr>
          <a:xfrm>
            <a:off x="5856481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xmlns="" id="{6EAF062E-2592-CB45-36A5-2A33D358D8BF}"/>
              </a:ext>
            </a:extLst>
          </p:cNvPr>
          <p:cNvCxnSpPr>
            <a:cxnSpLocks/>
            <a:stCxn id="12" idx="0"/>
            <a:endCxn id="37" idx="4"/>
          </p:cNvCxnSpPr>
          <p:nvPr/>
        </p:nvCxnSpPr>
        <p:spPr>
          <a:xfrm flipH="1" flipV="1">
            <a:off x="5993006" y="3602002"/>
            <a:ext cx="868" cy="134100"/>
          </a:xfrm>
          <a:prstGeom prst="straightConnector1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xmlns="" id="{52EAE681-2114-E3E3-C3A4-320425997F09}"/>
              </a:ext>
            </a:extLst>
          </p:cNvPr>
          <p:cNvSpPr/>
          <p:nvPr/>
        </p:nvSpPr>
        <p:spPr>
          <a:xfrm>
            <a:off x="5853141" y="2580426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+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xmlns="" id="{D1D65BD3-E604-D135-F107-EC4CC81E93DD}"/>
              </a:ext>
            </a:extLst>
          </p:cNvPr>
          <p:cNvCxnSpPr>
            <a:cxnSpLocks/>
            <a:stCxn id="37" idx="0"/>
            <a:endCxn id="48" idx="4"/>
          </p:cNvCxnSpPr>
          <p:nvPr/>
        </p:nvCxnSpPr>
        <p:spPr>
          <a:xfrm flipH="1" flipV="1">
            <a:off x="5989666" y="2853476"/>
            <a:ext cx="3340" cy="475476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xmlns="" id="{C9DC9C7A-C05F-76B8-966F-44753826D4BF}"/>
              </a:ext>
            </a:extLst>
          </p:cNvPr>
          <p:cNvSpPr/>
          <p:nvPr/>
        </p:nvSpPr>
        <p:spPr>
          <a:xfrm>
            <a:off x="7100175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xmlns="" id="{A822FBB9-C029-EAAD-530F-8A6805EE47F8}"/>
              </a:ext>
            </a:extLst>
          </p:cNvPr>
          <p:cNvCxnSpPr>
            <a:cxnSpLocks/>
          </p:cNvCxnSpPr>
          <p:nvPr/>
        </p:nvCxnSpPr>
        <p:spPr>
          <a:xfrm flipH="1" flipV="1">
            <a:off x="7236075" y="3192538"/>
            <a:ext cx="625" cy="144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xmlns="" id="{6BFA24E6-0E52-669D-D3F8-9864EDC5552B}"/>
              </a:ext>
            </a:extLst>
          </p:cNvPr>
          <p:cNvCxnSpPr>
            <a:cxnSpLocks/>
            <a:endCxn id="17" idx="2"/>
          </p:cNvCxnSpPr>
          <p:nvPr/>
        </p:nvCxnSpPr>
        <p:spPr>
          <a:xfrm flipV="1">
            <a:off x="4012696" y="2715788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xmlns="" id="{0BF0A013-C46F-87B6-A913-AB6006AD99D3}"/>
              </a:ext>
            </a:extLst>
          </p:cNvPr>
          <p:cNvCxnSpPr>
            <a:cxnSpLocks/>
            <a:stCxn id="17" idx="6"/>
            <a:endCxn id="48" idx="2"/>
          </p:cNvCxnSpPr>
          <p:nvPr/>
        </p:nvCxnSpPr>
        <p:spPr>
          <a:xfrm>
            <a:off x="4860985" y="2715788"/>
            <a:ext cx="992156" cy="1163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xmlns="" id="{BBA55220-0A3C-FB05-7E36-C68DDF50F072}"/>
              </a:ext>
            </a:extLst>
          </p:cNvPr>
          <p:cNvCxnSpPr>
            <a:cxnSpLocks/>
          </p:cNvCxnSpPr>
          <p:nvPr/>
        </p:nvCxnSpPr>
        <p:spPr>
          <a:xfrm>
            <a:off x="6126191" y="2715788"/>
            <a:ext cx="1980000" cy="1163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xmlns="" id="{CF73AECF-36D3-CBDF-5806-CA480B4C4499}"/>
              </a:ext>
            </a:extLst>
          </p:cNvPr>
          <p:cNvCxnSpPr>
            <a:cxnSpLocks/>
          </p:cNvCxnSpPr>
          <p:nvPr/>
        </p:nvCxnSpPr>
        <p:spPr>
          <a:xfrm flipH="1" flipV="1">
            <a:off x="7232357" y="2715838"/>
            <a:ext cx="625" cy="180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xmlns="" id="{A0680E3E-2512-6A1A-E3EA-44839A3E0D64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6706422" y="3465477"/>
            <a:ext cx="393753" cy="270625"/>
          </a:xfrm>
          <a:prstGeom prst="bentConnector3">
            <a:avLst>
              <a:gd name="adj1" fmla="val 1620"/>
            </a:avLst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xmlns="" id="{A4015C41-4587-E1BF-7A8F-3DF236C02ABD}"/>
              </a:ext>
            </a:extLst>
          </p:cNvPr>
          <p:cNvCxnSpPr>
            <a:stCxn id="10" idx="0"/>
            <a:endCxn id="37" idx="2"/>
          </p:cNvCxnSpPr>
          <p:nvPr/>
        </p:nvCxnSpPr>
        <p:spPr>
          <a:xfrm rot="5400000" flipH="1" flipV="1">
            <a:off x="5437228" y="3316849"/>
            <a:ext cx="270625" cy="567882"/>
          </a:xfrm>
          <a:prstGeom prst="bentConnector2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xmlns="" id="{089EBFBE-86AF-DCA0-9896-A6D5E6FBA8F6}"/>
              </a:ext>
            </a:extLst>
          </p:cNvPr>
          <p:cNvCxnSpPr>
            <a:cxnSpLocks/>
          </p:cNvCxnSpPr>
          <p:nvPr/>
        </p:nvCxnSpPr>
        <p:spPr>
          <a:xfrm>
            <a:off x="7233694" y="4241954"/>
            <a:ext cx="876634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xmlns="" id="{10EF1A2A-AF97-E7D2-178C-FFE80B3251D1}"/>
              </a:ext>
            </a:extLst>
          </p:cNvPr>
          <p:cNvCxnSpPr>
            <a:cxnSpLocks/>
            <a:endCxn id="52" idx="4"/>
          </p:cNvCxnSpPr>
          <p:nvPr/>
        </p:nvCxnSpPr>
        <p:spPr>
          <a:xfrm flipV="1">
            <a:off x="7236700" y="3602002"/>
            <a:ext cx="0" cy="639952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xmlns="" id="{C0636B7D-2A5C-4392-28D4-DBDF85E54A2A}"/>
              </a:ext>
            </a:extLst>
          </p:cNvPr>
          <p:cNvCxnSpPr>
            <a:cxnSpLocks/>
          </p:cNvCxnSpPr>
          <p:nvPr/>
        </p:nvCxnSpPr>
        <p:spPr>
          <a:xfrm flipV="1">
            <a:off x="7650185" y="2204176"/>
            <a:ext cx="0" cy="468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xmlns="" id="{F7CB8566-5FA8-4AE1-E1A3-37AA355FE51D}"/>
              </a:ext>
            </a:extLst>
          </p:cNvPr>
          <p:cNvCxnSpPr>
            <a:cxnSpLocks/>
          </p:cNvCxnSpPr>
          <p:nvPr/>
        </p:nvCxnSpPr>
        <p:spPr>
          <a:xfrm flipH="1" flipV="1">
            <a:off x="7650185" y="2756590"/>
            <a:ext cx="625" cy="1476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xmlns="" id="{A6D9F0B4-913F-1EED-8A29-810518E05463}"/>
              </a:ext>
            </a:extLst>
          </p:cNvPr>
          <p:cNvSpPr/>
          <p:nvPr/>
        </p:nvSpPr>
        <p:spPr>
          <a:xfrm>
            <a:off x="492094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xmlns="" id="{092FA1F5-FD24-F58C-C0EA-B1FA15F86729}"/>
              </a:ext>
            </a:extLst>
          </p:cNvPr>
          <p:cNvCxnSpPr>
            <a:cxnSpLocks/>
          </p:cNvCxnSpPr>
          <p:nvPr/>
        </p:nvCxnSpPr>
        <p:spPr>
          <a:xfrm>
            <a:off x="4012696" y="2715788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xmlns="" id="{C2AF8E87-6151-A661-474A-AD4443F2A4DC}"/>
              </a:ext>
            </a:extLst>
          </p:cNvPr>
          <p:cNvCxnSpPr>
            <a:cxnSpLocks/>
          </p:cNvCxnSpPr>
          <p:nvPr/>
        </p:nvCxnSpPr>
        <p:spPr>
          <a:xfrm flipV="1">
            <a:off x="3971971" y="4234824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xmlns="" id="{E38F9929-0D9E-7BAE-3976-F3AACAC47318}"/>
              </a:ext>
            </a:extLst>
          </p:cNvPr>
          <p:cNvCxnSpPr>
            <a:cxnSpLocks/>
          </p:cNvCxnSpPr>
          <p:nvPr/>
        </p:nvCxnSpPr>
        <p:spPr>
          <a:xfrm>
            <a:off x="3971971" y="423863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xmlns="" id="{0549E296-9BF6-1073-36A7-44A6BC84E646}"/>
              </a:ext>
            </a:extLst>
          </p:cNvPr>
          <p:cNvSpPr/>
          <p:nvPr/>
        </p:nvSpPr>
        <p:spPr>
          <a:xfrm>
            <a:off x="8083166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xmlns="" id="{3F4FFE22-901A-5ECB-8DD0-DE274D49C1CE}"/>
              </a:ext>
            </a:extLst>
          </p:cNvPr>
          <p:cNvCxnSpPr>
            <a:cxnSpLocks/>
          </p:cNvCxnSpPr>
          <p:nvPr/>
        </p:nvCxnSpPr>
        <p:spPr>
          <a:xfrm>
            <a:off x="11572921" y="424195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xmlns="" id="{63C39462-6C16-B627-F0AA-034DBCEEAFBA}"/>
              </a:ext>
            </a:extLst>
          </p:cNvPr>
          <p:cNvCxnSpPr>
            <a:cxnSpLocks/>
          </p:cNvCxnSpPr>
          <p:nvPr/>
        </p:nvCxnSpPr>
        <p:spPr>
          <a:xfrm>
            <a:off x="11606773" y="2715942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xmlns="" id="{74B7AA29-1794-6E8C-61F5-28A8A04CC1A1}"/>
                  </a:ext>
                </a:extLst>
              </p:cNvPr>
              <p:cNvSpPr txBox="1"/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4B7AA29-1794-6E8C-61F5-28A8A04CC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xmlns="" id="{922EF61C-EF99-D374-EA91-A8D137ADC993}"/>
              </a:ext>
            </a:extLst>
          </p:cNvPr>
          <p:cNvCxnSpPr>
            <a:cxnSpLocks/>
          </p:cNvCxnSpPr>
          <p:nvPr/>
        </p:nvCxnSpPr>
        <p:spPr>
          <a:xfrm flipV="1">
            <a:off x="702412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xmlns="" id="{A2DA2877-36E8-DE52-7D68-11E5A3DA45FF}"/>
              </a:ext>
            </a:extLst>
          </p:cNvPr>
          <p:cNvCxnSpPr>
            <a:cxnSpLocks/>
          </p:cNvCxnSpPr>
          <p:nvPr/>
        </p:nvCxnSpPr>
        <p:spPr>
          <a:xfrm flipV="1">
            <a:off x="8276770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xmlns="" id="{E7D096F0-65EF-76A1-E864-DEFDD7B1DF2E}"/>
              </a:ext>
            </a:extLst>
          </p:cNvPr>
          <p:cNvCxnSpPr>
            <a:cxnSpLocks/>
          </p:cNvCxnSpPr>
          <p:nvPr/>
        </p:nvCxnSpPr>
        <p:spPr>
          <a:xfrm flipV="1">
            <a:off x="11404780" y="2212072"/>
            <a:ext cx="0" cy="273953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xmlns="" id="{43419660-66CC-40DA-03A8-9CA6E7C0AF37}"/>
              </a:ext>
            </a:extLst>
          </p:cNvPr>
          <p:cNvCxnSpPr>
            <a:cxnSpLocks/>
          </p:cNvCxnSpPr>
          <p:nvPr/>
        </p:nvCxnSpPr>
        <p:spPr>
          <a:xfrm flipV="1">
            <a:off x="3693922" y="2204176"/>
            <a:ext cx="0" cy="234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xmlns="" id="{67B8102E-31B3-C3A9-13A3-0364FF9802EB}"/>
                  </a:ext>
                </a:extLst>
              </p:cNvPr>
              <p:cNvSpPr/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B8102E-31B3-C3A9-13A3-0364FF9802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94483E7F-A937-DCD5-593D-9BF0A521317D}"/>
              </a:ext>
            </a:extLst>
          </p:cNvPr>
          <p:cNvSpPr txBox="1"/>
          <p:nvPr/>
        </p:nvSpPr>
        <p:spPr>
          <a:xfrm>
            <a:off x="1991126" y="5592639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sigmoide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xmlns="" id="{A10A206D-DE0F-FE1C-4415-C2DFE8541DE1}"/>
              </a:ext>
            </a:extLst>
          </p:cNvPr>
          <p:cNvSpPr/>
          <p:nvPr/>
        </p:nvSpPr>
        <p:spPr>
          <a:xfrm>
            <a:off x="5608613" y="528852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E601EEF9-98B3-9F64-F85F-07641BA1F0E3}"/>
              </a:ext>
            </a:extLst>
          </p:cNvPr>
          <p:cNvSpPr txBox="1"/>
          <p:nvPr/>
        </p:nvSpPr>
        <p:spPr>
          <a:xfrm>
            <a:off x="5139666" y="5533393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operação</a:t>
            </a:r>
            <a:r>
              <a:rPr lang="en-US" sz="1400" dirty="0"/>
              <a:t> </a:t>
            </a:r>
            <a:r>
              <a:rPr lang="en-US" sz="1400" dirty="0" err="1"/>
              <a:t>pontual</a:t>
            </a:r>
            <a:endParaRPr lang="en-US" sz="14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xmlns="" id="{4CCF47AF-2D48-1D6C-D27B-0CC557A4D3BC}"/>
              </a:ext>
            </a:extLst>
          </p:cNvPr>
          <p:cNvCxnSpPr>
            <a:cxnSpLocks/>
          </p:cNvCxnSpPr>
          <p:nvPr/>
        </p:nvCxnSpPr>
        <p:spPr>
          <a:xfrm>
            <a:off x="6637778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D4D46D6C-FBD0-36BF-A4A0-F0AA4C62BC59}"/>
              </a:ext>
            </a:extLst>
          </p:cNvPr>
          <p:cNvSpPr txBox="1"/>
          <p:nvPr/>
        </p:nvSpPr>
        <p:spPr>
          <a:xfrm>
            <a:off x="6275192" y="5531005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transferência</a:t>
            </a:r>
            <a:r>
              <a:rPr lang="en-US" sz="1400" dirty="0"/>
              <a:t> de </a:t>
            </a:r>
            <a:r>
              <a:rPr lang="en-US" sz="1400" dirty="0" err="1"/>
              <a:t>vetor</a:t>
            </a:r>
            <a:endParaRPr lang="en-US" sz="1400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xmlns="" id="{87FE6DA6-5752-4BD9-4B22-C5A902BD5C6B}"/>
              </a:ext>
            </a:extLst>
          </p:cNvPr>
          <p:cNvCxnSpPr>
            <a:cxnSpLocks/>
          </p:cNvCxnSpPr>
          <p:nvPr/>
        </p:nvCxnSpPr>
        <p:spPr>
          <a:xfrm>
            <a:off x="7871574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xmlns="" id="{4AA379DA-FDF4-4C2E-212F-301E5D1A6625}"/>
              </a:ext>
            </a:extLst>
          </p:cNvPr>
          <p:cNvCxnSpPr/>
          <p:nvPr/>
        </p:nvCxnSpPr>
        <p:spPr>
          <a:xfrm>
            <a:off x="8134689" y="5434573"/>
            <a:ext cx="0" cy="2904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xmlns="" id="{F2C1639E-62C8-EF4F-BC59-06D35F047F64}"/>
              </a:ext>
            </a:extLst>
          </p:cNvPr>
          <p:cNvSpPr txBox="1"/>
          <p:nvPr/>
        </p:nvSpPr>
        <p:spPr>
          <a:xfrm>
            <a:off x="7538311" y="5690289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concatenação</a:t>
            </a:r>
            <a:endParaRPr lang="en-US" sz="14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xmlns="" id="{456BE94A-7B45-0DB7-05F1-86A17C409BD0}"/>
              </a:ext>
            </a:extLst>
          </p:cNvPr>
          <p:cNvCxnSpPr>
            <a:cxnSpLocks/>
          </p:cNvCxnSpPr>
          <p:nvPr/>
        </p:nvCxnSpPr>
        <p:spPr>
          <a:xfrm>
            <a:off x="9030310" y="5689985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xmlns="" id="{0868D48C-258F-30A1-C079-D3E227346BD5}"/>
              </a:ext>
            </a:extLst>
          </p:cNvPr>
          <p:cNvCxnSpPr/>
          <p:nvPr/>
        </p:nvCxnSpPr>
        <p:spPr>
          <a:xfrm>
            <a:off x="9293364" y="5385798"/>
            <a:ext cx="0" cy="290413"/>
          </a:xfrm>
          <a:prstGeom prst="line">
            <a:avLst/>
          </a:prstGeom>
          <a:ln w="190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xmlns="" id="{82CB8A93-557A-5259-EB5A-85D7D4D96AD1}"/>
              </a:ext>
            </a:extLst>
          </p:cNvPr>
          <p:cNvSpPr txBox="1"/>
          <p:nvPr/>
        </p:nvSpPr>
        <p:spPr>
          <a:xfrm>
            <a:off x="8664743" y="5681618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cópia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="" id="{2246AAD0-1376-49ED-6106-0413203680D6}"/>
                  </a:ext>
                </a:extLst>
              </p:cNvPr>
              <p:cNvSpPr txBox="1"/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246AAD0-1376-49ED-6106-041320368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="" id="{679AA4D9-0CBE-CBE0-7232-D2B675E04931}"/>
                  </a:ext>
                </a:extLst>
              </p:cNvPr>
              <p:cNvSpPr txBox="1"/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9AA4D9-0CBE-CBE0-7232-D2B675E04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xmlns="" id="{96FA6F2C-8E33-655A-EAEF-0D0E286BD191}"/>
                  </a:ext>
                </a:extLst>
              </p:cNvPr>
              <p:cNvSpPr txBox="1"/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6FA6F2C-8E33-655A-EAEF-0D0E286BD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xmlns="" id="{2E911784-46DC-FD4B-8F99-C5D6064602E6}"/>
                  </a:ext>
                </a:extLst>
              </p:cNvPr>
              <p:cNvSpPr txBox="1"/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E911784-46DC-FD4B-8F99-C5D606460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xmlns="" id="{5276B13D-7144-BE36-299F-CE78D79813D4}"/>
                  </a:ext>
                </a:extLst>
              </p:cNvPr>
              <p:cNvSpPr txBox="1"/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5276B13D-7144-BE36-299F-CE78D7981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xmlns="" id="{8A9D5604-42D8-94B0-F0FA-40F8A5FE0687}"/>
              </a:ext>
            </a:extLst>
          </p:cNvPr>
          <p:cNvSpPr/>
          <p:nvPr/>
        </p:nvSpPr>
        <p:spPr>
          <a:xfrm>
            <a:off x="4263911" y="5283385"/>
            <a:ext cx="588587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 err="1">
                <a:solidFill>
                  <a:schemeClr val="tx1"/>
                </a:solidFill>
              </a:rPr>
              <a:t>tanh</a:t>
            </a: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xmlns="" id="{36895CF3-782C-C5FB-0D92-D28EF588D039}"/>
              </a:ext>
            </a:extLst>
          </p:cNvPr>
          <p:cNvSpPr txBox="1"/>
          <p:nvPr/>
        </p:nvSpPr>
        <p:spPr>
          <a:xfrm>
            <a:off x="3608193" y="5581257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</a:t>
            </a:r>
            <a:r>
              <a:rPr lang="pt-BR" sz="1400" dirty="0" err="1"/>
              <a:t>tanh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1975628" y="1834844"/>
            <a:ext cx="7884560" cy="4250019"/>
            <a:chOff x="1975628" y="1834844"/>
            <a:chExt cx="7884560" cy="4250019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xmlns="" id="{62617247-07D2-6657-99D1-398FE3BE06C0}"/>
                </a:ext>
              </a:extLst>
            </p:cNvPr>
            <p:cNvGrpSpPr/>
            <p:nvPr/>
          </p:nvGrpSpPr>
          <p:grpSpPr>
            <a:xfrm>
              <a:off x="3489806" y="1834844"/>
              <a:ext cx="5319746" cy="3227138"/>
              <a:chOff x="3489806" y="1834844"/>
              <a:chExt cx="5319746" cy="3227138"/>
            </a:xfrm>
          </p:grpSpPr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xmlns="" id="{F9B84FA2-83D7-7AD8-9610-5A415E5EE1A1}"/>
                  </a:ext>
                </a:extLst>
              </p:cNvPr>
              <p:cNvSpPr/>
              <p:nvPr/>
            </p:nvSpPr>
            <p:spPr>
              <a:xfrm>
                <a:off x="4301176" y="2438400"/>
                <a:ext cx="3522024" cy="1981200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xmlns="" id="{62E9A632-1F8F-BB2C-9A7A-07DEA62B46A1}"/>
                      </a:ext>
                    </a:extLst>
                  </p:cNvPr>
                  <p:cNvSpPr/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62E9A632-1F8F-BB2C-9A7A-07DEA62B46A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xmlns="" id="{9B13C382-E365-0604-E2B1-4396795DE5DD}"/>
                      </a:ext>
                    </a:extLst>
                  </p:cNvPr>
                  <p:cNvSpPr/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13C382-E365-0604-E2B1-4396795DE5D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xmlns="" id="{28298EA5-A736-9895-9469-3658052D65D0}"/>
                      </a:ext>
                    </a:extLst>
                  </p:cNvPr>
                  <p:cNvSpPr/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28298EA5-A736-9895-9469-3658052D65D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xmlns="" id="{FE2E3973-7BB3-5423-9E41-4A439D4AD2FA}"/>
                  </a:ext>
                </a:extLst>
              </p:cNvPr>
              <p:cNvSpPr/>
              <p:nvPr/>
            </p:nvSpPr>
            <p:spPr>
              <a:xfrm>
                <a:off x="5686483" y="3736102"/>
                <a:ext cx="614781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xmlns="" id="{357EC369-9B76-A27D-EDC3-890F0716751F}"/>
                  </a:ext>
                </a:extLst>
              </p:cNvPr>
              <p:cNvGrpSpPr/>
              <p:nvPr/>
            </p:nvGrpSpPr>
            <p:grpSpPr>
              <a:xfrm>
                <a:off x="6922167" y="2849398"/>
                <a:ext cx="627482" cy="369332"/>
                <a:chOff x="6108367" y="2910505"/>
                <a:chExt cx="627482" cy="369332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xmlns="" id="{1105FA2D-CACC-93FD-8147-BCE771CE8357}"/>
                    </a:ext>
                  </a:extLst>
                </p:cNvPr>
                <p:cNvSpPr/>
                <p:nvPr/>
              </p:nvSpPr>
              <p:spPr>
                <a:xfrm>
                  <a:off x="6108367" y="2964609"/>
                  <a:ext cx="614781" cy="297873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50" dirty="0"/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xmlns="" id="{007EE48F-7B86-5BD2-1F8C-469594A636F0}"/>
                    </a:ext>
                  </a:extLst>
                </p:cNvPr>
                <p:cNvSpPr txBox="1"/>
                <p:nvPr/>
              </p:nvSpPr>
              <p:spPr>
                <a:xfrm>
                  <a:off x="6108701" y="2910505"/>
                  <a:ext cx="6271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dirty="0" err="1">
                      <a:solidFill>
                        <a:schemeClr val="tx1"/>
                      </a:solidFill>
                    </a:rPr>
                    <a:t>tanh</a:t>
                  </a:r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xmlns="" id="{734FE972-9F06-C11C-3F53-9D4666EC5095}"/>
                  </a:ext>
                </a:extLst>
              </p:cNvPr>
              <p:cNvSpPr/>
              <p:nvPr/>
            </p:nvSpPr>
            <p:spPr>
              <a:xfrm>
                <a:off x="4587935" y="2579263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xmlns="" id="{EA318A7D-6AD1-A164-9144-BD5F28A4E7B7}"/>
                  </a:ext>
                </a:extLst>
              </p:cNvPr>
              <p:cNvCxnSpPr>
                <a:stCxn id="8" idx="0"/>
                <a:endCxn id="17" idx="4"/>
              </p:cNvCxnSpPr>
              <p:nvPr/>
            </p:nvCxnSpPr>
            <p:spPr>
              <a:xfrm flipV="1">
                <a:off x="4724460" y="2852313"/>
                <a:ext cx="0" cy="883789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Connector: Elbow 29">
                <a:extLst>
                  <a:ext uri="{FF2B5EF4-FFF2-40B4-BE49-F238E27FC236}">
                    <a16:creationId xmlns:a16="http://schemas.microsoft.com/office/drawing/2014/main" xmlns="" id="{AE5B4441-DF89-25A1-3560-8E5404670E96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 flipV="1">
                <a:off x="4031369" y="4036770"/>
                <a:ext cx="2675053" cy="214575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xmlns="" id="{0093E439-25EF-02C4-D9C2-A1FE29C3AD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244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xmlns="" id="{A60E907D-7CA5-2C6C-E31F-2F003AE9D0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832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xmlns="" id="{137E1A15-7B2A-4277-FFA1-74355E9235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8811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xmlns="" id="{D93AEA26-EC0B-1E3E-D68C-6CE9227A173D}"/>
                  </a:ext>
                </a:extLst>
              </p:cNvPr>
              <p:cNvSpPr/>
              <p:nvPr/>
            </p:nvSpPr>
            <p:spPr>
              <a:xfrm>
                <a:off x="5856481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xmlns="" id="{461F8C01-4628-007D-8EE8-08D26131E8B9}"/>
                  </a:ext>
                </a:extLst>
              </p:cNvPr>
              <p:cNvCxnSpPr>
                <a:cxnSpLocks/>
                <a:stCxn id="12" idx="0"/>
                <a:endCxn id="37" idx="4"/>
              </p:cNvCxnSpPr>
              <p:nvPr/>
            </p:nvCxnSpPr>
            <p:spPr>
              <a:xfrm flipH="1" flipV="1">
                <a:off x="5993006" y="3602002"/>
                <a:ext cx="868" cy="1341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xmlns="" id="{F5D0673A-6CCA-67DE-BB0A-0EAB5B641853}"/>
                  </a:ext>
                </a:extLst>
              </p:cNvPr>
              <p:cNvSpPr/>
              <p:nvPr/>
            </p:nvSpPr>
            <p:spPr>
              <a:xfrm>
                <a:off x="5853141" y="2580426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+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xmlns="" id="{34707AEE-8AB6-332F-D775-5D47B6EAB570}"/>
                  </a:ext>
                </a:extLst>
              </p:cNvPr>
              <p:cNvCxnSpPr>
                <a:cxnSpLocks/>
                <a:stCxn id="37" idx="0"/>
                <a:endCxn id="48" idx="4"/>
              </p:cNvCxnSpPr>
              <p:nvPr/>
            </p:nvCxnSpPr>
            <p:spPr>
              <a:xfrm flipH="1" flipV="1">
                <a:off x="5989666" y="2853476"/>
                <a:ext cx="3340" cy="475476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xmlns="" id="{E3FDEDCE-1E3B-8147-4D13-A242E9C2B33E}"/>
                  </a:ext>
                </a:extLst>
              </p:cNvPr>
              <p:cNvSpPr/>
              <p:nvPr/>
            </p:nvSpPr>
            <p:spPr>
              <a:xfrm>
                <a:off x="7100175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xmlns="" id="{06E60737-7998-C245-9FB1-6B1755A8F20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6075" y="3192538"/>
                <a:ext cx="625" cy="144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xmlns="" id="{FE690B6A-0885-819C-6118-6C7D093B193B}"/>
                  </a:ext>
                </a:extLst>
              </p:cNvPr>
              <p:cNvCxnSpPr>
                <a:cxnSpLocks/>
                <a:endCxn id="17" idx="2"/>
              </p:cNvCxnSpPr>
              <p:nvPr/>
            </p:nvCxnSpPr>
            <p:spPr>
              <a:xfrm flipV="1">
                <a:off x="4012696" y="2715788"/>
                <a:ext cx="575239" cy="168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xmlns="" id="{4E0DA3A1-C433-12FD-E043-1BB3EB5D0076}"/>
                  </a:ext>
                </a:extLst>
              </p:cNvPr>
              <p:cNvCxnSpPr>
                <a:cxnSpLocks/>
                <a:stCxn id="17" idx="6"/>
                <a:endCxn id="48" idx="2"/>
              </p:cNvCxnSpPr>
              <p:nvPr/>
            </p:nvCxnSpPr>
            <p:spPr>
              <a:xfrm>
                <a:off x="4860985" y="2715788"/>
                <a:ext cx="992156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xmlns="" id="{A63A645C-4CC1-5896-32E8-305EA54E21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26191" y="2715788"/>
                <a:ext cx="1980000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xmlns="" id="{C7FF5E71-FB7D-9609-3FC5-AD13B5F1C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2357" y="2715838"/>
                <a:ext cx="625" cy="180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Connector: Elbow 77">
                <a:extLst>
                  <a:ext uri="{FF2B5EF4-FFF2-40B4-BE49-F238E27FC236}">
                    <a16:creationId xmlns:a16="http://schemas.microsoft.com/office/drawing/2014/main" xmlns="" id="{942AD4B1-3DFB-E8BA-0218-D9E850190EBC}"/>
                  </a:ext>
                </a:extLst>
              </p:cNvPr>
              <p:cNvCxnSpPr>
                <a:cxnSpLocks/>
                <a:endCxn id="52" idx="2"/>
              </p:cNvCxnSpPr>
              <p:nvPr/>
            </p:nvCxnSpPr>
            <p:spPr>
              <a:xfrm flipV="1">
                <a:off x="6706422" y="3465477"/>
                <a:ext cx="393753" cy="270625"/>
              </a:xfrm>
              <a:prstGeom prst="bentConnector3">
                <a:avLst>
                  <a:gd name="adj1" fmla="val 1620"/>
                </a:avLst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Connector: Elbow 82">
                <a:extLst>
                  <a:ext uri="{FF2B5EF4-FFF2-40B4-BE49-F238E27FC236}">
                    <a16:creationId xmlns:a16="http://schemas.microsoft.com/office/drawing/2014/main" xmlns="" id="{4D8692E4-6CA5-D2CA-A76D-73771408476E}"/>
                  </a:ext>
                </a:extLst>
              </p:cNvPr>
              <p:cNvCxnSpPr>
                <a:stCxn id="10" idx="0"/>
                <a:endCxn id="37" idx="2"/>
              </p:cNvCxnSpPr>
              <p:nvPr/>
            </p:nvCxnSpPr>
            <p:spPr>
              <a:xfrm rot="5400000" flipH="1" flipV="1">
                <a:off x="5437228" y="3316849"/>
                <a:ext cx="270625" cy="567882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xmlns="" id="{9FE0230A-FA48-1674-EE72-563556A3AD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33694" y="4241954"/>
                <a:ext cx="876634" cy="0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xmlns="" id="{DD806146-5F28-31BB-C91D-206A9C7C1949}"/>
                  </a:ext>
                </a:extLst>
              </p:cNvPr>
              <p:cNvCxnSpPr>
                <a:cxnSpLocks/>
                <a:endCxn id="52" idx="4"/>
              </p:cNvCxnSpPr>
              <p:nvPr/>
            </p:nvCxnSpPr>
            <p:spPr>
              <a:xfrm flipV="1">
                <a:off x="7236700" y="3602002"/>
                <a:ext cx="0" cy="639952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" name="Straight Arrow Connector 92">
                <a:extLst>
                  <a:ext uri="{FF2B5EF4-FFF2-40B4-BE49-F238E27FC236}">
                    <a16:creationId xmlns:a16="http://schemas.microsoft.com/office/drawing/2014/main" xmlns="" id="{97AFC188-C5E0-E364-C3F7-EF901703C4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50185" y="2204176"/>
                <a:ext cx="0" cy="4680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xmlns="" id="{5C32825B-E0C6-9CDA-AFFC-FEF61AC5A1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650185" y="2756590"/>
                <a:ext cx="625" cy="1476000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xmlns="" id="{CE32A260-F120-9DD1-2C21-2F72B830F80E}"/>
                      </a:ext>
                    </a:extLst>
                  </p:cNvPr>
                  <p:cNvSpPr txBox="1"/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E32A260-F120-9DD1-2C21-2F72B830F8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8169" r="-563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xmlns="" id="{CB757A62-58FF-F46D-A7A5-BC95B2F299AF}"/>
                      </a:ext>
                    </a:extLst>
                  </p:cNvPr>
                  <p:cNvSpPr txBox="1"/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CB757A62-58FF-F46D-A7A5-BC95B2F299A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xmlns="" id="{B53DAB36-7F1E-A38E-607F-E5656744709C}"/>
                      </a:ext>
                    </a:extLst>
                  </p:cNvPr>
                  <p:cNvSpPr txBox="1"/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B53DAB36-7F1E-A38E-607F-E565674470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xmlns="" id="{D5B871EC-42BA-BC5E-43FA-B2D29508EEFD}"/>
                      </a:ext>
                    </a:extLst>
                  </p:cNvPr>
                  <p:cNvSpPr txBox="1"/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5B871EC-42BA-BC5E-43FA-B2D29508EE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xmlns="" id="{B05700EA-ADF6-1501-A886-A487A7F4F0DF}"/>
                      </a:ext>
                    </a:extLst>
                  </p:cNvPr>
                  <p:cNvSpPr txBox="1"/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05700EA-ADF6-1501-A886-A487A7F4F0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xmlns="" id="{174094E0-AD46-6D7F-26FE-DF8481A5AC18}"/>
                  </a:ext>
                </a:extLst>
              </p:cNvPr>
              <p:cNvCxnSpPr/>
              <p:nvPr/>
            </p:nvCxnSpPr>
            <p:spPr>
              <a:xfrm>
                <a:off x="4558205" y="4251345"/>
                <a:ext cx="0" cy="492105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xmlns="" id="{BABCE601-1CC7-DA51-8E3E-DB40B8174F54}"/>
                      </a:ext>
                    </a:extLst>
                  </p:cNvPr>
                  <p:cNvSpPr txBox="1"/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BABCE601-1CC7-DA51-8E3E-DB40B8174F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Rectangle 1">
                  <a:extLst>
                    <a:ext uri="{FF2B5EF4-FFF2-40B4-BE49-F238E27FC236}">
                      <a16:creationId xmlns:a16="http://schemas.microsoft.com/office/drawing/2014/main" xmlns="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Rectangle 1">
                  <a:extLst>
                    <a:ext uri="{FF2B5EF4-FFF2-40B4-BE49-F238E27FC236}">
                      <a16:creationId xmlns:a16="http://schemas.microsoft.com/office/drawing/2014/main" xmlns:a14="http://schemas.microsoft.com/office/drawing/2010/main" xmlns="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TextBox 2">
              <a:extLst>
                <a:ext uri="{FF2B5EF4-FFF2-40B4-BE49-F238E27FC236}">
                  <a16:creationId xmlns:a16="http://schemas.microsoft.com/office/drawing/2014/main" xmlns="" id="{94483E7F-A937-DCD5-593D-9BF0A521317D}"/>
                </a:ext>
              </a:extLst>
            </p:cNvPr>
            <p:cNvSpPr txBox="1"/>
            <p:nvPr/>
          </p:nvSpPr>
          <p:spPr>
            <a:xfrm>
              <a:off x="1975628" y="5561643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4" name="Oval 3">
              <a:extLst>
                <a:ext uri="{FF2B5EF4-FFF2-40B4-BE49-F238E27FC236}">
                  <a16:creationId xmlns:a16="http://schemas.microsoft.com/office/drawing/2014/main" xmlns="" id="{A10A206D-DE0F-FE1C-4415-C2DFE8541DE1}"/>
                </a:ext>
              </a:extLst>
            </p:cNvPr>
            <p:cNvSpPr/>
            <p:nvPr/>
          </p:nvSpPr>
          <p:spPr>
            <a:xfrm>
              <a:off x="5593115" y="52575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TextBox 5">
              <a:extLst>
                <a:ext uri="{FF2B5EF4-FFF2-40B4-BE49-F238E27FC236}">
                  <a16:creationId xmlns:a16="http://schemas.microsoft.com/office/drawing/2014/main" xmlns="" id="{E601EEF9-98B3-9F64-F85F-07641BA1F0E3}"/>
                </a:ext>
              </a:extLst>
            </p:cNvPr>
            <p:cNvSpPr txBox="1"/>
            <p:nvPr/>
          </p:nvSpPr>
          <p:spPr>
            <a:xfrm>
              <a:off x="5124168" y="5502397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46" name="Straight Connector 8">
              <a:extLst>
                <a:ext uri="{FF2B5EF4-FFF2-40B4-BE49-F238E27FC236}">
                  <a16:creationId xmlns:a16="http://schemas.microsoft.com/office/drawing/2014/main" xmlns="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22280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TextBox 13">
              <a:extLst>
                <a:ext uri="{FF2B5EF4-FFF2-40B4-BE49-F238E27FC236}">
                  <a16:creationId xmlns:a16="http://schemas.microsoft.com/office/drawing/2014/main" xmlns="" id="{D4D46D6C-FBD0-36BF-A4A0-F0AA4C62BC59}"/>
                </a:ext>
              </a:extLst>
            </p:cNvPr>
            <p:cNvSpPr txBox="1"/>
            <p:nvPr/>
          </p:nvSpPr>
          <p:spPr>
            <a:xfrm>
              <a:off x="6259694" y="5500009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51" name="Straight Connector 17">
              <a:extLst>
                <a:ext uri="{FF2B5EF4-FFF2-40B4-BE49-F238E27FC236}">
                  <a16:creationId xmlns:a16="http://schemas.microsoft.com/office/drawing/2014/main" xmlns="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56076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Connector 20">
              <a:extLst>
                <a:ext uri="{FF2B5EF4-FFF2-40B4-BE49-F238E27FC236}">
                  <a16:creationId xmlns:a16="http://schemas.microsoft.com/office/drawing/2014/main" xmlns="" id="{4AA379DA-FDF4-4C2E-212F-301E5D1A6625}"/>
                </a:ext>
              </a:extLst>
            </p:cNvPr>
            <p:cNvCxnSpPr/>
            <p:nvPr/>
          </p:nvCxnSpPr>
          <p:spPr>
            <a:xfrm>
              <a:off x="8119191" y="5403577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21">
              <a:extLst>
                <a:ext uri="{FF2B5EF4-FFF2-40B4-BE49-F238E27FC236}">
                  <a16:creationId xmlns:a16="http://schemas.microsoft.com/office/drawing/2014/main" xmlns="" id="{F2C1639E-62C8-EF4F-BC59-06D35F047F64}"/>
                </a:ext>
              </a:extLst>
            </p:cNvPr>
            <p:cNvSpPr txBox="1"/>
            <p:nvPr/>
          </p:nvSpPr>
          <p:spPr>
            <a:xfrm>
              <a:off x="7522813" y="5659293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xmlns="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14812" y="5658989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Connector 23">
              <a:extLst>
                <a:ext uri="{FF2B5EF4-FFF2-40B4-BE49-F238E27FC236}">
                  <a16:creationId xmlns:a16="http://schemas.microsoft.com/office/drawing/2014/main" xmlns="" id="{0868D48C-258F-30A1-C079-D3E227346BD5}"/>
                </a:ext>
              </a:extLst>
            </p:cNvPr>
            <p:cNvCxnSpPr/>
            <p:nvPr/>
          </p:nvCxnSpPr>
          <p:spPr>
            <a:xfrm>
              <a:off x="9277866" y="5354802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4">
              <a:extLst>
                <a:ext uri="{FF2B5EF4-FFF2-40B4-BE49-F238E27FC236}">
                  <a16:creationId xmlns:a16="http://schemas.microsoft.com/office/drawing/2014/main" xmlns="" id="{82CB8A93-557A-5259-EB5A-85D7D4D96AD1}"/>
                </a:ext>
              </a:extLst>
            </p:cNvPr>
            <p:cNvSpPr txBox="1"/>
            <p:nvPr/>
          </p:nvSpPr>
          <p:spPr>
            <a:xfrm>
              <a:off x="8649245" y="5650622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p:sp>
          <p:nvSpPr>
            <p:cNvPr id="59" name="Rectangle 37">
              <a:extLst>
                <a:ext uri="{FF2B5EF4-FFF2-40B4-BE49-F238E27FC236}">
                  <a16:creationId xmlns:a16="http://schemas.microsoft.com/office/drawing/2014/main" xmlns="" id="{8A9D5604-42D8-94B0-F0FA-40F8A5FE0687}"/>
                </a:ext>
              </a:extLst>
            </p:cNvPr>
            <p:cNvSpPr/>
            <p:nvPr/>
          </p:nvSpPr>
          <p:spPr>
            <a:xfrm>
              <a:off x="4248413" y="5252389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60" name="TextBox 39">
              <a:extLst>
                <a:ext uri="{FF2B5EF4-FFF2-40B4-BE49-F238E27FC236}">
                  <a16:creationId xmlns:a16="http://schemas.microsoft.com/office/drawing/2014/main" xmlns="" id="{36895CF3-782C-C5FB-0D92-D28EF588D039}"/>
                </a:ext>
              </a:extLst>
            </p:cNvPr>
            <p:cNvSpPr txBox="1"/>
            <p:nvPr/>
          </p:nvSpPr>
          <p:spPr>
            <a:xfrm>
              <a:off x="3592695" y="5550261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xmlns="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xmlns="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xmlns="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xmlns="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xmlns="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3197032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xmlns="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xmlns="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xmlns="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xmlns="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xmlns="" id="{45231D62-9346-C19A-B2D8-2171CAAC4060}"/>
              </a:ext>
            </a:extLst>
          </p:cNvPr>
          <p:cNvGrpSpPr/>
          <p:nvPr/>
        </p:nvGrpSpPr>
        <p:grpSpPr>
          <a:xfrm>
            <a:off x="510827" y="2688275"/>
            <a:ext cx="1832394" cy="1751496"/>
            <a:chOff x="510827" y="2688275"/>
            <a:chExt cx="1832394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xmlns="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xmlns="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xmlns="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xmlns="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xmlns="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xmlns="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xmlns="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xmlns="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xmlns="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xmlns="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xmlns="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xmlns="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xmlns="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xmlns="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xmlns="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xmlns="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xmlns="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xmlns="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xmlns="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xmlns="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xmlns="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xmlns="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xmlns="" id="{1E6693AB-9080-966C-4D58-2EA6DBD07FBC}"/>
              </a:ext>
            </a:extLst>
          </p:cNvPr>
          <p:cNvGrpSpPr/>
          <p:nvPr/>
        </p:nvGrpSpPr>
        <p:grpSpPr>
          <a:xfrm>
            <a:off x="506345" y="1849548"/>
            <a:ext cx="5133274" cy="3158904"/>
            <a:chOff x="3387954" y="1841814"/>
            <a:chExt cx="5133274" cy="3158904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xmlns="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5063158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xmlns="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xmlns="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xmlns="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xmlns="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xmlns="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xmlns="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xmlns="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xmlns="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xmlns="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xmlns="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xmlns="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xmlns="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xmlns="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xmlns="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xmlns="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xmlns="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xmlns="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xmlns="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xmlns="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xmlns="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xmlns="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xmlns="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xmlns="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xmlns="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xmlns="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xmlns="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xmlns="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xmlns="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xmlns="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xmlns="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xmlns="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xmlns="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xmlns="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xmlns="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xmlns="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xmlns="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xmlns="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xmlns="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xmlns="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xmlns="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xmlns="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xmlns="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xmlns="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xmlns="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xmlns="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xmlns="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xmlns="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xmlns="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xmlns="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xmlns="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xmlns="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xmlns="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xmlns="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xmlns="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xmlns="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xmlns="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xmlns="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xmlns="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xmlns="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xmlns="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xmlns="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xmlns="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xmlns="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xmlns="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xmlns="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xmlns="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xmlns="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11329</TotalTime>
  <Words>4674</Words>
  <Application>Microsoft Office PowerPoint</Application>
  <PresentationFormat>Widescreen</PresentationFormat>
  <Paragraphs>1027</Paragraphs>
  <Slides>99</Slides>
  <Notes>56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99</vt:i4>
      </vt:variant>
    </vt:vector>
  </HeadingPairs>
  <TitlesOfParts>
    <vt:vector size="106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(ou célula) recorrente</vt:lpstr>
      <vt:lpstr>Neurônio recorrente</vt:lpstr>
      <vt:lpstr>Neurônio recorrente</vt:lpstr>
      <vt:lpstr>Atualização do estado e geração da saída</vt:lpstr>
      <vt:lpstr>Atualização do estado e geração da saída</vt:lpstr>
      <vt:lpstr>Desenrolando uma RNN</vt:lpstr>
      <vt:lpstr>Desenrolando uma RNN</vt:lpstr>
      <vt:lpstr>Desenrolando uma RNN</vt:lpstr>
      <vt:lpstr>Desenrolando uma RNN</vt:lpstr>
      <vt:lpstr>Desenrolando uma RNN</vt:lpstr>
      <vt:lpstr>Treinando uma RNN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Backpropagation Through Time (BPTT)</vt:lpstr>
      <vt:lpstr>Backpropagation Through Time (BPTT)</vt:lpstr>
      <vt:lpstr>Desaparecimento e explosão do gradiente</vt:lpstr>
      <vt:lpstr>Como mitigar esses problemas?</vt:lpstr>
      <vt:lpstr>Backpropagation Through Time (BPTT)</vt:lpstr>
      <vt:lpstr>Backpropagation Through Time (BPTT)</vt:lpstr>
      <vt:lpstr>Por que o BPTT truncado funciona?</vt:lpstr>
      <vt:lpstr>Por que não usar funções de ativação ReLU?</vt:lpstr>
      <vt:lpstr>Apresentação do PowerPoint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Long-short term memory (LSTM)</vt:lpstr>
      <vt:lpstr>Long-short term memory (LSTM)</vt:lpstr>
      <vt:lpstr>Como as portas funcionam?</vt:lpstr>
      <vt:lpstr>Como as portas funcionam?</vt:lpstr>
      <vt:lpstr>Dinâmica das portas em uma célula LSTM</vt:lpstr>
      <vt:lpstr>Dinâmica das portas em uma célula LSTM</vt:lpstr>
      <vt:lpstr>Apresentação do PowerPoint</vt:lpstr>
      <vt:lpstr>Porta de esquecimento</vt:lpstr>
      <vt:lpstr>Porta de entrada</vt:lpstr>
      <vt:lpstr>Atualização do estado da célula</vt:lpstr>
      <vt:lpstr>Porta de saída</vt:lpstr>
      <vt:lpstr>Long-short term memory (LSTM)</vt:lpstr>
      <vt:lpstr>Principais desvantagens de LSTMs</vt:lpstr>
      <vt:lpstr>GRUs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Desaparecimento do gradiente</vt:lpstr>
      <vt:lpstr>Como a célula mantém a memória de longo prazo?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2147</cp:revision>
  <dcterms:created xsi:type="dcterms:W3CDTF">2020-01-20T13:50:05Z</dcterms:created>
  <dcterms:modified xsi:type="dcterms:W3CDTF">2026-05-18T00:20:59Z</dcterms:modified>
</cp:coreProperties>
</file>