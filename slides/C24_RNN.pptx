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7"/>
  </p:notesMasterIdLst>
  <p:handoutMasterIdLst>
    <p:handoutMasterId r:id="rId88"/>
  </p:handoutMasterIdLst>
  <p:sldIdLst>
    <p:sldId id="256" r:id="rId2"/>
    <p:sldId id="315" r:id="rId3"/>
    <p:sldId id="308" r:id="rId4"/>
    <p:sldId id="316" r:id="rId5"/>
    <p:sldId id="325" r:id="rId6"/>
    <p:sldId id="605" r:id="rId7"/>
    <p:sldId id="317" r:id="rId8"/>
    <p:sldId id="326" r:id="rId9"/>
    <p:sldId id="606" r:id="rId10"/>
    <p:sldId id="328" r:id="rId11"/>
    <p:sldId id="329" r:id="rId12"/>
    <p:sldId id="607" r:id="rId13"/>
    <p:sldId id="620" r:id="rId14"/>
    <p:sldId id="334" r:id="rId15"/>
    <p:sldId id="622" r:id="rId16"/>
    <p:sldId id="332" r:id="rId17"/>
    <p:sldId id="609" r:id="rId18"/>
    <p:sldId id="610" r:id="rId19"/>
    <p:sldId id="618" r:id="rId20"/>
    <p:sldId id="333" r:id="rId21"/>
    <p:sldId id="336" r:id="rId22"/>
    <p:sldId id="331" r:id="rId23"/>
    <p:sldId id="338" r:id="rId24"/>
    <p:sldId id="611" r:id="rId25"/>
    <p:sldId id="341" r:id="rId26"/>
    <p:sldId id="612" r:id="rId27"/>
    <p:sldId id="342" r:id="rId28"/>
    <p:sldId id="613" r:id="rId29"/>
    <p:sldId id="343" r:id="rId30"/>
    <p:sldId id="361" r:id="rId31"/>
    <p:sldId id="623" r:id="rId32"/>
    <p:sldId id="344" r:id="rId33"/>
    <p:sldId id="345" r:id="rId34"/>
    <p:sldId id="601" r:id="rId35"/>
    <p:sldId id="346" r:id="rId36"/>
    <p:sldId id="347" r:id="rId37"/>
    <p:sldId id="349" r:id="rId38"/>
    <p:sldId id="351" r:id="rId39"/>
    <p:sldId id="352" r:id="rId40"/>
    <p:sldId id="355" r:id="rId41"/>
    <p:sldId id="372" r:id="rId42"/>
    <p:sldId id="616" r:id="rId43"/>
    <p:sldId id="374" r:id="rId44"/>
    <p:sldId id="376" r:id="rId45"/>
    <p:sldId id="614" r:id="rId46"/>
    <p:sldId id="356" r:id="rId47"/>
    <p:sldId id="358" r:id="rId48"/>
    <p:sldId id="362" r:id="rId49"/>
    <p:sldId id="591" r:id="rId50"/>
    <p:sldId id="365" r:id="rId51"/>
    <p:sldId id="366" r:id="rId52"/>
    <p:sldId id="367" r:id="rId53"/>
    <p:sldId id="368" r:id="rId54"/>
    <p:sldId id="371" r:id="rId55"/>
    <p:sldId id="603" r:id="rId56"/>
    <p:sldId id="381" r:id="rId57"/>
    <p:sldId id="377" r:id="rId58"/>
    <p:sldId id="594" r:id="rId59"/>
    <p:sldId id="595" r:id="rId60"/>
    <p:sldId id="596" r:id="rId61"/>
    <p:sldId id="597" r:id="rId62"/>
    <p:sldId id="598" r:id="rId63"/>
    <p:sldId id="599" r:id="rId64"/>
    <p:sldId id="600" r:id="rId65"/>
    <p:sldId id="588" r:id="rId66"/>
    <p:sldId id="589" r:id="rId67"/>
    <p:sldId id="293" r:id="rId68"/>
    <p:sldId id="306" r:id="rId69"/>
    <p:sldId id="335" r:id="rId70"/>
    <p:sldId id="590" r:id="rId71"/>
    <p:sldId id="608" r:id="rId72"/>
    <p:sldId id="330" r:id="rId73"/>
    <p:sldId id="340" r:id="rId74"/>
    <p:sldId id="348" r:id="rId75"/>
    <p:sldId id="350" r:id="rId76"/>
    <p:sldId id="353" r:id="rId77"/>
    <p:sldId id="354" r:id="rId78"/>
    <p:sldId id="373" r:id="rId79"/>
    <p:sldId id="357" r:id="rId80"/>
    <p:sldId id="359" r:id="rId81"/>
    <p:sldId id="592" r:id="rId82"/>
    <p:sldId id="363" r:id="rId83"/>
    <p:sldId id="364" r:id="rId84"/>
    <p:sldId id="369" r:id="rId85"/>
    <p:sldId id="370" r:id="rId8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91985" autoAdjust="0"/>
  </p:normalViewPr>
  <p:slideViewPr>
    <p:cSldViewPr snapToGrid="0">
      <p:cViewPr varScale="1">
        <p:scale>
          <a:sx n="102" d="100"/>
          <a:sy n="102" d="100"/>
        </p:scale>
        <p:origin x="1176" y="9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viewProps" Target="view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handoutMaster" Target="handoutMasters/handoutMaster1.xml"/><Relationship Id="rId9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ableStyles" Target="tableStyle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13/05/2026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FFBCC-42BA-B539-3F67-3279DB21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31CD9-A853-64E7-A5E5-D3ECC95EE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C67AC3-547A-D3B7-E0B8-941A9C450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2FE16-CDFB-CD86-2334-D4869C426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95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9F5C7-5805-714A-EEAF-1B426C0B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6AF7C2-0C10-C2A5-74DF-5E146878E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328DC-EA99-659D-C499-951EB30A4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42C4F-189E-6908-E236-D10BBFF53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533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9CC-EB52-3D3B-C97B-A4100429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70236-CFE9-6513-855E-E0F06E6065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C7DE70-17BD-8B6B-2FC7-2B8628B0F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20820-D23F-935D-8BEE-E1A04620E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178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https://medium.com/@surajprakash612/recurrent-neural-networks-rnns-the-engine-for-sequential-data-fc1d552ebfc1</a:t>
            </a:r>
          </a:p>
          <a:p>
            <a:r>
              <a:rPr lang="pt-BR" dirty="0"/>
              <a:t>[2] https://d2l.ai/chapter_recurrent-neural-networks/bptt.html</a:t>
            </a:r>
          </a:p>
          <a:p>
            <a:r>
              <a:rPr lang="pt-BR" dirty="0"/>
              <a:t>[3]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</a:p>
          <a:p>
            <a:r>
              <a:rPr lang="pt-BR" dirty="0"/>
              <a:t>[2]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864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396832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BABD-C6BA-B242-44D4-0D6C5A374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7738A7-2AEB-8A53-4EB7-BC3FD8863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458E17C-27B6-C886-364B-BADEC2D44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D0D4AB1-9E8B-F207-5580-BB12C93E1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449397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21928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789552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6E6D1-C5A9-5E02-CF49-31B3C4C63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536EFD-EBEE-4772-D65A-6AB582407E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7AC9C5-F488-A6D7-4F15-65AEE652BA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7E4DB-58B1-DD85-186B-2CF37F5738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883710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594373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D3213-0C35-07AC-78F8-52C6D5CDA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EE4CB0-4107-1059-1A28-15E957C15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6654DA-65BA-C1F1-6DD3-9F046560D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4336C-1795-AE8D-9FED-22ABF296F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885035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Relationship Id="rId4" Type="http://schemas.openxmlformats.org/officeDocument/2006/relationships/image" Target="../media/image2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1.png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45.jpeg"/><Relationship Id="rId4" Type="http://schemas.openxmlformats.org/officeDocument/2006/relationships/image" Target="../media/image44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64.png"/><Relationship Id="rId18" Type="http://schemas.openxmlformats.org/officeDocument/2006/relationships/image" Target="../media/image420.png"/><Relationship Id="rId26" Type="http://schemas.openxmlformats.org/officeDocument/2006/relationships/image" Target="../media/image490.png"/><Relationship Id="rId3" Type="http://schemas.openxmlformats.org/officeDocument/2006/relationships/image" Target="../media/image280.png"/><Relationship Id="rId21" Type="http://schemas.openxmlformats.org/officeDocument/2006/relationships/image" Target="../media/image86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85.png"/><Relationship Id="rId25" Type="http://schemas.openxmlformats.org/officeDocument/2006/relationships/image" Target="../media/image480.png"/><Relationship Id="rId2" Type="http://schemas.openxmlformats.org/officeDocument/2006/relationships/image" Target="../media/image270.png"/><Relationship Id="rId16" Type="http://schemas.openxmlformats.org/officeDocument/2006/relationships/image" Target="../media/image400.png"/><Relationship Id="rId20" Type="http://schemas.openxmlformats.org/officeDocument/2006/relationships/image" Target="../media/image440.png"/><Relationship Id="rId29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70.png"/><Relationship Id="rId5" Type="http://schemas.openxmlformats.org/officeDocument/2006/relationships/image" Target="../media/image300.png"/><Relationship Id="rId15" Type="http://schemas.openxmlformats.org/officeDocument/2006/relationships/image" Target="../media/image390.png"/><Relationship Id="rId23" Type="http://schemas.openxmlformats.org/officeDocument/2006/relationships/image" Target="../media/image460.png"/><Relationship Id="rId28" Type="http://schemas.openxmlformats.org/officeDocument/2006/relationships/image" Target="../media/image510.png"/><Relationship Id="rId10" Type="http://schemas.openxmlformats.org/officeDocument/2006/relationships/image" Target="../media/image350.png"/><Relationship Id="rId19" Type="http://schemas.openxmlformats.org/officeDocument/2006/relationships/image" Target="../media/image430.png"/><Relationship Id="rId4" Type="http://schemas.openxmlformats.org/officeDocument/2006/relationships/image" Target="../media/image290.png"/><Relationship Id="rId9" Type="http://schemas.openxmlformats.org/officeDocument/2006/relationships/image" Target="../media/image63.png"/><Relationship Id="rId14" Type="http://schemas.openxmlformats.org/officeDocument/2006/relationships/image" Target="../media/image380.png"/><Relationship Id="rId22" Type="http://schemas.openxmlformats.org/officeDocument/2006/relationships/image" Target="../media/image450.png"/><Relationship Id="rId27" Type="http://schemas.openxmlformats.org/officeDocument/2006/relationships/image" Target="../media/image500.png"/><Relationship Id="rId30" Type="http://schemas.openxmlformats.org/officeDocument/2006/relationships/image" Target="../media/image530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86.png"/><Relationship Id="rId18" Type="http://schemas.openxmlformats.org/officeDocument/2006/relationships/image" Target="../media/image490.png"/><Relationship Id="rId3" Type="http://schemas.openxmlformats.org/officeDocument/2006/relationships/image" Target="../media/image360.png"/><Relationship Id="rId21" Type="http://schemas.openxmlformats.org/officeDocument/2006/relationships/image" Target="../media/image52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80.png"/><Relationship Id="rId2" Type="http://schemas.openxmlformats.org/officeDocument/2006/relationships/image" Target="../media/image350.png"/><Relationship Id="rId16" Type="http://schemas.openxmlformats.org/officeDocument/2006/relationships/image" Target="../media/image470.png"/><Relationship Id="rId20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64.png"/><Relationship Id="rId15" Type="http://schemas.openxmlformats.org/officeDocument/2006/relationships/image" Target="../media/image460.png"/><Relationship Id="rId10" Type="http://schemas.openxmlformats.org/officeDocument/2006/relationships/image" Target="../media/image420.png"/><Relationship Id="rId19" Type="http://schemas.openxmlformats.org/officeDocument/2006/relationships/image" Target="../media/image500.png"/><Relationship Id="rId4" Type="http://schemas.openxmlformats.org/officeDocument/2006/relationships/image" Target="../media/image370.png"/><Relationship Id="rId9" Type="http://schemas.openxmlformats.org/officeDocument/2006/relationships/image" Target="../media/image85.png"/><Relationship Id="rId14" Type="http://schemas.openxmlformats.org/officeDocument/2006/relationships/image" Target="../media/image450.png"/><Relationship Id="rId22" Type="http://schemas.openxmlformats.org/officeDocument/2006/relationships/image" Target="../media/image530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0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0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7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1.png"/><Relationship Id="rId3" Type="http://schemas.openxmlformats.org/officeDocument/2006/relationships/image" Target="../media/image710.png"/><Relationship Id="rId7" Type="http://schemas.openxmlformats.org/officeDocument/2006/relationships/image" Target="../media/image750.png"/><Relationship Id="rId12" Type="http://schemas.openxmlformats.org/officeDocument/2006/relationships/image" Target="../media/image9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1.png"/><Relationship Id="rId11" Type="http://schemas.openxmlformats.org/officeDocument/2006/relationships/image" Target="../media/image95.png"/><Relationship Id="rId5" Type="http://schemas.openxmlformats.org/officeDocument/2006/relationships/image" Target="../media/image730.png"/><Relationship Id="rId10" Type="http://schemas.openxmlformats.org/officeDocument/2006/relationships/image" Target="../media/image941.png"/><Relationship Id="rId4" Type="http://schemas.openxmlformats.org/officeDocument/2006/relationships/image" Target="../media/image720.png"/><Relationship Id="rId9" Type="http://schemas.openxmlformats.org/officeDocument/2006/relationships/image" Target="../media/image932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image" Target="../media/image810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1.png"/><Relationship Id="rId5" Type="http://schemas.openxmlformats.org/officeDocument/2006/relationships/image" Target="../media/image830.png"/><Relationship Id="rId10" Type="http://schemas.openxmlformats.org/officeDocument/2006/relationships/image" Target="../media/image100.png"/><Relationship Id="rId4" Type="http://schemas.openxmlformats.org/officeDocument/2006/relationships/image" Target="../media/image820.png"/><Relationship Id="rId9" Type="http://schemas.openxmlformats.org/officeDocument/2006/relationships/image" Target="../media/image99.png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44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9.png"/><Relationship Id="rId3" Type="http://schemas.openxmlformats.org/officeDocument/2006/relationships/image" Target="../media/image103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que são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4000" b="1" dirty="0"/>
              <a:t>Cada amostra carrega informação das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entradas</a:t>
            </a:r>
            <a:r>
              <a:rPr lang="pt-BR" dirty="0"/>
              <a:t> são tratadas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Isso faz com que elas </a:t>
            </a:r>
            <a:r>
              <a:rPr lang="pt-BR" b="1" dirty="0">
                <a:solidFill>
                  <a:srgbClr val="0070C0"/>
                </a:solidFill>
              </a:rPr>
              <a:t>não capturem dependências temporais entre amostras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27" y="1637413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predefinido?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526" y="2576411"/>
            <a:ext cx="3962400" cy="2354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o histórico de </a:t>
            </a:r>
            <a:r>
              <a:rPr lang="pt-BR" b="1" dirty="0">
                <a:solidFill>
                  <a:srgbClr val="00B050"/>
                </a:solidFill>
              </a:rPr>
              <a:t>das entradas passadas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“telhado”.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Porém, como veremos, um problema das </a:t>
            </a:r>
            <a:r>
              <a:rPr lang="pt-BR" dirty="0" err="1"/>
              <a:t>RNNs</a:t>
            </a:r>
            <a:r>
              <a:rPr lang="pt-BR" dirty="0"/>
              <a:t> é que 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rapidamente</a:t>
            </a:r>
            <a:r>
              <a:rPr lang="pt-BR" dirty="0"/>
              <a:t> ao longo do tempo.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58F59-116C-8F6D-B7AC-0250568F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02BEF-ABFC-2E52-8381-46A90E9EE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1" y="1825624"/>
                <a:ext cx="757705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RNNs</a:t>
                </a:r>
                <a:r>
                  <a:rPr lang="pt-BR" dirty="0"/>
                  <a:t> lidam com as dependências temporais entre amostras mantendo um </a:t>
                </a:r>
                <a:r>
                  <a:rPr lang="pt-BR" b="1" dirty="0">
                    <a:solidFill>
                      <a:srgbClr val="0070C0"/>
                    </a:solidFill>
                  </a:rPr>
                  <a:t>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armazena informações de todos os passos de tempo anteriores da sequência (</a:t>
                </a:r>
                <a:r>
                  <a:rPr lang="pt-BR" b="1" dirty="0">
                    <a:solidFill>
                      <a:srgbClr val="0070C0"/>
                    </a:solidFill>
                  </a:rPr>
                  <a:t>memória</a:t>
                </a:r>
                <a:r>
                  <a:rPr lang="pt-BR" dirty="0"/>
                  <a:t>). </a:t>
                </a:r>
              </a:p>
              <a:p>
                <a:r>
                  <a:rPr lang="pt-BR" dirty="0"/>
                  <a:t>O mecanismo de </a:t>
                </a:r>
                <a:r>
                  <a:rPr lang="pt-BR" b="1" dirty="0">
                    <a:solidFill>
                      <a:srgbClr val="0070C0"/>
                    </a:solidFill>
                  </a:rPr>
                  <a:t>recorrência</a:t>
                </a:r>
                <a:r>
                  <a:rPr lang="pt-BR" dirty="0"/>
                  <a:t> permite que a rede aplique o contexto aprendido a partir de entradas anteriores às etapas atuais e futuras.</a:t>
                </a:r>
              </a:p>
              <a:p>
                <a:r>
                  <a:rPr lang="pt-BR" dirty="0"/>
                  <a:t>Uma célula recorrente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aprende padrões presentes</a:t>
                </a:r>
                <a:r>
                  <a:rPr lang="pt-BR" dirty="0"/>
                  <a:t> nas sequências.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1" y="1825624"/>
                <a:ext cx="7577056" cy="5032375"/>
              </a:xfrm>
              <a:blipFill>
                <a:blip r:embed="rId3"/>
                <a:stretch>
                  <a:fillRect l="-1448" t="-1937" r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9391CBA0-FDD8-1C64-EBF3-4D66D849BE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999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7678" y="1825625"/>
            <a:ext cx="5773687" cy="5032374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Ela omite a maioria das matrizes de pesos, mostrando uma caixa laranja que corresponde a uma camada densa com função de ativação do tipo tangente hiperbólica (</a:t>
            </a:r>
            <a:r>
              <a:rPr lang="pt-BR" dirty="0" err="1"/>
              <a:t>tanh</a:t>
            </a:r>
            <a:r>
              <a:rPr lang="pt-BR" dirty="0"/>
              <a:t>).</a:t>
            </a:r>
          </a:p>
          <a:p>
            <a:r>
              <a:rPr lang="pt-BR" dirty="0"/>
              <a:t>Essa representação é bastante utilizada na literatura.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invés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FCC30CB-CB89-F35B-D92D-21E6B094C0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238" y="2457768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8E223-5A55-598C-6C3A-13F57278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890A9-36F8-D703-4FF3-2ECF4E39F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célula processa uma sequência de entradas um elemento (e.g., uma palavra ou um caractere) de cada vez, executando os seguintes passos em um laço: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a entrada atual da sequência,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o estado oculto do passo de tempo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(sua “memória”).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Combina essas duas entradas para calcular 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 o novo estado oculto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calcular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o passo de tempo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é então passado como memória para o próximo passo de tempo,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  <a:blipFill>
                <a:blip r:embed="rId3"/>
                <a:stretch>
                  <a:fillRect l="-1525" t="-1937" r="-424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id="{8380297D-98CD-60DC-3ED7-95B86C2C0C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40" y="2749999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53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</a:t>
                </a:r>
                <a:r>
                  <a:rPr lang="pt-BR" dirty="0"/>
                  <a:t>.</a:t>
                </a:r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656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</p:spPr>
            <p:txBody>
              <a:bodyPr/>
              <a:lstStyle/>
              <a:p>
                <a:r>
                  <a:rPr lang="pt-BR" dirty="0"/>
                  <a:t>Algumas implementações consideram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 na saída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bias.</a:t>
                </a:r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  <a:blipFill>
                <a:blip r:embed="rId3"/>
                <a:stretch>
                  <a:fillRect l="-1702" t="-1937" r="-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8E2B0E5C-B617-1386-87C2-3A8B717B022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6493" y="1479986"/>
            <a:ext cx="2258313" cy="5231527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1E3BC3FD-1B5F-5A63-997C-3561384F2766}"/>
              </a:ext>
            </a:extLst>
          </p:cNvPr>
          <p:cNvSpPr/>
          <p:nvPr/>
        </p:nvSpPr>
        <p:spPr>
          <a:xfrm>
            <a:off x="2166492" y="2047875"/>
            <a:ext cx="557657" cy="619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09090" y="1825624"/>
            <a:ext cx="4138366" cy="5032375"/>
          </a:xfrm>
        </p:spPr>
        <p:txBody>
          <a:bodyPr>
            <a:normAutofit/>
          </a:bodyPr>
          <a:lstStyle/>
          <a:p>
            <a:r>
              <a:rPr lang="pt-BR" dirty="0"/>
              <a:t>Embora visualizemos a RNN com um laço, é mais fácil entender seu funcionamento </a:t>
            </a:r>
            <a:r>
              <a:rPr lang="pt-BR" b="1" dirty="0">
                <a:solidFill>
                  <a:schemeClr val="accent2"/>
                </a:solidFill>
              </a:rPr>
              <a:t>desenrolando-a</a:t>
            </a:r>
            <a:r>
              <a:rPr lang="pt-BR" dirty="0"/>
              <a:t> ao longo dos passos de tempo.</a:t>
            </a:r>
          </a:p>
          <a:p>
            <a:r>
              <a:rPr lang="pt-BR" dirty="0"/>
              <a:t>Essa visão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mostra claramente o fluxo de informações e a </a:t>
            </a:r>
            <a:r>
              <a:rPr lang="pt-BR" b="1" dirty="0">
                <a:solidFill>
                  <a:srgbClr val="0070C0"/>
                </a:solidFill>
              </a:rPr>
              <a:t>reutilização dos pesos</a:t>
            </a:r>
            <a:r>
              <a:rPr lang="pt-BR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647394D-B8E2-7039-16A8-7702A1CD08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80" y="1825624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040EC-283E-AF0D-98D2-F63FF4265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B01EA-11FE-E505-9C21-2C7DF649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EF629-DAD2-6F9E-E547-E7199A3C8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4910" y="1825624"/>
            <a:ext cx="4387090" cy="5032375"/>
          </a:xfrm>
        </p:spPr>
        <p:txBody>
          <a:bodyPr>
            <a:normAutofit fontScale="92500"/>
          </a:bodyPr>
          <a:lstStyle/>
          <a:p>
            <a:r>
              <a:rPr lang="pt-BR" dirty="0"/>
              <a:t>Isso nos ajuda a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entender como ela processa sequências,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a treinar a rede usando </a:t>
            </a:r>
            <a:r>
              <a:rPr lang="pt-BR" i="1" dirty="0" err="1"/>
              <a:t>backpropagation</a:t>
            </a:r>
            <a:r>
              <a:rPr lang="pt-BR" dirty="0"/>
              <a:t>.</a:t>
            </a:r>
          </a:p>
          <a:p>
            <a:r>
              <a:rPr lang="pt-BR" dirty="0"/>
              <a:t>A RNN </a:t>
            </a:r>
            <a:r>
              <a:rPr lang="pt-BR" b="1" dirty="0">
                <a:solidFill>
                  <a:schemeClr val="accent2"/>
                </a:solidFill>
              </a:rPr>
              <a:t>reutiliza o mesmo conjunto de pesos</a:t>
            </a:r>
            <a:r>
              <a:rPr lang="pt-BR" dirty="0"/>
              <a:t> a cada passo de tempo. </a:t>
            </a:r>
          </a:p>
          <a:p>
            <a:r>
              <a:rPr lang="pt-BR" dirty="0"/>
              <a:t>Esse </a:t>
            </a:r>
            <a:r>
              <a:rPr lang="pt-BR" b="1" dirty="0">
                <a:solidFill>
                  <a:schemeClr val="accent2"/>
                </a:solidFill>
              </a:rPr>
              <a:t>conjunto compartilhado de pesos</a:t>
            </a:r>
            <a:r>
              <a:rPr lang="pt-BR" dirty="0"/>
              <a:t> é o que torna o modelo "</a:t>
            </a:r>
            <a:r>
              <a:rPr lang="pt-BR" b="1" dirty="0">
                <a:solidFill>
                  <a:srgbClr val="00B050"/>
                </a:solidFill>
              </a:rPr>
              <a:t>recorrente</a:t>
            </a:r>
            <a:r>
              <a:rPr lang="pt-BR" dirty="0"/>
              <a:t>" e permite que ele </a:t>
            </a:r>
            <a:r>
              <a:rPr lang="pt-BR" b="1" dirty="0">
                <a:solidFill>
                  <a:srgbClr val="7030A0"/>
                </a:solidFill>
              </a:rPr>
              <a:t>aprenda padrões em sequências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1D00B5F-AE10-DDBA-90FA-2664155E2E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4" y="1965166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9233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6F952-34AF-BA6E-B7BC-56FB84A3F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A4886-E5F5-4A0C-632C-A874615BA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0575" y="1825624"/>
            <a:ext cx="3781425" cy="5032375"/>
          </a:xfrm>
        </p:spPr>
        <p:txBody>
          <a:bodyPr>
            <a:normAutofit/>
          </a:bodyPr>
          <a:lstStyle/>
          <a:p>
            <a:r>
              <a:rPr lang="pt-BR" dirty="0"/>
              <a:t>Uma RNN desenrolada podem ser vista como </a:t>
            </a:r>
            <a:r>
              <a:rPr lang="pt-BR" b="1" dirty="0">
                <a:solidFill>
                  <a:srgbClr val="7030A0"/>
                </a:solidFill>
              </a:rPr>
              <a:t>múltiplas cópias da mesma camada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6C2B3C42-CAFD-00E4-BAE0-A16F954759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383" y="1690688"/>
            <a:ext cx="7911428" cy="4726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106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2F95D-ED92-C388-CC49-D8F09C885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609EE-8280-8794-483C-637881745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1BBBBA-8C71-1CFD-F648-D5836DBC94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420100" y="1825624"/>
                <a:ext cx="37719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mesma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1"/>
                    </a:solidFill>
                  </a:rPr>
                  <a:t>função de ativação</a:t>
                </a:r>
                <a:r>
                  <a:rPr lang="pt-BR" dirty="0"/>
                  <a:t> e o mesmo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conjunto de pesos</a:t>
                </a:r>
                <a:r>
                  <a:rPr lang="pt-BR" dirty="0"/>
                  <a:t> são usados ​​</a:t>
                </a:r>
                <a:r>
                  <a:rPr lang="pt-BR" b="1" dirty="0">
                    <a:solidFill>
                      <a:srgbClr val="7030A0"/>
                    </a:solidFill>
                  </a:rPr>
                  <a:t>em cada passo</a:t>
                </a:r>
                <a:r>
                  <a:rPr lang="pt-BR" dirty="0"/>
                  <a:t> de tempo.</a:t>
                </a:r>
              </a:p>
              <a:p>
                <a:r>
                  <a:rPr lang="pt-BR" dirty="0"/>
                  <a:t>Percebam que 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depende de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e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todos</a:t>
                </a:r>
                <a:r>
                  <a:rPr lang="pt-BR" b="1" dirty="0">
                    <a:solidFill>
                      <a:srgbClr val="00B050"/>
                    </a:solidFill>
                  </a:rPr>
                  <a:t> os seus valores anteriores</a:t>
                </a:r>
                <a:r>
                  <a:rPr lang="pt-BR" dirty="0"/>
                  <a:t> e não apenas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1BBBBA-8C71-1CFD-F648-D5836DBC94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420100" y="1825624"/>
                <a:ext cx="3771900" cy="5032375"/>
              </a:xfrm>
              <a:blipFill>
                <a:blip r:embed="rId2"/>
                <a:stretch>
                  <a:fillRect l="-2908" t="-1937" r="-29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6CC3D6EC-9B36-3830-2344-C39825A414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383" y="1690688"/>
            <a:ext cx="7911428" cy="4726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1077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1620E-F055-A200-7D54-3C89067DA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90F1A-97F6-4A2B-EB59-AE9A21F31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0926" cy="5032376"/>
          </a:xfrm>
        </p:spPr>
        <p:txBody>
          <a:bodyPr/>
          <a:lstStyle/>
          <a:p>
            <a:r>
              <a:rPr lang="pt-BR" dirty="0"/>
              <a:t>Os pesos são atualizados usando o </a:t>
            </a:r>
            <a:r>
              <a:rPr lang="pt-BR" b="1" dirty="0">
                <a:solidFill>
                  <a:srgbClr val="7030A0"/>
                </a:solidFill>
              </a:rPr>
              <a:t>gradiente descendente</a:t>
            </a:r>
            <a:r>
              <a:rPr lang="pt-BR" dirty="0"/>
              <a:t>.</a:t>
            </a:r>
          </a:p>
          <a:p>
            <a:r>
              <a:rPr lang="pt-BR" dirty="0"/>
              <a:t>Uma </a:t>
            </a:r>
            <a:r>
              <a:rPr lang="pt-BR" b="1" dirty="0">
                <a:solidFill>
                  <a:srgbClr val="7030A0"/>
                </a:solidFill>
              </a:rPr>
              <a:t>função de erro</a:t>
            </a:r>
            <a:r>
              <a:rPr lang="pt-BR" dirty="0"/>
              <a:t> (EQM, EC, etc.) é usada para calcular o erro entre as saídas da rede e os rótulos do conjunto de treinamento.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derivada da função de erro</a:t>
            </a:r>
            <a:r>
              <a:rPr lang="pt-BR" dirty="0"/>
              <a:t>, em relação aos pesos da rede, é </a:t>
            </a:r>
            <a:r>
              <a:rPr lang="pt-BR" b="1" dirty="0">
                <a:solidFill>
                  <a:schemeClr val="accent2"/>
                </a:solidFill>
              </a:rPr>
              <a:t>retropropagada</a:t>
            </a:r>
            <a:r>
              <a:rPr lang="pt-BR" dirty="0"/>
              <a:t> através da rede.</a:t>
            </a:r>
          </a:p>
          <a:p>
            <a:r>
              <a:rPr lang="pt-BR" dirty="0"/>
              <a:t>Os pesos são ajustados até que um critério de parada seja atendido: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número máximo de épocas é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função de perda para de diminuir.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1994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6341B-8DD5-B4D0-04B5-B1D29CAF8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6"/>
          </a:xfrm>
        </p:spPr>
        <p:txBody>
          <a:bodyPr>
            <a:normAutofit/>
          </a:bodyPr>
          <a:lstStyle/>
          <a:p>
            <a:r>
              <a:rPr lang="pt-BR" dirty="0"/>
              <a:t>Para treinar a rede, ela é primeiro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e </a:t>
            </a:r>
            <a:r>
              <a:rPr lang="pt-BR" b="1" dirty="0">
                <a:solidFill>
                  <a:srgbClr val="7030A0"/>
                </a:solidFill>
              </a:rPr>
              <a:t>depois aplica-se a retropropagação</a:t>
            </a:r>
            <a:r>
              <a:rPr lang="pt-BR" dirty="0"/>
              <a:t> do erro </a:t>
            </a:r>
            <a:r>
              <a:rPr lang="pt-BR" b="1" dirty="0">
                <a:solidFill>
                  <a:srgbClr val="7030A0"/>
                </a:solidFill>
              </a:rPr>
              <a:t>tradicional</a:t>
            </a:r>
            <a:r>
              <a:rPr lang="pt-BR" dirty="0"/>
              <a:t>.</a:t>
            </a:r>
          </a:p>
          <a:p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referente </a:t>
            </a:r>
            <a:r>
              <a:rPr lang="pt-BR" dirty="0"/>
              <a:t>a um </a:t>
            </a:r>
            <a:r>
              <a:rPr lang="pt-BR" b="1" dirty="0">
                <a:solidFill>
                  <a:schemeClr val="accent2"/>
                </a:solidFill>
              </a:rPr>
              <a:t>intervalo de tempo diferente</a:t>
            </a:r>
            <a:r>
              <a:rPr lang="pt-BR" dirty="0"/>
              <a:t>.</a:t>
            </a:r>
          </a:p>
          <a:p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são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 (camada)</a:t>
            </a:r>
            <a:r>
              <a:rPr lang="pt-BR" dirty="0"/>
              <a:t>.</a:t>
            </a:r>
          </a:p>
          <a:p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</a:t>
            </a:r>
            <a:r>
              <a:rPr lang="pt-BR" dirty="0"/>
              <a:t>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23AD603-5E49-AE24-2071-74753017B5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Esse </a:t>
            </a:r>
            <a:r>
              <a:rPr lang="pt-BR" b="1" dirty="0">
                <a:solidFill>
                  <a:srgbClr val="00B050"/>
                </a:solidFill>
              </a:rPr>
              <a:t>desenrolamento da rede</a:t>
            </a:r>
            <a:r>
              <a:rPr lang="pt-BR" dirty="0"/>
              <a:t> para se aplicar 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</a:t>
            </a:r>
            <a:r>
              <a:rPr lang="pt-BR" b="1" dirty="0">
                <a:solidFill>
                  <a:srgbClr val="00B050"/>
                </a:solidFill>
              </a:rPr>
              <a:t>voltar no tempo</a:t>
            </a:r>
            <a:r>
              <a:rPr lang="pt-BR" dirty="0"/>
              <a:t>”.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D1162C9-8039-1879-F87F-8925166F46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diferença entre a saída da rede e o valor desejado é avaliada por uma função de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ao longo de todos os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pt-BR" b="1" dirty="0">
                    <a:solidFill>
                      <a:srgbClr val="7030A0"/>
                    </a:solidFill>
                  </a:rPr>
                  <a:t> passos de tempo</a:t>
                </a:r>
                <a:endParaRPr lang="pt-BR" b="1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, o </a:t>
                </a:r>
                <a:r>
                  <a:rPr lang="en-US" dirty="0" err="1"/>
                  <a:t>erro</a:t>
                </a:r>
                <a:r>
                  <a:rPr lang="en-US" dirty="0"/>
                  <a:t> total 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média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9026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, </a:t>
                </a:r>
                <a:r>
                  <a:rPr lang="en-US" dirty="0" err="1"/>
                  <a:t>usando</a:t>
                </a:r>
                <a:r>
                  <a:rPr lang="en-US" dirty="0"/>
                  <a:t> a retropropagação (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) para </a:t>
                </a:r>
                <a:r>
                  <a:rPr lang="en-US" dirty="0" err="1"/>
                  <a:t>encontrar</a:t>
                </a:r>
                <a:r>
                  <a:rPr lang="en-US" dirty="0"/>
                  <a:t> o </a:t>
                </a:r>
                <a:r>
                  <a:rPr lang="en-US" dirty="0" err="1"/>
                  <a:t>gradiente</a:t>
                </a:r>
                <a:r>
                  <a:rPr lang="en-US" dirty="0"/>
                  <a:t> com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aos</a:t>
                </a:r>
                <a:r>
                  <a:rPr lang="en-US" dirty="0"/>
                  <a:t> pesos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temos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</a:t>
                </a:r>
                <a:r>
                  <a:rPr lang="pt-BR" b="1" dirty="0">
                    <a:solidFill>
                      <a:srgbClr val="00B050"/>
                    </a:solidFill>
                  </a:rPr>
                  <a:t>somamos as contribuições de cada passo de tempo</a:t>
                </a:r>
                <a:r>
                  <a:rPr lang="pt-BR" dirty="0"/>
                  <a:t> para obter o gradiente.</a:t>
                </a:r>
              </a:p>
              <a:p>
                <a:r>
                  <a:rPr lang="pt-BR" dirty="0"/>
                  <a:t>O primeiro, o segundo e o quarto fatores do produto são fáceis de calcular. </a:t>
                </a:r>
              </a:p>
              <a:p>
                <a:r>
                  <a:rPr lang="pt-BR" dirty="0"/>
                  <a:t>O terceiro é onde as coisas ficam complicadas, já que precisamos </a:t>
                </a:r>
                <a:r>
                  <a:rPr lang="pt-BR" b="1" dirty="0">
                    <a:solidFill>
                      <a:srgbClr val="7030A0"/>
                    </a:solidFill>
                  </a:rPr>
                  <a:t>calcular recursivamente</a:t>
                </a:r>
                <a:r>
                  <a:rPr lang="pt-BR" dirty="0"/>
                  <a:t> o efeito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9026" cy="5032375"/>
              </a:xfrm>
              <a:blipFill rotWithShape="0">
                <a:blip r:embed="rId3"/>
                <a:stretch>
                  <a:fillRect l="-976" t="-1937" r="-17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tângulo 3">
            <a:extLst>
              <a:ext uri="{FF2B5EF4-FFF2-40B4-BE49-F238E27FC236}">
                <a16:creationId xmlns:a16="http://schemas.microsoft.com/office/drawing/2014/main" id="{FAF83994-B4CC-99A0-FA69-B6B7F2E67A3E}"/>
              </a:ext>
            </a:extLst>
          </p:cNvPr>
          <p:cNvSpPr/>
          <p:nvPr/>
        </p:nvSpPr>
        <p:spPr>
          <a:xfrm>
            <a:off x="9634092" y="2676526"/>
            <a:ext cx="862458" cy="10096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consome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uso de memória.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r="-1127" b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</a:t>
            </a:r>
            <a:r>
              <a:rPr lang="pt-BR" b="1" dirty="0">
                <a:solidFill>
                  <a:srgbClr val="FF0000"/>
                </a:solidFill>
              </a:rPr>
              <a:t>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4086D-26FF-58C0-0D8C-43E088D7A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en-US" dirty="0"/>
                  <a:t>Durante o </a:t>
                </a:r>
                <a:r>
                  <a:rPr lang="en-US" dirty="0" err="1"/>
                  <a:t>treinamento</a:t>
                </a:r>
                <a:r>
                  <a:rPr lang="en-US" dirty="0"/>
                  <a:t>, o BPTT </a:t>
                </a:r>
                <a:r>
                  <a:rPr lang="en-US" dirty="0" err="1"/>
                  <a:t>aplica</a:t>
                </a:r>
                <a:r>
                  <a:rPr lang="en-US" dirty="0"/>
                  <a:t> a 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 </a:t>
                </a:r>
                <a:r>
                  <a:rPr lang="en-US" dirty="0" err="1"/>
                  <a:t>ao</a:t>
                </a:r>
                <a:r>
                  <a:rPr lang="en-US" dirty="0"/>
                  <a:t> </a:t>
                </a:r>
                <a:r>
                  <a:rPr lang="en-US" dirty="0" err="1"/>
                  <a:t>longo</a:t>
                </a:r>
                <a:r>
                  <a:rPr lang="en-US" dirty="0"/>
                  <a:t> de </a:t>
                </a:r>
                <a:r>
                  <a:rPr lang="en-US" dirty="0" err="1"/>
                  <a:t>vários</a:t>
                </a:r>
                <a:r>
                  <a:rPr lang="en-US" dirty="0"/>
                  <a:t> </a:t>
                </a:r>
                <a:r>
                  <a:rPr lang="en-US" dirty="0" err="1"/>
                  <a:t>passos</a:t>
                </a:r>
                <a:r>
                  <a:rPr lang="en-US" dirty="0"/>
                  <a:t> no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</m:e>
                          </m:nary>
                        </m:e>
                      </m:d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48887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92EF5-5D0B-5502-FD38-96B86F03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2924175"/>
            <a:ext cx="4738255" cy="16954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600" dirty="0" err="1"/>
              <a:t>RNNs</a:t>
            </a:r>
            <a:r>
              <a:rPr lang="pt-BR" sz="3600" dirty="0"/>
              <a:t> </a:t>
            </a:r>
            <a:r>
              <a:rPr lang="pt-BR" sz="3600" b="1" dirty="0"/>
              <a:t>tradicionais</a:t>
            </a:r>
            <a:r>
              <a:rPr lang="pt-BR" sz="3600" dirty="0"/>
              <a:t> não aprendem dependências longas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FF2536EA-A247-4883-A44D-13F8ECBEF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832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FCFB-336A-8296-6F79-4601798B9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579CB-F7BE-007A-141C-207261894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1398154"/>
            <a:ext cx="4738255" cy="4627130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Quando uma RNN processa uma sequência muito longa, ela se esquece gradualmente das primeiras amostras da sequência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E63707F4-DB83-9062-72ED-B2E6A96EE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2792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se torna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</a:t>
                </a:r>
                <a:r>
                  <a:rPr lang="pt-BR" dirty="0"/>
                  <a:t> ou fica</a:t>
                </a:r>
                <a:r>
                  <a:rPr lang="pt-BR" b="1" dirty="0">
                    <a:solidFill>
                      <a:srgbClr val="7030A0"/>
                    </a:solidFill>
                  </a:rPr>
                  <a:t>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>
                    <a:solidFill>
                      <a:schemeClr val="accent2"/>
                    </a:solidFill>
                  </a:rPr>
                  <a:t>Mantendo o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en-US" dirty="0"/>
                  <a:t>O </a:t>
                </a:r>
                <a:r>
                  <a:rPr lang="en-US" b="1" dirty="0"/>
                  <a:t>TBPTT</a:t>
                </a:r>
                <a:r>
                  <a:rPr lang="en-US" dirty="0"/>
                  <a:t> </a:t>
                </a:r>
                <a:r>
                  <a:rPr lang="en-US" dirty="0" err="1"/>
                  <a:t>ajuda</a:t>
                </a:r>
                <a:r>
                  <a:rPr lang="en-US" dirty="0"/>
                  <a:t> a combater ambos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problemas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2663" b="-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65656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/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</a:t>
                </a:r>
                <a:r>
                  <a:rPr lang="pt-BR" b="1" dirty="0">
                    <a:solidFill>
                      <a:schemeClr val="accent1"/>
                    </a:solidFill>
                  </a:rPr>
                  <a:t>sistemas dinâmicos </a:t>
                </a:r>
                <a:r>
                  <a:rPr lang="pt-BR" dirty="0"/>
                  <a:t>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</a:t>
                </a:r>
                <a:r>
                  <a:rPr lang="pt-BR" b="1" dirty="0">
                    <a:solidFill>
                      <a:schemeClr val="accent1"/>
                    </a:solidFill>
                  </a:rPr>
                  <a:t>causa oscilações ou divergência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 rotWithShape="0"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73690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</a:t>
            </a:r>
            <a:r>
              <a:rPr lang="pt-BR" b="1" dirty="0">
                <a:solidFill>
                  <a:schemeClr val="accent2"/>
                </a:solidFill>
              </a:rPr>
              <a:t>são incapazes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Quando uma RNN processa uma </a:t>
            </a:r>
            <a:r>
              <a:rPr lang="pt-BR" b="1" dirty="0">
                <a:solidFill>
                  <a:srgbClr val="7030A0"/>
                </a:solidFill>
              </a:rPr>
              <a:t>sequência longa</a:t>
            </a:r>
            <a:r>
              <a:rPr lang="pt-BR" dirty="0"/>
              <a:t>, ela </a:t>
            </a:r>
            <a:r>
              <a:rPr lang="pt-BR" b="1" dirty="0">
                <a:solidFill>
                  <a:srgbClr val="7030A0"/>
                </a:solidFill>
              </a:rPr>
              <a:t>gradualmente esquece as primeiras entradas</a:t>
            </a:r>
            <a:r>
              <a:rPr lang="pt-BR" dirty="0"/>
              <a:t> da sequência.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r>
              <a:rPr lang="pt-BR" b="1" dirty="0"/>
              <a:t>Exemplos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 de texto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Reconhecimento</a:t>
            </a:r>
            <a:r>
              <a:rPr lang="en-US" dirty="0"/>
              <a:t> de </a:t>
            </a:r>
            <a:r>
              <a:rPr lang="en-US" dirty="0" err="1"/>
              <a:t>fala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Rastreamento</a:t>
            </a:r>
            <a:r>
              <a:rPr lang="en-US" dirty="0"/>
              <a:t> de </a:t>
            </a:r>
            <a:r>
              <a:rPr lang="en-US" dirty="0" err="1"/>
              <a:t>objetos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265718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fazer uma </a:t>
            </a:r>
            <a:r>
              <a:rPr lang="pt-BR" b="1" dirty="0">
                <a:solidFill>
                  <a:srgbClr val="00B050"/>
                </a:solidFill>
              </a:rPr>
              <a:t>previsão de um passo à frente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a palavra “azul”</a:t>
            </a:r>
            <a:r>
              <a:rPr lang="pt-BR" dirty="0"/>
              <a:t>, basta olhar apenas </a:t>
            </a:r>
            <a:r>
              <a:rPr lang="pt-BR" b="1" dirty="0">
                <a:solidFill>
                  <a:schemeClr val="accent2"/>
                </a:solidFill>
              </a:rPr>
              <a:t>dois passos atrás</a:t>
            </a:r>
            <a:r>
              <a:rPr lang="pt-BR" dirty="0"/>
              <a:t> no tempo.</a:t>
            </a:r>
          </a:p>
          <a:p>
            <a:r>
              <a:rPr lang="pt-BR" dirty="0"/>
              <a:t>Nesse caso, basta </a:t>
            </a:r>
            <a:r>
              <a:rPr lang="pt-BR" dirty="0" err="1"/>
              <a:t>retropropagar</a:t>
            </a:r>
            <a:r>
              <a:rPr lang="pt-BR" dirty="0"/>
              <a:t> o gradiente dois passos para trás para aprender a palavra com sucesso.</a:t>
            </a:r>
          </a:p>
          <a:p>
            <a:r>
              <a:rPr lang="pt-BR" dirty="0"/>
              <a:t>Porém, existem casos em que a RNN precisa de mais contexto.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530" y="1825624"/>
            <a:ext cx="5885469" cy="5032375"/>
          </a:xfrm>
        </p:spPr>
        <p:txBody>
          <a:bodyPr>
            <a:normAutofit/>
          </a:bodyPr>
          <a:lstStyle/>
          <a:p>
            <a:r>
              <a:rPr lang="pt-BR" dirty="0"/>
              <a:t>Continuando com a previsão de um passo à frente.</a:t>
            </a:r>
          </a:p>
          <a:p>
            <a:r>
              <a:rPr lang="pt-BR" dirty="0"/>
              <a:t>Considere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r>
              <a:rPr lang="pt-BR" dirty="0"/>
              <a:t>Quando queremos </a:t>
            </a:r>
            <a:r>
              <a:rPr lang="pt-BR" b="1" dirty="0">
                <a:solidFill>
                  <a:schemeClr val="accent2"/>
                </a:solidFill>
              </a:rPr>
              <a:t>prever a palavra "italiano"</a:t>
            </a:r>
            <a:r>
              <a:rPr lang="pt-BR" dirty="0"/>
              <a:t>, temos que olhar </a:t>
            </a:r>
            <a:r>
              <a:rPr lang="pt-BR" b="1" dirty="0">
                <a:solidFill>
                  <a:schemeClr val="accent2"/>
                </a:solidFill>
              </a:rPr>
              <a:t>vários passos para trás no tempo</a:t>
            </a:r>
            <a:r>
              <a:rPr lang="pt-BR" dirty="0"/>
              <a:t>, até a palavra "Roma".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Nesse caso, a memória de curto prazo da RNN tradicional pode não ser suficiente.</a:t>
            </a:r>
          </a:p>
          <a:p>
            <a:r>
              <a:rPr lang="pt-BR" dirty="0"/>
              <a:t>À medida que o intervalo de tempo aumenta, torna-se mais difícil para uma RNN lidar com o problema.</a:t>
            </a:r>
          </a:p>
          <a:p>
            <a:r>
              <a:rPr lang="pt-BR" dirty="0"/>
              <a:t>Vamos ver como redes de </a:t>
            </a:r>
            <a:r>
              <a:rPr lang="pt-BR" b="1" dirty="0"/>
              <a:t>memória de curto longo prazo (</a:t>
            </a:r>
            <a:r>
              <a:rPr lang="pt-BR" b="1" i="1" dirty="0" err="1"/>
              <a:t>long</a:t>
            </a:r>
            <a:r>
              <a:rPr lang="pt-BR" b="1" i="1" dirty="0"/>
              <a:t>-short </a:t>
            </a:r>
            <a:r>
              <a:rPr lang="pt-BR" b="1" i="1" dirty="0" err="1"/>
              <a:t>term</a:t>
            </a:r>
            <a:r>
              <a:rPr lang="pt-BR" b="1" i="1" dirty="0"/>
              <a:t> </a:t>
            </a:r>
            <a:r>
              <a:rPr lang="pt-BR" b="1" i="1" dirty="0" err="1"/>
              <a:t>memory</a:t>
            </a:r>
            <a:r>
              <a:rPr lang="pt-BR" b="1" dirty="0"/>
              <a:t> – LSTM) </a:t>
            </a:r>
            <a:r>
              <a:rPr lang="pt-BR" dirty="0"/>
              <a:t>podem lidar com essa dificuldade.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sequenciais</a:t>
            </a:r>
            <a:r>
              <a:rPr lang="pt-BR" dirty="0"/>
              <a:t> e são amplamente utilizadas atualmente.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2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B7EA0D5-79A9-4147-4235-29A2A75B93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2081" y="3804862"/>
            <a:ext cx="8206040" cy="3053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que interagem entre si de uma maneira especial.</a:t>
            </a:r>
          </a:p>
          <a:p>
            <a:r>
              <a:rPr lang="pt-BR" dirty="0"/>
              <a:t>Elas </a:t>
            </a:r>
            <a:r>
              <a:rPr lang="pt-BR" b="1" dirty="0">
                <a:solidFill>
                  <a:schemeClr val="accent1"/>
                </a:solidFill>
              </a:rPr>
              <a:t>capturam padrões de longo e curto prazo</a:t>
            </a:r>
            <a:r>
              <a:rPr lang="pt-BR" dirty="0"/>
              <a:t> de uma sequência de dados.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FE238D-F070-FB97-ACEC-0EF800831D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721" y="4117943"/>
            <a:ext cx="7364558" cy="274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DB9C1-2571-2FA0-E43E-54FD8004F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A93D8-34FE-B0E1-EB4D-06EB0C123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2918" y="1825624"/>
            <a:ext cx="6329081" cy="5032375"/>
          </a:xfrm>
        </p:spPr>
        <p:txBody>
          <a:bodyPr>
            <a:normAutofit/>
          </a:bodyPr>
          <a:lstStyle/>
          <a:p>
            <a:r>
              <a:rPr lang="pt-BR" dirty="0"/>
              <a:t>Uma célula LSTM possui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Forget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das 3 portas.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80B18-707C-9189-F385-D0DD145061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9B1DA347-BBC4-AE49-41A5-6D28C39A35B8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C6A37ED-D7FF-0A9B-246C-6A1327E19771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841BE1E-2151-5C15-382E-E4E866E97366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FE171E2-98E2-80BF-7246-2FA7AC491881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B5D41BF3-5175-2D98-868F-9949FD2DD01F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690B213-E976-D58E-3664-2CC432FE0432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92425130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6E7DB-3A45-270A-379C-5B53CF58B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4845" y="1825624"/>
            <a:ext cx="6077154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entra na célula</a:t>
            </a:r>
            <a:r>
              <a:rPr lang="pt-BR" dirty="0"/>
              <a:t> sempre que sua </a:t>
            </a:r>
            <a:r>
              <a:rPr lang="pt-BR" b="1" dirty="0">
                <a:solidFill>
                  <a:schemeClr val="accent2"/>
                </a:solidFill>
              </a:rPr>
              <a:t>porta de entrada</a:t>
            </a:r>
            <a:r>
              <a:rPr lang="pt-BR" dirty="0"/>
              <a:t> está </a:t>
            </a:r>
            <a:r>
              <a:rPr lang="pt-BR" b="1" dirty="0">
                <a:solidFill>
                  <a:schemeClr val="accent2"/>
                </a:solidFill>
              </a:rPr>
              <a:t>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é descartada</a:t>
            </a:r>
            <a:r>
              <a:rPr lang="pt-BR" dirty="0"/>
              <a:t> da célula sempre que sua </a:t>
            </a:r>
            <a:r>
              <a:rPr lang="pt-BR" b="1" dirty="0">
                <a:solidFill>
                  <a:schemeClr val="accent2"/>
                </a:solidFill>
              </a:rPr>
              <a:t>porta de esquecimento está desligada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pode ser lida</a:t>
            </a:r>
            <a:r>
              <a:rPr lang="pt-BR" dirty="0"/>
              <a:t> da célula </a:t>
            </a:r>
            <a:r>
              <a:rPr lang="pt-BR" b="1" dirty="0">
                <a:solidFill>
                  <a:schemeClr val="accent2"/>
                </a:solidFill>
              </a:rPr>
              <a:t>ligando sua porta de saída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390354-76AE-6D7E-6109-156C51E09B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5B538100-869E-9015-E39A-A1340D4D0515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5DD632F-0686-568D-5F9B-260BA967E010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A82173B-E627-D5F4-C24A-C8EFB8591AF2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738DFC6-B08A-BCAF-A6DC-558964B054EF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724DFD49-F8A1-B391-4C4D-9D392820E8F5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56C62AF-7481-CE0B-1BB2-B4A93CE957B9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62C8C-8191-2D84-EFBA-74B11AA29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B969-F400-92D5-152D-2637CB490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79D43-D4FA-D0BA-8D88-3951453F2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2163" y="1825624"/>
            <a:ext cx="6186488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</a:t>
            </a:r>
            <a:r>
              <a:rPr lang="pt-BR" b="1" dirty="0">
                <a:solidFill>
                  <a:schemeClr val="accent2"/>
                </a:solidFill>
              </a:rPr>
              <a:t>fluir ao longo da célula</a:t>
            </a:r>
            <a:r>
              <a:rPr lang="pt-BR" dirty="0"/>
              <a:t> de memória </a:t>
            </a:r>
            <a:r>
              <a:rPr lang="pt-BR" b="1" dirty="0">
                <a:solidFill>
                  <a:srgbClr val="7030A0"/>
                </a:solidFill>
              </a:rPr>
              <a:t>sem sofrer alterações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Interações lineares.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Mitiga o desaparecimento do gradiente.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ser </a:t>
            </a:r>
            <a:r>
              <a:rPr lang="pt-BR" b="1" dirty="0">
                <a:solidFill>
                  <a:schemeClr val="accent2"/>
                </a:solidFill>
              </a:rPr>
              <a:t>removida</a:t>
            </a:r>
            <a:r>
              <a:rPr lang="pt-BR" dirty="0"/>
              <a:t> ou </a:t>
            </a:r>
            <a:r>
              <a:rPr lang="pt-BR" b="1" dirty="0">
                <a:solidFill>
                  <a:schemeClr val="accent2"/>
                </a:solidFill>
              </a:rPr>
              <a:t>gravada</a:t>
            </a:r>
            <a:r>
              <a:rPr lang="pt-BR" dirty="0"/>
              <a:t> na célula de memória </a:t>
            </a:r>
            <a:r>
              <a:rPr lang="pt-BR" b="1" dirty="0">
                <a:solidFill>
                  <a:srgbClr val="7030A0"/>
                </a:solidFill>
              </a:rPr>
              <a:t>regulando-se as portas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480" y="2513639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9919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812A4-BB08-CF51-52EF-8F212B136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8037" y="1825624"/>
            <a:ext cx="6933963" cy="5032375"/>
          </a:xfrm>
        </p:spPr>
        <p:txBody>
          <a:bodyPr>
            <a:normAutofit/>
          </a:bodyPr>
          <a:lstStyle/>
          <a:p>
            <a:r>
              <a:rPr lang="pt-BR" dirty="0"/>
              <a:t>As portas são uma forma de </a:t>
            </a:r>
            <a:r>
              <a:rPr lang="pt-BR" b="1" dirty="0">
                <a:solidFill>
                  <a:srgbClr val="7030A0"/>
                </a:solidFill>
              </a:rPr>
              <a:t>permitir opcionalmente</a:t>
            </a:r>
            <a:r>
              <a:rPr lang="pt-BR" dirty="0"/>
              <a:t> a </a:t>
            </a:r>
            <a:r>
              <a:rPr lang="pt-BR" b="1" dirty="0">
                <a:solidFill>
                  <a:srgbClr val="00B050"/>
                </a:solidFill>
              </a:rPr>
              <a:t>passagem de informações</a:t>
            </a:r>
            <a:r>
              <a:rPr lang="pt-BR" dirty="0"/>
              <a:t>.</a:t>
            </a:r>
          </a:p>
          <a:p>
            <a:r>
              <a:rPr lang="pt-BR" dirty="0"/>
              <a:t>Por exemplo, uma camada densa com função de ativação sigmoide gera valores entre 0 e 1.</a:t>
            </a:r>
          </a:p>
          <a:p>
            <a:r>
              <a:rPr lang="pt-BR" dirty="0"/>
              <a:t>Uma </a:t>
            </a:r>
            <a:r>
              <a:rPr lang="pt-BR" b="1" dirty="0">
                <a:solidFill>
                  <a:schemeClr val="accent2"/>
                </a:solidFill>
              </a:rPr>
              <a:t>operação de multiplicação elemento a elemento</a:t>
            </a:r>
            <a:r>
              <a:rPr lang="pt-BR" dirty="0"/>
              <a:t> decide o quanto da entrada passar.</a:t>
            </a:r>
          </a:p>
          <a:p>
            <a:r>
              <a:rPr lang="pt-BR" dirty="0"/>
              <a:t>Com isso a porta decide (</a:t>
            </a:r>
            <a:r>
              <a:rPr lang="pt-BR" b="1" dirty="0">
                <a:solidFill>
                  <a:srgbClr val="00B050"/>
                </a:solidFill>
              </a:rPr>
              <a:t>aprende</a:t>
            </a:r>
            <a:r>
              <a:rPr lang="pt-BR" dirty="0"/>
              <a:t>) o quanto de cada elemento deve ser permitido passar.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710488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79572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5C087-743B-C7CF-BE89-B5D6C3962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15137-761A-DF31-B5AF-A324F7C30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valores no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variam entre 0 e 1, onde: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0 significa “fechado”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1 significa “aberto”.</a:t>
                </a:r>
              </a:p>
              <a:p>
                <a:r>
                  <a:rPr lang="pt-BR" dirty="0"/>
                  <a:t>Resumindo,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“filtra”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a informação</a:t>
                </a:r>
                <a:r>
                  <a:rPr lang="pt-BR" dirty="0"/>
                  <a:t> multiplicando o vetor de entrada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pelo vetor de porta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elemento a elemento.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  <a:blipFill>
                <a:blip r:embed="rId3"/>
                <a:stretch>
                  <a:fillRect l="-158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98F49F13-A23B-6EF7-D9E0-57F230B27E4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A36C67E-2EAB-F79C-D505-DE79D767793A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F887BFCD-6D50-ACA8-946F-28EDF6FF4E02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35936FD-C97F-B176-82F3-FD34E8A9ECCF}"/>
              </a:ext>
            </a:extLst>
          </p:cNvPr>
          <p:cNvGraphicFramePr>
            <a:graphicFrameLocks noGrp="1"/>
          </p:cNvGraphicFramePr>
          <p:nvPr/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A400603-03D8-6D82-0212-139747E4B31D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1939FB0-0AA3-25B0-B525-F0D1DAB311A5}"/>
              </a:ext>
            </a:extLst>
          </p:cNvPr>
          <p:cNvGraphicFramePr>
            <a:graphicFrameLocks noGrp="1"/>
          </p:cNvGraphicFramePr>
          <p:nvPr/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4B4D6A2-75FA-8B46-5F44-282DBA566656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FC98C86-8C6F-A5B7-34CD-39F2F88063D8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5AAF2C3-7FC3-BC24-A1B1-38A5EE18C5BA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14398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Estados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saída atual da célula.</a:t>
                </a:r>
              </a:p>
              <a:p>
                <a:r>
                  <a:rPr lang="pt-BR" dirty="0"/>
                  <a:t>A célula modifica 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apenas por meio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lineares*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informação flui suavemente ao longo do tempo.</a:t>
                </a:r>
              </a:p>
              <a:p>
                <a:r>
                  <a:rPr lang="pt-BR" dirty="0"/>
                  <a:t>A célula </a:t>
                </a:r>
                <a:r>
                  <a:rPr lang="pt-BR" b="1" dirty="0">
                    <a:solidFill>
                      <a:srgbClr val="00B050"/>
                    </a:solidFill>
                  </a:rPr>
                  <a:t>decide o quanto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 revelar/mostrar</a:t>
                </a:r>
                <a:r>
                  <a:rPr lang="pt-BR" dirty="0"/>
                  <a:t> usando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saída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  <a:blipFill rotWithShape="0">
                <a:blip r:embed="rId2"/>
                <a:stretch>
                  <a:fillRect l="-1645" t="-2663" r="-1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E227967A-2652-CF1C-F0CA-9E5085FEEF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67" y="2281509"/>
            <a:ext cx="5131773" cy="3158867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08B4F401-8089-55FA-9674-E0D136960DBF}"/>
              </a:ext>
            </a:extLst>
          </p:cNvPr>
          <p:cNvSpPr txBox="1"/>
          <p:nvPr/>
        </p:nvSpPr>
        <p:spPr>
          <a:xfrm>
            <a:off x="0" y="6550222"/>
            <a:ext cx="47635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* importante, pois minimiza o desaparecimento do gradiente.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8489534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 de </a:t>
            </a:r>
            <a:r>
              <a:rPr lang="en-US" dirty="0" err="1"/>
              <a:t>esquecimento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>
                <a:blip r:embed="rId3"/>
                <a:stretch>
                  <a:fillRect l="-1719" t="-2663" r="-1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Calcular o 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Calcular o vetor de informação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novo vetor de estado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esquece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entarda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8A3055A6-AFBF-722F-46B1-12B03F916C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567" y="2222205"/>
            <a:ext cx="3443433" cy="211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A5BC753-8840-8C1C-7822-2E7EFD9C53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11" y="2422339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do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que RNN simples.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Transformers com attention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: paralelização e capturam de dependências globais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8692" y="1825624"/>
            <a:ext cx="674330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E9C48C-C90C-F33E-D12D-C8B6D0A1B5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03" y="3013147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BB883C-AF65-D3CE-B74B-0176B4408C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59" y="2601160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843" y="2170398"/>
            <a:ext cx="11598442" cy="27064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</a:t>
            </a:r>
            <a:r>
              <a:rPr lang="pt-BR" sz="6000" dirty="0" err="1"/>
              <a:t>LSTMs</a:t>
            </a:r>
            <a:r>
              <a:rPr lang="pt-BR" sz="6000" dirty="0"/>
              <a:t> e </a:t>
            </a:r>
            <a:r>
              <a:rPr lang="pt-BR" sz="6000" dirty="0" err="1"/>
              <a:t>GRUs</a:t>
            </a:r>
            <a:r>
              <a:rPr lang="pt-BR" sz="6000" dirty="0"/>
              <a:t> minimizam o problema do desaparecimento do gradiente?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GRUs e </a:t>
                </a:r>
                <a:r>
                  <a:rPr lang="pt-BR" dirty="0" err="1"/>
                  <a:t>LSTMs</a:t>
                </a:r>
                <a:r>
                  <a:rPr lang="pt-BR" dirty="0"/>
                  <a:t> têm um caminho quase linear para o gradiente.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Já as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caminha </a:t>
                </a:r>
                <a:r>
                  <a:rPr lang="pt-BR" dirty="0" err="1"/>
                  <a:t>nã</a:t>
                </a:r>
                <a:r>
                  <a:rPr lang="pt-BR" dirty="0"/>
                  <a:t>-linear: o novo estado passa por um função </a:t>
                </a:r>
                <a:r>
                  <a:rPr lang="pt-BR" dirty="0" err="1"/>
                  <a:t>tanh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0DB283C-57CF-8CCB-475A-8E64A9D1D9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7DCE-1242-9C51-3F89-48626CD90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89038-AB05-41BB-2D39-80FBAB080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1459" y="1825625"/>
            <a:ext cx="6620541" cy="5032376"/>
          </a:xfrm>
        </p:spPr>
        <p:txBody>
          <a:bodyPr>
            <a:normAutofit/>
          </a:bodyPr>
          <a:lstStyle/>
          <a:p>
            <a:r>
              <a:rPr lang="pt-BR" dirty="0" err="1"/>
              <a:t>LSTMs</a:t>
            </a:r>
            <a:r>
              <a:rPr lang="pt-BR" dirty="0"/>
              <a:t> e </a:t>
            </a:r>
            <a:r>
              <a:rPr lang="pt-BR" dirty="0" err="1"/>
              <a:t>GRUs</a:t>
            </a:r>
            <a:r>
              <a:rPr lang="pt-BR" dirty="0"/>
              <a:t> minimizam o problema do desaparecimento do gradiente porque a atualização do estado da célula é aditiva e não puramente multiplicativa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A soma cria um “atalho” </a:t>
            </a:r>
            <a:r>
              <a:rPr lang="pt-BR" b="1" dirty="0"/>
              <a:t>configurável</a:t>
            </a:r>
            <a:r>
              <a:rPr lang="pt-BR" dirty="0"/>
              <a:t> para o gradiente.</a:t>
            </a:r>
          </a:p>
          <a:p>
            <a:r>
              <a:rPr lang="pt-BR" dirty="0"/>
              <a:t>Esse atalho permite que os gradientes retrocedam no tempo sem necessariamente desaparecer.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3E2320-9C7D-2BEC-DBF2-A340E84674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9B0D30-CDE5-D51A-1F46-F2F7055CCA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87009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262E0-3E97-671D-6E9F-7D5CF88F7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C8D3E-7443-40D0-EFC0-AE612DDB8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, o valor da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pt-BR" dirty="0"/>
                  <a:t> é função das 3 portas: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do estado de atualização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Esses 4 valores são configurações que a rede aprende a definir.</a:t>
                </a:r>
              </a:p>
              <a:p>
                <a:r>
                  <a:rPr lang="pt-BR" dirty="0"/>
                  <a:t>Dessa forma, a rede aprende a decidir quando deixar o gradiente desaparecer e quando preservá-lo, ajustando os valores das portas.</a:t>
                </a:r>
              </a:p>
              <a:p>
                <a:r>
                  <a:rPr lang="pt-BR" dirty="0"/>
                  <a:t>Assim, as portas permitem que a rede decida o que guardar e o que descartar.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  <a:blipFill>
                <a:blip r:embed="rId3"/>
                <a:stretch>
                  <a:fillRect l="-1651" t="-1937" r="-2752" b="-13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D4662DC6-AD4B-B713-EE3A-3FDEE28D9C6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BA697ABF-3D68-0137-7426-7AD16763889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36372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de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5"/>
            <a:ext cx="5971952" cy="4351338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5"/>
            <a:ext cx="5971952" cy="4351338"/>
          </a:xfrm>
        </p:spPr>
        <p:txBody>
          <a:bodyPr/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 gramatical de cada palavra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  <a:p>
            <a:pPr lvl="2">
              <a:buFont typeface="Wingdings" panose="05000000000000000000" pitchFamily="2" charset="2"/>
              <a:buChar char="§"/>
            </a:pP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 e </a:t>
            </a:r>
            <a:r>
              <a:rPr lang="pt-BR" dirty="0" err="1"/>
              <a:t>chatbots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8C9BC5-15E8-FB86-A2FF-03CF2C96CB13}"/>
              </a:ext>
            </a:extLst>
          </p:cNvPr>
          <p:cNvSpPr/>
          <p:nvPr/>
        </p:nvSpPr>
        <p:spPr>
          <a:xfrm>
            <a:off x="2913321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77D96-6FE7-F60B-ED7E-0CE5B6852522}"/>
              </a:ext>
            </a:extLst>
          </p:cNvPr>
          <p:cNvSpPr/>
          <p:nvPr/>
        </p:nvSpPr>
        <p:spPr>
          <a:xfrm>
            <a:off x="3703675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E04DD1-F3A6-5114-B79F-4BC65F8FEA96}"/>
              </a:ext>
            </a:extLst>
          </p:cNvPr>
          <p:cNvSpPr/>
          <p:nvPr/>
        </p:nvSpPr>
        <p:spPr>
          <a:xfrm>
            <a:off x="4488712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3306726" y="3925832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4097080" y="3925832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EBFA63A-7A7F-C301-161E-58CB3778B150}"/>
              </a:ext>
            </a:extLst>
          </p:cNvPr>
          <p:cNvSpPr/>
          <p:nvPr/>
        </p:nvSpPr>
        <p:spPr>
          <a:xfrm>
            <a:off x="2900031" y="183149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8EB1AD-6975-BCC1-C82D-8CF2AB176F0A}"/>
              </a:ext>
            </a:extLst>
          </p:cNvPr>
          <p:cNvCxnSpPr>
            <a:endCxn id="8" idx="2"/>
          </p:cNvCxnSpPr>
          <p:nvPr/>
        </p:nvCxnSpPr>
        <p:spPr>
          <a:xfrm flipV="1">
            <a:off x="3096733" y="2916015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2900029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0029" y="2183220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70E72-E9CD-203F-5D6D-CD2520CE5E69}"/>
              </a:ext>
            </a:extLst>
          </p:cNvPr>
          <p:cNvSpPr/>
          <p:nvPr/>
        </p:nvSpPr>
        <p:spPr>
          <a:xfrm>
            <a:off x="3690383" y="183149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FB94F9-963A-CC29-C51E-098A134A1737}"/>
              </a:ext>
            </a:extLst>
          </p:cNvPr>
          <p:cNvSpPr/>
          <p:nvPr/>
        </p:nvSpPr>
        <p:spPr>
          <a:xfrm>
            <a:off x="4475421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3685068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5068" y="2183220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4475420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5420" y="2183220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3887086" y="2916015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4672124" y="2910146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078DBB0-1AC8-EAEA-D2B3-81EBA1BC73AB}"/>
              </a:ext>
            </a:extLst>
          </p:cNvPr>
          <p:cNvSpPr/>
          <p:nvPr/>
        </p:nvSpPr>
        <p:spPr>
          <a:xfrm>
            <a:off x="1324640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B7F1159-D526-3036-9F30-22158503DAFC}"/>
              </a:ext>
            </a:extLst>
          </p:cNvPr>
          <p:cNvSpPr/>
          <p:nvPr/>
        </p:nvSpPr>
        <p:spPr>
          <a:xfrm>
            <a:off x="2114994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1718045" y="3925832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2508399" y="3925832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D3FFC8E-6BAF-6DF7-526E-C081A5A48F93}"/>
              </a:ext>
            </a:extLst>
          </p:cNvPr>
          <p:cNvSpPr/>
          <p:nvPr/>
        </p:nvSpPr>
        <p:spPr>
          <a:xfrm>
            <a:off x="1320651" y="495037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1517354" y="4468092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1351219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219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1795796-1CB2-CAB5-F67E-063C07C2A635}"/>
              </a:ext>
            </a:extLst>
          </p:cNvPr>
          <p:cNvSpPr/>
          <p:nvPr/>
        </p:nvSpPr>
        <p:spPr>
          <a:xfrm>
            <a:off x="2114994" y="4980504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2141574" y="529911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1574" y="529911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id="{C5443291-1F22-B419-C44A-99E58D94E756}"/>
              </a:ext>
            </a:extLst>
          </p:cNvPr>
          <p:cNvSpPr/>
          <p:nvPr/>
        </p:nvSpPr>
        <p:spPr>
          <a:xfrm>
            <a:off x="2913320" y="494151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2913320" y="529911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3320" y="529911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2311697" y="4468092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3110023" y="4468092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:a16="http://schemas.microsoft.com/office/drawing/2014/main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:a16="http://schemas.microsoft.com/office/drawing/2014/main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:a16="http://schemas.microsoft.com/office/drawing/2014/main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:a16="http://schemas.microsoft.com/office/drawing/2014/main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:a16="http://schemas.microsoft.com/office/drawing/2014/main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:a16="http://schemas.microsoft.com/office/drawing/2014/main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:a16="http://schemas.microsoft.com/office/drawing/2014/main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:a16="http://schemas.microsoft.com/office/drawing/2014/main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:a16="http://schemas.microsoft.com/office/drawing/2014/main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:a16="http://schemas.microsoft.com/office/drawing/2014/main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:a16="http://schemas.microsoft.com/office/drawing/2014/main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:a16="http://schemas.microsoft.com/office/drawing/2014/main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5556"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6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7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2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21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259911" y="3843004"/>
              <a:ext cx="1218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desenrolando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3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Agrupar 29">
            <a:extLst>
              <a:ext uri="{FF2B5EF4-FFF2-40B4-BE49-F238E27FC236}">
                <a16:creationId xmlns:a16="http://schemas.microsoft.com/office/drawing/2014/main" id="{A0125BEA-E856-3203-44A2-4CB6E4673641}"/>
              </a:ext>
            </a:extLst>
          </p:cNvPr>
          <p:cNvGrpSpPr/>
          <p:nvPr/>
        </p:nvGrpSpPr>
        <p:grpSpPr>
          <a:xfrm>
            <a:off x="260912" y="1662798"/>
            <a:ext cx="4435239" cy="2809250"/>
            <a:chOff x="260912" y="1662798"/>
            <a:chExt cx="4435239" cy="280925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843DECB-C956-D955-D499-DD22189CE5D6}"/>
                </a:ext>
              </a:extLst>
            </p:cNvPr>
            <p:cNvSpPr/>
            <p:nvPr/>
          </p:nvSpPr>
          <p:spPr>
            <a:xfrm>
              <a:off x="948207" y="216915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C21CDDD-60F4-254E-D0B1-DD9880058CAE}"/>
                </a:ext>
              </a:extLst>
            </p:cNvPr>
            <p:cNvSpPr/>
            <p:nvPr/>
          </p:nvSpPr>
          <p:spPr>
            <a:xfrm>
              <a:off x="2095472" y="28727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E01C2A5B-A164-6913-FA94-CA99DB0244FA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rot="5400000" flipH="1" flipV="1">
              <a:off x="1289550" y="3229045"/>
              <a:ext cx="1140399" cy="114636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396F9498-A53F-5856-A31E-72DF09B3702B}"/>
                </a:ext>
              </a:extLst>
            </p:cNvPr>
            <p:cNvCxnSpPr>
              <a:cxnSpLocks/>
              <a:stCxn id="40" idx="0"/>
            </p:cNvCxnSpPr>
            <p:nvPr/>
          </p:nvCxnSpPr>
          <p:spPr>
            <a:xfrm rot="5400000" flipH="1" flipV="1">
              <a:off x="3275955" y="1600184"/>
              <a:ext cx="429588" cy="211563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466E2E6D-A249-7CAB-4045-844CE9311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5978" y="1773736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B4EFE449-B504-6CD4-C0C2-B0B6CF080A1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44" y="2434828"/>
              <a:ext cx="1199096" cy="1368028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/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/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/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667" r="-15842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/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B730E203-9618-266A-ECBC-6DE7A196CA8A}"/>
              </a:ext>
            </a:extLst>
          </p:cNvPr>
          <p:cNvGrpSpPr/>
          <p:nvPr/>
        </p:nvGrpSpPr>
        <p:grpSpPr>
          <a:xfrm>
            <a:off x="234415" y="1834844"/>
            <a:ext cx="11584793" cy="4281015"/>
            <a:chOff x="234415" y="1834844"/>
            <a:chExt cx="11584793" cy="428101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348B5B75-FB28-2E80-145D-B7B4D142BE9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C478EC-B109-7888-038E-8DBF57461B91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FC53C9F-10FB-711C-2512-7250BF72FAA1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E50EACA-BDC6-7C2A-E8C3-F5699FD5BCD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990D6E-A5C5-CDF4-C0D9-387966509DC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4B85D8D-87CD-87BC-E833-CE9988D869D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878B83A-9006-D2B3-60B8-E2D14A5914D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F4CC40-6B8A-C2D7-30F9-5E2A663458EB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D7DD5-AF06-660E-B8AB-56FEBD03D05B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6F3A98F-48B9-9CD1-B9F1-E75DD2E8FE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2E979E6-DCC4-331B-D941-6882D88766DC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CF5E98C-CA06-9023-8D8F-DC58885C84A8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EAF062E-2592-CB45-36A5-2A33D358D8BF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2EAE681-2114-E3E3-C3A4-320425997F09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D1D65BD3-E604-D135-F107-EC4CC81E93D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9DC9C7A-C05F-76B8-966F-44753826D4BF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822FBB9-C029-EAAD-530F-8A6805EE47F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BFA24E6-0E52-669D-D3F8-9864EDC5552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BF0A013-C46F-87B6-A913-AB6006AD99D3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BBA55220-0A3C-FB05-7E36-C68DDF50F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F73AECF-36D3-CBDF-5806-CA480B4C44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A0680E3E-2512-6A1A-E3EA-44839A3E0D6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A4015C41-4587-E1BF-7A8F-3DF236C02ABD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89EBFBE-86AF-DCA0-9896-A6D5E6FBA8F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10EF1A2A-AF97-E7D2-178C-FFE80B3251D1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C0636B7D-2A5C-4392-28D4-DBDF85E54A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F7CB8566-5FA8-4AE1-E1A3-37AA355FE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A6D9F0B4-913F-1EED-8A29-810518E05463}"/>
                </a:ext>
              </a:extLst>
            </p:cNvPr>
            <p:cNvSpPr/>
            <p:nvPr/>
          </p:nvSpPr>
          <p:spPr>
            <a:xfrm>
              <a:off x="492094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92FA1F5-FD24-F58C-C0EA-B1FA15F86729}"/>
                </a:ext>
              </a:extLst>
            </p:cNvPr>
            <p:cNvCxnSpPr>
              <a:cxnSpLocks/>
            </p:cNvCxnSpPr>
            <p:nvPr/>
          </p:nvCxnSpPr>
          <p:spPr>
            <a:xfrm>
              <a:off x="4012696" y="2715788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2AF8E87-6151-A661-474A-AD4443F2A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348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E38F9929-0D9E-7BAE-3976-F3AACAC47318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863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0549E296-9BF6-1073-36A7-44A6BC84E646}"/>
                </a:ext>
              </a:extLst>
            </p:cNvPr>
            <p:cNvSpPr/>
            <p:nvPr/>
          </p:nvSpPr>
          <p:spPr>
            <a:xfrm>
              <a:off x="8083166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3F4FFE22-901A-5ECB-8DD0-DE274D49C1CE}"/>
                </a:ext>
              </a:extLst>
            </p:cNvPr>
            <p:cNvCxnSpPr>
              <a:cxnSpLocks/>
            </p:cNvCxnSpPr>
            <p:nvPr/>
          </p:nvCxnSpPr>
          <p:spPr>
            <a:xfrm>
              <a:off x="11572921" y="424195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3C39462-6C16-B627-F0AA-034DBCEEAFBA}"/>
                </a:ext>
              </a:extLst>
            </p:cNvPr>
            <p:cNvCxnSpPr>
              <a:cxnSpLocks/>
            </p:cNvCxnSpPr>
            <p:nvPr/>
          </p:nvCxnSpPr>
          <p:spPr>
            <a:xfrm>
              <a:off x="11606773" y="2715942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/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922EF61C-EF99-D374-EA91-A8D137ADC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412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2DA2877-36E8-DE52-7D68-11E5A3DA4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76770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E7D096F0-65EF-76A1-E864-DEFDD7B1D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04780" y="2212072"/>
              <a:ext cx="0" cy="273953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43419660-66CC-40DA-03A8-9CA6E7C0AF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3922" y="2204176"/>
              <a:ext cx="0" cy="234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91126" y="5592639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608613" y="528852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39666" y="5533393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37778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75192" y="5531005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71574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34689" y="5434573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38311" y="5690289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30310" y="5689985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93364" y="5385798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64743" y="5681618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/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/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/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/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63911" y="5283385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608193" y="5581257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5231D62-9346-C19A-B2D8-2171CAAC4060}"/>
              </a:ext>
            </a:extLst>
          </p:cNvPr>
          <p:cNvGrpSpPr/>
          <p:nvPr/>
        </p:nvGrpSpPr>
        <p:grpSpPr>
          <a:xfrm>
            <a:off x="510827" y="2688275"/>
            <a:ext cx="1832394" cy="1751496"/>
            <a:chOff x="510827" y="2688275"/>
            <a:chExt cx="1832394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10073</TotalTime>
  <Words>5543</Words>
  <Application>Microsoft Office PowerPoint</Application>
  <PresentationFormat>Widescreen</PresentationFormat>
  <Paragraphs>897</Paragraphs>
  <Slides>85</Slides>
  <Notes>50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85</vt:i4>
      </vt:variant>
    </vt:vector>
  </HeadingPairs>
  <TitlesOfParts>
    <vt:vector size="92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(ou célula) recorrente</vt:lpstr>
      <vt:lpstr>Neurônio recorrente</vt:lpstr>
      <vt:lpstr>Neurônio recorrente</vt:lpstr>
      <vt:lpstr>Atualização do estado e geração da saída</vt:lpstr>
      <vt:lpstr>Atualização do estado e geração da saída</vt:lpstr>
      <vt:lpstr>Desenrolando uma RNN</vt:lpstr>
      <vt:lpstr>Desenrolando uma RNN</vt:lpstr>
      <vt:lpstr>Desenrolando uma RNN</vt:lpstr>
      <vt:lpstr>Desenrolando uma RNN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Backpropagation Through Time (BPTT)</vt:lpstr>
      <vt:lpstr>Por que o BPTT truncado funciona?</vt:lpstr>
      <vt:lpstr>Desaparecimento e explosão do gradiente</vt:lpstr>
      <vt:lpstr>Apresentação do PowerPoint</vt:lpstr>
      <vt:lpstr>Apresentação do PowerPoint</vt:lpstr>
      <vt:lpstr>Desaparecimento e explosão do gradiente</vt:lpstr>
      <vt:lpstr>Como mitigar esses problemas?</vt:lpstr>
      <vt:lpstr>Por que não usar funções de ativação ReLU?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Long-short term memory (LSTM)</vt:lpstr>
      <vt:lpstr>A ideia central por trás das LSTMs: o estado da célula</vt:lpstr>
      <vt:lpstr>A ideia central por trás das LSTMs: o estado da célula</vt:lpstr>
      <vt:lpstr>A ideia central por trás das LSTMs: o estado da célula</vt:lpstr>
      <vt:lpstr>Estados da célula</vt:lpstr>
      <vt:lpstr>Porta de esquecimento</vt:lpstr>
      <vt:lpstr>Porta de entrada</vt:lpstr>
      <vt:lpstr>Atualização do estado da célula</vt:lpstr>
      <vt:lpstr>Porta de saída</vt:lpstr>
      <vt:lpstr>Long-short term memory (LSTM)</vt:lpstr>
      <vt:lpstr>Principais desvantagens de LSTMs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1997</cp:revision>
  <dcterms:created xsi:type="dcterms:W3CDTF">2020-01-20T13:50:05Z</dcterms:created>
  <dcterms:modified xsi:type="dcterms:W3CDTF">2026-05-13T14:59:59Z</dcterms:modified>
</cp:coreProperties>
</file>