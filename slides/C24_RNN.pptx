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8"/>
  </p:notesMasterIdLst>
  <p:handoutMasterIdLst>
    <p:handoutMasterId r:id="rId99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646" r:id="rId45"/>
    <p:sldId id="644" r:id="rId46"/>
    <p:sldId id="641" r:id="rId47"/>
    <p:sldId id="352" r:id="rId48"/>
    <p:sldId id="355" r:id="rId49"/>
    <p:sldId id="372" r:id="rId50"/>
    <p:sldId id="616" r:id="rId51"/>
    <p:sldId id="374" r:id="rId52"/>
    <p:sldId id="376" r:id="rId53"/>
    <p:sldId id="614" r:id="rId54"/>
    <p:sldId id="356" r:id="rId55"/>
    <p:sldId id="358" r:id="rId56"/>
    <p:sldId id="362" r:id="rId57"/>
    <p:sldId id="591" r:id="rId58"/>
    <p:sldId id="365" r:id="rId59"/>
    <p:sldId id="366" r:id="rId60"/>
    <p:sldId id="367" r:id="rId61"/>
    <p:sldId id="642" r:id="rId62"/>
    <p:sldId id="368" r:id="rId63"/>
    <p:sldId id="371" r:id="rId64"/>
    <p:sldId id="603" r:id="rId65"/>
    <p:sldId id="381" r:id="rId66"/>
    <p:sldId id="377" r:id="rId67"/>
    <p:sldId id="594" r:id="rId68"/>
    <p:sldId id="595" r:id="rId69"/>
    <p:sldId id="596" r:id="rId70"/>
    <p:sldId id="597" r:id="rId71"/>
    <p:sldId id="598" r:id="rId72"/>
    <p:sldId id="599" r:id="rId73"/>
    <p:sldId id="624" r:id="rId74"/>
    <p:sldId id="600" r:id="rId75"/>
    <p:sldId id="588" r:id="rId76"/>
    <p:sldId id="589" r:id="rId77"/>
    <p:sldId id="293" r:id="rId78"/>
    <p:sldId id="306" r:id="rId79"/>
    <p:sldId id="335" r:id="rId80"/>
    <p:sldId id="590" r:id="rId81"/>
    <p:sldId id="608" r:id="rId82"/>
    <p:sldId id="330" r:id="rId83"/>
    <p:sldId id="340" r:id="rId84"/>
    <p:sldId id="348" r:id="rId85"/>
    <p:sldId id="350" r:id="rId86"/>
    <p:sldId id="353" r:id="rId87"/>
    <p:sldId id="354" r:id="rId88"/>
    <p:sldId id="373" r:id="rId89"/>
    <p:sldId id="647" r:id="rId90"/>
    <p:sldId id="357" r:id="rId91"/>
    <p:sldId id="359" r:id="rId92"/>
    <p:sldId id="592" r:id="rId93"/>
    <p:sldId id="363" r:id="rId94"/>
    <p:sldId id="364" r:id="rId95"/>
    <p:sldId id="369" r:id="rId96"/>
    <p:sldId id="370" r:id="rId9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4140" autoAdjust="0"/>
  </p:normalViewPr>
  <p:slideViewPr>
    <p:cSldViewPr snapToGrid="0">
      <p:cViewPr varScale="1">
        <p:scale>
          <a:sx n="62" d="100"/>
          <a:sy n="62" d="100"/>
        </p:scale>
        <p:origin x="1218" y="4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presProps" Target="presProps.xml"/><Relationship Id="rId105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handoutMaster" Target="handoutMasters/handoutMaster1.xml"/><Relationship Id="rId10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15/05/2026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xmlns="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deep-learning/deep-learning-introduction-to-long-short-term-memory/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machine-learning/gated-recurrent-unit-networks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50.jpeg"/><Relationship Id="rId4" Type="http://schemas.openxmlformats.org/officeDocument/2006/relationships/image" Target="../media/image49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51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xmlns="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xmlns="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xmlns="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xmlns="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xmlns="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xmlns="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tradicional processa uma sequência muito longa, ela se esquece gradualmente das primeiras amostras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xmlns="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O TBPTT </a:t>
            </a:r>
            <a:r>
              <a:rPr lang="pt-BR" b="1" dirty="0"/>
              <a:t>também limita o aprendizado de longo prazo</a:t>
            </a:r>
            <a:r>
              <a:rPr lang="pt-BR" dirty="0"/>
              <a:t>, pois impõe um horizonte máximo para a retropropagação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: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, i.e., a informação relevante está a poucos passos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  <a:p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treinamento, o erro precisa ser retropropagado por apenas alguns instantes temporais.</a:t>
            </a:r>
          </a:p>
          <a:p>
            <a:r>
              <a:rPr lang="pt-BR" dirty="0"/>
              <a:t>Porém, em muitas aplicações, a informação importante pode estar muito distante na sequência.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7810" y="1825624"/>
            <a:ext cx="5884189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Agora, vamos considerar </a:t>
            </a:r>
            <a:r>
              <a:rPr lang="pt-BR" dirty="0"/>
              <a:t>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</a:t>
            </a:r>
            <a:r>
              <a:rPr lang="pt-BR" dirty="0" smtClean="0"/>
              <a:t>.”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 smtClean="0">
                <a:solidFill>
                  <a:schemeClr val="accent2"/>
                </a:solidFill>
              </a:rPr>
              <a:t>“italiano”</a:t>
            </a:r>
            <a:r>
              <a:rPr lang="pt-BR" dirty="0" smtClean="0"/>
              <a:t>, </a:t>
            </a:r>
            <a:r>
              <a:rPr lang="pt-BR" dirty="0"/>
              <a:t>a rede precisa lembrar uma informação muito antiga da </a:t>
            </a:r>
            <a:r>
              <a:rPr lang="pt-BR" dirty="0" smtClean="0"/>
              <a:t>sequência, a palavra </a:t>
            </a:r>
            <a:r>
              <a:rPr lang="pt-BR" b="1" dirty="0" smtClean="0">
                <a:solidFill>
                  <a:schemeClr val="accent2"/>
                </a:solidFill>
              </a:rPr>
              <a:t>“Roma”</a:t>
            </a:r>
            <a:r>
              <a:rPr lang="pt-BR" dirty="0" smtClean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 smtClean="0"/>
              <a:t>Durante </a:t>
            </a:r>
            <a:r>
              <a:rPr lang="pt-BR" dirty="0"/>
              <a:t>o treinamento, o erro precisa ser </a:t>
            </a:r>
            <a:r>
              <a:rPr lang="pt-BR" dirty="0" err="1"/>
              <a:t>retropropagado</a:t>
            </a:r>
            <a:r>
              <a:rPr lang="pt-BR" dirty="0"/>
              <a:t> por </a:t>
            </a:r>
            <a:r>
              <a:rPr lang="pt-BR" dirty="0" smtClean="0"/>
              <a:t>vários instantes de tempo, o que pode fazer com que o gradiente desapareça.</a:t>
            </a:r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Quanto </a:t>
            </a:r>
            <a:r>
              <a:rPr lang="pt-BR" dirty="0"/>
              <a:t>maior a distância temporal, mais difícil é para a RNN manter a informação relevante</a:t>
            </a:r>
            <a:r>
              <a:rPr lang="pt-BR" dirty="0" smtClean="0"/>
              <a:t>.</a:t>
            </a:r>
          </a:p>
          <a:p>
            <a:r>
              <a:rPr lang="pt-BR" dirty="0" smtClean="0"/>
              <a:t>As </a:t>
            </a:r>
            <a:r>
              <a:rPr lang="pt-BR" dirty="0" err="1"/>
              <a:t>RNNs</a:t>
            </a:r>
            <a:r>
              <a:rPr lang="pt-BR" dirty="0"/>
              <a:t> tradicionais têm dificuldade em preservar informações por muitos passos temporais</a:t>
            </a:r>
            <a:r>
              <a:rPr lang="pt-BR" dirty="0" smtClean="0"/>
              <a:t>.</a:t>
            </a:r>
            <a:endParaRPr lang="pt-BR" dirty="0"/>
          </a:p>
          <a:p>
            <a:pPr marL="0" indent="0">
              <a:buNone/>
            </a:pPr>
            <a:endParaRPr lang="pt-BR" dirty="0" smtClean="0"/>
          </a:p>
          <a:p>
            <a:pPr marL="0" indent="0" algn="ctr">
              <a:buNone/>
            </a:pPr>
            <a:r>
              <a:rPr lang="pt-BR" dirty="0" smtClean="0"/>
              <a:t>Como </a:t>
            </a:r>
            <a:r>
              <a:rPr lang="pt-BR" dirty="0"/>
              <a:t>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por muito mais tempo</a:t>
            </a:r>
            <a:r>
              <a:rPr lang="pt-BR" dirty="0" smtClean="0"/>
              <a:t>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56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861" y="1825624"/>
            <a:ext cx="6349139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Para </a:t>
            </a:r>
            <a:r>
              <a:rPr lang="pt-BR" dirty="0"/>
              <a:t>resolver isso, foram propostas arquiteturas com mecanismos de </a:t>
            </a:r>
            <a:r>
              <a:rPr lang="pt-BR" dirty="0" smtClean="0"/>
              <a:t>memória: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 smtClean="0"/>
              <a:t>Long</a:t>
            </a:r>
            <a:r>
              <a:rPr lang="pt-BR" dirty="0" smtClean="0"/>
              <a:t> </a:t>
            </a:r>
            <a:r>
              <a:rPr lang="pt-BR" dirty="0"/>
              <a:t>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 smtClean="0"/>
              <a:t>Memory</a:t>
            </a:r>
            <a:r>
              <a:rPr lang="pt-BR" dirty="0"/>
              <a:t> </a:t>
            </a:r>
            <a:r>
              <a:rPr lang="pt-BR" dirty="0" smtClean="0"/>
              <a:t>(LSTM)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 smtClean="0"/>
              <a:t>Gated</a:t>
            </a:r>
            <a:r>
              <a:rPr lang="pt-BR" dirty="0" smtClean="0"/>
              <a:t> </a:t>
            </a:r>
            <a:r>
              <a:rPr lang="pt-BR" dirty="0" err="1"/>
              <a:t>Recurrent</a:t>
            </a:r>
            <a:r>
              <a:rPr lang="pt-BR" dirty="0"/>
              <a:t> </a:t>
            </a:r>
            <a:r>
              <a:rPr lang="pt-BR" dirty="0" smtClean="0"/>
              <a:t>Unit</a:t>
            </a:r>
            <a:r>
              <a:rPr lang="pt-BR" dirty="0"/>
              <a:t> </a:t>
            </a:r>
            <a:r>
              <a:rPr lang="pt-BR" dirty="0" smtClean="0"/>
              <a:t>(GRU)</a:t>
            </a:r>
          </a:p>
          <a:p>
            <a:r>
              <a:rPr lang="pt-BR" dirty="0"/>
              <a:t>Essas redes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controlar: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informações devem ser </a:t>
            </a:r>
            <a:r>
              <a:rPr lang="pt-BR" dirty="0" smtClean="0"/>
              <a:t>armazenadas (o que lembrar).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</a:t>
            </a:r>
            <a:r>
              <a:rPr lang="pt-BR" dirty="0" smtClean="0"/>
              <a:t>esquecidas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utilizadas na </a:t>
            </a:r>
            <a:r>
              <a:rPr lang="pt-BR" dirty="0" smtClean="0"/>
              <a:t>saída (quando usar uma informação armazenada).</a:t>
            </a:r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ADCDC70A-B3DA-C5F7-B8FF-163E59F072E4}"/>
              </a:ext>
            </a:extLst>
          </p:cNvPr>
          <p:cNvSpPr/>
          <p:nvPr/>
        </p:nvSpPr>
        <p:spPr>
          <a:xfrm>
            <a:off x="4136643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4747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68000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207813F-29AC-CA2B-5D4C-CBF0DFE05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LSTMs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D061630-90D1-B2B3-6AFE-E7A4E63DE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/>
          </a:bodyPr>
          <a:lstStyle/>
          <a:p>
            <a:r>
              <a:rPr lang="en-US" sz="32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Long Short-Term Memory Networks (LSTMs)</a:t>
            </a:r>
            <a:r>
              <a:rPr lang="en-US" sz="3200" dirty="0">
                <a:solidFill>
                  <a:srgbClr val="FF0000"/>
                </a:solidFill>
              </a:rPr>
              <a:t> introduce a memory mechanism to overcome the vanishing gradient problem.</a:t>
            </a:r>
          </a:p>
          <a:p>
            <a:pPr fontAlgn="base"/>
            <a:r>
              <a:rPr lang="en-US" sz="3200" dirty="0">
                <a:solidFill>
                  <a:srgbClr val="FF0000"/>
                </a:solidFill>
              </a:rPr>
              <a:t>Each LSTM cell has three gates: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Input Gate</a:t>
            </a:r>
            <a:r>
              <a:rPr lang="en-US" sz="3200" dirty="0">
                <a:solidFill>
                  <a:srgbClr val="FF0000"/>
                </a:solidFill>
              </a:rPr>
              <a:t>: Controls how much new information should be added to the cell state.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Forget Gate</a:t>
            </a:r>
            <a:r>
              <a:rPr lang="en-US" sz="3200" dirty="0">
                <a:solidFill>
                  <a:srgbClr val="FF0000"/>
                </a:solidFill>
              </a:rPr>
              <a:t>: Decides what past information should be discarded.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Output Gate</a:t>
            </a:r>
            <a:r>
              <a:rPr lang="en-US" sz="3200" dirty="0">
                <a:solidFill>
                  <a:srgbClr val="FF0000"/>
                </a:solidFill>
              </a:rPr>
              <a:t>: Regulates what information should be output at the current step. This selective memory enables LSTMs to handle long-term dependencies, making them ideal for tasks where earlier context is critical.</a:t>
            </a:r>
          </a:p>
          <a:p>
            <a:endParaRPr lang="en-US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510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</a:t>
            </a:r>
            <a:r>
              <a:rPr lang="pt-BR" b="1" dirty="0" smtClean="0">
                <a:solidFill>
                  <a:schemeClr val="accent2"/>
                </a:solidFill>
              </a:rPr>
              <a:t>sequenciais</a:t>
            </a:r>
            <a:r>
              <a:rPr lang="pt-BR" dirty="0" smtClean="0"/>
              <a:t>.</a:t>
            </a:r>
          </a:p>
          <a:p>
            <a:r>
              <a:rPr lang="pt-BR" dirty="0" smtClean="0"/>
              <a:t>São </a:t>
            </a:r>
            <a:r>
              <a:rPr lang="pt-BR" dirty="0"/>
              <a:t>amplamente utilizadas </a:t>
            </a:r>
            <a:r>
              <a:rPr lang="pt-BR" dirty="0" smtClean="0"/>
              <a:t>atualmente.</a:t>
            </a:r>
            <a:endParaRPr lang="pt-BR" dirty="0" smtClean="0"/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</a:t>
            </a:r>
            <a:r>
              <a:rPr lang="pt-BR" b="1" dirty="0" smtClean="0">
                <a:solidFill>
                  <a:schemeClr val="accent1"/>
                </a:solidFill>
              </a:rPr>
              <a:t>padrões </a:t>
            </a:r>
            <a:r>
              <a:rPr lang="pt-BR" b="1" dirty="0">
                <a:solidFill>
                  <a:schemeClr val="accent1"/>
                </a:solidFill>
              </a:rPr>
              <a:t>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xmlns="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9" r="3146"/>
          <a:stretch/>
        </p:blipFill>
        <p:spPr>
          <a:xfrm>
            <a:off x="61992" y="1996110"/>
            <a:ext cx="7516679" cy="431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0149" y="1825624"/>
            <a:ext cx="4411852" cy="5032375"/>
          </a:xfrm>
        </p:spPr>
        <p:txBody>
          <a:bodyPr>
            <a:normAutofit lnSpcReduction="10000"/>
          </a:bodyPr>
          <a:lstStyle/>
          <a:p>
            <a:r>
              <a:rPr lang="pt-BR" dirty="0" smtClean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9" r="3146"/>
          <a:stretch/>
        </p:blipFill>
        <p:spPr>
          <a:xfrm>
            <a:off x="61992" y="1996110"/>
            <a:ext cx="7516679" cy="431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xmlns="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xmlns="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xmlns="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xmlns="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xmlns="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xmlns="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xmlns="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xmlns="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xmlns="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xmlns="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xmlns="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xmlns="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xmlns="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xmlns="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xmlns="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xmlns="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0CC6145-8996-89DD-159B-03716E37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GRUs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7B9C5FB-79E3-59EE-FDA7-C5472E668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en-US" sz="4400" b="1" dirty="0">
                <a:solidFill>
                  <a:srgbClr val="FF0000"/>
                </a:solidFill>
              </a:rPr>
              <a:t>4. Gated Recurrent Units (GRUs)</a:t>
            </a:r>
          </a:p>
          <a:p>
            <a:pPr fontAlgn="base"/>
            <a:r>
              <a:rPr lang="en-US" sz="44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Gated Recurrent Units (GRUs) </a:t>
            </a:r>
            <a:r>
              <a:rPr lang="en-US" sz="4400" dirty="0">
                <a:solidFill>
                  <a:srgbClr val="FF0000"/>
                </a:solidFill>
              </a:rPr>
              <a:t>simplify LSTMs by combining the input and forget gates into a single update gate and streamlining the output mechanism. This design is computationally efficient, often performing similarly to LSTMs and is useful in tasks where simplicity and faster training are beneficial.</a:t>
            </a:r>
          </a:p>
          <a:p>
            <a:endParaRPr lang="en-US" sz="4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58253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xmlns="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xmlns="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xmlns="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xmlns="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xmlns="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xmlns="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xmlns="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xmlns="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xmlns="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xmlns="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xmlns="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xmlns="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xmlns="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xmlns="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xmlns="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xmlns="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xmlns="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xmlns="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xmlns="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xmlns="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xmlns="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xmlns="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xmlns="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xmlns="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xmlns="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xmlns="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xmlns="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xmlns="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xmlns="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xmlns="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xmlns="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xmlns="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xmlns="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xmlns="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xmlns="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xmlns="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xmlns="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xmlns="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xmlns="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xmlns="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xmlns="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xmlns="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xmlns="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xmlns="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xmlns="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xmlns="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xmlns="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xmlns="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xmlns="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xmlns="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xmlns="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xmlns="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xmlns="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xmlns="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xmlns="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xmlns="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xmlns="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xmlns="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xmlns="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xmlns="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xmlns="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xmlns="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xmlns="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xmlns="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xmlns="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xmlns="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xmlns="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xmlns="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xmlns="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xmlns="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xmlns="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xmlns="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xmlns="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xmlns="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xmlns="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xmlns="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xmlns="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xmlns="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xmlns="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xmlns="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xmlns="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xmlns="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xmlns="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xmlns="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xmlns="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="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="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="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xmlns="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xmlns="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xmlns="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xmlns="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xmlns="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xmlns="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xmlns="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xmlns="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xmlns="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xmlns="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xmlns="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xmlns="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xmlns="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xmlns="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xmlns="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xmlns="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xmlns="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xmlns="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xmlns="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xmlns="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xmlns="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xmlns="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xmlns="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xmlns="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xmlns="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xmlns="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xmlns="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xmlns="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xmlns="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xmlns="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xmlns="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="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xmlns="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xmlns="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xmlns="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xmlns="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="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xmlns="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xmlns="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xmlns="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xmlns="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xmlns="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xmlns="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="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="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="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="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xmlns="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xmlns="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250019"/>
            <a:chOff x="1975628" y="1834844"/>
            <a:chExt cx="7884560" cy="425001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xmlns="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xmlns="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xmlns="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xmlns="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xmlns="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xmlns="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xmlns="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xmlns="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xmlns="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xmlns="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xmlns="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:a16="http://schemas.microsoft.com/office/drawing/2014/main" xmlns="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xmlns="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xmlns="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xmlns="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xmlns="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xmlns="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xmlns="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xmlns="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xmlns="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xmlns="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xmlns="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xmlns="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xmlns="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xmlns="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:a16="http://schemas.microsoft.com/office/drawing/2014/main" xmlns="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:a16="http://schemas.microsoft.com/office/drawing/2014/main" xmlns="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xmlns="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xmlns="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xmlns="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xmlns="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xmlns="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xmlns="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xmlns="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xmlns="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xmlns="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xmlns="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xmlns="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="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:a16="http://schemas.microsoft.com/office/drawing/2014/main" xmlns="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:a16="http://schemas.microsoft.com/office/drawing/2014/main" xmlns="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xmlns="" id="{E601EEF9-98B3-9F64-F85F-07641BA1F0E3}"/>
                </a:ext>
              </a:extLst>
            </p:cNvPr>
            <p:cNvSpPr txBox="1"/>
            <p:nvPr/>
          </p:nvSpPr>
          <p:spPr>
            <a:xfrm>
              <a:off x="5124168" y="550239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:a16="http://schemas.microsoft.com/office/drawing/2014/main" xmlns="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:a16="http://schemas.microsoft.com/office/drawing/2014/main" xmlns="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xmlns="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:a16="http://schemas.microsoft.com/office/drawing/2014/main" xmlns="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:a16="http://schemas.microsoft.com/office/drawing/2014/main" xmlns="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xmlns="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:a16="http://schemas.microsoft.com/office/drawing/2014/main" xmlns="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:a16="http://schemas.microsoft.com/office/drawing/2014/main" xmlns="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:a16="http://schemas.microsoft.com/office/drawing/2014/main" xmlns="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:a16="http://schemas.microsoft.com/office/drawing/2014/main" xmlns="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xmlns="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xmlns="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xmlns="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xmlns="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xmlns="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xmlns="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xmlns="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xmlns="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xmlns="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xmlns="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xmlns="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xmlns="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xmlns="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xmlns="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xmlns="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xmlns="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xmlns="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xmlns="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xmlns="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xmlns="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xmlns="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xmlns="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xmlns="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xmlns="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xmlns="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xmlns="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xmlns="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xmlns="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xmlns="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xmlns="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xmlns="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xmlns="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xmlns="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xmlns="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xmlns="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xmlns="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xmlns="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xmlns="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xmlns="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xmlns="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xmlns="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xmlns="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xmlns="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xmlns="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xmlns="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xmlns="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xmlns="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xmlns="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xmlns="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xmlns="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xmlns="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xmlns="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xmlns="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xmlns="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xmlns="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xmlns="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xmlns="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xmlns="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xmlns="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xmlns="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xmlns="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xmlns="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xmlns="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xmlns="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xmlns="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xmlns="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xmlns="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xmlns="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xmlns="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xmlns="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xmlns="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xmlns="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xmlns="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xmlns="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xmlns="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xmlns="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xmlns="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xmlns="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xmlns="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xmlns="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xmlns="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xmlns="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10861</TotalTime>
  <Words>4635</Words>
  <Application>Microsoft Office PowerPoint</Application>
  <PresentationFormat>Widescreen</PresentationFormat>
  <Paragraphs>1013</Paragraphs>
  <Slides>96</Slides>
  <Notes>57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96</vt:i4>
      </vt:variant>
    </vt:vector>
  </HeadingPairs>
  <TitlesOfParts>
    <vt:vector size="103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Apresentação do PowerPoint</vt:lpstr>
      <vt:lpstr>Apresentação do PowerPoint</vt:lpstr>
      <vt:lpstr>LSTMs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GRUs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2081</cp:revision>
  <dcterms:created xsi:type="dcterms:W3CDTF">2020-01-20T13:50:05Z</dcterms:created>
  <dcterms:modified xsi:type="dcterms:W3CDTF">2026-05-16T01:50:15Z</dcterms:modified>
</cp:coreProperties>
</file>