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0"/>
  </p:notesMasterIdLst>
  <p:handoutMasterIdLst>
    <p:handoutMasterId r:id="rId101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342" r:id="rId35"/>
    <p:sldId id="613" r:id="rId36"/>
    <p:sldId id="601" r:id="rId37"/>
    <p:sldId id="623" r:id="rId38"/>
    <p:sldId id="346" r:id="rId39"/>
    <p:sldId id="347" r:id="rId40"/>
    <p:sldId id="643" r:id="rId41"/>
    <p:sldId id="349" r:id="rId42"/>
    <p:sldId id="351" r:id="rId43"/>
    <p:sldId id="645" r:id="rId44"/>
    <p:sldId id="352" r:id="rId45"/>
    <p:sldId id="649" r:id="rId46"/>
    <p:sldId id="355" r:id="rId47"/>
    <p:sldId id="650" r:id="rId48"/>
    <p:sldId id="655" r:id="rId49"/>
    <p:sldId id="376" r:id="rId50"/>
    <p:sldId id="616" r:id="rId51"/>
    <p:sldId id="673" r:id="rId52"/>
    <p:sldId id="659" r:id="rId53"/>
    <p:sldId id="660" r:id="rId54"/>
    <p:sldId id="358" r:id="rId55"/>
    <p:sldId id="362" r:id="rId56"/>
    <p:sldId id="365" r:id="rId57"/>
    <p:sldId id="591" r:id="rId58"/>
    <p:sldId id="366" r:id="rId59"/>
    <p:sldId id="367" r:id="rId60"/>
    <p:sldId id="669" r:id="rId61"/>
    <p:sldId id="368" r:id="rId62"/>
    <p:sldId id="668" r:id="rId63"/>
    <p:sldId id="671" r:id="rId64"/>
    <p:sldId id="672" r:id="rId65"/>
    <p:sldId id="670" r:id="rId66"/>
    <p:sldId id="603" r:id="rId67"/>
    <p:sldId id="381" r:id="rId68"/>
    <p:sldId id="662" r:id="rId69"/>
    <p:sldId id="667" r:id="rId70"/>
    <p:sldId id="595" r:id="rId71"/>
    <p:sldId id="596" r:id="rId72"/>
    <p:sldId id="597" r:id="rId73"/>
    <p:sldId id="598" r:id="rId74"/>
    <p:sldId id="599" r:id="rId75"/>
    <p:sldId id="600" r:id="rId76"/>
    <p:sldId id="588" r:id="rId77"/>
    <p:sldId id="589" r:id="rId78"/>
    <p:sldId id="293" r:id="rId79"/>
    <p:sldId id="306" r:id="rId80"/>
    <p:sldId id="335" r:id="rId81"/>
    <p:sldId id="590" r:id="rId82"/>
    <p:sldId id="608" r:id="rId83"/>
    <p:sldId id="330" r:id="rId84"/>
    <p:sldId id="340" r:id="rId85"/>
    <p:sldId id="348" r:id="rId86"/>
    <p:sldId id="350" r:id="rId87"/>
    <p:sldId id="353" r:id="rId88"/>
    <p:sldId id="354" r:id="rId89"/>
    <p:sldId id="373" r:id="rId90"/>
    <p:sldId id="647" r:id="rId91"/>
    <p:sldId id="357" r:id="rId92"/>
    <p:sldId id="359" r:id="rId93"/>
    <p:sldId id="592" r:id="rId94"/>
    <p:sldId id="363" r:id="rId95"/>
    <p:sldId id="364" r:id="rId96"/>
    <p:sldId id="654" r:id="rId97"/>
    <p:sldId id="369" r:id="rId98"/>
    <p:sldId id="370" r:id="rId9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0678" autoAdjust="0"/>
  </p:normalViewPr>
  <p:slideViewPr>
    <p:cSldViewPr snapToGrid="0">
      <p:cViewPr varScale="1">
        <p:scale>
          <a:sx n="100" d="100"/>
          <a:sy n="100" d="100"/>
        </p:scale>
        <p:origin x="456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microsoft.com/office/2015/10/relationships/revisionInfo" Target="revisionInfo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notesMaster" Target="notesMasters/notesMaster1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18/05/2026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“</a:t>
            </a:r>
            <a:r>
              <a:rPr lang="pt-BR" b="1" dirty="0">
                <a:solidFill>
                  <a:srgbClr val="7030A0"/>
                </a:solidFill>
              </a:rPr>
              <a:t>A menina </a:t>
            </a:r>
            <a:r>
              <a:rPr lang="pt-BR" dirty="0"/>
              <a:t>que ganhou o prêmio na competição internacional de matemática disse que estava muito </a:t>
            </a:r>
            <a:r>
              <a:rPr lang="pt-BR" b="1" dirty="0">
                <a:solidFill>
                  <a:srgbClr val="7030A0"/>
                </a:solidFill>
              </a:rPr>
              <a:t>feliz</a:t>
            </a:r>
            <a:r>
              <a:rPr lang="pt-BR" dirty="0"/>
              <a:t>”.</a:t>
            </a:r>
          </a:p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Ao chegar em “feliz”, a rede ainda precisa lembrar que o sujeito principal era: “A menina” (feminino singular), mesmo após muitas palavras intermediárias.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Eventos separados por mais do que esse horizonte não geram sinal de atualização direto, impedindo a rede de aprender correlações temporais que excedam a janela definida.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4475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“</a:t>
            </a:r>
            <a:r>
              <a:rPr lang="pt-BR" b="1" dirty="0">
                <a:solidFill>
                  <a:srgbClr val="7030A0"/>
                </a:solidFill>
              </a:rPr>
              <a:t>A menina </a:t>
            </a:r>
            <a:r>
              <a:rPr lang="pt-BR" dirty="0"/>
              <a:t>que ganhou o prêmio na competição internacional de matemática disse que estava muito </a:t>
            </a:r>
            <a:r>
              <a:rPr lang="pt-BR" b="1" dirty="0">
                <a:solidFill>
                  <a:srgbClr val="7030A0"/>
                </a:solidFill>
              </a:rPr>
              <a:t>feliz</a:t>
            </a:r>
            <a:r>
              <a:rPr lang="pt-BR" dirty="0"/>
              <a:t>”.</a:t>
            </a:r>
          </a:p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Ao chegar em “feliz”, a rede ainda precisa lembrar que o sujeito principal era: “A menina” (feminino singular), mesmo após muitas palavras intermediárias.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93732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77517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68401-ADA4-3C4F-1CA5-0B0EF583C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33A7EE6-35DA-3513-AC98-9814A1EFC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E9E4134-7AC4-6D21-191F-0465D5E9D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13DE283-E634-E815-9ACF-D12EAFFAD8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985278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porta de saída decide </a:t>
            </a:r>
            <a:r>
              <a:rPr lang="pt-BR" i="1" dirty="0"/>
              <a:t>o</a:t>
            </a:r>
            <a:r>
              <a:rPr lang="pt-BR" dirty="0"/>
              <a:t> </a:t>
            </a:r>
            <a:r>
              <a:rPr lang="pt-BR" b="1" dirty="0"/>
              <a:t>quanto da informação armazenada será exposta como saída naquele instante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89764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22798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44228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EE1F0-BD5F-58F6-0B98-195856CB7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113980-A624-5C36-D922-705246EF1B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6E628-AC10-6257-A910-0D8913738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85326A-22FD-BA6A-1FFA-405FF4255A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348065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E186-D248-19A0-1A87-124CEB362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332F1D-95DB-1978-1776-7961299592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96C98-EE2F-5535-DB30-B8C3930A3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0A54A-8706-9B45-68F9-9EBF984A5E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852531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99CFB-F71C-A643-C93A-91BD8743B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118884-A733-51F0-166E-874ACE5F91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B9E6BA-0364-919A-82CD-6548B62A0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865C5-84FC-7423-84BF-215C0499C1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41443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818911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18552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8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3" Type="http://schemas.openxmlformats.org/officeDocument/2006/relationships/image" Target="../media/image441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0.png"/><Relationship Id="rId4" Type="http://schemas.openxmlformats.org/officeDocument/2006/relationships/image" Target="../media/image560.png"/><Relationship Id="rId9" Type="http://schemas.openxmlformats.org/officeDocument/2006/relationships/image" Target="../media/image61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.jpeg"/><Relationship Id="rId4" Type="http://schemas.openxmlformats.org/officeDocument/2006/relationships/image" Target="../media/image6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0.png"/><Relationship Id="rId9" Type="http://schemas.openxmlformats.org/officeDocument/2006/relationships/image" Target="../media/image72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0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0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0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641.png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5" Type="http://schemas.openxmlformats.org/officeDocument/2006/relationships/image" Target="../media/image96.png"/><Relationship Id="rId10" Type="http://schemas.openxmlformats.org/officeDocument/2006/relationships/image" Target="../media/image101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12" Type="http://schemas.openxmlformats.org/officeDocument/2006/relationships/image" Target="../media/image10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0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0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53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0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9.png"/><Relationship Id="rId3" Type="http://schemas.openxmlformats.org/officeDocument/2006/relationships/image" Target="../media/image103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129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128.png"/><Relationship Id="rId15" Type="http://schemas.openxmlformats.org/officeDocument/2006/relationships/image" Target="../media/image131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../media/image142.png"/><Relationship Id="rId18" Type="http://schemas.openxmlformats.org/officeDocument/2006/relationships/image" Target="../media/image147.png"/><Relationship Id="rId26" Type="http://schemas.openxmlformats.org/officeDocument/2006/relationships/image" Target="../media/image155.png"/><Relationship Id="rId3" Type="http://schemas.openxmlformats.org/officeDocument/2006/relationships/image" Target="../media/image132.png"/><Relationship Id="rId21" Type="http://schemas.openxmlformats.org/officeDocument/2006/relationships/image" Target="../media/image150.png"/><Relationship Id="rId7" Type="http://schemas.openxmlformats.org/officeDocument/2006/relationships/image" Target="../media/image136.png"/><Relationship Id="rId12" Type="http://schemas.openxmlformats.org/officeDocument/2006/relationships/image" Target="../media/image141.png"/><Relationship Id="rId17" Type="http://schemas.openxmlformats.org/officeDocument/2006/relationships/image" Target="../media/image146.png"/><Relationship Id="rId25" Type="http://schemas.openxmlformats.org/officeDocument/2006/relationships/image" Target="../media/image154.png"/><Relationship Id="rId2" Type="http://schemas.openxmlformats.org/officeDocument/2006/relationships/notesSlide" Target="../notesSlides/notesSlide59.xml"/><Relationship Id="rId16" Type="http://schemas.openxmlformats.org/officeDocument/2006/relationships/image" Target="../media/image145.png"/><Relationship Id="rId20" Type="http://schemas.openxmlformats.org/officeDocument/2006/relationships/image" Target="../media/image149.png"/><Relationship Id="rId29" Type="http://schemas.openxmlformats.org/officeDocument/2006/relationships/image" Target="../media/image1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11" Type="http://schemas.openxmlformats.org/officeDocument/2006/relationships/image" Target="../media/image140.png"/><Relationship Id="rId24" Type="http://schemas.openxmlformats.org/officeDocument/2006/relationships/image" Target="../media/image153.png"/><Relationship Id="rId5" Type="http://schemas.openxmlformats.org/officeDocument/2006/relationships/image" Target="../media/image134.png"/><Relationship Id="rId15" Type="http://schemas.openxmlformats.org/officeDocument/2006/relationships/image" Target="../media/image144.png"/><Relationship Id="rId23" Type="http://schemas.openxmlformats.org/officeDocument/2006/relationships/image" Target="../media/image152.png"/><Relationship Id="rId28" Type="http://schemas.openxmlformats.org/officeDocument/2006/relationships/image" Target="../media/image157.png"/><Relationship Id="rId10" Type="http://schemas.openxmlformats.org/officeDocument/2006/relationships/image" Target="../media/image139.png"/><Relationship Id="rId19" Type="http://schemas.openxmlformats.org/officeDocument/2006/relationships/image" Target="../media/image148.png"/><Relationship Id="rId4" Type="http://schemas.openxmlformats.org/officeDocument/2006/relationships/image" Target="../media/image133.png"/><Relationship Id="rId9" Type="http://schemas.openxmlformats.org/officeDocument/2006/relationships/image" Target="../media/image138.png"/><Relationship Id="rId14" Type="http://schemas.openxmlformats.org/officeDocument/2006/relationships/image" Target="../media/image143.png"/><Relationship Id="rId22" Type="http://schemas.openxmlformats.org/officeDocument/2006/relationships/image" Target="../media/image151.png"/><Relationship Id="rId27" Type="http://schemas.openxmlformats.org/officeDocument/2006/relationships/image" Target="../media/image156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3" Type="http://schemas.openxmlformats.org/officeDocument/2006/relationships/image" Target="../media/image159.png"/><Relationship Id="rId7" Type="http://schemas.openxmlformats.org/officeDocument/2006/relationships/image" Target="../media/image164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11" Type="http://schemas.openxmlformats.org/officeDocument/2006/relationships/image" Target="../media/image168.png"/><Relationship Id="rId5" Type="http://schemas.openxmlformats.org/officeDocument/2006/relationships/image" Target="../media/image162.png"/><Relationship Id="rId10" Type="http://schemas.openxmlformats.org/officeDocument/2006/relationships/image" Target="../media/image167.png"/><Relationship Id="rId4" Type="http://schemas.openxmlformats.org/officeDocument/2006/relationships/image" Target="../media/image161.png"/><Relationship Id="rId9" Type="http://schemas.openxmlformats.org/officeDocument/2006/relationships/image" Target="../media/image1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crucial que deve ser otimizado: pequeno demais prejudica a memória de longo prazo e grande demais perde a eficiência que motivou a técnica.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excedem o tamanho do truncamento </a:t>
                </a:r>
                <a:r>
                  <a:rPr lang="pt-BR" b="1" dirty="0"/>
                  <a:t>não são aprendidas.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8608" y="904126"/>
            <a:ext cx="5661060" cy="56405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</a:t>
            </a:r>
            <a:r>
              <a:rPr lang="pt-BR" sz="3600" b="1" dirty="0">
                <a:solidFill>
                  <a:srgbClr val="00B050"/>
                </a:solidFill>
              </a:rPr>
              <a:t>RNN tradicional</a:t>
            </a:r>
            <a:r>
              <a:rPr lang="pt-BR" sz="3600" dirty="0"/>
              <a:t> processa uma </a:t>
            </a:r>
            <a:r>
              <a:rPr lang="pt-BR" sz="3600" b="1" dirty="0">
                <a:solidFill>
                  <a:schemeClr val="accent2"/>
                </a:solidFill>
              </a:rPr>
              <a:t>sequência muito longa</a:t>
            </a:r>
            <a:r>
              <a:rPr lang="pt-BR" sz="3600" dirty="0"/>
              <a:t>, ela se </a:t>
            </a:r>
            <a:r>
              <a:rPr lang="pt-BR" sz="3600" b="1" dirty="0">
                <a:solidFill>
                  <a:srgbClr val="7030A0"/>
                </a:solidFill>
              </a:rPr>
              <a:t>esquece gradualmente das primeiras amostras</a:t>
            </a:r>
            <a:r>
              <a:rPr lang="pt-BR" sz="3600" dirty="0"/>
              <a:t> da sequência.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elas </a:t>
            </a:r>
            <a:r>
              <a:rPr lang="pt-BR" sz="3600" b="1" dirty="0">
                <a:solidFill>
                  <a:schemeClr val="accent1"/>
                </a:solidFill>
              </a:rPr>
              <a:t>não aprendem dependências longas</a:t>
            </a:r>
            <a:endParaRPr lang="en-US" sz="3600" b="1" dirty="0">
              <a:solidFill>
                <a:schemeClr val="accent1"/>
              </a:solidFill>
            </a:endParaRPr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33" y="1410817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treinadas usando o BPTT </a:t>
            </a:r>
            <a:r>
              <a:rPr lang="pt-BR" b="1" dirty="0">
                <a:solidFill>
                  <a:schemeClr val="accent2"/>
                </a:solidFill>
              </a:rPr>
              <a:t>são </a:t>
            </a:r>
            <a:r>
              <a:rPr lang="pt-BR" b="1" dirty="0">
                <a:solidFill>
                  <a:schemeClr val="accent1"/>
                </a:solidFill>
              </a:rPr>
              <a:t>incapazes</a:t>
            </a:r>
            <a:r>
              <a:rPr lang="pt-BR" b="1" dirty="0">
                <a:solidFill>
                  <a:schemeClr val="accent2"/>
                </a:solidFill>
              </a:rPr>
              <a:t>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7030A0"/>
                </a:solidFill>
              </a:rPr>
              <a:t>BPTT truncado</a:t>
            </a:r>
            <a:r>
              <a:rPr lang="pt-BR" dirty="0"/>
              <a:t> </a:t>
            </a:r>
            <a:r>
              <a:rPr lang="pt-BR" b="1" dirty="0"/>
              <a:t>também limita o aprendizado de longo prazo</a:t>
            </a:r>
            <a:r>
              <a:rPr lang="pt-BR" dirty="0"/>
              <a:t>, pois </a:t>
            </a:r>
            <a:r>
              <a:rPr lang="pt-BR" b="1" dirty="0">
                <a:solidFill>
                  <a:srgbClr val="7030A0"/>
                </a:solidFill>
              </a:rPr>
              <a:t>impõe um horizonte</a:t>
            </a:r>
            <a:r>
              <a:rPr lang="pt-BR" dirty="0"/>
              <a:t> máximo </a:t>
            </a:r>
            <a:r>
              <a:rPr lang="pt-BR" b="1" dirty="0">
                <a:solidFill>
                  <a:srgbClr val="7030A0"/>
                </a:solidFill>
              </a:rPr>
              <a:t>para a retropropagação</a:t>
            </a:r>
            <a:r>
              <a:rPr lang="pt-BR" dirty="0"/>
              <a:t> dos gradientes.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dirty="0"/>
              <a:t>Por exemplo, e</a:t>
            </a:r>
            <a:r>
              <a:rPr lang="en-US" dirty="0"/>
              <a:t>m </a:t>
            </a:r>
            <a:r>
              <a:rPr lang="en-US" dirty="0" err="1"/>
              <a:t>tradução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, </a:t>
            </a:r>
            <a:r>
              <a:rPr lang="pt-BR" dirty="0"/>
              <a:t>o significado de uma palavra ou frase pode depender de palavras vizinhas ou de um contexto que apareceu muito antes no texto.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prever </a:t>
            </a:r>
            <a:r>
              <a:rPr lang="pt-BR" b="1" dirty="0">
                <a:solidFill>
                  <a:srgbClr val="00B050"/>
                </a:solidFill>
              </a:rPr>
              <a:t>a próxima palavra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</a:t>
            </a:r>
            <a:r>
              <a:rPr lang="pt-BR" dirty="0"/>
              <a:t>a palavra</a:t>
            </a:r>
            <a:r>
              <a:rPr lang="pt-BR" b="1" dirty="0">
                <a:solidFill>
                  <a:schemeClr val="accent2"/>
                </a:solidFill>
              </a:rPr>
              <a:t> </a:t>
            </a:r>
            <a:r>
              <a:rPr lang="pt-BR" b="1" dirty="0">
                <a:solidFill>
                  <a:schemeClr val="accent5"/>
                </a:solidFill>
              </a:rPr>
              <a:t>“azul”</a:t>
            </a:r>
            <a:r>
              <a:rPr lang="pt-BR" dirty="0"/>
              <a:t>, a RNN precisa apenas de </a:t>
            </a:r>
            <a:r>
              <a:rPr lang="pt-BR" b="1" dirty="0">
                <a:solidFill>
                  <a:srgbClr val="00B050"/>
                </a:solidFill>
              </a:rPr>
              <a:t>informação de dois passos atrás</a:t>
            </a:r>
            <a:r>
              <a:rPr lang="pt-BR" dirty="0"/>
              <a:t>.</a:t>
            </a:r>
          </a:p>
          <a:p>
            <a:r>
              <a:rPr lang="pt-BR" dirty="0"/>
              <a:t>Ou seja, a </a:t>
            </a:r>
            <a:r>
              <a:rPr lang="pt-BR" b="1" dirty="0">
                <a:solidFill>
                  <a:srgbClr val="7030A0"/>
                </a:solidFill>
              </a:rPr>
              <a:t>informação relevante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está a poucos passos</a:t>
            </a:r>
            <a:r>
              <a:rPr lang="pt-BR" dirty="0"/>
              <a:t> no tempo (</a:t>
            </a:r>
            <a:r>
              <a:rPr lang="pt-BR" b="1" dirty="0">
                <a:solidFill>
                  <a:schemeClr val="accent2"/>
                </a:solidFill>
              </a:rPr>
              <a:t>contexto recente</a:t>
            </a:r>
            <a:r>
              <a:rPr lang="pt-BR" dirty="0"/>
              <a:t>).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356E-F5FE-E5D3-9E6C-6927EBEC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944CD8-CBDA-65AB-AE05-7694FE8B6C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9B53B2-8E68-BEE1-0D8A-E19655A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1CB8A-DBB4-30C0-9F19-9763A30E4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Assim, durante o </a:t>
            </a:r>
            <a:r>
              <a:rPr lang="pt-BR" b="1" dirty="0">
                <a:solidFill>
                  <a:srgbClr val="7030A0"/>
                </a:solidFill>
              </a:rPr>
              <a:t>treinamento</a:t>
            </a:r>
            <a:r>
              <a:rPr lang="pt-BR" dirty="0"/>
              <a:t>, o </a:t>
            </a:r>
            <a:r>
              <a:rPr lang="pt-BR" b="1" dirty="0">
                <a:solidFill>
                  <a:schemeClr val="accent2"/>
                </a:solidFill>
              </a:rPr>
              <a:t>erro precisa ser retropropagado por apenas alguns instantes</a:t>
            </a:r>
            <a:r>
              <a:rPr lang="pt-BR" dirty="0"/>
              <a:t> temporais.</a:t>
            </a:r>
          </a:p>
          <a:p>
            <a:r>
              <a:rPr lang="pt-BR" dirty="0"/>
              <a:t>Porém, em muitas aplicações, a </a:t>
            </a:r>
            <a:r>
              <a:rPr lang="pt-BR" b="1" dirty="0">
                <a:solidFill>
                  <a:srgbClr val="7030A0"/>
                </a:solidFill>
              </a:rPr>
              <a:t>informação importante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pode estar muito distante na sequência</a:t>
            </a:r>
            <a:r>
              <a:rPr lang="pt-BR" dirty="0"/>
              <a:t>.</a:t>
            </a:r>
          </a:p>
          <a:p>
            <a:r>
              <a:rPr lang="pt-BR" dirty="0"/>
              <a:t>Agora, vamos considerar a frase: </a:t>
            </a:r>
          </a:p>
          <a:p>
            <a:pPr marL="457200" lvl="1" indent="0" algn="ctr">
              <a:buNone/>
            </a:pPr>
            <a:r>
              <a:rPr lang="pt-BR" dirty="0"/>
              <a:t>“Sou de </a:t>
            </a:r>
            <a:r>
              <a:rPr lang="pt-BR" b="1" dirty="0"/>
              <a:t>Roma</a:t>
            </a:r>
            <a:r>
              <a:rPr lang="pt-BR" dirty="0"/>
              <a:t>. Nasci há 30 anos. Gosto de comer bem e andar de bicicleta. Minha língua materna é o </a:t>
            </a:r>
            <a:r>
              <a:rPr lang="pt-BR" b="1" dirty="0"/>
              <a:t>italiano</a:t>
            </a:r>
            <a:r>
              <a:rPr lang="pt-BR" dirty="0"/>
              <a:t>.”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4B9400-011F-CE71-B12A-9EB45E21B3C6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09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4" y="1825624"/>
            <a:ext cx="5953125" cy="503237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Para prever </a:t>
            </a:r>
            <a:r>
              <a:rPr lang="pt-BR" b="1" dirty="0">
                <a:solidFill>
                  <a:schemeClr val="accent2"/>
                </a:solidFill>
              </a:rPr>
              <a:t>“italiano”</a:t>
            </a:r>
            <a:r>
              <a:rPr lang="pt-BR" dirty="0"/>
              <a:t>, a rede precisa lembrar de uma </a:t>
            </a:r>
            <a:r>
              <a:rPr lang="pt-BR" b="1" dirty="0">
                <a:solidFill>
                  <a:srgbClr val="7030A0"/>
                </a:solidFill>
              </a:rPr>
              <a:t>informação muito antiga</a:t>
            </a:r>
            <a:r>
              <a:rPr lang="pt-BR" dirty="0"/>
              <a:t> da sequência, a palavra </a:t>
            </a:r>
            <a:r>
              <a:rPr lang="pt-BR" b="1" dirty="0">
                <a:solidFill>
                  <a:schemeClr val="accent2"/>
                </a:solidFill>
              </a:rPr>
              <a:t>“Roma”</a:t>
            </a:r>
            <a:r>
              <a:rPr lang="pt-BR" dirty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Durante o treinamento, o </a:t>
            </a:r>
            <a:r>
              <a:rPr lang="pt-BR" b="1" dirty="0">
                <a:solidFill>
                  <a:srgbClr val="00B050"/>
                </a:solidFill>
              </a:rPr>
              <a:t>erro</a:t>
            </a:r>
            <a:r>
              <a:rPr lang="pt-BR" dirty="0"/>
              <a:t> precisa ser </a:t>
            </a:r>
            <a:r>
              <a:rPr lang="pt-BR" b="1" dirty="0" err="1">
                <a:solidFill>
                  <a:srgbClr val="00B050"/>
                </a:solidFill>
              </a:rPr>
              <a:t>retropropagado</a:t>
            </a:r>
            <a:r>
              <a:rPr lang="pt-BR" dirty="0"/>
              <a:t> por </a:t>
            </a:r>
            <a:r>
              <a:rPr lang="pt-BR" b="1" dirty="0">
                <a:solidFill>
                  <a:srgbClr val="00B050"/>
                </a:solidFill>
              </a:rPr>
              <a:t>vários instantes de tempo</a:t>
            </a:r>
            <a:r>
              <a:rPr lang="pt-BR" dirty="0"/>
              <a:t>, o que pode fazer com que o </a:t>
            </a:r>
            <a:r>
              <a:rPr lang="pt-BR" b="1" dirty="0">
                <a:solidFill>
                  <a:srgbClr val="7030A0"/>
                </a:solidFill>
              </a:rPr>
              <a:t>gradiente desapareça</a:t>
            </a:r>
            <a:r>
              <a:rPr lang="pt-BR" dirty="0"/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7030A0"/>
                </a:solidFill>
              </a:rPr>
              <a:t>Quanto maior a distância temporal</a:t>
            </a:r>
            <a:r>
              <a:rPr lang="pt-BR" dirty="0"/>
              <a:t>, </a:t>
            </a:r>
            <a:r>
              <a:rPr lang="pt-BR" b="1" dirty="0">
                <a:solidFill>
                  <a:schemeClr val="accent2"/>
                </a:solidFill>
              </a:rPr>
              <a:t>mais difícil é para uma RNN tradicional </a:t>
            </a:r>
            <a:r>
              <a:rPr lang="pt-BR" dirty="0"/>
              <a:t>manter a informação relevante, ou seja, </a:t>
            </a:r>
            <a:r>
              <a:rPr lang="pt-BR" b="1" dirty="0">
                <a:solidFill>
                  <a:schemeClr val="accent1"/>
                </a:solidFill>
              </a:rPr>
              <a:t>se lembrar do passado distante</a:t>
            </a:r>
            <a:r>
              <a:rPr lang="pt-BR" dirty="0"/>
              <a:t>.</a:t>
            </a:r>
          </a:p>
          <a:p>
            <a:pPr marL="0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Como permitir que a rede preserve </a:t>
            </a:r>
            <a:r>
              <a:rPr lang="pt-BR" b="1" dirty="0">
                <a:solidFill>
                  <a:schemeClr val="accent2"/>
                </a:solidFill>
              </a:rPr>
              <a:t>informações importantes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por muito mais tempo</a:t>
            </a:r>
            <a:r>
              <a:rPr lang="pt-BR" dirty="0"/>
              <a:t>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diminuir o problema das dependências de longo prazo</a:t>
            </a:r>
            <a:r>
              <a:rPr lang="pt-BR" dirty="0"/>
              <a:t>, causado pelo desaparecimento ou explosão do gradiente, foram propostas </a:t>
            </a:r>
            <a:r>
              <a:rPr lang="pt-BR" b="1" dirty="0">
                <a:solidFill>
                  <a:srgbClr val="00B050"/>
                </a:solidFill>
              </a:rPr>
              <a:t>arquiteturas com mecanismos de memória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Long</a:t>
            </a:r>
            <a:r>
              <a:rPr lang="pt-BR" dirty="0"/>
              <a:t> Short-</a:t>
            </a:r>
            <a:r>
              <a:rPr lang="pt-BR" dirty="0" err="1"/>
              <a:t>Term</a:t>
            </a:r>
            <a:r>
              <a:rPr lang="pt-BR" dirty="0"/>
              <a:t> </a:t>
            </a:r>
            <a:r>
              <a:rPr lang="pt-BR" dirty="0" err="1"/>
              <a:t>Memory</a:t>
            </a:r>
            <a:r>
              <a:rPr lang="pt-BR" dirty="0"/>
              <a:t> (LSTM)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Gated</a:t>
            </a:r>
            <a:r>
              <a:rPr lang="pt-BR" dirty="0"/>
              <a:t> </a:t>
            </a:r>
            <a:r>
              <a:rPr lang="pt-BR" dirty="0" err="1"/>
              <a:t>Recurrent</a:t>
            </a:r>
            <a:r>
              <a:rPr lang="pt-BR" dirty="0"/>
              <a:t> Unit (GRU)</a:t>
            </a:r>
          </a:p>
          <a:p>
            <a:r>
              <a:rPr lang="pt-BR" dirty="0"/>
              <a:t>Essas redes </a:t>
            </a:r>
            <a:r>
              <a:rPr lang="pt-BR" b="1" dirty="0">
                <a:solidFill>
                  <a:srgbClr val="7030A0"/>
                </a:solidFill>
              </a:rPr>
              <a:t>criam caminhos ao longo do tempo</a:t>
            </a:r>
            <a:r>
              <a:rPr lang="pt-BR" dirty="0"/>
              <a:t> cujas </a:t>
            </a:r>
            <a:r>
              <a:rPr lang="pt-BR" b="1" dirty="0">
                <a:solidFill>
                  <a:schemeClr val="accent2"/>
                </a:solidFill>
              </a:rPr>
              <a:t>derivadas podem ser controladas</a:t>
            </a:r>
            <a:r>
              <a:rPr lang="pt-BR" dirty="0"/>
              <a:t> para não desaparecer nem explodir.</a:t>
            </a:r>
          </a:p>
          <a:p>
            <a:r>
              <a:rPr lang="pt-BR" dirty="0"/>
              <a:t>Elas utilizam </a:t>
            </a:r>
            <a:r>
              <a:rPr lang="pt-BR" b="1" dirty="0"/>
              <a:t>portas (</a:t>
            </a:r>
            <a:r>
              <a:rPr lang="pt-BR" b="1" i="1" dirty="0" err="1"/>
              <a:t>gates</a:t>
            </a:r>
            <a:r>
              <a:rPr lang="pt-BR" b="1" dirty="0"/>
              <a:t>)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1"/>
                </a:solidFill>
              </a:rPr>
              <a:t>controlar</a:t>
            </a:r>
            <a:r>
              <a:rPr lang="pt-BR" dirty="0"/>
              <a:t> quais </a:t>
            </a:r>
            <a:r>
              <a:rPr lang="pt-BR" b="1" dirty="0">
                <a:solidFill>
                  <a:schemeClr val="accent1"/>
                </a:solidFill>
              </a:rPr>
              <a:t>informações</a:t>
            </a:r>
            <a:r>
              <a:rPr lang="pt-BR" dirty="0"/>
              <a:t> devem ser: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armazenadas (o que lembrar),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esquecidas ou mantidas,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expostas na saída (quando usar uma informação armazenada).</a:t>
            </a:r>
          </a:p>
        </p:txBody>
      </p:sp>
    </p:spTree>
    <p:extLst>
      <p:ext uri="{BB962C8B-B14F-4D97-AF65-F5344CB8AC3E}">
        <p14:creationId xmlns:p14="http://schemas.microsoft.com/office/powerpoint/2010/main" val="386265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.</a:t>
            </a:r>
          </a:p>
          <a:p>
            <a:r>
              <a:rPr lang="pt-BR" dirty="0"/>
              <a:t>São amplamente utilizadas atualmente.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608"/>
            <a:ext cx="7882811" cy="43102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0380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6035" y="1825624"/>
            <a:ext cx="6235967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 (de memória)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formam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Forget</a:t>
            </a:r>
            <a:r>
              <a:rPr lang="pt-BR" b="1" i="1" dirty="0"/>
              <a:t>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  <a:p>
            <a:endParaRPr lang="pt-BR" dirty="0"/>
          </a:p>
          <a:p>
            <a:endParaRPr lang="pt-BR" dirty="0"/>
          </a:p>
        </p:txBody>
      </p:sp>
      <p:grpSp>
        <p:nvGrpSpPr>
          <p:cNvPr id="5" name="Grupo 4"/>
          <p:cNvGrpSpPr/>
          <p:nvPr/>
        </p:nvGrpSpPr>
        <p:grpSpPr>
          <a:xfrm>
            <a:off x="635838" y="2424223"/>
            <a:ext cx="5320197" cy="3228140"/>
            <a:chOff x="697831" y="2222745"/>
            <a:chExt cx="5320197" cy="3228140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0180B18-707C-9189-F385-D0DD1450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831" y="2222745"/>
              <a:ext cx="5320197" cy="3228140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9B1DA347-BBC4-AE49-41A5-6D28C39A35B8}"/>
                </a:ext>
              </a:extLst>
            </p:cNvPr>
            <p:cNvSpPr/>
            <p:nvPr/>
          </p:nvSpPr>
          <p:spPr>
            <a:xfrm>
              <a:off x="1678193" y="2893806"/>
              <a:ext cx="484094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C6A37ED-D7FF-0A9B-246C-6A1327E19771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841BE1E-2151-5C15-382E-E4E866E97366}"/>
                </a:ext>
              </a:extLst>
            </p:cNvPr>
            <p:cNvSpPr/>
            <p:nvPr/>
          </p:nvSpPr>
          <p:spPr>
            <a:xfrm>
              <a:off x="2259105" y="3603812"/>
              <a:ext cx="1312433" cy="111584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9FE171E2-98E2-80BF-7246-2FA7AC49188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B5D41BF3-5175-2D98-868F-9949FD2DD01F}"/>
                </a:ext>
              </a:extLst>
            </p:cNvPr>
            <p:cNvSpPr/>
            <p:nvPr/>
          </p:nvSpPr>
          <p:spPr>
            <a:xfrm>
              <a:off x="3668355" y="3162748"/>
              <a:ext cx="1140313" cy="155690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5690B213-E976-D58E-3664-2CC432FE0432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interno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a saída da célula.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  <a:blipFill>
                <a:blip r:embed="rId2"/>
                <a:stretch>
                  <a:fillRect l="-174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88" y="2312161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8177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esquecimento</a:t>
                </a:r>
                <a:r>
                  <a:rPr lang="pt-BR" dirty="0">
                    <a:solidFill>
                      <a:schemeClr val="tx1"/>
                    </a:solidFill>
                  </a:rPr>
                  <a:t> (controlada pelo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da </a:t>
                </a:r>
                <a:r>
                  <a:rPr lang="pt-BR" b="1" dirty="0">
                    <a:solidFill>
                      <a:srgbClr val="7030A0"/>
                    </a:solidFill>
                  </a:rPr>
                  <a:t>informação passada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apagadas ou mantidas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>
                    <a:solidFill>
                      <a:schemeClr val="tx1"/>
                    </a:solidFill>
                  </a:rPr>
                  <a:t> (controlada pelo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/>
                  <a:t>de </a:t>
                </a:r>
                <a:r>
                  <a:rPr lang="pt-BR" b="1" dirty="0">
                    <a:solidFill>
                      <a:srgbClr val="7030A0"/>
                    </a:solidFill>
                  </a:rPr>
                  <a:t>novas informações (memórias)</a:t>
                </a:r>
                <a:r>
                  <a:rPr lang="pt-BR" dirty="0"/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adicionadas</a:t>
                </a:r>
                <a:r>
                  <a:rPr lang="pt-BR" dirty="0">
                    <a:solidFill>
                      <a:schemeClr val="tx1"/>
                    </a:solidFill>
                  </a:rPr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saída</a:t>
                </a:r>
                <a:r>
                  <a:rPr lang="pt-BR" dirty="0">
                    <a:solidFill>
                      <a:schemeClr val="tx1"/>
                    </a:solidFill>
                  </a:rPr>
                  <a:t> (controlada pelo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expostas como saída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  <a:blipFill>
                <a:blip r:embed="rId3"/>
                <a:stretch>
                  <a:fillRect l="-1701" t="-1937" r="-30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/>
          <p:cNvGrpSpPr/>
          <p:nvPr/>
        </p:nvGrpSpPr>
        <p:grpSpPr>
          <a:xfrm>
            <a:off x="336708" y="2419245"/>
            <a:ext cx="5133277" cy="3164098"/>
            <a:chOff x="584681" y="2224681"/>
            <a:chExt cx="5133277" cy="3164098"/>
          </a:xfrm>
        </p:grpSpPr>
        <p:pic>
          <p:nvPicPr>
            <p:cNvPr id="5" name="Imagem 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5B538100-869E-9015-E39A-A1340D4D0515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45DD632F-0686-568D-5F9B-260BA967E01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AA82173B-E627-D5F4-C24A-C8EFB8591AF2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738DFC6-B08A-BCAF-A6DC-558964B054EF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724DFD49-F8A1-B391-4C4D-9D392820E8F5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256C62AF-7481-CE0B-1BB2-B4A93CE957B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7727670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812A4-BB08-CF51-52EF-8F212B136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portas são uma forma de </a:t>
                </a:r>
                <a:r>
                  <a:rPr lang="pt-BR" b="1" dirty="0">
                    <a:solidFill>
                      <a:srgbClr val="7030A0"/>
                    </a:solidFill>
                  </a:rPr>
                  <a:t>permitir </a:t>
                </a:r>
                <a:r>
                  <a:rPr lang="pt-BR" dirty="0"/>
                  <a:t>a </a:t>
                </a:r>
                <a:r>
                  <a:rPr lang="pt-BR" b="1" dirty="0">
                    <a:solidFill>
                      <a:srgbClr val="00B050"/>
                    </a:solidFill>
                  </a:rPr>
                  <a:t>passagem ou não de informações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Imaginem uma das 3 camadas densas com função de ativação sigmoide da célula LSTM.</a:t>
                </a:r>
              </a:p>
              <a:p>
                <a:r>
                  <a:rPr lang="pt-BR" dirty="0"/>
                  <a:t>A camada gera um </a:t>
                </a:r>
                <a:r>
                  <a:rPr lang="pt-BR" b="1" dirty="0">
                    <a:solidFill>
                      <a:schemeClr val="accent1"/>
                    </a:solidFill>
                  </a:rPr>
                  <a:t>vetor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com </a:t>
                </a:r>
                <a:r>
                  <a:rPr lang="pt-BR" b="1" dirty="0">
                    <a:solidFill>
                      <a:schemeClr val="accent1"/>
                    </a:solidFill>
                  </a:rPr>
                  <a:t>elementos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assumindo valores entre 0 e 1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operação de multiplicação elemento a elemento</a:t>
                </a:r>
                <a:r>
                  <a:rPr lang="pt-BR" dirty="0"/>
                  <a:t> decide </a:t>
                </a:r>
                <a:r>
                  <a:rPr lang="pt-BR" b="1" dirty="0">
                    <a:solidFill>
                      <a:srgbClr val="7030A0"/>
                    </a:solidFill>
                  </a:rPr>
                  <a:t>o quanto da entrada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passa para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porta </a:t>
                </a:r>
                <a:r>
                  <a:rPr lang="pt-BR" b="1" dirty="0">
                    <a:solidFill>
                      <a:srgbClr val="00B050"/>
                    </a:solidFill>
                  </a:rPr>
                  <a:t>aprende</a:t>
                </a:r>
                <a:r>
                  <a:rPr lang="pt-BR" dirty="0"/>
                  <a:t> (os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dirty="0"/>
                  <a:t>) o quanto de cada elemento deve ser permitido passar.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812A4-BB08-CF51-52EF-8F212B136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  <a:blipFill>
                <a:blip r:embed="rId3"/>
                <a:stretch>
                  <a:fillRect l="-1544" t="-1937" r="-3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853161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257650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BB5F7986-EAE8-359B-3AAD-10594FC9B15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98434"/>
            <a:ext cx="3552340" cy="183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6E7DB-3A45-270A-379C-5B53CF58BB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375" y="1825624"/>
                <a:ext cx="6400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Porta de entrada</a:t>
                </a:r>
                <a:r>
                  <a:rPr lang="pt-BR" dirty="0"/>
                  <a:t>: uma </a:t>
                </a:r>
                <a:r>
                  <a:rPr lang="pt-BR" b="1" dirty="0">
                    <a:solidFill>
                      <a:srgbClr val="00B050"/>
                    </a:solidFill>
                  </a:rPr>
                  <a:t>nova informação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7030A0"/>
                    </a:solidFill>
                  </a:rPr>
                  <a:t>adicionada</a:t>
                </a:r>
                <a:r>
                  <a:rPr lang="pt-BR" dirty="0"/>
                  <a:t> à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sempre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 elemento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tender a 1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Porta de esquecimento</a:t>
                </a:r>
                <a:r>
                  <a:rPr lang="pt-BR" dirty="0"/>
                  <a:t>: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de longo prazo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7030A0"/>
                    </a:solidFill>
                  </a:rPr>
                  <a:t>descartada</a:t>
                </a:r>
                <a:r>
                  <a:rPr lang="pt-BR" dirty="0"/>
                  <a:t> da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sempre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 elemento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tender a 0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6E7DB-3A45-270A-379C-5B53CF58BB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375" y="1825624"/>
                <a:ext cx="6400800" cy="5032375"/>
              </a:xfrm>
              <a:blipFill>
                <a:blip r:embed="rId3"/>
                <a:stretch>
                  <a:fillRect l="-1714" t="-1937" r="-2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28925255-2033-E562-5006-471EA9D29CCE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EC25FC48-58E7-B559-5B12-596F007AAE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C3E50261-8EF0-729C-2E8C-D20829E397C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46FD26D3-71D3-A60C-E0EE-CA25D27B76AD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F90DD8F-312C-6128-D7F9-6758A78D3E05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B822F81E-E7E9-78B7-979D-5948EDFFFE0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6D604DA9-1158-4638-9555-AC2DFEC3B7FE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BF5BE9D3-9B2F-4871-C5F9-B471DE6FFE8F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FD865-7758-8250-A67E-67962788E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7E05B-91D0-82AC-6DC0-9D016FC41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8F3B9-2D69-B2FC-20A9-E2305A81CE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72125" y="1825624"/>
                <a:ext cx="6496049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Porta de saída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uma informação de longo prazo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7030A0"/>
                    </a:solidFill>
                  </a:rPr>
                  <a:t>exposta</a:t>
                </a:r>
                <a:r>
                  <a:rPr lang="pt-BR" dirty="0"/>
                  <a:t> na </a:t>
                </a:r>
                <a:r>
                  <a:rPr lang="pt-BR" b="1" dirty="0">
                    <a:solidFill>
                      <a:schemeClr val="accent1"/>
                    </a:solidFill>
                  </a:rPr>
                  <a:t>saída da célula</a:t>
                </a:r>
                <a:r>
                  <a:rPr lang="pt-BR" dirty="0"/>
                  <a:t> sempre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 elemento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tender a 1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resumo, uma </a:t>
                </a:r>
                <a:r>
                  <a:rPr lang="pt-BR" b="1" dirty="0">
                    <a:solidFill>
                      <a:schemeClr val="accent1"/>
                    </a:solidFill>
                  </a:rPr>
                  <a:t>célula</a:t>
                </a:r>
                <a:r>
                  <a:rPr lang="pt-BR" dirty="0"/>
                  <a:t> LSTM </a:t>
                </a:r>
                <a:r>
                  <a:rPr lang="pt-BR" b="1" dirty="0">
                    <a:solidFill>
                      <a:schemeClr val="accent1"/>
                    </a:solidFill>
                  </a:rPr>
                  <a:t>aprende a reconhecer</a:t>
                </a:r>
                <a:r>
                  <a:rPr lang="pt-BR" dirty="0"/>
                  <a:t>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importante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armazená-la</a:t>
                </a:r>
                <a:r>
                  <a:rPr lang="pt-BR" dirty="0"/>
                  <a:t> no estado de longo prazo, </a:t>
                </a:r>
                <a:r>
                  <a:rPr lang="pt-BR" b="1" dirty="0">
                    <a:solidFill>
                      <a:srgbClr val="00B050"/>
                    </a:solidFill>
                  </a:rPr>
                  <a:t>preservá-la</a:t>
                </a:r>
                <a:r>
                  <a:rPr lang="pt-BR" dirty="0"/>
                  <a:t> pelo tempo que for necessário e </a:t>
                </a:r>
                <a:r>
                  <a:rPr lang="pt-BR" b="1" dirty="0">
                    <a:solidFill>
                      <a:srgbClr val="00B050"/>
                    </a:solidFill>
                  </a:rPr>
                  <a:t>expô-la</a:t>
                </a:r>
                <a:r>
                  <a:rPr lang="pt-BR" dirty="0"/>
                  <a:t> sempre que necessário.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8F3B9-2D69-B2FC-20A9-E2305A81CE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72125" y="1825624"/>
                <a:ext cx="6496049" cy="5032375"/>
              </a:xfrm>
              <a:blipFill>
                <a:blip r:embed="rId3"/>
                <a:stretch>
                  <a:fillRect l="-1689" t="-1937" r="-26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30A49084-94B6-B8E7-59B3-CC070B24B2C0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253079B4-18BC-BF80-BE7B-CE83181297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E4B9BA39-662D-46CA-6EB3-1A11A0E5E48C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C3885B0C-C367-A49E-C294-BC6208B0CBEA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DEECB2F0-6815-65A7-784A-725403118CDC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A0AD30D6-6C15-8675-00A9-F79CE9B8FB1A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276E1BF6-AAEA-804C-8249-ACF259021E97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E176483C-CF62-64B2-3BAE-3BC5ACE7490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369445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9546B0-E611-8DE0-67E8-AC0E006F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E102919-44DD-475F-D93A-6A393403D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61320" y="1825624"/>
                <a:ext cx="680975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1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0</a:t>
                </a:r>
                <a:r>
                  <a:rPr lang="pt-BR" dirty="0"/>
                  <a:t>, então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Ou seja, o </a:t>
                </a:r>
                <a:r>
                  <a:rPr lang="pt-BR" b="1" dirty="0"/>
                  <a:t>estado interno da célula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permanecerá constante para sempre</a:t>
                </a:r>
                <a:r>
                  <a:rPr lang="pt-BR" dirty="0"/>
                  <a:t>, passando inalterado para cada passo de tempo subsequente.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assim que a memória de longo prazo é mantida.</a:t>
                </a:r>
              </a:p>
              <a:p>
                <a:r>
                  <a:rPr lang="pt-BR" dirty="0"/>
                  <a:t>No entanto, 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portas de entrada e de esquecimento</a:t>
                </a:r>
                <a:r>
                  <a:rPr lang="pt-BR" dirty="0"/>
                  <a:t> dão ao modelo a </a:t>
                </a:r>
                <a:r>
                  <a:rPr lang="pt-BR" b="1" dirty="0">
                    <a:solidFill>
                      <a:srgbClr val="7030A0"/>
                    </a:solidFill>
                  </a:rPr>
                  <a:t>capacidade de aprender quando (e o quanto) manter ou não</a:t>
                </a:r>
                <a:r>
                  <a:rPr lang="pt-BR" dirty="0"/>
                  <a:t> esse valor inalterado em resposta a entradas subsequentes.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E102919-44DD-475F-D93A-6A393403D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61320" y="1825624"/>
                <a:ext cx="6809755" cy="5032375"/>
              </a:xfrm>
              <a:blipFill>
                <a:blip r:embed="rId2"/>
                <a:stretch>
                  <a:fillRect l="-1610" t="-2663" r="-6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177CA027-CFCC-FCF8-FD37-50222E2DAA65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60EE7-289F-5B75-AB76-73E333DE6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56302AEA-37ED-B440-6221-CCAC9091219A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31C094EB-7488-FB9B-1E9C-03B1C6C799F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DF703A9D-5199-717A-7731-5781954D7F20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C8FC18C0-A7EF-FB6B-7E12-D72DD3F13622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6C3AADC-9B70-D706-CC6D-0DC43A127731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6E3A303C-5914-D4DD-FEA0-76EC3BB8CCF4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82116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D5BAE2-6A9C-5F01-525B-45AB07730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67E614-DAEB-F5E1-30D0-2E4A5E8BE3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Sempre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1</a:t>
                </a:r>
                <a:r>
                  <a:rPr lang="pt-BR" dirty="0"/>
                  <a:t>, permitimos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</a:t>
                </a:r>
                <a:r>
                  <a:rPr lang="pt-BR" dirty="0"/>
                  <a:t>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 outro lado,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0</a:t>
                </a:r>
                <a:r>
                  <a:rPr lang="pt-BR" dirty="0"/>
                  <a:t>, impedimos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subsequentes.</a:t>
                </a:r>
              </a:p>
              <a:p>
                <a:r>
                  <a:rPr lang="pt-BR" dirty="0"/>
                  <a:t>Assim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essa</a:t>
                </a:r>
                <a:r>
                  <a:rPr lang="en-US" dirty="0"/>
                  <a:t> </a:t>
                </a:r>
                <a:r>
                  <a:rPr lang="en-US" b="1" dirty="0" err="1"/>
                  <a:t>informação</a:t>
                </a:r>
                <a:r>
                  <a:rPr lang="en-US" dirty="0"/>
                  <a:t> </a:t>
                </a:r>
                <a:r>
                  <a:rPr lang="en-US" b="1" dirty="0"/>
                  <a:t>é </a:t>
                </a:r>
                <a:r>
                  <a:rPr lang="en-US" b="1" dirty="0" err="1"/>
                  <a:t>importante</a:t>
                </a:r>
                <a:r>
                  <a:rPr lang="en-US" b="1" dirty="0"/>
                  <a:t> </a:t>
                </a:r>
                <a:r>
                  <a:rPr lang="en-US" dirty="0"/>
                  <a:t>para o </a:t>
                </a:r>
                <a:r>
                  <a:rPr lang="en-US" dirty="0" err="1"/>
                  <a:t>futuro</a:t>
                </a:r>
                <a:r>
                  <a:rPr lang="en-US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essa</a:t>
                </a:r>
                <a:r>
                  <a:rPr lang="en-US" dirty="0"/>
                  <a:t> </a:t>
                </a:r>
                <a:r>
                  <a:rPr lang="en-US" b="1" dirty="0" err="1"/>
                  <a:t>informação</a:t>
                </a:r>
                <a:r>
                  <a:rPr lang="en-US" dirty="0"/>
                  <a:t> </a:t>
                </a:r>
                <a:r>
                  <a:rPr lang="en-US" b="1" dirty="0" err="1"/>
                  <a:t>não</a:t>
                </a:r>
                <a:r>
                  <a:rPr lang="en-US" b="1" dirty="0"/>
                  <a:t> é </a:t>
                </a:r>
                <a:r>
                  <a:rPr lang="en-US" b="1" dirty="0" err="1"/>
                  <a:t>relevante</a:t>
                </a:r>
                <a:r>
                  <a:rPr lang="en-US" dirty="0"/>
                  <a:t> para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próximos</a:t>
                </a:r>
                <a:r>
                  <a:rPr lang="en-US" dirty="0"/>
                  <a:t> </a:t>
                </a:r>
                <a:r>
                  <a:rPr lang="en-US" dirty="0" err="1"/>
                  <a:t>estados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67E614-DAEB-F5E1-30D0-2E4A5E8BE3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  <a:blipFill>
                <a:blip r:embed="rId2"/>
                <a:stretch>
                  <a:fillRect l="-1708" t="-2663" r="-6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79E4F418-670A-DED4-CF7C-05F26F21CCCB}"/>
              </a:ext>
            </a:extLst>
          </p:cNvPr>
          <p:cNvGrpSpPr/>
          <p:nvPr/>
        </p:nvGrpSpPr>
        <p:grpSpPr>
          <a:xfrm>
            <a:off x="223692" y="2408970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035911D9-7242-6F9F-9F6D-8C568A0F1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89568A9D-6534-78D5-9441-295D48B12F1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3820B776-09FD-3576-AAD3-BD2DD712BEDE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18B8C167-A714-6FEF-845B-8A21565C6038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D7A11C8E-1A5D-C6CB-FB98-99CBC8D5BFFC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694C4716-9A87-CC7F-64FE-06EDC9867093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A6A3A084-0B5C-153E-599D-70B15346BEA3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6205074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esquecimento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>
                    <a:solidFill>
                      <a:schemeClr val="accent2"/>
                    </a:solidFill>
                  </a:rPr>
                  <a:t>Controla</a:t>
                </a:r>
                <a:r>
                  <a:rPr lang="pt-BR" dirty="0"/>
                  <a:t> quais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informações</a:t>
                </a:r>
                <a:r>
                  <a:rPr lang="pt-BR" dirty="0"/>
                  <a:t> devem ser </a:t>
                </a:r>
                <a:r>
                  <a:rPr lang="pt-BR" b="1" dirty="0">
                    <a:solidFill>
                      <a:srgbClr val="7030A0"/>
                    </a:solidFill>
                  </a:rPr>
                  <a:t>descartadas</a:t>
                </a:r>
                <a:r>
                  <a:rPr lang="pt-BR" dirty="0"/>
                  <a:t> do estado de longo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anterior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aplicado ao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</a:t>
                </a:r>
                <a:r>
                  <a:rPr lang="pt-BR" b="1" dirty="0"/>
                  <a:t>estado de longo prazo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mantém</a:t>
                </a:r>
                <a:r>
                  <a:rPr lang="pt-BR" dirty="0"/>
                  <a:t> o </a:t>
                </a:r>
                <a:r>
                  <a:rPr lang="pt-BR" b="1" dirty="0">
                    <a:solidFill>
                      <a:srgbClr val="00B050"/>
                    </a:solidFill>
                  </a:rPr>
                  <a:t>gênero do sujeito</a:t>
                </a:r>
                <a:r>
                  <a:rPr lang="pt-BR" dirty="0"/>
                  <a:t> da frase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</a:t>
                </a:r>
                <a:r>
                  <a:rPr lang="pt-BR" b="1" dirty="0">
                    <a:solidFill>
                      <a:srgbClr val="00B050"/>
                    </a:solidFill>
                  </a:rPr>
                  <a:t>novo sujeito</a:t>
                </a:r>
                <a:r>
                  <a:rPr lang="pt-BR" dirty="0"/>
                  <a:t>, a célula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esquece</a:t>
                </a:r>
                <a:r>
                  <a:rPr lang="pt-BR" dirty="0"/>
                  <a:t>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1937" r="-3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>
                    <a:solidFill>
                      <a:schemeClr val="accent2"/>
                    </a:solidFill>
                  </a:rPr>
                  <a:t>Controla</a:t>
                </a:r>
                <a:r>
                  <a:rPr lang="pt-BR" dirty="0"/>
                  <a:t> o quanto atualizar o estado antigo,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com um novo candidato,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sSub>
                                      <m:sSub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400" b="1" i="1" smtClean="0">
                                                <a:latin typeface="Cambria Math" panose="02040503050406030204" pitchFamily="18" charset="0"/>
                                              </a:rPr>
                                              <m:t>𝒄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Também 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1"/>
                    </a:solidFill>
                  </a:rPr>
                  <a:t>Adiciona</a:t>
                </a:r>
                <a:r>
                  <a:rPr lang="pt-BR" dirty="0"/>
                  <a:t> o </a:t>
                </a:r>
                <a:r>
                  <a:rPr lang="pt-BR" b="1" dirty="0">
                    <a:solidFill>
                      <a:srgbClr val="7030A0"/>
                    </a:solidFill>
                  </a:rPr>
                  <a:t>gênero do novo sujeito</a:t>
                </a:r>
                <a:r>
                  <a:rPr lang="pt-BR" dirty="0"/>
                  <a:t> ao </a:t>
                </a:r>
                <a:r>
                  <a:rPr lang="pt-BR" b="1" dirty="0">
                    <a:solidFill>
                      <a:schemeClr val="accent1"/>
                    </a:solidFill>
                  </a:rPr>
                  <a:t>estado de longo prazo</a:t>
                </a:r>
                <a:r>
                  <a:rPr lang="pt-BR" dirty="0"/>
                  <a:t> da célula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substituir</a:t>
                </a:r>
                <a:r>
                  <a:rPr lang="pt-BR" dirty="0"/>
                  <a:t> o antigo </a:t>
                </a:r>
                <a:r>
                  <a:rPr lang="pt-BR" b="1" dirty="0">
                    <a:solidFill>
                      <a:srgbClr val="00B050"/>
                    </a:solidFill>
                  </a:rPr>
                  <a:t>que foi esquecido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14975" y="1825624"/>
                <a:ext cx="6677026" cy="5032375"/>
              </a:xfrm>
            </p:spPr>
            <p:txBody>
              <a:bodyPr>
                <a:normAutofit fontScale="92500"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rgbClr val="7030A0"/>
                    </a:solidFill>
                  </a:rPr>
                  <a:t>saída da célula</a:t>
                </a:r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versão filtrada</a:t>
                </a:r>
                <a:r>
                  <a:rPr lang="pt-BR" dirty="0"/>
                  <a:t> do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função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decide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será exposto na saída</a:t>
                </a:r>
                <a:endParaRPr lang="pt-BR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célula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armazena</a:t>
                </a:r>
                <a:r>
                  <a:rPr lang="pt-BR" dirty="0"/>
                  <a:t> que o </a:t>
                </a:r>
                <a:r>
                  <a:rPr lang="pt-BR" b="1" dirty="0">
                    <a:solidFill>
                      <a:schemeClr val="accent1"/>
                    </a:solidFill>
                  </a:rPr>
                  <a:t>sujeito é plural</a:t>
                </a:r>
                <a:r>
                  <a:rPr lang="pt-BR" dirty="0"/>
                  <a:t>. Quando um </a:t>
                </a:r>
                <a:r>
                  <a:rPr lang="pt-BR" b="1" dirty="0">
                    <a:solidFill>
                      <a:schemeClr val="accent1"/>
                    </a:solidFill>
                  </a:rPr>
                  <a:t>verbo aparece</a:t>
                </a:r>
                <a:r>
                  <a:rPr lang="pt-BR" dirty="0"/>
                  <a:t>, a porta de saída </a:t>
                </a:r>
                <a:r>
                  <a:rPr lang="pt-BR" b="1" dirty="0">
                    <a:solidFill>
                      <a:schemeClr val="accent1"/>
                    </a:solidFill>
                  </a:rPr>
                  <a:t>libera</a:t>
                </a:r>
                <a:r>
                  <a:rPr lang="pt-BR" dirty="0"/>
                  <a:t> essa </a:t>
                </a:r>
                <a:r>
                  <a:rPr lang="pt-BR" b="1" dirty="0">
                    <a:solidFill>
                      <a:schemeClr val="accent1"/>
                    </a:solidFill>
                  </a:rPr>
                  <a:t>informação</a:t>
                </a:r>
                <a:r>
                  <a:rPr lang="pt-BR" dirty="0"/>
                  <a:t>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escolher a conjugação correta </a:t>
                </a:r>
                <a:r>
                  <a:rPr lang="pt-BR" b="1" dirty="0">
                    <a:solidFill>
                      <a:srgbClr val="7030A0"/>
                    </a:solidFill>
                  </a:rPr>
                  <a:t>e influenciar passos subsequentes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4975" y="1825624"/>
                <a:ext cx="6677026" cy="5032375"/>
              </a:xfrm>
              <a:blipFill>
                <a:blip r:embed="rId3"/>
                <a:stretch>
                  <a:fillRect l="-1461" t="-1816" r="-1461" b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91C409A5-CDD8-0D53-406F-0AE1480763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13" y="2505406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Equações de atualização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0" cy="503237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pt-BR" noProof="0" dirty="0"/>
                  <a:t>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noProof="0" dirty="0"/>
                  <a:t>Vetor da porta de saída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noProof="0" dirty="0"/>
                  <a:t>Vetor de informação candidata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pt-BR" sz="2400" b="1" i="1" noProof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 i="0" noProof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de estado de longo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controla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esquecimento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sz="2400" i="1" noProof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sz="2400" i="1" noProof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pt-BR" sz="2400" b="1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,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controla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entrada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 sz="2400" noProof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noProof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sz="2400" noProof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sz="2400" noProof="0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de estado de curto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400" noProof="0">
                          <a:latin typeface="Cambria Math" panose="02040503050406030204" pitchFamily="18" charset="0"/>
                        </a:rPr>
                        <m:t>tanh</m:t>
                      </m:r>
                      <m:d>
                        <m:dPr>
                          <m:ctrlP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noProof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pPr marL="0" indent="0">
                  <a:buNone/>
                </a:pPr>
                <a:r>
                  <a:rPr lang="pt-BR" sz="2400" dirty="0"/>
                  <a:t>o</a:t>
                </a:r>
                <a:r>
                  <a:rPr lang="pt-BR" sz="2400" noProof="0" dirty="0" err="1"/>
                  <a:t>nde</a:t>
                </a:r>
                <a:r>
                  <a:rPr lang="pt-BR" sz="2400" noProof="0" dirty="0"/>
                  <a:t> </a:t>
                </a:r>
                <a14:m>
                  <m:oMath xmlns:m="http://schemas.openxmlformats.org/officeDocument/2006/math">
                    <m:r>
                      <a:rPr lang="pt-BR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</m:oMath>
                </a14:m>
                <a:r>
                  <a:rPr lang="pt-BR" sz="2400" noProof="0" dirty="0"/>
                  <a:t> é o operador de multiplicação elemento a elemento.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0" cy="5032376"/>
              </a:xfrm>
              <a:blipFill>
                <a:blip r:embed="rId3"/>
                <a:stretch>
                  <a:fillRect l="-859" t="-3027" b="-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F34C26FC-7CB2-C5BB-4322-287A8FC71D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676" y="2274888"/>
            <a:ext cx="3368249" cy="2076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</a:t>
                </a:r>
                <a:r>
                  <a:rPr lang="pt-BR" b="1" dirty="0">
                    <a:solidFill>
                      <a:srgbClr val="7030A0"/>
                    </a:solidFill>
                  </a:rPr>
                  <a:t>reconhecer uma entrada </a:t>
                </a:r>
                <a:r>
                  <a:rPr lang="pt-BR" b="1">
                    <a:solidFill>
                      <a:srgbClr val="7030A0"/>
                    </a:solidFill>
                  </a:rPr>
                  <a:t>importante</a:t>
                </a:r>
                <a:r>
                  <a:rPr lang="pt-BR"/>
                  <a:t> </a:t>
                </a:r>
                <a:r>
                  <a:rPr lang="pt-BR" b="1">
                    <a:solidFill>
                      <a:schemeClr val="accent1"/>
                    </a:solidFill>
                  </a:rPr>
                  <a:t>e </a:t>
                </a:r>
                <a:r>
                  <a:rPr lang="pt-BR" b="1" dirty="0">
                    <a:solidFill>
                      <a:schemeClr val="accent1"/>
                    </a:solidFill>
                  </a:rPr>
                  <a:t>armazená-la</a:t>
                </a:r>
                <a:r>
                  <a:rPr lang="pt-BR" dirty="0"/>
                  <a:t> (totalmente ou parcialmente)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Essas são as funções da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entrada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preservá-la</a:t>
                </a:r>
                <a:r>
                  <a:rPr lang="pt-BR" dirty="0"/>
                  <a:t> pelo tempo que for necessário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Essa é a função da </a:t>
                </a:r>
                <a:r>
                  <a:rPr lang="pt-BR" b="1" dirty="0">
                    <a:solidFill>
                      <a:srgbClr val="00B050"/>
                    </a:solidFill>
                  </a:rPr>
                  <a:t>porta de esquecimento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</a:t>
                </a:r>
                <a:r>
                  <a:rPr lang="pt-BR" b="1" dirty="0">
                    <a:solidFill>
                      <a:schemeClr val="accent2"/>
                    </a:solidFill>
                  </a:rPr>
                  <a:t>expô-la</a:t>
                </a:r>
                <a:r>
                  <a:rPr lang="pt-BR" dirty="0"/>
                  <a:t> sempre que necessário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Essa é a função 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endParaRPr lang="en-US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CF2120A0-D981-B947-4CAC-B115BE5EB6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5675" y="3877765"/>
            <a:ext cx="4505325" cy="2777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nunca são realmente 0 ou 1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</a:t>
                </a:r>
                <a:r>
                  <a:rPr lang="pt-BR" b="1" dirty="0">
                    <a:solidFill>
                      <a:srgbClr val="00B050"/>
                    </a:solidFill>
                  </a:rPr>
                  <a:t>conteúdo da célula </a:t>
                </a:r>
                <a:r>
                  <a:rPr lang="pt-BR" dirty="0"/>
                  <a:t>inevitavelmente</a:t>
                </a:r>
                <a:r>
                  <a:rPr lang="pt-BR" b="1" dirty="0">
                    <a:solidFill>
                      <a:srgbClr val="00B050"/>
                    </a:solidFill>
                  </a:rPr>
                  <a:t> se corrompe após um longo período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</a:t>
                </a:r>
                <a:r>
                  <a:rPr lang="pt-BR" b="1" dirty="0">
                    <a:solidFill>
                      <a:srgbClr val="7030A0"/>
                    </a:solidFill>
                  </a:rPr>
                  <a:t>dificuldades com dependências temporais muito longas</a:t>
                </a:r>
                <a:r>
                  <a:rPr lang="pt-BR" dirty="0"/>
                  <a:t>.</a:t>
                </a:r>
              </a:p>
              <a:p>
                <a:r>
                  <a:rPr lang="en-US" dirty="0"/>
                  <a:t>Alta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complexidade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Muito mais parâmetros</a:t>
                </a:r>
                <a:r>
                  <a:rPr lang="pt-BR" dirty="0"/>
                  <a:t> do que as </a:t>
                </a:r>
                <a:r>
                  <a:rPr lang="pt-BR" dirty="0" err="1"/>
                  <a:t>RNNs</a:t>
                </a:r>
                <a:r>
                  <a:rPr lang="pt-BR" dirty="0"/>
                  <a:t> tradicionais.</a:t>
                </a:r>
              </a:p>
              <a:p>
                <a:r>
                  <a:rPr lang="en-US" b="1" dirty="0" err="1">
                    <a:solidFill>
                      <a:schemeClr val="accent2"/>
                    </a:solidFill>
                  </a:rPr>
                  <a:t>Dificuldade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paralelização</a:t>
                </a:r>
                <a:endParaRPr lang="en-US" b="1" dirty="0">
                  <a:solidFill>
                    <a:schemeClr val="accent2"/>
                  </a:solidFill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Processamento sequencial</a:t>
                </a:r>
                <a:r>
                  <a:rPr lang="pt-BR" dirty="0"/>
                  <a:t>: a célula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GPU.</a:t>
                </a:r>
              </a:p>
              <a:p>
                <a:r>
                  <a:rPr lang="pt-BR" dirty="0"/>
                  <a:t>Hoje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</a:t>
                </a:r>
                <a:r>
                  <a:rPr lang="en-US" i="1" dirty="0"/>
                  <a:t>Transformers</a:t>
                </a:r>
                <a:r>
                  <a:rPr lang="en-US" dirty="0"/>
                  <a:t> com </a:t>
                </a:r>
                <a:r>
                  <a:rPr lang="en-US" i="1" dirty="0"/>
                  <a:t>attention.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00B050"/>
                    </a:solidFill>
                  </a:rPr>
                  <a:t>m</a:t>
                </a:r>
                <a:r>
                  <a:rPr lang="pt-BR" b="1" dirty="0" err="1">
                    <a:solidFill>
                      <a:srgbClr val="00B050"/>
                    </a:solidFill>
                  </a:rPr>
                  <a:t>elhor</a:t>
                </a:r>
                <a:r>
                  <a:rPr lang="pt-BR" b="1" dirty="0">
                    <a:solidFill>
                      <a:srgbClr val="00B050"/>
                    </a:solidFill>
                  </a:rPr>
                  <a:t> paralelização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capturam de dependências globais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25464" y="2120092"/>
            <a:ext cx="11499741" cy="26998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Será que conseguimos algo quase tão bom quanto uma LSTM, porém mais simples?</a:t>
            </a:r>
          </a:p>
        </p:txBody>
      </p:sp>
    </p:spTree>
    <p:extLst>
      <p:ext uri="{BB962C8B-B14F-4D97-AF65-F5344CB8AC3E}">
        <p14:creationId xmlns:p14="http://schemas.microsoft.com/office/powerpoint/2010/main" val="13942240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1" y="1825624"/>
            <a:ext cx="6777518" cy="5032375"/>
          </a:xfrm>
        </p:spPr>
        <p:txBody>
          <a:bodyPr>
            <a:normAutofit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novas arquiteturas foram propostas com o objetivo 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a quantidade de parâmetros,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o custo computacional,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o consumo de memória,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acelerar o treinamento </a:t>
            </a:r>
          </a:p>
          <a:p>
            <a:pPr marL="0" indent="0">
              <a:buNone/>
            </a:pPr>
            <a:r>
              <a:rPr lang="pt-BR" dirty="0"/>
              <a:t>com relação às </a:t>
            </a:r>
            <a:r>
              <a:rPr lang="pt-BR" dirty="0" err="1"/>
              <a:t>LSTMs</a:t>
            </a:r>
            <a:r>
              <a:rPr lang="pt-BR" dirty="0"/>
              <a:t>.</a:t>
            </a:r>
          </a:p>
          <a:p>
            <a:r>
              <a:rPr lang="pt-BR" dirty="0"/>
              <a:t>Assim, as </a:t>
            </a:r>
            <a:r>
              <a:rPr lang="pt-BR" dirty="0" err="1"/>
              <a:t>GRUs</a:t>
            </a:r>
            <a:r>
              <a:rPr lang="pt-BR" dirty="0"/>
              <a:t> foram </a:t>
            </a:r>
            <a:r>
              <a:rPr lang="pt-BR" b="1" dirty="0">
                <a:solidFill>
                  <a:srgbClr val="7030A0"/>
                </a:solidFill>
              </a:rPr>
              <a:t>propostas em 2014</a:t>
            </a:r>
            <a:r>
              <a:rPr lang="pt-BR" dirty="0"/>
              <a:t> por </a:t>
            </a:r>
            <a:r>
              <a:rPr lang="pt-BR" dirty="0" err="1"/>
              <a:t>Kyunghyun</a:t>
            </a:r>
            <a:r>
              <a:rPr lang="pt-BR" dirty="0"/>
              <a:t> Cho e colegas com esse objetivo.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31EEDFF-2831-68EB-4816-26ECD567C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229" y="2837154"/>
            <a:ext cx="4929495" cy="2712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BE64A2-9011-342C-7697-75B6C48776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4481" y="1825624"/>
                <a:ext cx="677751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GRUs</a:t>
                </a:r>
                <a:r>
                  <a:rPr lang="pt-BR" dirty="0"/>
                  <a:t> são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versão simplificada</a:t>
                </a:r>
                <a:r>
                  <a:rPr lang="pt-BR" dirty="0"/>
                  <a:t> da célula de memória LSTM.</a:t>
                </a:r>
              </a:p>
              <a:p>
                <a:r>
                  <a:rPr lang="pt-BR" dirty="0"/>
                  <a:t>Em geral, </a:t>
                </a:r>
                <a:r>
                  <a:rPr lang="pt-BR" b="1" dirty="0">
                    <a:solidFill>
                      <a:schemeClr val="accent2"/>
                    </a:solidFill>
                  </a:rPr>
                  <a:t>atingem desempenho comparável</a:t>
                </a:r>
                <a:r>
                  <a:rPr lang="pt-BR" dirty="0"/>
                  <a:t> às </a:t>
                </a:r>
                <a:r>
                  <a:rPr lang="pt-BR" dirty="0" err="1"/>
                  <a:t>LSTMs</a:t>
                </a:r>
                <a:r>
                  <a:rPr lang="pt-BR" dirty="0"/>
                  <a:t>, mas com a vantagem de terem </a:t>
                </a:r>
                <a:r>
                  <a:rPr lang="pt-BR" b="1" dirty="0">
                    <a:solidFill>
                      <a:srgbClr val="00B050"/>
                    </a:solidFill>
                  </a:rPr>
                  <a:t>menos parâmetros</a:t>
                </a:r>
                <a:r>
                  <a:rPr lang="pt-BR" dirty="0"/>
                  <a:t>, serem </a:t>
                </a:r>
                <a:r>
                  <a:rPr lang="pt-BR" b="1" dirty="0">
                    <a:solidFill>
                      <a:srgbClr val="00B050"/>
                    </a:solidFill>
                  </a:rPr>
                  <a:t>menos complexas</a:t>
                </a:r>
                <a:r>
                  <a:rPr lang="pt-BR" dirty="0"/>
                  <a:t> e serem </a:t>
                </a:r>
                <a:r>
                  <a:rPr lang="pt-BR" b="1" dirty="0">
                    <a:solidFill>
                      <a:srgbClr val="00B050"/>
                    </a:solidFill>
                  </a:rPr>
                  <a:t>treinadas mais rapidamente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Elas têm </a:t>
                </a:r>
                <a:r>
                  <a:rPr lang="pt-BR" b="1" dirty="0">
                    <a:solidFill>
                      <a:srgbClr val="7030A0"/>
                    </a:solidFill>
                  </a:rPr>
                  <a:t>apenas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70C0"/>
                    </a:solidFill>
                  </a:rPr>
                  <a:t>duas portas</a:t>
                </a:r>
                <a:r>
                  <a:rPr lang="pt-BR" dirty="0"/>
                  <a:t>: a de </a:t>
                </a:r>
                <a:r>
                  <a:rPr lang="pt-BR" i="1" dirty="0"/>
                  <a:t>reset</a:t>
                </a:r>
                <a:r>
                  <a:rPr lang="pt-BR" dirty="0"/>
                  <a:t> e a de atualização (controladas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Além disso, elas </a:t>
                </a:r>
                <a:r>
                  <a:rPr lang="pt-BR" b="1" dirty="0">
                    <a:solidFill>
                      <a:srgbClr val="0070C0"/>
                    </a:solidFill>
                  </a:rPr>
                  <a:t>incorporam a </a:t>
                </a:r>
                <a:r>
                  <a:rPr lang="pt-BR" b="1" dirty="0">
                    <a:solidFill>
                      <a:srgbClr val="7030A0"/>
                    </a:solidFill>
                  </a:rPr>
                  <a:t>memória de longo prazo</a:t>
                </a:r>
                <a:r>
                  <a:rPr lang="pt-BR" b="1" dirty="0">
                    <a:solidFill>
                      <a:srgbClr val="0070C0"/>
                    </a:solidFill>
                  </a:rPr>
                  <a:t> no próprio estado oculto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BE64A2-9011-342C-7697-75B6C48776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4481" y="1825624"/>
                <a:ext cx="6777518" cy="5032375"/>
              </a:xfrm>
              <a:blipFill>
                <a:blip r:embed="rId3"/>
                <a:stretch>
                  <a:fillRect l="-1619" t="-1937" r="-25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E32847C-0C70-9E63-F12B-02171460BC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229" y="2837154"/>
            <a:ext cx="4929495" cy="2712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1373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896D-0E5F-15B7-8FA2-57B111C58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EF6DB-1474-DD6E-AD8C-CD2405CD3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84B8E4-F0D0-B986-4782-CE0C6EF5C4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87092" y="1825624"/>
                <a:ext cx="63049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atualização</a:t>
                </a:r>
                <a:r>
                  <a:rPr lang="pt-BR" dirty="0"/>
                  <a:t> é responsável pela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 é a </a:t>
                </a:r>
                <a:r>
                  <a:rPr lang="pt-BR" b="1" dirty="0">
                    <a:solidFill>
                      <a:srgbClr val="00B050"/>
                    </a:solidFill>
                  </a:rPr>
                  <a:t>combinação</a:t>
                </a:r>
                <a:r>
                  <a:rPr lang="pt-BR" dirty="0"/>
                  <a:t> das </a:t>
                </a:r>
                <a:r>
                  <a:rPr lang="pt-BR" b="1" dirty="0">
                    <a:solidFill>
                      <a:srgbClr val="00B050"/>
                    </a:solidFill>
                  </a:rPr>
                  <a:t>portas de esquecimento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entrada</a:t>
                </a:r>
                <a:r>
                  <a:rPr lang="pt-BR" dirty="0"/>
                  <a:t> da LSTM.</a:t>
                </a:r>
              </a:p>
              <a:p>
                <a:r>
                  <a:rPr lang="pt-BR" dirty="0"/>
                  <a:t>Um </a:t>
                </a:r>
                <a:r>
                  <a:rPr lang="pt-BR" b="1" dirty="0">
                    <a:solidFill>
                      <a:srgbClr val="7030A0"/>
                    </a:solidFill>
                  </a:rPr>
                  <a:t>único vetor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controla</a:t>
                </a:r>
                <a:r>
                  <a:rPr lang="pt-BR" dirty="0"/>
                  <a:t> tanto 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esquecimento</a:t>
                </a:r>
                <a:r>
                  <a:rPr lang="pt-BR" dirty="0"/>
                  <a:t> quanto 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entrada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84B8E4-F0D0-B986-4782-CE0C6EF5C4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87092" y="1825624"/>
                <a:ext cx="6304908" cy="5032375"/>
              </a:xfrm>
              <a:blipFill>
                <a:blip r:embed="rId3"/>
                <a:stretch>
                  <a:fillRect l="-174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E70865A-8BA1-07F3-6790-5184F2C37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38" y="261710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76117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75B47-CDB0-8D01-C24B-627D81FFF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1009E-6742-3978-C9F4-B66C1CFBE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FD774B-6AD0-3D5A-6E43-1615AD14A6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pt-BR" dirty="0"/>
                  <a:t>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esquecimento </a:t>
                </a:r>
                <a:r>
                  <a:rPr lang="pt-BR" dirty="0"/>
                  <a:t>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aberta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1"/>
                    </a:solidFill>
                  </a:rPr>
                  <a:t>fechada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Retem-se o estado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esquecimento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fechada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1"/>
                    </a:solidFill>
                  </a:rPr>
                  <a:t>aberta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oculto passa a ser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sempre que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precisa ser armazenada</a:t>
                </a:r>
                <a:r>
                  <a:rPr lang="pt-BR" dirty="0"/>
                  <a:t>, o </a:t>
                </a:r>
                <a:r>
                  <a:rPr lang="pt-BR" b="1" dirty="0">
                    <a:solidFill>
                      <a:schemeClr val="accent1"/>
                    </a:solidFill>
                  </a:rPr>
                  <a:t>local</a:t>
                </a:r>
                <a:r>
                  <a:rPr lang="pt-BR" dirty="0"/>
                  <a:t> (i.e., elemento) </a:t>
                </a:r>
                <a:r>
                  <a:rPr lang="pt-BR" b="1" dirty="0">
                    <a:solidFill>
                      <a:srgbClr val="00B050"/>
                    </a:solidFill>
                  </a:rPr>
                  <a:t>onde ela será armazenada é apagado primeiro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FD774B-6AD0-3D5A-6E43-1615AD14A6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  <a:blipFill>
                <a:blip r:embed="rId3"/>
                <a:stretch>
                  <a:fillRect l="-1592" t="-1937" r="-2034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B2F3CC40-49C1-A17A-D102-481B76DDA4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163" y="263615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50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3733C-58C8-E4B7-FC35-0AEFAEF04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7EC14-5D3D-1ECB-B8D3-E899D7B33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C49AE4-0F34-2E99-C4AF-643B19DB56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374" y="1825624"/>
                <a:ext cx="65246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porta de </a:t>
                </a:r>
                <a:r>
                  <a:rPr lang="pt-BR" i="1" dirty="0"/>
                  <a:t>reset</a:t>
                </a:r>
                <a:r>
                  <a:rPr lang="pt-BR" dirty="0"/>
                  <a:t> é responsável pela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memória de curto prazo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 decide </a:t>
                </a:r>
                <a:r>
                  <a:rPr lang="pt-BR" b="1" dirty="0">
                    <a:solidFill>
                      <a:schemeClr val="accent1"/>
                    </a:solidFill>
                  </a:rPr>
                  <a:t>quanta informação passada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será </a:t>
                </a:r>
                <a:r>
                  <a:rPr lang="pt-BR" b="1" dirty="0">
                    <a:solidFill>
                      <a:schemeClr val="accent1"/>
                    </a:solidFill>
                  </a:rPr>
                  <a:t>mantida ou descartada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célula GRU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tem uma porta de saída</a:t>
                </a:r>
                <a:r>
                  <a:rPr lang="pt-BR" dirty="0"/>
                  <a:t>. </a:t>
                </a:r>
                <a:endParaRPr lang="pt-BR" b="1" dirty="0">
                  <a:solidFill>
                    <a:schemeClr val="accent2"/>
                  </a:solidFill>
                </a:endParaRPr>
              </a:p>
              <a:p>
                <a:r>
                  <a:rPr lang="pt-BR" b="1" dirty="0">
                    <a:solidFill>
                      <a:schemeClr val="accent2"/>
                    </a:solidFill>
                  </a:rPr>
                  <a:t>O vetor de 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completo é apresentado na saída</a:t>
                </a:r>
                <a:r>
                  <a:rPr lang="pt-BR" dirty="0"/>
                  <a:t> da célula a cada passo de tempo.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C49AE4-0F34-2E99-C4AF-643B19DB56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374" y="1825624"/>
                <a:ext cx="6524625" cy="5032375"/>
              </a:xfrm>
              <a:blipFill>
                <a:blip r:embed="rId3"/>
                <a:stretch>
                  <a:fillRect l="-1682" t="-1937" r="-1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88CDDFE4-456B-9ED2-0DB9-E39DD3E4A5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413" y="263615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7427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779" y="1230330"/>
            <a:ext cx="11598442" cy="439734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as células LSTM e GRU minimizam o problema do desaparecimento do gradiente e, consequentemente, mantém a memória de longo prazo?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71586" y="1825624"/>
                <a:ext cx="692041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 células de </a:t>
                </a:r>
                <a:r>
                  <a:rPr lang="pt-BR" dirty="0" err="1"/>
                  <a:t>RNNs</a:t>
                </a:r>
                <a:r>
                  <a:rPr lang="pt-BR" dirty="0"/>
                  <a:t> tradicionais apresentam um </a:t>
                </a:r>
                <a:r>
                  <a:rPr lang="pt-BR" b="1" dirty="0">
                    <a:solidFill>
                      <a:srgbClr val="7030A0"/>
                    </a:solidFill>
                  </a:rPr>
                  <a:t>caminho </a:t>
                </a:r>
                <a:r>
                  <a:rPr lang="pt-BR" b="1" dirty="0">
                    <a:solidFill>
                      <a:srgbClr val="00B050"/>
                    </a:solidFill>
                  </a:rPr>
                  <a:t>não-linear</a:t>
                </a:r>
                <a:r>
                  <a:rPr lang="pt-BR" b="1" dirty="0">
                    <a:solidFill>
                      <a:srgbClr val="7030A0"/>
                    </a:solidFill>
                  </a:rPr>
                  <a:t> para a retropropagação do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chemeClr val="accent1"/>
                    </a:solidFill>
                  </a:rPr>
                  <a:t>novo estado da célula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passa por uma função </a:t>
                </a:r>
                <a:r>
                  <a:rPr lang="pt-BR" b="1" dirty="0" err="1">
                    <a:solidFill>
                      <a:srgbClr val="00B050"/>
                    </a:solidFill>
                  </a:rPr>
                  <a:t>tanh</a:t>
                </a:r>
                <a:endParaRPr lang="pt-BR" b="1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Como sabemos, a derivada da função </a:t>
                </a:r>
                <a:r>
                  <a:rPr lang="pt-BR" dirty="0" err="1"/>
                  <a:t>tanh</a:t>
                </a:r>
                <a:r>
                  <a:rPr lang="pt-BR" dirty="0"/>
                  <a:t> tem um valor máximo igual 1. </a:t>
                </a:r>
              </a:p>
              <a:p>
                <a:r>
                  <a:rPr lang="pt-BR" dirty="0"/>
                  <a:t>Como vimos, o resultado é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gradiente diminui exponencialmente</a:t>
                </a:r>
                <a:r>
                  <a:rPr lang="pt-BR" dirty="0"/>
                  <a:t> à medida que volta no tempo,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impedindo que a rede aprenda dependências de longo prazo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71586" y="1825624"/>
                <a:ext cx="6920414" cy="5032375"/>
              </a:xfrm>
              <a:blipFill>
                <a:blip r:embed="rId2"/>
                <a:stretch>
                  <a:fillRect l="-1586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258" y="3177798"/>
            <a:ext cx="4689828" cy="232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731FB8-17E6-6325-5B4E-B3F89A3E62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59837" y="1825624"/>
                <a:ext cx="613216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Já as células de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modificam o estado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por meio de um caminho controlável</a:t>
                </a:r>
                <a:r>
                  <a:rPr lang="pt-BR" dirty="0">
                    <a:solidFill>
                      <a:schemeClr val="tx1"/>
                    </a:solidFill>
                  </a:rPr>
                  <a:t> (por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</a:t>
                </a:r>
                <a:r>
                  <a:rPr lang="pt-BR" dirty="0"/>
                  <a:t>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contém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apenas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atualizado usando-se </a:t>
                </a:r>
                <a:r>
                  <a:rPr lang="pt-BR" b="1" dirty="0"/>
                  <a:t>uma</a:t>
                </a:r>
                <a:r>
                  <a:rPr lang="pt-BR" dirty="0"/>
                  <a:t> </a:t>
                </a:r>
                <a:r>
                  <a:rPr lang="pt-BR" b="1" dirty="0"/>
                  <a:t>soma e multiplicações elemento a elemento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sem passar por transformações não lineares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731FB8-17E6-6325-5B4E-B3F89A3E62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59837" y="1825624"/>
                <a:ext cx="6132162" cy="5032375"/>
              </a:xfrm>
              <a:blipFill>
                <a:blip r:embed="rId2"/>
                <a:stretch>
                  <a:fillRect l="-1789" t="-1937" r="-1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655" y="1690688"/>
            <a:ext cx="3888430" cy="239352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540DDFD-8900-4E48-7C98-3C262F3FE9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655" y="4350851"/>
            <a:ext cx="3888430" cy="2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96956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31FB8-17E6-6325-5B4E-B3F89A3E6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0" y="1825624"/>
            <a:ext cx="6777519" cy="5032375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rgbClr val="00B050"/>
                </a:solidFill>
              </a:rPr>
              <a:t>caminho controlável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permite que os gradientes retrocedam</a:t>
            </a:r>
            <a:r>
              <a:rPr lang="pt-BR" dirty="0"/>
              <a:t> no tempo sem </a:t>
            </a:r>
            <a:r>
              <a:rPr lang="pt-BR" b="1" dirty="0">
                <a:solidFill>
                  <a:schemeClr val="accent1"/>
                </a:solidFill>
              </a:rPr>
              <a:t>desaparecer por longos instantes de tempo</a:t>
            </a:r>
            <a:r>
              <a:rPr lang="pt-BR" dirty="0"/>
              <a:t>.</a:t>
            </a:r>
          </a:p>
          <a:p>
            <a:r>
              <a:rPr lang="pt-BR" dirty="0"/>
              <a:t>A rede 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a decidir quando deixar o </a:t>
            </a:r>
            <a:r>
              <a:rPr lang="pt-BR" b="1" dirty="0">
                <a:solidFill>
                  <a:schemeClr val="accent2"/>
                </a:solidFill>
              </a:rPr>
              <a:t>gradiente desaparecer </a:t>
            </a:r>
            <a:r>
              <a:rPr lang="pt-BR" dirty="0"/>
              <a:t>e quando </a:t>
            </a:r>
            <a:r>
              <a:rPr lang="pt-BR" b="1" dirty="0">
                <a:solidFill>
                  <a:schemeClr val="accent2"/>
                </a:solidFill>
              </a:rPr>
              <a:t>preservá-lo</a:t>
            </a:r>
            <a:r>
              <a:rPr lang="pt-BR" dirty="0"/>
              <a:t>.</a:t>
            </a:r>
          </a:p>
          <a:p>
            <a:r>
              <a:rPr lang="pt-BR" dirty="0"/>
              <a:t>Portanto, as portas permitem que a rede decida o que guardar e o que descartar.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8D22978F-A98B-7B35-B4FF-07AD9BDAC9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350851"/>
            <a:ext cx="3888430" cy="2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5466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351" y="2890341"/>
            <a:ext cx="11291298" cy="107731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para as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466087" y="1895280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8A95AB21-C2EA-0465-36B4-A7DEBD773301}"/>
              </a:ext>
            </a:extLst>
          </p:cNvPr>
          <p:cNvGrpSpPr/>
          <p:nvPr/>
        </p:nvGrpSpPr>
        <p:grpSpPr>
          <a:xfrm>
            <a:off x="3532515" y="5802560"/>
            <a:ext cx="4106535" cy="831618"/>
            <a:chOff x="3532515" y="5802560"/>
            <a:chExt cx="4106535" cy="831618"/>
          </a:xfrm>
        </p:grpSpPr>
        <p:sp>
          <p:nvSpPr>
            <p:cNvPr id="7" name="Rectangle 4">
              <a:extLst>
                <a:ext uri="{FF2B5EF4-FFF2-40B4-BE49-F238E27FC236}">
                  <a16:creationId xmlns:a16="http://schemas.microsoft.com/office/drawing/2014/main" id="{1AEF0F1E-D18A-69B9-8100-6562DDA956F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19601" y="6110958"/>
              <a:ext cx="180000" cy="49621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F0205C4C-EF1E-AD08-1638-F516E21033EF}"/>
                </a:ext>
              </a:extLst>
            </p:cNvPr>
            <p:cNvSpPr txBox="1"/>
            <p:nvPr/>
          </p:nvSpPr>
          <p:spPr>
            <a:xfrm>
              <a:off x="3799601" y="6083955"/>
              <a:ext cx="97959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recorrente</a:t>
              </a:r>
              <a:endParaRPr lang="en-US" sz="1400" dirty="0"/>
            </a:p>
          </p:txBody>
        </p:sp>
        <p:sp>
          <p:nvSpPr>
            <p:cNvPr id="11" name="Rectangle 4">
              <a:extLst>
                <a:ext uri="{FF2B5EF4-FFF2-40B4-BE49-F238E27FC236}">
                  <a16:creationId xmlns:a16="http://schemas.microsoft.com/office/drawing/2014/main" id="{7944A1DE-4D0F-01A0-4EE6-F5FEC92F3E2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36410" y="6110958"/>
              <a:ext cx="180000" cy="49621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7A758A03-28F9-6577-A08D-C8D03DF0D316}"/>
                    </a:ext>
                  </a:extLst>
                </p:cNvPr>
                <p:cNvSpPr txBox="1"/>
                <p:nvPr/>
              </p:nvSpPr>
              <p:spPr>
                <a:xfrm>
                  <a:off x="5100378" y="6110958"/>
                  <a:ext cx="131680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400" dirty="0"/>
                    <a:t>Amostra do </a:t>
                  </a:r>
                  <a14:m>
                    <m:oMath xmlns:m="http://schemas.openxmlformats.org/officeDocument/2006/math"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r>
                    <a:rPr lang="pt-BR" sz="1400" dirty="0"/>
                    <a:t>-ésimo passo</a:t>
                  </a:r>
                  <a:endParaRPr lang="en-US" sz="1400" dirty="0"/>
                </a:p>
              </p:txBody>
            </p:sp>
          </mc:Choice>
          <mc:Fallback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7A758A03-28F9-6577-A08D-C8D03DF0D3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0378" y="6110958"/>
                  <a:ext cx="131680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1163" b="-116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tangle 4">
              <a:extLst>
                <a:ext uri="{FF2B5EF4-FFF2-40B4-BE49-F238E27FC236}">
                  <a16:creationId xmlns:a16="http://schemas.microsoft.com/office/drawing/2014/main" id="{4E0EEB81-462A-7BAE-2557-C9EAD8B473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82049" y="6110958"/>
              <a:ext cx="180000" cy="49621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C1A456E8-254D-7BB3-D272-3FBC9FB4B353}"/>
                    </a:ext>
                  </a:extLst>
                </p:cNvPr>
                <p:cNvSpPr txBox="1"/>
                <p:nvPr/>
              </p:nvSpPr>
              <p:spPr>
                <a:xfrm>
                  <a:off x="6562049" y="6083955"/>
                  <a:ext cx="1077001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400" dirty="0"/>
                    <a:t>Saída do </a:t>
                  </a:r>
                  <a14:m>
                    <m:oMath xmlns:m="http://schemas.openxmlformats.org/officeDocument/2006/math"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r>
                    <a:rPr lang="pt-BR" sz="1400" dirty="0"/>
                    <a:t>-ésimo passo</a:t>
                  </a:r>
                  <a:endParaRPr lang="en-US" sz="1400" dirty="0"/>
                </a:p>
              </p:txBody>
            </p:sp>
          </mc:Choice>
          <mc:Fallback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C1A456E8-254D-7BB3-D272-3FBC9FB4B3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2049" y="6083955"/>
                  <a:ext cx="1077001" cy="523220"/>
                </a:xfrm>
                <a:prstGeom prst="rect">
                  <a:avLst/>
                </a:prstGeom>
                <a:blipFill>
                  <a:blip r:embed="rId5"/>
                  <a:stretch>
                    <a:fillRect l="-1130" t="-2326" r="-565" b="-116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3029FE31-547D-0852-38F2-23F0748C5331}"/>
                </a:ext>
              </a:extLst>
            </p:cNvPr>
            <p:cNvSpPr txBox="1"/>
            <p:nvPr/>
          </p:nvSpPr>
          <p:spPr>
            <a:xfrm>
              <a:off x="3532515" y="5802560"/>
              <a:ext cx="8775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b="1" dirty="0"/>
                <a:t>Legenda:</a:t>
              </a:r>
              <a:endParaRPr 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200553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uma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descrevendo a imagem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Entrada: um vetor que representa um gênero musical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Saída: as amostras de </a:t>
            </a:r>
            <a:r>
              <a:rPr lang="en-US" dirty="0" err="1"/>
              <a:t>áudio</a:t>
            </a:r>
            <a:r>
              <a:rPr lang="en-US" dirty="0"/>
              <a:t> da </a:t>
            </a:r>
            <a:r>
              <a:rPr lang="en-US" dirty="0" err="1"/>
              <a:t>música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698" y="1825624"/>
            <a:ext cx="6570256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sentimentos: por exemplo, classificar o sentimento de uma crítica de um filme: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à crítica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da crítica: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quadro a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imagens da vista de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quantidade de carros em cada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348B5B75-FB28-2E80-145D-B7B4D142BE9D}"/>
              </a:ext>
            </a:extLst>
          </p:cNvPr>
          <p:cNvSpPr/>
          <p:nvPr/>
        </p:nvSpPr>
        <p:spPr>
          <a:xfrm>
            <a:off x="4301176" y="2438400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4CE6692-2FDA-8E8D-AB8D-4C22F39EF85B}"/>
                  </a:ext>
                </a:extLst>
              </p:cNvPr>
              <p:cNvSpPr/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4CE6692-2FDA-8E8D-AB8D-4C22F39EF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ACD58FC-A360-C11A-7C44-B9487691833B}"/>
                  </a:ext>
                </a:extLst>
              </p:cNvPr>
              <p:cNvSpPr/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ACD58FC-A360-C11A-7C44-B94876918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E5C8D3A-0A6E-2136-613E-58C2566A481B}"/>
                  </a:ext>
                </a:extLst>
              </p:cNvPr>
              <p:cNvSpPr/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E5C8D3A-0A6E-2136-613E-58C2566A48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44C478EC-B109-7888-038E-8DBF57461B91}"/>
              </a:ext>
            </a:extLst>
          </p:cNvPr>
          <p:cNvSpPr/>
          <p:nvPr/>
        </p:nvSpPr>
        <p:spPr>
          <a:xfrm>
            <a:off x="5686483" y="3736102"/>
            <a:ext cx="614781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FC53C9F-10FB-711C-2512-7250BF72FAA1}"/>
              </a:ext>
            </a:extLst>
          </p:cNvPr>
          <p:cNvGrpSpPr/>
          <p:nvPr/>
        </p:nvGrpSpPr>
        <p:grpSpPr>
          <a:xfrm>
            <a:off x="6922167" y="2849398"/>
            <a:ext cx="627482" cy="369332"/>
            <a:chOff x="6108367" y="2910505"/>
            <a:chExt cx="627482" cy="369332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E50EACA-BDC6-7C2A-E8C3-F5699FD5BCD0}"/>
                </a:ext>
              </a:extLst>
            </p:cNvPr>
            <p:cNvSpPr/>
            <p:nvPr/>
          </p:nvSpPr>
          <p:spPr>
            <a:xfrm>
              <a:off x="6108367" y="2964609"/>
              <a:ext cx="614781" cy="2978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7990D6E-A5C5-CDF4-C0D9-387966509DC6}"/>
                </a:ext>
              </a:extLst>
            </p:cNvPr>
            <p:cNvSpPr txBox="1"/>
            <p:nvPr/>
          </p:nvSpPr>
          <p:spPr>
            <a:xfrm>
              <a:off x="6108701" y="2910505"/>
              <a:ext cx="62714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74B85D8D-87CD-87BC-E833-CE9988D869DD}"/>
              </a:ext>
            </a:extLst>
          </p:cNvPr>
          <p:cNvSpPr/>
          <p:nvPr/>
        </p:nvSpPr>
        <p:spPr>
          <a:xfrm>
            <a:off x="4587935" y="2579263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78B83A-9006-D2B3-60B8-E2D14A5914D1}"/>
              </a:ext>
            </a:extLst>
          </p:cNvPr>
          <p:cNvCxnSpPr>
            <a:stCxn id="8" idx="0"/>
            <a:endCxn id="17" idx="4"/>
          </p:cNvCxnSpPr>
          <p:nvPr/>
        </p:nvCxnSpPr>
        <p:spPr>
          <a:xfrm flipV="1">
            <a:off x="4724460" y="2852313"/>
            <a:ext cx="0" cy="883789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43F4CC40-6B8A-C2D7-30F9-5E2A663458EB}"/>
              </a:ext>
            </a:extLst>
          </p:cNvPr>
          <p:cNvCxnSpPr>
            <a:cxnSpLocks/>
            <a:endCxn id="11" idx="2"/>
          </p:cNvCxnSpPr>
          <p:nvPr/>
        </p:nvCxnSpPr>
        <p:spPr>
          <a:xfrm rot="5400000" flipH="1" flipV="1">
            <a:off x="5288165" y="3260341"/>
            <a:ext cx="641827" cy="2194687"/>
          </a:xfrm>
          <a:prstGeom prst="bentConnector3">
            <a:avLst>
              <a:gd name="adj1" fmla="val 67289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84D7DD5-AF06-660E-B8AB-56FEBD03D05B}"/>
              </a:ext>
            </a:extLst>
          </p:cNvPr>
          <p:cNvCxnSpPr>
            <a:cxnSpLocks/>
          </p:cNvCxnSpPr>
          <p:nvPr/>
        </p:nvCxnSpPr>
        <p:spPr>
          <a:xfrm>
            <a:off x="47244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6F3A98F-48B9-9CD1-B9F1-E75DD2E8FE3C}"/>
              </a:ext>
            </a:extLst>
          </p:cNvPr>
          <p:cNvCxnSpPr>
            <a:cxnSpLocks/>
          </p:cNvCxnSpPr>
          <p:nvPr/>
        </p:nvCxnSpPr>
        <p:spPr>
          <a:xfrm>
            <a:off x="52832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2E979E6-DCC4-331B-D941-6882D88766DC}"/>
              </a:ext>
            </a:extLst>
          </p:cNvPr>
          <p:cNvCxnSpPr>
            <a:cxnSpLocks/>
          </p:cNvCxnSpPr>
          <p:nvPr/>
        </p:nvCxnSpPr>
        <p:spPr>
          <a:xfrm>
            <a:off x="598811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BCF5E98C-CA06-9023-8D8F-DC58885C84A8}"/>
              </a:ext>
            </a:extLst>
          </p:cNvPr>
          <p:cNvSpPr/>
          <p:nvPr/>
        </p:nvSpPr>
        <p:spPr>
          <a:xfrm>
            <a:off x="5856481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EAF062E-2592-CB45-36A5-2A33D358D8BF}"/>
              </a:ext>
            </a:extLst>
          </p:cNvPr>
          <p:cNvCxnSpPr>
            <a:cxnSpLocks/>
            <a:stCxn id="12" idx="0"/>
            <a:endCxn id="37" idx="4"/>
          </p:cNvCxnSpPr>
          <p:nvPr/>
        </p:nvCxnSpPr>
        <p:spPr>
          <a:xfrm flipH="1" flipV="1">
            <a:off x="5993006" y="3602002"/>
            <a:ext cx="868" cy="13410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52EAE681-2114-E3E3-C3A4-320425997F09}"/>
              </a:ext>
            </a:extLst>
          </p:cNvPr>
          <p:cNvSpPr/>
          <p:nvPr/>
        </p:nvSpPr>
        <p:spPr>
          <a:xfrm>
            <a:off x="5853141" y="2580426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+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1D65BD3-E604-D135-F107-EC4CC81E93DD}"/>
              </a:ext>
            </a:extLst>
          </p:cNvPr>
          <p:cNvCxnSpPr>
            <a:cxnSpLocks/>
            <a:stCxn id="37" idx="0"/>
            <a:endCxn id="48" idx="4"/>
          </p:cNvCxnSpPr>
          <p:nvPr/>
        </p:nvCxnSpPr>
        <p:spPr>
          <a:xfrm flipH="1" flipV="1">
            <a:off x="5989666" y="2853476"/>
            <a:ext cx="3340" cy="475476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C9DC9C7A-C05F-76B8-966F-44753826D4BF}"/>
              </a:ext>
            </a:extLst>
          </p:cNvPr>
          <p:cNvSpPr/>
          <p:nvPr/>
        </p:nvSpPr>
        <p:spPr>
          <a:xfrm>
            <a:off x="7100175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822FBB9-C029-EAAD-530F-8A6805EE47F8}"/>
              </a:ext>
            </a:extLst>
          </p:cNvPr>
          <p:cNvCxnSpPr>
            <a:cxnSpLocks/>
          </p:cNvCxnSpPr>
          <p:nvPr/>
        </p:nvCxnSpPr>
        <p:spPr>
          <a:xfrm flipH="1" flipV="1">
            <a:off x="7236075" y="3192538"/>
            <a:ext cx="625" cy="144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BFA24E6-0E52-669D-D3F8-9864EDC5552B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012696" y="2715788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BF0A013-C46F-87B6-A913-AB6006AD99D3}"/>
              </a:ext>
            </a:extLst>
          </p:cNvPr>
          <p:cNvCxnSpPr>
            <a:cxnSpLocks/>
            <a:stCxn id="17" idx="6"/>
            <a:endCxn id="48" idx="2"/>
          </p:cNvCxnSpPr>
          <p:nvPr/>
        </p:nvCxnSpPr>
        <p:spPr>
          <a:xfrm>
            <a:off x="4860985" y="2715788"/>
            <a:ext cx="992156" cy="1163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BA55220-0A3C-FB05-7E36-C68DDF50F072}"/>
              </a:ext>
            </a:extLst>
          </p:cNvPr>
          <p:cNvCxnSpPr>
            <a:cxnSpLocks/>
          </p:cNvCxnSpPr>
          <p:nvPr/>
        </p:nvCxnSpPr>
        <p:spPr>
          <a:xfrm>
            <a:off x="6126191" y="2715788"/>
            <a:ext cx="1980000" cy="1163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CF73AECF-36D3-CBDF-5806-CA480B4C4499}"/>
              </a:ext>
            </a:extLst>
          </p:cNvPr>
          <p:cNvCxnSpPr>
            <a:cxnSpLocks/>
          </p:cNvCxnSpPr>
          <p:nvPr/>
        </p:nvCxnSpPr>
        <p:spPr>
          <a:xfrm flipH="1" flipV="1">
            <a:off x="7232357" y="2715838"/>
            <a:ext cx="625" cy="180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A0680E3E-2512-6A1A-E3EA-44839A3E0D6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6706422" y="3465477"/>
            <a:ext cx="393753" cy="270625"/>
          </a:xfrm>
          <a:prstGeom prst="bentConnector3">
            <a:avLst>
              <a:gd name="adj1" fmla="val 1620"/>
            </a:avLst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A4015C41-4587-E1BF-7A8F-3DF236C02ABD}"/>
              </a:ext>
            </a:extLst>
          </p:cNvPr>
          <p:cNvCxnSpPr>
            <a:stCxn id="10" idx="0"/>
            <a:endCxn id="37" idx="2"/>
          </p:cNvCxnSpPr>
          <p:nvPr/>
        </p:nvCxnSpPr>
        <p:spPr>
          <a:xfrm rot="5400000" flipH="1" flipV="1">
            <a:off x="5437228" y="3316849"/>
            <a:ext cx="270625" cy="567882"/>
          </a:xfrm>
          <a:prstGeom prst="bentConnector2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89EBFBE-86AF-DCA0-9896-A6D5E6FBA8F6}"/>
              </a:ext>
            </a:extLst>
          </p:cNvPr>
          <p:cNvCxnSpPr>
            <a:cxnSpLocks/>
          </p:cNvCxnSpPr>
          <p:nvPr/>
        </p:nvCxnSpPr>
        <p:spPr>
          <a:xfrm>
            <a:off x="7233694" y="4241954"/>
            <a:ext cx="876634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0EF1A2A-AF97-E7D2-178C-FFE80B3251D1}"/>
              </a:ext>
            </a:extLst>
          </p:cNvPr>
          <p:cNvCxnSpPr>
            <a:cxnSpLocks/>
            <a:endCxn id="52" idx="4"/>
          </p:cNvCxnSpPr>
          <p:nvPr/>
        </p:nvCxnSpPr>
        <p:spPr>
          <a:xfrm flipV="1">
            <a:off x="7236700" y="3602002"/>
            <a:ext cx="0" cy="639952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C0636B7D-2A5C-4392-28D4-DBDF85E54A2A}"/>
              </a:ext>
            </a:extLst>
          </p:cNvPr>
          <p:cNvCxnSpPr>
            <a:cxnSpLocks/>
          </p:cNvCxnSpPr>
          <p:nvPr/>
        </p:nvCxnSpPr>
        <p:spPr>
          <a:xfrm flipV="1">
            <a:off x="7650185" y="2204176"/>
            <a:ext cx="0" cy="468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7CB8566-5FA8-4AE1-E1A3-37AA355FE51D}"/>
              </a:ext>
            </a:extLst>
          </p:cNvPr>
          <p:cNvCxnSpPr>
            <a:cxnSpLocks/>
          </p:cNvCxnSpPr>
          <p:nvPr/>
        </p:nvCxnSpPr>
        <p:spPr>
          <a:xfrm flipH="1" flipV="1">
            <a:off x="7650185" y="2756590"/>
            <a:ext cx="625" cy="1476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A6D9F0B4-913F-1EED-8A29-810518E05463}"/>
              </a:ext>
            </a:extLst>
          </p:cNvPr>
          <p:cNvSpPr/>
          <p:nvPr/>
        </p:nvSpPr>
        <p:spPr>
          <a:xfrm>
            <a:off x="492094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92FA1F5-FD24-F58C-C0EA-B1FA15F86729}"/>
              </a:ext>
            </a:extLst>
          </p:cNvPr>
          <p:cNvCxnSpPr>
            <a:cxnSpLocks/>
          </p:cNvCxnSpPr>
          <p:nvPr/>
        </p:nvCxnSpPr>
        <p:spPr>
          <a:xfrm>
            <a:off x="4012696" y="2715788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2AF8E87-6151-A661-474A-AD4443F2A4DC}"/>
              </a:ext>
            </a:extLst>
          </p:cNvPr>
          <p:cNvCxnSpPr>
            <a:cxnSpLocks/>
          </p:cNvCxnSpPr>
          <p:nvPr/>
        </p:nvCxnSpPr>
        <p:spPr>
          <a:xfrm flipV="1">
            <a:off x="3971971" y="4234824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38F9929-0D9E-7BAE-3976-F3AACAC47318}"/>
              </a:ext>
            </a:extLst>
          </p:cNvPr>
          <p:cNvCxnSpPr>
            <a:cxnSpLocks/>
          </p:cNvCxnSpPr>
          <p:nvPr/>
        </p:nvCxnSpPr>
        <p:spPr>
          <a:xfrm>
            <a:off x="3971971" y="423863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0549E296-9BF6-1073-36A7-44A6BC84E646}"/>
              </a:ext>
            </a:extLst>
          </p:cNvPr>
          <p:cNvSpPr/>
          <p:nvPr/>
        </p:nvSpPr>
        <p:spPr>
          <a:xfrm>
            <a:off x="8083166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3F4FFE22-901A-5ECB-8DD0-DE274D49C1CE}"/>
              </a:ext>
            </a:extLst>
          </p:cNvPr>
          <p:cNvCxnSpPr>
            <a:cxnSpLocks/>
          </p:cNvCxnSpPr>
          <p:nvPr/>
        </p:nvCxnSpPr>
        <p:spPr>
          <a:xfrm>
            <a:off x="11572921" y="424195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3C39462-6C16-B627-F0AA-034DBCEEAFBA}"/>
              </a:ext>
            </a:extLst>
          </p:cNvPr>
          <p:cNvCxnSpPr>
            <a:cxnSpLocks/>
          </p:cNvCxnSpPr>
          <p:nvPr/>
        </p:nvCxnSpPr>
        <p:spPr>
          <a:xfrm>
            <a:off x="11606773" y="2715942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4B7AA29-1794-6E8C-61F5-28A8A04CC1A1}"/>
                  </a:ext>
                </a:extLst>
              </p:cNvPr>
              <p:cNvSpPr txBox="1"/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4B7AA29-1794-6E8C-61F5-28A8A04C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922EF61C-EF99-D374-EA91-A8D137ADC993}"/>
              </a:ext>
            </a:extLst>
          </p:cNvPr>
          <p:cNvCxnSpPr>
            <a:cxnSpLocks/>
          </p:cNvCxnSpPr>
          <p:nvPr/>
        </p:nvCxnSpPr>
        <p:spPr>
          <a:xfrm flipV="1">
            <a:off x="702412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A2DA2877-36E8-DE52-7D68-11E5A3DA45FF}"/>
              </a:ext>
            </a:extLst>
          </p:cNvPr>
          <p:cNvCxnSpPr>
            <a:cxnSpLocks/>
          </p:cNvCxnSpPr>
          <p:nvPr/>
        </p:nvCxnSpPr>
        <p:spPr>
          <a:xfrm flipV="1">
            <a:off x="8276770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E7D096F0-65EF-76A1-E864-DEFDD7B1DF2E}"/>
              </a:ext>
            </a:extLst>
          </p:cNvPr>
          <p:cNvCxnSpPr>
            <a:cxnSpLocks/>
          </p:cNvCxnSpPr>
          <p:nvPr/>
        </p:nvCxnSpPr>
        <p:spPr>
          <a:xfrm flipV="1">
            <a:off x="11404780" y="2212072"/>
            <a:ext cx="0" cy="273953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3419660-66CC-40DA-03A8-9CA6E7C0AF37}"/>
              </a:ext>
            </a:extLst>
          </p:cNvPr>
          <p:cNvCxnSpPr>
            <a:cxnSpLocks/>
          </p:cNvCxnSpPr>
          <p:nvPr/>
        </p:nvCxnSpPr>
        <p:spPr>
          <a:xfrm flipV="1">
            <a:off x="3693922" y="2204176"/>
            <a:ext cx="0" cy="234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67B8102E-31B3-C3A9-13A3-0364FF9802EB}"/>
                  </a:ext>
                </a:extLst>
              </p:cNvPr>
              <p:cNvSpPr/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B8102E-31B3-C3A9-13A3-0364FF9802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4483E7F-A937-DCD5-593D-9BF0A521317D}"/>
              </a:ext>
            </a:extLst>
          </p:cNvPr>
          <p:cNvSpPr txBox="1"/>
          <p:nvPr/>
        </p:nvSpPr>
        <p:spPr>
          <a:xfrm>
            <a:off x="1991126" y="5592639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sigmoide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10A206D-DE0F-FE1C-4415-C2DFE8541DE1}"/>
              </a:ext>
            </a:extLst>
          </p:cNvPr>
          <p:cNvSpPr/>
          <p:nvPr/>
        </p:nvSpPr>
        <p:spPr>
          <a:xfrm>
            <a:off x="5608613" y="528852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01EEF9-98B3-9F64-F85F-07641BA1F0E3}"/>
              </a:ext>
            </a:extLst>
          </p:cNvPr>
          <p:cNvSpPr txBox="1"/>
          <p:nvPr/>
        </p:nvSpPr>
        <p:spPr>
          <a:xfrm>
            <a:off x="5139666" y="5533393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operação</a:t>
            </a:r>
            <a:r>
              <a:rPr lang="en-US" sz="1400" dirty="0"/>
              <a:t> </a:t>
            </a:r>
            <a:r>
              <a:rPr lang="en-US" sz="1400" dirty="0" err="1"/>
              <a:t>pontual</a:t>
            </a:r>
            <a:endParaRPr lang="en-US" sz="1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CCF47AF-2D48-1D6C-D27B-0CC557A4D3BC}"/>
              </a:ext>
            </a:extLst>
          </p:cNvPr>
          <p:cNvCxnSpPr>
            <a:cxnSpLocks/>
          </p:cNvCxnSpPr>
          <p:nvPr/>
        </p:nvCxnSpPr>
        <p:spPr>
          <a:xfrm>
            <a:off x="6637778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4D46D6C-FBD0-36BF-A4A0-F0AA4C62BC59}"/>
              </a:ext>
            </a:extLst>
          </p:cNvPr>
          <p:cNvSpPr txBox="1"/>
          <p:nvPr/>
        </p:nvSpPr>
        <p:spPr>
          <a:xfrm>
            <a:off x="6275192" y="5531005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transferência</a:t>
            </a:r>
            <a:r>
              <a:rPr lang="en-US" sz="1400" dirty="0"/>
              <a:t> de </a:t>
            </a:r>
            <a:r>
              <a:rPr lang="en-US" sz="1400" dirty="0" err="1"/>
              <a:t>vetor</a:t>
            </a:r>
            <a:endParaRPr lang="en-US" sz="140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7FE6DA6-5752-4BD9-4B22-C5A902BD5C6B}"/>
              </a:ext>
            </a:extLst>
          </p:cNvPr>
          <p:cNvCxnSpPr>
            <a:cxnSpLocks/>
          </p:cNvCxnSpPr>
          <p:nvPr/>
        </p:nvCxnSpPr>
        <p:spPr>
          <a:xfrm>
            <a:off x="7871574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AA379DA-FDF4-4C2E-212F-301E5D1A6625}"/>
              </a:ext>
            </a:extLst>
          </p:cNvPr>
          <p:cNvCxnSpPr/>
          <p:nvPr/>
        </p:nvCxnSpPr>
        <p:spPr>
          <a:xfrm>
            <a:off x="8134689" y="5434573"/>
            <a:ext cx="0" cy="2904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2C1639E-62C8-EF4F-BC59-06D35F047F64}"/>
              </a:ext>
            </a:extLst>
          </p:cNvPr>
          <p:cNvSpPr txBox="1"/>
          <p:nvPr/>
        </p:nvSpPr>
        <p:spPr>
          <a:xfrm>
            <a:off x="7538311" y="5690289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concatenação</a:t>
            </a:r>
            <a:endParaRPr lang="en-US" sz="1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6BE94A-7B45-0DB7-05F1-86A17C409BD0}"/>
              </a:ext>
            </a:extLst>
          </p:cNvPr>
          <p:cNvCxnSpPr>
            <a:cxnSpLocks/>
          </p:cNvCxnSpPr>
          <p:nvPr/>
        </p:nvCxnSpPr>
        <p:spPr>
          <a:xfrm>
            <a:off x="9030310" y="5689985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868D48C-258F-30A1-C079-D3E227346BD5}"/>
              </a:ext>
            </a:extLst>
          </p:cNvPr>
          <p:cNvCxnSpPr/>
          <p:nvPr/>
        </p:nvCxnSpPr>
        <p:spPr>
          <a:xfrm>
            <a:off x="9293364" y="5385798"/>
            <a:ext cx="0" cy="290413"/>
          </a:xfrm>
          <a:prstGeom prst="line">
            <a:avLst/>
          </a:prstGeom>
          <a:ln w="190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2CB8A93-557A-5259-EB5A-85D7D4D96AD1}"/>
              </a:ext>
            </a:extLst>
          </p:cNvPr>
          <p:cNvSpPr txBox="1"/>
          <p:nvPr/>
        </p:nvSpPr>
        <p:spPr>
          <a:xfrm>
            <a:off x="8664743" y="5681618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cópia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46AAD0-1376-49ED-6106-0413203680D6}"/>
                  </a:ext>
                </a:extLst>
              </p:cNvPr>
              <p:cNvSpPr txBox="1"/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246AAD0-1376-49ED-6106-041320368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79AA4D9-0CBE-CBE0-7232-D2B675E04931}"/>
                  </a:ext>
                </a:extLst>
              </p:cNvPr>
              <p:cNvSpPr txBox="1"/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9AA4D9-0CBE-CBE0-7232-D2B675E04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6FA6F2C-8E33-655A-EAEF-0D0E286BD191}"/>
                  </a:ext>
                </a:extLst>
              </p:cNvPr>
              <p:cNvSpPr txBox="1"/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6FA6F2C-8E33-655A-EAEF-0D0E286BD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E911784-46DC-FD4B-8F99-C5D6064602E6}"/>
                  </a:ext>
                </a:extLst>
              </p:cNvPr>
              <p:cNvSpPr txBox="1"/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E911784-46DC-FD4B-8F99-C5D60646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276B13D-7144-BE36-299F-CE78D79813D4}"/>
                  </a:ext>
                </a:extLst>
              </p:cNvPr>
              <p:cNvSpPr txBox="1"/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276B13D-7144-BE36-299F-CE78D7981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8A9D5604-42D8-94B0-F0FA-40F8A5FE0687}"/>
              </a:ext>
            </a:extLst>
          </p:cNvPr>
          <p:cNvSpPr/>
          <p:nvPr/>
        </p:nvSpPr>
        <p:spPr>
          <a:xfrm>
            <a:off x="4263911" y="5283385"/>
            <a:ext cx="588587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err="1">
                <a:solidFill>
                  <a:schemeClr val="tx1"/>
                </a:solidFill>
              </a:rPr>
              <a:t>tanh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6895CF3-782C-C5FB-0D92-D28EF588D039}"/>
              </a:ext>
            </a:extLst>
          </p:cNvPr>
          <p:cNvSpPr txBox="1"/>
          <p:nvPr/>
        </p:nvSpPr>
        <p:spPr>
          <a:xfrm>
            <a:off x="3608193" y="5581257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</a:t>
            </a:r>
            <a:r>
              <a:rPr lang="pt-BR" sz="1400" dirty="0" err="1"/>
              <a:t>tanh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975628" y="1834844"/>
            <a:ext cx="7884560" cy="4250019"/>
            <a:chOff x="1975628" y="1834844"/>
            <a:chExt cx="7884560" cy="4250019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62617247-07D2-6657-99D1-398FE3BE06C0}"/>
                </a:ext>
              </a:extLst>
            </p:cNvPr>
            <p:cNvGrpSpPr/>
            <p:nvPr/>
          </p:nvGrpSpPr>
          <p:grpSpPr>
            <a:xfrm>
              <a:off x="3489806" y="1834844"/>
              <a:ext cx="5319746" cy="3227138"/>
              <a:chOff x="3489806" y="1834844"/>
              <a:chExt cx="5319746" cy="3227138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F9B84FA2-83D7-7AD8-9610-5A415E5EE1A1}"/>
                  </a:ext>
                </a:extLst>
              </p:cNvPr>
              <p:cNvSpPr/>
              <p:nvPr/>
            </p:nvSpPr>
            <p:spPr>
              <a:xfrm>
                <a:off x="4301176" y="2438400"/>
                <a:ext cx="3522024" cy="1981200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/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/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/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E2E3973-7BB3-5423-9E41-4A439D4AD2FA}"/>
                  </a:ext>
                </a:extLst>
              </p:cNvPr>
              <p:cNvSpPr/>
              <p:nvPr/>
            </p:nvSpPr>
            <p:spPr>
              <a:xfrm>
                <a:off x="5686483" y="3736102"/>
                <a:ext cx="614781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357EC369-9B76-A27D-EDC3-890F0716751F}"/>
                  </a:ext>
                </a:extLst>
              </p:cNvPr>
              <p:cNvGrpSpPr/>
              <p:nvPr/>
            </p:nvGrpSpPr>
            <p:grpSpPr>
              <a:xfrm>
                <a:off x="6922167" y="2849398"/>
                <a:ext cx="627482" cy="369332"/>
                <a:chOff x="6108367" y="2910505"/>
                <a:chExt cx="627482" cy="3693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1105FA2D-CACC-93FD-8147-BCE771CE8357}"/>
                    </a:ext>
                  </a:extLst>
                </p:cNvPr>
                <p:cNvSpPr/>
                <p:nvPr/>
              </p:nvSpPr>
              <p:spPr>
                <a:xfrm>
                  <a:off x="6108367" y="2964609"/>
                  <a:ext cx="614781" cy="29787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50" dirty="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07EE48F-7B86-5BD2-1F8C-469594A636F0}"/>
                    </a:ext>
                  </a:extLst>
                </p:cNvPr>
                <p:cNvSpPr txBox="1"/>
                <p:nvPr/>
              </p:nvSpPr>
              <p:spPr>
                <a:xfrm>
                  <a:off x="6108701" y="2910505"/>
                  <a:ext cx="6271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 err="1">
                      <a:solidFill>
                        <a:schemeClr val="tx1"/>
                      </a:solidFill>
                    </a:rPr>
                    <a:t>tanh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734FE972-9F06-C11C-3F53-9D4666EC5095}"/>
                  </a:ext>
                </a:extLst>
              </p:cNvPr>
              <p:cNvSpPr/>
              <p:nvPr/>
            </p:nvSpPr>
            <p:spPr>
              <a:xfrm>
                <a:off x="4587935" y="2579263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A318A7D-6AD1-A164-9144-BD5F28A4E7B7}"/>
                  </a:ext>
                </a:extLst>
              </p:cNvPr>
              <p:cNvCxnSpPr>
                <a:stCxn id="8" idx="0"/>
                <a:endCxn id="17" idx="4"/>
              </p:cNvCxnSpPr>
              <p:nvPr/>
            </p:nvCxnSpPr>
            <p:spPr>
              <a:xfrm flipV="1">
                <a:off x="4724460" y="2852313"/>
                <a:ext cx="0" cy="883789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Connector: Elbow 29">
                <a:extLst>
                  <a:ext uri="{FF2B5EF4-FFF2-40B4-BE49-F238E27FC236}">
                    <a16:creationId xmlns:a16="http://schemas.microsoft.com/office/drawing/2014/main" id="{AE5B4441-DF89-25A1-3560-8E5404670E96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flipV="1">
                <a:off x="4031369" y="4036770"/>
                <a:ext cx="2675053" cy="214575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0093E439-25EF-02C4-D9C2-A1FE29C3AD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44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A60E907D-7CA5-2C6C-E31F-2F003AE9D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832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137E1A15-7B2A-4277-FFA1-74355E9235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811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D93AEA26-EC0B-1E3E-D68C-6CE9227A173D}"/>
                  </a:ext>
                </a:extLst>
              </p:cNvPr>
              <p:cNvSpPr/>
              <p:nvPr/>
            </p:nvSpPr>
            <p:spPr>
              <a:xfrm>
                <a:off x="5856481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461F8C01-4628-007D-8EE8-08D26131E8B9}"/>
                  </a:ext>
                </a:extLst>
              </p:cNvPr>
              <p:cNvCxnSpPr>
                <a:cxnSpLocks/>
                <a:stCxn id="12" idx="0"/>
                <a:endCxn id="37" idx="4"/>
              </p:cNvCxnSpPr>
              <p:nvPr/>
            </p:nvCxnSpPr>
            <p:spPr>
              <a:xfrm flipH="1" flipV="1">
                <a:off x="5993006" y="3602002"/>
                <a:ext cx="868" cy="1341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5D0673A-6CCA-67DE-BB0A-0EAB5B641853}"/>
                  </a:ext>
                </a:extLst>
              </p:cNvPr>
              <p:cNvSpPr/>
              <p:nvPr/>
            </p:nvSpPr>
            <p:spPr>
              <a:xfrm>
                <a:off x="5853141" y="2580426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+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34707AEE-8AB6-332F-D775-5D47B6EAB570}"/>
                  </a:ext>
                </a:extLst>
              </p:cNvPr>
              <p:cNvCxnSpPr>
                <a:cxnSpLocks/>
                <a:stCxn id="37" idx="0"/>
                <a:endCxn id="48" idx="4"/>
              </p:cNvCxnSpPr>
              <p:nvPr/>
            </p:nvCxnSpPr>
            <p:spPr>
              <a:xfrm flipH="1" flipV="1">
                <a:off x="5989666" y="2853476"/>
                <a:ext cx="3340" cy="475476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E3FDEDCE-1E3B-8147-4D13-A242E9C2B33E}"/>
                  </a:ext>
                </a:extLst>
              </p:cNvPr>
              <p:cNvSpPr/>
              <p:nvPr/>
            </p:nvSpPr>
            <p:spPr>
              <a:xfrm>
                <a:off x="7100175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6E60737-7998-C245-9FB1-6B1755A8F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6075" y="3192538"/>
                <a:ext cx="625" cy="144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FE690B6A-0885-819C-6118-6C7D093B193B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V="1">
                <a:off x="4012696" y="2715788"/>
                <a:ext cx="575239" cy="168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4E0DA3A1-C433-12FD-E043-1BB3EB5D0076}"/>
                  </a:ext>
                </a:extLst>
              </p:cNvPr>
              <p:cNvCxnSpPr>
                <a:cxnSpLocks/>
                <a:stCxn id="17" idx="6"/>
                <a:endCxn id="48" idx="2"/>
              </p:cNvCxnSpPr>
              <p:nvPr/>
            </p:nvCxnSpPr>
            <p:spPr>
              <a:xfrm>
                <a:off x="4860985" y="2715788"/>
                <a:ext cx="992156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A63A645C-4CC1-5896-32E8-305EA54E21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26191" y="2715788"/>
                <a:ext cx="1980000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C7FF5E71-FB7D-9609-3FC5-AD13B5F1C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2357" y="2715838"/>
                <a:ext cx="625" cy="180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Connector: Elbow 77">
                <a:extLst>
                  <a:ext uri="{FF2B5EF4-FFF2-40B4-BE49-F238E27FC236}">
                    <a16:creationId xmlns:a16="http://schemas.microsoft.com/office/drawing/2014/main" id="{942AD4B1-3DFB-E8BA-0218-D9E850190EBC}"/>
                  </a:ext>
                </a:extLst>
              </p:cNvPr>
              <p:cNvCxnSpPr>
                <a:cxnSpLocks/>
                <a:endCxn id="52" idx="2"/>
              </p:cNvCxnSpPr>
              <p:nvPr/>
            </p:nvCxnSpPr>
            <p:spPr>
              <a:xfrm flipV="1">
                <a:off x="6706422" y="3465477"/>
                <a:ext cx="393753" cy="270625"/>
              </a:xfrm>
              <a:prstGeom prst="bentConnector3">
                <a:avLst>
                  <a:gd name="adj1" fmla="val 1620"/>
                </a:avLst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Connector: Elbow 82">
                <a:extLst>
                  <a:ext uri="{FF2B5EF4-FFF2-40B4-BE49-F238E27FC236}">
                    <a16:creationId xmlns:a16="http://schemas.microsoft.com/office/drawing/2014/main" id="{4D8692E4-6CA5-D2CA-A76D-73771408476E}"/>
                  </a:ext>
                </a:extLst>
              </p:cNvPr>
              <p:cNvCxnSpPr>
                <a:stCxn id="10" idx="0"/>
                <a:endCxn id="37" idx="2"/>
              </p:cNvCxnSpPr>
              <p:nvPr/>
            </p:nvCxnSpPr>
            <p:spPr>
              <a:xfrm rot="5400000" flipH="1" flipV="1">
                <a:off x="5437228" y="3316849"/>
                <a:ext cx="270625" cy="567882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9FE0230A-FA48-1674-EE72-563556A3A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3694" y="4241954"/>
                <a:ext cx="876634" cy="0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DD806146-5F28-31BB-C91D-206A9C7C1949}"/>
                  </a:ext>
                </a:extLst>
              </p:cNvPr>
              <p:cNvCxnSpPr>
                <a:cxnSpLocks/>
                <a:endCxn id="52" idx="4"/>
              </p:cNvCxnSpPr>
              <p:nvPr/>
            </p:nvCxnSpPr>
            <p:spPr>
              <a:xfrm flipV="1">
                <a:off x="7236700" y="3602002"/>
                <a:ext cx="0" cy="63995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id="{97AFC188-C5E0-E364-C3F7-EF901703C4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50185" y="2204176"/>
                <a:ext cx="0" cy="4680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5C32825B-E0C6-9CDA-AFFC-FEF61AC5A1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650185" y="2756590"/>
                <a:ext cx="625" cy="1476000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/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8169" r="-563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/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/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74094E0-AD46-6D7F-26FE-DF8481A5AC18}"/>
                  </a:ext>
                </a:extLst>
              </p:cNvPr>
              <p:cNvCxnSpPr/>
              <p:nvPr/>
            </p:nvCxnSpPr>
            <p:spPr>
              <a:xfrm>
                <a:off x="4558205" y="4251345"/>
                <a:ext cx="0" cy="492105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/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:a14="http://schemas.microsoft.com/office/drawing/2010/main" xmlns="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75628" y="5561643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593115" y="52575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24168" y="5502397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46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22280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59694" y="5500009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51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56076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19191" y="5403577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22813" y="5659293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14812" y="5658989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77866" y="5354802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49245" y="5650622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p:sp>
          <p:nvSpPr>
            <p:cNvPr id="59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48413" y="5252389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592695" y="5550261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197032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6011628" y="1918390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EE45A31D-EB0C-6D89-2D47-756B80675F45}"/>
              </a:ext>
            </a:extLst>
          </p:cNvPr>
          <p:cNvGrpSpPr/>
          <p:nvPr/>
        </p:nvGrpSpPr>
        <p:grpSpPr>
          <a:xfrm>
            <a:off x="510827" y="2688275"/>
            <a:ext cx="3550826" cy="1751496"/>
            <a:chOff x="510827" y="2688275"/>
            <a:chExt cx="3550826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748" y="2934602"/>
              <a:ext cx="396000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343793" y="3006885"/>
                  <a:ext cx="27178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𝒉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pt-BR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𝑾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𝒃</m:t>
                            </m:r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3793" y="3006885"/>
                  <a:ext cx="2717860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Connector 41">
              <a:extLst>
                <a:ext uri="{FF2B5EF4-FFF2-40B4-BE49-F238E27FC236}">
                  <a16:creationId xmlns:a16="http://schemas.microsoft.com/office/drawing/2014/main" id="{4351BED6-9CC8-9034-67A1-1A6D7E93D2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8023" y="2934602"/>
              <a:ext cx="396000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506345" y="1849548"/>
            <a:ext cx="5133274" cy="3158904"/>
            <a:chOff x="3387954" y="1841814"/>
            <a:chExt cx="5133274" cy="3158904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5063158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000551" y="722618"/>
            <a:ext cx="4928922" cy="2713085"/>
            <a:chOff x="3581399" y="2111642"/>
            <a:chExt cx="4928922" cy="2713085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547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7964857" y="2111642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4857" y="2111642"/>
                  <a:ext cx="363844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 r="-16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3" name="Agrupar 82">
            <a:extLst>
              <a:ext uri="{FF2B5EF4-FFF2-40B4-BE49-F238E27FC236}">
                <a16:creationId xmlns:a16="http://schemas.microsoft.com/office/drawing/2014/main" id="{3829C9C8-68E0-A161-6783-8325BBD0C9AF}"/>
              </a:ext>
            </a:extLst>
          </p:cNvPr>
          <p:cNvGrpSpPr/>
          <p:nvPr/>
        </p:nvGrpSpPr>
        <p:grpSpPr>
          <a:xfrm>
            <a:off x="1393870" y="3892247"/>
            <a:ext cx="4928922" cy="2713085"/>
            <a:chOff x="1393870" y="3892247"/>
            <a:chExt cx="4928922" cy="2713085"/>
          </a:xfrm>
        </p:grpSpPr>
        <p:sp>
          <p:nvSpPr>
            <p:cNvPr id="5" name="Rectangle: Rounded Corners 133">
              <a:extLst>
                <a:ext uri="{FF2B5EF4-FFF2-40B4-BE49-F238E27FC236}">
                  <a16:creationId xmlns:a16="http://schemas.microsoft.com/office/drawing/2014/main" id="{76B82460-6712-509A-7F39-7E3342D21837}"/>
                </a:ext>
              </a:extLst>
            </p:cNvPr>
            <p:cNvSpPr/>
            <p:nvPr/>
          </p:nvSpPr>
          <p:spPr>
            <a:xfrm>
              <a:off x="2113647" y="4219005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" name="Straight Arrow Connector 134">
              <a:extLst>
                <a:ext uri="{FF2B5EF4-FFF2-40B4-BE49-F238E27FC236}">
                  <a16:creationId xmlns:a16="http://schemas.microsoft.com/office/drawing/2014/main" id="{00825B81-BABB-775B-C142-3EB6C20FB5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36620" y="4025478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135">
              <a:extLst>
                <a:ext uri="{FF2B5EF4-FFF2-40B4-BE49-F238E27FC236}">
                  <a16:creationId xmlns:a16="http://schemas.microsoft.com/office/drawing/2014/main" id="{299B97CD-2596-41F1-C944-D841B055FD4F}"/>
                </a:ext>
              </a:extLst>
            </p:cNvPr>
            <p:cNvSpPr/>
            <p:nvPr/>
          </p:nvSpPr>
          <p:spPr>
            <a:xfrm>
              <a:off x="2546073" y="4968470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Oval 136">
              <a:extLst>
                <a:ext uri="{FF2B5EF4-FFF2-40B4-BE49-F238E27FC236}">
                  <a16:creationId xmlns:a16="http://schemas.microsoft.com/office/drawing/2014/main" id="{5A2821D2-04DD-590C-E6EF-7FEB220F2DD9}"/>
                </a:ext>
              </a:extLst>
            </p:cNvPr>
            <p:cNvSpPr/>
            <p:nvPr/>
          </p:nvSpPr>
          <p:spPr>
            <a:xfrm>
              <a:off x="4048952" y="435695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 137">
              <a:extLst>
                <a:ext uri="{FF2B5EF4-FFF2-40B4-BE49-F238E27FC236}">
                  <a16:creationId xmlns:a16="http://schemas.microsoft.com/office/drawing/2014/main" id="{51169341-7C6A-C220-1721-4F73952EEF3F}"/>
                </a:ext>
              </a:extLst>
            </p:cNvPr>
            <p:cNvSpPr/>
            <p:nvPr/>
          </p:nvSpPr>
          <p:spPr>
            <a:xfrm>
              <a:off x="4889202" y="539301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Oval 138">
              <a:extLst>
                <a:ext uri="{FF2B5EF4-FFF2-40B4-BE49-F238E27FC236}">
                  <a16:creationId xmlns:a16="http://schemas.microsoft.com/office/drawing/2014/main" id="{66B6166C-B62E-A0A3-1C8F-5870F25564FC}"/>
                </a:ext>
              </a:extLst>
            </p:cNvPr>
            <p:cNvSpPr/>
            <p:nvPr/>
          </p:nvSpPr>
          <p:spPr>
            <a:xfrm>
              <a:off x="5060068" y="435695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39">
                  <a:extLst>
                    <a:ext uri="{FF2B5EF4-FFF2-40B4-BE49-F238E27FC236}">
                      <a16:creationId xmlns:a16="http://schemas.microsoft.com/office/drawing/2014/main" id="{14D576C3-4CC9-E995-4273-0A0504F1DC54}"/>
                    </a:ext>
                  </a:extLst>
                </p:cNvPr>
                <p:cNvSpPr txBox="1"/>
                <p:nvPr/>
              </p:nvSpPr>
              <p:spPr>
                <a:xfrm>
                  <a:off x="1393870" y="4300796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39">
                  <a:extLst>
                    <a:ext uri="{FF2B5EF4-FFF2-40B4-BE49-F238E27FC236}">
                      <a16:creationId xmlns:a16="http://schemas.microsoft.com/office/drawing/2014/main" id="{14D576C3-4CC9-E995-4273-0A0504F1DC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3870" y="4300796"/>
                  <a:ext cx="511583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Oval 140">
              <a:extLst>
                <a:ext uri="{FF2B5EF4-FFF2-40B4-BE49-F238E27FC236}">
                  <a16:creationId xmlns:a16="http://schemas.microsoft.com/office/drawing/2014/main" id="{E32641F0-F42D-21EA-BC6A-9B9282C4533E}"/>
                </a:ext>
              </a:extLst>
            </p:cNvPr>
            <p:cNvSpPr/>
            <p:nvPr/>
          </p:nvSpPr>
          <p:spPr>
            <a:xfrm>
              <a:off x="5060068" y="4866870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41">
                  <a:extLst>
                    <a:ext uri="{FF2B5EF4-FFF2-40B4-BE49-F238E27FC236}">
                      <a16:creationId xmlns:a16="http://schemas.microsoft.com/office/drawing/2014/main" id="{C3636391-8219-5A2B-D717-423AC3B27F6E}"/>
                    </a:ext>
                  </a:extLst>
                </p:cNvPr>
                <p:cNvSpPr/>
                <p:nvPr/>
              </p:nvSpPr>
              <p:spPr>
                <a:xfrm>
                  <a:off x="4018904" y="5387770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Rectangle 141">
                  <a:extLst>
                    <a:ext uri="{FF2B5EF4-FFF2-40B4-BE49-F238E27FC236}">
                      <a16:creationId xmlns:a16="http://schemas.microsoft.com/office/drawing/2014/main" id="{C3636391-8219-5A2B-D717-423AC3B27F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8904" y="5387770"/>
                  <a:ext cx="332510" cy="29787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42">
                  <a:extLst>
                    <a:ext uri="{FF2B5EF4-FFF2-40B4-BE49-F238E27FC236}">
                      <a16:creationId xmlns:a16="http://schemas.microsoft.com/office/drawing/2014/main" id="{E0E83C28-82ED-F423-E8E9-0253AE0C615B}"/>
                    </a:ext>
                  </a:extLst>
                </p:cNvPr>
                <p:cNvSpPr/>
                <p:nvPr/>
              </p:nvSpPr>
              <p:spPr>
                <a:xfrm>
                  <a:off x="3139082" y="539065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42">
                  <a:extLst>
                    <a:ext uri="{FF2B5EF4-FFF2-40B4-BE49-F238E27FC236}">
                      <a16:creationId xmlns:a16="http://schemas.microsoft.com/office/drawing/2014/main" id="{E0E83C28-82ED-F423-E8E9-0253AE0C61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9082" y="5390656"/>
                  <a:ext cx="332510" cy="29787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143">
              <a:extLst>
                <a:ext uri="{FF2B5EF4-FFF2-40B4-BE49-F238E27FC236}">
                  <a16:creationId xmlns:a16="http://schemas.microsoft.com/office/drawing/2014/main" id="{041396E0-C58E-16C3-3F28-E205627319DE}"/>
                </a:ext>
              </a:extLst>
            </p:cNvPr>
            <p:cNvSpPr/>
            <p:nvPr/>
          </p:nvSpPr>
          <p:spPr>
            <a:xfrm>
              <a:off x="4492549" y="48655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44">
              <a:extLst>
                <a:ext uri="{FF2B5EF4-FFF2-40B4-BE49-F238E27FC236}">
                  <a16:creationId xmlns:a16="http://schemas.microsoft.com/office/drawing/2014/main" id="{329DFF21-ACA5-F8F3-FBE8-F05E18912B49}"/>
                </a:ext>
              </a:extLst>
            </p:cNvPr>
            <p:cNvCxnSpPr>
              <a:cxnSpLocks/>
              <a:stCxn id="11" idx="3"/>
              <a:endCxn id="8" idx="2"/>
            </p:cNvCxnSpPr>
            <p:nvPr/>
          </p:nvCxnSpPr>
          <p:spPr>
            <a:xfrm>
              <a:off x="1905453" y="4485462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45">
              <a:extLst>
                <a:ext uri="{FF2B5EF4-FFF2-40B4-BE49-F238E27FC236}">
                  <a16:creationId xmlns:a16="http://schemas.microsoft.com/office/drawing/2014/main" id="{BD8F51DA-A7F5-1B2D-C65A-52E31CC37001}"/>
                </a:ext>
              </a:extLst>
            </p:cNvPr>
            <p:cNvCxnSpPr>
              <a:cxnSpLocks/>
              <a:stCxn id="13" idx="0"/>
              <a:endCxn id="8" idx="4"/>
            </p:cNvCxnSpPr>
            <p:nvPr/>
          </p:nvCxnSpPr>
          <p:spPr>
            <a:xfrm flipV="1">
              <a:off x="4185159" y="4630003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46">
              <a:extLst>
                <a:ext uri="{FF2B5EF4-FFF2-40B4-BE49-F238E27FC236}">
                  <a16:creationId xmlns:a16="http://schemas.microsoft.com/office/drawing/2014/main" id="{8DC40D2B-03A4-E6E0-8F28-A1C990D606DB}"/>
                </a:ext>
              </a:extLst>
            </p:cNvPr>
            <p:cNvSpPr txBox="1"/>
            <p:nvPr/>
          </p:nvSpPr>
          <p:spPr>
            <a:xfrm>
              <a:off x="4455484" y="4817407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Connector 147">
              <a:extLst>
                <a:ext uri="{FF2B5EF4-FFF2-40B4-BE49-F238E27FC236}">
                  <a16:creationId xmlns:a16="http://schemas.microsoft.com/office/drawing/2014/main" id="{CDA71C24-089D-2774-5617-65EA4D14DEA6}"/>
                </a:ext>
              </a:extLst>
            </p:cNvPr>
            <p:cNvCxnSpPr>
              <a:stCxn id="8" idx="6"/>
              <a:endCxn id="10" idx="2"/>
            </p:cNvCxnSpPr>
            <p:nvPr/>
          </p:nvCxnSpPr>
          <p:spPr>
            <a:xfrm>
              <a:off x="4322002" y="4493478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48">
              <a:extLst>
                <a:ext uri="{FF2B5EF4-FFF2-40B4-BE49-F238E27FC236}">
                  <a16:creationId xmlns:a16="http://schemas.microsoft.com/office/drawing/2014/main" id="{2C2EE00C-3585-DF73-1A5B-40B6ADF20BE2}"/>
                </a:ext>
              </a:extLst>
            </p:cNvPr>
            <p:cNvCxnSpPr>
              <a:stCxn id="12" idx="0"/>
              <a:endCxn id="10" idx="4"/>
            </p:cNvCxnSpPr>
            <p:nvPr/>
          </p:nvCxnSpPr>
          <p:spPr>
            <a:xfrm flipV="1">
              <a:off x="5196593" y="4630003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149">
              <a:extLst>
                <a:ext uri="{FF2B5EF4-FFF2-40B4-BE49-F238E27FC236}">
                  <a16:creationId xmlns:a16="http://schemas.microsoft.com/office/drawing/2014/main" id="{B4CA279F-EB35-30D6-EFCA-25E43EFC16BE}"/>
                </a:ext>
              </a:extLst>
            </p:cNvPr>
            <p:cNvCxnSpPr>
              <a:cxnSpLocks/>
              <a:stCxn id="9" idx="0"/>
              <a:endCxn id="12" idx="4"/>
            </p:cNvCxnSpPr>
            <p:nvPr/>
          </p:nvCxnSpPr>
          <p:spPr>
            <a:xfrm flipV="1">
              <a:off x="5196593" y="5139920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150">
              <a:extLst>
                <a:ext uri="{FF2B5EF4-FFF2-40B4-BE49-F238E27FC236}">
                  <a16:creationId xmlns:a16="http://schemas.microsoft.com/office/drawing/2014/main" id="{BDEBB756-37EB-569D-DA71-65F80EDBF030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>
              <a:off x="5333117" y="4493478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151">
                  <a:extLst>
                    <a:ext uri="{FF2B5EF4-FFF2-40B4-BE49-F238E27FC236}">
                      <a16:creationId xmlns:a16="http://schemas.microsoft.com/office/drawing/2014/main" id="{213CE53E-9D45-277F-6053-A932079CC9B1}"/>
                    </a:ext>
                  </a:extLst>
                </p:cNvPr>
                <p:cNvSpPr txBox="1"/>
                <p:nvPr/>
              </p:nvSpPr>
              <p:spPr>
                <a:xfrm>
                  <a:off x="5958948" y="4300796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151">
                  <a:extLst>
                    <a:ext uri="{FF2B5EF4-FFF2-40B4-BE49-F238E27FC236}">
                      <a16:creationId xmlns:a16="http://schemas.microsoft.com/office/drawing/2014/main" id="{213CE53E-9D45-277F-6053-A932079CC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8948" y="4300796"/>
                  <a:ext cx="36384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Connector: Elbow 152">
              <a:extLst>
                <a:ext uri="{FF2B5EF4-FFF2-40B4-BE49-F238E27FC236}">
                  <a16:creationId xmlns:a16="http://schemas.microsoft.com/office/drawing/2014/main" id="{4FF11D69-F448-12A8-95B0-78E5BDBD95AA}"/>
                </a:ext>
              </a:extLst>
            </p:cNvPr>
            <p:cNvCxnSpPr>
              <a:stCxn id="14" idx="0"/>
              <a:endCxn id="7" idx="6"/>
            </p:cNvCxnSpPr>
            <p:nvPr/>
          </p:nvCxnSpPr>
          <p:spPr>
            <a:xfrm rot="16200000" flipV="1">
              <a:off x="2919400" y="5004719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153">
              <a:extLst>
                <a:ext uri="{FF2B5EF4-FFF2-40B4-BE49-F238E27FC236}">
                  <a16:creationId xmlns:a16="http://schemas.microsoft.com/office/drawing/2014/main" id="{C85D28FD-CBC7-37E0-25B1-EF2F02F553F2}"/>
                </a:ext>
              </a:extLst>
            </p:cNvPr>
            <p:cNvCxnSpPr/>
            <p:nvPr/>
          </p:nvCxnSpPr>
          <p:spPr>
            <a:xfrm flipV="1">
              <a:off x="2682598" y="4493478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155">
                  <a:extLst>
                    <a:ext uri="{FF2B5EF4-FFF2-40B4-BE49-F238E27FC236}">
                      <a16:creationId xmlns:a16="http://schemas.microsoft.com/office/drawing/2014/main" id="{6871C6B9-2768-B203-7CBF-BD84246AE9AC}"/>
                    </a:ext>
                  </a:extLst>
                </p:cNvPr>
                <p:cNvSpPr txBox="1"/>
                <p:nvPr/>
              </p:nvSpPr>
              <p:spPr>
                <a:xfrm>
                  <a:off x="2083263" y="6236000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155">
                  <a:extLst>
                    <a:ext uri="{FF2B5EF4-FFF2-40B4-BE49-F238E27FC236}">
                      <a16:creationId xmlns:a16="http://schemas.microsoft.com/office/drawing/2014/main" id="{6871C6B9-2768-B203-7CBF-BD84246AE9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3263" y="6236000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Connector: Elbow 156">
              <a:extLst>
                <a:ext uri="{FF2B5EF4-FFF2-40B4-BE49-F238E27FC236}">
                  <a16:creationId xmlns:a16="http://schemas.microsoft.com/office/drawing/2014/main" id="{DEC0DAD1-6E1E-2C3D-2296-C329C2DB383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591796" y="4406495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157">
              <a:extLst>
                <a:ext uri="{FF2B5EF4-FFF2-40B4-BE49-F238E27FC236}">
                  <a16:creationId xmlns:a16="http://schemas.microsoft.com/office/drawing/2014/main" id="{4EA62229-0791-55FD-3E6E-71532C8BDCB1}"/>
                </a:ext>
              </a:extLst>
            </p:cNvPr>
            <p:cNvCxnSpPr/>
            <p:nvPr/>
          </p:nvCxnSpPr>
          <p:spPr>
            <a:xfrm flipV="1">
              <a:off x="2314621" y="4493478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158">
              <a:extLst>
                <a:ext uri="{FF2B5EF4-FFF2-40B4-BE49-F238E27FC236}">
                  <a16:creationId xmlns:a16="http://schemas.microsoft.com/office/drawing/2014/main" id="{EA1DA73A-2215-EBA2-9BBC-A62FB48161EE}"/>
                </a:ext>
              </a:extLst>
            </p:cNvPr>
            <p:cNvCxnSpPr>
              <a:cxnSpLocks/>
              <a:stCxn id="31" idx="2"/>
              <a:endCxn id="13" idx="2"/>
            </p:cNvCxnSpPr>
            <p:nvPr/>
          </p:nvCxnSpPr>
          <p:spPr>
            <a:xfrm flipV="1">
              <a:off x="2413045" y="5685642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Freeform: Shape 159">
              <a:extLst>
                <a:ext uri="{FF2B5EF4-FFF2-40B4-BE49-F238E27FC236}">
                  <a16:creationId xmlns:a16="http://schemas.microsoft.com/office/drawing/2014/main" id="{894E7D26-6B82-2506-9B0D-661DCACF7BB7}"/>
                </a:ext>
              </a:extLst>
            </p:cNvPr>
            <p:cNvSpPr/>
            <p:nvPr/>
          </p:nvSpPr>
          <p:spPr>
            <a:xfrm>
              <a:off x="2308270" y="5583461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Connector 160">
              <a:extLst>
                <a:ext uri="{FF2B5EF4-FFF2-40B4-BE49-F238E27FC236}">
                  <a16:creationId xmlns:a16="http://schemas.microsoft.com/office/drawing/2014/main" id="{57BA2596-1AE8-FD32-F75E-AC2C9EB74155}"/>
                </a:ext>
              </a:extLst>
            </p:cNvPr>
            <p:cNvCxnSpPr/>
            <p:nvPr/>
          </p:nvCxnSpPr>
          <p:spPr>
            <a:xfrm flipV="1">
              <a:off x="2313032" y="5921361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Freeform: Shape 161">
              <a:extLst>
                <a:ext uri="{FF2B5EF4-FFF2-40B4-BE49-F238E27FC236}">
                  <a16:creationId xmlns:a16="http://schemas.microsoft.com/office/drawing/2014/main" id="{A40F716A-DA26-CD3D-F640-06D13B113263}"/>
                </a:ext>
              </a:extLst>
            </p:cNvPr>
            <p:cNvSpPr/>
            <p:nvPr/>
          </p:nvSpPr>
          <p:spPr>
            <a:xfrm rot="5170363">
              <a:off x="2370814" y="5751407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Connector 162">
              <a:extLst>
                <a:ext uri="{FF2B5EF4-FFF2-40B4-BE49-F238E27FC236}">
                  <a16:creationId xmlns:a16="http://schemas.microsoft.com/office/drawing/2014/main" id="{7AFF4DB5-70AC-A228-2CED-B874D1B909D1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3305337" y="5688528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163">
                  <a:extLst>
                    <a:ext uri="{FF2B5EF4-FFF2-40B4-BE49-F238E27FC236}">
                      <a16:creationId xmlns:a16="http://schemas.microsoft.com/office/drawing/2014/main" id="{B67C4B5A-CC33-184B-EE45-86AA186E3AF2}"/>
                    </a:ext>
                  </a:extLst>
                </p:cNvPr>
                <p:cNvSpPr txBox="1"/>
                <p:nvPr/>
              </p:nvSpPr>
              <p:spPr>
                <a:xfrm>
                  <a:off x="3815377" y="5003422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35" name="TextBox 163">
                  <a:extLst>
                    <a:ext uri="{FF2B5EF4-FFF2-40B4-BE49-F238E27FC236}">
                      <a16:creationId xmlns:a16="http://schemas.microsoft.com/office/drawing/2014/main" id="{B67C4B5A-CC33-184B-EE45-86AA186E3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5377" y="5003422"/>
                  <a:ext cx="43627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164">
                  <a:extLst>
                    <a:ext uri="{FF2B5EF4-FFF2-40B4-BE49-F238E27FC236}">
                      <a16:creationId xmlns:a16="http://schemas.microsoft.com/office/drawing/2014/main" id="{42109F51-0327-B208-BD2B-4785C4C9A0DD}"/>
                    </a:ext>
                  </a:extLst>
                </p:cNvPr>
                <p:cNvSpPr txBox="1"/>
                <p:nvPr/>
              </p:nvSpPr>
              <p:spPr>
                <a:xfrm>
                  <a:off x="2934669" y="5028554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6" name="TextBox 164">
                  <a:extLst>
                    <a:ext uri="{FF2B5EF4-FFF2-40B4-BE49-F238E27FC236}">
                      <a16:creationId xmlns:a16="http://schemas.microsoft.com/office/drawing/2014/main" id="{42109F51-0327-B208-BD2B-4785C4C9A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4669" y="5028554"/>
                  <a:ext cx="448777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165">
                  <a:extLst>
                    <a:ext uri="{FF2B5EF4-FFF2-40B4-BE49-F238E27FC236}">
                      <a16:creationId xmlns:a16="http://schemas.microsoft.com/office/drawing/2014/main" id="{5709A3A4-F24D-A15B-23F3-CB82A893FB70}"/>
                    </a:ext>
                  </a:extLst>
                </p:cNvPr>
                <p:cNvSpPr txBox="1"/>
                <p:nvPr/>
              </p:nvSpPr>
              <p:spPr>
                <a:xfrm>
                  <a:off x="5189339" y="5050156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TextBox 165">
                  <a:extLst>
                    <a:ext uri="{FF2B5EF4-FFF2-40B4-BE49-F238E27FC236}">
                      <a16:creationId xmlns:a16="http://schemas.microsoft.com/office/drawing/2014/main" id="{5709A3A4-F24D-A15B-23F3-CB82A893FB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9339" y="5050156"/>
                  <a:ext cx="471218" cy="383759"/>
                </a:xfrm>
                <a:prstGeom prst="rect">
                  <a:avLst/>
                </a:prstGeom>
                <a:blipFill>
                  <a:blip r:embed="rId19"/>
                  <a:stretch>
                    <a:fillRect t="-7937" r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172">
              <a:extLst>
                <a:ext uri="{FF2B5EF4-FFF2-40B4-BE49-F238E27FC236}">
                  <a16:creationId xmlns:a16="http://schemas.microsoft.com/office/drawing/2014/main" id="{B6850192-2E70-FA7D-0690-8617CA2A2D95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>
              <a:off x="4185159" y="5002073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173">
              <a:extLst>
                <a:ext uri="{FF2B5EF4-FFF2-40B4-BE49-F238E27FC236}">
                  <a16:creationId xmlns:a16="http://schemas.microsoft.com/office/drawing/2014/main" id="{957CA07F-439B-EA86-6998-D63B28329897}"/>
                </a:ext>
              </a:extLst>
            </p:cNvPr>
            <p:cNvCxnSpPr>
              <a:cxnSpLocks/>
              <a:stCxn id="15" idx="6"/>
              <a:endCxn id="12" idx="2"/>
            </p:cNvCxnSpPr>
            <p:nvPr/>
          </p:nvCxnSpPr>
          <p:spPr>
            <a:xfrm>
              <a:off x="4765599" y="5002073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151">
                  <a:extLst>
                    <a:ext uri="{FF2B5EF4-FFF2-40B4-BE49-F238E27FC236}">
                      <a16:creationId xmlns:a16="http://schemas.microsoft.com/office/drawing/2014/main" id="{3CE7FA00-5AD7-0B4D-FAC7-E41D83AD74D4}"/>
                    </a:ext>
                  </a:extLst>
                </p:cNvPr>
                <p:cNvSpPr txBox="1"/>
                <p:nvPr/>
              </p:nvSpPr>
              <p:spPr>
                <a:xfrm>
                  <a:off x="5777328" y="3892247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7" name="TextBox 151">
                  <a:extLst>
                    <a:ext uri="{FF2B5EF4-FFF2-40B4-BE49-F238E27FC236}">
                      <a16:creationId xmlns:a16="http://schemas.microsoft.com/office/drawing/2014/main" id="{3CE7FA00-5AD7-0B4D-FAC7-E41D83AD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7328" y="3892247"/>
                  <a:ext cx="363844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9" name="Freeform: Shape 159">
              <a:extLst>
                <a:ext uri="{FF2B5EF4-FFF2-40B4-BE49-F238E27FC236}">
                  <a16:creationId xmlns:a16="http://schemas.microsoft.com/office/drawing/2014/main" id="{3098DFA0-3B06-44D9-2E01-EE616EADE9E3}"/>
                </a:ext>
              </a:extLst>
            </p:cNvPr>
            <p:cNvSpPr/>
            <p:nvPr/>
          </p:nvSpPr>
          <p:spPr>
            <a:xfrm rot="21335253">
              <a:off x="2677364" y="579062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1" name="Conector reto 80">
              <a:extLst>
                <a:ext uri="{FF2B5EF4-FFF2-40B4-BE49-F238E27FC236}">
                  <a16:creationId xmlns:a16="http://schemas.microsoft.com/office/drawing/2014/main" id="{BDC6C279-F0D0-F104-A845-992FEF41D8B1}"/>
                </a:ext>
              </a:extLst>
            </p:cNvPr>
            <p:cNvCxnSpPr>
              <a:stCxn id="7" idx="4"/>
              <a:endCxn id="79" idx="0"/>
            </p:cNvCxnSpPr>
            <p:nvPr/>
          </p:nvCxnSpPr>
          <p:spPr>
            <a:xfrm flipH="1">
              <a:off x="2674805" y="5241520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23" name="Agrupar 122">
            <a:extLst>
              <a:ext uri="{FF2B5EF4-FFF2-40B4-BE49-F238E27FC236}">
                <a16:creationId xmlns:a16="http://schemas.microsoft.com/office/drawing/2014/main" id="{A14CA10E-C85E-28AC-674E-E3875C9EB7BE}"/>
              </a:ext>
            </a:extLst>
          </p:cNvPr>
          <p:cNvGrpSpPr/>
          <p:nvPr/>
        </p:nvGrpSpPr>
        <p:grpSpPr>
          <a:xfrm>
            <a:off x="6373737" y="1935366"/>
            <a:ext cx="4928922" cy="2713085"/>
            <a:chOff x="6373737" y="1935366"/>
            <a:chExt cx="4928922" cy="2713085"/>
          </a:xfrm>
        </p:grpSpPr>
        <p:cxnSp>
          <p:nvCxnSpPr>
            <p:cNvPr id="97" name="Straight Arrow Connector 145">
              <a:extLst>
                <a:ext uri="{FF2B5EF4-FFF2-40B4-BE49-F238E27FC236}">
                  <a16:creationId xmlns:a16="http://schemas.microsoft.com/office/drawing/2014/main" id="{FFCE4766-33E0-D27F-4E2E-47FA24C524B1}"/>
                </a:ext>
              </a:extLst>
            </p:cNvPr>
            <p:cNvCxnSpPr>
              <a:cxnSpLocks/>
              <a:stCxn id="93" idx="0"/>
              <a:endCxn id="88" idx="4"/>
            </p:cNvCxnSpPr>
            <p:nvPr/>
          </p:nvCxnSpPr>
          <p:spPr>
            <a:xfrm flipV="1">
              <a:off x="9165026" y="2673122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148">
              <a:extLst>
                <a:ext uri="{FF2B5EF4-FFF2-40B4-BE49-F238E27FC236}">
                  <a16:creationId xmlns:a16="http://schemas.microsoft.com/office/drawing/2014/main" id="{07F340C5-8E03-EE50-399C-BF6C3555B23F}"/>
                </a:ext>
              </a:extLst>
            </p:cNvPr>
            <p:cNvCxnSpPr>
              <a:stCxn id="92" idx="0"/>
              <a:endCxn id="90" idx="4"/>
            </p:cNvCxnSpPr>
            <p:nvPr/>
          </p:nvCxnSpPr>
          <p:spPr>
            <a:xfrm flipV="1">
              <a:off x="10176460" y="2673122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49">
              <a:extLst>
                <a:ext uri="{FF2B5EF4-FFF2-40B4-BE49-F238E27FC236}">
                  <a16:creationId xmlns:a16="http://schemas.microsoft.com/office/drawing/2014/main" id="{9103FDCA-D84F-37DF-CC5A-91588F757EB0}"/>
                </a:ext>
              </a:extLst>
            </p:cNvPr>
            <p:cNvCxnSpPr>
              <a:cxnSpLocks/>
              <a:stCxn id="89" idx="0"/>
              <a:endCxn id="92" idx="4"/>
            </p:cNvCxnSpPr>
            <p:nvPr/>
          </p:nvCxnSpPr>
          <p:spPr>
            <a:xfrm flipV="1">
              <a:off x="10176460" y="3183039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53">
              <a:extLst>
                <a:ext uri="{FF2B5EF4-FFF2-40B4-BE49-F238E27FC236}">
                  <a16:creationId xmlns:a16="http://schemas.microsoft.com/office/drawing/2014/main" id="{AE75D4EB-B1D4-701F-E710-BDE4E4FBB64F}"/>
                </a:ext>
              </a:extLst>
            </p:cNvPr>
            <p:cNvCxnSpPr/>
            <p:nvPr/>
          </p:nvCxnSpPr>
          <p:spPr>
            <a:xfrm flipV="1">
              <a:off x="7662465" y="2536597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Connector 160">
              <a:extLst>
                <a:ext uri="{FF2B5EF4-FFF2-40B4-BE49-F238E27FC236}">
                  <a16:creationId xmlns:a16="http://schemas.microsoft.com/office/drawing/2014/main" id="{D754B5F8-378E-308B-8249-A26A4D326863}"/>
                </a:ext>
              </a:extLst>
            </p:cNvPr>
            <p:cNvCxnSpPr/>
            <p:nvPr/>
          </p:nvCxnSpPr>
          <p:spPr>
            <a:xfrm flipV="1">
              <a:off x="7292899" y="3964480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62">
              <a:extLst>
                <a:ext uri="{FF2B5EF4-FFF2-40B4-BE49-F238E27FC236}">
                  <a16:creationId xmlns:a16="http://schemas.microsoft.com/office/drawing/2014/main" id="{A30D0A16-E2D1-7E19-1B40-8CC5510F0079}"/>
                </a:ext>
              </a:extLst>
            </p:cNvPr>
            <p:cNvCxnSpPr>
              <a:cxnSpLocks/>
              <a:stCxn id="94" idx="2"/>
            </p:cNvCxnSpPr>
            <p:nvPr/>
          </p:nvCxnSpPr>
          <p:spPr>
            <a:xfrm>
              <a:off x="8285204" y="3731647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Straight Arrow Connector 172">
              <a:extLst>
                <a:ext uri="{FF2B5EF4-FFF2-40B4-BE49-F238E27FC236}">
                  <a16:creationId xmlns:a16="http://schemas.microsoft.com/office/drawing/2014/main" id="{17380AA7-33C3-AE39-20FE-857F6BE421A0}"/>
                </a:ext>
              </a:extLst>
            </p:cNvPr>
            <p:cNvCxnSpPr>
              <a:cxnSpLocks/>
              <a:endCxn id="95" idx="2"/>
            </p:cNvCxnSpPr>
            <p:nvPr/>
          </p:nvCxnSpPr>
          <p:spPr>
            <a:xfrm>
              <a:off x="9165026" y="3045192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73">
              <a:extLst>
                <a:ext uri="{FF2B5EF4-FFF2-40B4-BE49-F238E27FC236}">
                  <a16:creationId xmlns:a16="http://schemas.microsoft.com/office/drawing/2014/main" id="{8A0D0F86-73AA-4C37-7FD6-7A351477CA6F}"/>
                </a:ext>
              </a:extLst>
            </p:cNvPr>
            <p:cNvCxnSpPr>
              <a:cxnSpLocks/>
              <a:stCxn id="95" idx="6"/>
              <a:endCxn id="92" idx="2"/>
            </p:cNvCxnSpPr>
            <p:nvPr/>
          </p:nvCxnSpPr>
          <p:spPr>
            <a:xfrm>
              <a:off x="9745466" y="3045192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0" name="Freeform: Shape 159">
              <a:extLst>
                <a:ext uri="{FF2B5EF4-FFF2-40B4-BE49-F238E27FC236}">
                  <a16:creationId xmlns:a16="http://schemas.microsoft.com/office/drawing/2014/main" id="{817D3687-4C52-A7B6-4116-0DC677950DA9}"/>
                </a:ext>
              </a:extLst>
            </p:cNvPr>
            <p:cNvSpPr/>
            <p:nvPr/>
          </p:nvSpPr>
          <p:spPr>
            <a:xfrm rot="21335253">
              <a:off x="7657231" y="3833745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140">
              <a:extLst>
                <a:ext uri="{FF2B5EF4-FFF2-40B4-BE49-F238E27FC236}">
                  <a16:creationId xmlns:a16="http://schemas.microsoft.com/office/drawing/2014/main" id="{3C934291-13E8-1615-4FB3-16C593530C71}"/>
                </a:ext>
              </a:extLst>
            </p:cNvPr>
            <p:cNvSpPr/>
            <p:nvPr/>
          </p:nvSpPr>
          <p:spPr>
            <a:xfrm>
              <a:off x="10039935" y="2909989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5" name="Oval 143">
              <a:extLst>
                <a:ext uri="{FF2B5EF4-FFF2-40B4-BE49-F238E27FC236}">
                  <a16:creationId xmlns:a16="http://schemas.microsoft.com/office/drawing/2014/main" id="{084FC3E3-2BA8-69D2-39C3-09B20D59055D}"/>
                </a:ext>
              </a:extLst>
            </p:cNvPr>
            <p:cNvSpPr/>
            <p:nvPr/>
          </p:nvSpPr>
          <p:spPr>
            <a:xfrm>
              <a:off x="9472416" y="290866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04" name="Connector: Elbow 152">
              <a:extLst>
                <a:ext uri="{FF2B5EF4-FFF2-40B4-BE49-F238E27FC236}">
                  <a16:creationId xmlns:a16="http://schemas.microsoft.com/office/drawing/2014/main" id="{CE2BFA31-B2A1-3DB2-A292-68B304312768}"/>
                </a:ext>
              </a:extLst>
            </p:cNvPr>
            <p:cNvCxnSpPr>
              <a:stCxn id="94" idx="0"/>
              <a:endCxn id="87" idx="6"/>
            </p:cNvCxnSpPr>
            <p:nvPr/>
          </p:nvCxnSpPr>
          <p:spPr>
            <a:xfrm rot="16200000" flipV="1">
              <a:off x="7899267" y="3047838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Connector: Elbow 156">
              <a:extLst>
                <a:ext uri="{FF2B5EF4-FFF2-40B4-BE49-F238E27FC236}">
                  <a16:creationId xmlns:a16="http://schemas.microsoft.com/office/drawing/2014/main" id="{896C1B2B-91E0-847B-9289-47EB59AD80B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571663" y="2449614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Connector: Elbow 158">
              <a:extLst>
                <a:ext uri="{FF2B5EF4-FFF2-40B4-BE49-F238E27FC236}">
                  <a16:creationId xmlns:a16="http://schemas.microsoft.com/office/drawing/2014/main" id="{F0FA5897-623E-2F28-C0F4-4782D5CCDB4D}"/>
                </a:ext>
              </a:extLst>
            </p:cNvPr>
            <p:cNvCxnSpPr>
              <a:cxnSpLocks/>
              <a:stCxn id="110" idx="2"/>
              <a:endCxn id="93" idx="2"/>
            </p:cNvCxnSpPr>
            <p:nvPr/>
          </p:nvCxnSpPr>
          <p:spPr>
            <a:xfrm flipV="1">
              <a:off x="7412984" y="3728761"/>
              <a:ext cx="1752042" cy="12394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0" name="Freeform: Shape 159">
              <a:extLst>
                <a:ext uri="{FF2B5EF4-FFF2-40B4-BE49-F238E27FC236}">
                  <a16:creationId xmlns:a16="http://schemas.microsoft.com/office/drawing/2014/main" id="{F41FB465-21CE-CF3A-5C9B-60312CA84496}"/>
                </a:ext>
              </a:extLst>
            </p:cNvPr>
            <p:cNvSpPr/>
            <p:nvPr/>
          </p:nvSpPr>
          <p:spPr>
            <a:xfrm rot="21272626">
              <a:off x="7297661" y="363134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Conector reto 120">
              <a:extLst>
                <a:ext uri="{FF2B5EF4-FFF2-40B4-BE49-F238E27FC236}">
                  <a16:creationId xmlns:a16="http://schemas.microsoft.com/office/drawing/2014/main" id="{C46C344B-1AD9-9C35-4670-EFB6F8B3D4CB}"/>
                </a:ext>
              </a:extLst>
            </p:cNvPr>
            <p:cNvCxnSpPr>
              <a:stCxn id="87" idx="4"/>
              <a:endCxn id="120" idx="0"/>
            </p:cNvCxnSpPr>
            <p:nvPr/>
          </p:nvCxnSpPr>
          <p:spPr>
            <a:xfrm flipH="1">
              <a:off x="7654672" y="3284639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7" name="Oval 135">
              <a:extLst>
                <a:ext uri="{FF2B5EF4-FFF2-40B4-BE49-F238E27FC236}">
                  <a16:creationId xmlns:a16="http://schemas.microsoft.com/office/drawing/2014/main" id="{B7B574ED-AB73-EA18-9CBB-7B7DCF08F2BA}"/>
                </a:ext>
              </a:extLst>
            </p:cNvPr>
            <p:cNvSpPr/>
            <p:nvPr/>
          </p:nvSpPr>
          <p:spPr>
            <a:xfrm>
              <a:off x="7525940" y="3011589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9" name="Rectangle 137">
              <a:extLst>
                <a:ext uri="{FF2B5EF4-FFF2-40B4-BE49-F238E27FC236}">
                  <a16:creationId xmlns:a16="http://schemas.microsoft.com/office/drawing/2014/main" id="{1ADBB6FE-3220-812D-AA74-CBE4E6BDA6FF}"/>
                </a:ext>
              </a:extLst>
            </p:cNvPr>
            <p:cNvSpPr/>
            <p:nvPr/>
          </p:nvSpPr>
          <p:spPr>
            <a:xfrm>
              <a:off x="9869069" y="3436131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Rectangle 141">
                  <a:extLst>
                    <a:ext uri="{FF2B5EF4-FFF2-40B4-BE49-F238E27FC236}">
                      <a16:creationId xmlns:a16="http://schemas.microsoft.com/office/drawing/2014/main" id="{AB880D80-7CF8-A920-5EBA-FFE6D639145A}"/>
                    </a:ext>
                  </a:extLst>
                </p:cNvPr>
                <p:cNvSpPr/>
                <p:nvPr/>
              </p:nvSpPr>
              <p:spPr>
                <a:xfrm>
                  <a:off x="8998771" y="3430889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3" name="Rectangle 141">
                  <a:extLst>
                    <a:ext uri="{FF2B5EF4-FFF2-40B4-BE49-F238E27FC236}">
                      <a16:creationId xmlns:a16="http://schemas.microsoft.com/office/drawing/2014/main" id="{AB880D80-7CF8-A920-5EBA-FFE6D63914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98771" y="3430889"/>
                  <a:ext cx="332510" cy="29787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Rectangle 142">
                  <a:extLst>
                    <a:ext uri="{FF2B5EF4-FFF2-40B4-BE49-F238E27FC236}">
                      <a16:creationId xmlns:a16="http://schemas.microsoft.com/office/drawing/2014/main" id="{4CA8F6E9-E6F7-AFE2-0B59-007659AF56BD}"/>
                    </a:ext>
                  </a:extLst>
                </p:cNvPr>
                <p:cNvSpPr/>
                <p:nvPr/>
              </p:nvSpPr>
              <p:spPr>
                <a:xfrm>
                  <a:off x="8118949" y="343377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4" name="Rectangle 142">
                  <a:extLst>
                    <a:ext uri="{FF2B5EF4-FFF2-40B4-BE49-F238E27FC236}">
                      <a16:creationId xmlns:a16="http://schemas.microsoft.com/office/drawing/2014/main" id="{4CA8F6E9-E6F7-AFE2-0B59-007659AF56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18949" y="3433775"/>
                  <a:ext cx="332510" cy="29787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8" name="TextBox 146">
              <a:extLst>
                <a:ext uri="{FF2B5EF4-FFF2-40B4-BE49-F238E27FC236}">
                  <a16:creationId xmlns:a16="http://schemas.microsoft.com/office/drawing/2014/main" id="{E88579DA-24C0-EACC-F7CA-C594474567CA}"/>
                </a:ext>
              </a:extLst>
            </p:cNvPr>
            <p:cNvSpPr txBox="1"/>
            <p:nvPr/>
          </p:nvSpPr>
          <p:spPr>
            <a:xfrm>
              <a:off x="9435351" y="2860526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08" name="Straight Connector 157">
              <a:extLst>
                <a:ext uri="{FF2B5EF4-FFF2-40B4-BE49-F238E27FC236}">
                  <a16:creationId xmlns:a16="http://schemas.microsoft.com/office/drawing/2014/main" id="{864F9693-07A6-4744-FB2C-A4BCBAEDF7FA}"/>
                </a:ext>
              </a:extLst>
            </p:cNvPr>
            <p:cNvCxnSpPr/>
            <p:nvPr/>
          </p:nvCxnSpPr>
          <p:spPr>
            <a:xfrm flipV="1">
              <a:off x="7294488" y="2536597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Freeform: Shape 161">
              <a:extLst>
                <a:ext uri="{FF2B5EF4-FFF2-40B4-BE49-F238E27FC236}">
                  <a16:creationId xmlns:a16="http://schemas.microsoft.com/office/drawing/2014/main" id="{1F87D734-F552-E139-FBF4-397A865A6BAE}"/>
                </a:ext>
              </a:extLst>
            </p:cNvPr>
            <p:cNvSpPr/>
            <p:nvPr/>
          </p:nvSpPr>
          <p:spPr>
            <a:xfrm rot="5093909">
              <a:off x="7348300" y="379452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63">
                  <a:extLst>
                    <a:ext uri="{FF2B5EF4-FFF2-40B4-BE49-F238E27FC236}">
                      <a16:creationId xmlns:a16="http://schemas.microsoft.com/office/drawing/2014/main" id="{DDAE1450-82FA-3CB6-B806-701797994D45}"/>
                    </a:ext>
                  </a:extLst>
                </p:cNvPr>
                <p:cNvSpPr txBox="1"/>
                <p:nvPr/>
              </p:nvSpPr>
              <p:spPr>
                <a:xfrm>
                  <a:off x="8795244" y="3046541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14" name="TextBox 163">
                  <a:extLst>
                    <a:ext uri="{FF2B5EF4-FFF2-40B4-BE49-F238E27FC236}">
                      <a16:creationId xmlns:a16="http://schemas.microsoft.com/office/drawing/2014/main" id="{DDAE1450-82FA-3CB6-B806-701797994D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244" y="3046541"/>
                  <a:ext cx="436273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64">
                  <a:extLst>
                    <a:ext uri="{FF2B5EF4-FFF2-40B4-BE49-F238E27FC236}">
                      <a16:creationId xmlns:a16="http://schemas.microsoft.com/office/drawing/2014/main" id="{C32CC159-0AA5-71A0-F4E5-E9352BF7A293}"/>
                    </a:ext>
                  </a:extLst>
                </p:cNvPr>
                <p:cNvSpPr txBox="1"/>
                <p:nvPr/>
              </p:nvSpPr>
              <p:spPr>
                <a:xfrm>
                  <a:off x="7914536" y="3071673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5" name="TextBox 164">
                  <a:extLst>
                    <a:ext uri="{FF2B5EF4-FFF2-40B4-BE49-F238E27FC236}">
                      <a16:creationId xmlns:a16="http://schemas.microsoft.com/office/drawing/2014/main" id="{C32CC159-0AA5-71A0-F4E5-E9352BF7A2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4536" y="3071673"/>
                  <a:ext cx="448777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65">
                  <a:extLst>
                    <a:ext uri="{FF2B5EF4-FFF2-40B4-BE49-F238E27FC236}">
                      <a16:creationId xmlns:a16="http://schemas.microsoft.com/office/drawing/2014/main" id="{88FC8830-6A3A-4A8C-DA3A-F7C924023353}"/>
                    </a:ext>
                  </a:extLst>
                </p:cNvPr>
                <p:cNvSpPr txBox="1"/>
                <p:nvPr/>
              </p:nvSpPr>
              <p:spPr>
                <a:xfrm>
                  <a:off x="10169206" y="3093275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6" name="TextBox 165">
                  <a:extLst>
                    <a:ext uri="{FF2B5EF4-FFF2-40B4-BE49-F238E27FC236}">
                      <a16:creationId xmlns:a16="http://schemas.microsoft.com/office/drawing/2014/main" id="{88FC8830-6A3A-4A8C-DA3A-F7C9240233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69206" y="3093275"/>
                  <a:ext cx="471218" cy="383759"/>
                </a:xfrm>
                <a:prstGeom prst="rect">
                  <a:avLst/>
                </a:prstGeom>
                <a:blipFill>
                  <a:blip r:embed="rId25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5" name="Rectangle: Rounded Corners 133">
              <a:extLst>
                <a:ext uri="{FF2B5EF4-FFF2-40B4-BE49-F238E27FC236}">
                  <a16:creationId xmlns:a16="http://schemas.microsoft.com/office/drawing/2014/main" id="{C22F73FC-22E6-4C04-4138-C6E4840A457B}"/>
                </a:ext>
              </a:extLst>
            </p:cNvPr>
            <p:cNvSpPr/>
            <p:nvPr/>
          </p:nvSpPr>
          <p:spPr>
            <a:xfrm>
              <a:off x="7093514" y="2262124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6" name="Straight Arrow Connector 134">
              <a:extLst>
                <a:ext uri="{FF2B5EF4-FFF2-40B4-BE49-F238E27FC236}">
                  <a16:creationId xmlns:a16="http://schemas.microsoft.com/office/drawing/2014/main" id="{2CC61B4E-8888-D162-6D95-B9FE3B5D36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16487" y="2068597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Oval 136">
              <a:extLst>
                <a:ext uri="{FF2B5EF4-FFF2-40B4-BE49-F238E27FC236}">
                  <a16:creationId xmlns:a16="http://schemas.microsoft.com/office/drawing/2014/main" id="{C68A2736-8717-3DD0-DD01-7B61C8468B69}"/>
                </a:ext>
              </a:extLst>
            </p:cNvPr>
            <p:cNvSpPr/>
            <p:nvPr/>
          </p:nvSpPr>
          <p:spPr>
            <a:xfrm>
              <a:off x="9028819" y="240007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0" name="Oval 138">
              <a:extLst>
                <a:ext uri="{FF2B5EF4-FFF2-40B4-BE49-F238E27FC236}">
                  <a16:creationId xmlns:a16="http://schemas.microsoft.com/office/drawing/2014/main" id="{28474D35-7F2A-1499-BF67-A56E9CBB2FC6}"/>
                </a:ext>
              </a:extLst>
            </p:cNvPr>
            <p:cNvSpPr/>
            <p:nvPr/>
          </p:nvSpPr>
          <p:spPr>
            <a:xfrm>
              <a:off x="10039935" y="240007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139">
                  <a:extLst>
                    <a:ext uri="{FF2B5EF4-FFF2-40B4-BE49-F238E27FC236}">
                      <a16:creationId xmlns:a16="http://schemas.microsoft.com/office/drawing/2014/main" id="{E0C6E98E-ACF4-9488-A87C-FDDDBD391DC5}"/>
                    </a:ext>
                  </a:extLst>
                </p:cNvPr>
                <p:cNvSpPr txBox="1"/>
                <p:nvPr/>
              </p:nvSpPr>
              <p:spPr>
                <a:xfrm>
                  <a:off x="6373737" y="2343915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1" name="TextBox 139">
                  <a:extLst>
                    <a:ext uri="{FF2B5EF4-FFF2-40B4-BE49-F238E27FC236}">
                      <a16:creationId xmlns:a16="http://schemas.microsoft.com/office/drawing/2014/main" id="{E0C6E98E-ACF4-9488-A87C-FDDDBD391D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3737" y="2343915"/>
                  <a:ext cx="511583" cy="369332"/>
                </a:xfrm>
                <a:prstGeom prst="rect">
                  <a:avLst/>
                </a:prstGeom>
                <a:blipFill>
                  <a:blip r:embed="rId26"/>
                  <a:stretch>
                    <a:fillRect r="-156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144">
              <a:extLst>
                <a:ext uri="{FF2B5EF4-FFF2-40B4-BE49-F238E27FC236}">
                  <a16:creationId xmlns:a16="http://schemas.microsoft.com/office/drawing/2014/main" id="{94081AD1-ED81-9C0E-2BC9-06E7A6BFA20D}"/>
                </a:ext>
              </a:extLst>
            </p:cNvPr>
            <p:cNvCxnSpPr>
              <a:cxnSpLocks/>
              <a:stCxn id="91" idx="3"/>
              <a:endCxn id="88" idx="2"/>
            </p:cNvCxnSpPr>
            <p:nvPr/>
          </p:nvCxnSpPr>
          <p:spPr>
            <a:xfrm>
              <a:off x="6885320" y="2528581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147">
              <a:extLst>
                <a:ext uri="{FF2B5EF4-FFF2-40B4-BE49-F238E27FC236}">
                  <a16:creationId xmlns:a16="http://schemas.microsoft.com/office/drawing/2014/main" id="{75B733EE-950D-D301-BA46-CA4DC385D6EB}"/>
                </a:ext>
              </a:extLst>
            </p:cNvPr>
            <p:cNvCxnSpPr>
              <a:stCxn id="88" idx="6"/>
              <a:endCxn id="90" idx="2"/>
            </p:cNvCxnSpPr>
            <p:nvPr/>
          </p:nvCxnSpPr>
          <p:spPr>
            <a:xfrm>
              <a:off x="9301869" y="2536597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50">
              <a:extLst>
                <a:ext uri="{FF2B5EF4-FFF2-40B4-BE49-F238E27FC236}">
                  <a16:creationId xmlns:a16="http://schemas.microsoft.com/office/drawing/2014/main" id="{FEFDB515-7ABA-4900-267A-51F10B3F22A9}"/>
                </a:ext>
              </a:extLst>
            </p:cNvPr>
            <p:cNvCxnSpPr>
              <a:cxnSpLocks/>
              <a:stCxn id="90" idx="6"/>
            </p:cNvCxnSpPr>
            <p:nvPr/>
          </p:nvCxnSpPr>
          <p:spPr>
            <a:xfrm>
              <a:off x="10312984" y="2536597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TextBox 151">
                  <a:extLst>
                    <a:ext uri="{FF2B5EF4-FFF2-40B4-BE49-F238E27FC236}">
                      <a16:creationId xmlns:a16="http://schemas.microsoft.com/office/drawing/2014/main" id="{03DA660E-E283-6E20-ED9F-5E2FB81B5106}"/>
                    </a:ext>
                  </a:extLst>
                </p:cNvPr>
                <p:cNvSpPr txBox="1"/>
                <p:nvPr/>
              </p:nvSpPr>
              <p:spPr>
                <a:xfrm>
                  <a:off x="10938815" y="2343915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3" name="TextBox 151">
                  <a:extLst>
                    <a:ext uri="{FF2B5EF4-FFF2-40B4-BE49-F238E27FC236}">
                      <a16:creationId xmlns:a16="http://schemas.microsoft.com/office/drawing/2014/main" id="{03DA660E-E283-6E20-ED9F-5E2FB81B51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38815" y="2343915"/>
                  <a:ext cx="363844" cy="369332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TextBox 155">
                  <a:extLst>
                    <a:ext uri="{FF2B5EF4-FFF2-40B4-BE49-F238E27FC236}">
                      <a16:creationId xmlns:a16="http://schemas.microsoft.com/office/drawing/2014/main" id="{4887E9F6-207A-7111-1D25-FF90C0EED4DD}"/>
                    </a:ext>
                  </a:extLst>
                </p:cNvPr>
                <p:cNvSpPr txBox="1"/>
                <p:nvPr/>
              </p:nvSpPr>
              <p:spPr>
                <a:xfrm>
                  <a:off x="7063130" y="4279119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6" name="TextBox 155">
                  <a:extLst>
                    <a:ext uri="{FF2B5EF4-FFF2-40B4-BE49-F238E27FC236}">
                      <a16:creationId xmlns:a16="http://schemas.microsoft.com/office/drawing/2014/main" id="{4887E9F6-207A-7111-1D25-FF90C0EED4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3130" y="4279119"/>
                  <a:ext cx="458394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51">
                  <a:extLst>
                    <a:ext uri="{FF2B5EF4-FFF2-40B4-BE49-F238E27FC236}">
                      <a16:creationId xmlns:a16="http://schemas.microsoft.com/office/drawing/2014/main" id="{6347BF7A-E257-0517-DF8B-551D5E60395D}"/>
                    </a:ext>
                  </a:extLst>
                </p:cNvPr>
                <p:cNvSpPr txBox="1"/>
                <p:nvPr/>
              </p:nvSpPr>
              <p:spPr>
                <a:xfrm>
                  <a:off x="10757195" y="1935366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9" name="TextBox 151">
                  <a:extLst>
                    <a:ext uri="{FF2B5EF4-FFF2-40B4-BE49-F238E27FC236}">
                      <a16:creationId xmlns:a16="http://schemas.microsoft.com/office/drawing/2014/main" id="{6347BF7A-E257-0517-DF8B-551D5E6039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57195" y="1935366"/>
                  <a:ext cx="363844" cy="369332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Agrupar 10">
            <a:extLst>
              <a:ext uri="{FF2B5EF4-FFF2-40B4-BE49-F238E27FC236}">
                <a16:creationId xmlns:a16="http://schemas.microsoft.com/office/drawing/2014/main" id="{366F7BF2-C635-C709-4EB5-7F9A5D5B6DBD}"/>
              </a:ext>
            </a:extLst>
          </p:cNvPr>
          <p:cNvGrpSpPr/>
          <p:nvPr/>
        </p:nvGrpSpPr>
        <p:grpSpPr>
          <a:xfrm>
            <a:off x="3105149" y="1848292"/>
            <a:ext cx="4928922" cy="2995485"/>
            <a:chOff x="3105149" y="184829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3824926" y="245745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47899" y="226392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257352" y="320691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5760231" y="259539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6600481" y="363145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6771347" y="259539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105149" y="253924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5149" y="253924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6771347" y="310531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5730183" y="362621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0183" y="362621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4850361" y="362910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361" y="362910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203828" y="310399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3616732" y="272390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5896438" y="286844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166763" y="305585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033281" y="273192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6907872" y="286844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6907872" y="337836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044396" y="273192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7670227" y="253924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227" y="253924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4630679" y="324316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393877" y="273192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3794542" y="447444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4542" y="447444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303075" y="264494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025900" y="273192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124324" y="392408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019549" y="382190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024311" y="415980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082093" y="398985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016616" y="392697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5526656" y="324186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6656" y="324186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4645948" y="326699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5948" y="326699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6938718" y="324288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8718" y="324288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190568" y="305032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359355" y="184829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 flipH="1" flipV="1">
              <a:off x="5830038" y="2309957"/>
              <a:ext cx="646840" cy="19140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283136" y="185926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4749414" y="232092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5896438" y="324051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476878" y="324051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7467796" y="213377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7796" y="2133771"/>
                  <a:ext cx="36384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4" name="Agrupar 43">
              <a:extLst>
                <a:ext uri="{FF2B5EF4-FFF2-40B4-BE49-F238E27FC236}">
                  <a16:creationId xmlns:a16="http://schemas.microsoft.com/office/drawing/2014/main" id="{A3051DFC-A45B-FD0E-D278-10E63E4DF97B}"/>
                </a:ext>
              </a:extLst>
            </p:cNvPr>
            <p:cNvGrpSpPr/>
            <p:nvPr/>
          </p:nvGrpSpPr>
          <p:grpSpPr>
            <a:xfrm>
              <a:off x="5584607" y="2516381"/>
              <a:ext cx="1717688" cy="1642522"/>
              <a:chOff x="8827837" y="3357993"/>
              <a:chExt cx="1717688" cy="1642522"/>
            </a:xfrm>
          </p:grpSpPr>
          <p:cxnSp>
            <p:nvCxnSpPr>
              <p:cNvPr id="28" name="Conector reto 27">
                <a:extLst>
                  <a:ext uri="{FF2B5EF4-FFF2-40B4-BE49-F238E27FC236}">
                    <a16:creationId xmlns:a16="http://schemas.microsoft.com/office/drawing/2014/main" id="{3C801D42-BBEE-7EA8-C27E-E2E9B59BE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27837" y="3357993"/>
                <a:ext cx="0" cy="1642522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3" name="Conector reto 32">
                <a:extLst>
                  <a:ext uri="{FF2B5EF4-FFF2-40B4-BE49-F238E27FC236}">
                    <a16:creationId xmlns:a16="http://schemas.microsoft.com/office/drawing/2014/main" id="{B1603849-608A-D0CB-04FF-7FFE5C64EB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27837" y="3357993"/>
                <a:ext cx="1717688" cy="0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49" name="Conector reto 48">
              <a:extLst>
                <a:ext uri="{FF2B5EF4-FFF2-40B4-BE49-F238E27FC236}">
                  <a16:creationId xmlns:a16="http://schemas.microsoft.com/office/drawing/2014/main" id="{7ED3F87C-EFFD-4DE1-2450-B47542CF5F92}"/>
                </a:ext>
              </a:extLst>
            </p:cNvPr>
            <p:cNvCxnSpPr/>
            <p:nvPr/>
          </p:nvCxnSpPr>
          <p:spPr>
            <a:xfrm>
              <a:off x="5584607" y="4158903"/>
              <a:ext cx="75600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to 49">
              <a:extLst>
                <a:ext uri="{FF2B5EF4-FFF2-40B4-BE49-F238E27FC236}">
                  <a16:creationId xmlns:a16="http://schemas.microsoft.com/office/drawing/2014/main" id="{E34E9718-BF01-738B-8B73-3E583890193A}"/>
                </a:ext>
              </a:extLst>
            </p:cNvPr>
            <p:cNvCxnSpPr/>
            <p:nvPr/>
          </p:nvCxnSpPr>
          <p:spPr>
            <a:xfrm>
              <a:off x="6338693" y="3582688"/>
              <a:ext cx="97200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1" name="Conector reto 50">
              <a:extLst>
                <a:ext uri="{FF2B5EF4-FFF2-40B4-BE49-F238E27FC236}">
                  <a16:creationId xmlns:a16="http://schemas.microsoft.com/office/drawing/2014/main" id="{DEA0A1B2-AC93-F32B-6CCA-266EDCD9B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31156" y="3587184"/>
              <a:ext cx="1783" cy="57600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Conector reto 58">
              <a:extLst>
                <a:ext uri="{FF2B5EF4-FFF2-40B4-BE49-F238E27FC236}">
                  <a16:creationId xmlns:a16="http://schemas.microsoft.com/office/drawing/2014/main" id="{C7A5282E-7541-7BB9-8579-7C168E5DCB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315217" y="2522793"/>
              <a:ext cx="4437" cy="102410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" name="Freeform: Shape 159">
              <a:extLst>
                <a:ext uri="{FF2B5EF4-FFF2-40B4-BE49-F238E27FC236}">
                  <a16:creationId xmlns:a16="http://schemas.microsoft.com/office/drawing/2014/main" id="{01FDC6DC-1E90-1E8B-0DFA-A33BB1DA9614}"/>
                </a:ext>
              </a:extLst>
            </p:cNvPr>
            <p:cNvSpPr/>
            <p:nvPr/>
          </p:nvSpPr>
          <p:spPr>
            <a:xfrm rot="21335253">
              <a:off x="4397003" y="4029071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E74C7B34-C122-8861-FE4A-62F6E6658992}"/>
                </a:ext>
              </a:extLst>
            </p:cNvPr>
            <p:cNvCxnSpPr>
              <a:endCxn id="2" idx="0"/>
            </p:cNvCxnSpPr>
            <p:nvPr/>
          </p:nvCxnSpPr>
          <p:spPr>
            <a:xfrm flipH="1">
              <a:off x="4394444" y="3479965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11850</TotalTime>
  <Words>7714</Words>
  <Application>Microsoft Office PowerPoint</Application>
  <PresentationFormat>Widescreen</PresentationFormat>
  <Paragraphs>1103</Paragraphs>
  <Slides>98</Slides>
  <Notes>60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98</vt:i4>
      </vt:variant>
    </vt:vector>
  </HeadingPairs>
  <TitlesOfParts>
    <vt:vector size="105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Long-short term memory (LSTM)</vt:lpstr>
      <vt:lpstr>Como as portas funcionam?</vt:lpstr>
      <vt:lpstr>Como as portas funcionam?</vt:lpstr>
      <vt:lpstr>Como as portas funcionam?</vt:lpstr>
      <vt:lpstr>Dinâmica das portas em uma célula LSTM</vt:lpstr>
      <vt:lpstr>Dinâmica das portas em uma célula LSTM</vt:lpstr>
      <vt:lpstr>Porta de esquecimento</vt:lpstr>
      <vt:lpstr>Porta de entrada</vt:lpstr>
      <vt:lpstr>Porta de saída</vt:lpstr>
      <vt:lpstr>Equações de atualização da célula</vt:lpstr>
      <vt:lpstr>Long-short term memory (LSTM)</vt:lpstr>
      <vt:lpstr>Principais desvantagens de LSTMs</vt:lpstr>
      <vt:lpstr>Apresentação do PowerPoint</vt:lpstr>
      <vt:lpstr>Gated recurrent unit (GRU)</vt:lpstr>
      <vt:lpstr>Gated recurrent unit (GRU)</vt:lpstr>
      <vt:lpstr>Gated recurrent unit (GRU)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2252</cp:revision>
  <dcterms:created xsi:type="dcterms:W3CDTF">2020-01-20T13:50:05Z</dcterms:created>
  <dcterms:modified xsi:type="dcterms:W3CDTF">2026-05-18T20:59:10Z</dcterms:modified>
</cp:coreProperties>
</file>