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1"/>
  </p:notesMasterIdLst>
  <p:handoutMasterIdLst>
    <p:handoutMasterId r:id="rId102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347" r:id="rId40"/>
    <p:sldId id="643" r:id="rId41"/>
    <p:sldId id="349" r:id="rId42"/>
    <p:sldId id="351" r:id="rId43"/>
    <p:sldId id="645" r:id="rId44"/>
    <p:sldId id="352" r:id="rId45"/>
    <p:sldId id="649" r:id="rId46"/>
    <p:sldId id="355" r:id="rId47"/>
    <p:sldId id="650" r:id="rId48"/>
    <p:sldId id="655" r:id="rId49"/>
    <p:sldId id="376" r:id="rId50"/>
    <p:sldId id="616" r:id="rId51"/>
    <p:sldId id="659" r:id="rId52"/>
    <p:sldId id="660" r:id="rId53"/>
    <p:sldId id="656" r:id="rId54"/>
    <p:sldId id="358" r:id="rId55"/>
    <p:sldId id="362" r:id="rId56"/>
    <p:sldId id="591" r:id="rId57"/>
    <p:sldId id="365" r:id="rId58"/>
    <p:sldId id="366" r:id="rId59"/>
    <p:sldId id="367" r:id="rId60"/>
    <p:sldId id="642" r:id="rId61"/>
    <p:sldId id="368" r:id="rId62"/>
    <p:sldId id="371" r:id="rId63"/>
    <p:sldId id="603" r:id="rId64"/>
    <p:sldId id="661" r:id="rId65"/>
    <p:sldId id="381" r:id="rId66"/>
    <p:sldId id="662" r:id="rId67"/>
    <p:sldId id="663" r:id="rId68"/>
    <p:sldId id="594" r:id="rId69"/>
    <p:sldId id="658" r:id="rId70"/>
    <p:sldId id="595" r:id="rId71"/>
    <p:sldId id="596" r:id="rId72"/>
    <p:sldId id="597" r:id="rId73"/>
    <p:sldId id="598" r:id="rId74"/>
    <p:sldId id="599" r:id="rId75"/>
    <p:sldId id="624" r:id="rId76"/>
    <p:sldId id="600" r:id="rId77"/>
    <p:sldId id="588" r:id="rId78"/>
    <p:sldId id="589" r:id="rId79"/>
    <p:sldId id="293" r:id="rId80"/>
    <p:sldId id="306" r:id="rId81"/>
    <p:sldId id="335" r:id="rId82"/>
    <p:sldId id="590" r:id="rId83"/>
    <p:sldId id="608" r:id="rId84"/>
    <p:sldId id="330" r:id="rId85"/>
    <p:sldId id="340" r:id="rId86"/>
    <p:sldId id="348" r:id="rId87"/>
    <p:sldId id="350" r:id="rId88"/>
    <p:sldId id="353" r:id="rId89"/>
    <p:sldId id="354" r:id="rId90"/>
    <p:sldId id="373" r:id="rId91"/>
    <p:sldId id="647" r:id="rId92"/>
    <p:sldId id="357" r:id="rId93"/>
    <p:sldId id="359" r:id="rId94"/>
    <p:sldId id="592" r:id="rId95"/>
    <p:sldId id="363" r:id="rId96"/>
    <p:sldId id="364" r:id="rId97"/>
    <p:sldId id="654" r:id="rId98"/>
    <p:sldId id="369" r:id="rId99"/>
    <p:sldId id="370" r:id="rId10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4140" autoAdjust="0"/>
  </p:normalViewPr>
  <p:slideViewPr>
    <p:cSldViewPr snapToGrid="0">
      <p:cViewPr varScale="1">
        <p:scale>
          <a:sx n="93" d="100"/>
          <a:sy n="93" d="100"/>
        </p:scale>
        <p:origin x="1494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microsoft.com/office/2016/11/relationships/changesInfo" Target="changesInfos/changesInfo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108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17/05/2026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7517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1855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9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machine-learning/gated-recurrent-unit-networks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641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129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128.png"/><Relationship Id="rId15" Type="http://schemas.openxmlformats.org/officeDocument/2006/relationships/image" Target="../media/image131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0.png"/><Relationship Id="rId3" Type="http://schemas.openxmlformats.org/officeDocument/2006/relationships/image" Target="../media/image1280.png"/><Relationship Id="rId7" Type="http://schemas.openxmlformats.org/officeDocument/2006/relationships/image" Target="../media/image130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0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0.png"/><Relationship Id="rId7" Type="http://schemas.openxmlformats.org/officeDocument/2006/relationships/image" Target="../media/image130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0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tradicional processa uma sequência muito longa, ela se esquece gradualmente das primeiras amostras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O TBPTT </a:t>
            </a:r>
            <a:r>
              <a:rPr lang="pt-BR" b="1" dirty="0"/>
              <a:t>também limita o aprendizado de longo prazo</a:t>
            </a:r>
            <a:r>
              <a:rPr lang="pt-BR" dirty="0"/>
              <a:t>, pois impõe um horizonte máximo para a retropropagação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: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, i.e., a informação relevante está a poucos passos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  <a:p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treinamento, o erro precisa ser retropropagado por apenas alguns instantes temporais.</a:t>
            </a:r>
          </a:p>
          <a:p>
            <a:r>
              <a:rPr lang="pt-BR" dirty="0"/>
              <a:t>Porém, em muitas aplicações, a informação importante pode estar muito distante na sequência.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7810" y="1825624"/>
            <a:ext cx="5884189" cy="5032375"/>
          </a:xfrm>
        </p:spPr>
        <p:txBody>
          <a:bodyPr>
            <a:normAutofit/>
          </a:bodyPr>
          <a:lstStyle/>
          <a:p>
            <a:r>
              <a:rPr lang="pt-BR" dirty="0"/>
              <a:t>Agora, vamos considerar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>
                <a:solidFill>
                  <a:schemeClr val="accent2"/>
                </a:solidFill>
              </a:rPr>
              <a:t>“italiano”</a:t>
            </a:r>
            <a:r>
              <a:rPr lang="pt-BR" dirty="0"/>
              <a:t>, a rede precisa lembrar uma informação muito antiga da sequência, a palavra </a:t>
            </a:r>
            <a:r>
              <a:rPr lang="pt-BR" b="1" dirty="0">
                <a:solidFill>
                  <a:schemeClr val="accent2"/>
                </a:solidFill>
              </a:rPr>
              <a:t>“Roma”</a:t>
            </a:r>
            <a:r>
              <a:rPr lang="pt-BR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Durante o treinamento, o erro precisa ser </a:t>
            </a:r>
            <a:r>
              <a:rPr lang="pt-BR" dirty="0" err="1"/>
              <a:t>retropropagado</a:t>
            </a:r>
            <a:r>
              <a:rPr lang="pt-BR" dirty="0"/>
              <a:t> por vários instantes de tempo, o que pode fazer com que o </a:t>
            </a:r>
            <a:r>
              <a:rPr lang="pt-BR" b="1" dirty="0">
                <a:solidFill>
                  <a:srgbClr val="7030A0"/>
                </a:solidFill>
              </a:rPr>
              <a:t>gradiente desapareça</a:t>
            </a:r>
            <a:r>
              <a:rPr lang="pt-BR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Quanto maior a distância temporal, mais difícil é para a RNN manter a informação relevante.</a:t>
            </a:r>
          </a:p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tradicionais têm dificuldade em preservar informações por muitos passos temporais.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Como 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por muito mais tempo?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Para resolver o problema das dependências de longo prazo, causado pelo desaparecimento ou explosão do gradiente, foram propostas arquiteturas com mecanismos de memória: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Long</a:t>
            </a:r>
            <a:r>
              <a:rPr lang="pt-BR" dirty="0"/>
              <a:t> 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/>
              <a:t>Memory</a:t>
            </a:r>
            <a:r>
              <a:rPr lang="pt-BR" dirty="0"/>
              <a:t> (LSTM)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Gated</a:t>
            </a:r>
            <a:r>
              <a:rPr lang="pt-BR" dirty="0"/>
              <a:t> </a:t>
            </a:r>
            <a:r>
              <a:rPr lang="pt-BR" dirty="0" err="1"/>
              <a:t>Recurrent</a:t>
            </a:r>
            <a:r>
              <a:rPr lang="pt-BR" dirty="0"/>
              <a:t> Unit (GRU)</a:t>
            </a:r>
          </a:p>
          <a:p>
            <a:r>
              <a:rPr lang="pt-BR" dirty="0"/>
              <a:t>Essas redes criam caminhos ao longo do tempo cujas </a:t>
            </a:r>
            <a:r>
              <a:rPr lang="pt-BR" b="1" dirty="0">
                <a:solidFill>
                  <a:schemeClr val="accent2"/>
                </a:solidFill>
              </a:rPr>
              <a:t>derivadas podem ser controladas</a:t>
            </a:r>
            <a:r>
              <a:rPr lang="pt-BR" dirty="0"/>
              <a:t> para não desaparecer nem explodir.</a:t>
            </a:r>
          </a:p>
          <a:p>
            <a:r>
              <a:rPr lang="pt-BR" dirty="0"/>
              <a:t>Elas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controlar: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informações devem ser armazenadas (o que lembrar).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esquecidas.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utilizadas na saída (quando usar uma informação armazenada).</a:t>
            </a:r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.</a:t>
            </a:r>
          </a:p>
          <a:p>
            <a:r>
              <a:rPr lang="pt-BR" dirty="0"/>
              <a:t>São amplamente utilizadas atualmente.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38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035" y="1825624"/>
            <a:ext cx="623596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formam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Forget</a:t>
            </a:r>
            <a:r>
              <a:rPr lang="pt-BR" b="1" i="1" dirty="0"/>
              <a:t>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  <a:p>
            <a:endParaRPr lang="pt-BR" dirty="0"/>
          </a:p>
          <a:p>
            <a:endParaRPr lang="pt-BR" dirty="0"/>
          </a:p>
        </p:txBody>
      </p:sp>
      <p:grpSp>
        <p:nvGrpSpPr>
          <p:cNvPr id="5" name="Grupo 4"/>
          <p:cNvGrpSpPr/>
          <p:nvPr/>
        </p:nvGrpSpPr>
        <p:grpSpPr>
          <a:xfrm>
            <a:off x="635838" y="2424223"/>
            <a:ext cx="5320197" cy="3228140"/>
            <a:chOff x="697831" y="2222745"/>
            <a:chExt cx="5320197" cy="3228140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0180B18-707C-9189-F385-D0DD1450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831" y="2222745"/>
              <a:ext cx="5320197" cy="3228140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9B1DA347-BBC4-AE49-41A5-6D28C39A35B8}"/>
                </a:ext>
              </a:extLst>
            </p:cNvPr>
            <p:cNvSpPr/>
            <p:nvPr/>
          </p:nvSpPr>
          <p:spPr>
            <a:xfrm>
              <a:off x="1678193" y="2893806"/>
              <a:ext cx="484094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C6A37ED-D7FF-0A9B-246C-6A1327E19771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841BE1E-2151-5C15-382E-E4E866E97366}"/>
                </a:ext>
              </a:extLst>
            </p:cNvPr>
            <p:cNvSpPr/>
            <p:nvPr/>
          </p:nvSpPr>
          <p:spPr>
            <a:xfrm>
              <a:off x="2259105" y="3603812"/>
              <a:ext cx="1312433" cy="111584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9FE171E2-98E2-80BF-7246-2FA7AC49188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5D41BF3-5175-2D98-868F-9949FD2DD01F}"/>
                </a:ext>
              </a:extLst>
            </p:cNvPr>
            <p:cNvSpPr/>
            <p:nvPr/>
          </p:nvSpPr>
          <p:spPr>
            <a:xfrm>
              <a:off x="3668355" y="3162748"/>
              <a:ext cx="1140313" cy="15569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5690B213-E976-D58E-3664-2CC432FE0432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interno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da célula.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  <a:blipFill>
                <a:blip r:embed="rId2"/>
                <a:stretch>
                  <a:fillRect l="-1746" t="-1937" r="-1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8" y="2312161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177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esquecimento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da </a:t>
                </a:r>
                <a:r>
                  <a:rPr lang="pt-BR" b="1" dirty="0">
                    <a:solidFill>
                      <a:srgbClr val="7030A0"/>
                    </a:solidFill>
                  </a:rPr>
                  <a:t>informação passada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apagadas ou mantidas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entrada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/>
                  <a:t>de </a:t>
                </a:r>
                <a:r>
                  <a:rPr lang="pt-BR" b="1" dirty="0">
                    <a:solidFill>
                      <a:srgbClr val="7030A0"/>
                    </a:solidFill>
                  </a:rPr>
                  <a:t>novas informações (memórias)</a:t>
                </a:r>
                <a:r>
                  <a:rPr lang="pt-BR" dirty="0"/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adicionadas</a:t>
                </a:r>
                <a:r>
                  <a:rPr lang="pt-BR" dirty="0">
                    <a:solidFill>
                      <a:schemeClr val="tx1"/>
                    </a:solidFill>
                  </a:rPr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saída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lidas e fornecidas como saída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neste passo de tempo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  <a:blipFill rotWithShape="0">
                <a:blip r:embed="rId3"/>
                <a:stretch>
                  <a:fillRect l="-1701" t="-1937" r="-1985" b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/>
          <p:cNvGrpSpPr/>
          <p:nvPr/>
        </p:nvGrpSpPr>
        <p:grpSpPr>
          <a:xfrm>
            <a:off x="336708" y="2419245"/>
            <a:ext cx="5133277" cy="3164098"/>
            <a:chOff x="584681" y="2224681"/>
            <a:chExt cx="5133277" cy="3164098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B538100-869E-9015-E39A-A1340D4D0515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5DD632F-0686-568D-5F9B-260BA967E01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AA82173B-E627-D5F4-C24A-C8EFB8591AF2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738DFC6-B08A-BCAF-A6DC-558964B054EF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724DFD49-F8A1-B391-4C4D-9D392820E8F5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56C62AF-7481-CE0B-1BB2-B4A93CE957B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27670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portas são uma forma de </a:t>
                </a:r>
                <a:r>
                  <a:rPr lang="pt-BR" b="1" dirty="0">
                    <a:solidFill>
                      <a:srgbClr val="7030A0"/>
                    </a:solidFill>
                  </a:rPr>
                  <a:t>permitir </a:t>
                </a:r>
                <a:r>
                  <a:rPr lang="pt-BR" dirty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passagem ou não de informações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Imaginem uma das 3 camadas densas com função de ativação sigmoide da célula LSTM.</a:t>
                </a:r>
              </a:p>
              <a:p>
                <a:r>
                  <a:rPr lang="pt-BR" dirty="0"/>
                  <a:t>A camada gera um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com elementos assumindo valores entre 0 e 1.</a:t>
                </a:r>
              </a:p>
              <a:p>
                <a:r>
                  <a:rPr lang="pt-BR" dirty="0"/>
                  <a:t>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operação de multiplicação elemento a elemento</a:t>
                </a:r>
                <a:r>
                  <a:rPr lang="pt-BR" dirty="0"/>
                  <a:t> decide o quanto da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passa para a saída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isso a porta decide (</a:t>
                </a:r>
                <a:r>
                  <a:rPr lang="pt-BR" b="1" dirty="0">
                    <a:solidFill>
                      <a:srgbClr val="00B050"/>
                    </a:solidFill>
                  </a:rPr>
                  <a:t>aprende</a:t>
                </a:r>
                <a:r>
                  <a:rPr lang="pt-BR" dirty="0"/>
                  <a:t>) o quanto de cada elemento deve ser permitido passar.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  <a:blipFill rotWithShape="0">
                <a:blip r:embed="rId3"/>
                <a:stretch>
                  <a:fillRect l="-154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853161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257650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Uma nova informação é armazenada na célula sempre que um elemento da porta de entrada tender a 1.</a:t>
            </a:r>
          </a:p>
          <a:p>
            <a:r>
              <a:rPr lang="pt-BR" dirty="0"/>
              <a:t>Uma informação de longo prazo é descartada da célula sempre que um elemento da porta de esquecimento tender a 0.</a:t>
            </a:r>
          </a:p>
          <a:p>
            <a:r>
              <a:rPr lang="pt-BR" dirty="0"/>
              <a:t>Uma informação de longo prazo é lida da célula sempre que um elemento da porta de saída tender a 1.</a:t>
            </a:r>
          </a:p>
          <a:p>
            <a:r>
              <a:rPr lang="pt-BR" dirty="0"/>
              <a:t>Em resumo, uma célula LSTM aprende a reconhecer uma informação importante, armazená-la no estado de longo prazo, preservá-la pelo tempo que for </a:t>
            </a:r>
            <a:r>
              <a:rPr lang="pt-BR"/>
              <a:t>necessário e </a:t>
            </a:r>
            <a:r>
              <a:rPr lang="pt-BR" dirty="0"/>
              <a:t>extraí-la sempre que necessário.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9546B0-E611-8DE0-67E8-AC0E006F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1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0</a:t>
                </a:r>
                <a:r>
                  <a:rPr lang="pt-BR" dirty="0"/>
                  <a:t>, então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Ou seja, o estado interno da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permanecerá constante para sempre</a:t>
                </a:r>
                <a:r>
                  <a:rPr lang="pt-BR" dirty="0"/>
                  <a:t>, passando inalterado para cada passo de tempo subsequente.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assim que a memória de longo prazo é mantida.</a:t>
                </a:r>
              </a:p>
              <a:p>
                <a:r>
                  <a:rPr lang="pt-BR" dirty="0"/>
                  <a:t>No entanto, as portas de entrada e de esquecimento dão ao modelo a </a:t>
                </a:r>
                <a:r>
                  <a:rPr lang="pt-BR" b="1" dirty="0">
                    <a:solidFill>
                      <a:srgbClr val="7030A0"/>
                    </a:solidFill>
                  </a:rPr>
                  <a:t>flexibilidade de aprender quando manter ou não</a:t>
                </a:r>
                <a:r>
                  <a:rPr lang="pt-BR" dirty="0"/>
                  <a:t> esse valor inalterado em resposta a entradas subsequentes.</a:t>
                </a:r>
                <a:endParaRPr lang="en-US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  <a:blipFill>
                <a:blip r:embed="rId2"/>
                <a:stretch>
                  <a:fillRect l="-1626" t="-2663" r="-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177CA027-CFCC-FCF8-FD37-50222E2DAA65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60EE7-289F-5B75-AB76-73E333DE6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6302AEA-37ED-B440-6221-CCAC9091219A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31C094EB-7488-FB9B-1E9C-03B1C6C799F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DF703A9D-5199-717A-7731-5781954D7F20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8FC18C0-A7EF-FB6B-7E12-D72DD3F13622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6C3AADC-9B70-D706-CC6D-0DC43A127731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6E3A303C-5914-D4DD-FEA0-76EC3BB8CCF4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2116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D5BAE2-6A9C-5F01-525B-45AB07730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</p:spPr>
            <p:txBody>
              <a:bodyPr/>
              <a:lstStyle/>
              <a:p>
                <a:r>
                  <a:rPr lang="pt-BR" dirty="0"/>
                  <a:t>Sempre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1</a:t>
                </a:r>
                <a:r>
                  <a:rPr lang="pt-BR" dirty="0"/>
                  <a:t>, permitimos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</a:t>
                </a:r>
                <a:r>
                  <a:rPr lang="pt-BR" dirty="0"/>
                  <a:t> sem inibição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 outro lado,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0</a:t>
                </a:r>
                <a:r>
                  <a:rPr lang="pt-BR" dirty="0"/>
                  <a:t>, impedimos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  <a:blipFill>
                <a:blip r:embed="rId2"/>
                <a:stretch>
                  <a:fillRect l="-1708" t="-1937" r="-27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79E4F418-670A-DED4-CF7C-05F26F21CCCB}"/>
              </a:ext>
            </a:extLst>
          </p:cNvPr>
          <p:cNvGrpSpPr/>
          <p:nvPr/>
        </p:nvGrpSpPr>
        <p:grpSpPr>
          <a:xfrm>
            <a:off x="223692" y="2408970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035911D9-7242-6F9F-9F6D-8C568A0F1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89568A9D-6534-78D5-9441-295D48B12F1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3820B776-09FD-3576-AAD3-BD2DD712BEDE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18B8C167-A714-6FEF-845B-8A21565C6038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D7A11C8E-1A5D-C6CB-FB98-99CBC8D5BFFC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694C4716-9A87-CC7F-64FE-06EDC9867093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A6A3A084-0B5C-153E-599D-70B15346BEA3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6205074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1100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esquecimento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entr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</a:t>
                </a:r>
                <a:r>
                  <a:rPr lang="en-US" i="1" dirty="0"/>
                  <a:t>Transformers</a:t>
                </a:r>
                <a:r>
                  <a:rPr lang="en-US" dirty="0"/>
                  <a:t> com </a:t>
                </a:r>
                <a:r>
                  <a:rPr lang="en-US" i="1" dirty="0"/>
                  <a:t>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CC6145-8996-89DD-159B-03716E37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GRUs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B9C5FB-79E3-59EE-FDA7-C5472E668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en-US" sz="4400" b="1" dirty="0">
                <a:solidFill>
                  <a:srgbClr val="FF0000"/>
                </a:solidFill>
              </a:rPr>
              <a:t>4. Gated Recurrent Units (GRUs)</a:t>
            </a:r>
          </a:p>
          <a:p>
            <a:pPr fontAlgn="base"/>
            <a:r>
              <a:rPr lang="en-US" sz="44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Gated Recurrent Units (GRUs) </a:t>
            </a:r>
            <a:r>
              <a:rPr lang="en-US" sz="4400" dirty="0">
                <a:solidFill>
                  <a:srgbClr val="FF0000"/>
                </a:solidFill>
              </a:rPr>
              <a:t>simplify LSTMs by combining the input and forget gates into a single update gate and streamlining the output mechanism. This design is computationally efficient, often performing similarly to LSTMs and is useful in tasks where simplicity and faster training are beneficial.</a:t>
            </a:r>
          </a:p>
          <a:p>
            <a:endParaRPr lang="en-US" sz="4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5825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779" y="1230330"/>
            <a:ext cx="11598442" cy="43973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células LSTM e GRU minimizam o problema do desaparecimento do gradiente e, consequentemente, mantém a memória de longo prazo?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122346-1350-0D90-CDE9-DE6798ED2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3A6A075-2168-B34C-7DE1-A9F42CC13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2176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células de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</a:t>
                </a:r>
                <a:r>
                  <a:rPr lang="pt-BR" b="1" dirty="0">
                    <a:solidFill>
                      <a:srgbClr val="7030A0"/>
                    </a:solidFill>
                  </a:rPr>
                  <a:t>caminho não-linear para 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novo estado da célula passa por uma função </a:t>
                </a:r>
                <a:r>
                  <a:rPr lang="pt-BR" dirty="0" err="1"/>
                  <a:t>tanh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Como sabemos, a derivada de </a:t>
                </a:r>
                <a:r>
                  <a:rPr lang="pt-BR" dirty="0" err="1"/>
                  <a:t>tanh</a:t>
                </a:r>
                <a:r>
                  <a:rPr lang="pt-BR" dirty="0"/>
                  <a:t> tem um valor máximo de 1. </a:t>
                </a:r>
              </a:p>
              <a:p>
                <a:r>
                  <a:rPr lang="pt-BR" dirty="0"/>
                  <a:t>O resultado é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 diminui exponencialmente</a:t>
                </a:r>
                <a:r>
                  <a:rPr lang="pt-BR" dirty="0"/>
                  <a:t> à medida que volta no tempo,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impedindo que a rede aprenda dependências de longo prazo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as células LSTM e GRU modificam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por meio de um </a:t>
                </a:r>
                <a:r>
                  <a:rPr lang="pt-BR" b="1" dirty="0">
                    <a:solidFill>
                      <a:srgbClr val="00B050"/>
                    </a:solidFill>
                  </a:rPr>
                  <a:t>caminho controlável</a:t>
                </a:r>
                <a:r>
                  <a:rPr lang="pt-BR" dirty="0">
                    <a:solidFill>
                      <a:schemeClr val="tx1"/>
                    </a:solidFill>
                  </a:rPr>
                  <a:t> (por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</a:t>
                </a:r>
                <a:r>
                  <a:rPr lang="pt-BR" dirty="0"/>
                  <a:t>que contém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atualizado usando </a:t>
                </a:r>
                <a:r>
                  <a:rPr lang="pt-BR" b="1" dirty="0"/>
                  <a:t>uma</a:t>
                </a:r>
                <a:r>
                  <a:rPr lang="pt-BR" dirty="0"/>
                  <a:t> </a:t>
                </a:r>
                <a:r>
                  <a:rPr lang="pt-BR" b="1" dirty="0"/>
                  <a:t>soma e multiplicações elemento a elemento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sem passar por transformações não lineares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rgbClr val="00B050"/>
                    </a:solidFill>
                  </a:rPr>
                  <a:t>caminho controlável</a:t>
                </a:r>
                <a:r>
                  <a:rPr lang="pt-BR" dirty="0"/>
                  <a:t> permite que os gradientes retrocedam no tempo sem necessariamente desaparecer.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  <a:blipFill>
                <a:blip r:embed="rId2"/>
                <a:stretch>
                  <a:fillRect l="-161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85C46CB-56B7-5DD1-52FD-87B9D73E99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28149"/>
            <a:ext cx="3888430" cy="239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695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143CF0-9F49-DAEC-18D2-77BFC9144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0325E21-C66F-5A89-71B4-232BE482D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800" b="1" dirty="0">
                <a:solidFill>
                  <a:srgbClr val="FF0000"/>
                </a:solidFill>
              </a:rPr>
              <a:t>Melhorar e integrar dos dois slides na sequência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965952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dos sinais de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1927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6">
            <a:extLst>
              <a:ext uri="{FF2B5EF4-FFF2-40B4-BE49-F238E27FC236}">
                <a16:creationId xmlns:a16="http://schemas.microsoft.com/office/drawing/2014/main" id="{3458D03B-3A35-9EB5-6E39-77F907C5942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6" name="Picture 8">
            <a:extLst>
              <a:ext uri="{FF2B5EF4-FFF2-40B4-BE49-F238E27FC236}">
                <a16:creationId xmlns:a16="http://schemas.microsoft.com/office/drawing/2014/main" id="{D08ABF8E-8381-997C-72B5-61FA1829C84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7FA8-995E-6E5C-E176-9980DDAF5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7D99B-33D2-086E-BF94-57B852357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 célula mantém a memória de longo prazo?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FD33B3-EF62-AB89-F38A-0DAD602CF5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72163" y="1825624"/>
                <a:ext cx="61864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principal vantagem vem da derivada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 derivada de 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informação</a:t>
                </a:r>
                <a:r>
                  <a:rPr lang="pt-BR" dirty="0"/>
                  <a:t> pode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fluir ao longo da célula</a:t>
                </a:r>
                <a:r>
                  <a:rPr lang="pt-BR" dirty="0"/>
                  <a:t> de memória </a:t>
                </a:r>
                <a:r>
                  <a:rPr lang="pt-BR" b="1" dirty="0">
                    <a:solidFill>
                      <a:srgbClr val="7030A0"/>
                    </a:solidFill>
                  </a:rPr>
                  <a:t>sem sofrer alterações, mitigando</a:t>
                </a:r>
                <a:r>
                  <a:rPr lang="pt-BR" dirty="0"/>
                  <a:t> </a:t>
                </a:r>
                <a:r>
                  <a:rPr lang="pt-BR"/>
                  <a:t>o problema do </a:t>
                </a:r>
                <a:r>
                  <a:rPr lang="pt-BR" dirty="0"/>
                  <a:t>desaparecimento do gradiente.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FD33B3-EF62-AB89-F38A-0DAD602CF5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72163" y="1825624"/>
                <a:ext cx="6186488" cy="5032375"/>
              </a:xfrm>
              <a:blipFill>
                <a:blip r:embed="rId2"/>
                <a:stretch>
                  <a:fillRect l="-177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05517BC-4356-F71D-48AB-B991F64844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53554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351" y="2890341"/>
            <a:ext cx="11291298" cy="107731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para as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250019"/>
            <a:chOff x="1975628" y="1834844"/>
            <a:chExt cx="7884560" cy="4250019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:a16="http://schemas.microsoft.com/office/drawing/2014/main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:a16="http://schemas.microsoft.com/office/drawing/2014/main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:a16="http://schemas.microsoft.com/office/drawing/2014/main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24168" y="5502397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506345" y="1849548"/>
            <a:ext cx="5133274" cy="3158904"/>
            <a:chOff x="3387954" y="1841814"/>
            <a:chExt cx="5133274" cy="3158904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063158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11247</TotalTime>
  <Words>7175</Words>
  <Application>Microsoft Office PowerPoint</Application>
  <PresentationFormat>Widescreen</PresentationFormat>
  <Paragraphs>1018</Paragraphs>
  <Slides>99</Slides>
  <Notes>56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99</vt:i4>
      </vt:variant>
    </vt:vector>
  </HeadingPairs>
  <TitlesOfParts>
    <vt:vector size="10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Long-short term memory (LSTM)</vt:lpstr>
      <vt:lpstr>Como as portas funcionam?</vt:lpstr>
      <vt:lpstr>Como as portas funcionam?</vt:lpstr>
      <vt:lpstr>Dinâmica das portas em uma célula LSTM</vt:lpstr>
      <vt:lpstr>Dinâmica das portas em uma célula LSTM</vt:lpstr>
      <vt:lpstr>Apresentação do PowerPoint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GRUs</vt:lpstr>
      <vt:lpstr>Gated recurrent unit (GRU)</vt:lpstr>
      <vt:lpstr>Gated recurrent unit (GRU)</vt:lpstr>
      <vt:lpstr>Apresentação do PowerPoint</vt:lpstr>
      <vt:lpstr>Apresentação do PowerPoint</vt:lpstr>
      <vt:lpstr>Desaparecimento do gradiente</vt:lpstr>
      <vt:lpstr>Desaparecimento do gradiente</vt:lpstr>
      <vt:lpstr>Apresentação do PowerPoint</vt:lpstr>
      <vt:lpstr>Desaparecimento do gradiente</vt:lpstr>
      <vt:lpstr>Como a célula mantém a memória de longo prazo?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2135</cp:revision>
  <dcterms:created xsi:type="dcterms:W3CDTF">2020-01-20T13:50:05Z</dcterms:created>
  <dcterms:modified xsi:type="dcterms:W3CDTF">2026-05-17T15:45:04Z</dcterms:modified>
</cp:coreProperties>
</file>