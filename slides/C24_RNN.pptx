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3"/>
  </p:notesMasterIdLst>
  <p:handoutMasterIdLst>
    <p:handoutMasterId r:id="rId94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27" r:id="rId20"/>
    <p:sldId id="625" r:id="rId21"/>
    <p:sldId id="618" r:id="rId22"/>
    <p:sldId id="633" r:id="rId23"/>
    <p:sldId id="338" r:id="rId24"/>
    <p:sldId id="630" r:id="rId25"/>
    <p:sldId id="631" r:id="rId26"/>
    <p:sldId id="611" r:id="rId27"/>
    <p:sldId id="341" r:id="rId28"/>
    <p:sldId id="612" r:id="rId29"/>
    <p:sldId id="634" r:id="rId30"/>
    <p:sldId id="636" r:id="rId31"/>
    <p:sldId id="635" r:id="rId32"/>
    <p:sldId id="342" r:id="rId33"/>
    <p:sldId id="613" r:id="rId34"/>
    <p:sldId id="343" r:id="rId35"/>
    <p:sldId id="361" r:id="rId36"/>
    <p:sldId id="623" r:id="rId37"/>
    <p:sldId id="344" r:id="rId38"/>
    <p:sldId id="345" r:id="rId39"/>
    <p:sldId id="601" r:id="rId40"/>
    <p:sldId id="346" r:id="rId41"/>
    <p:sldId id="347" r:id="rId42"/>
    <p:sldId id="349" r:id="rId43"/>
    <p:sldId id="351" r:id="rId44"/>
    <p:sldId id="352" r:id="rId45"/>
    <p:sldId id="355" r:id="rId46"/>
    <p:sldId id="372" r:id="rId47"/>
    <p:sldId id="616" r:id="rId48"/>
    <p:sldId id="374" r:id="rId49"/>
    <p:sldId id="376" r:id="rId50"/>
    <p:sldId id="614" r:id="rId51"/>
    <p:sldId id="356" r:id="rId52"/>
    <p:sldId id="358" r:id="rId53"/>
    <p:sldId id="362" r:id="rId54"/>
    <p:sldId id="591" r:id="rId55"/>
    <p:sldId id="365" r:id="rId56"/>
    <p:sldId id="366" r:id="rId57"/>
    <p:sldId id="367" r:id="rId58"/>
    <p:sldId id="368" r:id="rId59"/>
    <p:sldId id="371" r:id="rId60"/>
    <p:sldId id="603" r:id="rId61"/>
    <p:sldId id="381" r:id="rId62"/>
    <p:sldId id="377" r:id="rId63"/>
    <p:sldId id="594" r:id="rId64"/>
    <p:sldId id="595" r:id="rId65"/>
    <p:sldId id="596" r:id="rId66"/>
    <p:sldId id="597" r:id="rId67"/>
    <p:sldId id="598" r:id="rId68"/>
    <p:sldId id="599" r:id="rId69"/>
    <p:sldId id="624" r:id="rId70"/>
    <p:sldId id="600" r:id="rId71"/>
    <p:sldId id="588" r:id="rId72"/>
    <p:sldId id="589" r:id="rId73"/>
    <p:sldId id="293" r:id="rId74"/>
    <p:sldId id="306" r:id="rId75"/>
    <p:sldId id="335" r:id="rId76"/>
    <p:sldId id="590" r:id="rId77"/>
    <p:sldId id="608" r:id="rId78"/>
    <p:sldId id="330" r:id="rId79"/>
    <p:sldId id="340" r:id="rId80"/>
    <p:sldId id="348" r:id="rId81"/>
    <p:sldId id="350" r:id="rId82"/>
    <p:sldId id="353" r:id="rId83"/>
    <p:sldId id="354" r:id="rId84"/>
    <p:sldId id="373" r:id="rId85"/>
    <p:sldId id="357" r:id="rId86"/>
    <p:sldId id="359" r:id="rId87"/>
    <p:sldId id="592" r:id="rId88"/>
    <p:sldId id="363" r:id="rId89"/>
    <p:sldId id="364" r:id="rId90"/>
    <p:sldId id="369" r:id="rId91"/>
    <p:sldId id="370" r:id="rId9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4140" autoAdjust="0"/>
  </p:normalViewPr>
  <p:slideViewPr>
    <p:cSldViewPr snapToGrid="0">
      <p:cViewPr varScale="1">
        <p:scale>
          <a:sx n="93" d="100"/>
          <a:sy n="93" d="100"/>
        </p:scale>
        <p:origin x="1494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handoutMaster" Target="handoutMasters/handoutMaster1.xml"/><Relationship Id="rId9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notesMaster" Target="notesMasters/notesMaster1.xml"/><Relationship Id="rId98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14/05/2026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https://medium.com/@surajprakash612/recurrent-neural-networks-rnns-the-engine-for-sequential-data-fc1d552ebfc1</a:t>
            </a:r>
          </a:p>
          <a:p>
            <a:r>
              <a:rPr lang="pt-BR" dirty="0"/>
              <a:t>[2] https://d2l.ai/chapter_recurrent-neural-networks/bptt.html</a:t>
            </a:r>
          </a:p>
          <a:p>
            <a:r>
              <a:rPr lang="pt-BR" dirty="0"/>
              <a:t>[3]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</a:p>
          <a:p>
            <a:r>
              <a:rPr lang="pt-BR" dirty="0"/>
              <a:t>[2]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39683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8955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6E6D1-C5A9-5E02-CF49-31B3C4C6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36EFD-EBEE-4772-D65A-6AB582407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7AC9C5-F488-A6D7-4F15-65AEE652B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7E4DB-58B1-DD85-186B-2CF37F573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883710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E7141-3BE9-0C7C-2257-7BBC9CBA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3EC88-AB52-4AEA-3FC4-7FA49BA59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78DEF2-1B77-EE8D-7E78-A5DF19845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F1CD-7004-7DEE-2019-1AB6EC112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2858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3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441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1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1.png"/><Relationship Id="rId11" Type="http://schemas.openxmlformats.org/officeDocument/2006/relationships/image" Target="../media/image95.png"/><Relationship Id="rId5" Type="http://schemas.openxmlformats.org/officeDocument/2006/relationships/image" Target="../media/image730.png"/><Relationship Id="rId10" Type="http://schemas.openxmlformats.org/officeDocument/2006/relationships/image" Target="../media/image941.png"/><Relationship Id="rId4" Type="http://schemas.openxmlformats.org/officeDocument/2006/relationships/image" Target="../media/image720.png"/><Relationship Id="rId9" Type="http://schemas.openxmlformats.org/officeDocument/2006/relationships/image" Target="../media/image932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81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1.png"/><Relationship Id="rId5" Type="http://schemas.openxmlformats.org/officeDocument/2006/relationships/image" Target="../media/image830.png"/><Relationship Id="rId10" Type="http://schemas.openxmlformats.org/officeDocument/2006/relationships/image" Target="../media/image100.png"/><Relationship Id="rId4" Type="http://schemas.openxmlformats.org/officeDocument/2006/relationships/image" Target="../media/image820.png"/><Relationship Id="rId9" Type="http://schemas.openxmlformats.org/officeDocument/2006/relationships/image" Target="../media/image99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49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9.png"/><Relationship Id="rId3" Type="http://schemas.openxmlformats.org/officeDocument/2006/relationships/image" Target="../media/image103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Softmax para problemas de classificação multiclasses.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Logística para problemas de classificação binários e </a:t>
                </a:r>
                <a:r>
                  <a:rPr lang="pt-BR" dirty="0" err="1"/>
                  <a:t>multi-rótulos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Identidade para problemas de regressão.</a:t>
                </a:r>
              </a:p>
              <a:p>
                <a:r>
                  <a:rPr lang="pt-BR" dirty="0"/>
                  <a:t>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  <a:blipFill>
                <a:blip r:embed="rId3"/>
                <a:stretch>
                  <a:fillRect l="-1768" t="-2663" r="-50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8759DC6-199E-9641-2389-B62D876BAC88}"/>
              </a:ext>
            </a:extLst>
          </p:cNvPr>
          <p:cNvGrpSpPr/>
          <p:nvPr/>
        </p:nvGrpSpPr>
        <p:grpSpPr>
          <a:xfrm>
            <a:off x="1676298" y="1517693"/>
            <a:ext cx="2258314" cy="5231527"/>
            <a:chOff x="1582030" y="1498840"/>
            <a:chExt cx="2258314" cy="5231527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8E2B0E5C-B617-1386-87C2-3A8B717B0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2031" y="1498840"/>
              <a:ext cx="2258313" cy="523152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1E3BC3FD-1B5F-5A63-997C-3561384F2766}"/>
                </a:ext>
              </a:extLst>
            </p:cNvPr>
            <p:cNvSpPr/>
            <p:nvPr/>
          </p:nvSpPr>
          <p:spPr>
            <a:xfrm>
              <a:off x="1582030" y="2066729"/>
              <a:ext cx="557657" cy="6191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FA75654-DF42-EDB9-B152-A60A131AFD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FEFC366-25A0-8801-988D-FFCD224F3E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E6F4CD-19AC-4CEA-A975-5768600757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De forma genérica, a derivada do erro em relação à matriz de pesos,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noProof="0" dirty="0"/>
                  <a:t> é obtida usando a </a:t>
                </a:r>
                <a:r>
                  <a:rPr lang="pt-BR" b="1" noProof="0" dirty="0"/>
                  <a:t>regra da cadeia</a:t>
                </a:r>
                <a:r>
                  <a:rPr lang="pt-BR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noProof="0" dirty="0"/>
                  <a:t>O gradiente é obtido somando-se as </a:t>
                </a:r>
                <a:r>
                  <a:rPr lang="pt-BR" b="1" dirty="0">
                    <a:solidFill>
                      <a:srgbClr val="00B050"/>
                    </a:solidFill>
                  </a:rPr>
                  <a:t>contribuições de cada passo de tempo.</a:t>
                </a:r>
                <a:endParaRPr lang="pt-BR" noProof="0" dirty="0"/>
              </a:p>
              <a:p>
                <a:r>
                  <a:rPr lang="pt-BR" noProof="0" dirty="0"/>
                  <a:t>Como os pesos são compartilhados ao longo do tempo, uma única atualização de peso deve levar em conta sua influência na predição (e, consequentemente, no erro) feita em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 até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dirty="0"/>
                  <a:t>O terceiro termo é onde as coisas se complicam, já que precisamos calcular recursivamente o efeito da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sobre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 r="-913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B22A7D95-555B-6CFC-5755-91069046377A}"/>
              </a:ext>
            </a:extLst>
          </p:cNvPr>
          <p:cNvSpPr/>
          <p:nvPr/>
        </p:nvSpPr>
        <p:spPr>
          <a:xfrm>
            <a:off x="10071215" y="2648932"/>
            <a:ext cx="867267" cy="9898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82EBEB-341A-ECC3-30F7-25CD742B1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95CE4D4-E809-49EE-AE7E-DDF85AA26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50130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A8CEB1-D9CE-8367-8C44-38C8DEA1A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68E9298-2399-A22B-5D1A-7109A6BDDB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pt-BR" dirty="0"/>
                  <a:t>Expandindo totalmente o termo,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brk m:alnAt="23"/>
                                    </m:r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</m:nary>
                            </m:e>
                          </m:d>
                        </m:e>
                      </m:nary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68E9298-2399-A22B-5D1A-7109A6BDDB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00292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0C9970-87AB-619C-7556-912B564F5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F9E22E5-8084-6AAB-7DC3-ECF24017FA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pt-BR" dirty="0"/>
                  <a:t>O primeiro, o segundo e o quarto fatores do produto são fáceis de calcular. </a:t>
                </a:r>
              </a:p>
              <a:p>
                <a:r>
                  <a:rPr lang="pt-BR" dirty="0"/>
                  <a:t>O terceiro é onde as coisas ficam complicadas, já que precisamos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calcular recursivamente</a:t>
                </a:r>
                <a:r>
                  <a:rPr lang="pt-BR" dirty="0"/>
                  <a:t> o efeito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F9E22E5-8084-6AAB-7DC3-ECF24017FA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8914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uso de memória.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2924175"/>
            <a:ext cx="4738255" cy="16954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 err="1"/>
              <a:t>RNNs</a:t>
            </a:r>
            <a:r>
              <a:rPr lang="pt-BR" sz="3600" dirty="0"/>
              <a:t> </a:t>
            </a:r>
            <a:r>
              <a:rPr lang="pt-BR" sz="3600" b="1" dirty="0"/>
              <a:t>tradicionais</a:t>
            </a:r>
            <a:r>
              <a:rPr lang="pt-BR" sz="3600" dirty="0"/>
              <a:t>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1398154"/>
            <a:ext cx="4738255" cy="4627130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RNN processa uma sequência muito longa, ela se esquece gradualmente das primeiras amostras da sequência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en-US" dirty="0"/>
                  <a:t>O </a:t>
                </a:r>
                <a:r>
                  <a:rPr lang="en-US" b="1" dirty="0"/>
                  <a:t>TBPTT</a:t>
                </a:r>
                <a:r>
                  <a:rPr lang="en-US" dirty="0"/>
                  <a:t> </a:t>
                </a:r>
                <a:r>
                  <a:rPr lang="en-US" dirty="0" err="1"/>
                  <a:t>ajuda</a:t>
                </a:r>
                <a:r>
                  <a:rPr lang="en-US" dirty="0"/>
                  <a:t> a combater ambos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2663" b="-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/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 rotWithShape="0"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r>
              <a:rPr lang="pt-BR" b="1" dirty="0"/>
              <a:t>Exemplos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de texto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Reconhecimento</a:t>
            </a:r>
            <a:r>
              <a:rPr lang="en-US" dirty="0"/>
              <a:t> de </a:t>
            </a:r>
            <a:r>
              <a:rPr lang="en-US" dirty="0" err="1"/>
              <a:t>fala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Rastreamento</a:t>
            </a:r>
            <a:r>
              <a:rPr lang="en-US" dirty="0"/>
              <a:t> de </a:t>
            </a:r>
            <a:r>
              <a:rPr lang="en-US" dirty="0" err="1"/>
              <a:t>objetos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fazer uma </a:t>
            </a:r>
            <a:r>
              <a:rPr lang="pt-BR" b="1" dirty="0">
                <a:solidFill>
                  <a:srgbClr val="00B050"/>
                </a:solidFill>
              </a:rPr>
              <a:t>previsão de um passo à frente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a palavra “azul”</a:t>
            </a:r>
            <a:r>
              <a:rPr lang="pt-BR" dirty="0"/>
              <a:t>, basta olhar apenas </a:t>
            </a:r>
            <a:r>
              <a:rPr lang="pt-BR" b="1" dirty="0">
                <a:solidFill>
                  <a:schemeClr val="accent2"/>
                </a:solidFill>
              </a:rPr>
              <a:t>dois passos atrás</a:t>
            </a:r>
            <a:r>
              <a:rPr lang="pt-BR" dirty="0"/>
              <a:t>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a palavra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Continuando com a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</a:t>
            </a:r>
            <a:r>
              <a:rPr lang="pt-BR" b="1" dirty="0">
                <a:solidFill>
                  <a:schemeClr val="accent2"/>
                </a:solidFill>
              </a:rPr>
              <a:t>prever a palavra "italiano"</a:t>
            </a:r>
            <a:r>
              <a:rPr lang="pt-BR" dirty="0"/>
              <a:t>, temos que olhar </a:t>
            </a:r>
            <a:r>
              <a:rPr lang="pt-BR" b="1" dirty="0">
                <a:solidFill>
                  <a:schemeClr val="accent2"/>
                </a:solidFill>
              </a:rPr>
              <a:t>vários passos para trás no tempo</a:t>
            </a:r>
            <a:r>
              <a:rPr lang="pt-BR" dirty="0"/>
              <a:t>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tradicional pode não ser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2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7EA0D5-79A9-4147-4235-29A2A75B93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2081" y="3804862"/>
            <a:ext cx="8206040" cy="305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interagem entre si de uma maneira especial.</a:t>
            </a:r>
          </a:p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FE238D-F070-FB97-ACEC-0EF800831D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721" y="4117943"/>
            <a:ext cx="7364558" cy="274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2918" y="1825624"/>
            <a:ext cx="632908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LSTM possui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Forget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80B18-707C-9189-F385-D0DD145061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B1DA347-BBC4-AE49-41A5-6D28C39A35B8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C6A37ED-D7FF-0A9B-246C-6A1327E19771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841BE1E-2151-5C15-382E-E4E866E97366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FE171E2-98E2-80BF-7246-2FA7AC491881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B5D41BF3-5175-2D98-868F-9949FD2DD01F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690B213-E976-D58E-3664-2CC432FE0432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4845" y="1825624"/>
            <a:ext cx="6077154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entra na célula</a:t>
            </a:r>
            <a:r>
              <a:rPr lang="pt-BR" dirty="0"/>
              <a:t> sempre que sua </a:t>
            </a:r>
            <a:r>
              <a:rPr lang="pt-BR" b="1" dirty="0">
                <a:solidFill>
                  <a:schemeClr val="accent2"/>
                </a:solidFill>
              </a:rPr>
              <a:t>porta de entrada</a:t>
            </a:r>
            <a:r>
              <a:rPr lang="pt-BR" dirty="0"/>
              <a:t> está </a:t>
            </a:r>
            <a:r>
              <a:rPr lang="pt-BR" b="1" dirty="0">
                <a:solidFill>
                  <a:schemeClr val="accent2"/>
                </a:solidFill>
              </a:rPr>
              <a:t>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é descartada</a:t>
            </a:r>
            <a:r>
              <a:rPr lang="pt-BR" dirty="0"/>
              <a:t> da célula sempre que sua </a:t>
            </a:r>
            <a:r>
              <a:rPr lang="pt-BR" b="1" dirty="0">
                <a:solidFill>
                  <a:schemeClr val="accent2"/>
                </a:solidFill>
              </a:rPr>
              <a:t>porta de esquecimento está desligada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pode ser lida</a:t>
            </a:r>
            <a:r>
              <a:rPr lang="pt-BR" dirty="0"/>
              <a:t> da célula </a:t>
            </a:r>
            <a:r>
              <a:rPr lang="pt-BR" b="1" dirty="0">
                <a:solidFill>
                  <a:schemeClr val="accent2"/>
                </a:solidFill>
              </a:rPr>
              <a:t>ligando sua porta de saída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390354-76AE-6D7E-6109-156C51E09B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5B538100-869E-9015-E39A-A1340D4D0515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DD632F-0686-568D-5F9B-260BA967E010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A82173B-E627-D5F4-C24A-C8EFB8591AF2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38DFC6-B08A-BCAF-A6DC-558964B054EF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24DFD49-F8A1-B391-4C4D-9D392820E8F5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56C62AF-7481-CE0B-1BB2-B4A93CE957B9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2163" y="1825624"/>
            <a:ext cx="6186488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</a:t>
            </a:r>
            <a:r>
              <a:rPr lang="pt-BR" b="1" dirty="0">
                <a:solidFill>
                  <a:schemeClr val="accent2"/>
                </a:solidFill>
              </a:rPr>
              <a:t>fluir ao longo da célula</a:t>
            </a:r>
            <a:r>
              <a:rPr lang="pt-BR" dirty="0"/>
              <a:t> de memória </a:t>
            </a:r>
            <a:r>
              <a:rPr lang="pt-BR" b="1" dirty="0">
                <a:solidFill>
                  <a:srgbClr val="7030A0"/>
                </a:solidFill>
              </a:rPr>
              <a:t>sem sofrer alterações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Interações lineares.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Mitiga o desaparecimento do gradiente.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ser </a:t>
            </a:r>
            <a:r>
              <a:rPr lang="pt-BR" b="1" dirty="0">
                <a:solidFill>
                  <a:schemeClr val="accent2"/>
                </a:solidFill>
              </a:rPr>
              <a:t>removida</a:t>
            </a:r>
            <a:r>
              <a:rPr lang="pt-BR" dirty="0"/>
              <a:t> ou </a:t>
            </a:r>
            <a:r>
              <a:rPr lang="pt-BR" b="1" dirty="0">
                <a:solidFill>
                  <a:schemeClr val="accent2"/>
                </a:solidFill>
              </a:rPr>
              <a:t>gravada</a:t>
            </a:r>
            <a:r>
              <a:rPr lang="pt-BR" dirty="0"/>
              <a:t> na célula de memória </a:t>
            </a:r>
            <a:r>
              <a:rPr lang="pt-BR" b="1" dirty="0">
                <a:solidFill>
                  <a:srgbClr val="7030A0"/>
                </a:solidFill>
              </a:rPr>
              <a:t>regulando-se as portas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480" y="2513639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812A4-BB08-CF51-52EF-8F212B136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8037" y="1825624"/>
            <a:ext cx="6933963" cy="5032375"/>
          </a:xfrm>
        </p:spPr>
        <p:txBody>
          <a:bodyPr>
            <a:normAutofit/>
          </a:bodyPr>
          <a:lstStyle/>
          <a:p>
            <a:r>
              <a:rPr lang="pt-BR" dirty="0"/>
              <a:t>As portas são uma forma de </a:t>
            </a:r>
            <a:r>
              <a:rPr lang="pt-BR" b="1" dirty="0">
                <a:solidFill>
                  <a:srgbClr val="7030A0"/>
                </a:solidFill>
              </a:rPr>
              <a:t>permitir opcionalmente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passagem de informações</a:t>
            </a:r>
            <a:r>
              <a:rPr lang="pt-BR" dirty="0"/>
              <a:t>.</a:t>
            </a:r>
          </a:p>
          <a:p>
            <a:r>
              <a:rPr lang="pt-BR" dirty="0"/>
              <a:t>Por exemplo, uma camada densa com função de ativação sigmoide gera valores entre 0 e 1.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chemeClr val="accent2"/>
                </a:solidFill>
              </a:rPr>
              <a:t>operação de multiplicação elemento a elemento</a:t>
            </a:r>
            <a:r>
              <a:rPr lang="pt-BR" dirty="0"/>
              <a:t> decide o quanto da entrada passar.</a:t>
            </a:r>
          </a:p>
          <a:p>
            <a:r>
              <a:rPr lang="pt-BR" dirty="0"/>
              <a:t>Com isso a porta decide (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/>
              <a:t>) o quanto de cada elemento deve ser permitido passar.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10488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79572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5C087-743B-C7CF-BE89-B5D6C3962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15137-761A-DF31-B5AF-A324F7C30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valores no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variam entre 0 e 1, onde: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0 significa “fechado”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1 significa “aberto”.</a:t>
                </a:r>
              </a:p>
              <a:p>
                <a:r>
                  <a:rPr lang="pt-BR" dirty="0"/>
                  <a:t>Resumindo,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“filtra”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a informação</a:t>
                </a:r>
                <a:r>
                  <a:rPr lang="pt-BR" dirty="0"/>
                  <a:t> multiplicando o vetor de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pelo vetor de porta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elemento a elemento.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  <a:blipFill>
                <a:blip r:embed="rId3"/>
                <a:stretch>
                  <a:fillRect l="-158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8F49F13-A23B-6EF7-D9E0-57F230B27E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A36C67E-2EAB-F79C-D505-DE79D767793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F887BFCD-6D50-ACA8-946F-28EDF6FF4E02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35936FD-C97F-B176-82F3-FD34E8A9ECCF}"/>
              </a:ext>
            </a:extLst>
          </p:cNvPr>
          <p:cNvGraphicFramePr>
            <a:graphicFrameLocks noGrp="1"/>
          </p:cNvGraphicFramePr>
          <p:nvPr/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00603-03D8-6D82-0212-139747E4B31D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1939FB0-0AA3-25B0-B525-F0D1DAB311A5}"/>
              </a:ext>
            </a:extLst>
          </p:cNvPr>
          <p:cNvGraphicFramePr>
            <a:graphicFrameLocks noGrp="1"/>
          </p:cNvGraphicFramePr>
          <p:nvPr/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4B4D6A2-75FA-8B46-5F44-282DBA566656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FC98C86-8C6F-A5B7-34CD-39F2F88063D8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AAF2C3-7FC3-BC24-A1B1-38A5EE18C5BA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14398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Estados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atual da célula.</a:t>
                </a:r>
              </a:p>
              <a:p>
                <a:r>
                  <a:rPr lang="pt-BR" dirty="0"/>
                  <a:t>A célula modifica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apenas por meio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lineares*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decide o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revelar/mostrar</a:t>
                </a:r>
                <a:r>
                  <a:rPr lang="pt-BR" dirty="0"/>
                  <a:t> usando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  <a:blipFill rotWithShape="0">
                <a:blip r:embed="rId2"/>
                <a:stretch>
                  <a:fillRect l="-1645" t="-2663" r="-1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227967A-2652-CF1C-F0CA-9E5085FEE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67" y="2281509"/>
            <a:ext cx="5131773" cy="3158867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08B4F401-8089-55FA-9674-E0D136960DBF}"/>
              </a:ext>
            </a:extLst>
          </p:cNvPr>
          <p:cNvSpPr txBox="1"/>
          <p:nvPr/>
        </p:nvSpPr>
        <p:spPr>
          <a:xfrm>
            <a:off x="0" y="6550222"/>
            <a:ext cx="4763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 importante, pois minimiza o desaparecimento do gradiente.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entarda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843" y="2170398"/>
            <a:ext cx="11598442" cy="27064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</a:t>
            </a:r>
            <a:r>
              <a:rPr lang="pt-BR" sz="6000" dirty="0" err="1"/>
              <a:t>LSTMs</a:t>
            </a:r>
            <a:r>
              <a:rPr lang="pt-BR" sz="6000" dirty="0"/>
              <a:t> e </a:t>
            </a:r>
            <a:r>
              <a:rPr lang="pt-BR" sz="6000" dirty="0" err="1"/>
              <a:t>GRUs</a:t>
            </a:r>
            <a:r>
              <a:rPr lang="pt-BR" sz="6000" dirty="0"/>
              <a:t> minimizam o problema do desaparecimento do gradiente?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GRUs e </a:t>
                </a:r>
                <a:r>
                  <a:rPr lang="pt-BR" dirty="0" err="1"/>
                  <a:t>LSTMs</a:t>
                </a:r>
                <a:r>
                  <a:rPr lang="pt-BR" dirty="0"/>
                  <a:t> têm um caminho quase linear para o gradiente.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Já as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caminha </a:t>
                </a:r>
                <a:r>
                  <a:rPr lang="pt-BR" dirty="0" err="1"/>
                  <a:t>nã</a:t>
                </a:r>
                <a:r>
                  <a:rPr lang="pt-BR" dirty="0"/>
                  <a:t>-linear: o novo estado passa por um função </a:t>
                </a:r>
                <a:r>
                  <a:rPr lang="pt-BR" dirty="0" err="1"/>
                  <a:t>tanh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89038-AB05-41BB-2D39-80FBAB080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1459" y="1825625"/>
            <a:ext cx="6620541" cy="5032376"/>
          </a:xfrm>
        </p:spPr>
        <p:txBody>
          <a:bodyPr>
            <a:normAutofit/>
          </a:bodyPr>
          <a:lstStyle/>
          <a:p>
            <a:r>
              <a:rPr lang="pt-BR" dirty="0" err="1"/>
              <a:t>LSTMs</a:t>
            </a:r>
            <a:r>
              <a:rPr lang="pt-BR" dirty="0"/>
              <a:t> e </a:t>
            </a:r>
            <a:r>
              <a:rPr lang="pt-BR" dirty="0" err="1"/>
              <a:t>GRUs</a:t>
            </a:r>
            <a:r>
              <a:rPr lang="pt-BR" dirty="0"/>
              <a:t> minimizam o problema do desaparecimento do gradiente porque a atualização do estado da célula é aditiva e não puramente multiplicativa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A soma cria um “atalho” </a:t>
            </a:r>
            <a:r>
              <a:rPr lang="pt-BR" b="1" dirty="0"/>
              <a:t>configurável</a:t>
            </a:r>
            <a:r>
              <a:rPr lang="pt-BR" dirty="0"/>
              <a:t> para o gradiente.</a:t>
            </a:r>
          </a:p>
          <a:p>
            <a:r>
              <a:rPr lang="pt-BR" dirty="0"/>
              <a:t>Esse atalho permite que os gradientes retrocedam no tempo sem necessariamente desaparecer.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3E2320-9C7D-2BEC-DBF2-A340E84674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9B0D30-CDE5-D51A-1F46-F2F7055CCA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das 3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2752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4662DC6-AD4B-B713-EE3A-3FDEE28D9C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BA697ABF-3D68-0137-7426-7AD16763889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de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4942" y="1825624"/>
            <a:ext cx="639301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a uma crítica de um filme.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de sentimento: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41BD3-0D3E-6DEB-5946-3B872D36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BF0EC-97E2-611C-7E0B-006D6C50A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5087-1F81-BC00-EC85-E49ADC795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0" y="1825624"/>
            <a:ext cx="6458123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Saída: classe gramatical de cada palavra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Previsão de séries temporais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Entrada: dados de consumo diário de energia de uma residência ao longo dos últimos N dias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Saída: consumo de energia deslocado de um dia no futuro (i.e., N-1 dias atrás até amanhã)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D22A6-623A-3A53-AB0D-AA63A915A314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04D59B-D01A-C064-63E3-A934C9B06E64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AF60DC-5533-F7AF-10EF-97B4A0D9742E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D787C19-D55D-062A-8993-9F3BDE7D0CFB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81C8F54F-37AE-0851-1255-2C402C7B9A81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9428AF-F5F3-DC4C-AA34-E7A63E46722C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A203DD1-2CF6-1DDE-B1DD-496D64170841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87BCE60-0271-DC90-5527-BBE682A671E4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2CB26EE5-E8FC-BE89-CFE3-EE2202917209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D6684CC-F798-C72E-26E9-9CDEF2479856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3DE7201E-33CE-0959-D2D5-B7C43895F5F5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2559753-208A-D5E7-C823-02D1917A440C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316211B-1712-8829-AEA6-C2DF1665B708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7052F20-B3D8-1A26-9511-8F6498789785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A036A00-5879-D13D-1FF2-C1F2CD766239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602EFC-88D4-F298-D3BA-798BF3C78A47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2965A74-FDA5-49EC-7C7D-F5D921B6BC0B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D3366F43-9817-FE8F-AB7E-1BEC1A59BE1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9464E-DF61-887E-96F5-F2503641F4AE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C6F255-66BF-8187-D7FE-3DBC6B1AAAFF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457A1D-6101-F8F4-7D24-8AB84781E22C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6B3E8F-47DC-A048-59E4-A18211C53B5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6EAC032-39F4-1ED8-9E80-E4721885453B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59413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:a16="http://schemas.microsoft.com/office/drawing/2014/main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:a16="http://schemas.microsoft.com/office/drawing/2014/main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:a16="http://schemas.microsoft.com/office/drawing/2014/main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:a16="http://schemas.microsoft.com/office/drawing/2014/main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:a16="http://schemas.microsoft.com/office/drawing/2014/main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:a16="http://schemas.microsoft.com/office/drawing/2014/main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10496</TotalTime>
  <Words>6075</Words>
  <Application>Microsoft Office PowerPoint</Application>
  <PresentationFormat>Widescreen</PresentationFormat>
  <Paragraphs>952</Paragraphs>
  <Slides>91</Slides>
  <Notes>55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91</vt:i4>
      </vt:variant>
    </vt:vector>
  </HeadingPairs>
  <TitlesOfParts>
    <vt:vector size="98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Apresentação do PowerPoint</vt:lpstr>
      <vt:lpstr>Backpropagation Through Time (BPTT)</vt:lpstr>
      <vt:lpstr>Apresentação do PowerPoint</vt:lpstr>
      <vt:lpstr>Backpropagation Through Time (BPTT)</vt:lpstr>
      <vt:lpstr>Por que o BPTT truncado funciona?</vt:lpstr>
      <vt:lpstr>Desaparecimento e explosão do gradiente</vt:lpstr>
      <vt:lpstr>Apresentação do PowerPoint</vt:lpstr>
      <vt:lpstr>Apresentação do PowerPoint</vt:lpstr>
      <vt:lpstr>Desaparecimento e explosão do gradiente</vt:lpstr>
      <vt:lpstr>Como mitigar esses problemas?</vt:lpstr>
      <vt:lpstr>Por que não usar funções de ativação ReLU?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A ideia central por trás das LSTMs: o estado da célula</vt:lpstr>
      <vt:lpstr>A ideia central por trás das LSTMs: o estado da célula</vt:lpstr>
      <vt:lpstr>A ideia central por trás das LSTMs: o estado da célula</vt:lpstr>
      <vt:lpstr>Estados da célula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2041</cp:revision>
  <dcterms:created xsi:type="dcterms:W3CDTF">2020-01-20T13:50:05Z</dcterms:created>
  <dcterms:modified xsi:type="dcterms:W3CDTF">2026-05-14T19:07:14Z</dcterms:modified>
</cp:coreProperties>
</file>