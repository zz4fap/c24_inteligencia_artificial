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handoutMasterIdLst>
    <p:handoutMasterId r:id="rId62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61" r:id="rId21"/>
    <p:sldId id="345" r:id="rId22"/>
    <p:sldId id="346" r:id="rId23"/>
    <p:sldId id="347" r:id="rId24"/>
    <p:sldId id="349" r:id="rId25"/>
    <p:sldId id="351" r:id="rId26"/>
    <p:sldId id="352" r:id="rId27"/>
    <p:sldId id="355" r:id="rId28"/>
    <p:sldId id="372" r:id="rId29"/>
    <p:sldId id="374" r:id="rId30"/>
    <p:sldId id="376" r:id="rId31"/>
    <p:sldId id="356" r:id="rId32"/>
    <p:sldId id="358" r:id="rId33"/>
    <p:sldId id="362" r:id="rId34"/>
    <p:sldId id="365" r:id="rId35"/>
    <p:sldId id="366" r:id="rId36"/>
    <p:sldId id="367" r:id="rId37"/>
    <p:sldId id="368" r:id="rId38"/>
    <p:sldId id="371" r:id="rId39"/>
    <p:sldId id="379" r:id="rId40"/>
    <p:sldId id="377" r:id="rId41"/>
    <p:sldId id="378" r:id="rId42"/>
    <p:sldId id="360" r:id="rId43"/>
    <p:sldId id="337" r:id="rId44"/>
    <p:sldId id="293" r:id="rId45"/>
    <p:sldId id="306" r:id="rId46"/>
    <p:sldId id="335" r:id="rId47"/>
    <p:sldId id="330" r:id="rId48"/>
    <p:sldId id="340" r:id="rId49"/>
    <p:sldId id="348" r:id="rId50"/>
    <p:sldId id="350" r:id="rId51"/>
    <p:sldId id="353" r:id="rId52"/>
    <p:sldId id="354" r:id="rId53"/>
    <p:sldId id="373" r:id="rId54"/>
    <p:sldId id="357" r:id="rId55"/>
    <p:sldId id="359" r:id="rId56"/>
    <p:sldId id="363" r:id="rId57"/>
    <p:sldId id="364" r:id="rId58"/>
    <p:sldId id="369" r:id="rId59"/>
    <p:sldId id="370" r:id="rId6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1598" autoAdjust="0"/>
  </p:normalViewPr>
  <p:slideViewPr>
    <p:cSldViewPr snapToGrid="0">
      <p:cViewPr varScale="1">
        <p:scale>
          <a:sx n="60" d="100"/>
          <a:sy n="60" d="100"/>
        </p:scale>
        <p:origin x="1296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.png"/><Relationship Id="rId3" Type="http://schemas.openxmlformats.org/officeDocument/2006/relationships/image" Target="../media/image360.png"/><Relationship Id="rId21" Type="http://schemas.openxmlformats.org/officeDocument/2006/relationships/image" Target="../media/image53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.png"/><Relationship Id="rId2" Type="http://schemas.openxmlformats.org/officeDocument/2006/relationships/image" Target="../media/image350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.png"/><Relationship Id="rId10" Type="http://schemas.openxmlformats.org/officeDocument/2006/relationships/image" Target="../media/image420.png"/><Relationship Id="rId19" Type="http://schemas.openxmlformats.org/officeDocument/2006/relationships/image" Target="../media/image51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0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.png"/><Relationship Id="rId4" Type="http://schemas.openxmlformats.org/officeDocument/2006/relationships/image" Target="../media/image720.png"/><Relationship Id="rId9" Type="http://schemas.openxmlformats.org/officeDocument/2006/relationships/image" Target="../media/image77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96.png"/><Relationship Id="rId3" Type="http://schemas.openxmlformats.org/officeDocument/2006/relationships/image" Target="../media/image800.png"/><Relationship Id="rId7" Type="http://schemas.openxmlformats.org/officeDocument/2006/relationships/image" Target="../media/image93.png"/><Relationship Id="rId12" Type="http://schemas.openxmlformats.org/officeDocument/2006/relationships/image" Target="../media/image95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94.png"/><Relationship Id="rId5" Type="http://schemas.openxmlformats.org/officeDocument/2006/relationships/image" Target="../media/image91.png"/><Relationship Id="rId15" Type="http://schemas.openxmlformats.org/officeDocument/2006/relationships/image" Target="../media/image98.png"/><Relationship Id="rId10" Type="http://schemas.openxmlformats.org/officeDocument/2006/relationships/image" Target="../media/image83.png"/><Relationship Id="rId4" Type="http://schemas.openxmlformats.org/officeDocument/2006/relationships/image" Target="../media/image90.png"/><Relationship Id="rId9" Type="http://schemas.openxmlformats.org/officeDocument/2006/relationships/image" Target="../media/image82.png"/><Relationship Id="rId14" Type="http://schemas.openxmlformats.org/officeDocument/2006/relationships/image" Target="../media/image9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9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0.png"/><Relationship Id="rId11" Type="http://schemas.openxmlformats.org/officeDocument/2006/relationships/image" Target="../media/image920.png"/><Relationship Id="rId5" Type="http://schemas.openxmlformats.org/officeDocument/2006/relationships/image" Target="../media/image870.png"/><Relationship Id="rId10" Type="http://schemas.openxmlformats.org/officeDocument/2006/relationships/image" Target="../media/image910.png"/><Relationship Id="rId4" Type="http://schemas.openxmlformats.org/officeDocument/2006/relationships/image" Target="../media/image730.png"/><Relationship Id="rId9" Type="http://schemas.openxmlformats.org/officeDocument/2006/relationships/image" Target="../media/image90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image" Target="../media/image940.png"/><Relationship Id="rId3" Type="http://schemas.openxmlformats.org/officeDocument/2006/relationships/image" Target="../media/image88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0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920.png"/><Relationship Id="rId4" Type="http://schemas.openxmlformats.org/officeDocument/2006/relationships/image" Target="../media/image910.png"/><Relationship Id="rId9" Type="http://schemas.openxmlformats.org/officeDocument/2006/relationships/image" Target="../media/image900.png"/><Relationship Id="rId14" Type="http://schemas.openxmlformats.org/officeDocument/2006/relationships/image" Target="../media/image95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900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8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960.png"/><Relationship Id="rId10" Type="http://schemas.openxmlformats.org/officeDocument/2006/relationships/image" Target="../media/image910.png"/><Relationship Id="rId4" Type="http://schemas.openxmlformats.org/officeDocument/2006/relationships/image" Target="../media/image890.png"/><Relationship Id="rId9" Type="http://schemas.openxmlformats.org/officeDocument/2006/relationships/image" Target="../media/image880.png"/><Relationship Id="rId14" Type="http://schemas.openxmlformats.org/officeDocument/2006/relationships/image" Target="../media/image92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0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0.png"/><Relationship Id="rId10" Type="http://schemas.openxmlformats.org/officeDocument/2006/relationships/image" Target="../media/image104.png"/><Relationship Id="rId4" Type="http://schemas.openxmlformats.org/officeDocument/2006/relationships/image" Target="../media/image980.png"/><Relationship Id="rId9" Type="http://schemas.openxmlformats.org/officeDocument/2006/relationships/image" Target="../media/image103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0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0.png"/><Relationship Id="rId10" Type="http://schemas.openxmlformats.org/officeDocument/2006/relationships/image" Target="../media/image104.png"/><Relationship Id="rId4" Type="http://schemas.openxmlformats.org/officeDocument/2006/relationships/image" Target="../media/image980.png"/><Relationship Id="rId9" Type="http://schemas.openxmlformats.org/officeDocument/2006/relationships/image" Target="../media/image10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xmlns="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xmlns="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xmlns="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xmlns="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xmlns="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xmlns="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xmlns="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xmlns="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xmlns="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xmlns="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xmlns="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xmlns="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xmlns="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xmlns="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xmlns="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xmlns="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xmlns="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xmlns="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xmlns="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xmlns="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xmlns="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xmlns="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xmlns="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xmlns="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xmlns="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xmlns="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xmlns="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xmlns="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xmlns="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xmlns="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 mais distante </a:t>
            </a:r>
            <a:r>
              <a:rPr lang="pt-BR" dirty="0"/>
              <a:t>(informação antiga se perde).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prazo, apenas curtas.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xmlns="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F5B44F65-E378-72E6-9E82-AB5132A737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933" y="3710248"/>
            <a:ext cx="8460335" cy="314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C7FE8D5-45C3-C0F4-87DB-1AE7EB88B8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646" y="4095564"/>
            <a:ext cx="7424707" cy="276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de memória LSTM: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entra na célula sempre que sua porta de entrada está 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é descartada da célula sempre que sua porta de esquecimento está desligada.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pode ser lida da célula ligando sua porta de saída.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A1F9A43-4D6C-BE90-B804-973CA6F52D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148305"/>
            <a:ext cx="5320197" cy="322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informação pode fluir ao longo da célula de memória sem sofrer alterações.</a:t>
            </a:r>
          </a:p>
          <a:p>
            <a:r>
              <a:rPr lang="pt-BR" dirty="0"/>
              <a:t>A informação pode ser removida ou gravada na célula de memória, conforme regulado pelas portas.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0727905A-0A9F-1C05-9388-4BF9F6B4ED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72" y="2201051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7274" y="1825624"/>
            <a:ext cx="6354725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permitir opcionalmente a passagem de informações.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camada densa com função de ativação sigmoide gera um número entre 0 e 1, decidindo quanto de cada elemento deve ser permitido passar.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operação de multiplicação ponto a ponto aplica a decisão.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66CBEF4-2DBD-18DF-A9FB-5BE74A49873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CA9EB42-F6B4-A24F-AC2F-2C23E49755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célula modifica o estado apenas por meio de interações lineares: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informação na célula LSTM é protegida e controlada por meio de 3 portas.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  <a:blipFill>
                <a:blip r:embed="rId2"/>
                <a:stretch>
                  <a:fillRect l="-1682" t="-1937" r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6CF6AB8-1619-4CC1-DEEE-C177B6C0F7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D7ADA3D-5865-765B-496D-7585F44B78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3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BC1773A-A795-2DDB-65F5-3E4494F17B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6" y="2358720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5D5E06B7-026A-E591-8B19-3F1AC18DAC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26" y="2344866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6CFE2064-3693-46C1-D7CB-71B01BCEC9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34" y="2337939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184A36DE-8349-8BBF-2D03-55B024955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52" y="2681361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0338C40E-CB7E-E4BB-FDBA-B493D89783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02" y="2398034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AAED6D-E5DB-954B-B69B-4E181833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DC5508-2238-D8B8-4C8F-9CA1D1587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600" b="1" dirty="0">
                <a:solidFill>
                  <a:srgbClr val="FF0000"/>
                </a:solidFill>
              </a:rPr>
              <a:t>PAREI AQUI!!!!!!!!!!!!!</a:t>
            </a:r>
            <a:endParaRPr lang="en-US" sz="6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603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1089038-AB05-41BB-2D39-80FBAB0804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61811" y="1825625"/>
                <a:ext cx="693019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LSTMs e </a:t>
                </a:r>
                <a:r>
                  <a:rPr lang="pt-BR" dirty="0" err="1"/>
                  <a:t>GRUs</a:t>
                </a:r>
                <a:r>
                  <a:rPr lang="pt-BR" dirty="0"/>
                  <a:t> minimizam o problema do desaparecimento do </a:t>
                </a:r>
                <a:r>
                  <a:rPr lang="pt-BR" dirty="0" smtClean="0"/>
                  <a:t>gradiente </a:t>
                </a:r>
                <a:r>
                  <a:rPr lang="pt-BR" dirty="0" smtClean="0"/>
                  <a:t>porque usam </a:t>
                </a:r>
                <a:r>
                  <a:rPr lang="pt-BR" dirty="0"/>
                  <a:t>soma (atalho), diferente </a:t>
                </a:r>
                <a:r>
                  <a:rPr lang="pt-BR" dirty="0" smtClean="0"/>
                  <a:t>das </a:t>
                </a:r>
                <a:r>
                  <a:rPr lang="pt-BR" dirty="0" err="1" smtClean="0"/>
                  <a:t>RNNs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b="1" dirty="0"/>
                  <a:t>RNN (multiplicativo</a:t>
                </a:r>
                <a:r>
                  <a:rPr lang="pt-BR" b="1" dirty="0" smtClean="0"/>
                  <a:t>)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pt-BR" b="0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Produtos repetidos das derivadas fazem com que o gradiente tenda a zero.</a:t>
                </a:r>
              </a:p>
              <a:p>
                <a:r>
                  <a:rPr lang="pt-BR" dirty="0" smtClean="0"/>
                  <a:t>LSTM/GRU (aditivo)</a:t>
                </a:r>
                <a:endParaRPr lang="pt-BR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Derivada da soma </a:t>
                </a:r>
                <a:r>
                  <a:rPr lang="pt-BR" dirty="0"/>
                  <a:t>(</a:t>
                </a:r>
                <a:r>
                  <a:rPr lang="pt-BR" dirty="0" smtClean="0"/>
                  <a:t>atalho) preserva o gradiente.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Soma cria um caminho direto para o gradiente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1089038-AB05-41BB-2D39-80FBAB0804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1811" y="1825625"/>
                <a:ext cx="6930190" cy="5032376"/>
              </a:xfrm>
              <a:blipFill rotWithShape="0">
                <a:blip r:embed="rId2"/>
                <a:stretch>
                  <a:fillRect l="-1583" t="-1937" r="-13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1" name="Picture 90">
            <a:extLst>
              <a:ext uri="{FF2B5EF4-FFF2-40B4-BE49-F238E27FC236}">
                <a16:creationId xmlns:a16="http://schemas.microsoft.com/office/drawing/2014/main" xmlns="" id="{5AFC02B2-35F7-2C22-7D72-967BEF9023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84362"/>
            <a:ext cx="4028664" cy="2487907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xmlns="" id="{9D65C9E4-9ED6-99CA-99CE-5B033BC0986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4522576"/>
            <a:ext cx="4028665" cy="218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340BD66-DB3E-984E-417F-F5F28D53F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ABE789-EA21-23E5-1765-31493CE06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7D3F3D7-CCDC-ED77-D77F-87409BC72C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47907" y="1825625"/>
                <a:ext cx="6344094" cy="5032376"/>
              </a:xfrm>
            </p:spPr>
            <p:txBody>
              <a:bodyPr/>
              <a:lstStyle/>
              <a:p>
                <a:r>
                  <a:rPr lang="en-US" dirty="0"/>
                  <a:t>O </a:t>
                </a:r>
                <a:r>
                  <a:rPr lang="en-US" dirty="0" err="1"/>
                  <a:t>fluxo</a:t>
                </a:r>
                <a:r>
                  <a:rPr lang="en-US" dirty="0"/>
                  <a:t> principal do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é </a:t>
                </a:r>
                <a:r>
                  <a:rPr lang="en-US" dirty="0" err="1"/>
                  <a:t>quase</a:t>
                </a:r>
                <a:r>
                  <a:rPr lang="en-US" dirty="0"/>
                  <a:t> linear: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→</a:t>
                </a:r>
                <a:r>
                  <a:rPr lang="en-US" dirty="0"/>
                  <a:t> derivada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ar-AE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</a:t>
                </a:r>
                <a:r>
                  <a:rPr lang="en-US" dirty="0" err="1"/>
                  <a:t>passa</a:t>
                </a:r>
                <a:r>
                  <a:rPr lang="en-US" dirty="0"/>
                  <a:t> </a:t>
                </a:r>
                <a:r>
                  <a:rPr lang="en-US" dirty="0" err="1"/>
                  <a:t>praticamente</a:t>
                </a:r>
                <a:r>
                  <a:rPr lang="en-US" dirty="0"/>
                  <a:t> </a:t>
                </a:r>
                <a:r>
                  <a:rPr lang="en-US" dirty="0" err="1"/>
                  <a:t>intacto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sofre</a:t>
                </a:r>
                <a:r>
                  <a:rPr lang="en-US" dirty="0"/>
                  <a:t> </a:t>
                </a:r>
                <a:r>
                  <a:rPr lang="en-US" dirty="0" err="1"/>
                  <a:t>compressão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tanh </a:t>
                </a:r>
                <a:r>
                  <a:rPr lang="en-US" dirty="0" err="1"/>
                  <a:t>repetidamente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r>
                  <a:rPr lang="pt-BR" dirty="0"/>
                  <a:t>Isso evita que o gradiente encolha exponencialmente.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D3F3D7-CCDC-ED77-D77F-87409BC72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47907" y="1825625"/>
                <a:ext cx="6344094" cy="5032376"/>
              </a:xfrm>
              <a:blipFill>
                <a:blip r:embed="rId2"/>
                <a:stretch>
                  <a:fillRect l="-172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72FECBA0-FCA2-A501-744F-61B37A57DFE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84362"/>
            <a:ext cx="4028664" cy="24879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6F63DC76-F4C8-45C7-97A4-162F23998D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4522576"/>
            <a:ext cx="4028665" cy="218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864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400" b="1" dirty="0">
                <a:solidFill>
                  <a:srgbClr val="FF0000"/>
                </a:solidFill>
              </a:rPr>
              <a:t>LSTM funcionam como redes residuais. </a:t>
            </a:r>
          </a:p>
          <a:p>
            <a:r>
              <a:rPr lang="pt-BR" sz="4400" b="1" dirty="0">
                <a:solidFill>
                  <a:srgbClr val="FF0000"/>
                </a:solidFill>
              </a:rPr>
              <a:t>Mitigam o desaparecimento do gradiente pelo caminho de cima da célula.</a:t>
            </a:r>
          </a:p>
        </p:txBody>
      </p:sp>
    </p:spTree>
    <p:extLst>
      <p:ext uri="{BB962C8B-B14F-4D97-AF65-F5344CB8AC3E}">
        <p14:creationId xmlns:p14="http://schemas.microsoft.com/office/powerpoint/2010/main" val="3869716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xmlns="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xmlns="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xmlns="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xmlns="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xmlns="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xmlns="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xmlns="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6952C40A-6BC1-7D50-9FEA-BBFC70E1732F}"/>
                  </a:ext>
                </a:extLst>
              </p:cNvPr>
              <p:cNvSpPr txBox="1"/>
              <p:nvPr/>
            </p:nvSpPr>
            <p:spPr>
              <a:xfrm>
                <a:off x="11429537" y="3038594"/>
                <a:ext cx="6172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952C40A-6BC1-7D50-9FEA-BBFC70E17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537" y="3038594"/>
                <a:ext cx="61722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AB75B05B-FED6-3FCA-7286-4D24883789A2}"/>
              </a:ext>
            </a:extLst>
          </p:cNvPr>
          <p:cNvGrpSpPr/>
          <p:nvPr/>
        </p:nvGrpSpPr>
        <p:grpSpPr>
          <a:xfrm>
            <a:off x="7045381" y="2909386"/>
            <a:ext cx="4498919" cy="2479740"/>
            <a:chOff x="7045381" y="2909386"/>
            <a:chExt cx="4498919" cy="2479740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xmlns="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xmlns="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xmlns="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xmlns="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xmlns="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xmlns="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xmlns="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xmlns="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xmlns="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xmlns="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xmlns="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xmlns="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xmlns="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xmlns="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xmlns="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xmlns="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xmlns="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xmlns="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6761" r="-42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0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xmlns="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xmlns="" id="{9516E441-E135-8036-EB1A-48A9DF99CC9D}"/>
              </a:ext>
            </a:extLst>
          </p:cNvPr>
          <p:cNvGrpSpPr/>
          <p:nvPr/>
        </p:nvGrpSpPr>
        <p:grpSpPr>
          <a:xfrm>
            <a:off x="787522" y="2795317"/>
            <a:ext cx="1238994" cy="1644454"/>
            <a:chOff x="787522" y="2795317"/>
            <a:chExt cx="1238994" cy="1644454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xmlns="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xmlns="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xmlns="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xmlns="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15642" cy="3158904"/>
            <a:chOff x="3387954" y="1841814"/>
            <a:chExt cx="5115642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61151" y="4036770"/>
              <a:ext cx="2645271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xmlns="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xmlns="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xmlns="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xmlns="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xmlns="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xmlns="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xmlns="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xmlns="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xmlns="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xmlns="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xmlns="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xmlns="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xmlns="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xmlns="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xmlns="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xmlns="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xmlns="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xmlns="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xmlns="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xmlns="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xmlns="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xmlns="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xmlns="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9019</TotalTime>
  <Words>2303</Words>
  <Application>Microsoft Office PowerPoint</Application>
  <PresentationFormat>Widescreen</PresentationFormat>
  <Paragraphs>577</Paragraphs>
  <Slides>59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59</vt:i4>
      </vt:variant>
    </vt:vector>
  </HeadingPairs>
  <TitlesOfParts>
    <vt:vector size="6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Redes recorrentes</vt:lpstr>
      <vt:lpstr>Redes recorrentes</vt:lpstr>
      <vt:lpstr>Apresentação do PowerPoint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Apresentação do PowerPoint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Estado da célula e portas</vt:lpstr>
      <vt:lpstr>Porta de esquecimento</vt:lpstr>
      <vt:lpstr>Porta de entrada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1820</cp:revision>
  <dcterms:created xsi:type="dcterms:W3CDTF">2020-01-20T13:50:05Z</dcterms:created>
  <dcterms:modified xsi:type="dcterms:W3CDTF">2026-03-27T01:26:17Z</dcterms:modified>
</cp:coreProperties>
</file>