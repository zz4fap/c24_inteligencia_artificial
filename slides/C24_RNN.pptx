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3"/>
  </p:notesMasterIdLst>
  <p:handoutMasterIdLst>
    <p:handoutMasterId r:id="rId84"/>
  </p:handoutMasterIdLst>
  <p:sldIdLst>
    <p:sldId id="256" r:id="rId2"/>
    <p:sldId id="315" r:id="rId3"/>
    <p:sldId id="308" r:id="rId4"/>
    <p:sldId id="316" r:id="rId5"/>
    <p:sldId id="325" r:id="rId6"/>
    <p:sldId id="605" r:id="rId7"/>
    <p:sldId id="317" r:id="rId8"/>
    <p:sldId id="326" r:id="rId9"/>
    <p:sldId id="606" r:id="rId10"/>
    <p:sldId id="328" r:id="rId11"/>
    <p:sldId id="329" r:id="rId12"/>
    <p:sldId id="607" r:id="rId13"/>
    <p:sldId id="334" r:id="rId14"/>
    <p:sldId id="332" r:id="rId15"/>
    <p:sldId id="609" r:id="rId16"/>
    <p:sldId id="610" r:id="rId17"/>
    <p:sldId id="333" r:id="rId18"/>
    <p:sldId id="336" r:id="rId19"/>
    <p:sldId id="331" r:id="rId20"/>
    <p:sldId id="338" r:id="rId21"/>
    <p:sldId id="611" r:id="rId22"/>
    <p:sldId id="341" r:id="rId23"/>
    <p:sldId id="612" r:id="rId24"/>
    <p:sldId id="342" r:id="rId25"/>
    <p:sldId id="613" r:id="rId26"/>
    <p:sldId id="343" r:id="rId27"/>
    <p:sldId id="361" r:id="rId28"/>
    <p:sldId id="344" r:id="rId29"/>
    <p:sldId id="345" r:id="rId30"/>
    <p:sldId id="601" r:id="rId31"/>
    <p:sldId id="346" r:id="rId32"/>
    <p:sldId id="347" r:id="rId33"/>
    <p:sldId id="349" r:id="rId34"/>
    <p:sldId id="351" r:id="rId35"/>
    <p:sldId id="352" r:id="rId36"/>
    <p:sldId id="355" r:id="rId37"/>
    <p:sldId id="372" r:id="rId38"/>
    <p:sldId id="616" r:id="rId39"/>
    <p:sldId id="374" r:id="rId40"/>
    <p:sldId id="376" r:id="rId41"/>
    <p:sldId id="614" r:id="rId42"/>
    <p:sldId id="356" r:id="rId43"/>
    <p:sldId id="358" r:id="rId44"/>
    <p:sldId id="362" r:id="rId45"/>
    <p:sldId id="591" r:id="rId46"/>
    <p:sldId id="365" r:id="rId47"/>
    <p:sldId id="366" r:id="rId48"/>
    <p:sldId id="367" r:id="rId49"/>
    <p:sldId id="368" r:id="rId50"/>
    <p:sldId id="371" r:id="rId51"/>
    <p:sldId id="603" r:id="rId52"/>
    <p:sldId id="381" r:id="rId53"/>
    <p:sldId id="377" r:id="rId54"/>
    <p:sldId id="594" r:id="rId55"/>
    <p:sldId id="595" r:id="rId56"/>
    <p:sldId id="596" r:id="rId57"/>
    <p:sldId id="597" r:id="rId58"/>
    <p:sldId id="598" r:id="rId59"/>
    <p:sldId id="599" r:id="rId60"/>
    <p:sldId id="600" r:id="rId61"/>
    <p:sldId id="588" r:id="rId62"/>
    <p:sldId id="589" r:id="rId63"/>
    <p:sldId id="293" r:id="rId64"/>
    <p:sldId id="306" r:id="rId65"/>
    <p:sldId id="335" r:id="rId66"/>
    <p:sldId id="590" r:id="rId67"/>
    <p:sldId id="608" r:id="rId68"/>
    <p:sldId id="330" r:id="rId69"/>
    <p:sldId id="340" r:id="rId70"/>
    <p:sldId id="348" r:id="rId71"/>
    <p:sldId id="350" r:id="rId72"/>
    <p:sldId id="353" r:id="rId73"/>
    <p:sldId id="354" r:id="rId74"/>
    <p:sldId id="373" r:id="rId75"/>
    <p:sldId id="357" r:id="rId76"/>
    <p:sldId id="359" r:id="rId77"/>
    <p:sldId id="592" r:id="rId78"/>
    <p:sldId id="363" r:id="rId79"/>
    <p:sldId id="364" r:id="rId80"/>
    <p:sldId id="369" r:id="rId81"/>
    <p:sldId id="370" r:id="rId8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1985" autoAdjust="0"/>
  </p:normalViewPr>
  <p:slideViewPr>
    <p:cSldViewPr snapToGrid="0">
      <p:cViewPr varScale="1">
        <p:scale>
          <a:sx n="67" d="100"/>
          <a:sy n="67" d="100"/>
        </p:scale>
        <p:origin x="1020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openxmlformats.org/officeDocument/2006/relationships/handoutMaster" Target="handoutMasters/handoutMaster1.xml"/><Relationship Id="rId89" Type="http://schemas.microsoft.com/office/2016/11/relationships/changesInfo" Target="changesInfos/changesInfo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90" Type="http://schemas.microsoft.com/office/2015/10/relationships/revisionInfo" Target="revisionInfo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11/05/2026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18785D-4777-F14B-69C3-B6BAFCD38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45DDF803-A9A3-9633-2028-623E4F4F6C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B8DD547-B2C7-7112-A7DE-ADDBBB01F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B49C1D4-72A0-501C-3168-8B2BFC61F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7777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B08C83C-E5C2-59A6-3FC8-4E2D171F1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D81688C-1D87-2F5A-4988-70044477EE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600B931-26FB-6145-DA32-A111606D0B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902DE62-EF02-CB68-14EE-B0761BA33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0929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6EADFEA-E95A-172D-702A-934274076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7AC315E-90E4-B26B-DD23-4038DAFE15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7BDD3B6A-D9DA-B9E1-FF00-029F9EB2C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55A26C4-FEAF-EF41-9345-35B39655A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2653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29DFDB-891A-E1E1-B52D-C6AEE82A0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09A31C3-41B0-5F66-EB31-75D513FCF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D4DE66F0-452A-52F2-65BD-1FF17CCD73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16B5623-27E3-33B1-40FA-9BBE16381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54134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sz="1200" i="1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𝑡</m:t>
                    </m:r>
                    <m:r>
                      <a:rPr lang="en-US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</m:t>
                    </m:r>
                  </m:oMath>
                </a14:m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h</m:t>
                        </m:r>
                      </m:e>
                      <m:sub>
                        <m:r>
                          <a:rPr lang="ar-AE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1" dirty="0"/>
                  <a:t>O </a:t>
                </a:r>
                <a:r>
                  <a:rPr lang="en-US" b="1" dirty="0" err="1"/>
                  <a:t>problema</a:t>
                </a:r>
                <a:endParaRPr lang="en-US" b="1" dirty="0"/>
              </a:p>
              <a:p>
                <a:r>
                  <a:rPr lang="en-US" dirty="0" err="1"/>
                  <a:t>Suponha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 </a:t>
                </a:r>
                <a:r>
                  <a:rPr lang="en-US" dirty="0" err="1"/>
                  <a:t>saída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𝑡=4</a:t>
                </a:r>
                <a:r>
                  <a:rPr lang="en-US" dirty="0" err="1"/>
                  <a:t>esteja</a:t>
                </a:r>
                <a:r>
                  <a:rPr lang="en-US" dirty="0"/>
                  <a:t> </a:t>
                </a:r>
                <a:r>
                  <a:rPr lang="en-US" dirty="0" err="1"/>
                  <a:t>errada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Esse </a:t>
                </a:r>
                <a:r>
                  <a:rPr lang="en-US" dirty="0" err="1"/>
                  <a:t>erro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ter </a:t>
                </a:r>
                <a:r>
                  <a:rPr lang="en-US" dirty="0" err="1"/>
                  <a:t>sido</a:t>
                </a:r>
                <a:r>
                  <a:rPr lang="en-US" dirty="0"/>
                  <a:t> </a:t>
                </a:r>
                <a:r>
                  <a:rPr lang="en-US" dirty="0" err="1"/>
                  <a:t>causado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o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ℎ_4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mas </a:t>
                </a:r>
                <a:r>
                  <a:rPr lang="en-US" dirty="0" err="1"/>
                  <a:t>também</a:t>
                </a:r>
                <a:r>
                  <a:rPr lang="en-US" dirty="0"/>
                  <a:t>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ℎ_3</a:t>
                </a:r>
                <a:r>
                  <a:rPr lang="ar-AE" dirty="0"/>
                  <a:t>, 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ℎ_2</a:t>
                </a:r>
                <a:r>
                  <a:rPr lang="ar-AE" dirty="0"/>
                  <a:t>, </a:t>
                </a:r>
              </a:p>
              <a:p>
                <a:r>
                  <a:rPr lang="en-US" dirty="0"/>
                  <a:t>e </a:t>
                </a:r>
                <a:r>
                  <a:rPr lang="en-US" dirty="0" err="1"/>
                  <a:t>até</a:t>
                </a:r>
                <a:r>
                  <a:rPr lang="en-US" dirty="0"/>
                  <a:t> </a:t>
                </a:r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ℎ_1</a:t>
                </a:r>
                <a:r>
                  <a:rPr lang="ar-AE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092808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F599D2F-876E-BB1A-961B-A09112115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B8F1673-F1CD-2EC3-16A4-998A51A1E4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7EBEC6C-FBC9-4C08-4997-2DF40721D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3DD59FC-4009-0F3A-348B-B8D4863BD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03574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Porque cada estado carrega um pouco de informação de cada entrada anterior.</a:t>
            </a:r>
          </a:p>
          <a:p>
            <a:endParaRPr lang="pt-BR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/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1A56F62-4748-BDBD-8E9B-797882C58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6D2DC2D-12C6-EEBA-90B7-40B867D944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xmlns="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∏"/>
                          <m:limLoc m:val="subSup"/>
                          <m:grow m:val="on"/>
                          <m:supHide m:val="on"/>
                          <m:ctrlP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a:rPr lang="ar-AE" sz="1200" i="1" kern="12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ar-AE" sz="1200" i="1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ar-AE" sz="1200" i="0" kern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ar-AE" sz="1200" i="1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</m:t>
                                  </m:r>
                                  <m:r>
                                    <a:rPr lang="ar-AE" sz="1200" i="0" kern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256DD416-D9FB-0245-EEFF-AA12A9C8096A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Porque cada estado carrega um pouco de informação de cada entrada anterior.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pt-BR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 memória acumulada no estado oculto atual é suficiente para representar o passado distante, evitando a necessidade matemática de voltar até o primeiro passo da sequência para calcular o gradiente.</a:t>
                </a:r>
              </a:p>
              <a:p>
                <a:endParaRPr lang="pt-BR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b="1" dirty="0" err="1"/>
                  <a:t>Outra</a:t>
                </a:r>
                <a:r>
                  <a:rPr lang="en-US" b="1" dirty="0"/>
                  <a:t> </a:t>
                </a:r>
                <a:r>
                  <a:rPr lang="en-US" b="1" dirty="0" err="1"/>
                  <a:t>razão</a:t>
                </a:r>
                <a:r>
                  <a:rPr lang="en-US" b="1" dirty="0"/>
                  <a:t> </a:t>
                </a:r>
                <a:r>
                  <a:rPr lang="en-US" b="1" dirty="0" err="1"/>
                  <a:t>importante</a:t>
                </a:r>
                <a:endParaRPr lang="en-US" b="1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gradientes</a:t>
                </a:r>
                <a:r>
                  <a:rPr lang="en-US" dirty="0"/>
                  <a:t> </a:t>
                </a:r>
                <a:r>
                  <a:rPr lang="en-US" dirty="0" err="1"/>
                  <a:t>antigos</a:t>
                </a:r>
                <a:r>
                  <a:rPr lang="en-US" dirty="0"/>
                  <a:t> </a:t>
                </a:r>
                <a:r>
                  <a:rPr lang="en-US" dirty="0" err="1"/>
                  <a:t>normalmente</a:t>
                </a:r>
                <a:r>
                  <a:rPr lang="en-US" dirty="0"/>
                  <a:t> </a:t>
                </a:r>
                <a:r>
                  <a:rPr lang="en-US" dirty="0" err="1"/>
                  <a:t>ficam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pequenos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Durante o BPTT:</a:t>
                </a:r>
              </a:p>
              <a:p>
                <a:r>
                  <a:rPr lang="ar-AE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∏130_𝑘▒(∂ℎ_𝑘)/(∂ℎ_(𝑘−1) )</a:t>
                </a:r>
                <a:endParaRPr lang="ar-AE" dirty="0"/>
              </a:p>
              <a:p>
                <a:r>
                  <a:rPr lang="en-US" dirty="0" err="1"/>
                  <a:t>Multiplicações</a:t>
                </a:r>
                <a:r>
                  <a:rPr lang="en-US" dirty="0"/>
                  <a:t> </a:t>
                </a:r>
                <a:r>
                  <a:rPr lang="en-US" dirty="0" err="1"/>
                  <a:t>sucessivas</a:t>
                </a:r>
                <a:r>
                  <a:rPr lang="en-US" dirty="0"/>
                  <a:t> </a:t>
                </a:r>
                <a:r>
                  <a:rPr lang="en-US" dirty="0" err="1"/>
                  <a:t>tendem</a:t>
                </a:r>
                <a:r>
                  <a:rPr lang="en-US" dirty="0"/>
                  <a:t> a:</a:t>
                </a:r>
              </a:p>
              <a:p>
                <a:r>
                  <a:rPr lang="en-US" dirty="0" err="1"/>
                  <a:t>desaparecer</a:t>
                </a:r>
                <a:r>
                  <a:rPr lang="en-US" dirty="0"/>
                  <a:t> (vanishing gradient); </a:t>
                </a:r>
              </a:p>
              <a:p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explodir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Na </a:t>
                </a:r>
                <a:r>
                  <a:rPr lang="en-US" dirty="0" err="1"/>
                  <a:t>prática</a:t>
                </a:r>
                <a:r>
                  <a:rPr lang="en-US" dirty="0"/>
                  <a:t>:</a:t>
                </a:r>
              </a:p>
              <a:p>
                <a:r>
                  <a:rPr lang="en-US" dirty="0" err="1"/>
                  <a:t>contribuições</a:t>
                </a:r>
                <a:r>
                  <a:rPr lang="en-US" dirty="0"/>
                  <a:t> </a:t>
                </a:r>
                <a:r>
                  <a:rPr lang="en-US" dirty="0" err="1"/>
                  <a:t>muito</a:t>
                </a:r>
                <a:r>
                  <a:rPr lang="en-US" dirty="0"/>
                  <a:t> </a:t>
                </a:r>
                <a:r>
                  <a:rPr lang="en-US" dirty="0" err="1"/>
                  <a:t>antigas</a:t>
                </a:r>
                <a:r>
                  <a:rPr lang="en-US" dirty="0"/>
                  <a:t> </a:t>
                </a:r>
                <a:r>
                  <a:rPr lang="en-US" dirty="0" err="1"/>
                  <a:t>já</a:t>
                </a:r>
                <a:r>
                  <a:rPr lang="en-US" dirty="0"/>
                  <a:t> </a:t>
                </a:r>
                <a:r>
                  <a:rPr lang="en-US" dirty="0" err="1"/>
                  <a:t>têm</a:t>
                </a:r>
                <a:r>
                  <a:rPr lang="en-US" dirty="0"/>
                  <a:t> </a:t>
                </a:r>
                <a:r>
                  <a:rPr lang="en-US" dirty="0" err="1"/>
                  <a:t>impacto</a:t>
                </a:r>
                <a:r>
                  <a:rPr lang="en-US" dirty="0"/>
                  <a:t> </a:t>
                </a:r>
                <a:r>
                  <a:rPr lang="en-US" dirty="0" err="1"/>
                  <a:t>quase</a:t>
                </a:r>
                <a:r>
                  <a:rPr lang="en-US" dirty="0"/>
                  <a:t> </a:t>
                </a:r>
                <a:r>
                  <a:rPr lang="en-US" dirty="0" err="1"/>
                  <a:t>nulo</a:t>
                </a:r>
                <a:r>
                  <a:rPr lang="en-US" dirty="0"/>
                  <a:t>.</a:t>
                </a:r>
              </a:p>
              <a:p>
                <a:r>
                  <a:rPr lang="en-US" dirty="0" err="1"/>
                  <a:t>Então</a:t>
                </a:r>
                <a:r>
                  <a:rPr lang="en-US" dirty="0"/>
                  <a:t> </a:t>
                </a:r>
                <a:r>
                  <a:rPr lang="en-US" dirty="0" err="1"/>
                  <a:t>truncar</a:t>
                </a:r>
                <a:r>
                  <a:rPr lang="en-US" dirty="0"/>
                  <a:t> </a:t>
                </a:r>
                <a:r>
                  <a:rPr lang="en-US" dirty="0" err="1"/>
                  <a:t>frequentemente</a:t>
                </a:r>
                <a:r>
                  <a:rPr lang="en-US" dirty="0"/>
                  <a:t> </a:t>
                </a:r>
                <a:r>
                  <a:rPr lang="en-US" dirty="0" err="1"/>
                  <a:t>perde</a:t>
                </a:r>
                <a:r>
                  <a:rPr lang="en-US" dirty="0"/>
                  <a:t> </a:t>
                </a:r>
                <a:r>
                  <a:rPr lang="en-US" dirty="0" err="1"/>
                  <a:t>pouca</a:t>
                </a:r>
                <a:r>
                  <a:rPr lang="en-US" dirty="0"/>
                  <a:t> </a:t>
                </a:r>
                <a:r>
                  <a:rPr lang="en-US" dirty="0" err="1"/>
                  <a:t>informação</a:t>
                </a:r>
                <a:r>
                  <a:rPr lang="en-US" dirty="0"/>
                  <a:t> </a:t>
                </a:r>
                <a:r>
                  <a:rPr lang="en-US" dirty="0" err="1"/>
                  <a:t>útil</a:t>
                </a:r>
                <a:r>
                  <a:rPr lang="en-US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Referências</a:t>
                </a:r>
              </a:p>
              <a:p>
                <a:r>
                  <a:rPr lang="pt-BR" dirty="0"/>
                  <a:t>[1] https://d2l.ai/chapter_recurrent-neural-networks/bptt.html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00EFD99-EFF4-77CF-2316-515A12848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548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Procurando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Dory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9683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78955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A9240E1-B284-11DC-DF84-9C55257C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DF6BFCF8-5C7F-EDC5-7B8C-6F5469516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6F91DB64-6563-C7F5-B8B4-E9E21B36C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C5192F11-8162-11BC-1C3D-C6222C1CA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185046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866E6D1-C5A9-5E02-CF49-31B3C4C63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1536EFD-EBEE-4772-D65A-6AB582407E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E7AC9C5-F488-A6D7-4F15-65AEE652BA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6E7E4DB-58B1-DD85-186B-2CF37F573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883710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https://colab.research.google.com/github/zz4fap/c24_inteligencia_artificial/blob/master/notebooks/rnn.ipynb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11/05/2026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0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1.png"/><Relationship Id="rId5" Type="http://schemas.openxmlformats.org/officeDocument/2006/relationships/image" Target="../media/image281.png"/><Relationship Id="rId4" Type="http://schemas.openxmlformats.org/officeDocument/2006/relationships/image" Target="../media/image2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1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45.jpeg"/><Relationship Id="rId4" Type="http://schemas.openxmlformats.org/officeDocument/2006/relationships/image" Target="../media/image44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" Type="http://schemas.openxmlformats.org/officeDocument/2006/relationships/image" Target="../media/image65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5.png"/><Relationship Id="rId5" Type="http://schemas.openxmlformats.org/officeDocument/2006/relationships/image" Target="../media/image68.png"/><Relationship Id="rId15" Type="http://schemas.openxmlformats.org/officeDocument/2006/relationships/image" Target="../media/image79.png"/><Relationship Id="rId10" Type="http://schemas.openxmlformats.org/officeDocument/2006/relationships/image" Target="../media/image73.png"/><Relationship Id="rId19" Type="http://schemas.openxmlformats.org/officeDocument/2006/relationships/image" Target="../media/image8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8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0.png"/><Relationship Id="rId18" Type="http://schemas.openxmlformats.org/officeDocument/2006/relationships/image" Target="../media/image430.png"/><Relationship Id="rId26" Type="http://schemas.openxmlformats.org/officeDocument/2006/relationships/image" Target="../media/image510.png"/><Relationship Id="rId3" Type="http://schemas.openxmlformats.org/officeDocument/2006/relationships/image" Target="../media/image280.png"/><Relationship Id="rId21" Type="http://schemas.openxmlformats.org/officeDocument/2006/relationships/image" Target="../media/image460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420.png"/><Relationship Id="rId25" Type="http://schemas.openxmlformats.org/officeDocument/2006/relationships/image" Target="../media/image500.png"/><Relationship Id="rId2" Type="http://schemas.openxmlformats.org/officeDocument/2006/relationships/image" Target="../media/image270.png"/><Relationship Id="rId16" Type="http://schemas.openxmlformats.org/officeDocument/2006/relationships/image" Target="../media/image410.png"/><Relationship Id="rId20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90.png"/><Relationship Id="rId5" Type="http://schemas.openxmlformats.org/officeDocument/2006/relationships/image" Target="../media/image300.png"/><Relationship Id="rId15" Type="http://schemas.openxmlformats.org/officeDocument/2006/relationships/image" Target="../media/image400.png"/><Relationship Id="rId23" Type="http://schemas.openxmlformats.org/officeDocument/2006/relationships/image" Target="../media/image480.png"/><Relationship Id="rId28" Type="http://schemas.openxmlformats.org/officeDocument/2006/relationships/image" Target="../media/image530.png"/><Relationship Id="rId10" Type="http://schemas.openxmlformats.org/officeDocument/2006/relationships/image" Target="../media/image350.png"/><Relationship Id="rId19" Type="http://schemas.openxmlformats.org/officeDocument/2006/relationships/image" Target="../media/image440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0.png"/><Relationship Id="rId22" Type="http://schemas.openxmlformats.org/officeDocument/2006/relationships/image" Target="../media/image470.png"/><Relationship Id="rId27" Type="http://schemas.openxmlformats.org/officeDocument/2006/relationships/image" Target="../media/image520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450.png"/><Relationship Id="rId18" Type="http://schemas.openxmlformats.org/officeDocument/2006/relationships/image" Target="../media/image500.png"/><Relationship Id="rId3" Type="http://schemas.openxmlformats.org/officeDocument/2006/relationships/image" Target="../media/image360.png"/><Relationship Id="rId21" Type="http://schemas.openxmlformats.org/officeDocument/2006/relationships/image" Target="../media/image53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90.png"/><Relationship Id="rId2" Type="http://schemas.openxmlformats.org/officeDocument/2006/relationships/image" Target="../media/image350.png"/><Relationship Id="rId16" Type="http://schemas.openxmlformats.org/officeDocument/2006/relationships/image" Target="../media/image480.png"/><Relationship Id="rId20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340.png"/><Relationship Id="rId15" Type="http://schemas.openxmlformats.org/officeDocument/2006/relationships/image" Target="../media/image470.png"/><Relationship Id="rId10" Type="http://schemas.openxmlformats.org/officeDocument/2006/relationships/image" Target="../media/image420.png"/><Relationship Id="rId19" Type="http://schemas.openxmlformats.org/officeDocument/2006/relationships/image" Target="../media/image510.png"/><Relationship Id="rId4" Type="http://schemas.openxmlformats.org/officeDocument/2006/relationships/image" Target="../media/image370.png"/><Relationship Id="rId9" Type="http://schemas.openxmlformats.org/officeDocument/2006/relationships/image" Target="../media/image410.png"/><Relationship Id="rId14" Type="http://schemas.openxmlformats.org/officeDocument/2006/relationships/image" Target="../media/image460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5" Type="http://schemas.openxmlformats.org/officeDocument/2006/relationships/image" Target="../media/image770.png"/><Relationship Id="rId4" Type="http://schemas.openxmlformats.org/officeDocument/2006/relationships/image" Target="../media/image760.png"/><Relationship Id="rId9" Type="http://schemas.openxmlformats.org/officeDocument/2006/relationships/image" Target="../media/image811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0.png"/><Relationship Id="rId3" Type="http://schemas.openxmlformats.org/officeDocument/2006/relationships/image" Target="../media/image751.png"/><Relationship Id="rId7" Type="http://schemas.openxmlformats.org/officeDocument/2006/relationships/image" Target="../media/image790.png"/><Relationship Id="rId12" Type="http://schemas.openxmlformats.org/officeDocument/2006/relationships/image" Target="../media/image87.png"/><Relationship Id="rId2" Type="http://schemas.openxmlformats.org/officeDocument/2006/relationships/image" Target="../media/image7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0.png"/><Relationship Id="rId11" Type="http://schemas.openxmlformats.org/officeDocument/2006/relationships/image" Target="../media/image86.png"/><Relationship Id="rId5" Type="http://schemas.openxmlformats.org/officeDocument/2006/relationships/image" Target="../media/image831.png"/><Relationship Id="rId10" Type="http://schemas.openxmlformats.org/officeDocument/2006/relationships/image" Target="../media/image811.png"/><Relationship Id="rId4" Type="http://schemas.openxmlformats.org/officeDocument/2006/relationships/image" Target="../media/image821.png"/><Relationship Id="rId9" Type="http://schemas.openxmlformats.org/officeDocument/2006/relationships/image" Target="../media/image85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0.png"/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.png"/><Relationship Id="rId4" Type="http://schemas.openxmlformats.org/officeDocument/2006/relationships/image" Target="../media/image720.png"/><Relationship Id="rId9" Type="http://schemas.openxmlformats.org/officeDocument/2006/relationships/image" Target="../media/image93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40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7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envolvem </a:t>
            </a:r>
            <a:r>
              <a:rPr lang="pt-BR" altLang="pt-BR" b="1" dirty="0">
                <a:solidFill>
                  <a:schemeClr val="accent2"/>
                </a:solidFill>
              </a:rPr>
              <a:t>dados que são 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(e.g., EGC, EEG, preço de ações, desvanecimento de um canal)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</a:t>
            </a:r>
            <a:r>
              <a:rPr lang="pt-BR" altLang="pt-BR" b="1" dirty="0">
                <a:solidFill>
                  <a:srgbClr val="7030A0"/>
                </a:solidFill>
              </a:rPr>
              <a:t>modelar dependências temporais!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Em outras palavras, existe</a:t>
            </a:r>
            <a:r>
              <a:rPr lang="pt-BR" altLang="pt-BR" b="1" dirty="0"/>
              <a:t> </a:t>
            </a:r>
            <a:r>
              <a:rPr lang="pt-BR" altLang="pt-BR" b="1" dirty="0">
                <a:solidFill>
                  <a:schemeClr val="accent2"/>
                </a:solidFill>
              </a:rPr>
              <a:t>correlação temporal entre as amostras</a:t>
            </a:r>
            <a:r>
              <a:rPr lang="pt-BR" altLang="pt-BR" b="1" dirty="0"/>
              <a:t>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pt-BR" altLang="pt-BR" b="1" dirty="0"/>
          </a:p>
          <a:p>
            <a:pPr marL="0" indent="0" algn="ctr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pt-BR" altLang="pt-BR" sz="4000" b="1" dirty="0"/>
              <a:t>Cada amostra carrega informação das anteriores.</a:t>
            </a:r>
            <a:endParaRPr lang="pt-BR" altLang="pt-BR" sz="4000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(e.g., clima, ações, vendas, etc.)</a:t>
            </a:r>
          </a:p>
          <a:p>
            <a:r>
              <a:rPr lang="pt-BR" dirty="0"/>
              <a:t>Tradução automática de texto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Geração de descrições de texto para imagens (</a:t>
            </a:r>
            <a:r>
              <a:rPr lang="pt-BR" i="1" dirty="0" err="1"/>
              <a:t>image</a:t>
            </a:r>
            <a:r>
              <a:rPr lang="pt-BR" i="1" dirty="0"/>
              <a:t> </a:t>
            </a:r>
            <a:r>
              <a:rPr lang="pt-BR" i="1" dirty="0" err="1"/>
              <a:t>captioning</a:t>
            </a:r>
            <a:r>
              <a:rPr lang="pt-BR" dirty="0"/>
              <a:t>)</a:t>
            </a:r>
          </a:p>
          <a:p>
            <a:r>
              <a:rPr lang="pt-BR" dirty="0"/>
              <a:t>Rastreamento de objetos</a:t>
            </a: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 err="1"/>
              <a:t>MLPs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Não armazenam informações de estados anteriores </a:t>
            </a:r>
            <a:r>
              <a:rPr lang="pt-BR" dirty="0"/>
              <a:t>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</a:t>
            </a:r>
            <a:r>
              <a:rPr lang="pt-BR" b="1" dirty="0">
                <a:solidFill>
                  <a:srgbClr val="7030A0"/>
                </a:solidFill>
              </a:rPr>
              <a:t>entrada</a:t>
            </a:r>
            <a:r>
              <a:rPr lang="pt-BR" dirty="0"/>
              <a:t> é tratada de forma </a:t>
            </a:r>
            <a:r>
              <a:rPr lang="pt-BR" b="1" dirty="0">
                <a:solidFill>
                  <a:srgbClr val="7030A0"/>
                </a:solidFill>
              </a:rPr>
              <a:t>independente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Não</a:t>
            </a:r>
            <a:r>
              <a:rPr lang="pt-BR" dirty="0"/>
              <a:t> capturam </a:t>
            </a:r>
            <a:r>
              <a:rPr lang="pt-BR" b="1" dirty="0">
                <a:solidFill>
                  <a:srgbClr val="7030A0"/>
                </a:solidFill>
              </a:rPr>
              <a:t>dependências temporais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</a:t>
            </a:r>
            <a:r>
              <a:rPr lang="pt-BR" b="1" dirty="0">
                <a:solidFill>
                  <a:srgbClr val="7030A0"/>
                </a:solidFill>
              </a:rPr>
              <a:t>depende apenas da entrada atual</a:t>
            </a:r>
            <a:r>
              <a:rPr lang="pt-BR" dirty="0"/>
              <a:t>.</a:t>
            </a:r>
          </a:p>
          <a:p>
            <a:r>
              <a:rPr lang="pt-BR" dirty="0" err="1"/>
              <a:t>CNNs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Compartilham as limitações das </a:t>
            </a:r>
            <a:r>
              <a:rPr lang="pt-BR" dirty="0" err="1"/>
              <a:t>MLPs</a:t>
            </a:r>
            <a:r>
              <a:rPr lang="pt-BR" dirty="0"/>
              <a:t>, mas com uma exceção: elas </a:t>
            </a:r>
            <a:r>
              <a:rPr lang="pt-BR" b="1" dirty="0">
                <a:solidFill>
                  <a:srgbClr val="00B050"/>
                </a:solidFill>
              </a:rPr>
              <a:t>modelam relações espaciais</a:t>
            </a:r>
            <a:r>
              <a:rPr lang="pt-BR" dirty="0"/>
              <a:t>.</a:t>
            </a:r>
          </a:p>
          <a:p>
            <a:r>
              <a:rPr lang="pt-BR" dirty="0"/>
              <a:t>Ambas famílias </a:t>
            </a:r>
            <a:r>
              <a:rPr lang="pt-BR" b="1" dirty="0">
                <a:solidFill>
                  <a:srgbClr val="0070C0"/>
                </a:solidFill>
              </a:rPr>
              <a:t>exigem</a:t>
            </a:r>
            <a:r>
              <a:rPr lang="pt-BR" dirty="0"/>
              <a:t> que o </a:t>
            </a:r>
            <a:r>
              <a:rPr lang="pt-BR" b="1" dirty="0">
                <a:solidFill>
                  <a:srgbClr val="0070C0"/>
                </a:solidFill>
              </a:rPr>
              <a:t>vetor de entrada</a:t>
            </a:r>
            <a:r>
              <a:rPr lang="pt-BR" dirty="0"/>
              <a:t> tenha um </a:t>
            </a:r>
            <a:r>
              <a:rPr lang="pt-BR" b="1" dirty="0">
                <a:solidFill>
                  <a:srgbClr val="0070C0"/>
                </a:solidFill>
              </a:rPr>
              <a:t>tamanho predefinido e constante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227" y="1637413"/>
            <a:ext cx="10859545" cy="3583173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pt-BR" sz="6000" dirty="0"/>
              <a:t>Como podemos considerar as correlações temporais e trabalhar com entradas sem tamanho </a:t>
            </a:r>
            <a:r>
              <a:rPr lang="pt-BR" sz="6000" dirty="0" smtClean="0"/>
              <a:t>predefinido?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D63822-3DC5-17FB-ADF9-A3668232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C288B7E-EFBE-6F19-F27D-9D5EE102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9526" y="2576411"/>
            <a:ext cx="3962400" cy="235423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Redes neurais recorrentes têm memória!</a:t>
            </a:r>
            <a:endParaRPr lang="en-US" sz="4800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xmlns="" id="{3187EE8C-1DA4-D24F-08AF-EBBC6954A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667152" y="1825624"/>
            <a:ext cx="6524847" cy="5032375"/>
          </a:xfrm>
        </p:spPr>
        <p:txBody>
          <a:bodyPr>
            <a:normAutofit/>
          </a:bodyPr>
          <a:lstStyle/>
          <a:p>
            <a:r>
              <a:rPr lang="pt-BR" dirty="0"/>
              <a:t>Possuem </a:t>
            </a:r>
            <a:r>
              <a:rPr lang="pt-BR" b="1" dirty="0">
                <a:solidFill>
                  <a:srgbClr val="0070C0"/>
                </a:solidFill>
              </a:rPr>
              <a:t>laços de realimentação</a:t>
            </a:r>
            <a:r>
              <a:rPr lang="pt-BR" dirty="0"/>
              <a:t>.</a:t>
            </a:r>
          </a:p>
          <a:p>
            <a:r>
              <a:rPr lang="pt-BR" dirty="0"/>
              <a:t>Mantém um </a:t>
            </a:r>
            <a:r>
              <a:rPr lang="pt-BR" b="1" dirty="0">
                <a:solidFill>
                  <a:srgbClr val="0070C0"/>
                </a:solidFill>
              </a:rPr>
              <a:t>estado interno</a:t>
            </a:r>
            <a:r>
              <a:rPr lang="pt-BR" dirty="0"/>
              <a:t> (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) que </a:t>
            </a:r>
            <a:r>
              <a:rPr lang="pt-BR" b="1" dirty="0">
                <a:solidFill>
                  <a:schemeClr val="accent2"/>
                </a:solidFill>
              </a:rPr>
              <a:t>armazena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informações</a:t>
            </a:r>
            <a:r>
              <a:rPr lang="pt-BR" dirty="0"/>
              <a:t> observadas até o momento.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saída</a:t>
            </a:r>
            <a:r>
              <a:rPr lang="pt-BR" dirty="0"/>
              <a:t> da rede depende da </a:t>
            </a:r>
            <a:r>
              <a:rPr lang="pt-BR" b="1" dirty="0">
                <a:solidFill>
                  <a:srgbClr val="7030A0"/>
                </a:solidFill>
              </a:rPr>
              <a:t>entrada atual</a:t>
            </a:r>
            <a:r>
              <a:rPr lang="pt-BR" dirty="0"/>
              <a:t> e do valor do </a:t>
            </a:r>
            <a:r>
              <a:rPr lang="pt-BR" b="1" dirty="0">
                <a:solidFill>
                  <a:srgbClr val="7030A0"/>
                </a:solidFill>
              </a:rPr>
              <a:t>estado </a:t>
            </a:r>
            <a:r>
              <a:rPr lang="pt-BR" b="1" dirty="0" smtClean="0">
                <a:solidFill>
                  <a:srgbClr val="7030A0"/>
                </a:solidFill>
              </a:rPr>
              <a:t>interno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/>
              <a:t>O </a:t>
            </a:r>
            <a:r>
              <a:rPr lang="pt-BR" b="1" dirty="0">
                <a:solidFill>
                  <a:srgbClr val="00B050"/>
                </a:solidFill>
              </a:rPr>
              <a:t>estado interno</a:t>
            </a:r>
            <a:r>
              <a:rPr lang="pt-BR" dirty="0"/>
              <a:t> mantém </a:t>
            </a:r>
            <a:r>
              <a:rPr lang="pt-BR" dirty="0" smtClean="0"/>
              <a:t>o </a:t>
            </a:r>
            <a:r>
              <a:rPr lang="pt-BR" dirty="0"/>
              <a:t>histórico de </a:t>
            </a:r>
            <a:r>
              <a:rPr lang="pt-BR" b="1" dirty="0" smtClean="0">
                <a:solidFill>
                  <a:srgbClr val="00B050"/>
                </a:solidFill>
              </a:rPr>
              <a:t>das </a:t>
            </a:r>
            <a:r>
              <a:rPr lang="pt-BR" b="1" dirty="0">
                <a:solidFill>
                  <a:srgbClr val="00B050"/>
                </a:solidFill>
              </a:rPr>
              <a:t>entradas passadas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/>
              <a:t>Uma RNN utiliza </a:t>
            </a:r>
            <a:r>
              <a:rPr lang="pt-BR" b="1" dirty="0">
                <a:solidFill>
                  <a:schemeClr val="accent2"/>
                </a:solidFill>
              </a:rPr>
              <a:t>informações sequenciais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modelando as dependências temporais</a:t>
            </a:r>
            <a:r>
              <a:rPr lang="pt-BR" dirty="0"/>
              <a:t>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</a:t>
            </a:r>
            <a:r>
              <a:rPr lang="pt-BR" b="1" dirty="0">
                <a:solidFill>
                  <a:srgbClr val="7030A0"/>
                </a:solidFill>
              </a:rPr>
              <a:t>prever a próxima palavra</a:t>
            </a:r>
            <a:r>
              <a:rPr lang="pt-BR" dirty="0"/>
              <a:t> em uma frase, precisamos saber </a:t>
            </a:r>
            <a:r>
              <a:rPr lang="pt-BR" b="1" dirty="0">
                <a:solidFill>
                  <a:srgbClr val="7030A0"/>
                </a:solidFill>
              </a:rPr>
              <a:t>quais palavras vieram antes dela</a:t>
            </a:r>
            <a:r>
              <a:rPr lang="pt-BR" dirty="0" smtClean="0"/>
              <a:t>.</a:t>
            </a:r>
          </a:p>
          <a:p>
            <a:r>
              <a:rPr lang="pt-BR" dirty="0"/>
              <a:t>Por exemplo, na frase:</a:t>
            </a:r>
          </a:p>
          <a:p>
            <a:pPr marL="0" indent="0" algn="ctr">
              <a:buNone/>
            </a:pPr>
            <a:r>
              <a:rPr lang="pt-BR" dirty="0"/>
              <a:t>“O gato subiu no ____”</a:t>
            </a:r>
          </a:p>
          <a:p>
            <a:pPr marL="0" indent="0">
              <a:buNone/>
            </a:pPr>
            <a:r>
              <a:rPr lang="pt-BR" dirty="0"/>
              <a:t>a rede usa as palavras anteriores para prever “telhado</a:t>
            </a:r>
            <a:r>
              <a:rPr lang="pt-BR" dirty="0" smtClean="0"/>
              <a:t>”.</a:t>
            </a:r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31C89D-FF1F-2926-B807-E6ABE479C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BB814E7-25AB-B9C9-EA53-FE90228A1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54CAE375-0AC4-4799-2DED-0550BB967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3870" y="1825624"/>
            <a:ext cx="6628387" cy="5032375"/>
          </a:xfrm>
        </p:spPr>
        <p:txBody>
          <a:bodyPr/>
          <a:lstStyle/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>
                <a:solidFill>
                  <a:srgbClr val="0070C0"/>
                </a:solidFill>
              </a:rPr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usam o </a:t>
            </a:r>
            <a:r>
              <a:rPr lang="pt-BR" b="1" dirty="0">
                <a:solidFill>
                  <a:schemeClr val="accent2"/>
                </a:solidFill>
              </a:rPr>
              <a:t>histórico de entradas anteriores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2"/>
                </a:solidFill>
              </a:rPr>
              <a:t>gerar uma saída</a:t>
            </a:r>
            <a:r>
              <a:rPr lang="pt-BR" dirty="0" smtClean="0"/>
              <a:t>.</a:t>
            </a:r>
          </a:p>
          <a:p>
            <a:r>
              <a:rPr lang="pt-BR" dirty="0"/>
              <a:t>Porém, </a:t>
            </a:r>
            <a:r>
              <a:rPr lang="pt-BR" dirty="0" smtClean="0"/>
              <a:t>como veremos, um problema das </a:t>
            </a:r>
            <a:r>
              <a:rPr lang="pt-BR" dirty="0" err="1" smtClean="0"/>
              <a:t>RNNs</a:t>
            </a:r>
            <a:r>
              <a:rPr lang="pt-BR" dirty="0" smtClean="0"/>
              <a:t> é que a </a:t>
            </a:r>
            <a:r>
              <a:rPr lang="pt-BR" b="1" dirty="0">
                <a:solidFill>
                  <a:schemeClr val="accent2"/>
                </a:solidFill>
              </a:rPr>
              <a:t>memória</a:t>
            </a:r>
            <a:r>
              <a:rPr lang="pt-BR" dirty="0"/>
              <a:t> </a:t>
            </a:r>
            <a:r>
              <a:rPr lang="pt-BR" b="1" dirty="0">
                <a:solidFill>
                  <a:schemeClr val="accent2"/>
                </a:solidFill>
              </a:rPr>
              <a:t>desaparece</a:t>
            </a:r>
            <a:r>
              <a:rPr lang="pt-BR" dirty="0"/>
              <a:t> ao longo do tempo</a:t>
            </a:r>
            <a:r>
              <a:rPr lang="pt-BR" dirty="0" smtClean="0"/>
              <a:t>.</a:t>
            </a:r>
            <a:endParaRPr lang="pt-BR" dirty="0"/>
          </a:p>
          <a:p>
            <a:endParaRPr lang="pt-BR" dirty="0"/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E51D7A82-869E-A081-9F87-50F6BC93FC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80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O que compõem as </a:t>
            </a:r>
            <a:r>
              <a:rPr lang="pt-BR" sz="6000" dirty="0" err="1"/>
              <a:t>RNNs</a:t>
            </a:r>
            <a:r>
              <a:rPr lang="pt-BR" sz="6000" dirty="0"/>
              <a:t>? 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FF8CB8C-0F2B-7C4F-63CA-34C693F26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4536" y="3218490"/>
            <a:ext cx="6069418" cy="1603375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são compostas por </a:t>
            </a:r>
            <a:r>
              <a:rPr lang="pt-BR" b="1" dirty="0"/>
              <a:t>neurônios recorrentes.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75EB088D-2DA8-6B63-CFA0-01BFE1AC71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058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B49179-BA46-8C10-00C9-7227EB09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87A993C-DAEE-C4BC-272A-C2D7C3B5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AE70A3D-8B65-8CA7-8EEA-8792C2A6E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oculto</a:t>
                </a:r>
                <a:r>
                  <a:rPr lang="en-US" dirty="0"/>
                  <a:t> (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memória</a:t>
                </a:r>
                <a:r>
                  <a:rPr lang="en-US" b="1" dirty="0">
                    <a:solidFill>
                      <a:schemeClr val="accent2"/>
                    </a:solidFill>
                  </a:rPr>
                  <a:t> da rede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 smtClean="0"/>
                  <a:t>ativação</a:t>
                </a: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BAE70A3D-8B65-8CA7-8EEA-8792C2A6E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70400" y="1825624"/>
                <a:ext cx="7721601" cy="5032375"/>
              </a:xfrm>
              <a:blipFill rotWithShape="0">
                <a:blip r:embed="rId3"/>
                <a:stretch>
                  <a:fillRect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A4FBDA72-C26E-0052-AF8A-6E5560FC4E1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6583" y="1419722"/>
            <a:ext cx="2679942" cy="5350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4228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60289" y="1825625"/>
            <a:ext cx="5501076" cy="4351338"/>
          </a:xfrm>
        </p:spPr>
        <p:txBody>
          <a:bodyPr/>
          <a:lstStyle/>
          <a:p>
            <a:r>
              <a:rPr lang="pt-BR" dirty="0"/>
              <a:t>Representação </a:t>
            </a:r>
            <a:r>
              <a:rPr lang="pt-BR" b="1" dirty="0">
                <a:solidFill>
                  <a:schemeClr val="accent2"/>
                </a:solidFill>
              </a:rPr>
              <a:t>simplificada</a:t>
            </a:r>
            <a:r>
              <a:rPr lang="pt-BR" dirty="0"/>
              <a:t> do neurônio.</a:t>
            </a:r>
          </a:p>
          <a:p>
            <a:r>
              <a:rPr lang="pt-BR" dirty="0"/>
              <a:t>Essa representação é bastante utilizada na literatura.</a:t>
            </a:r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1EC84E1F-D55A-A9C6-47FA-3415032B2B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50" y="2759914"/>
            <a:ext cx="5001539" cy="248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</p:spPr>
            <p:txBody>
              <a:bodyPr/>
              <a:lstStyle/>
              <a:p>
                <a:r>
                  <a:rPr lang="pt-BR" dirty="0"/>
                  <a:t>Equações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</a:t>
                </a:r>
                <a:r>
                  <a:rPr lang="pt-BR" dirty="0"/>
                  <a:t> e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pesos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todos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os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:r>
                  <a:rPr lang="en-US" b="1" dirty="0" err="1">
                    <a:solidFill>
                      <a:srgbClr val="7030A0"/>
                    </a:solidFill>
                  </a:rPr>
                  <a:t>intervalos</a:t>
                </a:r>
                <a:r>
                  <a:rPr lang="en-US" b="1" dirty="0">
                    <a:solidFill>
                      <a:srgbClr val="7030A0"/>
                    </a:solidFill>
                  </a:rPr>
                  <a:t> de tempo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tangente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por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não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saturarem</a:t>
                </a:r>
                <a:r>
                  <a:rPr lang="en-US" dirty="0"/>
                  <a:t>, a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causar</a:t>
                </a:r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explosão</a:t>
                </a:r>
                <a:r>
                  <a:rPr lang="en-US" b="1" dirty="0">
                    <a:solidFill>
                      <a:schemeClr val="accent1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1"/>
                    </a:solidFill>
                  </a:rPr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5" y="1825624"/>
                <a:ext cx="7362825" cy="5032375"/>
              </a:xfrm>
              <a:blipFill>
                <a:blip r:embed="rId3"/>
                <a:stretch>
                  <a:fillRect l="-1490" t="-1937" r="-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F7DDA95C-C5C7-CCA4-CCDB-D86268AAC52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832" y="1592865"/>
            <a:ext cx="2454517" cy="490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A6C62E-76B5-FA20-EE1A-654E9CD981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145478A-CD8C-A7EE-5ED6-FCEA3B528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0AAF98E-E627-AE1F-AE39-31FADE78DD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Algumas implementações consideram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função de ativação na saída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saída do neurônio</a:t>
                </a:r>
                <a:r>
                  <a:rPr lang="pt-BR" dirty="0"/>
                  <a:t> recorrente fica assim:</a:t>
                </a: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A equação de </a:t>
                </a:r>
                <a:r>
                  <a:rPr lang="pt-BR" b="1" dirty="0">
                    <a:solidFill>
                      <a:srgbClr val="00B050"/>
                    </a:solidFill>
                  </a:rPr>
                  <a:t>atualização do estado oculto </a:t>
                </a:r>
                <a:r>
                  <a:rPr lang="pt-BR" dirty="0"/>
                  <a:t>permanece a mesma.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60AAF98E-E627-AE1F-AE39-31FADE78DD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 rotWithShape="0">
                <a:blip r:embed="rId3"/>
                <a:stretch>
                  <a:fillRect l="-1532" t="-1937" r="-6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8E2B0E5C-B617-1386-87C2-3A8B717B02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493" y="1479986"/>
            <a:ext cx="2258313" cy="5231527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xmlns="" id="{1E3BC3FD-1B5F-5A63-997C-3561384F2766}"/>
              </a:ext>
            </a:extLst>
          </p:cNvPr>
          <p:cNvSpPr/>
          <p:nvPr/>
        </p:nvSpPr>
        <p:spPr>
          <a:xfrm>
            <a:off x="2166492" y="2047875"/>
            <a:ext cx="557657" cy="61912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2798602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D2474F2-5A89-1CB7-BD28-4A23A7F5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10EFA5E-749F-7C57-0BA6-488F9D44E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FCF467E-0C2B-3D54-B6F1-85395ED9E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9200" y="1825624"/>
            <a:ext cx="7162800" cy="5032375"/>
          </a:xfrm>
        </p:spPr>
        <p:txBody>
          <a:bodyPr/>
          <a:lstStyle/>
          <a:p>
            <a:r>
              <a:rPr lang="pt-BR" dirty="0"/>
              <a:t>Podemos </a:t>
            </a:r>
            <a:r>
              <a:rPr lang="pt-BR" b="1" dirty="0">
                <a:solidFill>
                  <a:schemeClr val="accent2"/>
                </a:solidFill>
              </a:rPr>
              <a:t>desdobrar</a:t>
            </a:r>
            <a:r>
              <a:rPr lang="pt-BR" dirty="0"/>
              <a:t> uma RNN para entender como a </a:t>
            </a:r>
            <a:r>
              <a:rPr lang="pt-BR" b="1" dirty="0">
                <a:solidFill>
                  <a:srgbClr val="7030A0"/>
                </a:solidFill>
              </a:rPr>
              <a:t>memória evolui ao longo do tempo</a:t>
            </a:r>
            <a:r>
              <a:rPr lang="pt-BR" dirty="0"/>
              <a:t>.</a:t>
            </a:r>
          </a:p>
          <a:p>
            <a:r>
              <a:rPr lang="pt-BR" dirty="0"/>
              <a:t>Isso nos ajuda a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entender como ela processa sequências,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a treinar a rede usando </a:t>
            </a:r>
            <a:r>
              <a:rPr lang="pt-BR" i="1" dirty="0" err="1" smtClean="0"/>
              <a:t>backpropagation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3AA8D65D-0C7B-0947-2D49-1632A699E6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6493" y="1479986"/>
            <a:ext cx="2258313" cy="523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2990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0575" y="1825624"/>
            <a:ext cx="3781425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</a:t>
            </a:r>
            <a:r>
              <a:rPr lang="pt-BR" b="1" dirty="0">
                <a:solidFill>
                  <a:srgbClr val="7030A0"/>
                </a:solidFill>
              </a:rPr>
              <a:t>múltiplas cópias da mesma </a:t>
            </a:r>
            <a:r>
              <a:rPr lang="pt-BR" b="1" dirty="0" smtClean="0">
                <a:solidFill>
                  <a:srgbClr val="7030A0"/>
                </a:solidFill>
              </a:rPr>
              <a:t>camada</a:t>
            </a:r>
            <a:r>
              <a:rPr lang="pt-BR" dirty="0" smtClean="0"/>
              <a:t>, </a:t>
            </a:r>
            <a:r>
              <a:rPr lang="pt-BR" dirty="0"/>
              <a:t>cada uma passando </a:t>
            </a:r>
            <a:r>
              <a:rPr lang="pt-BR" b="1" dirty="0">
                <a:solidFill>
                  <a:schemeClr val="accent2"/>
                </a:solidFill>
              </a:rPr>
              <a:t>uma mensagem para a sua sucessora</a:t>
            </a:r>
            <a:r>
              <a:rPr lang="pt-BR" dirty="0"/>
              <a:t>.</a:t>
            </a:r>
          </a:p>
          <a:p>
            <a:r>
              <a:rPr lang="pt-BR" dirty="0"/>
              <a:t>É como se tivéssemos uma rede MLP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C71BBBBA-8C71-1CFD-F648-D5836DBC94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mesma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função de ativação</a:t>
                </a:r>
                <a:r>
                  <a:rPr lang="pt-BR" dirty="0"/>
                  <a:t> e o mesmo </a:t>
                </a:r>
                <a:r>
                  <a:rPr lang="pt-BR" b="1" dirty="0">
                    <a:solidFill>
                      <a:schemeClr val="accent1"/>
                    </a:solidFill>
                  </a:rPr>
                  <a:t>conjunto de pesos</a:t>
                </a:r>
                <a:r>
                  <a:rPr lang="pt-BR" dirty="0"/>
                  <a:t> são usados ​​</a:t>
                </a:r>
                <a:r>
                  <a:rPr lang="pt-BR" b="1" dirty="0">
                    <a:solidFill>
                      <a:srgbClr val="7030A0"/>
                    </a:solidFill>
                  </a:rPr>
                  <a:t>em cada passo</a:t>
                </a:r>
                <a:r>
                  <a:rPr lang="pt-BR" dirty="0"/>
                  <a:t> de tempo.</a:t>
                </a:r>
              </a:p>
              <a:p>
                <a:r>
                  <a:rPr lang="pt-BR" dirty="0"/>
                  <a:t>Percebam que </a:t>
                </a:r>
                <a:r>
                  <a:rPr lang="pt-BR" dirty="0" smtClean="0"/>
                  <a:t>a </a:t>
                </a:r>
                <a:r>
                  <a:rPr lang="pt-BR" dirty="0"/>
                  <a:t>saída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depende de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𝒕</m:t>
                    </m:r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] </m:t>
                    </m:r>
                  </m:oMath>
                </a14:m>
                <a:r>
                  <a:rPr lang="pt-BR" b="1" dirty="0" smtClean="0">
                    <a:solidFill>
                      <a:srgbClr val="00B050"/>
                    </a:solidFill>
                  </a:rPr>
                  <a:t>e de seus </a:t>
                </a:r>
                <a:r>
                  <a:rPr lang="pt-BR" b="1" dirty="0">
                    <a:solidFill>
                      <a:srgbClr val="00B050"/>
                    </a:solidFill>
                  </a:rPr>
                  <a:t>valores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anteriores</a:t>
                </a:r>
                <a:r>
                  <a:rPr lang="pt-BR" dirty="0" smtClean="0"/>
                  <a:t> e </a:t>
                </a:r>
                <a:r>
                  <a:rPr lang="pt-BR" dirty="0"/>
                  <a:t>não apenas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como em uma MLP.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71BBBBA-8C71-1CFD-F648-D5836DBC94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20100" y="1825624"/>
                <a:ext cx="3771900" cy="5032375"/>
              </a:xfrm>
              <a:blipFill rotWithShape="0">
                <a:blip r:embed="rId2"/>
                <a:stretch>
                  <a:fillRect l="-2908" t="-1937" r="-290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</a:t>
            </a:r>
            <a:r>
              <a:rPr lang="pt-BR" b="1" dirty="0">
                <a:solidFill>
                  <a:srgbClr val="7030A0"/>
                </a:solidFill>
              </a:rPr>
              <a:t>gradiente descendente</a:t>
            </a:r>
            <a:r>
              <a:rPr lang="pt-BR" dirty="0"/>
              <a:t>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rgbClr val="7030A0"/>
                </a:solidFill>
              </a:rPr>
              <a:t>função de erro</a:t>
            </a:r>
            <a:r>
              <a:rPr lang="pt-BR" dirty="0"/>
              <a:t> (EQM, EC, etc.) é usada para calcular o erro entre as saídas da rede e os rótulos do conjunto de treinamento.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derivada da função de erro</a:t>
            </a:r>
            <a:r>
              <a:rPr lang="pt-BR" dirty="0"/>
              <a:t>, em relação aos pesos da rede, é </a:t>
            </a:r>
            <a:r>
              <a:rPr lang="pt-BR" b="1" dirty="0">
                <a:solidFill>
                  <a:schemeClr val="accent2"/>
                </a:solidFill>
              </a:rPr>
              <a:t>retropropagada</a:t>
            </a:r>
            <a:r>
              <a:rPr lang="pt-BR" dirty="0"/>
              <a:t>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ela é primeiro </a:t>
            </a:r>
            <a:r>
              <a:rPr lang="pt-BR" b="1" dirty="0">
                <a:solidFill>
                  <a:schemeClr val="accent2"/>
                </a:solidFill>
              </a:rPr>
              <a:t>desdobrada</a:t>
            </a:r>
            <a:r>
              <a:rPr lang="pt-BR" dirty="0"/>
              <a:t> e </a:t>
            </a:r>
            <a:r>
              <a:rPr lang="pt-BR" b="1" dirty="0">
                <a:solidFill>
                  <a:srgbClr val="7030A0"/>
                </a:solidFill>
              </a:rPr>
              <a:t>depois aplica-se a retropropagação</a:t>
            </a:r>
            <a:r>
              <a:rPr lang="pt-BR" dirty="0"/>
              <a:t> do erro </a:t>
            </a:r>
            <a:r>
              <a:rPr lang="pt-BR" b="1" dirty="0">
                <a:solidFill>
                  <a:srgbClr val="7030A0"/>
                </a:solidFill>
              </a:rPr>
              <a:t>tradicional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da rede é </a:t>
            </a:r>
            <a:r>
              <a:rPr lang="pt-BR" b="1" dirty="0" smtClean="0">
                <a:solidFill>
                  <a:schemeClr val="accent2"/>
                </a:solidFill>
              </a:rPr>
              <a:t>referente </a:t>
            </a:r>
            <a:r>
              <a:rPr lang="pt-BR" dirty="0" smtClean="0"/>
              <a:t>a </a:t>
            </a:r>
            <a:r>
              <a:rPr lang="pt-BR" dirty="0"/>
              <a:t>um </a:t>
            </a:r>
            <a:r>
              <a:rPr lang="pt-BR" b="1" dirty="0">
                <a:solidFill>
                  <a:schemeClr val="accent2"/>
                </a:solidFill>
              </a:rPr>
              <a:t>intervalo de tempo diferente</a:t>
            </a:r>
            <a:r>
              <a:rPr lang="pt-BR" dirty="0"/>
              <a:t>.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2"/>
                </a:solidFill>
              </a:rPr>
              <a:t>réplica</a:t>
            </a:r>
            <a:r>
              <a:rPr lang="pt-BR" dirty="0"/>
              <a:t> pode ser pensada como </a:t>
            </a:r>
            <a:r>
              <a:rPr lang="pt-BR" b="1" dirty="0">
                <a:solidFill>
                  <a:srgbClr val="00B050"/>
                </a:solidFill>
              </a:rPr>
              <a:t>uma camada em uma rede MLP</a:t>
            </a:r>
            <a:r>
              <a:rPr lang="pt-BR" dirty="0"/>
              <a:t>.</a:t>
            </a:r>
          </a:p>
          <a:p>
            <a:r>
              <a:rPr lang="pt-BR" dirty="0" smtClean="0"/>
              <a:t>Os </a:t>
            </a:r>
            <a:r>
              <a:rPr lang="pt-BR" b="1" dirty="0">
                <a:solidFill>
                  <a:schemeClr val="accent1"/>
                </a:solidFill>
              </a:rPr>
              <a:t>pesos são mantidos constantes</a:t>
            </a:r>
            <a:r>
              <a:rPr lang="pt-BR" dirty="0"/>
              <a:t> em cada </a:t>
            </a:r>
            <a:r>
              <a:rPr lang="pt-BR" b="1" dirty="0">
                <a:solidFill>
                  <a:schemeClr val="accent1"/>
                </a:solidFill>
              </a:rPr>
              <a:t>intervalo de </a:t>
            </a:r>
            <a:r>
              <a:rPr lang="pt-BR" b="1" dirty="0" smtClean="0">
                <a:solidFill>
                  <a:schemeClr val="accent1"/>
                </a:solidFill>
              </a:rPr>
              <a:t>tempo (camada)</a:t>
            </a:r>
            <a:r>
              <a:rPr lang="pt-BR" dirty="0" smtClean="0"/>
              <a:t>.</a:t>
            </a:r>
          </a:p>
          <a:p>
            <a:r>
              <a:rPr lang="pt-BR" dirty="0"/>
              <a:t>Percebam que a </a:t>
            </a:r>
            <a:r>
              <a:rPr lang="pt-BR" b="1" dirty="0">
                <a:solidFill>
                  <a:srgbClr val="7030A0"/>
                </a:solidFill>
              </a:rPr>
              <a:t>arquitetura da rede</a:t>
            </a:r>
            <a:r>
              <a:rPr lang="pt-BR" dirty="0"/>
              <a:t> pode se tornar </a:t>
            </a:r>
            <a:r>
              <a:rPr lang="pt-BR" b="1" dirty="0">
                <a:solidFill>
                  <a:srgbClr val="7030A0"/>
                </a:solidFill>
              </a:rPr>
              <a:t>muito profunda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3C3594B-041E-A819-7F40-ADDA10695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7353FE7-29C4-832D-D880-18B70E1AC7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0C5AC7A-B3D7-B83C-747E-584985A7A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Esse </a:t>
            </a:r>
            <a:r>
              <a:rPr lang="pt-BR" b="1" dirty="0">
                <a:solidFill>
                  <a:srgbClr val="00B050"/>
                </a:solidFill>
              </a:rPr>
              <a:t>desdobramento da rede</a:t>
            </a:r>
            <a:r>
              <a:rPr lang="pt-BR" dirty="0"/>
              <a:t> para se aplicar a retropropagação do erro é chamado de </a:t>
            </a:r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(BPTT).</a:t>
            </a:r>
          </a:p>
          <a:p>
            <a:r>
              <a:rPr lang="pt-BR" dirty="0"/>
              <a:t>Ele é uma </a:t>
            </a:r>
            <a:r>
              <a:rPr lang="pt-BR" b="1" dirty="0">
                <a:solidFill>
                  <a:schemeClr val="accent2"/>
                </a:solidFill>
              </a:rPr>
              <a:t>extensão</a:t>
            </a:r>
            <a:r>
              <a:rPr lang="pt-BR" dirty="0"/>
              <a:t> do </a:t>
            </a:r>
            <a:r>
              <a:rPr lang="pt-BR" i="1" dirty="0" err="1"/>
              <a:t>backpropagation</a:t>
            </a:r>
            <a:r>
              <a:rPr lang="pt-BR" dirty="0"/>
              <a:t> tradicional, mas </a:t>
            </a:r>
            <a:r>
              <a:rPr lang="pt-BR" b="1" dirty="0">
                <a:solidFill>
                  <a:schemeClr val="accent2"/>
                </a:solidFill>
              </a:rPr>
              <a:t>aplicado ao longo do tempo</a:t>
            </a:r>
            <a:r>
              <a:rPr lang="pt-BR" dirty="0"/>
              <a:t>.</a:t>
            </a:r>
          </a:p>
          <a:p>
            <a:r>
              <a:rPr lang="pt-BR" dirty="0"/>
              <a:t>A ideia central é:</a:t>
            </a:r>
          </a:p>
          <a:p>
            <a:pPr marL="0" indent="0" algn="ctr">
              <a:buNone/>
            </a:pPr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erro atual</a:t>
            </a:r>
            <a:r>
              <a:rPr lang="pt-BR" dirty="0"/>
              <a:t> pode ter </a:t>
            </a:r>
            <a:r>
              <a:rPr lang="pt-BR" b="1" dirty="0">
                <a:solidFill>
                  <a:schemeClr val="accent1"/>
                </a:solidFill>
              </a:rPr>
              <a:t>sido causado por </a:t>
            </a:r>
            <a:r>
              <a:rPr lang="pt-BR" b="1" dirty="0">
                <a:solidFill>
                  <a:srgbClr val="7030A0"/>
                </a:solidFill>
              </a:rPr>
              <a:t>estados passados</a:t>
            </a:r>
            <a:r>
              <a:rPr lang="pt-BR" dirty="0"/>
              <a:t> da rede.</a:t>
            </a:r>
          </a:p>
          <a:p>
            <a:r>
              <a:rPr lang="pt-BR" dirty="0"/>
              <a:t>Então o gradiente precisa “</a:t>
            </a:r>
            <a:r>
              <a:rPr lang="pt-BR" b="1" dirty="0">
                <a:solidFill>
                  <a:srgbClr val="00B050"/>
                </a:solidFill>
              </a:rPr>
              <a:t>voltar no tempo</a:t>
            </a:r>
            <a:r>
              <a:rPr lang="pt-BR" dirty="0"/>
              <a:t>”.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F0753EF2-09AE-E550-8ECE-484A73CEFC5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5382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diferença entre a saída da rede e o valor desejado é avaliada por uma função de erro </a:t>
                </a:r>
                <a:r>
                  <a:rPr lang="pt-BR" b="1" dirty="0">
                    <a:solidFill>
                      <a:srgbClr val="7030A0"/>
                    </a:solidFill>
                  </a:rPr>
                  <a:t>ao longo de todos os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passos de tempo</a:t>
                </a:r>
                <a:endParaRPr lang="pt-BR" b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Em </a:t>
                </a:r>
                <a:r>
                  <a:rPr lang="en-US" dirty="0" err="1"/>
                  <a:t>outras</a:t>
                </a:r>
                <a:r>
                  <a:rPr lang="en-US" dirty="0"/>
                  <a:t> </a:t>
                </a:r>
                <a:r>
                  <a:rPr lang="en-US" dirty="0" err="1" smtClean="0"/>
                  <a:t>palavras</a:t>
                </a:r>
                <a:r>
                  <a:rPr lang="en-US" dirty="0" smtClean="0"/>
                  <a:t>, o </a:t>
                </a:r>
                <a:r>
                  <a:rPr lang="en-US" dirty="0" err="1" smtClean="0"/>
                  <a:t>erro</a:t>
                </a:r>
                <a:r>
                  <a:rPr lang="en-US" dirty="0" smtClean="0"/>
                  <a:t> total </a:t>
                </a:r>
                <a:r>
                  <a:rPr lang="en-US" dirty="0"/>
                  <a:t>é </a:t>
                </a:r>
                <a:r>
                  <a:rPr lang="en-US" dirty="0" err="1"/>
                  <a:t>uma</a:t>
                </a:r>
                <a:r>
                  <a:rPr lang="en-US" dirty="0"/>
                  <a:t> </a:t>
                </a:r>
                <a:r>
                  <a:rPr lang="en-US" b="1" dirty="0" err="1" smtClean="0">
                    <a:solidFill>
                      <a:schemeClr val="accent2"/>
                    </a:solidFill>
                  </a:rPr>
                  <a:t>média</a:t>
                </a:r>
                <a:r>
                  <a:rPr lang="en-US" b="1" dirty="0" smtClean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temporal dos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dirty="0" err="1"/>
                  <a:t>cometidos</a:t>
                </a:r>
                <a:r>
                  <a:rPr lang="en-US" dirty="0"/>
                  <a:t> pela rede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ao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longo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todos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</a:t>
                </a:r>
                <a:r>
                  <a:rPr lang="en-US" b="1" dirty="0">
                    <a:solidFill>
                      <a:schemeClr val="accent2"/>
                    </a:solidFill>
                  </a:rPr>
                  <a:t>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instantes</a:t>
                </a:r>
                <a:r>
                  <a:rPr lang="en-US" b="1" dirty="0">
                    <a:solidFill>
                      <a:schemeClr val="accent2"/>
                    </a:solidFill>
                  </a:rPr>
                  <a:t> de tempo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689DD09-FA86-3CAE-7297-B124DDF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1FEC256-B082-7183-4AD1-C2355A6FD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3AA9B93-41C8-CC75-5F29-FD0909CE60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(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)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smtClean="0"/>
                  <a:t>o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Notem que </a:t>
                </a:r>
                <a:r>
                  <a:rPr lang="pt-BR" b="1" dirty="0">
                    <a:solidFill>
                      <a:srgbClr val="00B050"/>
                    </a:solidFill>
                  </a:rPr>
                  <a:t>somamos as contribuições de cada passo de tempo</a:t>
                </a:r>
                <a:r>
                  <a:rPr lang="pt-BR" dirty="0"/>
                  <a:t> para obter o gradiente.</a:t>
                </a:r>
              </a:p>
              <a:p>
                <a:r>
                  <a:rPr lang="pt-BR" dirty="0"/>
                  <a:t>O primeiro, o segundo e o quarto fatores do produto são fáceis de calcular. </a:t>
                </a:r>
              </a:p>
              <a:p>
                <a:r>
                  <a:rPr lang="pt-BR" dirty="0"/>
                  <a:t>O terceiro é onde as coisas ficam complicadas, já que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calcular recursivamente</a:t>
                </a:r>
                <a:r>
                  <a:rPr lang="pt-BR" dirty="0"/>
                  <a:t>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3AA9B93-41C8-CC75-5F29-FD0909CE60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9026" cy="5032375"/>
              </a:xfrm>
              <a:blipFill rotWithShape="0">
                <a:blip r:embed="rId3"/>
                <a:stretch>
                  <a:fillRect l="-976" t="-1937" r="-17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xmlns="" id="{FAF83994-B4CC-99A0-FA69-B6B7F2E67A3E}"/>
              </a:ext>
            </a:extLst>
          </p:cNvPr>
          <p:cNvSpPr/>
          <p:nvPr/>
        </p:nvSpPr>
        <p:spPr>
          <a:xfrm>
            <a:off x="9634092" y="2676526"/>
            <a:ext cx="862458" cy="10096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rgbClr val="FF0000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3243999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pt-BR" dirty="0"/>
                  <a:t>Se o valor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for grande (i.e., uma </a:t>
                </a:r>
                <a:r>
                  <a:rPr lang="pt-BR" b="1" dirty="0">
                    <a:solidFill>
                      <a:srgbClr val="00B050"/>
                    </a:solidFill>
                  </a:rPr>
                  <a:t>sequência muito longa</a:t>
                </a:r>
                <a:r>
                  <a:rPr lang="pt-BR" dirty="0"/>
                  <a:t>), temos uma </a:t>
                </a:r>
                <a:r>
                  <a:rPr lang="pt-BR" b="1" dirty="0">
                    <a:solidFill>
                      <a:srgbClr val="00B050"/>
                    </a:solidFill>
                  </a:rPr>
                  <a:t>profundidade intratável</a:t>
                </a:r>
                <a:r>
                  <a:rPr lang="pt-BR" dirty="0"/>
                  <a:t>, o que torna o </a:t>
                </a:r>
                <a:r>
                  <a:rPr lang="pt-BR" b="1" dirty="0">
                    <a:solidFill>
                      <a:srgbClr val="7030A0"/>
                    </a:solidFill>
                  </a:rPr>
                  <a:t>treinamento muito lento</a:t>
                </a:r>
                <a:r>
                  <a:rPr lang="pt-BR" dirty="0"/>
                  <a:t>, </a:t>
                </a:r>
                <a:r>
                  <a:rPr lang="pt-BR" b="1" dirty="0" smtClean="0">
                    <a:solidFill>
                      <a:schemeClr val="accent1"/>
                    </a:solidFill>
                  </a:rPr>
                  <a:t>consome </a:t>
                </a:r>
                <a:r>
                  <a:rPr lang="pt-BR" b="1" dirty="0">
                    <a:solidFill>
                      <a:schemeClr val="accent1"/>
                    </a:solidFill>
                  </a:rPr>
                  <a:t>muita memória</a:t>
                </a:r>
                <a:r>
                  <a:rPr lang="pt-BR" dirty="0"/>
                  <a:t> e pode deixar o </a:t>
                </a:r>
                <a:r>
                  <a:rPr lang="pt-BR" b="1" dirty="0">
                    <a:solidFill>
                      <a:schemeClr val="accent6"/>
                    </a:solidFill>
                  </a:rPr>
                  <a:t>treinamento instável devido à recursão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prática, muitas vezes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propagamos até o início da sequência</a:t>
                </a:r>
                <a:r>
                  <a:rPr lang="pt-BR" dirty="0"/>
                  <a:t>, mas até um determinado instante de tempo,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BPPT truncado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Ele reduz: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custo computacional,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uso de memória.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 r="-1127" b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AB1BAB6-1EE4-4547-07FC-97B0B6DE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E3B04ED-99C9-38B8-A6B7-07300AEB9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o BPTT truncado funciona?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B4DBBF-C43B-70AC-AAA4-A3D9A2DAAB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Funciona porque, na prática, </a:t>
            </a:r>
            <a:r>
              <a:rPr lang="pt-BR" b="1" dirty="0">
                <a:solidFill>
                  <a:schemeClr val="accent2"/>
                </a:solidFill>
              </a:rPr>
              <a:t>muitas dependências temporais relevantes </a:t>
            </a:r>
            <a:r>
              <a:rPr lang="pt-BR" b="1" dirty="0">
                <a:solidFill>
                  <a:srgbClr val="FF0000"/>
                </a:solidFill>
              </a:rPr>
              <a:t>são locais</a:t>
            </a:r>
            <a:r>
              <a:rPr lang="pt-BR" dirty="0"/>
              <a:t>.</a:t>
            </a:r>
          </a:p>
          <a:p>
            <a:r>
              <a:rPr lang="pt-BR" dirty="0"/>
              <a:t>Além disso, muitas </a:t>
            </a:r>
            <a:r>
              <a:rPr lang="pt-BR" b="1" dirty="0">
                <a:solidFill>
                  <a:srgbClr val="00B050"/>
                </a:solidFill>
              </a:rPr>
              <a:t>dependências temporais relevantes decaem com o tempo</a:t>
            </a:r>
            <a:r>
              <a:rPr lang="pt-BR" dirty="0"/>
              <a:t>.</a:t>
            </a:r>
          </a:p>
          <a:p>
            <a:r>
              <a:rPr lang="pt-BR" dirty="0"/>
              <a:t>Isso </a:t>
            </a:r>
            <a:r>
              <a:rPr lang="pt-BR" b="1" dirty="0">
                <a:solidFill>
                  <a:srgbClr val="7030A0"/>
                </a:solidFill>
              </a:rPr>
              <a:t>evita</a:t>
            </a:r>
            <a:r>
              <a:rPr lang="pt-BR" dirty="0"/>
              <a:t> a necessidade de </a:t>
            </a:r>
            <a:r>
              <a:rPr lang="pt-BR" b="1" dirty="0">
                <a:solidFill>
                  <a:srgbClr val="7030A0"/>
                </a:solidFill>
              </a:rPr>
              <a:t>voltar até o primeiro passo</a:t>
            </a:r>
            <a:r>
              <a:rPr lang="pt-BR" dirty="0"/>
              <a:t> da sequência </a:t>
            </a:r>
            <a:r>
              <a:rPr lang="pt-BR" b="1" dirty="0">
                <a:solidFill>
                  <a:srgbClr val="7030A0"/>
                </a:solidFill>
              </a:rPr>
              <a:t>para calcular o gradiente</a:t>
            </a:r>
            <a:r>
              <a:rPr lang="pt-BR" dirty="0"/>
              <a:t>.</a:t>
            </a:r>
          </a:p>
          <a:p>
            <a:r>
              <a:rPr lang="pt-BR" dirty="0"/>
              <a:t>Ou seja: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rgbClr val="0070C0"/>
                </a:solidFill>
              </a:rPr>
              <a:t>estado atual</a:t>
            </a:r>
            <a:r>
              <a:rPr lang="pt-BR" dirty="0"/>
              <a:t> geralmente depende mais do </a:t>
            </a:r>
            <a:r>
              <a:rPr lang="pt-BR" b="1" dirty="0">
                <a:solidFill>
                  <a:srgbClr val="0070C0"/>
                </a:solidFill>
              </a:rPr>
              <a:t>passado recente</a:t>
            </a:r>
            <a:r>
              <a:rPr lang="pt-BR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70C0"/>
                </a:solidFill>
              </a:rPr>
              <a:t>contribuições</a:t>
            </a:r>
            <a:r>
              <a:rPr lang="pt-BR" dirty="0"/>
              <a:t> muito </a:t>
            </a:r>
            <a:r>
              <a:rPr lang="pt-BR" b="1" dirty="0">
                <a:solidFill>
                  <a:srgbClr val="0070C0"/>
                </a:solidFill>
              </a:rPr>
              <a:t>antigas</a:t>
            </a:r>
            <a:r>
              <a:rPr lang="pt-BR" dirty="0"/>
              <a:t> tendem a </a:t>
            </a:r>
            <a:r>
              <a:rPr lang="pt-BR" b="1" dirty="0">
                <a:solidFill>
                  <a:srgbClr val="0070C0"/>
                </a:solidFill>
              </a:rPr>
              <a:t>ficar pequenas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442391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>
                    <a:solidFill>
                      <a:srgbClr val="7030A0"/>
                    </a:solidFill>
                  </a:rPr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 err="1">
                    <a:solidFill>
                      <a:schemeClr val="accent2"/>
                    </a:solidFill>
                  </a:rPr>
                  <a:t>produtório</a:t>
                </a:r>
                <a:r>
                  <a:rPr lang="pt-BR" dirty="0"/>
                  <a:t> na equação acima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pode causar o desaparecimento ou a explosão do gradiente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2924175"/>
            <a:ext cx="4738255" cy="169545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 err="1"/>
              <a:t>RNNs</a:t>
            </a:r>
            <a:r>
              <a:rPr lang="pt-BR" sz="3600" dirty="0"/>
              <a:t> </a:t>
            </a:r>
            <a:r>
              <a:rPr lang="pt-BR" sz="3600" b="1" dirty="0"/>
              <a:t>tradicionais</a:t>
            </a:r>
            <a:r>
              <a:rPr lang="pt-BR" sz="3600" dirty="0"/>
              <a:t> não aprendem dependências longas</a:t>
            </a:r>
            <a:endParaRPr lang="en-US" sz="36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xmlns="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>
                    <a:solidFill>
                      <a:srgbClr val="7030A0"/>
                    </a:solidFill>
                  </a:rPr>
                  <a:t>esquece o passado mais distante</a:t>
                </a:r>
                <a:r>
                  <a:rPr lang="pt-BR" b="1" dirty="0"/>
                  <a:t>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</a:t>
                </a:r>
                <a:r>
                  <a:rPr lang="pt-BR" b="1" dirty="0">
                    <a:solidFill>
                      <a:srgbClr val="7030A0"/>
                    </a:solidFill>
                  </a:rPr>
                  <a:t>muito lento ou estagnado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smtClean="0"/>
                  <a:t>O </a:t>
                </a:r>
                <a:r>
                  <a:rPr lang="en-US" dirty="0" err="1" smtClean="0"/>
                  <a:t>m</a:t>
                </a:r>
                <a:r>
                  <a:rPr lang="en-US" dirty="0" err="1" smtClean="0"/>
                  <a:t>odelo</a:t>
                </a:r>
                <a:r>
                  <a:rPr lang="en-US" dirty="0" smtClean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diverge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pesos se tornam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2"/>
                    </a:solidFill>
                  </a:rPr>
                  <a:t>Treinamento instável</a:t>
                </a:r>
                <a:r>
                  <a:rPr lang="pt-BR" dirty="0"/>
                  <a:t>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oscilação</a:t>
                </a:r>
                <a:r>
                  <a:rPr lang="en-US" b="1" dirty="0">
                    <a:solidFill>
                      <a:schemeClr val="accent2"/>
                    </a:solidFill>
                  </a:rPr>
                  <a:t> do </a:t>
                </a:r>
                <a:r>
                  <a:rPr lang="en-US" b="1" dirty="0" err="1">
                    <a:solidFill>
                      <a:schemeClr val="accent2"/>
                    </a:solidFill>
                  </a:rPr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conceito de </a:t>
                </a:r>
                <a:r>
                  <a:rPr lang="pt-BR" sz="2100" b="1" i="1" dirty="0" err="1">
                    <a:solidFill>
                      <a:schemeClr val="accent2"/>
                    </a:solidFill>
                  </a:rPr>
                  <a:t>gates</a:t>
                </a:r>
                <a:r>
                  <a:rPr lang="pt-BR" sz="2100" dirty="0"/>
                  <a:t>, funcionando como </a:t>
                </a:r>
                <a:r>
                  <a:rPr lang="pt-BR" sz="2100" b="1" dirty="0">
                    <a:solidFill>
                      <a:schemeClr val="accent2"/>
                    </a:solidFill>
                  </a:rPr>
                  <a:t>válvulas 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de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informação</a:t>
                </a:r>
                <a:r>
                  <a:rPr lang="en-US" sz="2100" b="1" dirty="0">
                    <a:solidFill>
                      <a:schemeClr val="accent2"/>
                    </a:solidFill>
                  </a:rPr>
                  <a:t> e </a:t>
                </a:r>
                <a:r>
                  <a:rPr lang="en-US" sz="2100" b="1" dirty="0" err="1">
                    <a:solidFill>
                      <a:schemeClr val="accent2"/>
                    </a:solidFill>
                  </a:rPr>
                  <a:t>gradiente</a:t>
                </a:r>
                <a:endParaRPr lang="pt-BR" sz="2100" b="1" dirty="0">
                  <a:solidFill>
                    <a:schemeClr val="accent2"/>
                  </a:solidFill>
                </a:endParaRP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b="1" dirty="0" smtClean="0">
                    <a:solidFill>
                      <a:schemeClr val="accent2"/>
                    </a:solidFill>
                  </a:rPr>
                  <a:t>Mantendo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chemeClr val="accent6"/>
                    </a:solidFill>
                  </a:rPr>
                  <a:t>Conexões residuais</a:t>
                </a:r>
                <a:r>
                  <a:rPr lang="pt-BR" dirty="0"/>
                  <a:t>: criam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caminhos diretos</a:t>
                </a:r>
                <a:r>
                  <a:rPr lang="pt-BR" dirty="0"/>
                  <a:t>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usar funções de ativação </a:t>
            </a:r>
            <a:r>
              <a:rPr lang="pt-BR" dirty="0" err="1"/>
              <a:t>ReLU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</p:spPr>
            <p:txBody>
              <a:bodyPr/>
              <a:lstStyle/>
              <a:p>
                <a:r>
                  <a:rPr lang="pt-BR" dirty="0"/>
                  <a:t>RNNs </a:t>
                </a:r>
                <a:r>
                  <a:rPr lang="pt-BR" b="1" dirty="0"/>
                  <a:t>reusam</a:t>
                </a:r>
                <a:r>
                  <a:rPr lang="pt-BR" dirty="0"/>
                  <a:t> a </a:t>
                </a:r>
                <a:r>
                  <a:rPr lang="pt-BR" b="1" dirty="0">
                    <a:solidFill>
                      <a:srgbClr val="7030A0"/>
                    </a:solidFill>
                  </a:rPr>
                  <a:t>mesma matriz de pesos e a mesma função de ativação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rgbClr val="7030A0"/>
                    </a:solidFill>
                  </a:rPr>
                  <a:t>repetidamente</a:t>
                </a:r>
                <a:r>
                  <a:rPr lang="pt-BR" dirty="0"/>
                  <a:t> em cada passo.</a:t>
                </a:r>
              </a:p>
              <a:p>
                <a:r>
                  <a:rPr lang="pt-BR" b="1" dirty="0">
                    <a:solidFill>
                      <a:srgbClr val="00B050"/>
                    </a:solidFill>
                  </a:rPr>
                  <a:t>Valores maiores que 1</a:t>
                </a:r>
                <a:r>
                  <a:rPr lang="pt-BR" dirty="0"/>
                  <a:t> na entrada de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que não satura</a:t>
                </a:r>
                <a:r>
                  <a:rPr lang="pt-BR" dirty="0"/>
                  <a:t> como a </a:t>
                </a:r>
                <a:r>
                  <a:rPr lang="pt-BR" dirty="0" err="1"/>
                  <a:t>ReLU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) podem causar um crescimento exponencial (explosão) dos valores do estado oculto,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Isso torna o treinamento instável: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estados podem crescer sem limite, causando dinâmica instável no 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Em </a:t>
                </a:r>
                <a:r>
                  <a:rPr lang="pt-BR" b="1" dirty="0">
                    <a:solidFill>
                      <a:schemeClr val="accent1"/>
                    </a:solidFill>
                  </a:rPr>
                  <a:t>sistemas dinâmicos </a:t>
                </a:r>
                <a:r>
                  <a:rPr lang="pt-BR" dirty="0"/>
                  <a:t>(como em </a:t>
                </a:r>
                <a:r>
                  <a:rPr lang="pt-BR" dirty="0" err="1"/>
                  <a:t>RNNs</a:t>
                </a:r>
                <a:r>
                  <a:rPr lang="pt-BR" dirty="0"/>
                  <a:t>), isso é ruim, pois </a:t>
                </a:r>
                <a:r>
                  <a:rPr lang="pt-BR" b="1" dirty="0">
                    <a:solidFill>
                      <a:schemeClr val="accent1"/>
                    </a:solidFill>
                  </a:rPr>
                  <a:t>causa oscilações ou divergência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Além disso, </a:t>
                </a:r>
                <a:r>
                  <a:rPr lang="pt-BR" b="1" dirty="0">
                    <a:solidFill>
                      <a:schemeClr val="accent2"/>
                    </a:solidFill>
                  </a:rPr>
                  <a:t>valores negativos</a:t>
                </a:r>
                <a:r>
                  <a:rPr lang="pt-BR" dirty="0"/>
                  <a:t> em sua entrada </a:t>
                </a:r>
                <a:r>
                  <a:rPr lang="pt-BR" b="1" dirty="0">
                    <a:solidFill>
                      <a:schemeClr val="accent2"/>
                    </a:solidFill>
                  </a:rPr>
                  <a:t>geram saídas e derivadas iguais a 0</a:t>
                </a:r>
                <a:r>
                  <a:rPr lang="pt-BR" dirty="0"/>
                  <a:t>, fazendo com que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fluxo de aprendizado morra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210364" cy="5032375"/>
              </a:xfrm>
              <a:blipFill rotWithShape="0">
                <a:blip r:embed="rId2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</a:t>
            </a:r>
            <a:r>
              <a:rPr lang="pt-BR" b="1" dirty="0">
                <a:solidFill>
                  <a:schemeClr val="accent2"/>
                </a:solidFill>
              </a:rPr>
              <a:t>desaparecimento do gradiente</a:t>
            </a:r>
            <a:r>
              <a:rPr lang="pt-BR" dirty="0"/>
              <a:t>, as </a:t>
            </a:r>
            <a:r>
              <a:rPr lang="pt-BR" dirty="0" err="1"/>
              <a:t>RNNs</a:t>
            </a:r>
            <a:r>
              <a:rPr lang="pt-BR" dirty="0"/>
              <a:t> tradicionais (baunilha) </a:t>
            </a:r>
            <a:r>
              <a:rPr lang="pt-BR" b="1" dirty="0">
                <a:solidFill>
                  <a:schemeClr val="accent2"/>
                </a:solidFill>
              </a:rPr>
              <a:t>são incapazes de aprender dependências de longo prazo</a:t>
            </a:r>
            <a:r>
              <a:rPr lang="pt-BR" dirty="0"/>
              <a:t>.</a:t>
            </a:r>
          </a:p>
          <a:p>
            <a:r>
              <a:rPr lang="pt-BR" dirty="0"/>
              <a:t>Quando uma RNN processa uma </a:t>
            </a:r>
            <a:r>
              <a:rPr lang="pt-BR" b="1" dirty="0">
                <a:solidFill>
                  <a:srgbClr val="7030A0"/>
                </a:solidFill>
              </a:rPr>
              <a:t>sequência longa</a:t>
            </a:r>
            <a:r>
              <a:rPr lang="pt-BR" dirty="0"/>
              <a:t>, ela </a:t>
            </a:r>
            <a:r>
              <a:rPr lang="pt-BR" b="1" dirty="0">
                <a:solidFill>
                  <a:srgbClr val="7030A0"/>
                </a:solidFill>
              </a:rPr>
              <a:t>gradualmente esquece as primeiras entradas</a:t>
            </a:r>
            <a:r>
              <a:rPr lang="pt-BR" dirty="0"/>
              <a:t> da sequência.</a:t>
            </a:r>
          </a:p>
          <a:p>
            <a:r>
              <a:rPr lang="pt-BR" dirty="0"/>
              <a:t>Entretanto, </a:t>
            </a:r>
            <a:r>
              <a:rPr lang="pt-BR" b="1" dirty="0">
                <a:solidFill>
                  <a:srgbClr val="00B050"/>
                </a:solidFill>
              </a:rPr>
              <a:t>algumas aplicações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exigem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dependências tanto de curto quanto de longo prazo</a:t>
            </a:r>
            <a:r>
              <a:rPr lang="pt-BR" dirty="0"/>
              <a:t>.</a:t>
            </a:r>
          </a:p>
          <a:p>
            <a:r>
              <a:rPr lang="pt-BR" b="1" dirty="0"/>
              <a:t>Exemplos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de texto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Reconhecimento</a:t>
            </a:r>
            <a:r>
              <a:rPr lang="en-US" dirty="0"/>
              <a:t> de </a:t>
            </a:r>
            <a:r>
              <a:rPr lang="en-US" dirty="0" err="1"/>
              <a:t>fala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Rastreamento</a:t>
            </a:r>
            <a:r>
              <a:rPr lang="en-US" dirty="0"/>
              <a:t> de </a:t>
            </a:r>
            <a:r>
              <a:rPr lang="en-US" dirty="0" err="1"/>
              <a:t>objetos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 RNN ao lado para fazer uma </a:t>
            </a:r>
            <a:r>
              <a:rPr lang="pt-BR" b="1" dirty="0">
                <a:solidFill>
                  <a:srgbClr val="00B050"/>
                </a:solidFill>
              </a:rPr>
              <a:t>previsão de um passo à frente</a:t>
            </a:r>
            <a:r>
              <a:rPr lang="pt-BR" dirty="0"/>
              <a:t>.</a:t>
            </a:r>
          </a:p>
          <a:p>
            <a:r>
              <a:rPr lang="pt-BR" dirty="0"/>
              <a:t>Para </a:t>
            </a:r>
            <a:r>
              <a:rPr lang="pt-BR" b="1" dirty="0">
                <a:solidFill>
                  <a:schemeClr val="accent2"/>
                </a:solidFill>
              </a:rPr>
              <a:t>prever a palavra “azul”</a:t>
            </a:r>
            <a:r>
              <a:rPr lang="pt-BR" dirty="0"/>
              <a:t>, basta olhar apenas </a:t>
            </a:r>
            <a:r>
              <a:rPr lang="pt-BR" b="1" dirty="0">
                <a:solidFill>
                  <a:schemeClr val="accent2"/>
                </a:solidFill>
              </a:rPr>
              <a:t>dois passos atrás</a:t>
            </a:r>
            <a:r>
              <a:rPr lang="pt-BR" dirty="0"/>
              <a:t>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</a:t>
            </a:r>
            <a:r>
              <a:rPr lang="pt-BR" dirty="0" smtClean="0"/>
              <a:t>a palavra </a:t>
            </a:r>
            <a:r>
              <a:rPr lang="pt-BR" dirty="0" smtClean="0"/>
              <a:t>com </a:t>
            </a:r>
            <a:r>
              <a:rPr lang="pt-BR" dirty="0"/>
              <a:t>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Continuando com a previsão </a:t>
            </a:r>
            <a:r>
              <a:rPr lang="pt-BR" dirty="0"/>
              <a:t>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</a:t>
            </a:r>
            <a:r>
              <a:rPr lang="pt-BR" b="1" dirty="0">
                <a:solidFill>
                  <a:schemeClr val="accent2"/>
                </a:solidFill>
              </a:rPr>
              <a:t>prever a palavra "italiano"</a:t>
            </a:r>
            <a:r>
              <a:rPr lang="pt-BR" dirty="0"/>
              <a:t>, temos que olhar </a:t>
            </a:r>
            <a:r>
              <a:rPr lang="pt-BR" b="1" dirty="0">
                <a:solidFill>
                  <a:schemeClr val="accent2"/>
                </a:solidFill>
              </a:rPr>
              <a:t>vários passos para trás no tempo</a:t>
            </a:r>
            <a:r>
              <a:rPr lang="pt-BR" dirty="0"/>
              <a:t>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</a:t>
            </a:r>
            <a:r>
              <a:rPr lang="pt-BR" dirty="0" smtClean="0"/>
              <a:t>tradicional pode </a:t>
            </a:r>
            <a:r>
              <a:rPr lang="pt-BR" dirty="0"/>
              <a:t>não </a:t>
            </a:r>
            <a:r>
              <a:rPr lang="pt-BR" dirty="0" smtClean="0"/>
              <a:t>ser </a:t>
            </a:r>
            <a:r>
              <a:rPr lang="pt-BR" dirty="0"/>
              <a:t>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</a:t>
            </a:r>
            <a:r>
              <a:rPr lang="pt-BR" b="1" dirty="0">
                <a:solidFill>
                  <a:schemeClr val="accent2"/>
                </a:solidFill>
              </a:rPr>
              <a:t>diversos problemas que envolvem dados sequenciais</a:t>
            </a:r>
            <a:r>
              <a:rPr lang="pt-BR" dirty="0"/>
              <a:t>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 tradicionais, elas </a:t>
            </a:r>
            <a:r>
              <a:rPr lang="pt-BR" b="1" dirty="0">
                <a:solidFill>
                  <a:srgbClr val="7030A0"/>
                </a:solidFill>
              </a:rPr>
              <a:t>precisam ser desdobradas</a:t>
            </a:r>
            <a:r>
              <a:rPr lang="pt-BR" dirty="0"/>
              <a:t> no tempo para serem </a:t>
            </a:r>
            <a:r>
              <a:rPr lang="pt-BR" b="1" dirty="0">
                <a:solidFill>
                  <a:srgbClr val="7030A0"/>
                </a:solidFill>
              </a:rPr>
              <a:t>treinadas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xmlns="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7030A0"/>
                </a:solidFill>
              </a:rPr>
              <a:t>unidade de processamento</a:t>
            </a:r>
            <a:r>
              <a:rPr lang="pt-BR" dirty="0"/>
              <a:t> (neurônio) da LSTM é mais </a:t>
            </a:r>
            <a:r>
              <a:rPr lang="pt-BR" b="1" dirty="0">
                <a:solidFill>
                  <a:srgbClr val="7030A0"/>
                </a:solidFill>
              </a:rPr>
              <a:t>complexa</a:t>
            </a:r>
            <a:r>
              <a:rPr lang="pt-BR" dirty="0"/>
              <a:t> e é chamada de </a:t>
            </a:r>
            <a:r>
              <a:rPr lang="pt-BR" b="1" dirty="0">
                <a:solidFill>
                  <a:srgbClr val="7030A0"/>
                </a:solidFill>
              </a:rPr>
              <a:t>célula</a:t>
            </a:r>
            <a:r>
              <a:rPr lang="pt-BR" dirty="0"/>
              <a:t>.</a:t>
            </a:r>
          </a:p>
          <a:p>
            <a:r>
              <a:rPr lang="pt-BR" dirty="0"/>
              <a:t>Uma célula LSTM é composta por </a:t>
            </a:r>
            <a:r>
              <a:rPr lang="pt-BR" b="1" dirty="0">
                <a:solidFill>
                  <a:schemeClr val="accent2"/>
                </a:solidFill>
              </a:rPr>
              <a:t>4 camadas totalmente conectadas</a:t>
            </a:r>
            <a:r>
              <a:rPr lang="pt-BR" dirty="0"/>
              <a:t>, que interagem entre si de uma maneira especial.</a:t>
            </a:r>
          </a:p>
          <a:p>
            <a:r>
              <a:rPr lang="pt-BR" dirty="0"/>
              <a:t>Elas </a:t>
            </a:r>
            <a:r>
              <a:rPr lang="pt-BR" b="1" dirty="0">
                <a:solidFill>
                  <a:schemeClr val="accent1"/>
                </a:solidFill>
              </a:rPr>
              <a:t>capturam padrões de longo e curto prazo</a:t>
            </a:r>
            <a:r>
              <a:rPr lang="pt-BR" dirty="0"/>
              <a:t>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2918" y="1825624"/>
            <a:ext cx="632908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LSTM possui </a:t>
            </a:r>
            <a:r>
              <a:rPr lang="pt-BR" b="1" dirty="0"/>
              <a:t>3 portas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Forget </a:t>
            </a:r>
            <a:r>
              <a:rPr lang="pt-BR" b="1" i="1" dirty="0" err="1"/>
              <a:t>gate</a:t>
            </a:r>
            <a:r>
              <a:rPr lang="pt-BR" dirty="0"/>
              <a:t> (porta de esquecimento)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Input </a:t>
            </a:r>
            <a:r>
              <a:rPr lang="pt-BR" b="1" i="1" dirty="0" err="1"/>
              <a:t>gate</a:t>
            </a:r>
            <a:r>
              <a:rPr lang="pt-BR" dirty="0"/>
              <a:t> (porta de entrada)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Output </a:t>
            </a:r>
            <a:r>
              <a:rPr lang="pt-BR" b="1" i="1" dirty="0" err="1"/>
              <a:t>gate</a:t>
            </a:r>
            <a:r>
              <a:rPr lang="pt-BR" dirty="0"/>
              <a:t> (porta de saída)</a:t>
            </a:r>
          </a:p>
          <a:p>
            <a:r>
              <a:rPr lang="pt-BR" dirty="0"/>
              <a:t>A informação na célula é </a:t>
            </a:r>
            <a:r>
              <a:rPr lang="pt-BR" b="1" dirty="0">
                <a:solidFill>
                  <a:srgbClr val="00B050"/>
                </a:solidFill>
              </a:rPr>
              <a:t>protegida e controlada</a:t>
            </a:r>
            <a:r>
              <a:rPr lang="pt-BR" dirty="0"/>
              <a:t> por meio das 3 portas.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xmlns="" id="{9B1DA347-BBC4-AE49-41A5-6D28C39A35B8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BC6A37ED-D7FF-0A9B-246C-6A1327E19771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xmlns="" id="{D841BE1E-2151-5C15-382E-E4E866E97366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9FE171E2-98E2-80BF-7246-2FA7AC491881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xmlns="" id="{B5D41BF3-5175-2D98-868F-9949FD2DD01F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5690B213-E976-D58E-3664-2CC432FE0432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6586379-E466-E661-270D-8BE5BF3F1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9580765-C6E3-77E8-073B-A8B3F6BA3C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B06E7DB-3A45-270A-379C-5B53CF58B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845" y="1825624"/>
            <a:ext cx="607715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entra na célula</a:t>
            </a:r>
            <a:r>
              <a:rPr lang="pt-BR" dirty="0"/>
              <a:t> sempre que sua </a:t>
            </a:r>
            <a:r>
              <a:rPr lang="pt-BR" b="1" dirty="0">
                <a:solidFill>
                  <a:schemeClr val="accent2"/>
                </a:solidFill>
              </a:rPr>
              <a:t>porta de entrada</a:t>
            </a:r>
            <a:r>
              <a:rPr lang="pt-BR" dirty="0"/>
              <a:t> está </a:t>
            </a:r>
            <a:r>
              <a:rPr lang="pt-BR" b="1" dirty="0">
                <a:solidFill>
                  <a:schemeClr val="accent2"/>
                </a:solidFill>
              </a:rPr>
              <a:t>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é descartada</a:t>
            </a:r>
            <a:r>
              <a:rPr lang="pt-BR" dirty="0"/>
              <a:t> da célula sempre que sua </a:t>
            </a:r>
            <a:r>
              <a:rPr lang="pt-BR" b="1" dirty="0">
                <a:solidFill>
                  <a:schemeClr val="accent2"/>
                </a:solidFill>
              </a:rPr>
              <a:t>porta de esquecimento está desligada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informação pode ser lida</a:t>
            </a:r>
            <a:r>
              <a:rPr lang="pt-BR" dirty="0"/>
              <a:t> da célula </a:t>
            </a:r>
            <a:r>
              <a:rPr lang="pt-BR" b="1" dirty="0">
                <a:solidFill>
                  <a:schemeClr val="accent2"/>
                </a:solidFill>
              </a:rPr>
              <a:t>ligando sua porta de saída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DB390354-76AE-6D7E-6109-156C51E09B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xmlns="" id="{5B538100-869E-9015-E39A-A1340D4D0515}"/>
              </a:ext>
            </a:extLst>
          </p:cNvPr>
          <p:cNvSpPr/>
          <p:nvPr/>
        </p:nvSpPr>
        <p:spPr>
          <a:xfrm>
            <a:off x="1678193" y="2893806"/>
            <a:ext cx="484094" cy="182584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45DD632F-0686-568D-5F9B-260BA967E010}"/>
              </a:ext>
            </a:extLst>
          </p:cNvPr>
          <p:cNvSpPr txBox="1"/>
          <p:nvPr/>
        </p:nvSpPr>
        <p:spPr>
          <a:xfrm>
            <a:off x="1371600" y="2361749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esquecimento</a:t>
            </a:r>
            <a:endParaRPr lang="en-US" sz="1100" dirty="0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xmlns="" id="{AA82173B-E627-D5F4-C24A-C8EFB8591AF2}"/>
              </a:ext>
            </a:extLst>
          </p:cNvPr>
          <p:cNvSpPr/>
          <p:nvPr/>
        </p:nvSpPr>
        <p:spPr>
          <a:xfrm>
            <a:off x="2259105" y="3603812"/>
            <a:ext cx="1312433" cy="11158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B738DFC6-B08A-BCAF-A6DC-558964B054EF}"/>
              </a:ext>
            </a:extLst>
          </p:cNvPr>
          <p:cNvSpPr txBox="1"/>
          <p:nvPr/>
        </p:nvSpPr>
        <p:spPr>
          <a:xfrm>
            <a:off x="2366681" y="4776881"/>
            <a:ext cx="10972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entrada</a:t>
            </a:r>
            <a:endParaRPr lang="en-US" sz="1100" dirty="0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xmlns="" id="{724DFD49-F8A1-B391-4C4D-9D392820E8F5}"/>
              </a:ext>
            </a:extLst>
          </p:cNvPr>
          <p:cNvSpPr/>
          <p:nvPr/>
        </p:nvSpPr>
        <p:spPr>
          <a:xfrm>
            <a:off x="3668355" y="3162748"/>
            <a:ext cx="1140313" cy="155690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xmlns="" id="{256C62AF-7481-CE0B-1BB2-B4A93CE957B9}"/>
              </a:ext>
            </a:extLst>
          </p:cNvPr>
          <p:cNvSpPr txBox="1"/>
          <p:nvPr/>
        </p:nvSpPr>
        <p:spPr>
          <a:xfrm>
            <a:off x="3626869" y="4820825"/>
            <a:ext cx="10972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Porta de saída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7801053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</a:t>
            </a:r>
            <a:r>
              <a:rPr lang="pt-BR" dirty="0" smtClean="0"/>
              <a:t>o estado </a:t>
            </a:r>
            <a:r>
              <a:rPr lang="pt-BR" dirty="0"/>
              <a:t>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2163" y="1825624"/>
            <a:ext cx="6186488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</a:t>
            </a:r>
            <a:r>
              <a:rPr lang="pt-BR" b="1" dirty="0">
                <a:solidFill>
                  <a:schemeClr val="accent2"/>
                </a:solidFill>
              </a:rPr>
              <a:t>fluir ao longo da célula</a:t>
            </a:r>
            <a:r>
              <a:rPr lang="pt-BR" dirty="0"/>
              <a:t> de memória </a:t>
            </a:r>
            <a:r>
              <a:rPr lang="pt-BR" b="1" dirty="0">
                <a:solidFill>
                  <a:srgbClr val="7030A0"/>
                </a:solidFill>
              </a:rPr>
              <a:t>sem sofrer alterações</a:t>
            </a:r>
            <a:r>
              <a:rPr lang="pt-BR" dirty="0" smtClean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Interações lineares.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Mitiga o desaparecimento do gradiente.</a:t>
            </a:r>
            <a:endParaRPr lang="pt-BR" dirty="0"/>
          </a:p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informação</a:t>
            </a:r>
            <a:r>
              <a:rPr lang="pt-BR" dirty="0"/>
              <a:t> pode ser </a:t>
            </a:r>
            <a:r>
              <a:rPr lang="pt-BR" b="1" dirty="0">
                <a:solidFill>
                  <a:schemeClr val="accent2"/>
                </a:solidFill>
              </a:rPr>
              <a:t>removida</a:t>
            </a:r>
            <a:r>
              <a:rPr lang="pt-BR" dirty="0"/>
              <a:t> ou </a:t>
            </a:r>
            <a:r>
              <a:rPr lang="pt-BR" b="1" dirty="0">
                <a:solidFill>
                  <a:schemeClr val="accent2"/>
                </a:solidFill>
              </a:rPr>
              <a:t>gravada</a:t>
            </a:r>
            <a:r>
              <a:rPr lang="pt-BR" dirty="0"/>
              <a:t> na célula de </a:t>
            </a:r>
            <a:r>
              <a:rPr lang="pt-BR" dirty="0" smtClean="0"/>
              <a:t>memória </a:t>
            </a:r>
            <a:r>
              <a:rPr lang="pt-BR" b="1" dirty="0" smtClean="0">
                <a:solidFill>
                  <a:srgbClr val="7030A0"/>
                </a:solidFill>
              </a:rPr>
              <a:t>regulando-se </a:t>
            </a:r>
            <a:r>
              <a:rPr lang="pt-BR" b="1" dirty="0" smtClean="0">
                <a:solidFill>
                  <a:srgbClr val="7030A0"/>
                </a:solidFill>
              </a:rPr>
              <a:t>as </a:t>
            </a:r>
            <a:r>
              <a:rPr lang="pt-BR" b="1" dirty="0" smtClean="0">
                <a:solidFill>
                  <a:srgbClr val="7030A0"/>
                </a:solidFill>
              </a:rPr>
              <a:t>portas</a:t>
            </a:r>
            <a:r>
              <a:rPr lang="pt-BR" dirty="0"/>
              <a:t>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80" y="2513639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</a:t>
            </a:r>
            <a:r>
              <a:rPr lang="pt-BR" dirty="0" smtClean="0"/>
              <a:t>o estado </a:t>
            </a:r>
            <a:r>
              <a:rPr lang="pt-BR" dirty="0"/>
              <a:t>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A3812A4-BB08-CF51-52EF-8F212B136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8037" y="1825624"/>
            <a:ext cx="6933963" cy="5032375"/>
          </a:xfrm>
        </p:spPr>
        <p:txBody>
          <a:bodyPr>
            <a:normAutofit/>
          </a:bodyPr>
          <a:lstStyle/>
          <a:p>
            <a:r>
              <a:rPr lang="pt-BR" dirty="0"/>
              <a:t>As portas são uma forma de </a:t>
            </a:r>
            <a:r>
              <a:rPr lang="pt-BR" b="1" dirty="0">
                <a:solidFill>
                  <a:srgbClr val="7030A0"/>
                </a:solidFill>
              </a:rPr>
              <a:t>permitir opcionalmente</a:t>
            </a:r>
            <a:r>
              <a:rPr lang="pt-BR" dirty="0"/>
              <a:t> a </a:t>
            </a:r>
            <a:r>
              <a:rPr lang="pt-BR" b="1" dirty="0">
                <a:solidFill>
                  <a:srgbClr val="00B050"/>
                </a:solidFill>
              </a:rPr>
              <a:t>passagem de informações</a:t>
            </a:r>
            <a:r>
              <a:rPr lang="pt-BR" dirty="0"/>
              <a:t>.</a:t>
            </a:r>
          </a:p>
          <a:p>
            <a:r>
              <a:rPr lang="pt-BR" dirty="0"/>
              <a:t>Por exemplo, uma camada densa com função de ativação sigmoide gera valores entre 0 e 1.</a:t>
            </a:r>
          </a:p>
          <a:p>
            <a:r>
              <a:rPr lang="pt-BR" dirty="0"/>
              <a:t>Uma </a:t>
            </a:r>
            <a:r>
              <a:rPr lang="pt-BR" b="1" dirty="0">
                <a:solidFill>
                  <a:schemeClr val="accent2"/>
                </a:solidFill>
              </a:rPr>
              <a:t>operação de multiplicação elemento a elemento</a:t>
            </a:r>
            <a:r>
              <a:rPr lang="pt-BR" dirty="0"/>
              <a:t> decide o quanto da entrada passar.</a:t>
            </a:r>
          </a:p>
          <a:p>
            <a:r>
              <a:rPr lang="pt-BR" dirty="0"/>
              <a:t>Com isso a porta decide (</a:t>
            </a:r>
            <a:r>
              <a:rPr lang="pt-BR" b="1" dirty="0">
                <a:solidFill>
                  <a:srgbClr val="00B050"/>
                </a:solidFill>
              </a:rPr>
              <a:t>aprende</a:t>
            </a:r>
            <a:r>
              <a:rPr lang="pt-BR" dirty="0"/>
              <a:t>) o quanto de cada elemento deve ser permitido passar.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xmlns="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xmlns="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xmlns="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xmlns="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xmlns="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95C087-743B-C7CF-BE89-B5D6C3962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E915137-761A-DF31-B5AF-A324F7C30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</a:t>
            </a:r>
            <a:r>
              <a:rPr lang="pt-BR" dirty="0" smtClean="0"/>
              <a:t>o estado </a:t>
            </a:r>
            <a:r>
              <a:rPr lang="pt-BR" dirty="0"/>
              <a:t>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006F197-D087-7D0F-80F1-D4BCF89B7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entre 0 e 1, onde: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1 significa “aberto”.</a:t>
                </a:r>
              </a:p>
              <a:p>
                <a:r>
                  <a:rPr lang="pt-BR" dirty="0"/>
                  <a:t>Resumindo,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“filtra”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a informação</a:t>
                </a:r>
                <a:r>
                  <a:rPr lang="pt-BR" dirty="0"/>
                  <a:t>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06F197-D087-7D0F-80F1-D4BCF89B7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58037" y="1825624"/>
                <a:ext cx="6933963" cy="5032375"/>
              </a:xfrm>
              <a:blipFill>
                <a:blip r:embed="rId3"/>
                <a:stretch>
                  <a:fillRect l="-158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8F49F13-A23B-6EF7-D9E0-57F230B27E4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xmlns="" id="{1A36C67E-2EAB-F79C-D505-DE79D767793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xmlns="" id="{F887BFCD-6D50-ACA8-946F-28EDF6FF4E02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xmlns="" id="{435936FD-C97F-B176-82F3-FD34E8A9ECCF}"/>
              </a:ext>
            </a:extLst>
          </p:cNvPr>
          <p:cNvGraphicFramePr>
            <a:graphicFrameLocks noGrp="1"/>
          </p:cNvGraphicFramePr>
          <p:nvPr/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AA400603-03D8-6D82-0212-139747E4B31D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xmlns="" id="{11939FB0-0AA3-25B0-B525-F0D1DAB311A5}"/>
              </a:ext>
            </a:extLst>
          </p:cNvPr>
          <p:cNvGraphicFramePr>
            <a:graphicFrameLocks noGrp="1"/>
          </p:cNvGraphicFramePr>
          <p:nvPr/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xmlns="" id="{C4B4D6A2-75FA-8B46-5F44-282DBA566656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8FC98C86-8C6F-A5B7-34CD-39F2F88063D8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95AAF2C3-7FC3-BC24-A1B1-38A5EE18C5BA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14398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Estados da célula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Uma célula LSTM possui dois estados: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o estado oculto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a memória de longo prazo.</a:t>
                </a:r>
              </a:p>
              <a:p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memória de curto prazo e saída atual da célula.</a:t>
                </a:r>
              </a:p>
              <a:p>
                <a:r>
                  <a:rPr lang="pt-BR" dirty="0"/>
                  <a:t>A célula modifica 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apenas por meio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célula </a:t>
                </a:r>
                <a:r>
                  <a:rPr lang="pt-BR" b="1" dirty="0">
                    <a:solidFill>
                      <a:srgbClr val="00B050"/>
                    </a:solidFill>
                  </a:rPr>
                  <a:t>decide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o quanto </a:t>
                </a:r>
                <a:r>
                  <a:rPr lang="pt-BR" b="1" dirty="0">
                    <a:solidFill>
                      <a:srgbClr val="00B050"/>
                    </a:solidFill>
                  </a:rPr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revelar/mostrar</a:t>
                </a:r>
                <a:r>
                  <a:rPr lang="pt-BR" dirty="0" smtClean="0"/>
                  <a:t> </a:t>
                </a:r>
                <a:r>
                  <a:rPr lang="pt-BR" dirty="0"/>
                  <a:t>usando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porta de saída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23280" y="1825624"/>
                <a:ext cx="6668721" cy="5032375"/>
              </a:xfrm>
              <a:blipFill rotWithShape="0">
                <a:blip r:embed="rId2"/>
                <a:stretch>
                  <a:fillRect l="-1645" t="-2663" r="-13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67" y="2281509"/>
            <a:ext cx="5131773" cy="3158867"/>
          </a:xfrm>
          <a:prstGeom prst="rect">
            <a:avLst/>
          </a:prstGeom>
        </p:spPr>
      </p:pic>
      <p:sp>
        <p:nvSpPr>
          <p:cNvPr id="4" name="TextBox 7">
            <a:extLst>
              <a:ext uri="{FF2B5EF4-FFF2-40B4-BE49-F238E27FC236}">
                <a16:creationId xmlns:a16="http://schemas.microsoft.com/office/drawing/2014/main" xmlns="" id="{08B4F401-8089-55FA-9674-E0D136960DBF}"/>
              </a:ext>
            </a:extLst>
          </p:cNvPr>
          <p:cNvSpPr txBox="1"/>
          <p:nvPr/>
        </p:nvSpPr>
        <p:spPr>
          <a:xfrm>
            <a:off x="0" y="6550222"/>
            <a:ext cx="4763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importante, pois minimiza o desaparecimento do gradiente.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09130" y="1825624"/>
                <a:ext cx="6382872" cy="5032375"/>
              </a:xfrm>
              <a:blipFill>
                <a:blip r:embed="rId3"/>
                <a:stretch>
                  <a:fillRect l="-1719" t="-2663" r="-1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:a16="http://schemas.microsoft.com/office/drawing/2014/main" xmlns="" id="{BCAB297B-CDDB-7EF5-2A7E-0434E34079D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183" y="2387448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100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xmlns="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Como </a:t>
            </a:r>
            <a:r>
              <a:rPr lang="pt-BR" sz="6000" dirty="0" err="1"/>
              <a:t>LSTMs</a:t>
            </a:r>
            <a:r>
              <a:rPr lang="pt-BR" sz="6000" dirty="0"/>
              <a:t> e </a:t>
            </a:r>
            <a:r>
              <a:rPr lang="pt-BR" sz="6000" dirty="0" err="1"/>
              <a:t>GRUs</a:t>
            </a:r>
            <a:r>
              <a:rPr lang="pt-BR" sz="6000" dirty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xmlns="" id="{BA697ABF-3D68-0137-7426-7AD16763889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xmlns="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xmlns="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xmlns="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xmlns="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xmlns="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xmlns="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xmlns="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 gramatical de cada palavra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e </a:t>
            </a:r>
            <a:r>
              <a:rPr lang="pt-BR" dirty="0" err="1"/>
              <a:t>chatbots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798C9BC5-15E8-FB86-A2FF-03CF2C96CB13}"/>
              </a:ext>
            </a:extLst>
          </p:cNvPr>
          <p:cNvSpPr/>
          <p:nvPr/>
        </p:nvSpPr>
        <p:spPr>
          <a:xfrm>
            <a:off x="2913321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63577D96-6FE7-F60B-ED7E-0CE5B6852522}"/>
              </a:ext>
            </a:extLst>
          </p:cNvPr>
          <p:cNvSpPr/>
          <p:nvPr/>
        </p:nvSpPr>
        <p:spPr>
          <a:xfrm>
            <a:off x="3703675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C8E04DD1-F3A6-5114-B79F-4BC65F8FEA96}"/>
              </a:ext>
            </a:extLst>
          </p:cNvPr>
          <p:cNvSpPr/>
          <p:nvPr/>
        </p:nvSpPr>
        <p:spPr>
          <a:xfrm>
            <a:off x="4488712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3306726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4097080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8EBFA63A-7A7F-C301-161E-58CB3778B150}"/>
              </a:ext>
            </a:extLst>
          </p:cNvPr>
          <p:cNvSpPr/>
          <p:nvPr/>
        </p:nvSpPr>
        <p:spPr>
          <a:xfrm>
            <a:off x="2900031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C88EB1AD-6975-BCC1-C82D-8CF2AB176F0A}"/>
              </a:ext>
            </a:extLst>
          </p:cNvPr>
          <p:cNvCxnSpPr>
            <a:endCxn id="8" idx="2"/>
          </p:cNvCxnSpPr>
          <p:nvPr/>
        </p:nvCxnSpPr>
        <p:spPr>
          <a:xfrm flipV="1">
            <a:off x="3096733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70E72-E9CD-203F-5D6D-CD2520CE5E69}"/>
              </a:ext>
            </a:extLst>
          </p:cNvPr>
          <p:cNvSpPr/>
          <p:nvPr/>
        </p:nvSpPr>
        <p:spPr>
          <a:xfrm>
            <a:off x="3690383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DFFB94F9-963A-CC29-C51E-098A134A1737}"/>
              </a:ext>
            </a:extLst>
          </p:cNvPr>
          <p:cNvSpPr/>
          <p:nvPr/>
        </p:nvSpPr>
        <p:spPr>
          <a:xfrm>
            <a:off x="4475421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3887086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4672124" y="2910146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F078DBB0-1AC8-EAEA-D2B3-81EBA1BC73AB}"/>
              </a:ext>
            </a:extLst>
          </p:cNvPr>
          <p:cNvSpPr/>
          <p:nvPr/>
        </p:nvSpPr>
        <p:spPr>
          <a:xfrm>
            <a:off x="1324640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7B7F1159-D526-3036-9F30-22158503DAFC}"/>
              </a:ext>
            </a:extLst>
          </p:cNvPr>
          <p:cNvSpPr/>
          <p:nvPr/>
        </p:nvSpPr>
        <p:spPr>
          <a:xfrm>
            <a:off x="2114994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1718045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xmlns="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2508399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xmlns="" id="{5D3FFC8E-6BAF-6DF7-526E-C081A5A48F93}"/>
              </a:ext>
            </a:extLst>
          </p:cNvPr>
          <p:cNvSpPr/>
          <p:nvPr/>
        </p:nvSpPr>
        <p:spPr>
          <a:xfrm>
            <a:off x="1320651" y="495037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xmlns="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1517354" y="4468092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xmlns="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xmlns="" id="{61795796-1CB2-CAB5-F67E-063C07C2A635}"/>
              </a:ext>
            </a:extLst>
          </p:cNvPr>
          <p:cNvSpPr/>
          <p:nvPr/>
        </p:nvSpPr>
        <p:spPr>
          <a:xfrm>
            <a:off x="2114994" y="4980504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xmlns="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xmlns="" id="{C5443291-1F22-B419-C44A-99E58D94E756}"/>
              </a:ext>
            </a:extLst>
          </p:cNvPr>
          <p:cNvSpPr/>
          <p:nvPr/>
        </p:nvSpPr>
        <p:spPr>
          <a:xfrm>
            <a:off x="2913320" y="494151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xmlns="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xmlns="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2311697" y="4468092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xmlns="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3110023" y="4468092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xmlns="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xmlns="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xmlns="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BDBFA4-777B-82AF-1A9B-F48A28DB9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382B2D82-0D27-C941-539F-498F105E3DA0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F055540-C990-1A9A-9C94-41EB929A64A7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042FA5CD-9CE3-87BD-4B6D-3A2AA78339A7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2F14954C-7EC0-B9F4-6F9E-53AC300DD5FF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7DA2C43F-1B49-FEC7-FAE7-A0ACA4D4234B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xmlns="" id="{2029031C-EE39-DC4A-38B6-6AB3AA7D2240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xmlns="" id="{9C4F7EB3-D0C6-9F8D-7706-7CD68BAC8D89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D5082C2A-8327-CEDD-4900-C2D931D47946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802244E2-BFC4-2AD6-2773-81CB8869D482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802244E2-BFC4-2AD6-2773-81CB8869D4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4A43B19B-1AF9-B52D-782E-9684B3C10C01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CFEE0C87-5541-88B8-CF13-7700BB245BE2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A3B9126E-856B-A481-2BDC-2BCDB3E8C46B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4B365E45-03C9-2E0C-E041-90FBE73656A7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0F1A1930-40E8-C197-F80E-372AB039654C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A68586CC-B615-4023-89FD-BE8617ECB8DA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1722F0A-10F9-92E8-89F5-5A6C1427DC3A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65341A0C-7341-971A-6542-8F7BD907C5F2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1479DF22-88BC-7AF2-D47B-E7EDAA7CB1FB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29FB4D8B-3A52-D2C4-EB21-AFAB1BD12521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E891D50-0373-CCDA-A4D1-7C229656E91C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xmlns="" id="{45D6AF3B-B78D-5F77-466B-A91F78E4DCA6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Agrupar 49">
            <a:extLst>
              <a:ext uri="{FF2B5EF4-FFF2-40B4-BE49-F238E27FC236}">
                <a16:creationId xmlns:a16="http://schemas.microsoft.com/office/drawing/2014/main" xmlns="" id="{68106E7F-C424-D8F9-32BD-AB1D97C0EBF4}"/>
              </a:ext>
            </a:extLst>
          </p:cNvPr>
          <p:cNvGrpSpPr/>
          <p:nvPr/>
        </p:nvGrpSpPr>
        <p:grpSpPr>
          <a:xfrm>
            <a:off x="7876500" y="320782"/>
            <a:ext cx="2259869" cy="5225594"/>
            <a:chOff x="7876500" y="320782"/>
            <a:chExt cx="2259869" cy="522559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xmlns="" id="{76A85B48-7380-2CCD-FF64-7ADAA61C49CD}"/>
                    </a:ext>
                  </a:extLst>
                </p:cNvPr>
                <p:cNvSpPr/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Rectangle 4">
                  <a:extLst>
                    <a:ext uri="{FF2B5EF4-FFF2-40B4-BE49-F238E27FC236}">
                      <a16:creationId xmlns:a16="http://schemas.microsoft.com/office/drawing/2014/main" id="{76A85B48-7380-2CCD-FF64-7ADAA61C49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02735" y="1601766"/>
                  <a:ext cx="468000" cy="477825"/>
                </a:xfrm>
                <a:prstGeom prst="rect">
                  <a:avLst/>
                </a:prstGeom>
                <a:blipFill>
                  <a:blip r:embed="rId11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xmlns="" id="{381AC555-FEB7-CFA8-583A-EFB748428BC7}"/>
                    </a:ext>
                  </a:extLst>
                </p:cNvPr>
                <p:cNvSpPr/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Rectangle 5">
                  <a:extLst>
                    <a:ext uri="{FF2B5EF4-FFF2-40B4-BE49-F238E27FC236}">
                      <a16:creationId xmlns:a16="http://schemas.microsoft.com/office/drawing/2014/main" id="{381AC555-FEB7-CFA8-583A-EFB748428B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6203" y="4427424"/>
                  <a:ext cx="468000" cy="477825"/>
                </a:xfrm>
                <a:prstGeom prst="rect">
                  <a:avLst/>
                </a:prstGeom>
                <a:blipFill>
                  <a:blip r:embed="rId12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xmlns="" id="{81A71E86-23EC-43BE-4CDC-F69180FEC82F}"/>
                    </a:ext>
                  </a:extLst>
                </p:cNvPr>
                <p:cNvSpPr/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Rectangle 6">
                  <a:extLst>
                    <a:ext uri="{FF2B5EF4-FFF2-40B4-BE49-F238E27FC236}">
                      <a16:creationId xmlns:a16="http://schemas.microsoft.com/office/drawing/2014/main" id="{81A71E86-23EC-43BE-4CDC-F69180FEC8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1297" y="3120058"/>
                  <a:ext cx="468000" cy="477825"/>
                </a:xfrm>
                <a:prstGeom prst="rect">
                  <a:avLst/>
                </a:prstGeom>
                <a:blipFill>
                  <a:blip r:embed="rId13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Oval 7">
              <a:extLst>
                <a:ext uri="{FF2B5EF4-FFF2-40B4-BE49-F238E27FC236}">
                  <a16:creationId xmlns:a16="http://schemas.microsoft.com/office/drawing/2014/main" xmlns="" id="{CA988B7A-1B0B-82F5-9415-E8E6402D7314}"/>
                </a:ext>
              </a:extLst>
            </p:cNvPr>
            <p:cNvSpPr/>
            <p:nvPr/>
          </p:nvSpPr>
          <p:spPr>
            <a:xfrm>
              <a:off x="7925595" y="320782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28" name="Oval 8">
              <a:extLst>
                <a:ext uri="{FF2B5EF4-FFF2-40B4-BE49-F238E27FC236}">
                  <a16:creationId xmlns:a16="http://schemas.microsoft.com/office/drawing/2014/main" xmlns="" id="{AAE1E49D-9B08-0B79-5467-F9E05E71413E}"/>
                </a:ext>
              </a:extLst>
            </p:cNvPr>
            <p:cNvSpPr/>
            <p:nvPr/>
          </p:nvSpPr>
          <p:spPr>
            <a:xfrm>
              <a:off x="7917975" y="313843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9" name="Oval 9">
              <a:extLst>
                <a:ext uri="{FF2B5EF4-FFF2-40B4-BE49-F238E27FC236}">
                  <a16:creationId xmlns:a16="http://schemas.microsoft.com/office/drawing/2014/main" xmlns="" id="{B8BE4B74-3C6A-2E82-FCA0-6556493DD525}"/>
                </a:ext>
              </a:extLst>
            </p:cNvPr>
            <p:cNvSpPr/>
            <p:nvPr/>
          </p:nvSpPr>
          <p:spPr>
            <a:xfrm>
              <a:off x="7917975" y="5105306"/>
              <a:ext cx="432000" cy="44107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xmlns="" id="{C3D54E13-140B-5E52-0B82-E85F5AEF036A}"/>
                    </a:ext>
                  </a:extLst>
                </p:cNvPr>
                <p:cNvSpPr/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0" name="Diamond 10">
                  <a:extLst>
                    <a:ext uri="{FF2B5EF4-FFF2-40B4-BE49-F238E27FC236}">
                      <a16:creationId xmlns:a16="http://schemas.microsoft.com/office/drawing/2014/main" id="{C3D54E13-140B-5E52-0B82-E85F5AEF03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3479" y="2419022"/>
                  <a:ext cx="546518" cy="477825"/>
                </a:xfrm>
                <a:prstGeom prst="diamond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xmlns="" id="{3A515DFD-2273-43CA-BC90-55C35DE12AE2}"/>
                    </a:ext>
                  </a:extLst>
                </p:cNvPr>
                <p:cNvSpPr/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11">
                  <a:extLst>
                    <a:ext uri="{FF2B5EF4-FFF2-40B4-BE49-F238E27FC236}">
                      <a16:creationId xmlns:a16="http://schemas.microsoft.com/office/drawing/2014/main" id="{3A515DFD-2273-43CA-BC90-55C35DE12A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31" y="3786298"/>
                  <a:ext cx="432000" cy="441070"/>
                </a:xfrm>
                <a:prstGeom prst="ellipse">
                  <a:avLst/>
                </a:prstGeom>
                <a:blipFill>
                  <a:blip r:embed="rId15"/>
                  <a:stretch>
                    <a:fillRect l="-2778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12">
              <a:extLst>
                <a:ext uri="{FF2B5EF4-FFF2-40B4-BE49-F238E27FC236}">
                  <a16:creationId xmlns:a16="http://schemas.microsoft.com/office/drawing/2014/main" xmlns="" id="{4C7F79EF-BDDD-A3E9-801D-ECB66DFEA188}"/>
                </a:ext>
              </a:extLst>
            </p:cNvPr>
            <p:cNvCxnSpPr>
              <a:stCxn id="29" idx="0"/>
              <a:endCxn id="4" idx="2"/>
            </p:cNvCxnSpPr>
            <p:nvPr/>
          </p:nvCxnSpPr>
          <p:spPr>
            <a:xfrm flipH="1" flipV="1">
              <a:off x="8130203" y="4905250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13">
              <a:extLst>
                <a:ext uri="{FF2B5EF4-FFF2-40B4-BE49-F238E27FC236}">
                  <a16:creationId xmlns:a16="http://schemas.microsoft.com/office/drawing/2014/main" xmlns="" id="{B5CF0874-65C0-A04C-D46E-1D31438CA4BA}"/>
                </a:ext>
              </a:extLst>
            </p:cNvPr>
            <p:cNvCxnSpPr/>
            <p:nvPr/>
          </p:nvCxnSpPr>
          <p:spPr>
            <a:xfrm flipH="1" flipV="1">
              <a:off x="8133975" y="4227367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Arrow Connector 14">
              <a:extLst>
                <a:ext uri="{FF2B5EF4-FFF2-40B4-BE49-F238E27FC236}">
                  <a16:creationId xmlns:a16="http://schemas.microsoft.com/office/drawing/2014/main" xmlns="" id="{B7FC0459-C9D3-5EC5-CA8E-F63D1801A265}"/>
                </a:ext>
              </a:extLst>
            </p:cNvPr>
            <p:cNvCxnSpPr/>
            <p:nvPr/>
          </p:nvCxnSpPr>
          <p:spPr>
            <a:xfrm flipH="1" flipV="1">
              <a:off x="8130203" y="3586241"/>
              <a:ext cx="3772" cy="2000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15">
              <a:extLst>
                <a:ext uri="{FF2B5EF4-FFF2-40B4-BE49-F238E27FC236}">
                  <a16:creationId xmlns:a16="http://schemas.microsoft.com/office/drawing/2014/main" xmlns="" id="{62627B63-6154-491C-CEF1-B37C66D42BAF}"/>
                </a:ext>
              </a:extLst>
            </p:cNvPr>
            <p:cNvCxnSpPr>
              <a:stCxn id="28" idx="0"/>
              <a:endCxn id="3" idx="2"/>
            </p:cNvCxnSpPr>
            <p:nvPr/>
          </p:nvCxnSpPr>
          <p:spPr>
            <a:xfrm flipV="1">
              <a:off x="8133975" y="2079591"/>
              <a:ext cx="2760" cy="105884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Connector: Elbow 16">
              <a:extLst>
                <a:ext uri="{FF2B5EF4-FFF2-40B4-BE49-F238E27FC236}">
                  <a16:creationId xmlns:a16="http://schemas.microsoft.com/office/drawing/2014/main" xmlns="" id="{3519258D-B8C1-DE2B-9AB3-D478E3C893D8}"/>
                </a:ext>
              </a:extLst>
            </p:cNvPr>
            <p:cNvCxnSpPr>
              <a:stCxn id="30" idx="3"/>
              <a:endCxn id="21" idx="0"/>
            </p:cNvCxnSpPr>
            <p:nvPr/>
          </p:nvCxnSpPr>
          <p:spPr>
            <a:xfrm>
              <a:off x="8959997" y="2657934"/>
              <a:ext cx="185300" cy="462124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17">
              <a:extLst>
                <a:ext uri="{FF2B5EF4-FFF2-40B4-BE49-F238E27FC236}">
                  <a16:creationId xmlns:a16="http://schemas.microsoft.com/office/drawing/2014/main" xmlns="" id="{9079B4A8-8566-C8E3-FD26-1AD2E579A563}"/>
                </a:ext>
              </a:extLst>
            </p:cNvPr>
            <p:cNvCxnSpPr>
              <a:stCxn id="30" idx="1"/>
            </p:cNvCxnSpPr>
            <p:nvPr/>
          </p:nvCxnSpPr>
          <p:spPr>
            <a:xfrm flipH="1">
              <a:off x="8146675" y="265793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Connector: Elbow 18">
              <a:extLst>
                <a:ext uri="{FF2B5EF4-FFF2-40B4-BE49-F238E27FC236}">
                  <a16:creationId xmlns:a16="http://schemas.microsoft.com/office/drawing/2014/main" xmlns="" id="{FB5A9D70-A6BA-5543-5036-B306037D4314}"/>
                </a:ext>
              </a:extLst>
            </p:cNvPr>
            <p:cNvCxnSpPr>
              <a:cxnSpLocks/>
              <a:stCxn id="21" idx="2"/>
              <a:endCxn id="31" idx="6"/>
            </p:cNvCxnSpPr>
            <p:nvPr/>
          </p:nvCxnSpPr>
          <p:spPr>
            <a:xfrm rot="5400000">
              <a:off x="8539389" y="3400925"/>
              <a:ext cx="408949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19">
              <a:extLst>
                <a:ext uri="{FF2B5EF4-FFF2-40B4-BE49-F238E27FC236}">
                  <a16:creationId xmlns:a16="http://schemas.microsoft.com/office/drawing/2014/main" xmlns="" id="{165E681B-13AF-F55B-80BE-0268B15154D6}"/>
                </a:ext>
              </a:extLst>
            </p:cNvPr>
            <p:cNvCxnSpPr>
              <a:cxnSpLocks/>
              <a:stCxn id="3" idx="0"/>
              <a:endCxn id="44" idx="4"/>
            </p:cNvCxnSpPr>
            <p:nvPr/>
          </p:nvCxnSpPr>
          <p:spPr>
            <a:xfrm flipV="1">
              <a:off x="8136735" y="1376596"/>
              <a:ext cx="3848" cy="22517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xmlns="" id="{D1348BBD-068C-A363-3005-B1289B8D89CD}"/>
                    </a:ext>
                  </a:extLst>
                </p:cNvPr>
                <p:cNvSpPr txBox="1"/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0" name="TextBox 21">
                  <a:extLst>
                    <a:ext uri="{FF2B5EF4-FFF2-40B4-BE49-F238E27FC236}">
                      <a16:creationId xmlns:a16="http://schemas.microsoft.com/office/drawing/2014/main" id="{D1348BBD-068C-A363-3005-B1289B8D89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5191" y="332534"/>
                  <a:ext cx="578748" cy="377086"/>
                </a:xfrm>
                <a:prstGeom prst="rect">
                  <a:avLst/>
                </a:prstGeom>
                <a:blipFill>
                  <a:blip r:embed="rId16"/>
                  <a:stretch>
                    <a:fillRect l="-4211" t="-6557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xmlns="" id="{61AF4ACA-82A7-38B5-1AA0-CF7EA98E07ED}"/>
                    </a:ext>
                  </a:extLst>
                </p:cNvPr>
                <p:cNvSpPr txBox="1"/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1" name="TextBox 22">
                  <a:extLst>
                    <a:ext uri="{FF2B5EF4-FFF2-40B4-BE49-F238E27FC236}">
                      <a16:creationId xmlns:a16="http://schemas.microsoft.com/office/drawing/2014/main" id="{61AF4ACA-82A7-38B5-1AA0-CF7EA98E07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6500" y="5140585"/>
                  <a:ext cx="578748" cy="377086"/>
                </a:xfrm>
                <a:prstGeom prst="rect">
                  <a:avLst/>
                </a:prstGeom>
                <a:blipFill>
                  <a:blip r:embed="rId17"/>
                  <a:stretch>
                    <a:fillRect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xmlns="" id="{566E3115-AE91-024B-A6A4-0767F86DE0D5}"/>
                    </a:ext>
                  </a:extLst>
                </p:cNvPr>
                <p:cNvSpPr txBox="1"/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2" name="TextBox 23">
                  <a:extLst>
                    <a:ext uri="{FF2B5EF4-FFF2-40B4-BE49-F238E27FC236}">
                      <a16:creationId xmlns:a16="http://schemas.microsoft.com/office/drawing/2014/main" id="{566E3115-AE91-024B-A6A4-0767F86DE0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80288" y="3159159"/>
                  <a:ext cx="578748" cy="377086"/>
                </a:xfrm>
                <a:prstGeom prst="rect">
                  <a:avLst/>
                </a:prstGeom>
                <a:blipFill>
                  <a:blip r:embed="rId18"/>
                  <a:stretch>
                    <a:fillRect l="-4211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xmlns="" id="{9E370B18-E5BE-A9AC-F9B6-139BB6C7D877}"/>
                    </a:ext>
                  </a:extLst>
                </p:cNvPr>
                <p:cNvSpPr txBox="1"/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43" name="TextBox 24">
                  <a:extLst>
                    <a:ext uri="{FF2B5EF4-FFF2-40B4-BE49-F238E27FC236}">
                      <a16:creationId xmlns:a16="http://schemas.microsoft.com/office/drawing/2014/main" id="{9E370B18-E5BE-A9AC-F9B6-139BB6C7D8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1676" y="2667884"/>
                  <a:ext cx="984693" cy="377086"/>
                </a:xfrm>
                <a:prstGeom prst="rect">
                  <a:avLst/>
                </a:prstGeom>
                <a:blipFill>
                  <a:blip r:embed="rId19"/>
                  <a:stretch>
                    <a:fillRect l="-2469" b="-1290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xmlns="" id="{7A4582A7-DB9A-8D9D-8E97-BCEC8C6FBEEA}"/>
                    </a:ext>
                  </a:extLst>
                </p:cNvPr>
                <p:cNvSpPr/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Oval 11">
                  <a:extLst>
                    <a:ext uri="{FF2B5EF4-FFF2-40B4-BE49-F238E27FC236}">
                      <a16:creationId xmlns:a16="http://schemas.microsoft.com/office/drawing/2014/main" id="{7A4582A7-DB9A-8D9D-8E97-BCEC8C6FB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583" y="935526"/>
                  <a:ext cx="432000" cy="441070"/>
                </a:xfrm>
                <a:prstGeom prst="ellipse">
                  <a:avLst/>
                </a:prstGeom>
                <a:blipFill>
                  <a:blip r:embed="rId20"/>
                  <a:stretch>
                    <a:fillRect l="-1389" r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19">
              <a:extLst>
                <a:ext uri="{FF2B5EF4-FFF2-40B4-BE49-F238E27FC236}">
                  <a16:creationId xmlns:a16="http://schemas.microsoft.com/office/drawing/2014/main" xmlns="" id="{08F3B26B-77C0-F7A6-9D1B-EFA91EC5706D}"/>
                </a:ext>
              </a:extLst>
            </p:cNvPr>
            <p:cNvCxnSpPr>
              <a:cxnSpLocks/>
              <a:stCxn id="44" idx="0"/>
              <a:endCxn id="27" idx="4"/>
            </p:cNvCxnSpPr>
            <p:nvPr/>
          </p:nvCxnSpPr>
          <p:spPr>
            <a:xfrm flipV="1">
              <a:off x="8140583" y="761852"/>
              <a:ext cx="1012" cy="17367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539553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xmlns="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xmlns="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xmlns="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xmlns="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xmlns="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xmlns="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xmlns="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xmlns="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xmlns="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xmlns="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xmlns="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xmlns="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xmlns="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xmlns="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xmlns="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xmlns="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xmlns="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xmlns="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xmlns="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xmlns="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xmlns="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xmlns="" id="{F843DECB-C956-D955-D499-DD22189CE5D6}"/>
              </a:ext>
            </a:extLst>
          </p:cNvPr>
          <p:cNvSpPr/>
          <p:nvPr/>
        </p:nvSpPr>
        <p:spPr>
          <a:xfrm>
            <a:off x="948207" y="2169156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xmlns="" id="{7C21CDDD-60F4-254E-D0B1-DD9880058CAE}"/>
              </a:ext>
            </a:extLst>
          </p:cNvPr>
          <p:cNvSpPr/>
          <p:nvPr/>
        </p:nvSpPr>
        <p:spPr>
          <a:xfrm>
            <a:off x="1982349" y="3410126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xmlns="" id="{9EE18230-BCFC-D646-9600-19C5BBE32E49}"/>
                  </a:ext>
                </a:extLst>
              </p:cNvPr>
              <p:cNvSpPr/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xmlns="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1444515" y="3483606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xmlns="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894030" y="1839863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xmlns="" id="{F93040B1-005E-00D0-E6E7-AFB3E1CDFC40}"/>
                  </a:ext>
                </a:extLst>
              </p:cNvPr>
              <p:cNvSpPr/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xmlns="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3801978" y="1744614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xmlns="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633880" y="2403198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xmlns="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xmlns="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xmlns="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xmlns="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xmlns="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xmlns="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xmlns="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xmlns="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xmlns="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xmlns="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xmlns="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xmlns="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xmlns="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xmlns="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xmlns="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xmlns="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xmlns="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xmlns="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xmlns="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xmlns="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xmlns="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xmlns="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xmlns="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xmlns="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xmlns="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xmlns="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xmlns="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xmlns="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xmlns="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xmlns="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xmlns="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xmlns="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xmlns="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xmlns="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xmlns="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xmlns="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xmlns="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xmlns="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xmlns="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xmlns="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xmlns="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xmlns="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xmlns="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xmlns="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xmlns="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xmlns="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xmlns="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xmlns="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xmlns="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xmlns="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xmlns="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xmlns="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xmlns="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xmlns="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xmlns="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xmlns="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xmlns="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xmlns="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xmlns="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xmlns="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xmlns="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xmlns="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xmlns="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xmlns="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xmlns="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xmlns="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xmlns="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xmlns="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xmlns="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xmlns="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xmlns="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xmlns="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xmlns="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xmlns="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xmlns="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xmlns="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xmlns="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xmlns="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xmlns="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xmlns="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xmlns="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xmlns="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xmlns="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xmlns="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xmlns="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xmlns="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xmlns="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xmlns="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xmlns="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xmlns="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xmlns="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xmlns="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xmlns="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xmlns="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xmlns="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xmlns="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xmlns="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xmlns="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xmlns="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xmlns="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xmlns="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xmlns="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xmlns="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xmlns="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xmlns="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xmlns="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xmlns="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xmlns="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xmlns="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xmlns="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xmlns="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xmlns="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9731</TotalTime>
  <Words>3691</Words>
  <Application>Microsoft Office PowerPoint</Application>
  <PresentationFormat>Widescreen</PresentationFormat>
  <Paragraphs>869</Paragraphs>
  <Slides>81</Slides>
  <Notes>46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81</vt:i4>
      </vt:variant>
    </vt:vector>
  </HeadingPairs>
  <TitlesOfParts>
    <vt:vector size="88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Apresentação do PowerPoint</vt:lpstr>
      <vt:lpstr>Redes recorrentes</vt:lpstr>
      <vt:lpstr>Redes recorrentes</vt:lpstr>
      <vt:lpstr>Redes recorrentes</vt:lpstr>
      <vt:lpstr>Apresentação do PowerPoint</vt:lpstr>
      <vt:lpstr>Neurônio (ou célula) recorrente</vt:lpstr>
      <vt:lpstr>Neurônio (ou célula) recorrente</vt:lpstr>
      <vt:lpstr>Neurônio recorrente</vt:lpstr>
      <vt:lpstr>Atualização do estado e geração da saída</vt:lpstr>
      <vt:lpstr>Atualização do estado e geração da saída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Treinando uma RNN</vt:lpstr>
      <vt:lpstr>Backpropagation Through Time (BPTT)</vt:lpstr>
      <vt:lpstr>Backpropagation Through Time (BPTT)</vt:lpstr>
      <vt:lpstr>Backpropagation Through Time (BPTT)</vt:lpstr>
      <vt:lpstr>Por que o BPTT truncado funciona?</vt:lpstr>
      <vt:lpstr>Desaparecimento e explosão do gradiente</vt:lpstr>
      <vt:lpstr>Apresentação do PowerPoint</vt:lpstr>
      <vt:lpstr>Desaparecimento e explosão do gradiente</vt:lpstr>
      <vt:lpstr>Como mitigar esses problemas?</vt:lpstr>
      <vt:lpstr>Por que não usar funções de ativação ReLU?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Long-short term memory (LSTM)</vt:lpstr>
      <vt:lpstr>A ideia central por trás das LSTMs: o estado da célula</vt:lpstr>
      <vt:lpstr>A ideia central por trás das LSTMs: o estado da célula</vt:lpstr>
      <vt:lpstr>A ideia central por trás das LSTMs: o estado da célula</vt:lpstr>
      <vt:lpstr>Estados da célula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1971</cp:revision>
  <dcterms:created xsi:type="dcterms:W3CDTF">2020-01-20T13:50:05Z</dcterms:created>
  <dcterms:modified xsi:type="dcterms:W3CDTF">2026-05-11T22:06:19Z</dcterms:modified>
</cp:coreProperties>
</file>