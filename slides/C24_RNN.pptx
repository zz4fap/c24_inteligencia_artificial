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256" r:id="rId2"/>
    <p:sldId id="315" r:id="rId3"/>
    <p:sldId id="308" r:id="rId4"/>
    <p:sldId id="316" r:id="rId5"/>
    <p:sldId id="325" r:id="rId6"/>
    <p:sldId id="317" r:id="rId7"/>
    <p:sldId id="326" r:id="rId8"/>
    <p:sldId id="328" r:id="rId9"/>
    <p:sldId id="329" r:id="rId10"/>
    <p:sldId id="332" r:id="rId11"/>
    <p:sldId id="333" r:id="rId12"/>
    <p:sldId id="330" r:id="rId13"/>
    <p:sldId id="331" r:id="rId14"/>
    <p:sldId id="319" r:id="rId15"/>
    <p:sldId id="320" r:id="rId16"/>
    <p:sldId id="322" r:id="rId17"/>
    <p:sldId id="321" r:id="rId18"/>
    <p:sldId id="324" r:id="rId19"/>
    <p:sldId id="323" r:id="rId20"/>
    <p:sldId id="293" r:id="rId21"/>
    <p:sldId id="306" r:id="rId22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24/03/2026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24/03/2026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24/03/2026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são </a:t>
            </a:r>
            <a:r>
              <a:rPr lang="pt-BR" altLang="pt-BR" b="1" dirty="0"/>
              <a:t>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modelar </a:t>
            </a:r>
            <a:r>
              <a:rPr lang="pt-BR" altLang="pt-BR" b="1" dirty="0"/>
              <a:t>dependências temporais</a:t>
            </a:r>
            <a:r>
              <a:rPr lang="pt-BR" altLang="pt-BR" dirty="0"/>
              <a:t>!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b="1" dirty="0"/>
              <a:t>Existe correlação temporal entre as amostras.</a:t>
            </a:r>
            <a:endParaRPr lang="pt-BR" altLang="pt-BR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(clima, ações, vendas, etc.)</a:t>
            </a:r>
          </a:p>
          <a:p>
            <a:r>
              <a:rPr lang="pt-BR" dirty="0"/>
              <a:t>Tradução automática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Legenda de imagens e vídeos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/>
          </a:bodyPr>
          <a:lstStyle/>
          <a:p>
            <a:r>
              <a:rPr lang="pt-BR" dirty="0"/>
              <a:t>MLP: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armazenam informações de estados anteriores 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entrada é tratada de forma independente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capturam dependências temporais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depende apenas da entrada atual</a:t>
            </a:r>
          </a:p>
          <a:p>
            <a:r>
              <a:rPr lang="pt-BR" dirty="0"/>
              <a:t>CNN: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 as limitações das </a:t>
            </a:r>
            <a:r>
              <a:rPr lang="pt-BR" dirty="0" err="1"/>
              <a:t>MLPs</a:t>
            </a:r>
            <a:r>
              <a:rPr lang="pt-BR" dirty="0"/>
              <a:t>, com uma exceção: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Modela relações espaciais.</a:t>
            </a:r>
          </a:p>
          <a:p>
            <a:r>
              <a:rPr lang="pt-BR" dirty="0"/>
              <a:t>Ambas famílias exigem que o vetor de entrada tenha um tamanho predefinido e constante.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3954" y="3142796"/>
            <a:ext cx="3962400" cy="972003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Redes neurais recorrentes têm memória!</a:t>
            </a:r>
            <a:endParaRPr lang="en-US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B99978AC-6F74-4307-94F5-3BAC8F4A5B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Possuem laços de realimentação.</a:t>
            </a:r>
          </a:p>
          <a:p>
            <a:r>
              <a:rPr lang="pt-BR" dirty="0"/>
              <a:t>Mantém um estado interno (memória) que armazena informações observadas até o momento.</a:t>
            </a:r>
          </a:p>
          <a:p>
            <a:r>
              <a:rPr lang="pt-BR" dirty="0"/>
              <a:t>A saída da rede depende da entrada atual e do valor do estado interno anterior.</a:t>
            </a:r>
          </a:p>
          <a:p>
            <a:r>
              <a:rPr lang="pt-BR" dirty="0"/>
              <a:t>O estado interno mantém uma memória (que desaparece) sobre o histórico de todas as entradas passadas.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/>
          <a:lstStyle/>
          <a:p>
            <a:r>
              <a:rPr lang="pt-BR" dirty="0"/>
              <a:t>Uma RNN utiliza informações sequenciais, modelando as dependências temporais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prever a próxima palavra em uma frase, precisamos saber quais palavras vieram antes dela.</a:t>
            </a:r>
          </a:p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mapeiam todo o histórico de entradas anteriores para cada saída.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Componentes de uma RNN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F8CB8C-0F2B-7C4F-63CA-34C693F263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2971" y="1825624"/>
                <a:ext cx="6226629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(</a:t>
                </a:r>
                <a:r>
                  <a:rPr lang="en-US" dirty="0" err="1"/>
                  <a:t>memória</a:t>
                </a:r>
                <a:r>
                  <a:rPr lang="en-US" dirty="0"/>
                  <a:t> da rede)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</m:sSubSup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</m:sSubSup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endParaRPr lang="en-US" dirty="0"/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p>
                    </m:sSubSup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:r>
                  <a:rPr lang="en-US" dirty="0"/>
                  <a:t>       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F8CB8C-0F2B-7C4F-63CA-34C693F263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2971" y="1825624"/>
                <a:ext cx="6226629" cy="5032375"/>
              </a:xfrm>
              <a:blipFill>
                <a:blip r:embed="rId3"/>
                <a:stretch>
                  <a:fillRect l="-176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07CF1336-6500-31F8-A99F-18490071D204}"/>
              </a:ext>
            </a:extLst>
          </p:cNvPr>
          <p:cNvGrpSpPr/>
          <p:nvPr/>
        </p:nvGrpSpPr>
        <p:grpSpPr>
          <a:xfrm>
            <a:off x="2424004" y="1825624"/>
            <a:ext cx="1552792" cy="4315427"/>
            <a:chOff x="1476947" y="2177448"/>
            <a:chExt cx="1552792" cy="4315427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C831661-2CE6-5B2F-909B-4F2436E81B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76947" y="2177448"/>
              <a:ext cx="1552792" cy="4315427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0F1C619-774A-B347-226C-0EA89894C7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59816" t="89723" r="14947" b="2710"/>
            <a:stretch>
              <a:fillRect/>
            </a:stretch>
          </p:blipFill>
          <p:spPr>
            <a:xfrm>
              <a:off x="2637853" y="6013677"/>
              <a:ext cx="391886" cy="326571"/>
            </a:xfrm>
            <a:prstGeom prst="rect">
              <a:avLst/>
            </a:prstGeom>
          </p:spPr>
        </p:pic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7ED572-EE63-9E0B-64E3-7DF577A4C2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5405405"/>
            <a:ext cx="466790" cy="466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200" y="1825625"/>
                <a:ext cx="7032170" cy="4351338"/>
              </a:xfrm>
            </p:spPr>
            <p:txBody>
              <a:bodyPr/>
              <a:lstStyle/>
              <a:p>
                <a:r>
                  <a:rPr lang="pt-BR" dirty="0"/>
                  <a:t>Equações de atualização do estado e de saída do neurônio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p>
                          </m:sSub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p>
                          </m:sSub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p>
                      </m:sSub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pesos </a:t>
                </a:r>
                <a:r>
                  <a:rPr lang="en-US" dirty="0" err="1"/>
                  <a:t>são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dirty="0" err="1"/>
                  <a:t>todos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intervalos</a:t>
                </a:r>
                <a:r>
                  <a:rPr lang="en-US" dirty="0"/>
                  <a:t> de tempo.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ativaçãoto</a:t>
                </a:r>
                <a:r>
                  <a:rPr lang="en-US" dirty="0"/>
                  <a:t>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dirty="0" err="1"/>
                  <a:t>sigmoide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tangente</a:t>
                </a:r>
                <a:r>
                  <a:rPr lang="en-US" dirty="0"/>
                  <a:t> </a:t>
                </a:r>
                <a:r>
                  <a:rPr lang="en-US" dirty="0" err="1"/>
                  <a:t>hiperbólica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200" y="1825625"/>
                <a:ext cx="7032170" cy="4351338"/>
              </a:xfrm>
              <a:blipFill>
                <a:blip r:embed="rId3"/>
                <a:stretch>
                  <a:fillRect l="-1560" t="-2241" r="-17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C51FD9C1-76DE-F00A-B18F-DCE8FA3E5715}"/>
              </a:ext>
            </a:extLst>
          </p:cNvPr>
          <p:cNvGrpSpPr/>
          <p:nvPr/>
        </p:nvGrpSpPr>
        <p:grpSpPr>
          <a:xfrm>
            <a:off x="1389861" y="1843580"/>
            <a:ext cx="1552792" cy="4315427"/>
            <a:chOff x="1476947" y="2177448"/>
            <a:chExt cx="1552792" cy="4315427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3391EED-302C-FBFB-0474-27E583372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76947" y="2177448"/>
              <a:ext cx="1552792" cy="4315427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CD0E170-631A-966A-4288-1BD17021F6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59816" t="89723" r="14947" b="2710"/>
            <a:stretch>
              <a:fillRect/>
            </a:stretch>
          </p:blipFill>
          <p:spPr>
            <a:xfrm>
              <a:off x="2637853" y="6013677"/>
              <a:ext cx="391886" cy="32657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6F952-34AF-BA6E-B7BC-56FB84A3F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 neural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A4886-E5F5-4A0C-632C-A874615BA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12286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podem ser vistas como múltiplas cópias da mesma rede, cada uma passando uma mensagem para a sua sucessora.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  <a:p>
            <a:r>
              <a:rPr lang="pt-BR" dirty="0"/>
              <a:t>A mesma função e o mesmo conjunto de pesos são usados ​​em cada passo de tempo.</a:t>
            </a:r>
          </a:p>
          <a:p>
            <a:r>
              <a:rPr lang="pt-BR" dirty="0"/>
              <a:t>São chamadas recorrentes porque executam a mesma tarefa para cada entrada.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2106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4B591-1BC6-B85F-D4D4-18AFAE757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D18D08-63C8-FE13-750C-9A4ED4F3D6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462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1620E-F055-A200-7D54-3C89067DA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90F1A-97F6-4A2B-EB59-AE9A21F31F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1994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Para que as </a:t>
            </a:r>
            <a:r>
              <a:rPr lang="pt-BR" dirty="0" err="1"/>
              <a:t>RNNs</a:t>
            </a:r>
            <a:r>
              <a:rPr lang="pt-BR" dirty="0"/>
              <a:t> aprendam de forma efetiva, usamos uma versão levemente modificada do </a:t>
            </a:r>
            <a:r>
              <a:rPr lang="pt-BR" dirty="0" err="1"/>
              <a:t>Backpropagation</a:t>
            </a:r>
            <a:r>
              <a:rPr lang="pt-BR"/>
              <a:t>: BPTT</a:t>
            </a:r>
          </a:p>
          <a:p>
            <a:r>
              <a:rPr lang="pt-BR" dirty="0"/>
              <a:t>Gradiente ao longo do tempo</a:t>
            </a:r>
          </a:p>
          <a:p>
            <a:r>
              <a:rPr lang="pt-BR" dirty="0"/>
              <a:t>Rede “desdobrada”</a:t>
            </a:r>
          </a:p>
          <a:p>
            <a:r>
              <a:rPr lang="pt-BR" dirty="0"/>
              <a:t>Soma gradientes em todos os passos</a:t>
            </a:r>
          </a:p>
          <a:p>
            <a:r>
              <a:rPr lang="pt-BR" dirty="0"/>
              <a:t>Pesos compartilhados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045228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Gradientes → muito pequenos</a:t>
            </a:r>
          </a:p>
          <a:p>
            <a:r>
              <a:rPr lang="pt-BR" dirty="0"/>
              <a:t>Informação antiga se perde</a:t>
            </a:r>
          </a:p>
          <a:p>
            <a:r>
              <a:rPr lang="pt-BR" dirty="0"/>
              <a:t>Dificuldade com dependências longas</a:t>
            </a:r>
          </a:p>
          <a:p>
            <a:r>
              <a:rPr lang="pt-BR" dirty="0"/>
              <a:t>Consequência: RNN aprende apenas dependências curtas</a:t>
            </a:r>
          </a:p>
        </p:txBody>
      </p:sp>
    </p:spTree>
    <p:extLst>
      <p:ext uri="{BB962C8B-B14F-4D97-AF65-F5344CB8AC3E}">
        <p14:creationId xmlns:p14="http://schemas.microsoft.com/office/powerpoint/2010/main" val="7530483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788323" y="2873029"/>
            <a:ext cx="10515600" cy="106720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LSTM</a:t>
            </a:r>
          </a:p>
        </p:txBody>
      </p:sp>
    </p:spTree>
    <p:extLst>
      <p:ext uri="{BB962C8B-B14F-4D97-AF65-F5344CB8AC3E}">
        <p14:creationId xmlns:p14="http://schemas.microsoft.com/office/powerpoint/2010/main" val="38633316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 para LSTM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Resolver dependências longas</a:t>
            </a:r>
          </a:p>
          <a:p>
            <a:r>
              <a:rPr lang="pt-BR" dirty="0"/>
              <a:t>Evitar </a:t>
            </a:r>
            <a:r>
              <a:rPr lang="pt-BR" dirty="0" err="1"/>
              <a:t>vanishing</a:t>
            </a:r>
            <a:r>
              <a:rPr lang="pt-BR" dirty="0"/>
              <a:t> </a:t>
            </a:r>
            <a:r>
              <a:rPr lang="pt-BR" dirty="0" err="1"/>
              <a:t>gradient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436546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788323" y="2873029"/>
            <a:ext cx="10515600" cy="106720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Variantes</a:t>
            </a:r>
          </a:p>
        </p:txBody>
      </p:sp>
    </p:spTree>
    <p:extLst>
      <p:ext uri="{BB962C8B-B14F-4D97-AF65-F5344CB8AC3E}">
        <p14:creationId xmlns:p14="http://schemas.microsoft.com/office/powerpoint/2010/main" val="28377013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Variantes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GRU</a:t>
            </a:r>
          </a:p>
          <a:p>
            <a:pPr lvl="1"/>
            <a:r>
              <a:rPr lang="pt-BR" dirty="0"/>
              <a:t>Versão simplificada</a:t>
            </a:r>
          </a:p>
          <a:p>
            <a:pPr lvl="1"/>
            <a:r>
              <a:rPr lang="pt-BR" dirty="0"/>
              <a:t>Menos parâmetros</a:t>
            </a:r>
          </a:p>
          <a:p>
            <a:pPr lvl="1"/>
            <a:r>
              <a:rPr lang="pt-BR" dirty="0"/>
              <a:t>Frequentemente mais rápida de treinar. </a:t>
            </a:r>
          </a:p>
          <a:p>
            <a:r>
              <a:rPr lang="pt-BR" dirty="0" err="1"/>
              <a:t>Bidirectional</a:t>
            </a:r>
            <a:r>
              <a:rPr lang="pt-BR" dirty="0"/>
              <a:t> RNN</a:t>
            </a:r>
          </a:p>
          <a:p>
            <a:pPr lvl="1"/>
            <a:r>
              <a:rPr lang="pt-BR" dirty="0"/>
              <a:t>Considera passado e futuro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204819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8120</TotalTime>
  <Words>667</Words>
  <Application>Microsoft Office PowerPoint</Application>
  <PresentationFormat>Widescreen</PresentationFormat>
  <Paragraphs>104</Paragraphs>
  <Slides>21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Calibri</vt:lpstr>
      <vt:lpstr>Calibri Light</vt:lpstr>
      <vt:lpstr>Cambria Math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PowerPoint Presentation</vt:lpstr>
      <vt:lpstr>Redes recorrentes</vt:lpstr>
      <vt:lpstr>Redes recorrentes</vt:lpstr>
      <vt:lpstr>PowerPoint Presentation</vt:lpstr>
      <vt:lpstr>Neurônio recorrente</vt:lpstr>
      <vt:lpstr>Atualização do estado e geração da saída</vt:lpstr>
      <vt:lpstr>Rede neural recorrente</vt:lpstr>
      <vt:lpstr>PowerPoint Presentation</vt:lpstr>
      <vt:lpstr>PowerPoint Presentation</vt:lpstr>
      <vt:lpstr>Backpropagation Through Time (BPTT)</vt:lpstr>
      <vt:lpstr>Desaparecimento do gradiente</vt:lpstr>
      <vt:lpstr>PowerPoint Presentation</vt:lpstr>
      <vt:lpstr>Motivação para LSTM</vt:lpstr>
      <vt:lpstr>PowerPoint Presentation</vt:lpstr>
      <vt:lpstr>Variantes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1744</cp:revision>
  <dcterms:created xsi:type="dcterms:W3CDTF">2020-01-20T13:50:05Z</dcterms:created>
  <dcterms:modified xsi:type="dcterms:W3CDTF">2026-03-24T20:02:43Z</dcterms:modified>
</cp:coreProperties>
</file>