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6"/>
  </p:notesMasterIdLst>
  <p:handoutMasterIdLst>
    <p:handoutMasterId r:id="rId97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342" r:id="rId35"/>
    <p:sldId id="613" r:id="rId36"/>
    <p:sldId id="601" r:id="rId37"/>
    <p:sldId id="634" r:id="rId38"/>
    <p:sldId id="639" r:id="rId39"/>
    <p:sldId id="361" r:id="rId40"/>
    <p:sldId id="623" r:id="rId41"/>
    <p:sldId id="346" r:id="rId42"/>
    <p:sldId id="347" r:id="rId43"/>
    <p:sldId id="349" r:id="rId44"/>
    <p:sldId id="351" r:id="rId45"/>
    <p:sldId id="641" r:id="rId46"/>
    <p:sldId id="352" r:id="rId47"/>
    <p:sldId id="355" r:id="rId48"/>
    <p:sldId id="372" r:id="rId49"/>
    <p:sldId id="616" r:id="rId50"/>
    <p:sldId id="374" r:id="rId51"/>
    <p:sldId id="376" r:id="rId52"/>
    <p:sldId id="614" r:id="rId53"/>
    <p:sldId id="356" r:id="rId54"/>
    <p:sldId id="358" r:id="rId55"/>
    <p:sldId id="362" r:id="rId56"/>
    <p:sldId id="591" r:id="rId57"/>
    <p:sldId id="365" r:id="rId58"/>
    <p:sldId id="366" r:id="rId59"/>
    <p:sldId id="367" r:id="rId60"/>
    <p:sldId id="642" r:id="rId61"/>
    <p:sldId id="368" r:id="rId62"/>
    <p:sldId id="371" r:id="rId63"/>
    <p:sldId id="603" r:id="rId64"/>
    <p:sldId id="381" r:id="rId65"/>
    <p:sldId id="377" r:id="rId66"/>
    <p:sldId id="594" r:id="rId67"/>
    <p:sldId id="595" r:id="rId68"/>
    <p:sldId id="596" r:id="rId69"/>
    <p:sldId id="597" r:id="rId70"/>
    <p:sldId id="598" r:id="rId71"/>
    <p:sldId id="599" r:id="rId72"/>
    <p:sldId id="624" r:id="rId73"/>
    <p:sldId id="600" r:id="rId74"/>
    <p:sldId id="588" r:id="rId75"/>
    <p:sldId id="589" r:id="rId76"/>
    <p:sldId id="293" r:id="rId77"/>
    <p:sldId id="306" r:id="rId78"/>
    <p:sldId id="335" r:id="rId79"/>
    <p:sldId id="590" r:id="rId80"/>
    <p:sldId id="608" r:id="rId81"/>
    <p:sldId id="330" r:id="rId82"/>
    <p:sldId id="340" r:id="rId83"/>
    <p:sldId id="348" r:id="rId84"/>
    <p:sldId id="350" r:id="rId85"/>
    <p:sldId id="353" r:id="rId86"/>
    <p:sldId id="354" r:id="rId87"/>
    <p:sldId id="373" r:id="rId88"/>
    <p:sldId id="357" r:id="rId89"/>
    <p:sldId id="359" r:id="rId90"/>
    <p:sldId id="592" r:id="rId91"/>
    <p:sldId id="363" r:id="rId92"/>
    <p:sldId id="364" r:id="rId93"/>
    <p:sldId id="369" r:id="rId94"/>
    <p:sldId id="370" r:id="rId9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4140" autoAdjust="0"/>
  </p:normalViewPr>
  <p:slideViewPr>
    <p:cSldViewPr snapToGrid="0">
      <p:cViewPr varScale="1">
        <p:scale>
          <a:sx n="93" d="100"/>
          <a:sy n="93" d="100"/>
        </p:scale>
        <p:origin x="1494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microsoft.com/office/2016/11/relationships/changesInfo" Target="changesInfos/changesInfo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viewProps" Target="viewProps.xml"/><Relationship Id="rId10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presProps" Target="presProps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15/05/2026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39683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8955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6E6D1-C5A9-5E02-CF49-31B3C4C6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536EFD-EBEE-4772-D65A-6AB582407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AC9C5-F488-A6D7-4F15-65AEE652B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7E4DB-58B1-DD85-186B-2CF37F573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883710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E7141-3BE9-0C7C-2257-7BBC9CBA8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43EC88-AB52-4AEA-3FC4-7FA49BA59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78DEF2-1B77-EE8D-7E78-A5DF19845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F1CD-7004-7DEE-2019-1AB6EC1121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2858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15/05/2026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deep-learning/deep-learning-introduction-to-long-short-term-memory/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38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machine-learning/gated-recurrent-unit-networks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441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1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1.png"/><Relationship Id="rId4" Type="http://schemas.openxmlformats.org/officeDocument/2006/relationships/image" Target="../media/image720.png"/><Relationship Id="rId9" Type="http://schemas.openxmlformats.org/officeDocument/2006/relationships/image" Target="../media/image932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49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</a:t>
                </a:r>
                <a:r>
                  <a:rPr lang="pt-BR"/>
                  <a:t>excedem o </a:t>
                </a:r>
                <a:r>
                  <a:rPr lang="pt-BR" dirty="0"/>
                  <a:t>tamanho do truncamento </a:t>
                </a:r>
                <a:r>
                  <a:rPr lang="pt-BR" b="1" dirty="0"/>
                  <a:t>não </a:t>
                </a:r>
                <a:r>
                  <a:rPr lang="pt-BR" b="1"/>
                  <a:t>são aprendidas.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82EBEB-341A-ECC3-30F7-25CD742B1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95CE4D4-E809-49EE-AE7E-DDF85AA26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50130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DDD793-0B6E-16ED-AC33-5C736C8A7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D6BE79-3609-4443-9AC6-F8DA9FC4B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107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2924175"/>
            <a:ext cx="4738255" cy="16954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 err="1"/>
              <a:t>RNNs</a:t>
            </a:r>
            <a:r>
              <a:rPr lang="pt-BR" sz="3600" dirty="0"/>
              <a:t> </a:t>
            </a:r>
            <a:r>
              <a:rPr lang="pt-BR" sz="3600" b="1" dirty="0"/>
              <a:t>tradicionais</a:t>
            </a:r>
            <a:r>
              <a:rPr lang="pt-BR" sz="3600" dirty="0"/>
              <a:t>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1398154"/>
            <a:ext cx="4738255" cy="4627130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RNN processa uma sequência muito longa, ela se esquece gradualmente das primeiras amostras da sequência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b="1" dirty="0"/>
              <a:t>Exemplos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de texto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Reconhecimento</a:t>
            </a:r>
            <a:r>
              <a:rPr lang="en-US" dirty="0"/>
              <a:t> de </a:t>
            </a:r>
            <a:r>
              <a:rPr lang="en-US" dirty="0" err="1"/>
              <a:t>fala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Rastreamento</a:t>
            </a:r>
            <a:r>
              <a:rPr lang="en-US" dirty="0"/>
              <a:t> de </a:t>
            </a:r>
            <a:r>
              <a:rPr lang="en-US" dirty="0" err="1"/>
              <a:t>objetos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fazer uma </a:t>
            </a:r>
            <a:r>
              <a:rPr lang="pt-BR" b="1" dirty="0">
                <a:solidFill>
                  <a:srgbClr val="00B050"/>
                </a:solidFill>
              </a:rPr>
              <a:t>previsão de um passo à frente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a palavra “azul”</a:t>
            </a:r>
            <a:r>
              <a:rPr lang="pt-BR" dirty="0"/>
              <a:t>, basta olhar apenas </a:t>
            </a:r>
            <a:r>
              <a:rPr lang="pt-BR" b="1" dirty="0">
                <a:solidFill>
                  <a:schemeClr val="accent2"/>
                </a:solidFill>
              </a:rPr>
              <a:t>dois passos atrás</a:t>
            </a:r>
            <a:r>
              <a:rPr lang="pt-BR" dirty="0"/>
              <a:t>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a palavra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Continuando com a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</a:t>
            </a:r>
            <a:r>
              <a:rPr lang="pt-BR" b="1" dirty="0">
                <a:solidFill>
                  <a:schemeClr val="accent2"/>
                </a:solidFill>
              </a:rPr>
              <a:t>prever a palavra "italiano"</a:t>
            </a:r>
            <a:r>
              <a:rPr lang="pt-BR" dirty="0"/>
              <a:t>, temos que olhar </a:t>
            </a:r>
            <a:r>
              <a:rPr lang="pt-BR" b="1" dirty="0">
                <a:solidFill>
                  <a:schemeClr val="accent2"/>
                </a:solidFill>
              </a:rPr>
              <a:t>vários passos para trás no tempo</a:t>
            </a:r>
            <a:r>
              <a:rPr lang="pt-BR" dirty="0"/>
              <a:t>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tradicional pode não ser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07813F-29AC-CA2B-5D4C-CBF0DFE05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LSTMs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D061630-90D1-B2B3-6AFE-E7A4E63DE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/>
          </a:bodyPr>
          <a:lstStyle/>
          <a:p>
            <a:r>
              <a:rPr lang="en-US" sz="3200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 Short-Term Memory Networks (LSTMs)</a:t>
            </a:r>
            <a:r>
              <a:rPr lang="en-US" sz="3200" dirty="0">
                <a:solidFill>
                  <a:srgbClr val="FF0000"/>
                </a:solidFill>
              </a:rPr>
              <a:t> introduce a memory mechanism to overcome the vanishing gradient problem.</a:t>
            </a:r>
          </a:p>
          <a:p>
            <a:pPr fontAlgn="base"/>
            <a:r>
              <a:rPr lang="en-US" sz="3200" dirty="0">
                <a:solidFill>
                  <a:srgbClr val="FF0000"/>
                </a:solidFill>
              </a:rPr>
              <a:t>Each LSTM cell has three gates:</a:t>
            </a:r>
          </a:p>
          <a:p>
            <a:pPr fontAlgn="base"/>
            <a:r>
              <a:rPr lang="en-US" sz="3200" b="1" dirty="0">
                <a:solidFill>
                  <a:srgbClr val="FF0000"/>
                </a:solidFill>
              </a:rPr>
              <a:t>Input Gate</a:t>
            </a:r>
            <a:r>
              <a:rPr lang="en-US" sz="3200" dirty="0">
                <a:solidFill>
                  <a:srgbClr val="FF0000"/>
                </a:solidFill>
              </a:rPr>
              <a:t>: Controls how much new information should be added to the cell state.</a:t>
            </a:r>
          </a:p>
          <a:p>
            <a:pPr fontAlgn="base"/>
            <a:r>
              <a:rPr lang="en-US" sz="3200" b="1" dirty="0">
                <a:solidFill>
                  <a:srgbClr val="FF0000"/>
                </a:solidFill>
              </a:rPr>
              <a:t>Forget Gate</a:t>
            </a:r>
            <a:r>
              <a:rPr lang="en-US" sz="3200" dirty="0">
                <a:solidFill>
                  <a:srgbClr val="FF0000"/>
                </a:solidFill>
              </a:rPr>
              <a:t>: Decides what past information should be discarded.</a:t>
            </a:r>
          </a:p>
          <a:p>
            <a:pPr fontAlgn="base"/>
            <a:r>
              <a:rPr lang="en-US" sz="3200" b="1" dirty="0">
                <a:solidFill>
                  <a:srgbClr val="FF0000"/>
                </a:solidFill>
              </a:rPr>
              <a:t>Output Gate</a:t>
            </a:r>
            <a:r>
              <a:rPr lang="en-US" sz="3200" dirty="0">
                <a:solidFill>
                  <a:srgbClr val="FF0000"/>
                </a:solidFill>
              </a:rPr>
              <a:t>: Regulates what information should be output at the current step. This selective memory enables LSTMs to handle long-term dependencies, making them ideal for tasks where earlier context is critical.</a:t>
            </a:r>
          </a:p>
          <a:p>
            <a:endParaRPr lang="en-US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55102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interagem entre si de uma maneira especial.</a:t>
            </a:r>
          </a:p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2918" y="1825624"/>
            <a:ext cx="632908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LSTM possui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Forget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9B1DA347-BBC4-AE49-41A5-6D28C39A35B8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C6A37ED-D7FF-0A9B-246C-6A1327E19771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D841BE1E-2151-5C15-382E-E4E866E97366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FE171E2-98E2-80BF-7246-2FA7AC491881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B5D41BF3-5175-2D98-868F-9949FD2DD01F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690B213-E976-D58E-3664-2CC432FE0432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845" y="1825624"/>
            <a:ext cx="607715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entra na célula</a:t>
            </a:r>
            <a:r>
              <a:rPr lang="pt-BR" dirty="0"/>
              <a:t> sempre que sua </a:t>
            </a:r>
            <a:r>
              <a:rPr lang="pt-BR" b="1" dirty="0">
                <a:solidFill>
                  <a:schemeClr val="accent2"/>
                </a:solidFill>
              </a:rPr>
              <a:t>porta de entrada</a:t>
            </a:r>
            <a:r>
              <a:rPr lang="pt-BR" dirty="0"/>
              <a:t> está </a:t>
            </a:r>
            <a:r>
              <a:rPr lang="pt-BR" b="1" dirty="0">
                <a:solidFill>
                  <a:schemeClr val="accent2"/>
                </a:solidFill>
              </a:rPr>
              <a:t>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é descartada</a:t>
            </a:r>
            <a:r>
              <a:rPr lang="pt-BR" dirty="0"/>
              <a:t> da célula sempre que sua </a:t>
            </a:r>
            <a:r>
              <a:rPr lang="pt-BR" b="1" dirty="0">
                <a:solidFill>
                  <a:schemeClr val="accent2"/>
                </a:solidFill>
              </a:rPr>
              <a:t>porta de esquecimento está desligada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pode ser lida</a:t>
            </a:r>
            <a:r>
              <a:rPr lang="pt-BR" dirty="0"/>
              <a:t> da célula </a:t>
            </a:r>
            <a:r>
              <a:rPr lang="pt-BR" b="1" dirty="0">
                <a:solidFill>
                  <a:schemeClr val="accent2"/>
                </a:solidFill>
              </a:rPr>
              <a:t>ligando sua porta de saída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390354-76AE-6D7E-6109-156C51E09B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5B538100-869E-9015-E39A-A1340D4D0515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DD632F-0686-568D-5F9B-260BA967E010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A82173B-E627-D5F4-C24A-C8EFB8591AF2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738DFC6-B08A-BCAF-A6DC-558964B054EF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724DFD49-F8A1-B391-4C4D-9D392820E8F5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256C62AF-7481-CE0B-1BB2-B4A93CE957B9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2163" y="1825624"/>
            <a:ext cx="6186488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</a:t>
            </a:r>
            <a:r>
              <a:rPr lang="pt-BR" b="1" dirty="0">
                <a:solidFill>
                  <a:schemeClr val="accent2"/>
                </a:solidFill>
              </a:rPr>
              <a:t>fluir ao longo da célula</a:t>
            </a:r>
            <a:r>
              <a:rPr lang="pt-BR" dirty="0"/>
              <a:t> de memória </a:t>
            </a:r>
            <a:r>
              <a:rPr lang="pt-BR" b="1" dirty="0">
                <a:solidFill>
                  <a:srgbClr val="7030A0"/>
                </a:solidFill>
              </a:rPr>
              <a:t>sem sofrer alterações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Interações lineares.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Mitiga o desaparecimento do gradiente.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ser </a:t>
            </a:r>
            <a:r>
              <a:rPr lang="pt-BR" b="1" dirty="0">
                <a:solidFill>
                  <a:schemeClr val="accent2"/>
                </a:solidFill>
              </a:rPr>
              <a:t>removida</a:t>
            </a:r>
            <a:r>
              <a:rPr lang="pt-BR" dirty="0"/>
              <a:t> ou </a:t>
            </a:r>
            <a:r>
              <a:rPr lang="pt-BR" b="1" dirty="0">
                <a:solidFill>
                  <a:schemeClr val="accent2"/>
                </a:solidFill>
              </a:rPr>
              <a:t>gravada</a:t>
            </a:r>
            <a:r>
              <a:rPr lang="pt-BR" dirty="0"/>
              <a:t> na célula de memória </a:t>
            </a:r>
            <a:r>
              <a:rPr lang="pt-BR" b="1" dirty="0">
                <a:solidFill>
                  <a:srgbClr val="7030A0"/>
                </a:solidFill>
              </a:rPr>
              <a:t>regulando-se as portas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8037" y="1825624"/>
            <a:ext cx="6933963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</a:t>
            </a:r>
            <a:r>
              <a:rPr lang="pt-BR" b="1" dirty="0">
                <a:solidFill>
                  <a:srgbClr val="7030A0"/>
                </a:solidFill>
              </a:rPr>
              <a:t>permitir opcionalmente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passagem de informações</a:t>
            </a:r>
            <a:r>
              <a:rPr lang="pt-BR" dirty="0"/>
              <a:t>.</a:t>
            </a:r>
          </a:p>
          <a:p>
            <a:r>
              <a:rPr lang="pt-BR" dirty="0"/>
              <a:t>Por exemplo, uma camada densa com função de ativação sigmoide gera valores entre 0 e 1.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chemeClr val="accent2"/>
                </a:solidFill>
              </a:rPr>
              <a:t>operação de multiplicação elemento a elemento</a:t>
            </a:r>
            <a:r>
              <a:rPr lang="pt-BR" dirty="0"/>
              <a:t> decide o quanto da entrada passar.</a:t>
            </a:r>
          </a:p>
          <a:p>
            <a:r>
              <a:rPr lang="pt-BR" dirty="0"/>
              <a:t>Com isso a porta decide (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/>
              <a:t>) o quanto de cada elemento deve ser permitido passar.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C087-743B-C7CF-BE89-B5D6C396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5137-761A-DF31-B5AF-A324F7C3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entre 0 e 1, onde: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1 significa “aberto”.</a:t>
                </a:r>
              </a:p>
              <a:p>
                <a:r>
                  <a:rPr lang="pt-BR" dirty="0"/>
                  <a:t>Resumindo,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“filtra”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 informação</a:t>
                </a:r>
                <a:r>
                  <a:rPr lang="pt-BR" dirty="0"/>
                  <a:t>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  <a:blipFill>
                <a:blip r:embed="rId3"/>
                <a:stretch>
                  <a:fillRect l="-15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8F49F13-A23B-6EF7-D9E0-57F230B27E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A36C67E-2EAB-F79C-D505-DE79D767793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id="{F887BFCD-6D50-ACA8-946F-28EDF6FF4E02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35936FD-C97F-B176-82F3-FD34E8A9ECCF}"/>
              </a:ext>
            </a:extLst>
          </p:cNvPr>
          <p:cNvGraphicFramePr>
            <a:graphicFrameLocks noGrp="1"/>
          </p:cNvGraphicFramePr>
          <p:nvPr/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00603-03D8-6D82-0212-139747E4B31D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1939FB0-0AA3-25B0-B525-F0D1DAB311A5}"/>
              </a:ext>
            </a:extLst>
          </p:cNvPr>
          <p:cNvGraphicFramePr>
            <a:graphicFrameLocks noGrp="1"/>
          </p:cNvGraphicFramePr>
          <p:nvPr/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4B4D6A2-75FA-8B46-5F44-282DBA566656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FC98C86-8C6F-A5B7-34CD-39F2F88063D8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5AAF2C3-7FC3-BC24-A1B1-38A5EE18C5BA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14398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Estados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atual da célula.</a:t>
                </a:r>
              </a:p>
              <a:p>
                <a:r>
                  <a:rPr lang="pt-BR" dirty="0"/>
                  <a:t>A célula modifica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apenas por meio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decide 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revelar/mostrar</a:t>
                </a:r>
                <a:r>
                  <a:rPr lang="pt-BR" dirty="0"/>
                  <a:t> usando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  <a:blipFill rotWithShape="0">
                <a:blip r:embed="rId2"/>
                <a:stretch>
                  <a:fillRect l="-1645" t="-2663" r="-1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67" y="2281509"/>
            <a:ext cx="5131773" cy="3158867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id="{08B4F401-8089-55FA-9674-E0D136960DBF}"/>
              </a:ext>
            </a:extLst>
          </p:cNvPr>
          <p:cNvSpPr txBox="1"/>
          <p:nvPr/>
        </p:nvSpPr>
        <p:spPr>
          <a:xfrm>
            <a:off x="0" y="6550222"/>
            <a:ext cx="4763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importante, pois minimiza o desaparecimento do gradiente.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CC6145-8996-89DD-159B-03716E375E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GRUs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B9C5FB-79E3-59EE-FDA7-C5472E668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fontAlgn="base"/>
            <a:r>
              <a:rPr lang="en-US" sz="4400" b="1" dirty="0">
                <a:solidFill>
                  <a:srgbClr val="FF0000"/>
                </a:solidFill>
              </a:rPr>
              <a:t>4. Gated Recurrent Units (GRUs)</a:t>
            </a:r>
          </a:p>
          <a:p>
            <a:pPr fontAlgn="base"/>
            <a:r>
              <a:rPr lang="en-US" sz="4400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Gated Recurrent Units (GRUs) </a:t>
            </a:r>
            <a:r>
              <a:rPr lang="en-US" sz="4400" dirty="0">
                <a:solidFill>
                  <a:srgbClr val="FF0000"/>
                </a:solidFill>
              </a:rPr>
              <a:t>simplify LSTMs by combining the input and forget gates into a single update gate and streamlining the output mechanism. This design is computationally efficient, often performing similarly to LSTMs and is useful in tasks where simplicity and faster training are beneficial.</a:t>
            </a:r>
          </a:p>
          <a:p>
            <a:endParaRPr lang="en-US" sz="4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858253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</a:t>
            </a:r>
            <a:r>
              <a:rPr lang="pt-BR" sz="6000" dirty="0" err="1"/>
              <a:t>LSTMs</a:t>
            </a:r>
            <a:r>
              <a:rPr lang="pt-BR" sz="6000" dirty="0"/>
              <a:t> e </a:t>
            </a:r>
            <a:r>
              <a:rPr lang="pt-BR" sz="6000" dirty="0" err="1"/>
              <a:t>GRUs</a:t>
            </a:r>
            <a:r>
              <a:rPr lang="pt-BR" sz="6000" dirty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BA697ABF-3D68-0137-7426-7AD1676388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4942" y="1825624"/>
            <a:ext cx="639301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a uma crítica de um filme.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de sentimento: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41BD3-0D3E-6DEB-5946-3B872D36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BF0EC-97E2-611C-7E0B-006D6C50A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5087-1F81-BC00-EC85-E49ADC7954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0" y="1825624"/>
            <a:ext cx="6458123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Saída: classe gramatical de cada palavra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Previsão de séries temporais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Entrada: dados de consumo diário de energia de uma residência ao longo dos últimos N dias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noProof="0" dirty="0"/>
              <a:t>Saída: consumo de energia deslocado de um dia no futuro (i.e., N-1 dias atrás até amanhã)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6D22A6-623A-3A53-AB0D-AA63A915A314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04D59B-D01A-C064-63E3-A934C9B06E64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BAF60DC-5533-F7AF-10EF-97B4A0D9742E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D787C19-D55D-062A-8993-9F3BDE7D0CFB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81C8F54F-37AE-0851-1255-2C402C7B9A81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9428AF-F5F3-DC4C-AA34-E7A63E46722C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203DD1-2CF6-1DDE-B1DD-496D64170841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87BCE60-0271-DC90-5527-BBE682A671E4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2CB26EE5-E8FC-BE89-CFE3-EE2202917209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6684CC-F798-C72E-26E9-9CDEF2479856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3DE7201E-33CE-0959-D2D5-B7C43895F5F5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2559753-208A-D5E7-C823-02D1917A440C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316211B-1712-8829-AEA6-C2DF1665B708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7052F20-B3D8-1A26-9511-8F6498789785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2A036A00-5879-D13D-1FF2-C1F2CD766239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602EFC-88D4-F298-D3BA-798BF3C78A47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2965A74-FDA5-49EC-7C7D-F5D921B6BC0B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D3366F43-9817-FE8F-AB7E-1BEC1A59BE1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9464E-DF61-887E-96F5-F2503641F4AE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C6F255-66BF-8187-D7FE-3DBC6B1AAAFF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457A1D-6101-F8F4-7D24-8AB84781E22C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16B3E8F-47DC-A048-59E4-A18211C53B5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6EAC032-39F4-1ED8-9E80-E4721885453B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959413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10752</TotalTime>
  <Words>6816</Words>
  <Application>Microsoft Office PowerPoint</Application>
  <PresentationFormat>Widescreen</PresentationFormat>
  <Paragraphs>977</Paragraphs>
  <Slides>94</Slides>
  <Notes>55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94</vt:i4>
      </vt:variant>
    </vt:vector>
  </HeadingPairs>
  <TitlesOfParts>
    <vt:vector size="101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Apresentação do PowerPoint</vt:lpstr>
      <vt:lpstr>Apresentação do PowerPoint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LSTMs</vt:lpstr>
      <vt:lpstr>Long-short term memory (LSTM)</vt:lpstr>
      <vt:lpstr>Long-short term memory (LSTM)</vt:lpstr>
      <vt:lpstr>Long-short term memory (LSTM)</vt:lpstr>
      <vt:lpstr>Long-short term memory (LSTM)</vt:lpstr>
      <vt:lpstr>A ideia central por trás das LSTMs: o estado da célula</vt:lpstr>
      <vt:lpstr>A ideia central por trás das LSTMs: o estado da célula</vt:lpstr>
      <vt:lpstr>A ideia central por trás das LSTMs: o estado da célula</vt:lpstr>
      <vt:lpstr>Estados da célula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GRUs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2060</cp:revision>
  <dcterms:created xsi:type="dcterms:W3CDTF">2020-01-20T13:50:05Z</dcterms:created>
  <dcterms:modified xsi:type="dcterms:W3CDTF">2026-05-15T18:53:35Z</dcterms:modified>
</cp:coreProperties>
</file>