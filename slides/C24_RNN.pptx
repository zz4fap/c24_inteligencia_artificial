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0"/>
  </p:notesMasterIdLst>
  <p:handoutMasterIdLst>
    <p:handoutMasterId r:id="rId101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352" r:id="rId45"/>
    <p:sldId id="649" r:id="rId46"/>
    <p:sldId id="355" r:id="rId47"/>
    <p:sldId id="650" r:id="rId48"/>
    <p:sldId id="655" r:id="rId49"/>
    <p:sldId id="376" r:id="rId50"/>
    <p:sldId id="616" r:id="rId51"/>
    <p:sldId id="659" r:id="rId52"/>
    <p:sldId id="660" r:id="rId53"/>
    <p:sldId id="656" r:id="rId54"/>
    <p:sldId id="358" r:id="rId55"/>
    <p:sldId id="362" r:id="rId56"/>
    <p:sldId id="591" r:id="rId57"/>
    <p:sldId id="365" r:id="rId58"/>
    <p:sldId id="366" r:id="rId59"/>
    <p:sldId id="367" r:id="rId60"/>
    <p:sldId id="669" r:id="rId61"/>
    <p:sldId id="665" r:id="rId62"/>
    <p:sldId id="368" r:id="rId63"/>
    <p:sldId id="668" r:id="rId64"/>
    <p:sldId id="371" r:id="rId65"/>
    <p:sldId id="603" r:id="rId66"/>
    <p:sldId id="381" r:id="rId67"/>
    <p:sldId id="662" r:id="rId68"/>
    <p:sldId id="667" r:id="rId69"/>
    <p:sldId id="595" r:id="rId70"/>
    <p:sldId id="596" r:id="rId71"/>
    <p:sldId id="597" r:id="rId72"/>
    <p:sldId id="598" r:id="rId73"/>
    <p:sldId id="599" r:id="rId74"/>
    <p:sldId id="624" r:id="rId75"/>
    <p:sldId id="600" r:id="rId76"/>
    <p:sldId id="588" r:id="rId77"/>
    <p:sldId id="589" r:id="rId78"/>
    <p:sldId id="293" r:id="rId79"/>
    <p:sldId id="306" r:id="rId80"/>
    <p:sldId id="335" r:id="rId81"/>
    <p:sldId id="590" r:id="rId82"/>
    <p:sldId id="608" r:id="rId83"/>
    <p:sldId id="330" r:id="rId84"/>
    <p:sldId id="340" r:id="rId85"/>
    <p:sldId id="348" r:id="rId86"/>
    <p:sldId id="350" r:id="rId87"/>
    <p:sldId id="353" r:id="rId88"/>
    <p:sldId id="354" r:id="rId89"/>
    <p:sldId id="373" r:id="rId90"/>
    <p:sldId id="647" r:id="rId91"/>
    <p:sldId id="357" r:id="rId92"/>
    <p:sldId id="359" r:id="rId93"/>
    <p:sldId id="592" r:id="rId94"/>
    <p:sldId id="363" r:id="rId95"/>
    <p:sldId id="364" r:id="rId96"/>
    <p:sldId id="654" r:id="rId97"/>
    <p:sldId id="369" r:id="rId98"/>
    <p:sldId id="370" r:id="rId9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4140" autoAdjust="0"/>
  </p:normalViewPr>
  <p:slideViewPr>
    <p:cSldViewPr snapToGrid="0">
      <p:cViewPr varScale="1">
        <p:scale>
          <a:sx n="62" d="100"/>
          <a:sy n="62" d="100"/>
        </p:scale>
        <p:origin x="1218" y="6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microsoft.com/office/2016/11/relationships/changesInfo" Target="changesInfos/changesInfo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notesMaster" Target="notesMasters/notesMaster1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viewProps" Target="viewProps.xml"/><Relationship Id="rId108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17/05/2026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xmlns="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517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 smtClean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2279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44228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</a:t>
            </a:r>
            <a:r>
              <a:rPr lang="pt-BR" dirty="0" smtClean="0"/>
              <a:t>reset ajudam </a:t>
            </a:r>
            <a:r>
              <a:rPr lang="pt-BR" dirty="0"/>
              <a:t>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18552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9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2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56.jpeg"/><Relationship Id="rId4" Type="http://schemas.openxmlformats.org/officeDocument/2006/relationships/image" Target="../media/image5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1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50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129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128.png"/><Relationship Id="rId15" Type="http://schemas.openxmlformats.org/officeDocument/2006/relationships/image" Target="../media/image131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1.png"/><Relationship Id="rId18" Type="http://schemas.openxmlformats.org/officeDocument/2006/relationships/image" Target="../media/image146.png"/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12" Type="http://schemas.openxmlformats.org/officeDocument/2006/relationships/image" Target="../media/image64.png"/><Relationship Id="rId17" Type="http://schemas.openxmlformats.org/officeDocument/2006/relationships/image" Target="../media/image145.png"/><Relationship Id="rId2" Type="http://schemas.openxmlformats.org/officeDocument/2006/relationships/notesSlide" Target="../notesSlides/notesSlide56.xml"/><Relationship Id="rId16" Type="http://schemas.openxmlformats.org/officeDocument/2006/relationships/image" Target="../media/image144.png"/><Relationship Id="rId20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image" Target="../media/image140.png"/><Relationship Id="rId5" Type="http://schemas.openxmlformats.org/officeDocument/2006/relationships/image" Target="../media/image134.png"/><Relationship Id="rId15" Type="http://schemas.openxmlformats.org/officeDocument/2006/relationships/image" Target="../media/image143.png"/><Relationship Id="rId10" Type="http://schemas.openxmlformats.org/officeDocument/2006/relationships/image" Target="../media/image139.png"/><Relationship Id="rId19" Type="http://schemas.openxmlformats.org/officeDocument/2006/relationships/image" Target="../media/image147.png"/><Relationship Id="rId4" Type="http://schemas.openxmlformats.org/officeDocument/2006/relationships/image" Target="../media/image133.png"/><Relationship Id="rId9" Type="http://schemas.openxmlformats.org/officeDocument/2006/relationships/image" Target="../media/image138.png"/><Relationship Id="rId14" Type="http://schemas.openxmlformats.org/officeDocument/2006/relationships/image" Target="../media/image142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0.png"/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image" Target="../media/image1420.png"/><Relationship Id="rId5" Type="http://schemas.openxmlformats.org/officeDocument/2006/relationships/image" Target="../media/image134.png"/><Relationship Id="rId10" Type="http://schemas.openxmlformats.org/officeDocument/2006/relationships/image" Target="../media/image139.png"/><Relationship Id="rId4" Type="http://schemas.openxmlformats.org/officeDocument/2006/relationships/image" Target="../media/image133.png"/><Relationship Id="rId9" Type="http://schemas.openxmlformats.org/officeDocument/2006/relationships/image" Target="../media/image1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xmlns="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xmlns="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xmlns="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xmlns="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xmlns="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−2]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xmlns="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tradicional processa uma sequência muito longa, ela se esquece gradualmente das primeiras amostras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xmlns="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O TBPTT </a:t>
            </a:r>
            <a:r>
              <a:rPr lang="pt-BR" b="1" dirty="0"/>
              <a:t>também limita o aprendizado de longo prazo</a:t>
            </a:r>
            <a:r>
              <a:rPr lang="pt-BR" dirty="0"/>
              <a:t>, pois impõe um horizonte máximo para a retropropagação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: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, i.e., a informação relevante está a poucos passos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  <a:p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treinamento, o erro precisa ser retropropagado por apenas alguns instantes temporais.</a:t>
            </a:r>
          </a:p>
          <a:p>
            <a:r>
              <a:rPr lang="pt-BR" dirty="0"/>
              <a:t>Porém, em muitas aplicações, a informação importante pode estar muito distante na sequência.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7810" y="1825624"/>
            <a:ext cx="5884189" cy="5032375"/>
          </a:xfrm>
        </p:spPr>
        <p:txBody>
          <a:bodyPr>
            <a:normAutofit/>
          </a:bodyPr>
          <a:lstStyle/>
          <a:p>
            <a:r>
              <a:rPr lang="pt-BR" dirty="0"/>
              <a:t>Agora, vamos considerar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>
                <a:solidFill>
                  <a:schemeClr val="accent2"/>
                </a:solidFill>
              </a:rPr>
              <a:t>“italiano”</a:t>
            </a:r>
            <a:r>
              <a:rPr lang="pt-BR" dirty="0"/>
              <a:t>, a rede precisa lembrar uma informação muito antiga da sequência, a palavra </a:t>
            </a:r>
            <a:r>
              <a:rPr lang="pt-BR" b="1" dirty="0">
                <a:solidFill>
                  <a:schemeClr val="accent2"/>
                </a:solidFill>
              </a:rPr>
              <a:t>“Roma”</a:t>
            </a:r>
            <a:r>
              <a:rPr lang="pt-BR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Durante o treinamento, o erro precisa ser </a:t>
            </a:r>
            <a:r>
              <a:rPr lang="pt-BR" dirty="0" err="1"/>
              <a:t>retropropagado</a:t>
            </a:r>
            <a:r>
              <a:rPr lang="pt-BR" dirty="0"/>
              <a:t> por vários instantes de tempo, o que pode fazer com que o </a:t>
            </a:r>
            <a:r>
              <a:rPr lang="pt-BR" b="1" dirty="0">
                <a:solidFill>
                  <a:srgbClr val="7030A0"/>
                </a:solidFill>
              </a:rPr>
              <a:t>gradiente desapareça</a:t>
            </a:r>
            <a:r>
              <a:rPr lang="pt-BR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Quanto maior a distância temporal, mais difícil é para a RNN manter a informação relevante.</a:t>
            </a:r>
          </a:p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tradicionais têm dificuldade em preservar informações por muitos passos temporais.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Como 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por muito mais tempo?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Para resolver o problema das dependências de longo prazo, causado pelo desaparecimento ou explosão do gradiente, foram propostas arquiteturas com mecanismos de memória: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Long</a:t>
            </a:r>
            <a:r>
              <a:rPr lang="pt-BR" dirty="0"/>
              <a:t>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Memory</a:t>
            </a:r>
            <a:r>
              <a:rPr lang="pt-BR" dirty="0"/>
              <a:t> (LSTM)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Gated</a:t>
            </a:r>
            <a:r>
              <a:rPr lang="pt-BR" dirty="0"/>
              <a:t> </a:t>
            </a:r>
            <a:r>
              <a:rPr lang="pt-BR" dirty="0" err="1"/>
              <a:t>Recurrent</a:t>
            </a:r>
            <a:r>
              <a:rPr lang="pt-BR" dirty="0"/>
              <a:t> Unit (GRU)</a:t>
            </a:r>
          </a:p>
          <a:p>
            <a:r>
              <a:rPr lang="pt-BR" dirty="0"/>
              <a:t>Essas redes criam caminhos ao longo do tempo cujas </a:t>
            </a:r>
            <a:r>
              <a:rPr lang="pt-BR" b="1" dirty="0">
                <a:solidFill>
                  <a:schemeClr val="accent2"/>
                </a:solidFill>
              </a:rPr>
              <a:t>derivadas podem ser controladas</a:t>
            </a:r>
            <a:r>
              <a:rPr lang="pt-BR" dirty="0"/>
              <a:t> para não desaparecer nem explodir.</a:t>
            </a:r>
          </a:p>
          <a:p>
            <a:r>
              <a:rPr lang="pt-BR" dirty="0"/>
              <a:t>Elas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controlar: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informações devem ser armazenadas (o que lembrar).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esquecidas.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utilizadas na saída (quando usar uma informação armazenada).</a:t>
            </a:r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.</a:t>
            </a:r>
          </a:p>
          <a:p>
            <a:r>
              <a:rPr lang="pt-BR" dirty="0"/>
              <a:t>São amplamente utilizadas atualmente.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xmlns="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xmlns="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035" y="1825624"/>
            <a:ext cx="623596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formam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Forget</a:t>
            </a:r>
            <a:r>
              <a:rPr lang="pt-BR" b="1" i="1" dirty="0"/>
              <a:t>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  <a:p>
            <a:endParaRPr lang="pt-BR" dirty="0"/>
          </a:p>
          <a:p>
            <a:endParaRPr lang="pt-BR" dirty="0"/>
          </a:p>
        </p:txBody>
      </p:sp>
      <p:grpSp>
        <p:nvGrpSpPr>
          <p:cNvPr id="5" name="Grupo 4"/>
          <p:cNvGrpSpPr/>
          <p:nvPr/>
        </p:nvGrpSpPr>
        <p:grpSpPr>
          <a:xfrm>
            <a:off x="635838" y="2424223"/>
            <a:ext cx="5320197" cy="3228140"/>
            <a:chOff x="697831" y="2222745"/>
            <a:chExt cx="5320197" cy="3228140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xmlns="" id="{E0180B18-707C-9189-F385-D0DD1450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831" y="2222745"/>
              <a:ext cx="5320197" cy="3228140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9B1DA347-BBC4-AE49-41A5-6D28C39A35B8}"/>
                </a:ext>
              </a:extLst>
            </p:cNvPr>
            <p:cNvSpPr/>
            <p:nvPr/>
          </p:nvSpPr>
          <p:spPr>
            <a:xfrm>
              <a:off x="1678193" y="2893806"/>
              <a:ext cx="484094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BC6A37ED-D7FF-0A9B-246C-6A1327E19771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D841BE1E-2151-5C15-382E-E4E866E97366}"/>
                </a:ext>
              </a:extLst>
            </p:cNvPr>
            <p:cNvSpPr/>
            <p:nvPr/>
          </p:nvSpPr>
          <p:spPr>
            <a:xfrm>
              <a:off x="2259105" y="3603812"/>
              <a:ext cx="1312433" cy="111584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9FE171E2-98E2-80BF-7246-2FA7AC49188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xmlns="" id="{B5D41BF3-5175-2D98-868F-9949FD2DD01F}"/>
                </a:ext>
              </a:extLst>
            </p:cNvPr>
            <p:cNvSpPr/>
            <p:nvPr/>
          </p:nvSpPr>
          <p:spPr>
            <a:xfrm>
              <a:off x="3668355" y="3162748"/>
              <a:ext cx="1140313" cy="15569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xmlns="" id="{5690B213-E976-D58E-3664-2CC432FE0432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interno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da célula.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  <a:blipFill>
                <a:blip r:embed="rId2"/>
                <a:stretch>
                  <a:fillRect l="-1746" t="-1937" r="-1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>
            <a:extLst>
              <a:ext uri="{FF2B5EF4-FFF2-40B4-BE49-F238E27FC236}">
                <a16:creationId xmlns:a16="http://schemas.microsoft.com/office/drawing/2014/main" xmlns="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8" y="2312161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esquecimento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informação passada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apagadas ou mantidas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entrada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/>
                  <a:t>de </a:t>
                </a:r>
                <a:r>
                  <a:rPr lang="pt-BR" b="1" dirty="0">
                    <a:solidFill>
                      <a:srgbClr val="7030A0"/>
                    </a:solidFill>
                  </a:rPr>
                  <a:t>novas informações (memórias)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adicionadas</a:t>
                </a:r>
                <a:r>
                  <a:rPr lang="pt-BR" dirty="0">
                    <a:solidFill>
                      <a:schemeClr val="tx1"/>
                    </a:solidFill>
                  </a:rPr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saída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lidas e fornecidas como saída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neste passo de tempo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  <a:blipFill rotWithShape="0">
                <a:blip r:embed="rId3"/>
                <a:stretch>
                  <a:fillRect l="-1701" t="-1937" r="-1985" b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/>
          <p:cNvGrpSpPr/>
          <p:nvPr/>
        </p:nvGrpSpPr>
        <p:grpSpPr>
          <a:xfrm>
            <a:off x="336708" y="2419245"/>
            <a:ext cx="5133277" cy="3164098"/>
            <a:chOff x="584681" y="2224681"/>
            <a:chExt cx="5133277" cy="3164098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5B538100-869E-9015-E39A-A1340D4D0515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45DD632F-0686-568D-5F9B-260BA967E01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AA82173B-E627-D5F4-C24A-C8EFB8591AF2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B738DFC6-B08A-BCAF-A6DC-558964B054EF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724DFD49-F8A1-B391-4C4D-9D392820E8F5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256C62AF-7481-CE0B-1BB2-B4A93CE957B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27670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portas são uma forma de </a:t>
                </a:r>
                <a:r>
                  <a:rPr lang="pt-BR" b="1" dirty="0">
                    <a:solidFill>
                      <a:srgbClr val="7030A0"/>
                    </a:solidFill>
                  </a:rPr>
                  <a:t>permitir </a:t>
                </a:r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passagem ou não de informações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Imaginem uma das 3 camadas densas com função de ativação sigmoide da célula LSTM.</a:t>
                </a:r>
              </a:p>
              <a:p>
                <a:r>
                  <a:rPr lang="pt-BR" dirty="0"/>
                  <a:t>A camada gera um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 elementos assumindo valores entre 0 e 1.</a:t>
                </a:r>
              </a:p>
              <a:p>
                <a:r>
                  <a:rPr lang="pt-BR" dirty="0"/>
                  <a:t>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operação de multiplicação elemento a elemento</a:t>
                </a:r>
                <a:r>
                  <a:rPr lang="pt-BR" dirty="0"/>
                  <a:t> decide o quanto da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passa para a saída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isso a porta decide (</a:t>
                </a:r>
                <a:r>
                  <a:rPr lang="pt-BR" b="1" dirty="0">
                    <a:solidFill>
                      <a:srgbClr val="00B050"/>
                    </a:solidFill>
                  </a:rPr>
                  <a:t>aprende</a:t>
                </a:r>
                <a:r>
                  <a:rPr lang="pt-BR" dirty="0"/>
                  <a:t>) o quanto de cada elemento deve ser permitido passar.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  <a:blipFill rotWithShape="0">
                <a:blip r:embed="rId3"/>
                <a:stretch>
                  <a:fillRect l="-154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xmlns="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853161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xmlns="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xmlns="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57650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xmlns="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xmlns="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Uma nova informação é armazenada na célula sempre que um elemento da porta de entrada tender a 1.</a:t>
            </a:r>
          </a:p>
          <a:p>
            <a:r>
              <a:rPr lang="pt-BR" dirty="0"/>
              <a:t>Uma informação de longo prazo é descartada da célula sempre que um elemento da porta de esquecimento tender a 0.</a:t>
            </a:r>
          </a:p>
          <a:p>
            <a:r>
              <a:rPr lang="pt-BR" dirty="0"/>
              <a:t>Uma informação de longo prazo é lida da célula sempre que um elemento da porta de saída tender a 1.</a:t>
            </a:r>
          </a:p>
          <a:p>
            <a:r>
              <a:rPr lang="pt-BR" dirty="0"/>
              <a:t>Em resumo, uma célula LSTM aprende a reconhecer uma informação importante, armazená-la no estado de longo prazo, preservá-la pelo tempo que for </a:t>
            </a:r>
            <a:r>
              <a:rPr lang="pt-BR"/>
              <a:t>necessário e </a:t>
            </a:r>
            <a:r>
              <a:rPr lang="pt-BR" dirty="0"/>
              <a:t>extraí-la sempre que necessário.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A9546B0-E611-8DE0-67E8-AC0E006F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EE102919-44DD-475F-D93A-6A393403D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1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0</a:t>
                </a:r>
                <a:r>
                  <a:rPr lang="pt-BR" dirty="0"/>
                  <a:t>, então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Ou seja, o estado interno da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permanecerá constante para sempre</a:t>
                </a:r>
                <a:r>
                  <a:rPr lang="pt-BR" dirty="0"/>
                  <a:t>, passando inalterado para cada passo de tempo subsequente.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assim que a memória de longo prazo é mantida.</a:t>
                </a:r>
              </a:p>
              <a:p>
                <a:r>
                  <a:rPr lang="pt-BR" dirty="0"/>
                  <a:t>No entanto, as portas de entrada e de esquecimento dão ao modelo a </a:t>
                </a:r>
                <a:r>
                  <a:rPr lang="pt-BR" b="1" dirty="0">
                    <a:solidFill>
                      <a:srgbClr val="7030A0"/>
                    </a:solidFill>
                  </a:rPr>
                  <a:t>flexibilidade de aprender quando manter ou não</a:t>
                </a:r>
                <a:r>
                  <a:rPr lang="pt-BR" dirty="0"/>
                  <a:t> esse valor inalterado em resposta a entradas subsequentes.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  <a:blipFill>
                <a:blip r:embed="rId2"/>
                <a:stretch>
                  <a:fillRect l="-1626" t="-2663" r="-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xmlns="" id="{177CA027-CFCC-FCF8-FD37-50222E2DAA65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32060EE7-289F-5B75-AB76-73E333DE6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56302AEA-37ED-B440-6221-CCAC9091219A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31C094EB-7488-FB9B-1E9C-03B1C6C799F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DF703A9D-5199-717A-7731-5781954D7F20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C8FC18C0-A7EF-FB6B-7E12-D72DD3F13622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D6C3AADC-9B70-D706-CC6D-0DC43A127731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6E3A303C-5914-D4DD-FEA0-76EC3BB8CCF4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2116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BD5BAE2-6A9C-5F01-525B-45AB07730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D67E614-DAEB-F5E1-30D0-2E4A5E8BE3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</p:spPr>
            <p:txBody>
              <a:bodyPr/>
              <a:lstStyle/>
              <a:p>
                <a:r>
                  <a:rPr lang="pt-BR" dirty="0"/>
                  <a:t>Sempre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1</a:t>
                </a:r>
                <a:r>
                  <a:rPr lang="pt-BR" dirty="0"/>
                  <a:t>, permitimos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</a:t>
                </a:r>
                <a:r>
                  <a:rPr lang="pt-BR" dirty="0"/>
                  <a:t> sem inibição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 outro lado,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0</a:t>
                </a:r>
                <a:r>
                  <a:rPr lang="pt-BR" dirty="0"/>
                  <a:t>, impedimos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  <a:blipFill>
                <a:blip r:embed="rId2"/>
                <a:stretch>
                  <a:fillRect l="-1708" t="-1937" r="-27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xmlns="" id="{79E4F418-670A-DED4-CF7C-05F26F21CCCB}"/>
              </a:ext>
            </a:extLst>
          </p:cNvPr>
          <p:cNvGrpSpPr/>
          <p:nvPr/>
        </p:nvGrpSpPr>
        <p:grpSpPr>
          <a:xfrm>
            <a:off x="223692" y="2408970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035911D9-7242-6F9F-9F6D-8C568A0F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89568A9D-6534-78D5-9441-295D48B12F1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3820B776-09FD-3576-AAD3-BD2DD712BEDE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18B8C167-A714-6FEF-845B-8A21565C6038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D7A11C8E-1A5D-C6CB-FB98-99CBC8D5BFFC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694C4716-9A87-CC7F-64FE-06EDC9867093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A6A3A084-0B5C-153E-599D-70B15346BEA3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05074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1100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esquecimento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xmlns="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entrada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</a:t>
                </a:r>
                <a:r>
                  <a:rPr lang="pt-BR" dirty="0" smtClean="0"/>
                  <a:t>(totalmente ou parcialmente) no </a:t>
                </a:r>
                <a:r>
                  <a:rPr lang="pt-BR" dirty="0"/>
                  <a:t>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</a:t>
                </a:r>
                <a:r>
                  <a:rPr lang="pt-BR" dirty="0" smtClean="0"/>
                  <a:t>de </a:t>
                </a:r>
                <a:r>
                  <a:rPr lang="pt-BR" dirty="0"/>
                  <a:t>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 rotWithShape="0"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</a:t>
                </a:r>
                <a:r>
                  <a:rPr lang="pt-BR" dirty="0" smtClean="0"/>
                  <a:t>do que as </a:t>
                </a:r>
                <a:r>
                  <a:rPr lang="pt-BR" dirty="0" err="1" smtClean="0"/>
                  <a:t>RNNs</a:t>
                </a:r>
                <a:r>
                  <a:rPr lang="pt-BR" dirty="0"/>
                  <a:t> </a:t>
                </a:r>
                <a:r>
                  <a:rPr lang="pt-BR" dirty="0" smtClean="0"/>
                  <a:t>tradicionais.</a:t>
                </a:r>
                <a:endParaRPr lang="pt-BR" dirty="0"/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</a:t>
                </a:r>
                <a:r>
                  <a:rPr lang="pt-BR" dirty="0" smtClean="0"/>
                  <a:t>GPU.</a:t>
                </a:r>
                <a:endParaRPr lang="pt-BR" dirty="0"/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</a:t>
                </a:r>
                <a:r>
                  <a:rPr lang="en-US" i="1" dirty="0"/>
                  <a:t>Transformers</a:t>
                </a:r>
                <a:r>
                  <a:rPr lang="en-US" dirty="0"/>
                  <a:t> com </a:t>
                </a:r>
                <a:r>
                  <a:rPr lang="en-US" i="1" dirty="0" smtClean="0"/>
                  <a:t>attention.</a:t>
                </a:r>
                <a:endParaRPr lang="en-US" i="1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 smtClean="0"/>
                  <a:t>elhor</a:t>
                </a:r>
                <a:r>
                  <a:rPr lang="pt-BR" dirty="0" smtClean="0"/>
                  <a:t> paralelização </a:t>
                </a:r>
                <a:r>
                  <a:rPr lang="pt-BR" dirty="0"/>
                  <a:t>e capturam de dependências </a:t>
                </a:r>
                <a:r>
                  <a:rPr lang="pt-BR" dirty="0" smtClean="0"/>
                  <a:t>globais.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25464" y="2120092"/>
            <a:ext cx="11499741" cy="26998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Será que conseguimos algo quase tão bom quanto </a:t>
            </a:r>
            <a:r>
              <a:rPr lang="pt-BR" sz="6000" dirty="0" smtClean="0"/>
              <a:t>uma LSTM</a:t>
            </a:r>
            <a:r>
              <a:rPr lang="pt-BR" sz="6000" dirty="0"/>
              <a:t>, porém mais simples</a:t>
            </a:r>
            <a:r>
              <a:rPr lang="pt-BR" sz="6000" dirty="0" smtClean="0"/>
              <a:t>?</a:t>
            </a:r>
            <a:endParaRPr lang="pt-BR" sz="6000" dirty="0"/>
          </a:p>
        </p:txBody>
      </p:sp>
    </p:spTree>
    <p:extLst>
      <p:ext uri="{BB962C8B-B14F-4D97-AF65-F5344CB8AC3E}">
        <p14:creationId xmlns:p14="http://schemas.microsoft.com/office/powerpoint/2010/main" val="13942240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400" b="1" dirty="0" err="1" smtClean="0">
                <a:solidFill>
                  <a:schemeClr val="accent2"/>
                </a:solidFill>
              </a:rPr>
              <a:t>GRUs</a:t>
            </a:r>
            <a:r>
              <a:rPr lang="pt-BR" sz="4400" b="1" dirty="0" smtClean="0">
                <a:solidFill>
                  <a:schemeClr val="accent2"/>
                </a:solidFill>
              </a:rPr>
              <a:t> </a:t>
            </a:r>
            <a:r>
              <a:rPr lang="pt-BR" sz="4400" b="1" dirty="0" err="1" smtClean="0">
                <a:solidFill>
                  <a:schemeClr val="accent2"/>
                </a:solidFill>
              </a:rPr>
              <a:t>combinanm</a:t>
            </a:r>
            <a:r>
              <a:rPr lang="pt-BR" sz="4400" b="1" dirty="0" smtClean="0">
                <a:solidFill>
                  <a:schemeClr val="accent2"/>
                </a:solidFill>
              </a:rPr>
              <a:t> a porta de esquecimento e de entrada em uma única porta</a:t>
            </a:r>
            <a:endParaRPr lang="pt-BR" sz="4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93924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</a:t>
            </a:r>
            <a:r>
              <a:rPr lang="pt-BR" dirty="0" smtClean="0"/>
              <a:t>novas arquiteturas foram </a:t>
            </a:r>
            <a:r>
              <a:rPr lang="pt-BR" dirty="0"/>
              <a:t>propostas com o objetivo </a:t>
            </a:r>
            <a:r>
              <a:rPr lang="pt-BR" dirty="0" smtClean="0"/>
              <a:t>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</a:t>
            </a:r>
            <a:r>
              <a:rPr lang="pt-BR" dirty="0" smtClean="0"/>
              <a:t>eduzir a quantidade de parâmetros,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</a:t>
            </a:r>
            <a:r>
              <a:rPr lang="pt-BR" dirty="0" smtClean="0"/>
              <a:t>eduzir o custo computacional,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reduzir o consumo de memória,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e acelerar o treinamento </a:t>
            </a:r>
          </a:p>
          <a:p>
            <a:pPr marL="0" indent="0">
              <a:buNone/>
            </a:pPr>
            <a:r>
              <a:rPr lang="pt-BR" dirty="0"/>
              <a:t>c</a:t>
            </a:r>
            <a:r>
              <a:rPr lang="pt-BR" dirty="0" smtClean="0"/>
              <a:t>om relação às </a:t>
            </a:r>
            <a:r>
              <a:rPr lang="pt-BR" dirty="0" err="1" smtClean="0"/>
              <a:t>LSTMs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 smtClean="0"/>
              <a:t>Assim, as </a:t>
            </a:r>
            <a:r>
              <a:rPr lang="pt-BR" dirty="0" err="1" smtClean="0"/>
              <a:t>GRUs</a:t>
            </a:r>
            <a:r>
              <a:rPr lang="pt-BR" dirty="0" smtClean="0"/>
              <a:t> </a:t>
            </a:r>
            <a:r>
              <a:rPr lang="pt-BR" dirty="0"/>
              <a:t>foram propostas em 2014 por </a:t>
            </a:r>
            <a:r>
              <a:rPr lang="pt-BR" dirty="0" err="1"/>
              <a:t>Kyunghyun</a:t>
            </a:r>
            <a:r>
              <a:rPr lang="pt-BR" dirty="0"/>
              <a:t> Cho </a:t>
            </a:r>
            <a:r>
              <a:rPr lang="pt-BR" dirty="0" smtClean="0"/>
              <a:t>e colegas com esse objetivo.</a:t>
            </a:r>
            <a:endParaRPr lang="pt-BR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327" y="2676956"/>
            <a:ext cx="4932091" cy="271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As </a:t>
            </a:r>
            <a:r>
              <a:rPr lang="pt-BR" dirty="0" err="1" smtClean="0"/>
              <a:t>GRUs</a:t>
            </a:r>
            <a:r>
              <a:rPr lang="pt-BR" dirty="0" smtClean="0"/>
              <a:t> são uma </a:t>
            </a:r>
            <a:r>
              <a:rPr lang="pt-BR" dirty="0"/>
              <a:t>versão simplificada da célula de memória LSTM.</a:t>
            </a:r>
          </a:p>
          <a:p>
            <a:r>
              <a:rPr lang="pt-BR" dirty="0"/>
              <a:t>Em geral, atingem desempenho </a:t>
            </a:r>
            <a:r>
              <a:rPr lang="pt-BR" dirty="0" smtClean="0"/>
              <a:t>comparável às </a:t>
            </a:r>
            <a:r>
              <a:rPr lang="pt-BR" dirty="0" err="1" smtClean="0"/>
              <a:t>LSTMs</a:t>
            </a:r>
            <a:r>
              <a:rPr lang="pt-BR" dirty="0" smtClean="0"/>
              <a:t>, </a:t>
            </a:r>
            <a:r>
              <a:rPr lang="pt-BR" dirty="0"/>
              <a:t>mas com a vantagem de terem menos </a:t>
            </a:r>
            <a:r>
              <a:rPr lang="pt-BR" dirty="0" smtClean="0"/>
              <a:t>parâmetros, serem menos complexas </a:t>
            </a:r>
            <a:r>
              <a:rPr lang="pt-BR" dirty="0"/>
              <a:t>e </a:t>
            </a:r>
            <a:r>
              <a:rPr lang="pt-BR" dirty="0" smtClean="0"/>
              <a:t>serem treinadas mais rapidamente.</a:t>
            </a:r>
          </a:p>
          <a:p>
            <a:r>
              <a:rPr lang="pt-BR" dirty="0" smtClean="0"/>
              <a:t>Elas têm apenas duas portas: a de </a:t>
            </a:r>
            <a:r>
              <a:rPr lang="pt-BR" i="1" dirty="0" smtClean="0"/>
              <a:t>reset</a:t>
            </a:r>
            <a:r>
              <a:rPr lang="pt-BR" dirty="0" smtClean="0"/>
              <a:t> e a de atualização.</a:t>
            </a:r>
          </a:p>
          <a:p>
            <a:r>
              <a:rPr lang="pt-BR" dirty="0" smtClean="0"/>
              <a:t>Além disso, elas incorporam a memória de longo prazo </a:t>
            </a:r>
            <a:r>
              <a:rPr lang="pt-BR" dirty="0"/>
              <a:t>no próprio estado oculto.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327" y="2676956"/>
            <a:ext cx="4932091" cy="271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1373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A </a:t>
            </a:r>
            <a:r>
              <a:rPr lang="pt-BR" dirty="0"/>
              <a:t>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</a:t>
            </a:r>
            <a:r>
              <a:rPr lang="pt-BR"/>
              <a:t>e </a:t>
            </a:r>
            <a:r>
              <a:rPr lang="pt-BR" smtClean="0"/>
              <a:t>quanta será </a:t>
            </a:r>
            <a:r>
              <a:rPr lang="pt-BR" dirty="0"/>
              <a:t>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825" y="2549186"/>
            <a:ext cx="4932091" cy="29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779" y="1230330"/>
            <a:ext cx="11598442" cy="43973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células LSTM e GRU minimizam o problema do desaparecimento do gradiente e, consequentemente, mantém a memória de longo prazo?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células de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</a:t>
                </a:r>
                <a:r>
                  <a:rPr lang="pt-BR" b="1" dirty="0">
                    <a:solidFill>
                      <a:srgbClr val="7030A0"/>
                    </a:solidFill>
                  </a:rPr>
                  <a:t>caminho não-linear para 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novo estado da célula passa por uma função </a:t>
                </a:r>
                <a:r>
                  <a:rPr lang="pt-BR" dirty="0" err="1"/>
                  <a:t>tanh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Como sabemos, a derivada de </a:t>
                </a:r>
                <a:r>
                  <a:rPr lang="pt-BR" dirty="0" err="1"/>
                  <a:t>tanh</a:t>
                </a:r>
                <a:r>
                  <a:rPr lang="pt-BR" dirty="0"/>
                  <a:t> tem um valor máximo de 1. </a:t>
                </a:r>
              </a:p>
              <a:p>
                <a:r>
                  <a:rPr lang="pt-BR" dirty="0"/>
                  <a:t>O resultado é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 diminui exponencialmente</a:t>
                </a:r>
                <a:r>
                  <a:rPr lang="pt-BR" dirty="0"/>
                  <a:t> à medida que volta no tempo,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impedindo que a rede aprenda dependências de longo prazo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58" y="3177798"/>
            <a:ext cx="4689828" cy="232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as células LSTM e GRU modificam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por meio de um </a:t>
                </a:r>
                <a:r>
                  <a:rPr lang="pt-BR" b="1" dirty="0">
                    <a:solidFill>
                      <a:srgbClr val="00B050"/>
                    </a:solidFill>
                  </a:rPr>
                  <a:t>caminho controlável</a:t>
                </a:r>
                <a:r>
                  <a:rPr lang="pt-BR" dirty="0">
                    <a:solidFill>
                      <a:schemeClr val="tx1"/>
                    </a:solidFill>
                  </a:rPr>
                  <a:t> (por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</a:t>
                </a:r>
                <a:r>
                  <a:rPr lang="pt-BR" dirty="0"/>
                  <a:t>que contém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atualizado usando </a:t>
                </a:r>
                <a:r>
                  <a:rPr lang="pt-BR" b="1" dirty="0"/>
                  <a:t>uma</a:t>
                </a:r>
                <a:r>
                  <a:rPr lang="pt-BR" dirty="0"/>
                  <a:t> </a:t>
                </a:r>
                <a:r>
                  <a:rPr lang="pt-BR" b="1" dirty="0"/>
                  <a:t>soma e multiplicações elemento a elemento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sem passar por transformações não lineares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  <a:blipFill rotWithShape="0">
                <a:blip r:embed="rId2"/>
                <a:stretch>
                  <a:fillRect l="-178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1690688"/>
            <a:ext cx="3888430" cy="2393526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6" y="4431563"/>
            <a:ext cx="3888429" cy="2141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95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04731FB8-17E6-6325-5B4E-B3F89A3E6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0" y="1825624"/>
            <a:ext cx="6777519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Esse </a:t>
            </a:r>
            <a:r>
              <a:rPr lang="pt-BR" b="1" dirty="0">
                <a:solidFill>
                  <a:srgbClr val="00B050"/>
                </a:solidFill>
              </a:rPr>
              <a:t>caminho controlável</a:t>
            </a:r>
            <a:r>
              <a:rPr lang="pt-BR" dirty="0"/>
              <a:t> permite que os gradientes retrocedam no tempo sem </a:t>
            </a:r>
            <a:r>
              <a:rPr lang="pt-BR" b="1" dirty="0">
                <a:solidFill>
                  <a:srgbClr val="7030A0"/>
                </a:solidFill>
              </a:rPr>
              <a:t>necessariamente</a:t>
            </a:r>
            <a:r>
              <a:rPr lang="pt-BR" dirty="0"/>
              <a:t> desaparecer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 smtClean="0"/>
              <a:t>A </a:t>
            </a:r>
            <a:r>
              <a:rPr lang="pt-BR" dirty="0"/>
              <a:t>rede 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a decidir quando deixar o </a:t>
            </a:r>
            <a:r>
              <a:rPr lang="pt-BR" b="1" dirty="0">
                <a:solidFill>
                  <a:schemeClr val="accent2"/>
                </a:solidFill>
              </a:rPr>
              <a:t>gradiente desaparecer </a:t>
            </a:r>
            <a:r>
              <a:rPr lang="pt-BR" dirty="0"/>
              <a:t>e quando </a:t>
            </a:r>
            <a:r>
              <a:rPr lang="pt-BR" b="1" dirty="0" smtClean="0">
                <a:solidFill>
                  <a:schemeClr val="accent2"/>
                </a:solidFill>
              </a:rPr>
              <a:t>preservá-lo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/>
              <a:t>Portanto, as portas permitem que a rede decida o que guardar e o que descartar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4341811"/>
            <a:ext cx="3888429" cy="2141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5466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51" y="2890341"/>
            <a:ext cx="11291298" cy="107731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para as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xmlns="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xmlns="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xmlns="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xmlns="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xmlns="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xmlns="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xmlns="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xmlns="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xmlns="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xmlns="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xmlns="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xmlns="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xmlns="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xmlns="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xmlns="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xmlns="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xmlns="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xmlns="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xmlns="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xmlns="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xmlns="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xmlns="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xmlns="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xmlns="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xmlns="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xmlns="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xmlns="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xmlns="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xmlns="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xmlns="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xmlns="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xmlns="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xmlns="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xmlns="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xmlns="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xmlns="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xmlns="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xmlns="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xmlns="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xmlns="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xmlns="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xmlns="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xmlns="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xmlns="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xmlns="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xmlns="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xmlns="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xmlns="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xmlns="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xmlns="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xmlns="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xmlns="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xmlns="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xmlns="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xmlns="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xmlns="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xmlns="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xmlns="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xmlns="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xmlns="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xmlns="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xmlns="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xmlns="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xmlns="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xmlns="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xmlns="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xmlns="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xmlns="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xmlns="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xmlns="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xmlns="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xmlns="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xmlns="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xmlns="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xmlns="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xmlns="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xmlns="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xmlns="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xmlns="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xmlns="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xmlns="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xmlns="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xmlns="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xmlns="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="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="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="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xmlns="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xmlns="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xmlns="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xmlns="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xmlns="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xmlns="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xmlns="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xmlns="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xmlns="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xmlns="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xmlns="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xmlns="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xmlns="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xmlns="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xmlns="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xmlns="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xmlns="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xmlns="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xmlns="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xmlns="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xmlns="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xmlns="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xmlns="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xmlns="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xmlns="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xmlns="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xmlns="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xmlns="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xmlns="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xmlns="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xmlns="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="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xmlns="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xmlns="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xmlns="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xmlns="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="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xmlns="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xmlns="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xmlns="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xmlns="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xmlns="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xmlns="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="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="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="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="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xmlns="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xmlns="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250019"/>
            <a:chOff x="1975628" y="1834844"/>
            <a:chExt cx="7884560" cy="425001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xmlns="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xmlns="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xmlns="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xmlns="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xmlns="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xmlns="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xmlns="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xmlns="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xmlns="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xmlns="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xmlns="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:a16="http://schemas.microsoft.com/office/drawing/2014/main" xmlns="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xmlns="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xmlns="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xmlns="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xmlns="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xmlns="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xmlns="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xmlns="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xmlns="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xmlns="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xmlns="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xmlns="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xmlns="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xmlns="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:a16="http://schemas.microsoft.com/office/drawing/2014/main" xmlns="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:a16="http://schemas.microsoft.com/office/drawing/2014/main" xmlns="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xmlns="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xmlns="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xmlns="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xmlns="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xmlns="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xmlns="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xmlns="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xmlns="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xmlns="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xmlns="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xmlns="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="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:a16="http://schemas.microsoft.com/office/drawing/2014/main" xmlns="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:a16="http://schemas.microsoft.com/office/drawing/2014/main" xmlns="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xmlns="" id="{E601EEF9-98B3-9F64-F85F-07641BA1F0E3}"/>
                </a:ext>
              </a:extLst>
            </p:cNvPr>
            <p:cNvSpPr txBox="1"/>
            <p:nvPr/>
          </p:nvSpPr>
          <p:spPr>
            <a:xfrm>
              <a:off x="5124168" y="550239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:a16="http://schemas.microsoft.com/office/drawing/2014/main" xmlns="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:a16="http://schemas.microsoft.com/office/drawing/2014/main" xmlns="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xmlns="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:a16="http://schemas.microsoft.com/office/drawing/2014/main" xmlns="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:a16="http://schemas.microsoft.com/office/drawing/2014/main" xmlns="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xmlns="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:a16="http://schemas.microsoft.com/office/drawing/2014/main" xmlns="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:a16="http://schemas.microsoft.com/office/drawing/2014/main" xmlns="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:a16="http://schemas.microsoft.com/office/drawing/2014/main" xmlns="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:a16="http://schemas.microsoft.com/office/drawing/2014/main" xmlns="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xmlns="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xmlns="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xmlns="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xmlns="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xmlns="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xmlns="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xmlns="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xmlns="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xmlns="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xmlns="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xmlns="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xmlns="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xmlns="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xmlns="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xmlns="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xmlns="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xmlns="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xmlns="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xmlns="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xmlns="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xmlns="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xmlns="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xmlns="" id="{1E6693AB-9080-966C-4D58-2EA6DBD07FBC}"/>
              </a:ext>
            </a:extLst>
          </p:cNvPr>
          <p:cNvGrpSpPr/>
          <p:nvPr/>
        </p:nvGrpSpPr>
        <p:grpSpPr>
          <a:xfrm>
            <a:off x="506345" y="1849548"/>
            <a:ext cx="5133274" cy="3158904"/>
            <a:chOff x="3387954" y="1841814"/>
            <a:chExt cx="5133274" cy="3158904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063158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000551" y="722618"/>
            <a:ext cx="4928922" cy="2713085"/>
            <a:chOff x="3581399" y="2111642"/>
            <a:chExt cx="4928922" cy="2713085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xmlns="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xmlns="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xmlns="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xmlns="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xmlns="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xmlns="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xmlns="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54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xmlns="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xmlns="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xmlns="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xmlns="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xmlns="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xmlns="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xmlns="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xmlns="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xmlns="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xmlns="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xmlns="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xmlns="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xmlns="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xmlns="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xmlns="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xmlns="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xmlns="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xmlns="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xmlns="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xmlns="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xmlns="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xmlns="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xmlns="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xmlns="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xmlns="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xmlns="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xmlns="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 r="-16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upo 2"/>
          <p:cNvGrpSpPr/>
          <p:nvPr/>
        </p:nvGrpSpPr>
        <p:grpSpPr>
          <a:xfrm>
            <a:off x="5673682" y="3302472"/>
            <a:ext cx="4928922" cy="2713085"/>
            <a:chOff x="5673682" y="3302472"/>
            <a:chExt cx="4928922" cy="2713085"/>
          </a:xfrm>
        </p:grpSpPr>
        <p:sp>
          <p:nvSpPr>
            <p:cNvPr id="68" name="Freeform: Shape 161">
              <a:extLst>
                <a:ext uri="{FF2B5EF4-FFF2-40B4-BE49-F238E27FC236}">
                  <a16:creationId xmlns:a16="http://schemas.microsoft.com/office/drawing/2014/main" xmlns="" id="{1F9CCA16-0915-4D37-C307-5E13D4257933}"/>
                </a:ext>
              </a:extLst>
            </p:cNvPr>
            <p:cNvSpPr/>
            <p:nvPr/>
          </p:nvSpPr>
          <p:spPr>
            <a:xfrm rot="5170363">
              <a:off x="6650626" y="516163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2" name="Straight Arrow Connector 145">
              <a:extLst>
                <a:ext uri="{FF2B5EF4-FFF2-40B4-BE49-F238E27FC236}">
                  <a16:creationId xmlns:a16="http://schemas.microsoft.com/office/drawing/2014/main" xmlns="" id="{58E46E7A-E1E3-D586-BCF0-E5340AD35998}"/>
                </a:ext>
              </a:extLst>
            </p:cNvPr>
            <p:cNvCxnSpPr>
              <a:cxnSpLocks/>
              <a:stCxn id="48" idx="0"/>
              <a:endCxn id="43" idx="4"/>
            </p:cNvCxnSpPr>
            <p:nvPr/>
          </p:nvCxnSpPr>
          <p:spPr>
            <a:xfrm flipV="1">
              <a:off x="8464971" y="404022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148">
              <a:extLst>
                <a:ext uri="{FF2B5EF4-FFF2-40B4-BE49-F238E27FC236}">
                  <a16:creationId xmlns:a16="http://schemas.microsoft.com/office/drawing/2014/main" xmlns="" id="{D4E7BBA5-09C3-80E0-1CAB-039A11EDF1AE}"/>
                </a:ext>
              </a:extLst>
            </p:cNvPr>
            <p:cNvCxnSpPr>
              <a:stCxn id="47" idx="0"/>
              <a:endCxn id="45" idx="4"/>
            </p:cNvCxnSpPr>
            <p:nvPr/>
          </p:nvCxnSpPr>
          <p:spPr>
            <a:xfrm flipV="1">
              <a:off x="9476405" y="404022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149">
              <a:extLst>
                <a:ext uri="{FF2B5EF4-FFF2-40B4-BE49-F238E27FC236}">
                  <a16:creationId xmlns:a16="http://schemas.microsoft.com/office/drawing/2014/main" xmlns="" id="{92B680C6-14AA-8FD4-B377-1166A521DAE9}"/>
                </a:ext>
              </a:extLst>
            </p:cNvPr>
            <p:cNvCxnSpPr>
              <a:cxnSpLocks/>
              <a:stCxn id="44" idx="0"/>
              <a:endCxn id="47" idx="4"/>
            </p:cNvCxnSpPr>
            <p:nvPr/>
          </p:nvCxnSpPr>
          <p:spPr>
            <a:xfrm flipV="1">
              <a:off x="9476405" y="455014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Connector: Elbow 158">
              <a:extLst>
                <a:ext uri="{FF2B5EF4-FFF2-40B4-BE49-F238E27FC236}">
                  <a16:creationId xmlns:a16="http://schemas.microsoft.com/office/drawing/2014/main" xmlns="" id="{CA24E0D2-DBB3-B807-0058-DB1675A40AD5}"/>
                </a:ext>
              </a:extLst>
            </p:cNvPr>
            <p:cNvCxnSpPr>
              <a:cxnSpLocks/>
              <a:stCxn id="66" idx="2"/>
              <a:endCxn id="48" idx="2"/>
            </p:cNvCxnSpPr>
            <p:nvPr/>
          </p:nvCxnSpPr>
          <p:spPr>
            <a:xfrm flipV="1">
              <a:off x="6692857" y="509586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TextBox 163">
                  <a:extLst>
                    <a:ext uri="{FF2B5EF4-FFF2-40B4-BE49-F238E27FC236}">
                      <a16:creationId xmlns:a16="http://schemas.microsoft.com/office/drawing/2014/main" xmlns="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8095189" y="441364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70" name="TextBox 163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95189" y="4413647"/>
                  <a:ext cx="436273" cy="36933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Rectangle 142">
                  <a:extLst>
                    <a:ext uri="{FF2B5EF4-FFF2-40B4-BE49-F238E27FC236}">
                      <a16:creationId xmlns:a16="http://schemas.microsoft.com/office/drawing/2014/main" xmlns="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7418894" y="480088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9" name="Rectangle 142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8894" y="4800881"/>
                  <a:ext cx="332510" cy="297872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Oval 143">
              <a:extLst>
                <a:ext uri="{FF2B5EF4-FFF2-40B4-BE49-F238E27FC236}">
                  <a16:creationId xmlns:a16="http://schemas.microsoft.com/office/drawing/2014/main" xmlns="" id="{A167DEAA-A4BC-3DC5-B475-EBB7590347D8}"/>
                </a:ext>
              </a:extLst>
            </p:cNvPr>
            <p:cNvSpPr/>
            <p:nvPr/>
          </p:nvSpPr>
          <p:spPr>
            <a:xfrm>
              <a:off x="8772361" y="427577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59" name="Connector: Elbow 152">
              <a:extLst>
                <a:ext uri="{FF2B5EF4-FFF2-40B4-BE49-F238E27FC236}">
                  <a16:creationId xmlns:a16="http://schemas.microsoft.com/office/drawing/2014/main" xmlns="" id="{105EEC1D-3C43-F2A9-88AE-42FA04BF1309}"/>
                </a:ext>
              </a:extLst>
            </p:cNvPr>
            <p:cNvCxnSpPr>
              <a:stCxn id="49" idx="0"/>
              <a:endCxn id="42" idx="6"/>
            </p:cNvCxnSpPr>
            <p:nvPr/>
          </p:nvCxnSpPr>
          <p:spPr>
            <a:xfrm rot="16200000" flipV="1">
              <a:off x="7199212" y="441494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Freeform: Shape 159">
              <a:extLst>
                <a:ext uri="{FF2B5EF4-FFF2-40B4-BE49-F238E27FC236}">
                  <a16:creationId xmlns:a16="http://schemas.microsoft.com/office/drawing/2014/main" xmlns="" id="{388429B5-EC77-54D8-F1D7-DD4559DEA260}"/>
                </a:ext>
              </a:extLst>
            </p:cNvPr>
            <p:cNvSpPr/>
            <p:nvPr/>
          </p:nvSpPr>
          <p:spPr>
            <a:xfrm>
              <a:off x="6588082" y="499368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7" name="Straight Connector 160">
              <a:extLst>
                <a:ext uri="{FF2B5EF4-FFF2-40B4-BE49-F238E27FC236}">
                  <a16:creationId xmlns:a16="http://schemas.microsoft.com/office/drawing/2014/main" xmlns="" id="{EB9F10BE-C0D9-DCE6-20B3-0600C34F7790}"/>
                </a:ext>
              </a:extLst>
            </p:cNvPr>
            <p:cNvCxnSpPr/>
            <p:nvPr/>
          </p:nvCxnSpPr>
          <p:spPr>
            <a:xfrm flipV="1">
              <a:off x="6592844" y="533158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Box 165">
                  <a:extLst>
                    <a:ext uri="{FF2B5EF4-FFF2-40B4-BE49-F238E27FC236}">
                      <a16:creationId xmlns:a16="http://schemas.microsoft.com/office/drawing/2014/main" xmlns="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9469151" y="446038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2" name="TextBox 165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69151" y="4460381"/>
                  <a:ext cx="471218" cy="383759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Straight Arrow Connector 173">
              <a:extLst>
                <a:ext uri="{FF2B5EF4-FFF2-40B4-BE49-F238E27FC236}">
                  <a16:creationId xmlns:a16="http://schemas.microsoft.com/office/drawing/2014/main" xmlns="" id="{52896F66-9320-EEE1-2DE9-C988426FD4C8}"/>
                </a:ext>
              </a:extLst>
            </p:cNvPr>
            <p:cNvCxnSpPr>
              <a:cxnSpLocks/>
              <a:stCxn id="50" idx="6"/>
              <a:endCxn id="47" idx="2"/>
            </p:cNvCxnSpPr>
            <p:nvPr/>
          </p:nvCxnSpPr>
          <p:spPr>
            <a:xfrm>
              <a:off x="9045411" y="441229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Oval 135">
              <a:extLst>
                <a:ext uri="{FF2B5EF4-FFF2-40B4-BE49-F238E27FC236}">
                  <a16:creationId xmlns:a16="http://schemas.microsoft.com/office/drawing/2014/main" xmlns="" id="{10C8CDDB-6BDF-ED81-4C18-815D38FC460E}"/>
                </a:ext>
              </a:extLst>
            </p:cNvPr>
            <p:cNvSpPr/>
            <p:nvPr/>
          </p:nvSpPr>
          <p:spPr>
            <a:xfrm>
              <a:off x="6825885" y="437869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Rectangle 137">
              <a:extLst>
                <a:ext uri="{FF2B5EF4-FFF2-40B4-BE49-F238E27FC236}">
                  <a16:creationId xmlns:a16="http://schemas.microsoft.com/office/drawing/2014/main" xmlns="" id="{3690F93B-C813-8543-60EE-FD8C453D5D34}"/>
                </a:ext>
              </a:extLst>
            </p:cNvPr>
            <p:cNvSpPr/>
            <p:nvPr/>
          </p:nvSpPr>
          <p:spPr>
            <a:xfrm>
              <a:off x="9169014" y="480323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Oval 140">
              <a:extLst>
                <a:ext uri="{FF2B5EF4-FFF2-40B4-BE49-F238E27FC236}">
                  <a16:creationId xmlns:a16="http://schemas.microsoft.com/office/drawing/2014/main" xmlns="" id="{C6E8D3F7-3B24-BD33-C5A8-30120A16C309}"/>
                </a:ext>
              </a:extLst>
            </p:cNvPr>
            <p:cNvSpPr/>
            <p:nvPr/>
          </p:nvSpPr>
          <p:spPr>
            <a:xfrm>
              <a:off x="9339880" y="427709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Rectangle 141">
                  <a:extLst>
                    <a:ext uri="{FF2B5EF4-FFF2-40B4-BE49-F238E27FC236}">
                      <a16:creationId xmlns:a16="http://schemas.microsoft.com/office/drawing/2014/main" xmlns="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8298716" y="479799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8" name="Rectangle 141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8716" y="4797995"/>
                  <a:ext cx="332510" cy="29787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TextBox 146">
              <a:extLst>
                <a:ext uri="{FF2B5EF4-FFF2-40B4-BE49-F238E27FC236}">
                  <a16:creationId xmlns:a16="http://schemas.microsoft.com/office/drawing/2014/main" xmlns="" id="{2B2D2713-80F9-8691-6DD2-110DFD52B741}"/>
                </a:ext>
              </a:extLst>
            </p:cNvPr>
            <p:cNvSpPr txBox="1"/>
            <p:nvPr/>
          </p:nvSpPr>
          <p:spPr>
            <a:xfrm>
              <a:off x="8735296" y="422763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0" name="Straight Connector 153">
              <a:extLst>
                <a:ext uri="{FF2B5EF4-FFF2-40B4-BE49-F238E27FC236}">
                  <a16:creationId xmlns:a16="http://schemas.microsoft.com/office/drawing/2014/main" xmlns="" id="{2EE7824F-8399-FB24-5842-DC6000E156F9}"/>
                </a:ext>
              </a:extLst>
            </p:cNvPr>
            <p:cNvCxnSpPr/>
            <p:nvPr/>
          </p:nvCxnSpPr>
          <p:spPr>
            <a:xfrm flipV="1">
              <a:off x="6962410" y="390370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Connector: Elbow 154">
              <a:extLst>
                <a:ext uri="{FF2B5EF4-FFF2-40B4-BE49-F238E27FC236}">
                  <a16:creationId xmlns:a16="http://schemas.microsoft.com/office/drawing/2014/main" xmlns="" id="{BB4CE004-4534-6E2D-73FA-39554F4B499D}"/>
                </a:ext>
              </a:extLst>
            </p:cNvPr>
            <p:cNvCxnSpPr>
              <a:stCxn id="42" idx="4"/>
              <a:endCxn id="44" idx="2"/>
            </p:cNvCxnSpPr>
            <p:nvPr/>
          </p:nvCxnSpPr>
          <p:spPr>
            <a:xfrm rot="16200000" flipH="1">
              <a:off x="7994725" y="361942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Connector: Elbow 156">
              <a:extLst>
                <a:ext uri="{FF2B5EF4-FFF2-40B4-BE49-F238E27FC236}">
                  <a16:creationId xmlns:a16="http://schemas.microsoft.com/office/drawing/2014/main" xmlns="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871608" y="381672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157">
              <a:extLst>
                <a:ext uri="{FF2B5EF4-FFF2-40B4-BE49-F238E27FC236}">
                  <a16:creationId xmlns:a16="http://schemas.microsoft.com/office/drawing/2014/main" xmlns="" id="{6C9CC7CA-AB4F-1D5E-EE6E-AA03D2E71EB1}"/>
                </a:ext>
              </a:extLst>
            </p:cNvPr>
            <p:cNvCxnSpPr/>
            <p:nvPr/>
          </p:nvCxnSpPr>
          <p:spPr>
            <a:xfrm flipV="1">
              <a:off x="6594433" y="390370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162">
              <a:extLst>
                <a:ext uri="{FF2B5EF4-FFF2-40B4-BE49-F238E27FC236}">
                  <a16:creationId xmlns:a16="http://schemas.microsoft.com/office/drawing/2014/main" xmlns="" id="{2472D226-670D-5BCA-F37F-C3B918721002}"/>
                </a:ext>
              </a:extLst>
            </p:cNvPr>
            <p:cNvCxnSpPr>
              <a:cxnSpLocks/>
              <a:stCxn id="49" idx="2"/>
            </p:cNvCxnSpPr>
            <p:nvPr/>
          </p:nvCxnSpPr>
          <p:spPr>
            <a:xfrm>
              <a:off x="7585149" y="509875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Box 164">
                  <a:extLst>
                    <a:ext uri="{FF2B5EF4-FFF2-40B4-BE49-F238E27FC236}">
                      <a16:creationId xmlns:a16="http://schemas.microsoft.com/office/drawing/2014/main" xmlns="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7214481" y="443877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1" name="TextBox 164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4481" y="4438779"/>
                  <a:ext cx="448777" cy="369332"/>
                </a:xfrm>
                <a:prstGeom prst="rect">
                  <a:avLst/>
                </a:prstGeom>
                <a:blipFill rotWithShape="0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Straight Arrow Connector 172">
              <a:extLst>
                <a:ext uri="{FF2B5EF4-FFF2-40B4-BE49-F238E27FC236}">
                  <a16:creationId xmlns:a16="http://schemas.microsoft.com/office/drawing/2014/main" xmlns="" id="{392EC775-E042-840D-378B-90F1077C2FE0}"/>
                </a:ext>
              </a:extLst>
            </p:cNvPr>
            <p:cNvCxnSpPr>
              <a:cxnSpLocks/>
              <a:endCxn id="50" idx="2"/>
            </p:cNvCxnSpPr>
            <p:nvPr/>
          </p:nvCxnSpPr>
          <p:spPr>
            <a:xfrm>
              <a:off x="8464971" y="441229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Rectangle: Rounded Corners 133">
              <a:extLst>
                <a:ext uri="{FF2B5EF4-FFF2-40B4-BE49-F238E27FC236}">
                  <a16:creationId xmlns:a16="http://schemas.microsoft.com/office/drawing/2014/main" xmlns="" id="{90050B18-8D3F-55EF-2EB2-32D909A3DEA1}"/>
                </a:ext>
              </a:extLst>
            </p:cNvPr>
            <p:cNvSpPr/>
            <p:nvPr/>
          </p:nvSpPr>
          <p:spPr>
            <a:xfrm>
              <a:off x="6393459" y="362923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1" name="Straight Arrow Connector 134">
              <a:extLst>
                <a:ext uri="{FF2B5EF4-FFF2-40B4-BE49-F238E27FC236}">
                  <a16:creationId xmlns:a16="http://schemas.microsoft.com/office/drawing/2014/main" xmlns="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16432" y="343570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Oval 136">
              <a:extLst>
                <a:ext uri="{FF2B5EF4-FFF2-40B4-BE49-F238E27FC236}">
                  <a16:creationId xmlns:a16="http://schemas.microsoft.com/office/drawing/2014/main" xmlns="" id="{C878417F-026D-C5E4-7CD5-9AF914BD3FA8}"/>
                </a:ext>
              </a:extLst>
            </p:cNvPr>
            <p:cNvSpPr/>
            <p:nvPr/>
          </p:nvSpPr>
          <p:spPr>
            <a:xfrm>
              <a:off x="8328764" y="376717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Oval 138">
              <a:extLst>
                <a:ext uri="{FF2B5EF4-FFF2-40B4-BE49-F238E27FC236}">
                  <a16:creationId xmlns:a16="http://schemas.microsoft.com/office/drawing/2014/main" xmlns="" id="{D95F8E15-9ACA-85AA-D57F-195E21823AC0}"/>
                </a:ext>
              </a:extLst>
            </p:cNvPr>
            <p:cNvSpPr/>
            <p:nvPr/>
          </p:nvSpPr>
          <p:spPr>
            <a:xfrm>
              <a:off x="9339880" y="376717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TextBox 139">
                  <a:extLst>
                    <a:ext uri="{FF2B5EF4-FFF2-40B4-BE49-F238E27FC236}">
                      <a16:creationId xmlns:a16="http://schemas.microsoft.com/office/drawing/2014/main" xmlns="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5673682" y="371102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6" name="TextBox 139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73682" y="3711021"/>
                  <a:ext cx="511583" cy="369332"/>
                </a:xfrm>
                <a:prstGeom prst="rect">
                  <a:avLst/>
                </a:prstGeom>
                <a:blipFill rotWithShape="0">
                  <a:blip r:embed="rId17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Connector 144">
              <a:extLst>
                <a:ext uri="{FF2B5EF4-FFF2-40B4-BE49-F238E27FC236}">
                  <a16:creationId xmlns:a16="http://schemas.microsoft.com/office/drawing/2014/main" xmlns="" id="{117D1456-CB87-98A7-0EB1-D7D8E8F96920}"/>
                </a:ext>
              </a:extLst>
            </p:cNvPr>
            <p:cNvCxnSpPr>
              <a:cxnSpLocks/>
              <a:stCxn id="46" idx="3"/>
              <a:endCxn id="43" idx="2"/>
            </p:cNvCxnSpPr>
            <p:nvPr/>
          </p:nvCxnSpPr>
          <p:spPr>
            <a:xfrm>
              <a:off x="6185265" y="389568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Connector 147">
              <a:extLst>
                <a:ext uri="{FF2B5EF4-FFF2-40B4-BE49-F238E27FC236}">
                  <a16:creationId xmlns:a16="http://schemas.microsoft.com/office/drawing/2014/main" xmlns="" id="{89B28A53-8903-1E7F-2167-9D4D45F09B8D}"/>
                </a:ext>
              </a:extLst>
            </p:cNvPr>
            <p:cNvCxnSpPr>
              <a:stCxn id="43" idx="6"/>
              <a:endCxn id="45" idx="2"/>
            </p:cNvCxnSpPr>
            <p:nvPr/>
          </p:nvCxnSpPr>
          <p:spPr>
            <a:xfrm>
              <a:off x="8601814" y="390370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150">
              <a:extLst>
                <a:ext uri="{FF2B5EF4-FFF2-40B4-BE49-F238E27FC236}">
                  <a16:creationId xmlns:a16="http://schemas.microsoft.com/office/drawing/2014/main" xmlns="" id="{629C1E56-B71B-009E-0B81-04D4491F1D52}"/>
                </a:ext>
              </a:extLst>
            </p:cNvPr>
            <p:cNvCxnSpPr>
              <a:cxnSpLocks/>
              <a:stCxn id="45" idx="6"/>
            </p:cNvCxnSpPr>
            <p:nvPr/>
          </p:nvCxnSpPr>
          <p:spPr>
            <a:xfrm>
              <a:off x="9612929" y="390370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10238760" y="371102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8" name="TextBox 151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8760" y="3711021"/>
                  <a:ext cx="363844" cy="369332"/>
                </a:xfrm>
                <a:prstGeom prst="rect">
                  <a:avLst/>
                </a:prstGeom>
                <a:blipFill rotWithShape="0">
                  <a:blip r:embed="rId18"/>
                  <a:stretch>
                    <a:fillRect r="-16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TextBox 155">
                  <a:extLst>
                    <a:ext uri="{FF2B5EF4-FFF2-40B4-BE49-F238E27FC236}">
                      <a16:creationId xmlns:a16="http://schemas.microsoft.com/office/drawing/2014/main" xmlns="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6363075" y="564622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2" name="TextBox 155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3075" y="5646225"/>
                  <a:ext cx="458394" cy="369332"/>
                </a:xfrm>
                <a:prstGeom prst="rect">
                  <a:avLst/>
                </a:prstGeom>
                <a:blipFill rotWithShape="0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5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10057140" y="3302472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5" name="TextBox 151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57140" y="3302472"/>
                  <a:ext cx="363844" cy="369332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 r="-16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/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54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xmlns="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xmlns="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xmlns="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xmlns="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xmlns="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xmlns="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xmlns="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xmlns="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xmlns="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xmlns="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xmlns="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xmlns="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xmlns="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xmlns="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xmlns="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xmlns="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xmlns="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xmlns="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xmlns="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xmlns="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xmlns="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xmlns="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xmlns="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xmlns="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944046" y="211472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4046" y="2114721"/>
                  <a:ext cx="363844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11382</TotalTime>
  <Words>4694</Words>
  <Application>Microsoft Office PowerPoint</Application>
  <PresentationFormat>Widescreen</PresentationFormat>
  <Paragraphs>1036</Paragraphs>
  <Slides>98</Slides>
  <Notes>57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98</vt:i4>
      </vt:variant>
    </vt:vector>
  </HeadingPairs>
  <TitlesOfParts>
    <vt:vector size="105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Long-short term memory (LSTM)</vt:lpstr>
      <vt:lpstr>Como as portas funcionam?</vt:lpstr>
      <vt:lpstr>Como as portas funcionam?</vt:lpstr>
      <vt:lpstr>Dinâmica das portas em uma célula LSTM</vt:lpstr>
      <vt:lpstr>Dinâmica das portas em uma célula LSTM</vt:lpstr>
      <vt:lpstr>Apresentação do PowerPoint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Apresentação do PowerPoint</vt:lpstr>
      <vt:lpstr>Apresentação do PowerPoint</vt:lpstr>
      <vt:lpstr>Gated recurrent unit (GRU)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2161</cp:revision>
  <dcterms:created xsi:type="dcterms:W3CDTF">2020-01-20T13:50:05Z</dcterms:created>
  <dcterms:modified xsi:type="dcterms:W3CDTF">2026-05-18T01:20:46Z</dcterms:modified>
</cp:coreProperties>
</file>