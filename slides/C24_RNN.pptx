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changesInfos/changesInfo1.xml" ContentType="application/vnd.ms-powerpoint.changesinfo+xml"/>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0"/>
  </p:notesMasterIdLst>
  <p:handoutMasterIdLst>
    <p:handoutMasterId r:id="rId101"/>
  </p:handoutMasterIdLst>
  <p:sldIdLst>
    <p:sldId id="256" r:id="rId2"/>
    <p:sldId id="315" r:id="rId3"/>
    <p:sldId id="308" r:id="rId4"/>
    <p:sldId id="316" r:id="rId5"/>
    <p:sldId id="325" r:id="rId6"/>
    <p:sldId id="605" r:id="rId7"/>
    <p:sldId id="317" r:id="rId8"/>
    <p:sldId id="326" r:id="rId9"/>
    <p:sldId id="606" r:id="rId10"/>
    <p:sldId id="328" r:id="rId11"/>
    <p:sldId id="329" r:id="rId12"/>
    <p:sldId id="607" r:id="rId13"/>
    <p:sldId id="620" r:id="rId14"/>
    <p:sldId id="334" r:id="rId15"/>
    <p:sldId id="622" r:id="rId16"/>
    <p:sldId id="332" r:id="rId17"/>
    <p:sldId id="609" r:id="rId18"/>
    <p:sldId id="610" r:id="rId19"/>
    <p:sldId id="627" r:id="rId20"/>
    <p:sldId id="625" r:id="rId21"/>
    <p:sldId id="618" r:id="rId22"/>
    <p:sldId id="633" r:id="rId23"/>
    <p:sldId id="338" r:id="rId24"/>
    <p:sldId id="630" r:id="rId25"/>
    <p:sldId id="631" r:id="rId26"/>
    <p:sldId id="611" r:id="rId27"/>
    <p:sldId id="341" r:id="rId28"/>
    <p:sldId id="612" r:id="rId29"/>
    <p:sldId id="637" r:id="rId30"/>
    <p:sldId id="638" r:id="rId31"/>
    <p:sldId id="344" r:id="rId32"/>
    <p:sldId id="345" r:id="rId33"/>
    <p:sldId id="640" r:id="rId34"/>
    <p:sldId id="342" r:id="rId35"/>
    <p:sldId id="613" r:id="rId36"/>
    <p:sldId id="601" r:id="rId37"/>
    <p:sldId id="623" r:id="rId38"/>
    <p:sldId id="346" r:id="rId39"/>
    <p:sldId id="347" r:id="rId40"/>
    <p:sldId id="643" r:id="rId41"/>
    <p:sldId id="349" r:id="rId42"/>
    <p:sldId id="351" r:id="rId43"/>
    <p:sldId id="645" r:id="rId44"/>
    <p:sldId id="352" r:id="rId45"/>
    <p:sldId id="649" r:id="rId46"/>
    <p:sldId id="355" r:id="rId47"/>
    <p:sldId id="650" r:id="rId48"/>
    <p:sldId id="655" r:id="rId49"/>
    <p:sldId id="376" r:id="rId50"/>
    <p:sldId id="616" r:id="rId51"/>
    <p:sldId id="656" r:id="rId52"/>
    <p:sldId id="374" r:id="rId53"/>
    <p:sldId id="651" r:id="rId54"/>
    <p:sldId id="652" r:id="rId55"/>
    <p:sldId id="657" r:id="rId56"/>
    <p:sldId id="358" r:id="rId57"/>
    <p:sldId id="362" r:id="rId58"/>
    <p:sldId id="591" r:id="rId59"/>
    <p:sldId id="365" r:id="rId60"/>
    <p:sldId id="366" r:id="rId61"/>
    <p:sldId id="367" r:id="rId62"/>
    <p:sldId id="642" r:id="rId63"/>
    <p:sldId id="368" r:id="rId64"/>
    <p:sldId id="371" r:id="rId65"/>
    <p:sldId id="603" r:id="rId66"/>
    <p:sldId id="381" r:id="rId67"/>
    <p:sldId id="377" r:id="rId68"/>
    <p:sldId id="594" r:id="rId69"/>
    <p:sldId id="595" r:id="rId70"/>
    <p:sldId id="596" r:id="rId71"/>
    <p:sldId id="597" r:id="rId72"/>
    <p:sldId id="598" r:id="rId73"/>
    <p:sldId id="599" r:id="rId74"/>
    <p:sldId id="624" r:id="rId75"/>
    <p:sldId id="600" r:id="rId76"/>
    <p:sldId id="588" r:id="rId77"/>
    <p:sldId id="589" r:id="rId78"/>
    <p:sldId id="293" r:id="rId79"/>
    <p:sldId id="306" r:id="rId80"/>
    <p:sldId id="335" r:id="rId81"/>
    <p:sldId id="590" r:id="rId82"/>
    <p:sldId id="608" r:id="rId83"/>
    <p:sldId id="330" r:id="rId84"/>
    <p:sldId id="340" r:id="rId85"/>
    <p:sldId id="348" r:id="rId86"/>
    <p:sldId id="350" r:id="rId87"/>
    <p:sldId id="353" r:id="rId88"/>
    <p:sldId id="354" r:id="rId89"/>
    <p:sldId id="373" r:id="rId90"/>
    <p:sldId id="647" r:id="rId91"/>
    <p:sldId id="357" r:id="rId92"/>
    <p:sldId id="359" r:id="rId93"/>
    <p:sldId id="592" r:id="rId94"/>
    <p:sldId id="363" r:id="rId95"/>
    <p:sldId id="364" r:id="rId96"/>
    <p:sldId id="654" r:id="rId97"/>
    <p:sldId id="369" r:id="rId98"/>
    <p:sldId id="370" r:id="rId99"/>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78" autoAdjust="0"/>
    <p:restoredTop sz="84140" autoAdjust="0"/>
  </p:normalViewPr>
  <p:slideViewPr>
    <p:cSldViewPr snapToGrid="0">
      <p:cViewPr varScale="1">
        <p:scale>
          <a:sx n="62" d="100"/>
          <a:sy n="62" d="100"/>
        </p:scale>
        <p:origin x="1218" y="48"/>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07" Type="http://schemas.microsoft.com/office/2016/11/relationships/changesInfo" Target="changesInfos/changesInfo1.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slide" Target="slides/slide78.xml"/><Relationship Id="rId87" Type="http://schemas.openxmlformats.org/officeDocument/2006/relationships/slide" Target="slides/slide86.xml"/><Relationship Id="rId102"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slide" Target="slides/slide81.xml"/><Relationship Id="rId90" Type="http://schemas.openxmlformats.org/officeDocument/2006/relationships/slide" Target="slides/slide89.xml"/><Relationship Id="rId95" Type="http://schemas.openxmlformats.org/officeDocument/2006/relationships/slide" Target="slides/slide9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100" Type="http://schemas.openxmlformats.org/officeDocument/2006/relationships/notesMaster" Target="notesMasters/notesMaster1.xml"/><Relationship Id="rId105"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viewProps" Target="viewProps.xml"/><Relationship Id="rId108"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16/05/2026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16/05/2026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18918296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4</a:t>
            </a:fld>
            <a:endParaRPr lang="pt-BR"/>
          </a:p>
        </p:txBody>
      </p:sp>
    </p:spTree>
    <p:extLst>
      <p:ext uri="{BB962C8B-B14F-4D97-AF65-F5344CB8AC3E}">
        <p14:creationId xmlns:p14="http://schemas.microsoft.com/office/powerpoint/2010/main" val="34618875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10614177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BDC9BA21-D8BC-1049-8F29-21ED16A8E37E}"/>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0C584FCD-2462-F8A2-1938-163C0709B9B6}"/>
              </a:ext>
            </a:extLst>
          </p:cNvPr>
          <p:cNvSpPr>
            <a:spLocks noGrp="1" noRot="1" noChangeAspect="1"/>
          </p:cNvSpPr>
          <p:nvPr>
            <p:ph type="sldImg"/>
          </p:nvPr>
        </p:nvSpPr>
        <p:spPr/>
      </p:sp>
      <p:sp>
        <p:nvSpPr>
          <p:cNvPr id="3" name="Notes Placeholder 2">
            <a:extLst>
              <a:ext uri="{FF2B5EF4-FFF2-40B4-BE49-F238E27FC236}">
                <a16:creationId xmlns="" xmlns:a16="http://schemas.microsoft.com/office/drawing/2014/main" id="{3DB09072-013A-0614-ACA7-D012EF0DB623}"/>
              </a:ext>
            </a:extLst>
          </p:cNvPr>
          <p:cNvSpPr>
            <a:spLocks noGrp="1"/>
          </p:cNvSpPr>
          <p:nvPr>
            <p:ph type="body" idx="1"/>
          </p:nvPr>
        </p:nvSpPr>
        <p:spPr/>
        <p:txBody>
          <a:bodyPr/>
          <a:lstStyle/>
          <a:p>
            <a:r>
              <a:rPr lang="pt-BR" b="1" dirty="0"/>
              <a:t>A Flexibilidade da RNN:</a:t>
            </a:r>
            <a:r>
              <a:rPr lang="pt-BR" dirty="0"/>
              <a:t> Elas são projetadas para processar sequências de </a:t>
            </a:r>
            <a:r>
              <a:rPr lang="pt-BR" b="1" dirty="0"/>
              <a:t>comprimento variável</a:t>
            </a:r>
            <a:r>
              <a:rPr lang="pt-BR" dirty="0"/>
              <a:t>. Elas iteram sobre a sequência elemento por elemento, o que as torna ideais para tradução automática ou reconhecimento de fala.</a:t>
            </a:r>
          </a:p>
          <a:p>
            <a:endParaRPr lang="pt-BR" dirty="0"/>
          </a:p>
          <a:p>
            <a:r>
              <a:rPr lang="pt-BR" dirty="0"/>
              <a:t>De forma mais geral, as </a:t>
            </a:r>
            <a:r>
              <a:rPr lang="pt-BR" dirty="0" err="1"/>
              <a:t>RNNs</a:t>
            </a:r>
            <a:r>
              <a:rPr lang="pt-BR" dirty="0"/>
              <a:t> podem operar com sequências de comprimento arbitrário, em vez de entradas de tamanho fixo. Por exemplo, elas podem receber frases, documentos ou amostras de áudio como entrada, tornando-as extremamente úteis para aplicações de processamento de linguagem natural, como tradução automática ou reconhecimento de fala.</a:t>
            </a:r>
            <a:endParaRPr lang="en-US" dirty="0"/>
          </a:p>
        </p:txBody>
      </p:sp>
      <p:sp>
        <p:nvSpPr>
          <p:cNvPr id="4" name="Slide Number Placeholder 3">
            <a:extLst>
              <a:ext uri="{FF2B5EF4-FFF2-40B4-BE49-F238E27FC236}">
                <a16:creationId xmlns="" xmlns:a16="http://schemas.microsoft.com/office/drawing/2014/main" id="{C7CDC41C-7FEE-80DC-975E-EFA1C4B2EDFB}"/>
              </a:ext>
            </a:extLst>
          </p:cNvPr>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87489728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D418785D-4777-F14B-69C3-B6BAFCD38CB0}"/>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45DDF803-A9A3-9633-2028-623E4F4F6C11}"/>
              </a:ext>
            </a:extLst>
          </p:cNvPr>
          <p:cNvSpPr>
            <a:spLocks noGrp="1" noRot="1" noChangeAspect="1"/>
          </p:cNvSpPr>
          <p:nvPr>
            <p:ph type="sldImg"/>
          </p:nvPr>
        </p:nvSpPr>
        <p:spPr/>
      </p:sp>
      <p:sp>
        <p:nvSpPr>
          <p:cNvPr id="3" name="Notes Placeholder 2">
            <a:extLst>
              <a:ext uri="{FF2B5EF4-FFF2-40B4-BE49-F238E27FC236}">
                <a16:creationId xmlns="" xmlns:a16="http://schemas.microsoft.com/office/drawing/2014/main" id="{5B8DD547-B2C7-7112-A7DE-ADDBBB01FEAC}"/>
              </a:ext>
            </a:extLst>
          </p:cNvPr>
          <p:cNvSpPr>
            <a:spLocks noGrp="1"/>
          </p:cNvSpPr>
          <p:nvPr>
            <p:ph type="body" idx="1"/>
          </p:nvPr>
        </p:nvSpPr>
        <p:spPr/>
        <p:txBody>
          <a:bodyPr/>
          <a:lstStyle/>
          <a:p>
            <a:r>
              <a:rPr lang="pt-BR" b="1" dirty="0"/>
              <a:t>A Flexibilidade da RNN:</a:t>
            </a:r>
            <a:r>
              <a:rPr lang="pt-BR" dirty="0"/>
              <a:t> Elas são projetadas para processar sequências de </a:t>
            </a:r>
            <a:r>
              <a:rPr lang="pt-BR" b="1" dirty="0"/>
              <a:t>comprimento variável</a:t>
            </a:r>
            <a:r>
              <a:rPr lang="pt-BR" dirty="0"/>
              <a:t>. Elas iteram sobre a sequência elemento por elemento, o que as torna ideais para tradução automática ou reconhecimento de fala.</a:t>
            </a:r>
          </a:p>
          <a:p>
            <a:endParaRPr lang="pt-BR" dirty="0"/>
          </a:p>
          <a:p>
            <a:r>
              <a:rPr lang="pt-BR" dirty="0"/>
              <a:t>De forma mais geral, as </a:t>
            </a:r>
            <a:r>
              <a:rPr lang="pt-BR" dirty="0" err="1"/>
              <a:t>RNNs</a:t>
            </a:r>
            <a:r>
              <a:rPr lang="pt-BR" dirty="0"/>
              <a:t> podem operar com sequências de comprimento arbitrário, em vez de entradas de tamanho fixo. Por exemplo, elas podem receber frases, documentos ou amostras de áudio como entrada, tornando-as extremamente úteis para aplicações de processamento de linguagem natural, como tradução automática ou reconhecimento de fala.</a:t>
            </a:r>
            <a:endParaRPr lang="en-US" dirty="0"/>
          </a:p>
        </p:txBody>
      </p:sp>
      <p:sp>
        <p:nvSpPr>
          <p:cNvPr id="4" name="Slide Number Placeholder 3">
            <a:extLst>
              <a:ext uri="{FF2B5EF4-FFF2-40B4-BE49-F238E27FC236}">
                <a16:creationId xmlns="" xmlns:a16="http://schemas.microsoft.com/office/drawing/2014/main" id="{3B49C1D4-72A0-501C-3168-8B2BFC61F9C8}"/>
              </a:ext>
            </a:extLst>
          </p:cNvPr>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27107777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289064582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9B08C83C-E5C2-59A6-3FC8-4E2D171F16BC}"/>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1D81688C-1D87-2F5A-4988-70044477EE15}"/>
              </a:ext>
            </a:extLst>
          </p:cNvPr>
          <p:cNvSpPr>
            <a:spLocks noGrp="1" noRot="1" noChangeAspect="1"/>
          </p:cNvSpPr>
          <p:nvPr>
            <p:ph type="sldImg"/>
          </p:nvPr>
        </p:nvSpPr>
        <p:spPr/>
      </p:sp>
      <p:sp>
        <p:nvSpPr>
          <p:cNvPr id="3" name="Notes Placeholder 2">
            <a:extLst>
              <a:ext uri="{FF2B5EF4-FFF2-40B4-BE49-F238E27FC236}">
                <a16:creationId xmlns="" xmlns:a16="http://schemas.microsoft.com/office/drawing/2014/main" id="{9600B931-26FB-6145-DA32-A111606D0B9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 xmlns:a16="http://schemas.microsoft.com/office/drawing/2014/main" id="{A902DE62-EF02-CB68-14EE-B0761BA33C30}"/>
              </a:ext>
            </a:extLst>
          </p:cNvPr>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7209294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C27FFBCC-42BA-B539-3F67-3279DB213618}"/>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A5431CD9-A853-64E7-A5E5-D3ECC95EE90A}"/>
              </a:ext>
            </a:extLst>
          </p:cNvPr>
          <p:cNvSpPr>
            <a:spLocks noGrp="1" noRot="1" noChangeAspect="1"/>
          </p:cNvSpPr>
          <p:nvPr>
            <p:ph type="sldImg"/>
          </p:nvPr>
        </p:nvSpPr>
        <p:spPr/>
      </p:sp>
      <p:sp>
        <p:nvSpPr>
          <p:cNvPr id="3" name="Notes Placeholder 2">
            <a:extLst>
              <a:ext uri="{FF2B5EF4-FFF2-40B4-BE49-F238E27FC236}">
                <a16:creationId xmlns="" xmlns:a16="http://schemas.microsoft.com/office/drawing/2014/main" id="{FAC67AC3-547A-D3B7-E0B8-941A9C45029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 xmlns:a16="http://schemas.microsoft.com/office/drawing/2014/main" id="{AEF2FE16-CDFB-CD86-2334-D4869C42662E}"/>
              </a:ext>
            </a:extLst>
          </p:cNvPr>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11295513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31181A3B-733B-928E-1D84-1F64E3273B8B}"/>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E3272983-0C6A-43FE-BA89-508E0B2125CA}"/>
              </a:ext>
            </a:extLst>
          </p:cNvPr>
          <p:cNvSpPr>
            <a:spLocks noGrp="1" noRot="1" noChangeAspect="1"/>
          </p:cNvSpPr>
          <p:nvPr>
            <p:ph type="sldImg"/>
          </p:nvPr>
        </p:nvSpPr>
        <p:spPr/>
      </p:sp>
      <p:sp>
        <p:nvSpPr>
          <p:cNvPr id="3" name="Notes Placeholder 2">
            <a:extLst>
              <a:ext uri="{FF2B5EF4-FFF2-40B4-BE49-F238E27FC236}">
                <a16:creationId xmlns="" xmlns:a16="http://schemas.microsoft.com/office/drawing/2014/main" id="{AE2D7C08-7E68-409C-ED9B-AB35F3D7408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 xmlns:a16="http://schemas.microsoft.com/office/drawing/2014/main" id="{D6ED3A18-642E-C99A-850A-9619C8CAE361}"/>
              </a:ext>
            </a:extLst>
          </p:cNvPr>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8764675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5499F5C7-5805-714A-EEAF-1B426C0B7347}"/>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0A6AF7C2-0C10-C2A5-74DF-5E146878EE5B}"/>
              </a:ext>
            </a:extLst>
          </p:cNvPr>
          <p:cNvSpPr>
            <a:spLocks noGrp="1" noRot="1" noChangeAspect="1"/>
          </p:cNvSpPr>
          <p:nvPr>
            <p:ph type="sldImg"/>
          </p:nvPr>
        </p:nvSpPr>
        <p:spPr/>
      </p:sp>
      <p:sp>
        <p:nvSpPr>
          <p:cNvPr id="3" name="Notes Placeholder 2">
            <a:extLst>
              <a:ext uri="{FF2B5EF4-FFF2-40B4-BE49-F238E27FC236}">
                <a16:creationId xmlns="" xmlns:a16="http://schemas.microsoft.com/office/drawing/2014/main" id="{64F328DC-EA99-659D-C499-951EB30A4B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 xmlns:a16="http://schemas.microsoft.com/office/drawing/2014/main" id="{9D342C4F-189E-6908-E236-D10BBFF53879}"/>
              </a:ext>
            </a:extLst>
          </p:cNvPr>
          <p:cNvSpPr>
            <a:spLocks noGrp="1"/>
          </p:cNvSpPr>
          <p:nvPr>
            <p:ph type="sldNum" sz="quarter" idx="5"/>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56553361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Referências</a:t>
            </a:r>
          </a:p>
          <a:p>
            <a:r>
              <a:rPr lang="pt-BR" dirty="0"/>
              <a:t>[1] https://www.sintef.no/contentassets/9689621c8cda44d9b2bc91c5fba21135/bianchi.pdf</a:t>
            </a:r>
            <a:endParaRPr lang="en-US"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26778841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16EADFEA-E95A-172D-702A-934274076C74}"/>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67AC315E-90E4-B26B-DD23-4038DAFE15AE}"/>
              </a:ext>
            </a:extLst>
          </p:cNvPr>
          <p:cNvSpPr>
            <a:spLocks noGrp="1" noRot="1" noChangeAspect="1"/>
          </p:cNvSpPr>
          <p:nvPr>
            <p:ph type="sldImg"/>
          </p:nvPr>
        </p:nvSpPr>
        <p:spPr/>
      </p:sp>
      <p:sp>
        <p:nvSpPr>
          <p:cNvPr id="3" name="Notes Placeholder 2">
            <a:extLst>
              <a:ext uri="{FF2B5EF4-FFF2-40B4-BE49-F238E27FC236}">
                <a16:creationId xmlns="" xmlns:a16="http://schemas.microsoft.com/office/drawing/2014/main" id="{7BDD3B6A-D9DA-B9E1-FF00-029F9EB2C868}"/>
              </a:ext>
            </a:extLst>
          </p:cNvPr>
          <p:cNvSpPr>
            <a:spLocks noGrp="1"/>
          </p:cNvSpPr>
          <p:nvPr>
            <p:ph type="body" idx="1"/>
          </p:nvPr>
        </p:nvSpPr>
        <p:spPr/>
        <p:txBody>
          <a:bodyPr/>
          <a:lstStyle/>
          <a:p>
            <a:r>
              <a:rPr lang="pt-BR" dirty="0"/>
              <a:t>Referências</a:t>
            </a:r>
          </a:p>
          <a:p>
            <a:r>
              <a:rPr lang="pt-BR" dirty="0"/>
              <a:t>[1] https://www.sintef.no/contentassets/9689621c8cda44d9b2bc91c5fba21135/bianchi.pdf</a:t>
            </a:r>
            <a:endParaRPr lang="en-US" dirty="0"/>
          </a:p>
          <a:p>
            <a:endParaRPr lang="en-US" dirty="0"/>
          </a:p>
        </p:txBody>
      </p:sp>
      <p:sp>
        <p:nvSpPr>
          <p:cNvPr id="4" name="Slide Number Placeholder 3">
            <a:extLst>
              <a:ext uri="{FF2B5EF4-FFF2-40B4-BE49-F238E27FC236}">
                <a16:creationId xmlns="" xmlns:a16="http://schemas.microsoft.com/office/drawing/2014/main" id="{D55A26C4-FEAF-EF41-9345-35B39655AF39}"/>
              </a:ext>
            </a:extLst>
          </p:cNvPr>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39782653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DA29DFDB-891A-E1E1-B52D-C6AEE82A0D58}"/>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A09A31C3-41B0-5F66-EB31-75D513FCF39E}"/>
              </a:ext>
            </a:extLst>
          </p:cNvPr>
          <p:cNvSpPr>
            <a:spLocks noGrp="1" noRot="1" noChangeAspect="1"/>
          </p:cNvSpPr>
          <p:nvPr>
            <p:ph type="sldImg"/>
          </p:nvPr>
        </p:nvSpPr>
        <p:spPr/>
      </p:sp>
      <p:sp>
        <p:nvSpPr>
          <p:cNvPr id="3" name="Notes Placeholder 2">
            <a:extLst>
              <a:ext uri="{FF2B5EF4-FFF2-40B4-BE49-F238E27FC236}">
                <a16:creationId xmlns="" xmlns:a16="http://schemas.microsoft.com/office/drawing/2014/main" id="{D4DE66F0-452A-52F2-65BD-1FF17CCD73B8}"/>
              </a:ext>
            </a:extLst>
          </p:cNvPr>
          <p:cNvSpPr>
            <a:spLocks noGrp="1"/>
          </p:cNvSpPr>
          <p:nvPr>
            <p:ph type="body" idx="1"/>
          </p:nvPr>
        </p:nvSpPr>
        <p:spPr/>
        <p:txBody>
          <a:bodyPr/>
          <a:lstStyle/>
          <a:p>
            <a:r>
              <a:rPr lang="pt-BR" dirty="0"/>
              <a:t>Isso transforma a RNN em algo parecido com uma rede profunda muito longa. </a:t>
            </a:r>
          </a:p>
          <a:p>
            <a:endParaRPr lang="pt-BR" dirty="0"/>
          </a:p>
          <a:p>
            <a:r>
              <a:rPr lang="pt-BR" dirty="0"/>
              <a:t>Referências</a:t>
            </a:r>
          </a:p>
          <a:p>
            <a:r>
              <a:rPr lang="pt-BR" dirty="0"/>
              <a:t>[1] https://www.sintef.no/contentassets/9689621c8cda44d9b2bc91c5fba21135/bianchi.pdf</a:t>
            </a:r>
            <a:endParaRPr lang="en-US" dirty="0"/>
          </a:p>
          <a:p>
            <a:endParaRPr lang="en-US" dirty="0"/>
          </a:p>
        </p:txBody>
      </p:sp>
      <p:sp>
        <p:nvSpPr>
          <p:cNvPr id="4" name="Slide Number Placeholder 3">
            <a:extLst>
              <a:ext uri="{FF2B5EF4-FFF2-40B4-BE49-F238E27FC236}">
                <a16:creationId xmlns="" xmlns:a16="http://schemas.microsoft.com/office/drawing/2014/main" id="{516B5623-27E3-33B1-40FA-9BBE163816B5}"/>
              </a:ext>
            </a:extLst>
          </p:cNvPr>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5154134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373F99E-96D4-E465-0481-26D4E9A59841}"/>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3D81308E-10FA-7DC6-DD9D-04986B605935}"/>
              </a:ext>
            </a:extLst>
          </p:cNvPr>
          <p:cNvSpPr>
            <a:spLocks noGrp="1" noRot="1" noChangeAspect="1"/>
          </p:cNvSpPr>
          <p:nvPr>
            <p:ph type="sldImg"/>
          </p:nvPr>
        </p:nvSpPr>
        <p:spPr/>
      </p:sp>
      <p:sp>
        <p:nvSpPr>
          <p:cNvPr id="3" name="Notes Placeholder 2">
            <a:extLst>
              <a:ext uri="{FF2B5EF4-FFF2-40B4-BE49-F238E27FC236}">
                <a16:creationId xmlns="" xmlns:a16="http://schemas.microsoft.com/office/drawing/2014/main" id="{087E0819-3FAB-6761-340F-977AD2419794}"/>
              </a:ext>
            </a:extLst>
          </p:cNvPr>
          <p:cNvSpPr>
            <a:spLocks noGrp="1"/>
          </p:cNvSpPr>
          <p:nvPr>
            <p:ph type="body" idx="1"/>
          </p:nvPr>
        </p:nvSpPr>
        <p:spPr/>
        <p:txBody>
          <a:bodyPr/>
          <a:lstStyle/>
          <a:p>
            <a:r>
              <a:rPr lang="pt-BR" dirty="0"/>
              <a:t>Referências</a:t>
            </a:r>
          </a:p>
          <a:p>
            <a:r>
              <a:rPr lang="pt-BR" dirty="0"/>
              <a:t>[1] https://www.sintef.no/contentassets/9689621c8cda44d9b2bc91c5fba21135/bianchi.pdf</a:t>
            </a:r>
            <a:endParaRPr lang="en-US" dirty="0"/>
          </a:p>
          <a:p>
            <a:endParaRPr lang="en-US" dirty="0"/>
          </a:p>
        </p:txBody>
      </p:sp>
      <p:sp>
        <p:nvSpPr>
          <p:cNvPr id="4" name="Slide Number Placeholder 3">
            <a:extLst>
              <a:ext uri="{FF2B5EF4-FFF2-40B4-BE49-F238E27FC236}">
                <a16:creationId xmlns="" xmlns:a16="http://schemas.microsoft.com/office/drawing/2014/main" id="{F73537D7-7245-E4B2-0788-AD0C39EF1224}"/>
              </a:ext>
            </a:extLst>
          </p:cNvPr>
          <p:cNvSpPr>
            <a:spLocks noGrp="1"/>
          </p:cNvSpPr>
          <p:nvPr>
            <p:ph type="sldNum" sz="quarter" idx="5"/>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25665311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E6F3C868-5C56-1670-F210-879F8B7FD299}"/>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3293D50E-077B-AFB9-5B77-826A49853D63}"/>
              </a:ext>
            </a:extLst>
          </p:cNvPr>
          <p:cNvSpPr>
            <a:spLocks noGrp="1" noRot="1" noChangeAspect="1"/>
          </p:cNvSpPr>
          <p:nvPr>
            <p:ph type="sldImg"/>
          </p:nvPr>
        </p:nvSpPr>
        <p:spPr/>
      </p:sp>
      <p:sp>
        <p:nvSpPr>
          <p:cNvPr id="3" name="Notes Placeholder 2">
            <a:extLst>
              <a:ext uri="{FF2B5EF4-FFF2-40B4-BE49-F238E27FC236}">
                <a16:creationId xmlns="" xmlns:a16="http://schemas.microsoft.com/office/drawing/2014/main" id="{1130AECB-823E-350D-513D-259055D2E32A}"/>
              </a:ext>
            </a:extLst>
          </p:cNvPr>
          <p:cNvSpPr>
            <a:spLocks noGrp="1"/>
          </p:cNvSpPr>
          <p:nvPr>
            <p:ph type="body" idx="1"/>
          </p:nvPr>
        </p:nvSpPr>
        <p:spPr/>
        <p:txBody>
          <a:bodyPr/>
          <a:lstStyle/>
          <a:p>
            <a:r>
              <a:rPr lang="pt-BR" dirty="0"/>
              <a:t>Referências</a:t>
            </a:r>
          </a:p>
          <a:p>
            <a:r>
              <a:rPr lang="pt-BR" dirty="0"/>
              <a:t>[1] https://www.sintef.no/contentassets/9689621c8cda44d9b2bc91c5fba21135/bianchi.pdf</a:t>
            </a:r>
            <a:endParaRPr lang="en-US" dirty="0"/>
          </a:p>
          <a:p>
            <a:endParaRPr lang="en-US" dirty="0"/>
          </a:p>
        </p:txBody>
      </p:sp>
      <p:sp>
        <p:nvSpPr>
          <p:cNvPr id="4" name="Slide Number Placeholder 3">
            <a:extLst>
              <a:ext uri="{FF2B5EF4-FFF2-40B4-BE49-F238E27FC236}">
                <a16:creationId xmlns="" xmlns:a16="http://schemas.microsoft.com/office/drawing/2014/main" id="{BA60C77D-4D54-B0EE-D5AD-64F9D79EEE8C}"/>
              </a:ext>
            </a:extLst>
          </p:cNvPr>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307303540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D78709CC-EB52-3D3B-C97B-A4100429D4A0}"/>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16970236-CFE9-6513-855E-E0F06E606579}"/>
              </a:ext>
            </a:extLst>
          </p:cNvPr>
          <p:cNvSpPr>
            <a:spLocks noGrp="1" noRot="1" noChangeAspect="1"/>
          </p:cNvSpPr>
          <p:nvPr>
            <p:ph type="sldImg"/>
          </p:nvPr>
        </p:nvSpPr>
        <p:spPr/>
      </p:sp>
      <p:sp>
        <p:nvSpPr>
          <p:cNvPr id="3" name="Notes Placeholder 2">
            <a:extLst>
              <a:ext uri="{FF2B5EF4-FFF2-40B4-BE49-F238E27FC236}">
                <a16:creationId xmlns="" xmlns:a16="http://schemas.microsoft.com/office/drawing/2014/main" id="{F6C7DE70-17BD-8B6B-2FC7-2B8628B0FFD1}"/>
              </a:ext>
            </a:extLst>
          </p:cNvPr>
          <p:cNvSpPr>
            <a:spLocks noGrp="1"/>
          </p:cNvSpPr>
          <p:nvPr>
            <p:ph type="body" idx="1"/>
          </p:nvPr>
        </p:nvSpPr>
        <p:spPr/>
        <p:txBody>
          <a:bodyPr/>
          <a:lstStyle/>
          <a:p>
            <a:r>
              <a:rPr lang="pt-BR" dirty="0"/>
              <a:t>Referências</a:t>
            </a:r>
          </a:p>
          <a:p>
            <a:r>
              <a:rPr lang="pt-BR" dirty="0"/>
              <a:t>[1] https://www.sintef.no/contentassets/9689621c8cda44d9b2bc91c5fba21135/bianchi.pdf</a:t>
            </a:r>
            <a:endParaRPr lang="en-US" dirty="0"/>
          </a:p>
          <a:p>
            <a:endParaRPr lang="en-US" dirty="0"/>
          </a:p>
        </p:txBody>
      </p:sp>
      <p:sp>
        <p:nvSpPr>
          <p:cNvPr id="4" name="Slide Number Placeholder 3">
            <a:extLst>
              <a:ext uri="{FF2B5EF4-FFF2-40B4-BE49-F238E27FC236}">
                <a16:creationId xmlns="" xmlns:a16="http://schemas.microsoft.com/office/drawing/2014/main" id="{5D220820-D23F-935D-8BEE-E1A04620EA4A}"/>
              </a:ext>
            </a:extLst>
          </p:cNvPr>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313671788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5D0F856F-66E3-CBE0-6437-99B234229801}"/>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1AEBFE94-D230-7B0E-C887-977799B28B8D}"/>
              </a:ext>
            </a:extLst>
          </p:cNvPr>
          <p:cNvSpPr>
            <a:spLocks noGrp="1" noRot="1" noChangeAspect="1"/>
          </p:cNvSpPr>
          <p:nvPr>
            <p:ph type="sldImg"/>
          </p:nvPr>
        </p:nvSpPr>
        <p:spPr/>
      </p:sp>
      <p:sp>
        <p:nvSpPr>
          <p:cNvPr id="3" name="Notes Placeholder 2">
            <a:extLst>
              <a:ext uri="{FF2B5EF4-FFF2-40B4-BE49-F238E27FC236}">
                <a16:creationId xmlns="" xmlns:a16="http://schemas.microsoft.com/office/drawing/2014/main" id="{7D8F8232-9A2A-7AF1-C33B-59B7B8D325CE}"/>
              </a:ext>
            </a:extLst>
          </p:cNvPr>
          <p:cNvSpPr>
            <a:spLocks noGrp="1"/>
          </p:cNvSpPr>
          <p:nvPr>
            <p:ph type="body" idx="1"/>
          </p:nvPr>
        </p:nvSpPr>
        <p:spPr/>
        <p:txBody>
          <a:bodyPr/>
          <a:lstStyle/>
          <a:p>
            <a:r>
              <a:rPr lang="pt-BR" dirty="0"/>
              <a:t>Referências</a:t>
            </a:r>
          </a:p>
          <a:p>
            <a:r>
              <a:rPr lang="pt-BR" dirty="0"/>
              <a:t>[1] https://www.sintef.no/contentassets/9689621c8cda44d9b2bc91c5fba21135/bianchi.pdf</a:t>
            </a:r>
            <a:endParaRPr lang="en-US" dirty="0"/>
          </a:p>
          <a:p>
            <a:endParaRPr lang="en-US" dirty="0"/>
          </a:p>
        </p:txBody>
      </p:sp>
      <p:sp>
        <p:nvSpPr>
          <p:cNvPr id="4" name="Slide Number Placeholder 3">
            <a:extLst>
              <a:ext uri="{FF2B5EF4-FFF2-40B4-BE49-F238E27FC236}">
                <a16:creationId xmlns="" xmlns:a16="http://schemas.microsoft.com/office/drawing/2014/main" id="{8D1F3297-B90D-C7C9-16F5-94E583ECE259}"/>
              </a:ext>
            </a:extLst>
          </p:cNvPr>
          <p:cNvSpPr>
            <a:spLocks noGrp="1"/>
          </p:cNvSpPr>
          <p:nvPr>
            <p:ph type="sldNum" sz="quarter" idx="5"/>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1458406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b="1" dirty="0"/>
                  <a:t>O </a:t>
                </a:r>
                <a:r>
                  <a:rPr lang="en-US" b="1" dirty="0" err="1"/>
                  <a:t>problema</a:t>
                </a:r>
                <a:endParaRPr lang="en-US" b="1" dirty="0"/>
              </a:p>
              <a:p>
                <a:r>
                  <a:rPr lang="en-US" dirty="0" err="1"/>
                  <a:t>Suponha</a:t>
                </a:r>
                <a:r>
                  <a:rPr lang="en-US" dirty="0"/>
                  <a:t> </a:t>
                </a:r>
                <a:r>
                  <a:rPr lang="en-US" dirty="0" err="1"/>
                  <a:t>que</a:t>
                </a:r>
                <a:r>
                  <a:rPr lang="en-US" dirty="0"/>
                  <a:t> a </a:t>
                </a:r>
                <a:r>
                  <a:rPr lang="en-US" dirty="0" err="1"/>
                  <a:t>saída</a:t>
                </a:r>
                <a:r>
                  <a:rPr lang="en-US" dirty="0"/>
                  <a:t> </a:t>
                </a:r>
                <a:r>
                  <a:rPr lang="en-US" dirty="0" err="1"/>
                  <a:t>em</a:t>
                </a:r>
                <a:r>
                  <a:rPr lang="en-US" dirty="0"/>
                  <a:t> </a:t>
                </a:r>
                <a14:m>
                  <m:oMath xmlns:m="http://schemas.openxmlformats.org/officeDocument/2006/math">
                    <m:r>
                      <a:rPr lang="en-US" sz="1200" i="1" kern="1200">
                        <a:solidFill>
                          <a:schemeClr val="tx1"/>
                        </a:solidFill>
                        <a:latin typeface="Cambria Math" panose="02040503050406030204" pitchFamily="18" charset="0"/>
                        <a:ea typeface="+mn-ea"/>
                        <a:cs typeface="+mn-cs"/>
                      </a:rPr>
                      <m:t>𝑡</m:t>
                    </m:r>
                    <m:r>
                      <a:rPr lang="en-US" sz="1200" i="0" kern="1200">
                        <a:solidFill>
                          <a:schemeClr val="tx1"/>
                        </a:solidFill>
                        <a:latin typeface="Cambria Math" panose="02040503050406030204" pitchFamily="18" charset="0"/>
                        <a:ea typeface="+mn-ea"/>
                        <a:cs typeface="+mn-cs"/>
                      </a:rPr>
                      <m:t>=4</m:t>
                    </m:r>
                  </m:oMath>
                </a14:m>
                <a:r>
                  <a:rPr lang="en-US" dirty="0" err="1"/>
                  <a:t>esteja</a:t>
                </a:r>
                <a:r>
                  <a:rPr lang="en-US" dirty="0"/>
                  <a:t> </a:t>
                </a:r>
                <a:r>
                  <a:rPr lang="en-US" dirty="0" err="1"/>
                  <a:t>errada</a:t>
                </a:r>
                <a:r>
                  <a:rPr lang="en-US" dirty="0"/>
                  <a:t>.</a:t>
                </a:r>
              </a:p>
              <a:p>
                <a:r>
                  <a:rPr lang="en-US" dirty="0"/>
                  <a:t>Esse </a:t>
                </a:r>
                <a:r>
                  <a:rPr lang="en-US" dirty="0" err="1"/>
                  <a:t>erro</a:t>
                </a:r>
                <a:r>
                  <a:rPr lang="en-US" dirty="0"/>
                  <a:t> </a:t>
                </a:r>
                <a:r>
                  <a:rPr lang="en-US" dirty="0" err="1"/>
                  <a:t>pode</a:t>
                </a:r>
                <a:r>
                  <a:rPr lang="en-US" dirty="0"/>
                  <a:t> ter </a:t>
                </a:r>
                <a:r>
                  <a:rPr lang="en-US" dirty="0" err="1"/>
                  <a:t>sido</a:t>
                </a:r>
                <a:r>
                  <a:rPr lang="en-US" dirty="0"/>
                  <a:t> </a:t>
                </a:r>
                <a:r>
                  <a:rPr lang="en-US" dirty="0" err="1"/>
                  <a:t>causado</a:t>
                </a:r>
                <a:r>
                  <a:rPr lang="en-US" dirty="0"/>
                  <a:t> </a:t>
                </a:r>
                <a:r>
                  <a:rPr lang="en-US" dirty="0" err="1"/>
                  <a:t>por</a:t>
                </a:r>
                <a:r>
                  <a:rPr lang="en-US" dirty="0"/>
                  <a:t>:</a:t>
                </a:r>
              </a:p>
              <a:p>
                <a:r>
                  <a:rPr lang="en-US" dirty="0"/>
                  <a:t>o </a:t>
                </a:r>
                <a:r>
                  <a:rPr lang="en-US" dirty="0" err="1"/>
                  <a:t>estado</a:t>
                </a:r>
                <a:r>
                  <a:rPr lang="en-U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h</m:t>
                        </m:r>
                      </m:e>
                      <m:sub>
                        <m:r>
                          <a:rPr lang="ar-AE" sz="1200" i="0" kern="1200">
                            <a:solidFill>
                              <a:schemeClr val="tx1"/>
                            </a:solidFill>
                            <a:latin typeface="Cambria Math" panose="02040503050406030204" pitchFamily="18" charset="0"/>
                            <a:ea typeface="+mn-ea"/>
                            <a:cs typeface="+mn-cs"/>
                          </a:rPr>
                          <m:t>4</m:t>
                        </m:r>
                      </m:sub>
                    </m:sSub>
                  </m:oMath>
                </a14:m>
                <a:r>
                  <a:rPr lang="ar-AE" dirty="0"/>
                  <a:t>, </a:t>
                </a:r>
              </a:p>
              <a:p>
                <a:r>
                  <a:rPr lang="en-US" dirty="0"/>
                  <a:t>mas </a:t>
                </a:r>
                <a:r>
                  <a:rPr lang="en-US" dirty="0" err="1"/>
                  <a:t>também</a:t>
                </a:r>
                <a:r>
                  <a:rPr lang="en-US" dirty="0"/>
                  <a:t> </a:t>
                </a:r>
                <a:r>
                  <a:rPr lang="en-US" dirty="0" err="1"/>
                  <a:t>por</a:t>
                </a:r>
                <a:r>
                  <a:rPr lang="en-U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h</m:t>
                        </m:r>
                      </m:e>
                      <m:sub>
                        <m:r>
                          <a:rPr lang="ar-AE" sz="1200" i="0" kern="1200">
                            <a:solidFill>
                              <a:schemeClr val="tx1"/>
                            </a:solidFill>
                            <a:latin typeface="Cambria Math" panose="02040503050406030204" pitchFamily="18" charset="0"/>
                            <a:ea typeface="+mn-ea"/>
                            <a:cs typeface="+mn-cs"/>
                          </a:rPr>
                          <m:t>3</m:t>
                        </m:r>
                      </m:sub>
                    </m:sSub>
                  </m:oMath>
                </a14:m>
                <a:r>
                  <a:rPr lang="ar-AE" dirty="0"/>
                  <a:t>, </a:t>
                </a:r>
              </a:p>
              <a:p>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h</m:t>
                        </m:r>
                      </m:e>
                      <m:sub>
                        <m:r>
                          <a:rPr lang="ar-AE" sz="1200" i="0" kern="1200">
                            <a:solidFill>
                              <a:schemeClr val="tx1"/>
                            </a:solidFill>
                            <a:latin typeface="Cambria Math" panose="02040503050406030204" pitchFamily="18" charset="0"/>
                            <a:ea typeface="+mn-ea"/>
                            <a:cs typeface="+mn-cs"/>
                          </a:rPr>
                          <m:t>2</m:t>
                        </m:r>
                      </m:sub>
                    </m:sSub>
                  </m:oMath>
                </a14:m>
                <a:r>
                  <a:rPr lang="ar-AE" dirty="0"/>
                  <a:t>, </a:t>
                </a:r>
              </a:p>
              <a:p>
                <a:r>
                  <a:rPr lang="en-US" dirty="0"/>
                  <a:t>e </a:t>
                </a:r>
                <a:r>
                  <a:rPr lang="en-US" dirty="0" err="1"/>
                  <a:t>até</a:t>
                </a:r>
                <a:r>
                  <a:rPr lang="en-U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h</m:t>
                        </m:r>
                      </m:e>
                      <m:sub>
                        <m:r>
                          <a:rPr lang="ar-AE" sz="1200" i="0" kern="1200">
                            <a:solidFill>
                              <a:schemeClr val="tx1"/>
                            </a:solidFill>
                            <a:latin typeface="Cambria Math" panose="02040503050406030204" pitchFamily="18" charset="0"/>
                            <a:ea typeface="+mn-ea"/>
                            <a:cs typeface="+mn-cs"/>
                          </a:rPr>
                          <m:t>1</m:t>
                        </m:r>
                      </m:sub>
                    </m:sSub>
                  </m:oMath>
                </a14:m>
                <a:r>
                  <a:rPr lang="ar-AE" dirty="0"/>
                  <a:t>.</a:t>
                </a:r>
              </a:p>
              <a:p>
                <a:endParaRPr lang="en-US" dirty="0"/>
              </a:p>
            </p:txBody>
          </p:sp>
        </mc:Choice>
        <mc:Fallback xmlns="">
          <p:sp>
            <p:nvSpPr>
              <p:cNvPr id="3" name="Espaço Reservado para Anotações 2"/>
              <p:cNvSpPr>
                <a:spLocks noGrp="1"/>
              </p:cNvSpPr>
              <p:nvPr>
                <p:ph type="body" idx="1"/>
              </p:nvPr>
            </p:nvSpPr>
            <p:spPr/>
            <p:txBody>
              <a:bodyPr/>
              <a:lstStyle/>
              <a:p>
                <a:r>
                  <a:rPr lang="en-US" b="1" dirty="0"/>
                  <a:t>O </a:t>
                </a:r>
                <a:r>
                  <a:rPr lang="en-US" b="1" dirty="0" err="1"/>
                  <a:t>problema</a:t>
                </a:r>
                <a:endParaRPr lang="en-US" b="1" dirty="0"/>
              </a:p>
              <a:p>
                <a:r>
                  <a:rPr lang="en-US" dirty="0" err="1"/>
                  <a:t>Suponha</a:t>
                </a:r>
                <a:r>
                  <a:rPr lang="en-US" dirty="0"/>
                  <a:t> </a:t>
                </a:r>
                <a:r>
                  <a:rPr lang="en-US" dirty="0" err="1"/>
                  <a:t>que</a:t>
                </a:r>
                <a:r>
                  <a:rPr lang="en-US" dirty="0"/>
                  <a:t> a </a:t>
                </a:r>
                <a:r>
                  <a:rPr lang="en-US" dirty="0" err="1"/>
                  <a:t>saída</a:t>
                </a:r>
                <a:r>
                  <a:rPr lang="en-US" dirty="0"/>
                  <a:t> </a:t>
                </a:r>
                <a:r>
                  <a:rPr lang="en-US" dirty="0" err="1"/>
                  <a:t>em</a:t>
                </a:r>
                <a:r>
                  <a:rPr lang="en-US" dirty="0"/>
                  <a:t> </a:t>
                </a:r>
                <a:r>
                  <a:rPr lang="en-US" sz="1200" i="0" kern="1200">
                    <a:solidFill>
                      <a:schemeClr val="tx1"/>
                    </a:solidFill>
                    <a:latin typeface="+mn-lt"/>
                    <a:ea typeface="+mn-ea"/>
                    <a:cs typeface="+mn-cs"/>
                  </a:rPr>
                  <a:t>𝑡=4</a:t>
                </a:r>
                <a:r>
                  <a:rPr lang="en-US" dirty="0" err="1"/>
                  <a:t>esteja</a:t>
                </a:r>
                <a:r>
                  <a:rPr lang="en-US" dirty="0"/>
                  <a:t> </a:t>
                </a:r>
                <a:r>
                  <a:rPr lang="en-US" dirty="0" err="1"/>
                  <a:t>errada</a:t>
                </a:r>
                <a:r>
                  <a:rPr lang="en-US" dirty="0"/>
                  <a:t>.</a:t>
                </a:r>
              </a:p>
              <a:p>
                <a:r>
                  <a:rPr lang="en-US" dirty="0"/>
                  <a:t>Esse </a:t>
                </a:r>
                <a:r>
                  <a:rPr lang="en-US" dirty="0" err="1"/>
                  <a:t>erro</a:t>
                </a:r>
                <a:r>
                  <a:rPr lang="en-US" dirty="0"/>
                  <a:t> </a:t>
                </a:r>
                <a:r>
                  <a:rPr lang="en-US" dirty="0" err="1"/>
                  <a:t>pode</a:t>
                </a:r>
                <a:r>
                  <a:rPr lang="en-US" dirty="0"/>
                  <a:t> ter </a:t>
                </a:r>
                <a:r>
                  <a:rPr lang="en-US" dirty="0" err="1"/>
                  <a:t>sido</a:t>
                </a:r>
                <a:r>
                  <a:rPr lang="en-US" dirty="0"/>
                  <a:t> </a:t>
                </a:r>
                <a:r>
                  <a:rPr lang="en-US" dirty="0" err="1"/>
                  <a:t>causado</a:t>
                </a:r>
                <a:r>
                  <a:rPr lang="en-US" dirty="0"/>
                  <a:t> </a:t>
                </a:r>
                <a:r>
                  <a:rPr lang="en-US" dirty="0" err="1"/>
                  <a:t>por</a:t>
                </a:r>
                <a:r>
                  <a:rPr lang="en-US" dirty="0"/>
                  <a:t>:</a:t>
                </a:r>
              </a:p>
              <a:p>
                <a:r>
                  <a:rPr lang="en-US" dirty="0"/>
                  <a:t>o </a:t>
                </a:r>
                <a:r>
                  <a:rPr lang="en-US" dirty="0" err="1"/>
                  <a:t>estado</a:t>
                </a:r>
                <a:r>
                  <a:rPr lang="en-US" dirty="0"/>
                  <a:t> </a:t>
                </a:r>
                <a:r>
                  <a:rPr lang="ar-AE" sz="1200" i="0" kern="1200">
                    <a:solidFill>
                      <a:schemeClr val="tx1"/>
                    </a:solidFill>
                    <a:latin typeface="+mn-lt"/>
                    <a:ea typeface="+mn-ea"/>
                    <a:cs typeface="+mn-cs"/>
                  </a:rPr>
                  <a:t>ℎ_4</a:t>
                </a:r>
                <a:r>
                  <a:rPr lang="ar-AE" dirty="0"/>
                  <a:t>, </a:t>
                </a:r>
              </a:p>
              <a:p>
                <a:r>
                  <a:rPr lang="en-US" dirty="0"/>
                  <a:t>mas </a:t>
                </a:r>
                <a:r>
                  <a:rPr lang="en-US" dirty="0" err="1"/>
                  <a:t>também</a:t>
                </a:r>
                <a:r>
                  <a:rPr lang="en-US" dirty="0"/>
                  <a:t> </a:t>
                </a:r>
                <a:r>
                  <a:rPr lang="en-US" dirty="0" err="1"/>
                  <a:t>por</a:t>
                </a:r>
                <a:r>
                  <a:rPr lang="en-US" dirty="0"/>
                  <a:t> </a:t>
                </a:r>
                <a:r>
                  <a:rPr lang="ar-AE" sz="1200" i="0" kern="1200">
                    <a:solidFill>
                      <a:schemeClr val="tx1"/>
                    </a:solidFill>
                    <a:latin typeface="+mn-lt"/>
                    <a:ea typeface="+mn-ea"/>
                    <a:cs typeface="+mn-cs"/>
                  </a:rPr>
                  <a:t>ℎ_3</a:t>
                </a:r>
                <a:r>
                  <a:rPr lang="ar-AE" dirty="0"/>
                  <a:t>, </a:t>
                </a:r>
              </a:p>
              <a:p>
                <a:r>
                  <a:rPr lang="ar-AE" sz="1200" i="0" kern="1200">
                    <a:solidFill>
                      <a:schemeClr val="tx1"/>
                    </a:solidFill>
                    <a:latin typeface="+mn-lt"/>
                    <a:ea typeface="+mn-ea"/>
                    <a:cs typeface="+mn-cs"/>
                  </a:rPr>
                  <a:t>ℎ_2</a:t>
                </a:r>
                <a:r>
                  <a:rPr lang="ar-AE" dirty="0"/>
                  <a:t>, </a:t>
                </a:r>
              </a:p>
              <a:p>
                <a:r>
                  <a:rPr lang="en-US" dirty="0"/>
                  <a:t>e </a:t>
                </a:r>
                <a:r>
                  <a:rPr lang="en-US" dirty="0" err="1"/>
                  <a:t>até</a:t>
                </a:r>
                <a:r>
                  <a:rPr lang="en-US" dirty="0"/>
                  <a:t> </a:t>
                </a:r>
                <a:r>
                  <a:rPr lang="ar-AE" sz="1200" i="0" kern="1200">
                    <a:solidFill>
                      <a:schemeClr val="tx1"/>
                    </a:solidFill>
                    <a:latin typeface="+mn-lt"/>
                    <a:ea typeface="+mn-ea"/>
                    <a:cs typeface="+mn-cs"/>
                  </a:rPr>
                  <a:t>ℎ_1</a:t>
                </a:r>
                <a:r>
                  <a:rPr lang="ar-AE" dirty="0"/>
                  <a:t>.</a:t>
                </a:r>
              </a:p>
              <a:p>
                <a:endParaRPr lang="en-US" dirty="0"/>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280928084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Referências</a:t>
            </a:r>
          </a:p>
          <a:p>
            <a:r>
              <a:rPr lang="pt-BR" dirty="0"/>
              <a:t>[1] https://web.stanford.edu/class/archive/cs/cs224n/cs224n.1194/slides/cs224n-2019-lecture07-fancy-rnn.pdf </a:t>
            </a:r>
          </a:p>
          <a:p>
            <a:r>
              <a:rPr lang="pt-BR" dirty="0"/>
              <a:t>[2] https://medium.com/@surajprakash612/recurrent-neural-networks-rnns-the-engine-for-sequential-data-fc1d552ebfc1</a:t>
            </a:r>
          </a:p>
          <a:p>
            <a:r>
              <a:rPr lang="pt-BR" dirty="0"/>
              <a:t>[3] https://d2l.ai/chapter_recurrent-neural-networks/bptt.html</a:t>
            </a:r>
          </a:p>
          <a:p>
            <a:r>
              <a:rPr lang="pt-BR" dirty="0"/>
              <a:t>[4] https://weberna.github.io/blog/2017/11/15/LSTM-Vanishing-Gradients.html</a:t>
            </a:r>
          </a:p>
          <a:p>
            <a:r>
              <a:rPr lang="pt-BR" dirty="0"/>
              <a:t>[5] https://eclass.upatras.gr/modules/document/file.php/EE935/%CE%97%CE%BB%CE%B5%CE%BA%CF%84%CF%81%CE%BF%CE%BD%CE%B9%CE%BA%CE%AC%20%CE%92%CE%B9%CE%B2%CE%BB%CE%AF%CE%B1/2018_Book_NeuralNetworksAndDeepLeaning.pdf</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155435138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0F599D2F-876E-BB1A-961B-A09112115A0F}"/>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7B8F1673-F1CD-2EC3-16A4-998A51A1E41E}"/>
              </a:ext>
            </a:extLst>
          </p:cNvPr>
          <p:cNvSpPr>
            <a:spLocks noGrp="1" noRot="1" noChangeAspect="1"/>
          </p:cNvSpPr>
          <p:nvPr>
            <p:ph type="sldImg"/>
          </p:nvPr>
        </p:nvSpPr>
        <p:spPr/>
      </p:sp>
      <p:sp>
        <p:nvSpPr>
          <p:cNvPr id="3" name="Notes Placeholder 2">
            <a:extLst>
              <a:ext uri="{FF2B5EF4-FFF2-40B4-BE49-F238E27FC236}">
                <a16:creationId xmlns="" xmlns:a16="http://schemas.microsoft.com/office/drawing/2014/main" id="{B7EBEC6C-FBC9-4C08-4997-2DF40721D9DA}"/>
              </a:ext>
            </a:extLst>
          </p:cNvPr>
          <p:cNvSpPr>
            <a:spLocks noGrp="1"/>
          </p:cNvSpPr>
          <p:nvPr>
            <p:ph type="body" idx="1"/>
          </p:nvPr>
        </p:nvSpPr>
        <p:spPr/>
        <p:txBody>
          <a:bodyPr/>
          <a:lstStyle/>
          <a:p>
            <a:r>
              <a:rPr lang="pt-BR" dirty="0"/>
              <a:t>Referências</a:t>
            </a:r>
          </a:p>
          <a:p>
            <a:r>
              <a:rPr lang="pt-BR" dirty="0"/>
              <a:t>[1] https://web.stanford.edu/class/archive/cs/cs224n/cs224n.1194/slides/cs224n-2019-lecture07-fancy-rnn.pdf </a:t>
            </a:r>
          </a:p>
          <a:p>
            <a:r>
              <a:rPr lang="pt-BR" dirty="0"/>
              <a:t>[2] https://medium.com/@surajprakash612/recurrent-neural-networks-rnns-the-engine-for-sequential-data-fc1d552ebfc1</a:t>
            </a:r>
          </a:p>
          <a:p>
            <a:r>
              <a:rPr lang="pt-BR" dirty="0"/>
              <a:t>[3] https://d2l.ai/chapter_recurrent-neural-networks/bptt.html</a:t>
            </a:r>
          </a:p>
          <a:p>
            <a:r>
              <a:rPr lang="pt-BR" dirty="0"/>
              <a:t>[4] https://weberna.github.io/blog/2017/11/15/LSTM-Vanishing-Gradients.html</a:t>
            </a:r>
          </a:p>
          <a:p>
            <a:r>
              <a:rPr lang="pt-BR" dirty="0"/>
              <a:t>[5] https://eclass.upatras.gr/modules/document/file.php/EE935/%CE%97%CE%BB%CE%B5%CE%BA%CF%84%CF%81%CE%BF%CE%BD%CE%B9%CE%BA%CE%AC%20%CE%92%CE%B9%CE%B2%CE%BB%CE%AF%CE%B1/2018_Book_NeuralNetworksAndDeepLeaning.pdf</a:t>
            </a:r>
            <a:endParaRPr lang="en-US" dirty="0"/>
          </a:p>
        </p:txBody>
      </p:sp>
      <p:sp>
        <p:nvSpPr>
          <p:cNvPr id="4" name="Slide Number Placeholder 3">
            <a:extLst>
              <a:ext uri="{FF2B5EF4-FFF2-40B4-BE49-F238E27FC236}">
                <a16:creationId xmlns="" xmlns:a16="http://schemas.microsoft.com/office/drawing/2014/main" id="{73DD59FC-4009-0F3A-348B-B8D4863BDCBE}"/>
              </a:ext>
            </a:extLst>
          </p:cNvPr>
          <p:cNvSpPr>
            <a:spLocks noGrp="1"/>
          </p:cNvSpPr>
          <p:nvPr>
            <p:ph type="sldNum" sz="quarter" idx="5"/>
          </p:nvPr>
        </p:nvSpPr>
        <p:spPr/>
        <p:txBody>
          <a:bodyPr/>
          <a:lstStyle/>
          <a:p>
            <a:fld id="{6FC8D850-966F-45A6-8DE7-15B891E7D40D}" type="slidenum">
              <a:rPr lang="pt-BR" smtClean="0"/>
              <a:t>28</a:t>
            </a:fld>
            <a:endParaRPr lang="pt-BR"/>
          </a:p>
        </p:txBody>
      </p:sp>
    </p:spTree>
    <p:extLst>
      <p:ext uri="{BB962C8B-B14F-4D97-AF65-F5344CB8AC3E}">
        <p14:creationId xmlns:p14="http://schemas.microsoft.com/office/powerpoint/2010/main" val="320035744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EE0F0EAF-7848-C03E-2CE6-EB11D2264120}"/>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771F3D72-ADBB-EBCB-029C-4C93AF8DB95E}"/>
              </a:ext>
            </a:extLst>
          </p:cNvPr>
          <p:cNvSpPr>
            <a:spLocks noGrp="1" noRot="1" noChangeAspect="1"/>
          </p:cNvSpPr>
          <p:nvPr>
            <p:ph type="sldImg"/>
          </p:nvPr>
        </p:nvSpPr>
        <p:spPr/>
      </p:sp>
      <p:sp>
        <p:nvSpPr>
          <p:cNvPr id="3" name="Notes Placeholder 2">
            <a:extLst>
              <a:ext uri="{FF2B5EF4-FFF2-40B4-BE49-F238E27FC236}">
                <a16:creationId xmlns="" xmlns:a16="http://schemas.microsoft.com/office/drawing/2014/main" id="{40EF2D66-FEE9-BF28-90BD-C4383663098B}"/>
              </a:ext>
            </a:extLst>
          </p:cNvPr>
          <p:cNvSpPr>
            <a:spLocks noGrp="1"/>
          </p:cNvSpPr>
          <p:nvPr>
            <p:ph type="body" idx="1"/>
          </p:nvPr>
        </p:nvSpPr>
        <p:spPr/>
        <p:txBody>
          <a:bodyPr/>
          <a:lstStyle/>
          <a:p>
            <a:r>
              <a:rPr lang="pt-BR" dirty="0"/>
              <a:t>Referências</a:t>
            </a:r>
          </a:p>
          <a:p>
            <a:r>
              <a:rPr lang="pt-BR" dirty="0"/>
              <a:t>[1] https://web.stanford.edu/class/archive/cs/cs224n/cs224n.1194/slides/cs224n-2019-lecture07-fancy-rnn.pdf </a:t>
            </a:r>
          </a:p>
          <a:p>
            <a:r>
              <a:rPr lang="pt-BR" dirty="0"/>
              <a:t>[2] https://medium.com/@surajprakash612/recurrent-neural-networks-rnns-the-engine-for-sequential-data-fc1d552ebfc1</a:t>
            </a:r>
          </a:p>
          <a:p>
            <a:r>
              <a:rPr lang="pt-BR" dirty="0"/>
              <a:t>[3] https://d2l.ai/chapter_recurrent-neural-networks/bptt.html</a:t>
            </a:r>
          </a:p>
          <a:p>
            <a:r>
              <a:rPr lang="pt-BR" dirty="0"/>
              <a:t>[4] https://weberna.github.io/blog/2017/11/15/LSTM-Vanishing-Gradients.html</a:t>
            </a:r>
          </a:p>
          <a:p>
            <a:r>
              <a:rPr lang="pt-BR" dirty="0"/>
              <a:t>[5] https://eclass.upatras.gr/modules/document/file.php/EE935/%CE%97%CE%BB%CE%B5%CE%BA%CF%84%CF%81%CE%BF%CE%BD%CE%B9%CE%BA%CE%AC%20%CE%92%CE%B9%CE%B2%CE%BB%CE%AF%CE%B1/2018_Book_NeuralNetworksAndDeepLeaning.pdf</a:t>
            </a:r>
            <a:endParaRPr lang="en-US" dirty="0"/>
          </a:p>
        </p:txBody>
      </p:sp>
      <p:sp>
        <p:nvSpPr>
          <p:cNvPr id="4" name="Slide Number Placeholder 3">
            <a:extLst>
              <a:ext uri="{FF2B5EF4-FFF2-40B4-BE49-F238E27FC236}">
                <a16:creationId xmlns="" xmlns:a16="http://schemas.microsoft.com/office/drawing/2014/main" id="{78DFDBA4-83C0-D64A-1B55-22DBA7D8280C}"/>
              </a:ext>
            </a:extLst>
          </p:cNvPr>
          <p:cNvSpPr>
            <a:spLocks noGrp="1"/>
          </p:cNvSpPr>
          <p:nvPr>
            <p:ph type="sldNum" sz="quarter" idx="5"/>
          </p:nvPr>
        </p:nvSpPr>
        <p:spPr/>
        <p:txBody>
          <a:bodyPr/>
          <a:lstStyle/>
          <a:p>
            <a:fld id="{6FC8D850-966F-45A6-8DE7-15B891E7D40D}" type="slidenum">
              <a:rPr lang="pt-BR" smtClean="0"/>
              <a:t>29</a:t>
            </a:fld>
            <a:endParaRPr lang="pt-BR"/>
          </a:p>
        </p:txBody>
      </p:sp>
    </p:spTree>
    <p:extLst>
      <p:ext uri="{BB962C8B-B14F-4D97-AF65-F5344CB8AC3E}">
        <p14:creationId xmlns:p14="http://schemas.microsoft.com/office/powerpoint/2010/main" val="224823145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302655836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Esses </a:t>
            </a:r>
            <a:r>
              <a:rPr lang="pt-BR" dirty="0" err="1"/>
              <a:t>gates</a:t>
            </a:r>
            <a:r>
              <a:rPr lang="pt-BR" dirty="0"/>
              <a:t> permitem que a rede:</a:t>
            </a:r>
          </a:p>
          <a:p>
            <a:r>
              <a:rPr lang="pt-BR" b="1" dirty="0"/>
              <a:t>controle o fluxo de informação</a:t>
            </a:r>
            <a:r>
              <a:rPr lang="pt-BR" dirty="0"/>
              <a:t> </a:t>
            </a:r>
          </a:p>
          <a:p>
            <a:r>
              <a:rPr lang="pt-BR" b="1" dirty="0"/>
              <a:t>controle o fluxo do gradiente</a:t>
            </a:r>
            <a:r>
              <a:rPr lang="pt-BR" dirty="0"/>
              <a:t> </a:t>
            </a:r>
          </a:p>
          <a:p>
            <a:r>
              <a:rPr lang="pt-BR" dirty="0"/>
              <a:t>👉 Diferente da RNN simples, onde tudo é propagado sem controle.</a:t>
            </a:r>
          </a:p>
          <a:p>
            <a:r>
              <a:rPr lang="en-US" dirty="0"/>
              <a:t>	</a:t>
            </a:r>
          </a:p>
        </p:txBody>
      </p:sp>
      <p:sp>
        <p:nvSpPr>
          <p:cNvPr id="4" name="Slide Number Placeholder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18062237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325EF0C8-2D91-FA35-AF2B-95E36E0E14BF}"/>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B9AAD211-78C1-76CF-37C1-279992682107}"/>
              </a:ext>
            </a:extLst>
          </p:cNvPr>
          <p:cNvSpPr>
            <a:spLocks noGrp="1" noRot="1" noChangeAspect="1"/>
          </p:cNvSpPr>
          <p:nvPr>
            <p:ph type="sldImg"/>
          </p:nvPr>
        </p:nvSpPr>
        <p:spPr/>
      </p:sp>
      <p:sp>
        <p:nvSpPr>
          <p:cNvPr id="3" name="Notes Placeholder 2">
            <a:extLst>
              <a:ext uri="{FF2B5EF4-FFF2-40B4-BE49-F238E27FC236}">
                <a16:creationId xmlns="" xmlns:a16="http://schemas.microsoft.com/office/drawing/2014/main" id="{3984A298-DEE7-D577-1EDF-6AEC8A4A40E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Porque cada estado carrega um pouco de informação de cada entrada anterior.</a:t>
            </a:r>
          </a:p>
          <a:p>
            <a:endParaRPr lang="pt-BR" sz="1200" b="0" i="0" u="none" strike="noStrike" kern="1200" dirty="0">
              <a:solidFill>
                <a:schemeClr val="tx1"/>
              </a:solidFill>
              <a:effectLst/>
              <a:latin typeface="+mn-lt"/>
              <a:ea typeface="+mn-ea"/>
              <a:cs typeface="+mn-cs"/>
            </a:endParaRPr>
          </a:p>
          <a:p>
            <a:r>
              <a:rPr lang="pt-BR" sz="1200" b="0" i="0" u="none" strike="noStrike" kern="1200" dirty="0">
                <a:solidFill>
                  <a:schemeClr val="tx1"/>
                </a:solidFill>
                <a:effectLst/>
                <a:latin typeface="+mn-lt"/>
                <a:ea typeface="+mn-ea"/>
                <a:cs typeface="+mn-cs"/>
              </a:rPr>
              <a:t>A memória acumulada no estado oculto atual é suficiente para representar o passado distante, evitando a necessidade matemática de voltar até o primeiro passo da sequência para calcular o gradiente.</a:t>
            </a:r>
            <a:endParaRPr lang="pt-BR" dirty="0"/>
          </a:p>
          <a:p>
            <a:endParaRPr lang="pt-BR" dirty="0"/>
          </a:p>
          <a:p>
            <a:r>
              <a:rPr lang="pt-BR" dirty="0"/>
              <a:t>Referências</a:t>
            </a:r>
          </a:p>
          <a:p>
            <a:r>
              <a:rPr lang="pt-BR" dirty="0"/>
              <a:t>[1] https://d2l.ai/chapter_recurrent-neural-networks/bptt.html</a:t>
            </a:r>
            <a:endParaRPr lang="en-US" dirty="0"/>
          </a:p>
        </p:txBody>
      </p:sp>
      <p:sp>
        <p:nvSpPr>
          <p:cNvPr id="4" name="Slide Number Placeholder 3">
            <a:extLst>
              <a:ext uri="{FF2B5EF4-FFF2-40B4-BE49-F238E27FC236}">
                <a16:creationId xmlns="" xmlns:a16="http://schemas.microsoft.com/office/drawing/2014/main" id="{B6FFB4E4-8199-22E4-AFF4-DEB1442C3CDE}"/>
              </a:ext>
            </a:extLst>
          </p:cNvPr>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139508771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C1A56F62-4748-BDBD-8E9B-797882C5837E}"/>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66D2DC2D-12C6-EEBA-90B7-40B867D944E1}"/>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 xmlns:a16="http://schemas.microsoft.com/office/drawing/2014/main" id="{256DD416-D9FB-0245-EEFF-AA12A9C8096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Porque cada estado carrega um pouco de informação de cada entrada anterior.</a:t>
                </a:r>
              </a:p>
              <a:p>
                <a:endParaRPr lang="pt-BR" sz="1200" b="0" i="0" u="none" strike="noStrike" kern="1200" dirty="0">
                  <a:solidFill>
                    <a:schemeClr val="tx1"/>
                  </a:solidFill>
                  <a:effectLst/>
                  <a:latin typeface="+mn-lt"/>
                  <a:ea typeface="+mn-ea"/>
                  <a:cs typeface="+mn-cs"/>
                </a:endParaRPr>
              </a:p>
              <a:p>
                <a:r>
                  <a:rPr lang="pt-BR" sz="1200" b="0" i="0" u="none" strike="noStrike" kern="1200" dirty="0">
                    <a:solidFill>
                      <a:schemeClr val="tx1"/>
                    </a:solidFill>
                    <a:effectLst/>
                    <a:latin typeface="+mn-lt"/>
                    <a:ea typeface="+mn-ea"/>
                    <a:cs typeface="+mn-cs"/>
                  </a:rPr>
                  <a:t>A memória acumulada no estado oculto atual é suficiente para representar o passado distante, evitando a necessidade matemática de voltar até o primeiro passo da sequência para calcular o gradiente.</a:t>
                </a:r>
              </a:p>
              <a:p>
                <a:endParaRPr lang="pt-BR" sz="1200" b="0" i="0" u="none" strike="noStrike" kern="1200" dirty="0">
                  <a:solidFill>
                    <a:schemeClr val="tx1"/>
                  </a:solidFill>
                  <a:effectLst/>
                  <a:latin typeface="+mn-lt"/>
                  <a:ea typeface="+mn-ea"/>
                  <a:cs typeface="+mn-cs"/>
                </a:endParaRPr>
              </a:p>
              <a:p>
                <a:r>
                  <a:rPr lang="en-US" b="1" dirty="0" err="1"/>
                  <a:t>Outra</a:t>
                </a:r>
                <a:r>
                  <a:rPr lang="en-US" b="1" dirty="0"/>
                  <a:t> </a:t>
                </a:r>
                <a:r>
                  <a:rPr lang="en-US" b="1" dirty="0" err="1"/>
                  <a:t>razão</a:t>
                </a:r>
                <a:r>
                  <a:rPr lang="en-US" b="1" dirty="0"/>
                  <a:t> </a:t>
                </a:r>
                <a:r>
                  <a:rPr lang="en-US" b="1" dirty="0" err="1"/>
                  <a:t>importante</a:t>
                </a:r>
                <a:endParaRPr lang="en-US" b="1" dirty="0"/>
              </a:p>
              <a:p>
                <a:r>
                  <a:rPr lang="en-US" dirty="0" err="1"/>
                  <a:t>Os</a:t>
                </a:r>
                <a:r>
                  <a:rPr lang="en-US" dirty="0"/>
                  <a:t> </a:t>
                </a:r>
                <a:r>
                  <a:rPr lang="en-US" dirty="0" err="1"/>
                  <a:t>gradientes</a:t>
                </a:r>
                <a:r>
                  <a:rPr lang="en-US" dirty="0"/>
                  <a:t> </a:t>
                </a:r>
                <a:r>
                  <a:rPr lang="en-US" dirty="0" err="1"/>
                  <a:t>antigos</a:t>
                </a:r>
                <a:r>
                  <a:rPr lang="en-US" dirty="0"/>
                  <a:t> </a:t>
                </a:r>
                <a:r>
                  <a:rPr lang="en-US" dirty="0" err="1"/>
                  <a:t>normalmente</a:t>
                </a:r>
                <a:r>
                  <a:rPr lang="en-US" dirty="0"/>
                  <a:t> </a:t>
                </a:r>
                <a:r>
                  <a:rPr lang="en-US" dirty="0" err="1"/>
                  <a:t>ficam</a:t>
                </a:r>
                <a:r>
                  <a:rPr lang="en-US" dirty="0"/>
                  <a:t> </a:t>
                </a:r>
                <a:r>
                  <a:rPr lang="en-US" dirty="0" err="1"/>
                  <a:t>muito</a:t>
                </a:r>
                <a:r>
                  <a:rPr lang="en-US" dirty="0"/>
                  <a:t> </a:t>
                </a:r>
                <a:r>
                  <a:rPr lang="en-US" dirty="0" err="1"/>
                  <a:t>pequenos</a:t>
                </a:r>
                <a:r>
                  <a:rPr lang="en-US" dirty="0"/>
                  <a:t>.</a:t>
                </a:r>
              </a:p>
              <a:p>
                <a:r>
                  <a:rPr lang="en-US" dirty="0"/>
                  <a:t>Durante o BPTT:</a:t>
                </a:r>
              </a:p>
              <a:p>
                <a:pPr/>
                <a14:m>
                  <m:oMathPara xmlns:m="http://schemas.openxmlformats.org/officeDocument/2006/math">
                    <m:oMathParaPr>
                      <m:jc m:val="centerGroup"/>
                    </m:oMathParaPr>
                    <m:oMath xmlns:m="http://schemas.openxmlformats.org/officeDocument/2006/math">
                      <m:nary>
                        <m:naryPr>
                          <m:chr m:val="∏"/>
                          <m:limLoc m:val="subSup"/>
                          <m:grow m:val="on"/>
                          <m:supHide m:val="on"/>
                          <m:ctrlPr>
                            <a:rPr lang="ar-AE" sz="1200" i="1" kern="1200">
                              <a:solidFill>
                                <a:schemeClr val="tx1"/>
                              </a:solidFill>
                              <a:latin typeface="Cambria Math" panose="02040503050406030204" pitchFamily="18" charset="0"/>
                              <a:ea typeface="+mn-ea"/>
                              <a:cs typeface="+mn-cs"/>
                            </a:rPr>
                          </m:ctrlPr>
                        </m:naryPr>
                        <m:sub>
                          <m:r>
                            <a:rPr lang="ar-AE" sz="1200" i="1" kern="1200">
                              <a:solidFill>
                                <a:schemeClr val="tx1"/>
                              </a:solidFill>
                              <a:latin typeface="Cambria Math" panose="02040503050406030204" pitchFamily="18" charset="0"/>
                              <a:ea typeface="+mn-ea"/>
                              <a:cs typeface="+mn-cs"/>
                            </a:rPr>
                            <m:t>𝑘</m:t>
                          </m:r>
                        </m:sub>
                        <m:sup/>
                        <m:e>
                          <m:f>
                            <m:fPr>
                              <m:ctrlPr>
                                <a:rPr lang="ar-AE" sz="1200" i="1" kern="1200">
                                  <a:solidFill>
                                    <a:schemeClr val="tx1"/>
                                  </a:solidFill>
                                  <a:latin typeface="Cambria Math" panose="02040503050406030204" pitchFamily="18" charset="0"/>
                                  <a:ea typeface="+mn-ea"/>
                                  <a:cs typeface="+mn-cs"/>
                                </a:rPr>
                              </m:ctrlPr>
                            </m:fPr>
                            <m:num>
                              <m:r>
                                <a:rPr lang="ar-AE" sz="1200" i="0" kern="1200">
                                  <a:solidFill>
                                    <a:schemeClr val="tx1"/>
                                  </a:solidFill>
                                  <a:latin typeface="Cambria Math" panose="02040503050406030204" pitchFamily="18" charset="0"/>
                                  <a:ea typeface="+mn-ea"/>
                                  <a:cs typeface="+mn-cs"/>
                                </a:rPr>
                                <m:t>𝜕</m:t>
                              </m:r>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h</m:t>
                                  </m:r>
                                </m:e>
                                <m:sub>
                                  <m:r>
                                    <a:rPr lang="ar-AE" sz="1200" i="1" kern="1200">
                                      <a:solidFill>
                                        <a:schemeClr val="tx1"/>
                                      </a:solidFill>
                                      <a:latin typeface="Cambria Math" panose="02040503050406030204" pitchFamily="18" charset="0"/>
                                      <a:ea typeface="+mn-ea"/>
                                      <a:cs typeface="+mn-cs"/>
                                    </a:rPr>
                                    <m:t>𝑘</m:t>
                                  </m:r>
                                </m:sub>
                              </m:sSub>
                            </m:num>
                            <m:den>
                              <m:r>
                                <a:rPr lang="ar-AE" sz="1200" i="0" kern="1200">
                                  <a:solidFill>
                                    <a:schemeClr val="tx1"/>
                                  </a:solidFill>
                                  <a:latin typeface="Cambria Math" panose="02040503050406030204" pitchFamily="18" charset="0"/>
                                  <a:ea typeface="+mn-ea"/>
                                  <a:cs typeface="+mn-cs"/>
                                </a:rPr>
                                <m:t>𝜕</m:t>
                              </m:r>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h</m:t>
                                  </m:r>
                                </m:e>
                                <m:sub>
                                  <m:r>
                                    <a:rPr lang="ar-AE" sz="1200" i="1" kern="1200">
                                      <a:solidFill>
                                        <a:schemeClr val="tx1"/>
                                      </a:solidFill>
                                      <a:latin typeface="Cambria Math" panose="02040503050406030204" pitchFamily="18" charset="0"/>
                                      <a:ea typeface="+mn-ea"/>
                                      <a:cs typeface="+mn-cs"/>
                                    </a:rPr>
                                    <m:t>𝑘</m:t>
                                  </m:r>
                                  <m:r>
                                    <a:rPr lang="ar-AE" sz="1200" i="0" kern="1200">
                                      <a:solidFill>
                                        <a:schemeClr val="tx1"/>
                                      </a:solidFill>
                                      <a:latin typeface="Cambria Math" panose="02040503050406030204" pitchFamily="18" charset="0"/>
                                      <a:ea typeface="+mn-ea"/>
                                      <a:cs typeface="+mn-cs"/>
                                    </a:rPr>
                                    <m:t>−</m:t>
                                  </m:r>
                                  <m:r>
                                    <a:rPr lang="ar-AE" sz="1200" i="0" kern="1200">
                                      <a:solidFill>
                                        <a:schemeClr val="tx1"/>
                                      </a:solidFill>
                                      <a:latin typeface="Cambria Math" panose="02040503050406030204" pitchFamily="18" charset="0"/>
                                      <a:ea typeface="+mn-ea"/>
                                      <a:cs typeface="+mn-cs"/>
                                    </a:rPr>
                                    <m:t>1</m:t>
                                  </m:r>
                                </m:sub>
                              </m:sSub>
                            </m:den>
                          </m:f>
                        </m:e>
                      </m:nary>
                    </m:oMath>
                  </m:oMathPara>
                </a14:m>
                <a:endParaRPr lang="ar-AE" dirty="0"/>
              </a:p>
              <a:p>
                <a:r>
                  <a:rPr lang="en-US" dirty="0" err="1"/>
                  <a:t>Multiplicações</a:t>
                </a:r>
                <a:r>
                  <a:rPr lang="en-US" dirty="0"/>
                  <a:t> </a:t>
                </a:r>
                <a:r>
                  <a:rPr lang="en-US" dirty="0" err="1"/>
                  <a:t>sucessivas</a:t>
                </a:r>
                <a:r>
                  <a:rPr lang="en-US" dirty="0"/>
                  <a:t> </a:t>
                </a:r>
                <a:r>
                  <a:rPr lang="en-US" dirty="0" err="1"/>
                  <a:t>tendem</a:t>
                </a:r>
                <a:r>
                  <a:rPr lang="en-US" dirty="0"/>
                  <a:t> a:</a:t>
                </a:r>
              </a:p>
              <a:p>
                <a:r>
                  <a:rPr lang="en-US" dirty="0" err="1"/>
                  <a:t>desaparecer</a:t>
                </a:r>
                <a:r>
                  <a:rPr lang="en-US" dirty="0"/>
                  <a:t> (vanishing gradient); </a:t>
                </a:r>
              </a:p>
              <a:p>
                <a:r>
                  <a:rPr lang="en-US" dirty="0" err="1"/>
                  <a:t>ou</a:t>
                </a:r>
                <a:r>
                  <a:rPr lang="en-US" dirty="0"/>
                  <a:t> </a:t>
                </a:r>
                <a:r>
                  <a:rPr lang="en-US" dirty="0" err="1"/>
                  <a:t>explodir</a:t>
                </a:r>
                <a:r>
                  <a:rPr lang="en-US" dirty="0"/>
                  <a:t>. </a:t>
                </a:r>
              </a:p>
              <a:p>
                <a:r>
                  <a:rPr lang="en-US" dirty="0"/>
                  <a:t>Na </a:t>
                </a:r>
                <a:r>
                  <a:rPr lang="en-US" dirty="0" err="1"/>
                  <a:t>prática</a:t>
                </a:r>
                <a:r>
                  <a:rPr lang="en-US" dirty="0"/>
                  <a:t>:</a:t>
                </a:r>
              </a:p>
              <a:p>
                <a:r>
                  <a:rPr lang="en-US" dirty="0" err="1"/>
                  <a:t>contribuições</a:t>
                </a:r>
                <a:r>
                  <a:rPr lang="en-US" dirty="0"/>
                  <a:t> </a:t>
                </a:r>
                <a:r>
                  <a:rPr lang="en-US" dirty="0" err="1"/>
                  <a:t>muito</a:t>
                </a:r>
                <a:r>
                  <a:rPr lang="en-US" dirty="0"/>
                  <a:t> </a:t>
                </a:r>
                <a:r>
                  <a:rPr lang="en-US" dirty="0" err="1"/>
                  <a:t>antigas</a:t>
                </a:r>
                <a:r>
                  <a:rPr lang="en-US" dirty="0"/>
                  <a:t> </a:t>
                </a:r>
                <a:r>
                  <a:rPr lang="en-US" dirty="0" err="1"/>
                  <a:t>já</a:t>
                </a:r>
                <a:r>
                  <a:rPr lang="en-US" dirty="0"/>
                  <a:t> </a:t>
                </a:r>
                <a:r>
                  <a:rPr lang="en-US" dirty="0" err="1"/>
                  <a:t>têm</a:t>
                </a:r>
                <a:r>
                  <a:rPr lang="en-US" dirty="0"/>
                  <a:t> </a:t>
                </a:r>
                <a:r>
                  <a:rPr lang="en-US" dirty="0" err="1"/>
                  <a:t>impacto</a:t>
                </a:r>
                <a:r>
                  <a:rPr lang="en-US" dirty="0"/>
                  <a:t> </a:t>
                </a:r>
                <a:r>
                  <a:rPr lang="en-US" dirty="0" err="1"/>
                  <a:t>quase</a:t>
                </a:r>
                <a:r>
                  <a:rPr lang="en-US" dirty="0"/>
                  <a:t> </a:t>
                </a:r>
                <a:r>
                  <a:rPr lang="en-US" dirty="0" err="1"/>
                  <a:t>nulo</a:t>
                </a:r>
                <a:r>
                  <a:rPr lang="en-US" dirty="0"/>
                  <a:t>.</a:t>
                </a:r>
              </a:p>
              <a:p>
                <a:r>
                  <a:rPr lang="en-US" dirty="0" err="1"/>
                  <a:t>Então</a:t>
                </a:r>
                <a:r>
                  <a:rPr lang="en-US" dirty="0"/>
                  <a:t> </a:t>
                </a:r>
                <a:r>
                  <a:rPr lang="en-US" dirty="0" err="1"/>
                  <a:t>truncar</a:t>
                </a:r>
                <a:r>
                  <a:rPr lang="en-US" dirty="0"/>
                  <a:t> </a:t>
                </a:r>
                <a:r>
                  <a:rPr lang="en-US" dirty="0" err="1"/>
                  <a:t>frequentemente</a:t>
                </a:r>
                <a:r>
                  <a:rPr lang="en-US" dirty="0"/>
                  <a:t> </a:t>
                </a:r>
                <a:r>
                  <a:rPr lang="en-US" dirty="0" err="1"/>
                  <a:t>perde</a:t>
                </a:r>
                <a:r>
                  <a:rPr lang="en-US" dirty="0"/>
                  <a:t> </a:t>
                </a:r>
                <a:r>
                  <a:rPr lang="en-US" dirty="0" err="1"/>
                  <a:t>pouca</a:t>
                </a:r>
                <a:r>
                  <a:rPr lang="en-US" dirty="0"/>
                  <a:t> </a:t>
                </a:r>
                <a:r>
                  <a:rPr lang="en-US" dirty="0" err="1"/>
                  <a:t>informação</a:t>
                </a:r>
                <a:r>
                  <a:rPr lang="en-US" dirty="0"/>
                  <a:t> </a:t>
                </a:r>
                <a:r>
                  <a:rPr lang="en-US" dirty="0" err="1"/>
                  <a:t>útil</a:t>
                </a:r>
                <a:r>
                  <a:rPr lang="en-US" dirty="0"/>
                  <a:t>.</a:t>
                </a:r>
              </a:p>
              <a:p>
                <a:endParaRPr lang="pt-BR" dirty="0"/>
              </a:p>
              <a:p>
                <a:endParaRPr lang="pt-BR" dirty="0"/>
              </a:p>
              <a:p>
                <a:r>
                  <a:rPr lang="pt-BR" dirty="0"/>
                  <a:t>Referências</a:t>
                </a:r>
              </a:p>
              <a:p>
                <a:r>
                  <a:rPr lang="pt-BR" dirty="0"/>
                  <a:t>[1] https://d2l.ai/chapter_recurrent-neural-networks/bptt.html</a:t>
                </a:r>
                <a:endParaRPr lang="en-US" dirty="0"/>
              </a:p>
            </p:txBody>
          </p:sp>
        </mc:Choice>
        <mc:Fallback xmlns="">
          <p:sp>
            <p:nvSpPr>
              <p:cNvPr id="3" name="Notes Placeholder 2">
                <a:extLst>
                  <a:ext uri="{FF2B5EF4-FFF2-40B4-BE49-F238E27FC236}">
                    <a16:creationId xmlns:a16="http://schemas.microsoft.com/office/drawing/2014/main" id="{256DD416-D9FB-0245-EEFF-AA12A9C8096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Porque cada estado carrega um pouco de informação de cada entrada anterior.</a:t>
                </a:r>
              </a:p>
              <a:p>
                <a:endParaRPr lang="pt-BR" sz="1200" b="0" i="0" u="none" strike="noStrike" kern="1200" dirty="0">
                  <a:solidFill>
                    <a:schemeClr val="tx1"/>
                  </a:solidFill>
                  <a:effectLst/>
                  <a:latin typeface="+mn-lt"/>
                  <a:ea typeface="+mn-ea"/>
                  <a:cs typeface="+mn-cs"/>
                </a:endParaRPr>
              </a:p>
              <a:p>
                <a:r>
                  <a:rPr lang="pt-BR" sz="1200" b="0" i="0" u="none" strike="noStrike" kern="1200" dirty="0">
                    <a:solidFill>
                      <a:schemeClr val="tx1"/>
                    </a:solidFill>
                    <a:effectLst/>
                    <a:latin typeface="+mn-lt"/>
                    <a:ea typeface="+mn-ea"/>
                    <a:cs typeface="+mn-cs"/>
                  </a:rPr>
                  <a:t>A memória acumulada no estado oculto atual é suficiente para representar o passado distante, evitando a necessidade matemática de voltar até o primeiro passo da sequência para calcular o gradiente.</a:t>
                </a:r>
              </a:p>
              <a:p>
                <a:endParaRPr lang="pt-BR" sz="1200" b="0" i="0" u="none" strike="noStrike" kern="1200" dirty="0">
                  <a:solidFill>
                    <a:schemeClr val="tx1"/>
                  </a:solidFill>
                  <a:effectLst/>
                  <a:latin typeface="+mn-lt"/>
                  <a:ea typeface="+mn-ea"/>
                  <a:cs typeface="+mn-cs"/>
                </a:endParaRPr>
              </a:p>
              <a:p>
                <a:r>
                  <a:rPr lang="en-US" b="1" dirty="0" err="1"/>
                  <a:t>Outra</a:t>
                </a:r>
                <a:r>
                  <a:rPr lang="en-US" b="1" dirty="0"/>
                  <a:t> </a:t>
                </a:r>
                <a:r>
                  <a:rPr lang="en-US" b="1" dirty="0" err="1"/>
                  <a:t>razão</a:t>
                </a:r>
                <a:r>
                  <a:rPr lang="en-US" b="1" dirty="0"/>
                  <a:t> </a:t>
                </a:r>
                <a:r>
                  <a:rPr lang="en-US" b="1" dirty="0" err="1"/>
                  <a:t>importante</a:t>
                </a:r>
                <a:endParaRPr lang="en-US" b="1" dirty="0"/>
              </a:p>
              <a:p>
                <a:r>
                  <a:rPr lang="en-US" dirty="0" err="1"/>
                  <a:t>Os</a:t>
                </a:r>
                <a:r>
                  <a:rPr lang="en-US" dirty="0"/>
                  <a:t> </a:t>
                </a:r>
                <a:r>
                  <a:rPr lang="en-US" dirty="0" err="1"/>
                  <a:t>gradientes</a:t>
                </a:r>
                <a:r>
                  <a:rPr lang="en-US" dirty="0"/>
                  <a:t> </a:t>
                </a:r>
                <a:r>
                  <a:rPr lang="en-US" dirty="0" err="1"/>
                  <a:t>antigos</a:t>
                </a:r>
                <a:r>
                  <a:rPr lang="en-US" dirty="0"/>
                  <a:t> </a:t>
                </a:r>
                <a:r>
                  <a:rPr lang="en-US" dirty="0" err="1"/>
                  <a:t>normalmente</a:t>
                </a:r>
                <a:r>
                  <a:rPr lang="en-US" dirty="0"/>
                  <a:t> </a:t>
                </a:r>
                <a:r>
                  <a:rPr lang="en-US" dirty="0" err="1"/>
                  <a:t>ficam</a:t>
                </a:r>
                <a:r>
                  <a:rPr lang="en-US" dirty="0"/>
                  <a:t> </a:t>
                </a:r>
                <a:r>
                  <a:rPr lang="en-US" dirty="0" err="1"/>
                  <a:t>muito</a:t>
                </a:r>
                <a:r>
                  <a:rPr lang="en-US" dirty="0"/>
                  <a:t> </a:t>
                </a:r>
                <a:r>
                  <a:rPr lang="en-US" dirty="0" err="1"/>
                  <a:t>pequenos</a:t>
                </a:r>
                <a:r>
                  <a:rPr lang="en-US" dirty="0"/>
                  <a:t>.</a:t>
                </a:r>
              </a:p>
              <a:p>
                <a:r>
                  <a:rPr lang="en-US" dirty="0"/>
                  <a:t>Durante o BPTT:</a:t>
                </a:r>
              </a:p>
              <a:p>
                <a:r>
                  <a:rPr lang="ar-AE" sz="1200" i="0" kern="1200">
                    <a:solidFill>
                      <a:schemeClr val="tx1"/>
                    </a:solidFill>
                    <a:latin typeface="+mn-lt"/>
                    <a:ea typeface="+mn-ea"/>
                    <a:cs typeface="+mn-cs"/>
                  </a:rPr>
                  <a:t>∏130_𝑘▒(∂ℎ_𝑘)/(∂ℎ_(𝑘−1) )</a:t>
                </a:r>
                <a:endParaRPr lang="ar-AE" dirty="0"/>
              </a:p>
              <a:p>
                <a:r>
                  <a:rPr lang="en-US" dirty="0" err="1"/>
                  <a:t>Multiplicações</a:t>
                </a:r>
                <a:r>
                  <a:rPr lang="en-US" dirty="0"/>
                  <a:t> </a:t>
                </a:r>
                <a:r>
                  <a:rPr lang="en-US" dirty="0" err="1"/>
                  <a:t>sucessivas</a:t>
                </a:r>
                <a:r>
                  <a:rPr lang="en-US" dirty="0"/>
                  <a:t> </a:t>
                </a:r>
                <a:r>
                  <a:rPr lang="en-US" dirty="0" err="1"/>
                  <a:t>tendem</a:t>
                </a:r>
                <a:r>
                  <a:rPr lang="en-US" dirty="0"/>
                  <a:t> a:</a:t>
                </a:r>
              </a:p>
              <a:p>
                <a:r>
                  <a:rPr lang="en-US" dirty="0" err="1"/>
                  <a:t>desaparecer</a:t>
                </a:r>
                <a:r>
                  <a:rPr lang="en-US" dirty="0"/>
                  <a:t> (vanishing gradient); </a:t>
                </a:r>
              </a:p>
              <a:p>
                <a:r>
                  <a:rPr lang="en-US" dirty="0" err="1"/>
                  <a:t>ou</a:t>
                </a:r>
                <a:r>
                  <a:rPr lang="en-US" dirty="0"/>
                  <a:t> </a:t>
                </a:r>
                <a:r>
                  <a:rPr lang="en-US" dirty="0" err="1"/>
                  <a:t>explodir</a:t>
                </a:r>
                <a:r>
                  <a:rPr lang="en-US" dirty="0"/>
                  <a:t>. </a:t>
                </a:r>
              </a:p>
              <a:p>
                <a:r>
                  <a:rPr lang="en-US" dirty="0"/>
                  <a:t>Na </a:t>
                </a:r>
                <a:r>
                  <a:rPr lang="en-US" dirty="0" err="1"/>
                  <a:t>prática</a:t>
                </a:r>
                <a:r>
                  <a:rPr lang="en-US" dirty="0"/>
                  <a:t>:</a:t>
                </a:r>
              </a:p>
              <a:p>
                <a:r>
                  <a:rPr lang="en-US" dirty="0" err="1"/>
                  <a:t>contribuições</a:t>
                </a:r>
                <a:r>
                  <a:rPr lang="en-US" dirty="0"/>
                  <a:t> </a:t>
                </a:r>
                <a:r>
                  <a:rPr lang="en-US" dirty="0" err="1"/>
                  <a:t>muito</a:t>
                </a:r>
                <a:r>
                  <a:rPr lang="en-US" dirty="0"/>
                  <a:t> </a:t>
                </a:r>
                <a:r>
                  <a:rPr lang="en-US" dirty="0" err="1"/>
                  <a:t>antigas</a:t>
                </a:r>
                <a:r>
                  <a:rPr lang="en-US" dirty="0"/>
                  <a:t> </a:t>
                </a:r>
                <a:r>
                  <a:rPr lang="en-US" dirty="0" err="1"/>
                  <a:t>já</a:t>
                </a:r>
                <a:r>
                  <a:rPr lang="en-US" dirty="0"/>
                  <a:t> </a:t>
                </a:r>
                <a:r>
                  <a:rPr lang="en-US" dirty="0" err="1"/>
                  <a:t>têm</a:t>
                </a:r>
                <a:r>
                  <a:rPr lang="en-US" dirty="0"/>
                  <a:t> </a:t>
                </a:r>
                <a:r>
                  <a:rPr lang="en-US" dirty="0" err="1"/>
                  <a:t>impacto</a:t>
                </a:r>
                <a:r>
                  <a:rPr lang="en-US" dirty="0"/>
                  <a:t> </a:t>
                </a:r>
                <a:r>
                  <a:rPr lang="en-US" dirty="0" err="1"/>
                  <a:t>quase</a:t>
                </a:r>
                <a:r>
                  <a:rPr lang="en-US" dirty="0"/>
                  <a:t> </a:t>
                </a:r>
                <a:r>
                  <a:rPr lang="en-US" dirty="0" err="1"/>
                  <a:t>nulo</a:t>
                </a:r>
                <a:r>
                  <a:rPr lang="en-US" dirty="0"/>
                  <a:t>.</a:t>
                </a:r>
              </a:p>
              <a:p>
                <a:r>
                  <a:rPr lang="en-US" dirty="0" err="1"/>
                  <a:t>Então</a:t>
                </a:r>
                <a:r>
                  <a:rPr lang="en-US" dirty="0"/>
                  <a:t> </a:t>
                </a:r>
                <a:r>
                  <a:rPr lang="en-US" dirty="0" err="1"/>
                  <a:t>truncar</a:t>
                </a:r>
                <a:r>
                  <a:rPr lang="en-US" dirty="0"/>
                  <a:t> </a:t>
                </a:r>
                <a:r>
                  <a:rPr lang="en-US" dirty="0" err="1"/>
                  <a:t>frequentemente</a:t>
                </a:r>
                <a:r>
                  <a:rPr lang="en-US" dirty="0"/>
                  <a:t> </a:t>
                </a:r>
                <a:r>
                  <a:rPr lang="en-US" dirty="0" err="1"/>
                  <a:t>perde</a:t>
                </a:r>
                <a:r>
                  <a:rPr lang="en-US" dirty="0"/>
                  <a:t> </a:t>
                </a:r>
                <a:r>
                  <a:rPr lang="en-US" dirty="0" err="1"/>
                  <a:t>pouca</a:t>
                </a:r>
                <a:r>
                  <a:rPr lang="en-US" dirty="0"/>
                  <a:t> </a:t>
                </a:r>
                <a:r>
                  <a:rPr lang="en-US" dirty="0" err="1"/>
                  <a:t>informação</a:t>
                </a:r>
                <a:r>
                  <a:rPr lang="en-US" dirty="0"/>
                  <a:t> </a:t>
                </a:r>
                <a:r>
                  <a:rPr lang="en-US" dirty="0" err="1"/>
                  <a:t>útil</a:t>
                </a:r>
                <a:r>
                  <a:rPr lang="en-US" dirty="0"/>
                  <a:t>.</a:t>
                </a:r>
              </a:p>
              <a:p>
                <a:endParaRPr lang="pt-BR" dirty="0"/>
              </a:p>
              <a:p>
                <a:endParaRPr lang="pt-BR" dirty="0"/>
              </a:p>
              <a:p>
                <a:r>
                  <a:rPr lang="pt-BR" dirty="0"/>
                  <a:t>Referências</a:t>
                </a:r>
              </a:p>
              <a:p>
                <a:r>
                  <a:rPr lang="pt-BR" dirty="0"/>
                  <a:t>[1] https://d2l.ai/chapter_recurrent-neural-networks/bptt.html</a:t>
                </a:r>
                <a:endParaRPr lang="en-US" dirty="0"/>
              </a:p>
            </p:txBody>
          </p:sp>
        </mc:Fallback>
      </mc:AlternateContent>
      <p:sp>
        <p:nvSpPr>
          <p:cNvPr id="4" name="Slide Number Placeholder 3">
            <a:extLst>
              <a:ext uri="{FF2B5EF4-FFF2-40B4-BE49-F238E27FC236}">
                <a16:creationId xmlns="" xmlns:a16="http://schemas.microsoft.com/office/drawing/2014/main" id="{400EFD99-EFF4-77CF-2316-515A12848900}"/>
              </a:ext>
            </a:extLst>
          </p:cNvPr>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170725485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4534BABD-C6BA-B242-44D4-0D6C5A374C65}"/>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F27738A7-2AEB-8A53-4EB7-BC3FD88636CD}"/>
              </a:ext>
            </a:extLst>
          </p:cNvPr>
          <p:cNvSpPr>
            <a:spLocks noGrp="1" noRot="1" noChangeAspect="1"/>
          </p:cNvSpPr>
          <p:nvPr>
            <p:ph type="sldImg"/>
          </p:nvPr>
        </p:nvSpPr>
        <p:spPr/>
      </p:sp>
      <p:sp>
        <p:nvSpPr>
          <p:cNvPr id="3" name="Espaço Reservado para Anotações 2">
            <a:extLst>
              <a:ext uri="{FF2B5EF4-FFF2-40B4-BE49-F238E27FC236}">
                <a16:creationId xmlns="" xmlns:a16="http://schemas.microsoft.com/office/drawing/2014/main" id="{5458E17C-27B6-C886-364B-BADEC2D448B1}"/>
              </a:ext>
            </a:extLst>
          </p:cNvPr>
          <p:cNvSpPr>
            <a:spLocks noGrp="1"/>
          </p:cNvSpPr>
          <p:nvPr>
            <p:ph type="body" idx="1"/>
          </p:nvPr>
        </p:nvSpPr>
        <p:spPr/>
        <p:txBody>
          <a:bodyPr/>
          <a:lstStyle/>
          <a:p>
            <a:r>
              <a:rPr lang="pt-BR" sz="1200" b="0" i="0" kern="1200" dirty="0">
                <a:solidFill>
                  <a:schemeClr val="tx1"/>
                </a:solidFill>
                <a:effectLst/>
                <a:latin typeface="+mn-lt"/>
                <a:ea typeface="+mn-ea"/>
                <a:cs typeface="+mn-cs"/>
              </a:rPr>
              <a:t>Procurando </a:t>
            </a:r>
            <a:r>
              <a:rPr lang="pt-BR" sz="1200" b="0" i="0" kern="1200" dirty="0" err="1">
                <a:solidFill>
                  <a:schemeClr val="tx1"/>
                </a:solidFill>
                <a:effectLst/>
                <a:latin typeface="+mn-lt"/>
                <a:ea typeface="+mn-ea"/>
                <a:cs typeface="+mn-cs"/>
              </a:rPr>
              <a:t>Dory</a:t>
            </a:r>
            <a:endParaRPr lang="pt-BR" dirty="0"/>
          </a:p>
        </p:txBody>
      </p:sp>
      <p:sp>
        <p:nvSpPr>
          <p:cNvPr id="4" name="Espaço Reservado para Número de Slide 3">
            <a:extLst>
              <a:ext uri="{FF2B5EF4-FFF2-40B4-BE49-F238E27FC236}">
                <a16:creationId xmlns="" xmlns:a16="http://schemas.microsoft.com/office/drawing/2014/main" id="{3D0D4AB1-9E8B-F207-5580-BB12C93E1CDA}"/>
              </a:ext>
            </a:extLst>
          </p:cNvPr>
          <p:cNvSpPr>
            <a:spLocks noGrp="1"/>
          </p:cNvSpPr>
          <p:nvPr>
            <p:ph type="sldNum" sz="quarter" idx="10"/>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127449397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Eventos separados por mais do que esse horizonte não geram sinal de atualização direto, impedindo a rede de aprender correlações temporais que excedam a janela definida.</a:t>
            </a:r>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126447570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192937327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273775177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Mecanismos de Controle: As </a:t>
            </a:r>
            <a:r>
              <a:rPr lang="pt-BR" dirty="0" err="1"/>
              <a:t>LSTMs</a:t>
            </a:r>
            <a:r>
              <a:rPr lang="pt-BR" dirty="0"/>
              <a:t> utilizam três mecanismos principais (ativados por sigmoide) para regular o fluxo de informações:</a:t>
            </a:r>
          </a:p>
          <a:p>
            <a:pPr marL="171450" indent="-171450">
              <a:buFont typeface="Arial" panose="020B0604020202020204" pitchFamily="34" charset="0"/>
              <a:buChar char="•"/>
            </a:pPr>
            <a:r>
              <a:rPr lang="pt-BR" dirty="0"/>
              <a:t>Mecanismo de Esquecimento: Determina o que descartar do estado anterior da célula.</a:t>
            </a:r>
          </a:p>
          <a:p>
            <a:pPr marL="171450" indent="-171450">
              <a:buFont typeface="Arial" panose="020B0604020202020204" pitchFamily="34" charset="0"/>
              <a:buChar char="•"/>
            </a:pPr>
            <a:r>
              <a:rPr lang="pt-BR" dirty="0"/>
              <a:t>Mecanismo de Entrada: Determina qual nova informação adicionar ao estado da célula.</a:t>
            </a:r>
          </a:p>
          <a:p>
            <a:pPr marL="171450" indent="-171450">
              <a:buFont typeface="Arial" panose="020B0604020202020204" pitchFamily="34" charset="0"/>
              <a:buChar char="•"/>
            </a:pPr>
            <a:r>
              <a:rPr lang="pt-BR" dirty="0"/>
              <a:t>Mecanismo de Saída: Determina qual parte do estado da célula será emitida.</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63595676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BA9240E1-B284-11DC-DF84-9C55257C5B50}"/>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DF6BFCF8-5C7F-EDC5-7B8C-6F5469516D88}"/>
              </a:ext>
            </a:extLst>
          </p:cNvPr>
          <p:cNvSpPr>
            <a:spLocks noGrp="1" noRot="1" noChangeAspect="1"/>
          </p:cNvSpPr>
          <p:nvPr>
            <p:ph type="sldImg"/>
          </p:nvPr>
        </p:nvSpPr>
        <p:spPr/>
      </p:sp>
      <p:sp>
        <p:nvSpPr>
          <p:cNvPr id="3" name="Espaço Reservado para Anotações 2">
            <a:extLst>
              <a:ext uri="{FF2B5EF4-FFF2-40B4-BE49-F238E27FC236}">
                <a16:creationId xmlns="" xmlns:a16="http://schemas.microsoft.com/office/drawing/2014/main" id="{6F91DB64-6563-C7F5-B8B4-E9E21B36C7A2}"/>
              </a:ext>
            </a:extLst>
          </p:cNvPr>
          <p:cNvSpPr>
            <a:spLocks noGrp="1"/>
          </p:cNvSpPr>
          <p:nvPr>
            <p:ph type="body" idx="1"/>
          </p:nvPr>
        </p:nvSpPr>
        <p:spPr/>
        <p:txBody>
          <a:bodyPr/>
          <a:lstStyle/>
          <a:p>
            <a:endParaRPr lang="en-US" dirty="0"/>
          </a:p>
        </p:txBody>
      </p:sp>
      <p:sp>
        <p:nvSpPr>
          <p:cNvPr id="4" name="Espaço Reservado para Número de Slide 3">
            <a:extLst>
              <a:ext uri="{FF2B5EF4-FFF2-40B4-BE49-F238E27FC236}">
                <a16:creationId xmlns="" xmlns:a16="http://schemas.microsoft.com/office/drawing/2014/main" id="{C5192F11-8162-11BC-1C3D-C6222C1CA42E}"/>
              </a:ext>
            </a:extLst>
          </p:cNvPr>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219185046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Referências</a:t>
            </a:r>
          </a:p>
          <a:p>
            <a:r>
              <a:rPr lang="pt-BR" dirty="0"/>
              <a:t>[1] https://www.cs.ubc.ca/labs/lci/mlrg/slides/rnn.pdf</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297707427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Referências</a:t>
            </a:r>
          </a:p>
          <a:p>
            <a:r>
              <a:rPr lang="pt-BR" dirty="0"/>
              <a:t>[1] https://www.cs.ubc.ca/labs/lci/mlrg/slides/rnn.pdf</a:t>
            </a:r>
            <a:endParaRPr lang="en-US"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57</a:t>
            </a:fld>
            <a:endParaRPr lang="pt-BR"/>
          </a:p>
        </p:txBody>
      </p:sp>
    </p:spTree>
    <p:extLst>
      <p:ext uri="{BB962C8B-B14F-4D97-AF65-F5344CB8AC3E}">
        <p14:creationId xmlns:p14="http://schemas.microsoft.com/office/powerpoint/2010/main" val="16058806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AF21517-1760-10C5-9ACD-3D4AD737CDA6}"/>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5F98B198-C479-EA3D-55BA-9D67166985E5}"/>
              </a:ext>
            </a:extLst>
          </p:cNvPr>
          <p:cNvSpPr>
            <a:spLocks noGrp="1" noRot="1" noChangeAspect="1"/>
          </p:cNvSpPr>
          <p:nvPr>
            <p:ph type="sldImg"/>
          </p:nvPr>
        </p:nvSpPr>
        <p:spPr/>
      </p:sp>
      <p:sp>
        <p:nvSpPr>
          <p:cNvPr id="3" name="Notes Placeholder 2">
            <a:extLst>
              <a:ext uri="{FF2B5EF4-FFF2-40B4-BE49-F238E27FC236}">
                <a16:creationId xmlns="" xmlns:a16="http://schemas.microsoft.com/office/drawing/2014/main" id="{30F676CF-1DC3-F6BB-6166-82AE18D6259D}"/>
              </a:ext>
            </a:extLst>
          </p:cNvPr>
          <p:cNvSpPr>
            <a:spLocks noGrp="1"/>
          </p:cNvSpPr>
          <p:nvPr>
            <p:ph type="body" idx="1"/>
          </p:nvPr>
        </p:nvSpPr>
        <p:spPr/>
        <p:txBody>
          <a:bodyPr/>
          <a:lstStyle/>
          <a:p>
            <a:r>
              <a:rPr lang="pt-BR" dirty="0"/>
              <a:t>Referências</a:t>
            </a:r>
          </a:p>
          <a:p>
            <a:r>
              <a:rPr lang="pt-BR" dirty="0"/>
              <a:t>[1] https://www.cs.ubc.ca/labs/lci/mlrg/slides/rnn.pdf</a:t>
            </a:r>
            <a:endParaRPr lang="en-US" dirty="0"/>
          </a:p>
          <a:p>
            <a:endParaRPr lang="en-US" dirty="0"/>
          </a:p>
        </p:txBody>
      </p:sp>
      <p:sp>
        <p:nvSpPr>
          <p:cNvPr id="4" name="Slide Number Placeholder 3">
            <a:extLst>
              <a:ext uri="{FF2B5EF4-FFF2-40B4-BE49-F238E27FC236}">
                <a16:creationId xmlns="" xmlns:a16="http://schemas.microsoft.com/office/drawing/2014/main" id="{77642C76-6177-C1C7-E8A0-9A1EAA8D06D5}"/>
              </a:ext>
            </a:extLst>
          </p:cNvPr>
          <p:cNvSpPr>
            <a:spLocks noGrp="1"/>
          </p:cNvSpPr>
          <p:nvPr>
            <p:ph type="sldNum" sz="quarter" idx="5"/>
          </p:nvPr>
        </p:nvSpPr>
        <p:spPr/>
        <p:txBody>
          <a:bodyPr/>
          <a:lstStyle/>
          <a:p>
            <a:fld id="{6FC8D850-966F-45A6-8DE7-15B891E7D40D}" type="slidenum">
              <a:rPr lang="pt-BR" smtClean="0"/>
              <a:t>58</a:t>
            </a:fld>
            <a:endParaRPr lang="pt-BR"/>
          </a:p>
        </p:txBody>
      </p:sp>
    </p:spTree>
    <p:extLst>
      <p:ext uri="{BB962C8B-B14F-4D97-AF65-F5344CB8AC3E}">
        <p14:creationId xmlns:p14="http://schemas.microsoft.com/office/powerpoint/2010/main" val="334531073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Referências</a:t>
            </a:r>
          </a:p>
          <a:p>
            <a:r>
              <a:rPr lang="pt-BR" dirty="0"/>
              <a:t>[1] https://www.cs.ubc.ca/labs/lci/mlrg/slides/rnn.pdf</a:t>
            </a:r>
            <a:endParaRPr lang="en-US"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59</a:t>
            </a:fld>
            <a:endParaRPr lang="pt-BR"/>
          </a:p>
        </p:txBody>
      </p:sp>
    </p:spTree>
    <p:extLst>
      <p:ext uri="{BB962C8B-B14F-4D97-AF65-F5344CB8AC3E}">
        <p14:creationId xmlns:p14="http://schemas.microsoft.com/office/powerpoint/2010/main" val="370779292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61</a:t>
            </a:fld>
            <a:endParaRPr lang="pt-BR"/>
          </a:p>
        </p:txBody>
      </p:sp>
    </p:spTree>
    <p:extLst>
      <p:ext uri="{BB962C8B-B14F-4D97-AF65-F5344CB8AC3E}">
        <p14:creationId xmlns:p14="http://schemas.microsoft.com/office/powerpoint/2010/main" val="317469682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Referências</a:t>
            </a:r>
          </a:p>
          <a:p>
            <a:r>
              <a:rPr lang="pt-BR" dirty="0"/>
              <a:t>[1] https://towardsdatascience.com/a-brief-introduction-to-recurrent-neural-networks-638f64a61ff4/</a:t>
            </a:r>
          </a:p>
          <a:p>
            <a:r>
              <a:rPr lang="pt-BR" dirty="0"/>
              <a:t>[2] https://colah.github.io/posts/2015-08-Understanding-LSTMs/</a:t>
            </a:r>
          </a:p>
          <a:p>
            <a:r>
              <a:rPr lang="pt-BR" dirty="0"/>
              <a:t>[3] https://www.sintef.no/contentassets/9689621c8cda44d9b2bc91c5fba21135/bianchi.pdf</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63</a:t>
            </a:fld>
            <a:endParaRPr lang="pt-BR"/>
          </a:p>
        </p:txBody>
      </p:sp>
    </p:spTree>
    <p:extLst>
      <p:ext uri="{BB962C8B-B14F-4D97-AF65-F5344CB8AC3E}">
        <p14:creationId xmlns:p14="http://schemas.microsoft.com/office/powerpoint/2010/main" val="282270727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As </a:t>
            </a:r>
            <a:r>
              <a:rPr lang="pt-BR" dirty="0" err="1"/>
              <a:t>GRUs</a:t>
            </a:r>
            <a:r>
              <a:rPr lang="pt-BR" dirty="0"/>
              <a:t> possuem as seguintes duas características distintivas:</a:t>
            </a:r>
          </a:p>
          <a:p>
            <a:endParaRPr lang="pt-BR" dirty="0"/>
          </a:p>
          <a:p>
            <a:r>
              <a:rPr lang="pt-BR" dirty="0"/>
              <a:t>Portas de reinicialização ajudam a capturar dependências de curto prazo em sequências.</a:t>
            </a:r>
          </a:p>
          <a:p>
            <a:endParaRPr lang="pt-BR" dirty="0"/>
          </a:p>
          <a:p>
            <a:r>
              <a:rPr lang="pt-BR" dirty="0"/>
              <a:t>Portas de atualização ajudam a capturar dependências de longo prazo em sequências.</a:t>
            </a:r>
          </a:p>
          <a:p>
            <a:endParaRPr lang="pt-BR" dirty="0"/>
          </a:p>
          <a:p>
            <a:r>
              <a:rPr lang="pt-BR" dirty="0"/>
              <a:t>Referências</a:t>
            </a:r>
          </a:p>
          <a:p>
            <a:r>
              <a:rPr lang="pt-BR" dirty="0"/>
              <a:t>[1] https://towardsdatascience.com/a-brief-introduction-to-recurrent-neural-networks-638f64a61ff4/</a:t>
            </a:r>
          </a:p>
          <a:p>
            <a:r>
              <a:rPr lang="pt-BR" dirty="0"/>
              <a:t>[2] https://colah.github.io/posts/2015-08-Understanding-LSTMs/</a:t>
            </a:r>
          </a:p>
          <a:p>
            <a:r>
              <a:rPr lang="pt-BR" dirty="0"/>
              <a:t>[3] https://www.sintef.no/contentassets/9689621c8cda44d9b2bc91c5fba21135/bianchi.pdf</a:t>
            </a:r>
            <a:endParaRPr lang="en-US"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64</a:t>
            </a:fld>
            <a:endParaRPr lang="pt-BR"/>
          </a:p>
        </p:txBody>
      </p:sp>
    </p:spTree>
    <p:extLst>
      <p:ext uri="{BB962C8B-B14F-4D97-AF65-F5344CB8AC3E}">
        <p14:creationId xmlns:p14="http://schemas.microsoft.com/office/powerpoint/2010/main" val="272435495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Referências</a:t>
            </a:r>
          </a:p>
          <a:p>
            <a:r>
              <a:rPr lang="pt-BR" dirty="0"/>
              <a:t>[1] https://weberna.github.io/blog/2017/11/15/LSTM-Vanishing-Gradients.html</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67</a:t>
            </a:fld>
            <a:endParaRPr lang="pt-BR"/>
          </a:p>
        </p:txBody>
      </p:sp>
    </p:spTree>
    <p:extLst>
      <p:ext uri="{BB962C8B-B14F-4D97-AF65-F5344CB8AC3E}">
        <p14:creationId xmlns:p14="http://schemas.microsoft.com/office/powerpoint/2010/main" val="80594373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083D3213-0C35-07AC-78F8-52C6D5CDA5CF}"/>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D9EE4CB0-4107-1059-1A28-15E957C15E28}"/>
              </a:ext>
            </a:extLst>
          </p:cNvPr>
          <p:cNvSpPr>
            <a:spLocks noGrp="1" noRot="1" noChangeAspect="1"/>
          </p:cNvSpPr>
          <p:nvPr>
            <p:ph type="sldImg"/>
          </p:nvPr>
        </p:nvSpPr>
        <p:spPr/>
      </p:sp>
      <p:sp>
        <p:nvSpPr>
          <p:cNvPr id="3" name="Notes Placeholder 2">
            <a:extLst>
              <a:ext uri="{FF2B5EF4-FFF2-40B4-BE49-F238E27FC236}">
                <a16:creationId xmlns="" xmlns:a16="http://schemas.microsoft.com/office/drawing/2014/main" id="{BC6654DA-65BA-C1F1-6DD3-9F046560DB45}"/>
              </a:ext>
            </a:extLst>
          </p:cNvPr>
          <p:cNvSpPr>
            <a:spLocks noGrp="1"/>
          </p:cNvSpPr>
          <p:nvPr>
            <p:ph type="body" idx="1"/>
          </p:nvPr>
        </p:nvSpPr>
        <p:spPr/>
        <p:txBody>
          <a:bodyPr/>
          <a:lstStyle/>
          <a:p>
            <a:r>
              <a:rPr lang="pt-BR" dirty="0"/>
              <a:t>Referências</a:t>
            </a:r>
          </a:p>
          <a:p>
            <a:r>
              <a:rPr lang="pt-BR" dirty="0"/>
              <a:t>[1] https://weberna.github.io/blog/2017/11/15/LSTM-Vanishing-Gradients.html</a:t>
            </a:r>
            <a:endParaRPr lang="en-US" dirty="0"/>
          </a:p>
        </p:txBody>
      </p:sp>
      <p:sp>
        <p:nvSpPr>
          <p:cNvPr id="4" name="Slide Number Placeholder 3">
            <a:extLst>
              <a:ext uri="{FF2B5EF4-FFF2-40B4-BE49-F238E27FC236}">
                <a16:creationId xmlns="" xmlns:a16="http://schemas.microsoft.com/office/drawing/2014/main" id="{5EA4336C-1795-AE8D-9FED-22ABF296F5D9}"/>
              </a:ext>
            </a:extLst>
          </p:cNvPr>
          <p:cNvSpPr>
            <a:spLocks noGrp="1"/>
          </p:cNvSpPr>
          <p:nvPr>
            <p:ph type="sldNum" sz="quarter" idx="5"/>
          </p:nvPr>
        </p:nvSpPr>
        <p:spPr/>
        <p:txBody>
          <a:bodyPr/>
          <a:lstStyle/>
          <a:p>
            <a:fld id="{6FC8D850-966F-45A6-8DE7-15B891E7D40D}" type="slidenum">
              <a:rPr lang="pt-BR" smtClean="0"/>
              <a:t>68</a:t>
            </a:fld>
            <a:endParaRPr lang="pt-BR"/>
          </a:p>
        </p:txBody>
      </p:sp>
    </p:spTree>
    <p:extLst>
      <p:ext uri="{BB962C8B-B14F-4D97-AF65-F5344CB8AC3E}">
        <p14:creationId xmlns:p14="http://schemas.microsoft.com/office/powerpoint/2010/main" val="199885035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73</a:t>
            </a:fld>
            <a:endParaRPr lang="pt-BR"/>
          </a:p>
        </p:txBody>
      </p:sp>
    </p:spTree>
    <p:extLst>
      <p:ext uri="{BB962C8B-B14F-4D97-AF65-F5344CB8AC3E}">
        <p14:creationId xmlns:p14="http://schemas.microsoft.com/office/powerpoint/2010/main" val="228374224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D41E7141-3BE9-0C7C-2257-7BBC9CBA803E}"/>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BF43EC88-AB52-4AEA-3FC4-7FA49BA5929C}"/>
              </a:ext>
            </a:extLst>
          </p:cNvPr>
          <p:cNvSpPr>
            <a:spLocks noGrp="1" noRot="1" noChangeAspect="1"/>
          </p:cNvSpPr>
          <p:nvPr>
            <p:ph type="sldImg"/>
          </p:nvPr>
        </p:nvSpPr>
        <p:spPr/>
      </p:sp>
      <p:sp>
        <p:nvSpPr>
          <p:cNvPr id="3" name="Notes Placeholder 2">
            <a:extLst>
              <a:ext uri="{FF2B5EF4-FFF2-40B4-BE49-F238E27FC236}">
                <a16:creationId xmlns="" xmlns:a16="http://schemas.microsoft.com/office/drawing/2014/main" id="{8978DEF2-1B77-EE8D-7E78-A5DF19845A1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 xmlns:a16="http://schemas.microsoft.com/office/drawing/2014/main" id="{C35FF1CD-7004-7DEE-2019-1AB6EC112148}"/>
              </a:ext>
            </a:extLst>
          </p:cNvPr>
          <p:cNvSpPr>
            <a:spLocks noGrp="1"/>
          </p:cNvSpPr>
          <p:nvPr>
            <p:ph type="sldNum" sz="quarter" idx="5"/>
          </p:nvPr>
        </p:nvSpPr>
        <p:spPr/>
        <p:txBody>
          <a:bodyPr/>
          <a:lstStyle/>
          <a:p>
            <a:fld id="{6FC8D850-966F-45A6-8DE7-15B891E7D40D}" type="slidenum">
              <a:rPr lang="pt-BR" smtClean="0"/>
              <a:t>74</a:t>
            </a:fld>
            <a:endParaRPr lang="pt-BR"/>
          </a:p>
        </p:txBody>
      </p:sp>
    </p:spTree>
    <p:extLst>
      <p:ext uri="{BB962C8B-B14F-4D97-AF65-F5344CB8AC3E}">
        <p14:creationId xmlns:p14="http://schemas.microsoft.com/office/powerpoint/2010/main" val="3662858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Uma rede do tipo sequência para vetor (</a:t>
            </a:r>
            <a:r>
              <a:rPr lang="pt-BR" dirty="0" err="1"/>
              <a:t>encoder</a:t>
            </a:r>
            <a:r>
              <a:rPr lang="pt-BR" dirty="0"/>
              <a:t>) conectada a uma rede do tipo vetor para sequência (</a:t>
            </a:r>
            <a:r>
              <a:rPr lang="pt-BR" dirty="0" err="1"/>
              <a:t>decoder</a:t>
            </a:r>
            <a:r>
              <a:rPr lang="pt-BR" dirty="0"/>
              <a:t>)</a:t>
            </a:r>
          </a:p>
          <a:p>
            <a:r>
              <a:rPr lang="pt-BR" dirty="0"/>
              <a:t>O </a:t>
            </a:r>
            <a:r>
              <a:rPr lang="pt-BR" dirty="0" err="1"/>
              <a:t>encoder</a:t>
            </a:r>
            <a:r>
              <a:rPr lang="pt-BR" dirty="0"/>
              <a:t> gera um vetor contendo informação latente da sequência de entrada e o </a:t>
            </a:r>
            <a:r>
              <a:rPr lang="pt-BR" dirty="0" err="1"/>
              <a:t>decoder</a:t>
            </a:r>
            <a:r>
              <a:rPr lang="pt-BR" dirty="0"/>
              <a:t> decodifica ele em uma sequência.</a:t>
            </a:r>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75</a:t>
            </a:fld>
            <a:endParaRPr lang="pt-BR"/>
          </a:p>
        </p:txBody>
      </p:sp>
    </p:spTree>
    <p:extLst>
      <p:ext uri="{BB962C8B-B14F-4D97-AF65-F5344CB8AC3E}">
        <p14:creationId xmlns:p14="http://schemas.microsoft.com/office/powerpoint/2010/main" val="4180747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https://colab.research.google.com/github/zz4fap/c24_inteligencia_artificial/blob/master/notebooks/rnn.ipynb</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76</a:t>
            </a:fld>
            <a:endParaRPr lang="pt-BR"/>
          </a:p>
        </p:txBody>
      </p:sp>
    </p:spTree>
    <p:extLst>
      <p:ext uri="{BB962C8B-B14F-4D97-AF65-F5344CB8AC3E}">
        <p14:creationId xmlns:p14="http://schemas.microsoft.com/office/powerpoint/2010/main" val="221213060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77</a:t>
            </a:fld>
            <a:endParaRPr lang="pt-BR"/>
          </a:p>
        </p:txBody>
      </p:sp>
    </p:spTree>
    <p:extLst>
      <p:ext uri="{BB962C8B-B14F-4D97-AF65-F5344CB8AC3E}">
        <p14:creationId xmlns:p14="http://schemas.microsoft.com/office/powerpoint/2010/main" val="306355876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88</a:t>
            </a:fld>
            <a:endParaRPr lang="pt-BR"/>
          </a:p>
        </p:txBody>
      </p:sp>
    </p:spTree>
    <p:extLst>
      <p:ext uri="{BB962C8B-B14F-4D97-AF65-F5344CB8AC3E}">
        <p14:creationId xmlns:p14="http://schemas.microsoft.com/office/powerpoint/2010/main" val="21025853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C8D7C511-A7D2-5EB1-97DA-D3F90E4E10A1}"/>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96374BD0-DC0C-EDA8-E7F1-DE8D8E563BC6}"/>
              </a:ext>
            </a:extLst>
          </p:cNvPr>
          <p:cNvSpPr>
            <a:spLocks noGrp="1" noRot="1" noChangeAspect="1"/>
          </p:cNvSpPr>
          <p:nvPr>
            <p:ph type="sldImg"/>
          </p:nvPr>
        </p:nvSpPr>
        <p:spPr/>
      </p:sp>
      <p:sp>
        <p:nvSpPr>
          <p:cNvPr id="3" name="Notes Placeholder 2">
            <a:extLst>
              <a:ext uri="{FF2B5EF4-FFF2-40B4-BE49-F238E27FC236}">
                <a16:creationId xmlns="" xmlns:a16="http://schemas.microsoft.com/office/drawing/2014/main" id="{EEAD1AE6-6E02-5D42-7E6C-4FEB17403EE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 xmlns:a16="http://schemas.microsoft.com/office/drawing/2014/main" id="{2CD063DC-C958-65C8-2E55-CB2FF952038D}"/>
              </a:ext>
            </a:extLst>
          </p:cNvPr>
          <p:cNvSpPr>
            <a:spLocks noGrp="1"/>
          </p:cNvSpPr>
          <p:nvPr>
            <p:ph type="sldNum" sz="quarter" idx="5"/>
          </p:nvPr>
        </p:nvSpPr>
        <p:spPr/>
        <p:txBody>
          <a:bodyPr/>
          <a:lstStyle/>
          <a:p>
            <a:fld id="{6FC8D850-966F-45A6-8DE7-15B891E7D40D}" type="slidenum">
              <a:rPr lang="pt-BR" smtClean="0"/>
              <a:t>89</a:t>
            </a:fld>
            <a:endParaRPr lang="pt-BR"/>
          </a:p>
        </p:txBody>
      </p:sp>
    </p:spTree>
    <p:extLst>
      <p:ext uri="{BB962C8B-B14F-4D97-AF65-F5344CB8AC3E}">
        <p14:creationId xmlns:p14="http://schemas.microsoft.com/office/powerpoint/2010/main" val="428768815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C8D7C511-A7D2-5EB1-97DA-D3F90E4E10A1}"/>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96374BD0-DC0C-EDA8-E7F1-DE8D8E563BC6}"/>
              </a:ext>
            </a:extLst>
          </p:cNvPr>
          <p:cNvSpPr>
            <a:spLocks noGrp="1" noRot="1" noChangeAspect="1"/>
          </p:cNvSpPr>
          <p:nvPr>
            <p:ph type="sldImg"/>
          </p:nvPr>
        </p:nvSpPr>
        <p:spPr/>
      </p:sp>
      <p:sp>
        <p:nvSpPr>
          <p:cNvPr id="3" name="Notes Placeholder 2">
            <a:extLst>
              <a:ext uri="{FF2B5EF4-FFF2-40B4-BE49-F238E27FC236}">
                <a16:creationId xmlns="" xmlns:a16="http://schemas.microsoft.com/office/drawing/2014/main" id="{EEAD1AE6-6E02-5D42-7E6C-4FEB17403EE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 xmlns:a16="http://schemas.microsoft.com/office/drawing/2014/main" id="{2CD063DC-C958-65C8-2E55-CB2FF952038D}"/>
              </a:ext>
            </a:extLst>
          </p:cNvPr>
          <p:cNvSpPr>
            <a:spLocks noGrp="1"/>
          </p:cNvSpPr>
          <p:nvPr>
            <p:ph type="sldNum" sz="quarter" idx="5"/>
          </p:nvPr>
        </p:nvSpPr>
        <p:spPr/>
        <p:txBody>
          <a:bodyPr/>
          <a:lstStyle/>
          <a:p>
            <a:fld id="{6FC8D850-966F-45A6-8DE7-15B891E7D40D}" type="slidenum">
              <a:rPr lang="pt-BR" smtClean="0"/>
              <a:t>90</a:t>
            </a:fld>
            <a:endParaRPr lang="pt-BR"/>
          </a:p>
        </p:txBody>
      </p:sp>
    </p:spTree>
    <p:extLst>
      <p:ext uri="{BB962C8B-B14F-4D97-AF65-F5344CB8AC3E}">
        <p14:creationId xmlns:p14="http://schemas.microsoft.com/office/powerpoint/2010/main" val="95818911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05383363-000A-0D60-6C1E-B401D65114D5}"/>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0FBA9BC8-6559-200B-A0DC-C7C193B50C40}"/>
              </a:ext>
            </a:extLst>
          </p:cNvPr>
          <p:cNvSpPr>
            <a:spLocks noGrp="1" noRot="1" noChangeAspect="1"/>
          </p:cNvSpPr>
          <p:nvPr>
            <p:ph type="sldImg"/>
          </p:nvPr>
        </p:nvSpPr>
        <p:spPr/>
      </p:sp>
      <p:sp>
        <p:nvSpPr>
          <p:cNvPr id="3" name="Notes Placeholder 2">
            <a:extLst>
              <a:ext uri="{FF2B5EF4-FFF2-40B4-BE49-F238E27FC236}">
                <a16:creationId xmlns="" xmlns:a16="http://schemas.microsoft.com/office/drawing/2014/main" id="{CB93FD94-0D0E-D985-C243-70A96161BFC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 xmlns:a16="http://schemas.microsoft.com/office/drawing/2014/main" id="{8444AF09-4A8D-EB58-C542-61C146A8C5FC}"/>
              </a:ext>
            </a:extLst>
          </p:cNvPr>
          <p:cNvSpPr>
            <a:spLocks noGrp="1"/>
          </p:cNvSpPr>
          <p:nvPr>
            <p:ph type="sldNum" sz="quarter" idx="5"/>
          </p:nvPr>
        </p:nvSpPr>
        <p:spPr/>
        <p:txBody>
          <a:bodyPr/>
          <a:lstStyle/>
          <a:p>
            <a:fld id="{6FC8D850-966F-45A6-8DE7-15B891E7D40D}" type="slidenum">
              <a:rPr lang="pt-BR" smtClean="0"/>
              <a:t>91</a:t>
            </a:fld>
            <a:endParaRPr lang="pt-BR"/>
          </a:p>
        </p:txBody>
      </p:sp>
    </p:spTree>
    <p:extLst>
      <p:ext uri="{BB962C8B-B14F-4D97-AF65-F5344CB8AC3E}">
        <p14:creationId xmlns:p14="http://schemas.microsoft.com/office/powerpoint/2010/main" val="73314428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B775DFA-E39B-0EF4-1143-A327A7CAACE8}"/>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87859BB1-D8C1-65C8-6748-CB851BA5D5FC}"/>
              </a:ext>
            </a:extLst>
          </p:cNvPr>
          <p:cNvSpPr>
            <a:spLocks noGrp="1" noRot="1" noChangeAspect="1"/>
          </p:cNvSpPr>
          <p:nvPr>
            <p:ph type="sldImg"/>
          </p:nvPr>
        </p:nvSpPr>
        <p:spPr/>
      </p:sp>
      <p:sp>
        <p:nvSpPr>
          <p:cNvPr id="3" name="Notes Placeholder 2">
            <a:extLst>
              <a:ext uri="{FF2B5EF4-FFF2-40B4-BE49-F238E27FC236}">
                <a16:creationId xmlns="" xmlns:a16="http://schemas.microsoft.com/office/drawing/2014/main" id="{F422EE45-2516-549E-714A-C375BCD8BB9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 xmlns:a16="http://schemas.microsoft.com/office/drawing/2014/main" id="{900447B7-D6A2-FFD4-F49A-1A0A90A830E6}"/>
              </a:ext>
            </a:extLst>
          </p:cNvPr>
          <p:cNvSpPr>
            <a:spLocks noGrp="1"/>
          </p:cNvSpPr>
          <p:nvPr>
            <p:ph type="sldNum" sz="quarter" idx="5"/>
          </p:nvPr>
        </p:nvSpPr>
        <p:spPr/>
        <p:txBody>
          <a:bodyPr/>
          <a:lstStyle/>
          <a:p>
            <a:fld id="{6FC8D850-966F-45A6-8DE7-15B891E7D40D}" type="slidenum">
              <a:rPr lang="pt-BR" smtClean="0"/>
              <a:t>92</a:t>
            </a:fld>
            <a:endParaRPr lang="pt-BR"/>
          </a:p>
        </p:txBody>
      </p:sp>
    </p:spTree>
    <p:extLst>
      <p:ext uri="{BB962C8B-B14F-4D97-AF65-F5344CB8AC3E}">
        <p14:creationId xmlns:p14="http://schemas.microsoft.com/office/powerpoint/2010/main" val="2065739186"/>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6D5BA58-4E58-75EA-7BEC-ED2E6436B2D9}"/>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E53AD002-AA40-E355-B02F-572AE6190DE8}"/>
              </a:ext>
            </a:extLst>
          </p:cNvPr>
          <p:cNvSpPr>
            <a:spLocks noGrp="1" noRot="1" noChangeAspect="1"/>
          </p:cNvSpPr>
          <p:nvPr>
            <p:ph type="sldImg"/>
          </p:nvPr>
        </p:nvSpPr>
        <p:spPr/>
      </p:sp>
      <p:sp>
        <p:nvSpPr>
          <p:cNvPr id="3" name="Notes Placeholder 2">
            <a:extLst>
              <a:ext uri="{FF2B5EF4-FFF2-40B4-BE49-F238E27FC236}">
                <a16:creationId xmlns="" xmlns:a16="http://schemas.microsoft.com/office/drawing/2014/main" id="{C40F3552-4534-C924-31C6-211591DD8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 xmlns:a16="http://schemas.microsoft.com/office/drawing/2014/main" id="{387906D9-35CD-7BBD-9B83-9AF5394718AD}"/>
              </a:ext>
            </a:extLst>
          </p:cNvPr>
          <p:cNvSpPr>
            <a:spLocks noGrp="1"/>
          </p:cNvSpPr>
          <p:nvPr>
            <p:ph type="sldNum" sz="quarter" idx="5"/>
          </p:nvPr>
        </p:nvSpPr>
        <p:spPr/>
        <p:txBody>
          <a:bodyPr/>
          <a:lstStyle/>
          <a:p>
            <a:fld id="{6FC8D850-966F-45A6-8DE7-15B891E7D40D}" type="slidenum">
              <a:rPr lang="pt-BR" smtClean="0"/>
              <a:t>93</a:t>
            </a:fld>
            <a:endParaRPr lang="pt-BR"/>
          </a:p>
        </p:txBody>
      </p:sp>
    </p:spTree>
    <p:extLst>
      <p:ext uri="{BB962C8B-B14F-4D97-AF65-F5344CB8AC3E}">
        <p14:creationId xmlns:p14="http://schemas.microsoft.com/office/powerpoint/2010/main" val="79601780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2888EBD2-AA05-D187-F34B-ABF6C940AEFF}"/>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2541C393-F2DD-B5B3-8124-2A3017B81BC9}"/>
              </a:ext>
            </a:extLst>
          </p:cNvPr>
          <p:cNvSpPr>
            <a:spLocks noGrp="1" noRot="1" noChangeAspect="1"/>
          </p:cNvSpPr>
          <p:nvPr>
            <p:ph type="sldImg"/>
          </p:nvPr>
        </p:nvSpPr>
        <p:spPr/>
      </p:sp>
      <p:sp>
        <p:nvSpPr>
          <p:cNvPr id="3" name="Notes Placeholder 2">
            <a:extLst>
              <a:ext uri="{FF2B5EF4-FFF2-40B4-BE49-F238E27FC236}">
                <a16:creationId xmlns="" xmlns:a16="http://schemas.microsoft.com/office/drawing/2014/main" id="{04BF964D-0563-00C6-DDFF-D33E4F0D359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 xmlns:a16="http://schemas.microsoft.com/office/drawing/2014/main" id="{CD49EF4F-E76D-C638-D820-CC9A1EFEA97E}"/>
              </a:ext>
            </a:extLst>
          </p:cNvPr>
          <p:cNvSpPr>
            <a:spLocks noGrp="1"/>
          </p:cNvSpPr>
          <p:nvPr>
            <p:ph type="sldNum" sz="quarter" idx="5"/>
          </p:nvPr>
        </p:nvSpPr>
        <p:spPr/>
        <p:txBody>
          <a:bodyPr/>
          <a:lstStyle/>
          <a:p>
            <a:fld id="{6FC8D850-966F-45A6-8DE7-15B891E7D40D}" type="slidenum">
              <a:rPr lang="pt-BR" smtClean="0"/>
              <a:t>94</a:t>
            </a:fld>
            <a:endParaRPr lang="pt-BR"/>
          </a:p>
        </p:txBody>
      </p:sp>
    </p:spTree>
    <p:extLst>
      <p:ext uri="{BB962C8B-B14F-4D97-AF65-F5344CB8AC3E}">
        <p14:creationId xmlns:p14="http://schemas.microsoft.com/office/powerpoint/2010/main" val="162965313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FC757CE-BF53-437D-28DC-9D1656072DD2}"/>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1B0179AB-2D11-DEBD-9B1F-449BB16F9240}"/>
              </a:ext>
            </a:extLst>
          </p:cNvPr>
          <p:cNvSpPr>
            <a:spLocks noGrp="1" noRot="1" noChangeAspect="1"/>
          </p:cNvSpPr>
          <p:nvPr>
            <p:ph type="sldImg"/>
          </p:nvPr>
        </p:nvSpPr>
        <p:spPr/>
      </p:sp>
      <p:sp>
        <p:nvSpPr>
          <p:cNvPr id="3" name="Notes Placeholder 2">
            <a:extLst>
              <a:ext uri="{FF2B5EF4-FFF2-40B4-BE49-F238E27FC236}">
                <a16:creationId xmlns="" xmlns:a16="http://schemas.microsoft.com/office/drawing/2014/main" id="{6F126D2B-715D-BDF5-8BC7-7ACBED6228F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 xmlns:a16="http://schemas.microsoft.com/office/drawing/2014/main" id="{F6DE5B57-5F1E-72D0-DAE3-0F58D801D6B8}"/>
              </a:ext>
            </a:extLst>
          </p:cNvPr>
          <p:cNvSpPr>
            <a:spLocks noGrp="1"/>
          </p:cNvSpPr>
          <p:nvPr>
            <p:ph type="sldNum" sz="quarter" idx="5"/>
          </p:nvPr>
        </p:nvSpPr>
        <p:spPr/>
        <p:txBody>
          <a:bodyPr/>
          <a:lstStyle/>
          <a:p>
            <a:fld id="{6FC8D850-966F-45A6-8DE7-15B891E7D40D}" type="slidenum">
              <a:rPr lang="pt-BR" smtClean="0"/>
              <a:t>95</a:t>
            </a:fld>
            <a:endParaRPr lang="pt-BR"/>
          </a:p>
        </p:txBody>
      </p:sp>
    </p:spTree>
    <p:extLst>
      <p:ext uri="{BB962C8B-B14F-4D97-AF65-F5344CB8AC3E}">
        <p14:creationId xmlns:p14="http://schemas.microsoft.com/office/powerpoint/2010/main" val="302971963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FC757CE-BF53-437D-28DC-9D1656072DD2}"/>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1B0179AB-2D11-DEBD-9B1F-449BB16F9240}"/>
              </a:ext>
            </a:extLst>
          </p:cNvPr>
          <p:cNvSpPr>
            <a:spLocks noGrp="1" noRot="1" noChangeAspect="1"/>
          </p:cNvSpPr>
          <p:nvPr>
            <p:ph type="sldImg"/>
          </p:nvPr>
        </p:nvSpPr>
        <p:spPr/>
      </p:sp>
      <p:sp>
        <p:nvSpPr>
          <p:cNvPr id="3" name="Notes Placeholder 2">
            <a:extLst>
              <a:ext uri="{FF2B5EF4-FFF2-40B4-BE49-F238E27FC236}">
                <a16:creationId xmlns="" xmlns:a16="http://schemas.microsoft.com/office/drawing/2014/main" id="{6F126D2B-715D-BDF5-8BC7-7ACBED6228F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 xmlns:a16="http://schemas.microsoft.com/office/drawing/2014/main" id="{F6DE5B57-5F1E-72D0-DAE3-0F58D801D6B8}"/>
              </a:ext>
            </a:extLst>
          </p:cNvPr>
          <p:cNvSpPr>
            <a:spLocks noGrp="1"/>
          </p:cNvSpPr>
          <p:nvPr>
            <p:ph type="sldNum" sz="quarter" idx="5"/>
          </p:nvPr>
        </p:nvSpPr>
        <p:spPr/>
        <p:txBody>
          <a:bodyPr/>
          <a:lstStyle/>
          <a:p>
            <a:fld id="{6FC8D850-966F-45A6-8DE7-15B891E7D40D}" type="slidenum">
              <a:rPr lang="pt-BR" smtClean="0"/>
              <a:t>96</a:t>
            </a:fld>
            <a:endParaRPr lang="pt-BR"/>
          </a:p>
        </p:txBody>
      </p:sp>
    </p:spTree>
    <p:extLst>
      <p:ext uri="{BB962C8B-B14F-4D97-AF65-F5344CB8AC3E}">
        <p14:creationId xmlns:p14="http://schemas.microsoft.com/office/powerpoint/2010/main" val="76018552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72845150-E3A0-4AA8-1B82-4EB9CA0E8FB5}"/>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A53E8584-A895-574E-5864-7A79AC884593}"/>
              </a:ext>
            </a:extLst>
          </p:cNvPr>
          <p:cNvSpPr>
            <a:spLocks noGrp="1" noRot="1" noChangeAspect="1"/>
          </p:cNvSpPr>
          <p:nvPr>
            <p:ph type="sldImg"/>
          </p:nvPr>
        </p:nvSpPr>
        <p:spPr/>
      </p:sp>
      <p:sp>
        <p:nvSpPr>
          <p:cNvPr id="3" name="Notes Placeholder 2">
            <a:extLst>
              <a:ext uri="{FF2B5EF4-FFF2-40B4-BE49-F238E27FC236}">
                <a16:creationId xmlns="" xmlns:a16="http://schemas.microsoft.com/office/drawing/2014/main" id="{C4C0F3F9-B45E-5A1E-7FC6-0155077F71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 xmlns:a16="http://schemas.microsoft.com/office/drawing/2014/main" id="{761CD3A3-7795-BD62-EC53-236C1B172A31}"/>
              </a:ext>
            </a:extLst>
          </p:cNvPr>
          <p:cNvSpPr>
            <a:spLocks noGrp="1"/>
          </p:cNvSpPr>
          <p:nvPr>
            <p:ph type="sldNum" sz="quarter" idx="5"/>
          </p:nvPr>
        </p:nvSpPr>
        <p:spPr/>
        <p:txBody>
          <a:bodyPr/>
          <a:lstStyle/>
          <a:p>
            <a:fld id="{6FC8D850-966F-45A6-8DE7-15B891E7D40D}" type="slidenum">
              <a:rPr lang="pt-BR" smtClean="0"/>
              <a:t>97</a:t>
            </a:fld>
            <a:endParaRPr lang="pt-BR"/>
          </a:p>
        </p:txBody>
      </p:sp>
    </p:spTree>
    <p:extLst>
      <p:ext uri="{BB962C8B-B14F-4D97-AF65-F5344CB8AC3E}">
        <p14:creationId xmlns:p14="http://schemas.microsoft.com/office/powerpoint/2010/main" val="376861072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AFC3BFA3-59AF-04F9-0576-93E8CE77BD79}"/>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90AC571C-6EE6-6F3D-F881-BE06D868B348}"/>
              </a:ext>
            </a:extLst>
          </p:cNvPr>
          <p:cNvSpPr>
            <a:spLocks noGrp="1" noRot="1" noChangeAspect="1"/>
          </p:cNvSpPr>
          <p:nvPr>
            <p:ph type="sldImg"/>
          </p:nvPr>
        </p:nvSpPr>
        <p:spPr/>
      </p:sp>
      <p:sp>
        <p:nvSpPr>
          <p:cNvPr id="3" name="Notes Placeholder 2">
            <a:extLst>
              <a:ext uri="{FF2B5EF4-FFF2-40B4-BE49-F238E27FC236}">
                <a16:creationId xmlns="" xmlns:a16="http://schemas.microsoft.com/office/drawing/2014/main" id="{30E6B7E9-D7F9-10C6-4778-8BEC26413A2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 xmlns:a16="http://schemas.microsoft.com/office/drawing/2014/main" id="{17BE00AF-4D89-539C-EE0E-6F52B8BD503D}"/>
              </a:ext>
            </a:extLst>
          </p:cNvPr>
          <p:cNvSpPr>
            <a:spLocks noGrp="1"/>
          </p:cNvSpPr>
          <p:nvPr>
            <p:ph type="sldNum" sz="quarter" idx="5"/>
          </p:nvPr>
        </p:nvSpPr>
        <p:spPr/>
        <p:txBody>
          <a:bodyPr/>
          <a:lstStyle/>
          <a:p>
            <a:fld id="{6FC8D850-966F-45A6-8DE7-15B891E7D40D}" type="slidenum">
              <a:rPr lang="pt-BR" smtClean="0"/>
              <a:t>98</a:t>
            </a:fld>
            <a:endParaRPr lang="pt-BR"/>
          </a:p>
        </p:txBody>
      </p:sp>
    </p:spTree>
    <p:extLst>
      <p:ext uri="{BB962C8B-B14F-4D97-AF65-F5344CB8AC3E}">
        <p14:creationId xmlns:p14="http://schemas.microsoft.com/office/powerpoint/2010/main" val="22414569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16/05/2026</a:t>
            </a:fld>
            <a:endParaRPr lang="pt-BR"/>
          </a:p>
        </p:txBody>
      </p:sp>
      <p:sp>
        <p:nvSpPr>
          <p:cNvPr id="5" name="Espaço Reservado para Rodapé 4">
            <a:extLst>
              <a:ext uri="{FF2B5EF4-FFF2-40B4-BE49-F238E27FC236}">
                <a16:creationId xmlns=""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16/05/2026</a:t>
            </a:fld>
            <a:endParaRPr lang="pt-BR"/>
          </a:p>
        </p:txBody>
      </p:sp>
      <p:sp>
        <p:nvSpPr>
          <p:cNvPr id="5" name="Espaço Reservado para Rodapé 4">
            <a:extLst>
              <a:ext uri="{FF2B5EF4-FFF2-40B4-BE49-F238E27FC236}">
                <a16:creationId xmlns=""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16/05/2026</a:t>
            </a:fld>
            <a:endParaRPr lang="pt-BR"/>
          </a:p>
        </p:txBody>
      </p:sp>
      <p:sp>
        <p:nvSpPr>
          <p:cNvPr id="5" name="Espaço Reservado para Rodapé 4">
            <a:extLst>
              <a:ext uri="{FF2B5EF4-FFF2-40B4-BE49-F238E27FC236}">
                <a16:creationId xmlns=""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16/05/2026</a:t>
            </a:fld>
            <a:endParaRPr lang="pt-BR"/>
          </a:p>
        </p:txBody>
      </p:sp>
      <p:sp>
        <p:nvSpPr>
          <p:cNvPr id="6" name="Espaço Reservado para Rodapé 5">
            <a:extLst>
              <a:ext uri="{FF2B5EF4-FFF2-40B4-BE49-F238E27FC236}">
                <a16:creationId xmlns=""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16/05/2026</a:t>
            </a:fld>
            <a:endParaRPr lang="pt-BR"/>
          </a:p>
        </p:txBody>
      </p:sp>
      <p:sp>
        <p:nvSpPr>
          <p:cNvPr id="8" name="Espaço Reservado para Rodapé 7">
            <a:extLst>
              <a:ext uri="{FF2B5EF4-FFF2-40B4-BE49-F238E27FC236}">
                <a16:creationId xmlns=""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16/05/2026</a:t>
            </a:fld>
            <a:endParaRPr lang="pt-BR"/>
          </a:p>
        </p:txBody>
      </p:sp>
      <p:sp>
        <p:nvSpPr>
          <p:cNvPr id="4" name="Espaço Reservado para Rodapé 3">
            <a:extLst>
              <a:ext uri="{FF2B5EF4-FFF2-40B4-BE49-F238E27FC236}">
                <a16:creationId xmlns=""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16/05/2026</a:t>
            </a:fld>
            <a:endParaRPr lang="pt-BR"/>
          </a:p>
        </p:txBody>
      </p:sp>
      <p:sp>
        <p:nvSpPr>
          <p:cNvPr id="3" name="Espaço Reservado para Rodapé 2">
            <a:extLst>
              <a:ext uri="{FF2B5EF4-FFF2-40B4-BE49-F238E27FC236}">
                <a16:creationId xmlns=""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16/05/2026</a:t>
            </a:fld>
            <a:endParaRPr lang="pt-BR"/>
          </a:p>
        </p:txBody>
      </p:sp>
      <p:sp>
        <p:nvSpPr>
          <p:cNvPr id="6" name="Espaço Reservado para Rodapé 5">
            <a:extLst>
              <a:ext uri="{FF2B5EF4-FFF2-40B4-BE49-F238E27FC236}">
                <a16:creationId xmlns=""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16/05/2026</a:t>
            </a:fld>
            <a:endParaRPr lang="pt-BR"/>
          </a:p>
        </p:txBody>
      </p:sp>
      <p:sp>
        <p:nvSpPr>
          <p:cNvPr id="6" name="Espaço Reservado para Rodapé 5">
            <a:extLst>
              <a:ext uri="{FF2B5EF4-FFF2-40B4-BE49-F238E27FC236}">
                <a16:creationId xmlns=""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16/05/2026</a:t>
            </a:fld>
            <a:endParaRPr lang="pt-BR"/>
          </a:p>
        </p:txBody>
      </p:sp>
      <p:sp>
        <p:nvSpPr>
          <p:cNvPr id="5" name="Espaço Reservado para Rodapé 4">
            <a:extLst>
              <a:ext uri="{FF2B5EF4-FFF2-40B4-BE49-F238E27FC236}">
                <a16:creationId xmlns=""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16/05/2026</a:t>
            </a:fld>
            <a:endParaRPr lang="pt-BR"/>
          </a:p>
        </p:txBody>
      </p:sp>
      <p:sp>
        <p:nvSpPr>
          <p:cNvPr id="5" name="Espaço Reservado para Rodapé 4">
            <a:extLst>
              <a:ext uri="{FF2B5EF4-FFF2-40B4-BE49-F238E27FC236}">
                <a16:creationId xmlns=""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16/05/2026</a:t>
            </a:fld>
            <a:endParaRPr lang="pt-BR"/>
          </a:p>
        </p:txBody>
      </p:sp>
      <p:sp>
        <p:nvSpPr>
          <p:cNvPr id="5" name="Espaço Reservado para Rodapé 4">
            <a:extLst>
              <a:ext uri="{FF2B5EF4-FFF2-40B4-BE49-F238E27FC236}">
                <a16:creationId xmlns=""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49.xml.rels><?xml version="1.0" encoding="UTF-8" standalone="yes"?>
<Relationships xmlns="http://schemas.openxmlformats.org/package/2006/relationships"><Relationship Id="rId3" Type="http://schemas.openxmlformats.org/officeDocument/2006/relationships/image" Target="../media/image38.png"/><Relationship Id="rId7" Type="http://schemas.openxmlformats.org/officeDocument/2006/relationships/image" Target="../media/image301.pn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291.png"/><Relationship Id="rId5" Type="http://schemas.openxmlformats.org/officeDocument/2006/relationships/image" Target="../media/image281.png"/><Relationship Id="rId4" Type="http://schemas.openxmlformats.org/officeDocument/2006/relationships/image" Target="../media/image39.pn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331.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41.png"/></Relationships>
</file>

<file path=ppt/slides/_rels/slide57.xml.rels><?xml version="1.0" encoding="UTF-8" standalone="yes"?>
<Relationships xmlns="http://schemas.openxmlformats.org/package/2006/relationships"><Relationship Id="rId3" Type="http://schemas.openxmlformats.org/officeDocument/2006/relationships/image" Target="../media/image341.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58.xml.rels><?xml version="1.0" encoding="UTF-8" standalone="yes"?>
<Relationships xmlns="http://schemas.openxmlformats.org/package/2006/relationships"><Relationship Id="rId3" Type="http://schemas.openxmlformats.org/officeDocument/2006/relationships/image" Target="../media/image361.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59.xml.rels><?xml version="1.0" encoding="UTF-8" standalone="yes"?>
<Relationships xmlns="http://schemas.openxmlformats.org/package/2006/relationships"><Relationship Id="rId3" Type="http://schemas.openxmlformats.org/officeDocument/2006/relationships/image" Target="../media/image382.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60.xml.rels><?xml version="1.0" encoding="UTF-8" standalone="yes"?>
<Relationships xmlns="http://schemas.openxmlformats.org/package/2006/relationships"><Relationship Id="rId2" Type="http://schemas.openxmlformats.org/officeDocument/2006/relationships/image" Target="../media/image381.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391.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hyperlink" Target="https://www.geeksforgeeks.org/machine-learning/gated-recurrent-unit-networks/" TargetMode="Externa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21.png"/><Relationship Id="rId1" Type="http://schemas.openxmlformats.org/officeDocument/2006/relationships/slideLayout" Target="../slideLayouts/slideLayout2.xml"/><Relationship Id="rId4" Type="http://schemas.openxmlformats.org/officeDocument/2006/relationships/image" Target="../media/image48.png"/></Relationships>
</file>

<file path=ppt/slides/_rels/slide6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48.png"/></Relationships>
</file>

<file path=ppt/slides/_rels/slide68.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49.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461.png"/><Relationship Id="rId2" Type="http://schemas.openxmlformats.org/officeDocument/2006/relationships/image" Target="../media/image451.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461.png"/><Relationship Id="rId2" Type="http://schemas.openxmlformats.org/officeDocument/2006/relationships/image" Target="../media/image451.png"/><Relationship Id="rId1" Type="http://schemas.openxmlformats.org/officeDocument/2006/relationships/slideLayout" Target="../slideLayouts/slideLayout2.xml"/><Relationship Id="rId5" Type="http://schemas.openxmlformats.org/officeDocument/2006/relationships/image" Target="../media/image481.png"/><Relationship Id="rId4" Type="http://schemas.openxmlformats.org/officeDocument/2006/relationships/image" Target="../media/image471.png"/></Relationships>
</file>

<file path=ppt/slides/_rels/slide72.xml.rels><?xml version="1.0" encoding="UTF-8" standalone="yes"?>
<Relationships xmlns="http://schemas.openxmlformats.org/package/2006/relationships"><Relationship Id="rId3" Type="http://schemas.openxmlformats.org/officeDocument/2006/relationships/image" Target="../media/image501.png"/><Relationship Id="rId2" Type="http://schemas.openxmlformats.org/officeDocument/2006/relationships/image" Target="../media/image491.png"/><Relationship Id="rId1" Type="http://schemas.openxmlformats.org/officeDocument/2006/relationships/slideLayout" Target="../slideLayouts/slideLayout2.xml"/><Relationship Id="rId5" Type="http://schemas.openxmlformats.org/officeDocument/2006/relationships/image" Target="../media/image52.png"/><Relationship Id="rId4" Type="http://schemas.openxmlformats.org/officeDocument/2006/relationships/image" Target="../media/image51.png"/></Relationships>
</file>

<file path=ppt/slides/_rels/slide73.xml.rels><?xml version="1.0" encoding="UTF-8" standalone="yes"?>
<Relationships xmlns="http://schemas.openxmlformats.org/package/2006/relationships"><Relationship Id="rId8" Type="http://schemas.openxmlformats.org/officeDocument/2006/relationships/image" Target="../media/image55.png"/><Relationship Id="rId3" Type="http://schemas.openxmlformats.org/officeDocument/2006/relationships/image" Target="../media/image491.png"/><Relationship Id="rId7" Type="http://schemas.openxmlformats.org/officeDocument/2006/relationships/image" Target="../media/image54.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image" Target="../media/image53.png"/><Relationship Id="rId5" Type="http://schemas.openxmlformats.org/officeDocument/2006/relationships/image" Target="../media/image52.png"/><Relationship Id="rId4" Type="http://schemas.openxmlformats.org/officeDocument/2006/relationships/image" Target="../media/image51.png"/></Relationships>
</file>

<file path=ppt/slides/_rels/slide74.xml.rels><?xml version="1.0" encoding="UTF-8" standalone="yes"?>
<Relationships xmlns="http://schemas.openxmlformats.org/package/2006/relationships"><Relationship Id="rId8" Type="http://schemas.openxmlformats.org/officeDocument/2006/relationships/image" Target="../media/image55.png"/><Relationship Id="rId3" Type="http://schemas.openxmlformats.org/officeDocument/2006/relationships/image" Target="../media/image491.png"/><Relationship Id="rId7" Type="http://schemas.openxmlformats.org/officeDocument/2006/relationships/image" Target="../media/image54.pn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53.png"/><Relationship Id="rId5" Type="http://schemas.openxmlformats.org/officeDocument/2006/relationships/image" Target="../media/image52.png"/><Relationship Id="rId4" Type="http://schemas.openxmlformats.org/officeDocument/2006/relationships/image" Target="../media/image51.png"/></Relationships>
</file>

<file path=ppt/slides/_rels/slide75.xml.rels><?xml version="1.0" encoding="UTF-8" standalone="yes"?>
<Relationships xmlns="http://schemas.openxmlformats.org/package/2006/relationships"><Relationship Id="rId8" Type="http://schemas.openxmlformats.org/officeDocument/2006/relationships/image" Target="../media/image60.png"/><Relationship Id="rId3" Type="http://schemas.openxmlformats.org/officeDocument/2006/relationships/image" Target="../media/image441.png"/><Relationship Id="rId7" Type="http://schemas.openxmlformats.org/officeDocument/2006/relationships/image" Target="../media/image59.pn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58.png"/><Relationship Id="rId5" Type="http://schemas.openxmlformats.org/officeDocument/2006/relationships/image" Target="../media/image57.png"/><Relationship Id="rId4" Type="http://schemas.openxmlformats.org/officeDocument/2006/relationships/image" Target="../media/image56.png"/><Relationship Id="rId9" Type="http://schemas.openxmlformats.org/officeDocument/2006/relationships/image" Target="../media/image61.png"/></Relationships>
</file>

<file path=ppt/slides/_rels/slide76.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rnn.ipynb" TargetMode="External"/><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62.png"/><Relationship Id="rId5" Type="http://schemas.openxmlformats.org/officeDocument/2006/relationships/image" Target="../media/image51.jpeg"/><Relationship Id="rId4" Type="http://schemas.openxmlformats.org/officeDocument/2006/relationships/image" Target="../media/image50.png"/></Relationships>
</file>

<file path=ppt/slides/_rels/slide77.xml.rels><?xml version="1.0" encoding="UTF-8" standalone="yes"?>
<Relationships xmlns="http://schemas.openxmlformats.org/package/2006/relationships"><Relationship Id="rId3" Type="http://schemas.openxmlformats.org/officeDocument/2006/relationships/hyperlink" Target="https://github.com/zz4fap/c24_inteligencia_artificial/blob/main/listas/Lista%2011%20-%20RNN.pdf" TargetMode="External"/><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8" Type="http://schemas.openxmlformats.org/officeDocument/2006/relationships/image" Target="../media/image71.png"/><Relationship Id="rId3" Type="http://schemas.openxmlformats.org/officeDocument/2006/relationships/image" Target="../media/image66.png"/><Relationship Id="rId7" Type="http://schemas.openxmlformats.org/officeDocument/2006/relationships/image" Target="../media/image70.png"/><Relationship Id="rId2" Type="http://schemas.openxmlformats.org/officeDocument/2006/relationships/image" Target="../media/image65.png"/><Relationship Id="rId1" Type="http://schemas.openxmlformats.org/officeDocument/2006/relationships/slideLayout" Target="../slideLayouts/slideLayout2.xml"/><Relationship Id="rId6" Type="http://schemas.openxmlformats.org/officeDocument/2006/relationships/image" Target="../media/image69.png"/><Relationship Id="rId5" Type="http://schemas.openxmlformats.org/officeDocument/2006/relationships/image" Target="../media/image68.png"/><Relationship Id="rId10" Type="http://schemas.openxmlformats.org/officeDocument/2006/relationships/image" Target="../media/image73.png"/><Relationship Id="rId4" Type="http://schemas.openxmlformats.org/officeDocument/2006/relationships/image" Target="../media/image67.png"/><Relationship Id="rId9" Type="http://schemas.openxmlformats.org/officeDocument/2006/relationships/image" Target="../media/image72.png"/></Relationships>
</file>

<file path=ppt/slides/_rels/slide82.xml.rels><?xml version="1.0" encoding="UTF-8" standalone="yes"?>
<Relationships xmlns="http://schemas.openxmlformats.org/package/2006/relationships"><Relationship Id="rId8" Type="http://schemas.openxmlformats.org/officeDocument/2006/relationships/image" Target="../media/image71.png"/><Relationship Id="rId13" Type="http://schemas.openxmlformats.org/officeDocument/2006/relationships/image" Target="../media/image77.png"/><Relationship Id="rId18" Type="http://schemas.openxmlformats.org/officeDocument/2006/relationships/image" Target="../media/image82.png"/><Relationship Id="rId3" Type="http://schemas.openxmlformats.org/officeDocument/2006/relationships/image" Target="../media/image66.png"/><Relationship Id="rId7" Type="http://schemas.openxmlformats.org/officeDocument/2006/relationships/image" Target="../media/image70.png"/><Relationship Id="rId12" Type="http://schemas.openxmlformats.org/officeDocument/2006/relationships/image" Target="../media/image76.png"/><Relationship Id="rId17" Type="http://schemas.openxmlformats.org/officeDocument/2006/relationships/image" Target="../media/image81.png"/><Relationship Id="rId2" Type="http://schemas.openxmlformats.org/officeDocument/2006/relationships/image" Target="../media/image65.png"/><Relationship Id="rId16" Type="http://schemas.openxmlformats.org/officeDocument/2006/relationships/image" Target="../media/image80.png"/><Relationship Id="rId20" Type="http://schemas.openxmlformats.org/officeDocument/2006/relationships/image" Target="../media/image84.png"/><Relationship Id="rId1" Type="http://schemas.openxmlformats.org/officeDocument/2006/relationships/slideLayout" Target="../slideLayouts/slideLayout2.xml"/><Relationship Id="rId6" Type="http://schemas.openxmlformats.org/officeDocument/2006/relationships/image" Target="../media/image74.png"/><Relationship Id="rId11" Type="http://schemas.openxmlformats.org/officeDocument/2006/relationships/image" Target="../media/image75.png"/><Relationship Id="rId5" Type="http://schemas.openxmlformats.org/officeDocument/2006/relationships/image" Target="../media/image68.png"/><Relationship Id="rId15" Type="http://schemas.openxmlformats.org/officeDocument/2006/relationships/image" Target="../media/image79.png"/><Relationship Id="rId10" Type="http://schemas.openxmlformats.org/officeDocument/2006/relationships/image" Target="../media/image73.png"/><Relationship Id="rId19" Type="http://schemas.openxmlformats.org/officeDocument/2006/relationships/image" Target="../media/image83.png"/><Relationship Id="rId4" Type="http://schemas.openxmlformats.org/officeDocument/2006/relationships/image" Target="../media/image67.png"/><Relationship Id="rId9" Type="http://schemas.openxmlformats.org/officeDocument/2006/relationships/image" Target="../media/image72.png"/><Relationship Id="rId14" Type="http://schemas.openxmlformats.org/officeDocument/2006/relationships/image" Target="../media/image78.png"/></Relationships>
</file>

<file path=ppt/slides/_rels/slide83.xml.rels><?xml version="1.0" encoding="UTF-8" standalone="yes"?>
<Relationships xmlns="http://schemas.openxmlformats.org/package/2006/relationships"><Relationship Id="rId8" Type="http://schemas.openxmlformats.org/officeDocument/2006/relationships/image" Target="../media/image330.png"/><Relationship Id="rId13" Type="http://schemas.openxmlformats.org/officeDocument/2006/relationships/image" Target="../media/image640.png"/><Relationship Id="rId18" Type="http://schemas.openxmlformats.org/officeDocument/2006/relationships/image" Target="../media/image420.png"/><Relationship Id="rId26" Type="http://schemas.openxmlformats.org/officeDocument/2006/relationships/image" Target="../media/image490.png"/><Relationship Id="rId3" Type="http://schemas.openxmlformats.org/officeDocument/2006/relationships/image" Target="../media/image280.png"/><Relationship Id="rId21" Type="http://schemas.openxmlformats.org/officeDocument/2006/relationships/image" Target="../media/image86.png"/><Relationship Id="rId7" Type="http://schemas.openxmlformats.org/officeDocument/2006/relationships/image" Target="../media/image320.png"/><Relationship Id="rId12" Type="http://schemas.openxmlformats.org/officeDocument/2006/relationships/image" Target="../media/image370.png"/><Relationship Id="rId17" Type="http://schemas.openxmlformats.org/officeDocument/2006/relationships/image" Target="../media/image85.png"/><Relationship Id="rId25" Type="http://schemas.openxmlformats.org/officeDocument/2006/relationships/image" Target="../media/image480.png"/><Relationship Id="rId2" Type="http://schemas.openxmlformats.org/officeDocument/2006/relationships/image" Target="../media/image270.png"/><Relationship Id="rId16" Type="http://schemas.openxmlformats.org/officeDocument/2006/relationships/image" Target="../media/image400.png"/><Relationship Id="rId20" Type="http://schemas.openxmlformats.org/officeDocument/2006/relationships/image" Target="../media/image440.png"/><Relationship Id="rId29" Type="http://schemas.openxmlformats.org/officeDocument/2006/relationships/image" Target="../media/image520.png"/><Relationship Id="rId1" Type="http://schemas.openxmlformats.org/officeDocument/2006/relationships/slideLayout" Target="../slideLayouts/slideLayout2.xml"/><Relationship Id="rId6" Type="http://schemas.openxmlformats.org/officeDocument/2006/relationships/image" Target="../media/image310.png"/><Relationship Id="rId11" Type="http://schemas.openxmlformats.org/officeDocument/2006/relationships/image" Target="../media/image360.png"/><Relationship Id="rId24" Type="http://schemas.openxmlformats.org/officeDocument/2006/relationships/image" Target="../media/image470.png"/><Relationship Id="rId5" Type="http://schemas.openxmlformats.org/officeDocument/2006/relationships/image" Target="../media/image300.png"/><Relationship Id="rId15" Type="http://schemas.openxmlformats.org/officeDocument/2006/relationships/image" Target="../media/image390.png"/><Relationship Id="rId23" Type="http://schemas.openxmlformats.org/officeDocument/2006/relationships/image" Target="../media/image460.png"/><Relationship Id="rId28" Type="http://schemas.openxmlformats.org/officeDocument/2006/relationships/image" Target="../media/image510.png"/><Relationship Id="rId10" Type="http://schemas.openxmlformats.org/officeDocument/2006/relationships/image" Target="../media/image350.png"/><Relationship Id="rId19" Type="http://schemas.openxmlformats.org/officeDocument/2006/relationships/image" Target="../media/image430.png"/><Relationship Id="rId4" Type="http://schemas.openxmlformats.org/officeDocument/2006/relationships/image" Target="../media/image290.png"/><Relationship Id="rId9" Type="http://schemas.openxmlformats.org/officeDocument/2006/relationships/image" Target="../media/image63.png"/><Relationship Id="rId14" Type="http://schemas.openxmlformats.org/officeDocument/2006/relationships/image" Target="../media/image380.png"/><Relationship Id="rId22" Type="http://schemas.openxmlformats.org/officeDocument/2006/relationships/image" Target="../media/image450.png"/><Relationship Id="rId27" Type="http://schemas.openxmlformats.org/officeDocument/2006/relationships/image" Target="../media/image500.png"/><Relationship Id="rId30" Type="http://schemas.openxmlformats.org/officeDocument/2006/relationships/image" Target="../media/image530.png"/></Relationships>
</file>

<file path=ppt/slides/_rels/slide84.xml.rels><?xml version="1.0" encoding="UTF-8" standalone="yes"?>
<Relationships xmlns="http://schemas.openxmlformats.org/package/2006/relationships"><Relationship Id="rId8" Type="http://schemas.openxmlformats.org/officeDocument/2006/relationships/image" Target="../media/image400.png"/><Relationship Id="rId13" Type="http://schemas.openxmlformats.org/officeDocument/2006/relationships/image" Target="../media/image86.png"/><Relationship Id="rId18" Type="http://schemas.openxmlformats.org/officeDocument/2006/relationships/image" Target="../media/image490.png"/><Relationship Id="rId3" Type="http://schemas.openxmlformats.org/officeDocument/2006/relationships/image" Target="../media/image360.png"/><Relationship Id="rId21" Type="http://schemas.openxmlformats.org/officeDocument/2006/relationships/image" Target="../media/image520.png"/><Relationship Id="rId7" Type="http://schemas.openxmlformats.org/officeDocument/2006/relationships/image" Target="../media/image390.png"/><Relationship Id="rId12" Type="http://schemas.openxmlformats.org/officeDocument/2006/relationships/image" Target="../media/image440.png"/><Relationship Id="rId17" Type="http://schemas.openxmlformats.org/officeDocument/2006/relationships/image" Target="../media/image480.png"/><Relationship Id="rId2" Type="http://schemas.openxmlformats.org/officeDocument/2006/relationships/image" Target="../media/image350.png"/><Relationship Id="rId16" Type="http://schemas.openxmlformats.org/officeDocument/2006/relationships/image" Target="../media/image470.png"/><Relationship Id="rId20" Type="http://schemas.openxmlformats.org/officeDocument/2006/relationships/image" Target="../media/image510.png"/><Relationship Id="rId1" Type="http://schemas.openxmlformats.org/officeDocument/2006/relationships/slideLayout" Target="../slideLayouts/slideLayout2.xml"/><Relationship Id="rId6" Type="http://schemas.openxmlformats.org/officeDocument/2006/relationships/image" Target="../media/image380.png"/><Relationship Id="rId11" Type="http://schemas.openxmlformats.org/officeDocument/2006/relationships/image" Target="../media/image430.png"/><Relationship Id="rId5" Type="http://schemas.openxmlformats.org/officeDocument/2006/relationships/image" Target="../media/image640.png"/><Relationship Id="rId15" Type="http://schemas.openxmlformats.org/officeDocument/2006/relationships/image" Target="../media/image460.png"/><Relationship Id="rId10" Type="http://schemas.openxmlformats.org/officeDocument/2006/relationships/image" Target="../media/image420.png"/><Relationship Id="rId19" Type="http://schemas.openxmlformats.org/officeDocument/2006/relationships/image" Target="../media/image500.png"/><Relationship Id="rId4" Type="http://schemas.openxmlformats.org/officeDocument/2006/relationships/image" Target="../media/image370.png"/><Relationship Id="rId9" Type="http://schemas.openxmlformats.org/officeDocument/2006/relationships/image" Target="../media/image85.png"/><Relationship Id="rId14" Type="http://schemas.openxmlformats.org/officeDocument/2006/relationships/image" Target="../media/image450.png"/><Relationship Id="rId22" Type="http://schemas.openxmlformats.org/officeDocument/2006/relationships/image" Target="../media/image530.png"/></Relationships>
</file>

<file path=ppt/slides/_rels/slide85.xml.rels><?xml version="1.0" encoding="UTF-8" standalone="yes"?>
<Relationships xmlns="http://schemas.openxmlformats.org/package/2006/relationships"><Relationship Id="rId8" Type="http://schemas.openxmlformats.org/officeDocument/2006/relationships/image" Target="../media/image800.png"/><Relationship Id="rId3" Type="http://schemas.openxmlformats.org/officeDocument/2006/relationships/image" Target="../media/image751.png"/><Relationship Id="rId7" Type="http://schemas.openxmlformats.org/officeDocument/2006/relationships/image" Target="../media/image790.png"/><Relationship Id="rId2" Type="http://schemas.openxmlformats.org/officeDocument/2006/relationships/image" Target="../media/image740.png"/><Relationship Id="rId1" Type="http://schemas.openxmlformats.org/officeDocument/2006/relationships/slideLayout" Target="../slideLayouts/slideLayout2.xml"/><Relationship Id="rId6" Type="http://schemas.openxmlformats.org/officeDocument/2006/relationships/image" Target="../media/image780.png"/><Relationship Id="rId5" Type="http://schemas.openxmlformats.org/officeDocument/2006/relationships/image" Target="../media/image770.png"/><Relationship Id="rId4" Type="http://schemas.openxmlformats.org/officeDocument/2006/relationships/image" Target="../media/image760.png"/><Relationship Id="rId9" Type="http://schemas.openxmlformats.org/officeDocument/2006/relationships/image" Target="../media/image811.png"/></Relationships>
</file>

<file path=ppt/slides/_rels/slide86.xml.rels><?xml version="1.0" encoding="UTF-8" standalone="yes"?>
<Relationships xmlns="http://schemas.openxmlformats.org/package/2006/relationships"><Relationship Id="rId8" Type="http://schemas.openxmlformats.org/officeDocument/2006/relationships/image" Target="../media/image840.png"/><Relationship Id="rId3" Type="http://schemas.openxmlformats.org/officeDocument/2006/relationships/image" Target="../media/image751.png"/><Relationship Id="rId7" Type="http://schemas.openxmlformats.org/officeDocument/2006/relationships/image" Target="../media/image790.png"/><Relationship Id="rId12" Type="http://schemas.openxmlformats.org/officeDocument/2006/relationships/image" Target="../media/image87.png"/><Relationship Id="rId2" Type="http://schemas.openxmlformats.org/officeDocument/2006/relationships/image" Target="../media/image740.png"/><Relationship Id="rId1" Type="http://schemas.openxmlformats.org/officeDocument/2006/relationships/slideLayout" Target="../slideLayouts/slideLayout2.xml"/><Relationship Id="rId6" Type="http://schemas.openxmlformats.org/officeDocument/2006/relationships/image" Target="../media/image780.png"/><Relationship Id="rId11" Type="http://schemas.openxmlformats.org/officeDocument/2006/relationships/image" Target="../media/image860.png"/><Relationship Id="rId5" Type="http://schemas.openxmlformats.org/officeDocument/2006/relationships/image" Target="../media/image831.png"/><Relationship Id="rId10" Type="http://schemas.openxmlformats.org/officeDocument/2006/relationships/image" Target="../media/image811.png"/><Relationship Id="rId4" Type="http://schemas.openxmlformats.org/officeDocument/2006/relationships/image" Target="../media/image821.png"/><Relationship Id="rId9" Type="http://schemas.openxmlformats.org/officeDocument/2006/relationships/image" Target="../media/image850.png"/></Relationships>
</file>

<file path=ppt/slides/_rels/slide87.xml.rels><?xml version="1.0" encoding="UTF-8" standalone="yes"?>
<Relationships xmlns="http://schemas.openxmlformats.org/package/2006/relationships"><Relationship Id="rId8" Type="http://schemas.openxmlformats.org/officeDocument/2006/relationships/image" Target="../media/image92.png"/><Relationship Id="rId7" Type="http://schemas.openxmlformats.org/officeDocument/2006/relationships/image" Target="../media/image91.png"/><Relationship Id="rId1" Type="http://schemas.openxmlformats.org/officeDocument/2006/relationships/slideLayout" Target="../slideLayouts/slideLayout2.xml"/><Relationship Id="rId6" Type="http://schemas.openxmlformats.org/officeDocument/2006/relationships/image" Target="../media/image90.png"/><Relationship Id="rId5" Type="http://schemas.openxmlformats.org/officeDocument/2006/relationships/image" Target="../media/image89.png"/><Relationship Id="rId10" Type="http://schemas.openxmlformats.org/officeDocument/2006/relationships/image" Target="../media/image94.png"/><Relationship Id="rId4" Type="http://schemas.openxmlformats.org/officeDocument/2006/relationships/image" Target="../media/image88.png"/><Relationship Id="rId9" Type="http://schemas.openxmlformats.org/officeDocument/2006/relationships/image" Target="../media/image93.png"/></Relationships>
</file>

<file path=ppt/slides/_rels/slide88.xml.rels><?xml version="1.0" encoding="UTF-8" standalone="yes"?>
<Relationships xmlns="http://schemas.openxmlformats.org/package/2006/relationships"><Relationship Id="rId8" Type="http://schemas.openxmlformats.org/officeDocument/2006/relationships/image" Target="../media/image99.png"/><Relationship Id="rId3" Type="http://schemas.openxmlformats.org/officeDocument/2006/relationships/image" Target="../media/image64.png"/><Relationship Id="rId7" Type="http://schemas.openxmlformats.org/officeDocument/2006/relationships/image" Target="../media/image98.png"/><Relationship Id="rId12" Type="http://schemas.openxmlformats.org/officeDocument/2006/relationships/image" Target="../media/image103.pn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97.png"/><Relationship Id="rId11" Type="http://schemas.openxmlformats.org/officeDocument/2006/relationships/image" Target="../media/image102.png"/><Relationship Id="rId5" Type="http://schemas.openxmlformats.org/officeDocument/2006/relationships/image" Target="../media/image96.png"/><Relationship Id="rId10" Type="http://schemas.openxmlformats.org/officeDocument/2006/relationships/image" Target="../media/image101.png"/><Relationship Id="rId4" Type="http://schemas.openxmlformats.org/officeDocument/2006/relationships/image" Target="../media/image95.png"/><Relationship Id="rId9" Type="http://schemas.openxmlformats.org/officeDocument/2006/relationships/image" Target="../media/image100.png"/></Relationships>
</file>

<file path=ppt/slides/_rels/slide89.xml.rels><?xml version="1.0" encoding="UTF-8" standalone="yes"?>
<Relationships xmlns="http://schemas.openxmlformats.org/package/2006/relationships"><Relationship Id="rId8" Type="http://schemas.openxmlformats.org/officeDocument/2006/relationships/image" Target="../media/image951.png"/><Relationship Id="rId3" Type="http://schemas.openxmlformats.org/officeDocument/2006/relationships/image" Target="../media/image810.png"/><Relationship Id="rId7" Type="http://schemas.openxmlformats.org/officeDocument/2006/relationships/image" Target="../media/image981.png"/><Relationship Id="rId12" Type="http://schemas.openxmlformats.org/officeDocument/2006/relationships/image" Target="../media/image104.pn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970.png"/><Relationship Id="rId11" Type="http://schemas.openxmlformats.org/officeDocument/2006/relationships/image" Target="../media/image1010.png"/><Relationship Id="rId5" Type="http://schemas.openxmlformats.org/officeDocument/2006/relationships/image" Target="../media/image830.png"/><Relationship Id="rId10" Type="http://schemas.openxmlformats.org/officeDocument/2006/relationships/image" Target="../media/image1000.png"/><Relationship Id="rId4" Type="http://schemas.openxmlformats.org/officeDocument/2006/relationships/image" Target="../media/image820.png"/><Relationship Id="rId9" Type="http://schemas.openxmlformats.org/officeDocument/2006/relationships/image" Target="../media/image991.png"/></Relationships>
</file>

<file path=ppt/slides/_rels/slide90.xml.rels><?xml version="1.0" encoding="UTF-8" standalone="yes"?>
<Relationships xmlns="http://schemas.openxmlformats.org/package/2006/relationships"><Relationship Id="rId8" Type="http://schemas.openxmlformats.org/officeDocument/2006/relationships/image" Target="../media/image951.png"/><Relationship Id="rId3" Type="http://schemas.openxmlformats.org/officeDocument/2006/relationships/image" Target="../media/image810.png"/><Relationship Id="rId7" Type="http://schemas.openxmlformats.org/officeDocument/2006/relationships/image" Target="../media/image981.png"/><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970.png"/><Relationship Id="rId11" Type="http://schemas.openxmlformats.org/officeDocument/2006/relationships/image" Target="../media/image1010.png"/><Relationship Id="rId5" Type="http://schemas.openxmlformats.org/officeDocument/2006/relationships/image" Target="../media/image830.png"/><Relationship Id="rId10" Type="http://schemas.openxmlformats.org/officeDocument/2006/relationships/image" Target="../media/image1000.png"/><Relationship Id="rId4" Type="http://schemas.openxmlformats.org/officeDocument/2006/relationships/image" Target="../media/image820.png"/><Relationship Id="rId9" Type="http://schemas.openxmlformats.org/officeDocument/2006/relationships/image" Target="../media/image991.png"/></Relationships>
</file>

<file path=ppt/slides/_rels/slide91.xml.rels><?xml version="1.0" encoding="UTF-8" standalone="yes"?>
<Relationships xmlns="http://schemas.openxmlformats.org/package/2006/relationships"><Relationship Id="rId8" Type="http://schemas.openxmlformats.org/officeDocument/2006/relationships/image" Target="../media/image810.png"/><Relationship Id="rId13" Type="http://schemas.openxmlformats.org/officeDocument/2006/relationships/image" Target="../media/image1040.png"/><Relationship Id="rId18" Type="http://schemas.openxmlformats.org/officeDocument/2006/relationships/image" Target="../media/image109.png"/><Relationship Id="rId7" Type="http://schemas.openxmlformats.org/officeDocument/2006/relationships/image" Target="../media/image931.png"/><Relationship Id="rId12" Type="http://schemas.openxmlformats.org/officeDocument/2006/relationships/image" Target="../media/image1030.png"/><Relationship Id="rId17" Type="http://schemas.openxmlformats.org/officeDocument/2006/relationships/image" Target="../media/image108.png"/><Relationship Id="rId2" Type="http://schemas.openxmlformats.org/officeDocument/2006/relationships/notesSlide" Target="../notesSlides/notesSlide50.xml"/><Relationship Id="rId16" Type="http://schemas.openxmlformats.org/officeDocument/2006/relationships/image" Target="../media/image107.png"/><Relationship Id="rId20" Type="http://schemas.openxmlformats.org/officeDocument/2006/relationships/image" Target="../media/image111.png"/><Relationship Id="rId1" Type="http://schemas.openxmlformats.org/officeDocument/2006/relationships/slideLayout" Target="../slideLayouts/slideLayout2.xml"/><Relationship Id="rId6" Type="http://schemas.openxmlformats.org/officeDocument/2006/relationships/image" Target="../media/image920.png"/><Relationship Id="rId11" Type="http://schemas.openxmlformats.org/officeDocument/2006/relationships/image" Target="../media/image1020.png"/><Relationship Id="rId5" Type="http://schemas.openxmlformats.org/officeDocument/2006/relationships/image" Target="../media/image910.png"/><Relationship Id="rId15" Type="http://schemas.openxmlformats.org/officeDocument/2006/relationships/image" Target="../media/image106.png"/><Relationship Id="rId10" Type="http://schemas.openxmlformats.org/officeDocument/2006/relationships/image" Target="../media/image830.png"/><Relationship Id="rId19" Type="http://schemas.openxmlformats.org/officeDocument/2006/relationships/image" Target="../media/image110.png"/><Relationship Id="rId4" Type="http://schemas.openxmlformats.org/officeDocument/2006/relationships/image" Target="../media/image900.png"/><Relationship Id="rId9" Type="http://schemas.openxmlformats.org/officeDocument/2006/relationships/image" Target="../media/image820.png"/><Relationship Id="rId14" Type="http://schemas.openxmlformats.org/officeDocument/2006/relationships/image" Target="../media/image105.png"/></Relationships>
</file>

<file path=ppt/slides/_rels/slide92.xml.rels><?xml version="1.0" encoding="UTF-8" standalone="yes"?>
<Relationships xmlns="http://schemas.openxmlformats.org/package/2006/relationships"><Relationship Id="rId8" Type="http://schemas.openxmlformats.org/officeDocument/2006/relationships/image" Target="../media/image1020.png"/><Relationship Id="rId3" Type="http://schemas.openxmlformats.org/officeDocument/2006/relationships/image" Target="../media/image720.png"/><Relationship Id="rId7" Type="http://schemas.openxmlformats.org/officeDocument/2006/relationships/image" Target="../media/image710.png"/><Relationship Id="rId12" Type="http://schemas.openxmlformats.org/officeDocument/2006/relationships/image" Target="../media/image113.png"/><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1030.png"/><Relationship Id="rId11" Type="http://schemas.openxmlformats.org/officeDocument/2006/relationships/image" Target="../media/image107.png"/><Relationship Id="rId5" Type="http://schemas.openxmlformats.org/officeDocument/2006/relationships/image" Target="../media/image105.png"/><Relationship Id="rId10" Type="http://schemas.openxmlformats.org/officeDocument/2006/relationships/image" Target="../media/image106.png"/><Relationship Id="rId4" Type="http://schemas.openxmlformats.org/officeDocument/2006/relationships/image" Target="../media/image730.png"/><Relationship Id="rId9" Type="http://schemas.openxmlformats.org/officeDocument/2006/relationships/image" Target="../media/image112.png"/></Relationships>
</file>

<file path=ppt/slides/_rels/slide93.xml.rels><?xml version="1.0" encoding="UTF-8" standalone="yes"?>
<Relationships xmlns="http://schemas.openxmlformats.org/package/2006/relationships"><Relationship Id="rId8" Type="http://schemas.openxmlformats.org/officeDocument/2006/relationships/image" Target="../media/image1020.png"/><Relationship Id="rId13" Type="http://schemas.openxmlformats.org/officeDocument/2006/relationships/image" Target="../media/image117.png"/><Relationship Id="rId3" Type="http://schemas.openxmlformats.org/officeDocument/2006/relationships/image" Target="../media/image114.png"/><Relationship Id="rId7" Type="http://schemas.openxmlformats.org/officeDocument/2006/relationships/image" Target="../media/image116.png"/><Relationship Id="rId12" Type="http://schemas.openxmlformats.org/officeDocument/2006/relationships/image" Target="../media/image113.pn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media/image1030.png"/><Relationship Id="rId11" Type="http://schemas.openxmlformats.org/officeDocument/2006/relationships/image" Target="../media/image107.png"/><Relationship Id="rId5" Type="http://schemas.openxmlformats.org/officeDocument/2006/relationships/image" Target="../media/image105.png"/><Relationship Id="rId10" Type="http://schemas.openxmlformats.org/officeDocument/2006/relationships/image" Target="../media/image106.png"/><Relationship Id="rId4" Type="http://schemas.openxmlformats.org/officeDocument/2006/relationships/image" Target="../media/image115.png"/><Relationship Id="rId9" Type="http://schemas.openxmlformats.org/officeDocument/2006/relationships/image" Target="../media/image112.png"/><Relationship Id="rId14" Type="http://schemas.openxmlformats.org/officeDocument/2006/relationships/image" Target="../media/image118.png"/></Relationships>
</file>

<file path=ppt/slides/_rels/slide94.xml.rels><?xml version="1.0" encoding="UTF-8" standalone="yes"?>
<Relationships xmlns="http://schemas.openxmlformats.org/package/2006/relationships"><Relationship Id="rId8" Type="http://schemas.openxmlformats.org/officeDocument/2006/relationships/image" Target="../media/image1020.png"/><Relationship Id="rId13" Type="http://schemas.openxmlformats.org/officeDocument/2006/relationships/image" Target="../media/image119.png"/><Relationship Id="rId3" Type="http://schemas.openxmlformats.org/officeDocument/2006/relationships/image" Target="../media/image1030.png"/><Relationship Id="rId7" Type="http://schemas.openxmlformats.org/officeDocument/2006/relationships/image" Target="../media/image710.png"/><Relationship Id="rId12" Type="http://schemas.openxmlformats.org/officeDocument/2006/relationships/image" Target="../media/image720.png"/><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105.png"/><Relationship Id="rId11" Type="http://schemas.openxmlformats.org/officeDocument/2006/relationships/image" Target="../media/image930.png"/><Relationship Id="rId5" Type="http://schemas.openxmlformats.org/officeDocument/2006/relationships/image" Target="../media/image730.png"/><Relationship Id="rId10" Type="http://schemas.openxmlformats.org/officeDocument/2006/relationships/image" Target="../media/image107.png"/><Relationship Id="rId4" Type="http://schemas.openxmlformats.org/officeDocument/2006/relationships/image" Target="../media/image106.png"/><Relationship Id="rId9" Type="http://schemas.openxmlformats.org/officeDocument/2006/relationships/image" Target="../media/image112.png"/><Relationship Id="rId14" Type="http://schemas.openxmlformats.org/officeDocument/2006/relationships/image" Target="../media/image120.png"/></Relationships>
</file>

<file path=ppt/slides/_rels/slide95.xml.rels><?xml version="1.0" encoding="UTF-8" standalone="yes"?>
<Relationships xmlns="http://schemas.openxmlformats.org/package/2006/relationships"><Relationship Id="rId8" Type="http://schemas.openxmlformats.org/officeDocument/2006/relationships/image" Target="../media/image950.png"/><Relationship Id="rId13" Type="http://schemas.openxmlformats.org/officeDocument/2006/relationships/image" Target="../media/image125.png"/><Relationship Id="rId3" Type="http://schemas.openxmlformats.org/officeDocument/2006/relationships/image" Target="../media/image710.png"/><Relationship Id="rId7" Type="http://schemas.openxmlformats.org/officeDocument/2006/relationships/image" Target="../media/image940.png"/><Relationship Id="rId12" Type="http://schemas.openxmlformats.org/officeDocument/2006/relationships/image" Target="../media/image124.png"/><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720.png"/><Relationship Id="rId11" Type="http://schemas.openxmlformats.org/officeDocument/2006/relationships/image" Target="../media/image730.png"/><Relationship Id="rId5" Type="http://schemas.openxmlformats.org/officeDocument/2006/relationships/image" Target="../media/image930.png"/><Relationship Id="rId15" Type="http://schemas.openxmlformats.org/officeDocument/2006/relationships/image" Target="../media/image127.png"/><Relationship Id="rId10" Type="http://schemas.openxmlformats.org/officeDocument/2006/relationships/image" Target="../media/image123.png"/><Relationship Id="rId4" Type="http://schemas.openxmlformats.org/officeDocument/2006/relationships/image" Target="../media/image121.png"/><Relationship Id="rId9" Type="http://schemas.openxmlformats.org/officeDocument/2006/relationships/image" Target="../media/image122.png"/><Relationship Id="rId14" Type="http://schemas.openxmlformats.org/officeDocument/2006/relationships/image" Target="../media/image126.png"/></Relationships>
</file>

<file path=ppt/slides/_rels/slide96.xml.rels><?xml version="1.0" encoding="UTF-8" standalone="yes"?>
<Relationships xmlns="http://schemas.openxmlformats.org/package/2006/relationships"><Relationship Id="rId8" Type="http://schemas.openxmlformats.org/officeDocument/2006/relationships/image" Target="../media/image130.png"/><Relationship Id="rId13" Type="http://schemas.openxmlformats.org/officeDocument/2006/relationships/image" Target="../media/image125.png"/><Relationship Id="rId3" Type="http://schemas.openxmlformats.org/officeDocument/2006/relationships/image" Target="../media/image710.png"/><Relationship Id="rId7" Type="http://schemas.openxmlformats.org/officeDocument/2006/relationships/image" Target="../media/image129.png"/><Relationship Id="rId12" Type="http://schemas.openxmlformats.org/officeDocument/2006/relationships/image" Target="../media/image124.png"/><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image" Target="../media/image720.png"/><Relationship Id="rId11" Type="http://schemas.openxmlformats.org/officeDocument/2006/relationships/image" Target="../media/image730.png"/><Relationship Id="rId5" Type="http://schemas.openxmlformats.org/officeDocument/2006/relationships/image" Target="../media/image128.png"/><Relationship Id="rId15" Type="http://schemas.openxmlformats.org/officeDocument/2006/relationships/image" Target="../media/image131.png"/><Relationship Id="rId10" Type="http://schemas.openxmlformats.org/officeDocument/2006/relationships/image" Target="../media/image123.png"/><Relationship Id="rId4" Type="http://schemas.openxmlformats.org/officeDocument/2006/relationships/image" Target="../media/image121.png"/><Relationship Id="rId9" Type="http://schemas.openxmlformats.org/officeDocument/2006/relationships/image" Target="../media/image122.png"/><Relationship Id="rId14" Type="http://schemas.openxmlformats.org/officeDocument/2006/relationships/image" Target="../media/image126.png"/></Relationships>
</file>

<file path=ppt/slides/_rels/slide97.xml.rels><?xml version="1.0" encoding="UTF-8" standalone="yes"?>
<Relationships xmlns="http://schemas.openxmlformats.org/package/2006/relationships"><Relationship Id="rId8" Type="http://schemas.openxmlformats.org/officeDocument/2006/relationships/image" Target="../media/image1310.png"/><Relationship Id="rId3" Type="http://schemas.openxmlformats.org/officeDocument/2006/relationships/image" Target="../media/image1280.png"/><Relationship Id="rId7" Type="http://schemas.openxmlformats.org/officeDocument/2006/relationships/image" Target="../media/image1300.png"/><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image" Target="../media/image1290.png"/><Relationship Id="rId5" Type="http://schemas.openxmlformats.org/officeDocument/2006/relationships/image" Target="../media/image990.png"/><Relationship Id="rId10" Type="http://schemas.openxmlformats.org/officeDocument/2006/relationships/image" Target="../media/image133.png"/><Relationship Id="rId4" Type="http://schemas.openxmlformats.org/officeDocument/2006/relationships/image" Target="../media/image980.png"/><Relationship Id="rId9" Type="http://schemas.openxmlformats.org/officeDocument/2006/relationships/image" Target="../media/image132.png"/></Relationships>
</file>

<file path=ppt/slides/_rels/slide98.xml.rels><?xml version="1.0" encoding="UTF-8" standalone="yes"?>
<Relationships xmlns="http://schemas.openxmlformats.org/package/2006/relationships"><Relationship Id="rId8" Type="http://schemas.openxmlformats.org/officeDocument/2006/relationships/image" Target="../media/image134.png"/><Relationship Id="rId3" Type="http://schemas.openxmlformats.org/officeDocument/2006/relationships/image" Target="../media/image1280.png"/><Relationship Id="rId7" Type="http://schemas.openxmlformats.org/officeDocument/2006/relationships/image" Target="../media/image1300.pn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1290.png"/><Relationship Id="rId5" Type="http://schemas.openxmlformats.org/officeDocument/2006/relationships/image" Target="../media/image990.png"/><Relationship Id="rId10" Type="http://schemas.openxmlformats.org/officeDocument/2006/relationships/image" Target="../media/image133.png"/><Relationship Id="rId4" Type="http://schemas.openxmlformats.org/officeDocument/2006/relationships/image" Target="../media/image980.png"/><Relationship Id="rId9" Type="http://schemas.openxmlformats.org/officeDocument/2006/relationships/image" Target="../media/image13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r>
              <a:rPr lang="pt-BR" sz="7200" dirty="0"/>
              <a:t/>
            </a:r>
            <a:br>
              <a:rPr lang="pt-BR" sz="7200" dirty="0"/>
            </a:br>
            <a:r>
              <a:rPr lang="pt-BR" sz="7200" b="1" i="1" dirty="0"/>
              <a:t>Redes neurais recorrentes</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Motivação</a:t>
            </a:r>
          </a:p>
        </p:txBody>
      </p:sp>
      <p:sp>
        <p:nvSpPr>
          <p:cNvPr id="3" name="Espaço Reservado para Conteúdo 2"/>
          <p:cNvSpPr>
            <a:spLocks noGrp="1"/>
          </p:cNvSpPr>
          <p:nvPr>
            <p:ph idx="1"/>
          </p:nvPr>
        </p:nvSpPr>
        <p:spPr>
          <a:xfrm>
            <a:off x="838199" y="1825624"/>
            <a:ext cx="11353801" cy="5032375"/>
          </a:xfrm>
        </p:spPr>
        <p:txBody>
          <a:bodyPr/>
          <a:lstStyle/>
          <a:p>
            <a:pPr eaLnBrk="0" fontAlgn="base" hangingPunct="0">
              <a:lnSpc>
                <a:spcPct val="100000"/>
              </a:lnSpc>
              <a:spcBef>
                <a:spcPct val="0"/>
              </a:spcBef>
              <a:spcAft>
                <a:spcPct val="0"/>
              </a:spcAft>
            </a:pPr>
            <a:r>
              <a:rPr lang="pt-BR" altLang="pt-BR" dirty="0"/>
              <a:t>Muitos problemas envolvem </a:t>
            </a:r>
            <a:r>
              <a:rPr lang="pt-BR" altLang="pt-BR" b="1" dirty="0">
                <a:solidFill>
                  <a:schemeClr val="accent2"/>
                </a:solidFill>
              </a:rPr>
              <a:t>dados que são sequenciais</a:t>
            </a:r>
            <a:r>
              <a:rPr lang="pt-BR" altLang="pt-BR" dirty="0"/>
              <a:t>: </a:t>
            </a:r>
          </a:p>
          <a:p>
            <a:pPr lvl="1" eaLnBrk="0" fontAlgn="base" hangingPunct="0">
              <a:lnSpc>
                <a:spcPct val="100000"/>
              </a:lnSpc>
              <a:spcBef>
                <a:spcPct val="0"/>
              </a:spcBef>
              <a:spcAft>
                <a:spcPct val="0"/>
              </a:spcAft>
              <a:buFont typeface="Wingdings" panose="05000000000000000000" pitchFamily="2" charset="2"/>
              <a:buChar char="§"/>
            </a:pPr>
            <a:r>
              <a:rPr lang="pt-BR" altLang="pt-BR" dirty="0"/>
              <a:t>Voz </a:t>
            </a:r>
          </a:p>
          <a:p>
            <a:pPr lvl="1" eaLnBrk="0" fontAlgn="base" hangingPunct="0">
              <a:lnSpc>
                <a:spcPct val="100000"/>
              </a:lnSpc>
              <a:spcBef>
                <a:spcPct val="0"/>
              </a:spcBef>
              <a:spcAft>
                <a:spcPct val="0"/>
              </a:spcAft>
              <a:buFont typeface="Wingdings" panose="05000000000000000000" pitchFamily="2" charset="2"/>
              <a:buChar char="§"/>
            </a:pPr>
            <a:r>
              <a:rPr lang="pt-BR" altLang="pt-BR" dirty="0"/>
              <a:t>Texto </a:t>
            </a:r>
          </a:p>
          <a:p>
            <a:pPr lvl="1" eaLnBrk="0" fontAlgn="base" hangingPunct="0">
              <a:lnSpc>
                <a:spcPct val="100000"/>
              </a:lnSpc>
              <a:spcBef>
                <a:spcPct val="0"/>
              </a:spcBef>
              <a:spcAft>
                <a:spcPct val="0"/>
              </a:spcAft>
              <a:buFont typeface="Wingdings" panose="05000000000000000000" pitchFamily="2" charset="2"/>
              <a:buChar char="§"/>
            </a:pPr>
            <a:r>
              <a:rPr lang="pt-BR" altLang="pt-BR" dirty="0"/>
              <a:t>Séries temporais (e.g., EGC, EEG, preço de ações, desvanecimento de um canal)</a:t>
            </a:r>
          </a:p>
          <a:p>
            <a:pPr lvl="1" eaLnBrk="0" fontAlgn="base" hangingPunct="0">
              <a:lnSpc>
                <a:spcPct val="100000"/>
              </a:lnSpc>
              <a:spcBef>
                <a:spcPct val="0"/>
              </a:spcBef>
              <a:spcAft>
                <a:spcPct val="0"/>
              </a:spcAft>
              <a:buFont typeface="Wingdings" panose="05000000000000000000" pitchFamily="2" charset="2"/>
              <a:buChar char="§"/>
            </a:pPr>
            <a:r>
              <a:rPr lang="pt-BR" altLang="pt-BR" dirty="0"/>
              <a:t>Vídeo </a:t>
            </a:r>
          </a:p>
          <a:p>
            <a:pPr eaLnBrk="0" fontAlgn="base" hangingPunct="0">
              <a:lnSpc>
                <a:spcPct val="100000"/>
              </a:lnSpc>
              <a:spcBef>
                <a:spcPct val="0"/>
              </a:spcBef>
              <a:spcAft>
                <a:spcPct val="0"/>
              </a:spcAft>
            </a:pPr>
            <a:r>
              <a:rPr lang="pt-BR" altLang="pt-BR" dirty="0"/>
              <a:t>Para lidarmos com eles, precisamos </a:t>
            </a:r>
            <a:r>
              <a:rPr lang="pt-BR" altLang="pt-BR" b="1" dirty="0">
                <a:solidFill>
                  <a:srgbClr val="7030A0"/>
                </a:solidFill>
              </a:rPr>
              <a:t>modelar dependências temporais!</a:t>
            </a:r>
          </a:p>
          <a:p>
            <a:pPr eaLnBrk="0" fontAlgn="base" hangingPunct="0">
              <a:lnSpc>
                <a:spcPct val="100000"/>
              </a:lnSpc>
              <a:spcBef>
                <a:spcPct val="0"/>
              </a:spcBef>
              <a:spcAft>
                <a:spcPct val="0"/>
              </a:spcAft>
            </a:pPr>
            <a:r>
              <a:rPr lang="pt-BR" altLang="pt-BR" dirty="0"/>
              <a:t>Em outras palavras, existe</a:t>
            </a:r>
            <a:r>
              <a:rPr lang="pt-BR" altLang="pt-BR" b="1" dirty="0"/>
              <a:t> </a:t>
            </a:r>
            <a:r>
              <a:rPr lang="pt-BR" altLang="pt-BR" b="1" dirty="0">
                <a:solidFill>
                  <a:schemeClr val="accent2"/>
                </a:solidFill>
              </a:rPr>
              <a:t>correlação temporal entre as amostras</a:t>
            </a:r>
            <a:r>
              <a:rPr lang="pt-BR" altLang="pt-BR" b="1" dirty="0"/>
              <a:t>.</a:t>
            </a:r>
          </a:p>
          <a:p>
            <a:pPr marL="0" indent="0" eaLnBrk="0" fontAlgn="base" hangingPunct="0">
              <a:lnSpc>
                <a:spcPct val="100000"/>
              </a:lnSpc>
              <a:spcBef>
                <a:spcPct val="0"/>
              </a:spcBef>
              <a:spcAft>
                <a:spcPct val="0"/>
              </a:spcAft>
              <a:buNone/>
            </a:pPr>
            <a:endParaRPr lang="pt-BR" altLang="pt-BR" b="1" dirty="0"/>
          </a:p>
          <a:p>
            <a:pPr marL="0" indent="0" eaLnBrk="0" fontAlgn="base" hangingPunct="0">
              <a:lnSpc>
                <a:spcPct val="100000"/>
              </a:lnSpc>
              <a:spcBef>
                <a:spcPct val="0"/>
              </a:spcBef>
              <a:spcAft>
                <a:spcPct val="0"/>
              </a:spcAft>
              <a:buNone/>
            </a:pPr>
            <a:endParaRPr lang="pt-BR" altLang="pt-BR" b="1" dirty="0"/>
          </a:p>
          <a:p>
            <a:pPr marL="0" indent="0" algn="ctr" eaLnBrk="0" fontAlgn="base" hangingPunct="0">
              <a:lnSpc>
                <a:spcPct val="100000"/>
              </a:lnSpc>
              <a:spcBef>
                <a:spcPct val="0"/>
              </a:spcBef>
              <a:spcAft>
                <a:spcPct val="0"/>
              </a:spcAft>
              <a:buNone/>
            </a:pPr>
            <a:r>
              <a:rPr lang="pt-BR" altLang="pt-BR" sz="4000" b="1" dirty="0"/>
              <a:t>Cada amostra carrega informação das anteriores.</a:t>
            </a:r>
            <a:endParaRPr lang="pt-BR" altLang="pt-BR" sz="4000" dirty="0"/>
          </a:p>
        </p:txBody>
      </p:sp>
    </p:spTree>
    <p:extLst>
      <p:ext uri="{BB962C8B-B14F-4D97-AF65-F5344CB8AC3E}">
        <p14:creationId xmlns:p14="http://schemas.microsoft.com/office/powerpoint/2010/main" val="14475287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4AB8438-E56E-2412-517C-8456E4CA773C}"/>
              </a:ext>
            </a:extLst>
          </p:cNvPr>
          <p:cNvSpPr>
            <a:spLocks noGrp="1"/>
          </p:cNvSpPr>
          <p:nvPr>
            <p:ph type="title"/>
          </p:nvPr>
        </p:nvSpPr>
        <p:spPr/>
        <p:txBody>
          <a:bodyPr/>
          <a:lstStyle/>
          <a:p>
            <a:r>
              <a:rPr lang="pt-BR" dirty="0"/>
              <a:t>Aplicações</a:t>
            </a:r>
          </a:p>
        </p:txBody>
      </p:sp>
      <p:sp>
        <p:nvSpPr>
          <p:cNvPr id="3" name="Espaço Reservado para Conteúdo 2">
            <a:extLst>
              <a:ext uri="{FF2B5EF4-FFF2-40B4-BE49-F238E27FC236}">
                <a16:creationId xmlns="" xmlns:a16="http://schemas.microsoft.com/office/drawing/2014/main" id="{F7E2B09C-6D56-4C9F-A364-B904CCE2F1A0}"/>
              </a:ext>
            </a:extLst>
          </p:cNvPr>
          <p:cNvSpPr>
            <a:spLocks noGrp="1"/>
          </p:cNvSpPr>
          <p:nvPr>
            <p:ph idx="1"/>
          </p:nvPr>
        </p:nvSpPr>
        <p:spPr/>
        <p:txBody>
          <a:bodyPr/>
          <a:lstStyle/>
          <a:p>
            <a:r>
              <a:rPr lang="pt-BR" dirty="0"/>
              <a:t>Previsão de séries temporais (e.g., clima, ações, vendas, etc.)</a:t>
            </a:r>
          </a:p>
          <a:p>
            <a:r>
              <a:rPr lang="pt-BR" dirty="0"/>
              <a:t>Tradução automática de texto</a:t>
            </a:r>
          </a:p>
          <a:p>
            <a:r>
              <a:rPr lang="pt-BR" dirty="0"/>
              <a:t>Reconhecimento de fala</a:t>
            </a:r>
          </a:p>
          <a:p>
            <a:r>
              <a:rPr lang="pt-BR" dirty="0"/>
              <a:t>Tradução fala para texto e vice versa</a:t>
            </a:r>
          </a:p>
          <a:p>
            <a:r>
              <a:rPr lang="pt-BR" dirty="0"/>
              <a:t>Classificação de sentimentos</a:t>
            </a:r>
          </a:p>
          <a:p>
            <a:r>
              <a:rPr lang="pt-BR" dirty="0"/>
              <a:t>Geração de texto</a:t>
            </a:r>
          </a:p>
          <a:p>
            <a:r>
              <a:rPr lang="pt-BR" dirty="0"/>
              <a:t>Geração de descrições de texto para imagens (</a:t>
            </a:r>
            <a:r>
              <a:rPr lang="pt-BR" i="1" dirty="0" err="1"/>
              <a:t>image</a:t>
            </a:r>
            <a:r>
              <a:rPr lang="pt-BR" i="1" dirty="0"/>
              <a:t> </a:t>
            </a:r>
            <a:r>
              <a:rPr lang="pt-BR" i="1" dirty="0" err="1"/>
              <a:t>captioning</a:t>
            </a:r>
            <a:r>
              <a:rPr lang="pt-BR" dirty="0"/>
              <a:t>)</a:t>
            </a:r>
          </a:p>
          <a:p>
            <a:r>
              <a:rPr lang="pt-BR" dirty="0"/>
              <a:t>Rastreamento de objetos</a:t>
            </a:r>
          </a:p>
        </p:txBody>
      </p:sp>
    </p:spTree>
    <p:extLst>
      <p:ext uri="{BB962C8B-B14F-4D97-AF65-F5344CB8AC3E}">
        <p14:creationId xmlns:p14="http://schemas.microsoft.com/office/powerpoint/2010/main" val="31870715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Limitação de redes tradicionais</a:t>
            </a:r>
          </a:p>
        </p:txBody>
      </p:sp>
      <p:sp>
        <p:nvSpPr>
          <p:cNvPr id="3" name="Espaço Reservado para Conteúdo 2"/>
          <p:cNvSpPr>
            <a:spLocks noGrp="1"/>
          </p:cNvSpPr>
          <p:nvPr>
            <p:ph idx="1"/>
          </p:nvPr>
        </p:nvSpPr>
        <p:spPr>
          <a:xfrm>
            <a:off x="4256314" y="1825625"/>
            <a:ext cx="7935686" cy="5032375"/>
          </a:xfrm>
        </p:spPr>
        <p:txBody>
          <a:bodyPr>
            <a:normAutofit lnSpcReduction="10000"/>
          </a:bodyPr>
          <a:lstStyle/>
          <a:p>
            <a:r>
              <a:rPr lang="pt-BR" dirty="0" err="1"/>
              <a:t>MLPs</a:t>
            </a:r>
            <a:r>
              <a:rPr lang="pt-BR" dirty="0"/>
              <a:t>:</a:t>
            </a:r>
          </a:p>
          <a:p>
            <a:pPr lvl="1">
              <a:buFont typeface="Wingdings" panose="05000000000000000000" pitchFamily="2" charset="2"/>
              <a:buChar char="§"/>
            </a:pPr>
            <a:r>
              <a:rPr lang="pt-BR" b="1" dirty="0">
                <a:solidFill>
                  <a:schemeClr val="accent2"/>
                </a:solidFill>
              </a:rPr>
              <a:t>Não armazenam informações de estados anteriores </a:t>
            </a:r>
            <a:r>
              <a:rPr lang="pt-BR" dirty="0"/>
              <a:t>(i.e., sem memória)</a:t>
            </a:r>
          </a:p>
          <a:p>
            <a:pPr lvl="1">
              <a:buFont typeface="Wingdings" panose="05000000000000000000" pitchFamily="2" charset="2"/>
              <a:buChar char="§"/>
            </a:pPr>
            <a:r>
              <a:rPr lang="pt-BR" dirty="0"/>
              <a:t>As </a:t>
            </a:r>
            <a:r>
              <a:rPr lang="pt-BR" b="1" dirty="0">
                <a:solidFill>
                  <a:srgbClr val="7030A0"/>
                </a:solidFill>
              </a:rPr>
              <a:t>entradas</a:t>
            </a:r>
            <a:r>
              <a:rPr lang="pt-BR" dirty="0"/>
              <a:t> são tratadas de forma </a:t>
            </a:r>
            <a:r>
              <a:rPr lang="pt-BR" b="1" dirty="0">
                <a:solidFill>
                  <a:srgbClr val="7030A0"/>
                </a:solidFill>
              </a:rPr>
              <a:t>independente</a:t>
            </a:r>
            <a:r>
              <a:rPr lang="pt-BR" dirty="0"/>
              <a:t>.</a:t>
            </a:r>
          </a:p>
          <a:p>
            <a:pPr lvl="2">
              <a:buFont typeface="Wingdings" panose="05000000000000000000" pitchFamily="2" charset="2"/>
              <a:buChar char="§"/>
            </a:pPr>
            <a:r>
              <a:rPr lang="pt-BR" dirty="0"/>
              <a:t>Isso faz com que elas </a:t>
            </a:r>
            <a:r>
              <a:rPr lang="pt-BR" b="1" dirty="0">
                <a:solidFill>
                  <a:srgbClr val="0070C0"/>
                </a:solidFill>
              </a:rPr>
              <a:t>não capturem dependências temporais entre amostras</a:t>
            </a:r>
            <a:r>
              <a:rPr lang="pt-BR" dirty="0"/>
              <a:t>.</a:t>
            </a:r>
          </a:p>
          <a:p>
            <a:pPr lvl="1">
              <a:buFont typeface="Wingdings" panose="05000000000000000000" pitchFamily="2" charset="2"/>
              <a:buChar char="§"/>
            </a:pPr>
            <a:r>
              <a:rPr lang="pt-BR" dirty="0"/>
              <a:t>Por ser de alimentação direta, a saída </a:t>
            </a:r>
            <a:r>
              <a:rPr lang="pt-BR" b="1" dirty="0">
                <a:solidFill>
                  <a:srgbClr val="7030A0"/>
                </a:solidFill>
              </a:rPr>
              <a:t>depende apenas da entrada atual</a:t>
            </a:r>
            <a:r>
              <a:rPr lang="pt-BR" dirty="0"/>
              <a:t>.</a:t>
            </a:r>
          </a:p>
          <a:p>
            <a:r>
              <a:rPr lang="pt-BR" dirty="0" err="1"/>
              <a:t>CNNs</a:t>
            </a:r>
            <a:r>
              <a:rPr lang="pt-BR" dirty="0"/>
              <a:t>:</a:t>
            </a:r>
          </a:p>
          <a:p>
            <a:pPr lvl="1">
              <a:buFont typeface="Wingdings" panose="05000000000000000000" pitchFamily="2" charset="2"/>
              <a:buChar char="§"/>
            </a:pPr>
            <a:r>
              <a:rPr lang="pt-BR" dirty="0"/>
              <a:t>Compartilham as limitações das </a:t>
            </a:r>
            <a:r>
              <a:rPr lang="pt-BR" dirty="0" err="1"/>
              <a:t>MLPs</a:t>
            </a:r>
            <a:r>
              <a:rPr lang="pt-BR" dirty="0"/>
              <a:t>, mas com uma exceção: elas </a:t>
            </a:r>
            <a:r>
              <a:rPr lang="pt-BR" b="1" dirty="0">
                <a:solidFill>
                  <a:srgbClr val="00B050"/>
                </a:solidFill>
              </a:rPr>
              <a:t>modelam relações espaciais</a:t>
            </a:r>
            <a:r>
              <a:rPr lang="pt-BR" dirty="0"/>
              <a:t>.</a:t>
            </a:r>
          </a:p>
          <a:p>
            <a:r>
              <a:rPr lang="pt-BR" dirty="0"/>
              <a:t>Ambas famílias </a:t>
            </a:r>
            <a:r>
              <a:rPr lang="pt-BR" b="1" dirty="0">
                <a:solidFill>
                  <a:srgbClr val="0070C0"/>
                </a:solidFill>
              </a:rPr>
              <a:t>exigem</a:t>
            </a:r>
            <a:r>
              <a:rPr lang="pt-BR" dirty="0"/>
              <a:t> que o </a:t>
            </a:r>
            <a:r>
              <a:rPr lang="pt-BR" b="1" dirty="0">
                <a:solidFill>
                  <a:srgbClr val="0070C0"/>
                </a:solidFill>
              </a:rPr>
              <a:t>vetor de entrada</a:t>
            </a:r>
            <a:r>
              <a:rPr lang="pt-BR" dirty="0"/>
              <a:t> tenha um </a:t>
            </a:r>
            <a:r>
              <a:rPr lang="pt-BR" b="1" dirty="0">
                <a:solidFill>
                  <a:srgbClr val="0070C0"/>
                </a:solidFill>
              </a:rPr>
              <a:t>tamanho predefinido e constante</a:t>
            </a:r>
            <a:r>
              <a:rPr lang="pt-BR" dirty="0"/>
              <a:t>.</a:t>
            </a:r>
          </a:p>
        </p:txBody>
      </p:sp>
      <p:pic>
        <p:nvPicPr>
          <p:cNvPr id="6" name="Picture 5">
            <a:extLst>
              <a:ext uri="{FF2B5EF4-FFF2-40B4-BE49-F238E27FC236}">
                <a16:creationId xmlns="" xmlns:a16="http://schemas.microsoft.com/office/drawing/2014/main" id="{FA8E2659-A57A-38A3-FD87-03127E912402}"/>
              </a:ext>
            </a:extLst>
          </p:cNvPr>
          <p:cNvPicPr>
            <a:picLocks noChangeAspect="1"/>
          </p:cNvPicPr>
          <p:nvPr/>
        </p:nvPicPr>
        <p:blipFill>
          <a:blip r:embed="rId3"/>
          <a:srcRect t="2103"/>
          <a:stretch>
            <a:fillRect/>
          </a:stretch>
        </p:blipFill>
        <p:spPr>
          <a:xfrm>
            <a:off x="986159" y="1943553"/>
            <a:ext cx="2686768" cy="2310574"/>
          </a:xfrm>
          <a:prstGeom prst="rect">
            <a:avLst/>
          </a:prstGeom>
        </p:spPr>
      </p:pic>
      <p:pic>
        <p:nvPicPr>
          <p:cNvPr id="8" name="Picture 7">
            <a:extLst>
              <a:ext uri="{FF2B5EF4-FFF2-40B4-BE49-F238E27FC236}">
                <a16:creationId xmlns="" xmlns:a16="http://schemas.microsoft.com/office/drawing/2014/main" id="{9AAB68BF-5C1E-7F73-8FBA-8E33B17EBF82}"/>
              </a:ext>
            </a:extLst>
          </p:cNvPr>
          <p:cNvPicPr>
            <a:picLocks noChangeAspect="1"/>
          </p:cNvPicPr>
          <p:nvPr/>
        </p:nvPicPr>
        <p:blipFill>
          <a:blip r:embed="rId4"/>
          <a:stretch>
            <a:fillRect/>
          </a:stretch>
        </p:blipFill>
        <p:spPr>
          <a:xfrm>
            <a:off x="529550" y="4795610"/>
            <a:ext cx="3599986" cy="1889306"/>
          </a:xfrm>
          <a:prstGeom prst="rect">
            <a:avLst/>
          </a:prstGeom>
        </p:spPr>
      </p:pic>
    </p:spTree>
    <p:extLst>
      <p:ext uri="{BB962C8B-B14F-4D97-AF65-F5344CB8AC3E}">
        <p14:creationId xmlns:p14="http://schemas.microsoft.com/office/powerpoint/2010/main" val="4604472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 xmlns:a16="http://schemas.microsoft.com/office/drawing/2014/main" id="{97A47F2C-5902-D14E-461A-E03776C92E47}"/>
              </a:ext>
            </a:extLst>
          </p:cNvPr>
          <p:cNvSpPr>
            <a:spLocks noGrp="1"/>
          </p:cNvSpPr>
          <p:nvPr>
            <p:ph idx="1"/>
          </p:nvPr>
        </p:nvSpPr>
        <p:spPr>
          <a:xfrm>
            <a:off x="666227" y="1637413"/>
            <a:ext cx="10859545" cy="3583173"/>
          </a:xfrm>
        </p:spPr>
        <p:txBody>
          <a:bodyPr>
            <a:noAutofit/>
          </a:bodyPr>
          <a:lstStyle/>
          <a:p>
            <a:pPr marL="0" indent="0" algn="ctr">
              <a:buNone/>
            </a:pPr>
            <a:r>
              <a:rPr lang="pt-BR" sz="6000" dirty="0"/>
              <a:t>Como podemos considerar as correlações temporais e trabalhar com entradas sem tamanho predefinido?</a:t>
            </a:r>
            <a:endParaRPr lang="en-US" sz="6000" dirty="0"/>
          </a:p>
        </p:txBody>
      </p:sp>
    </p:spTree>
    <p:extLst>
      <p:ext uri="{BB962C8B-B14F-4D97-AF65-F5344CB8AC3E}">
        <p14:creationId xmlns:p14="http://schemas.microsoft.com/office/powerpoint/2010/main" val="20068368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6AD63822-3DC5-17FB-ADF9-A36682320150}"/>
            </a:ext>
          </a:extLst>
        </p:cNvPr>
        <p:cNvGrpSpPr/>
        <p:nvPr/>
      </p:nvGrpSpPr>
      <p:grpSpPr>
        <a:xfrm>
          <a:off x="0" y="0"/>
          <a:ext cx="0" cy="0"/>
          <a:chOff x="0" y="0"/>
          <a:chExt cx="0" cy="0"/>
        </a:xfrm>
      </p:grpSpPr>
      <p:sp>
        <p:nvSpPr>
          <p:cNvPr id="3" name="Content Placeholder 2">
            <a:extLst>
              <a:ext uri="{FF2B5EF4-FFF2-40B4-BE49-F238E27FC236}">
                <a16:creationId xmlns="" xmlns:a16="http://schemas.microsoft.com/office/drawing/2014/main" id="{0C288B7E-EFBE-6F19-F27D-9D5EE10249F9}"/>
              </a:ext>
            </a:extLst>
          </p:cNvPr>
          <p:cNvSpPr>
            <a:spLocks noGrp="1"/>
          </p:cNvSpPr>
          <p:nvPr>
            <p:ph idx="1"/>
          </p:nvPr>
        </p:nvSpPr>
        <p:spPr>
          <a:xfrm>
            <a:off x="7609526" y="2576411"/>
            <a:ext cx="3962400" cy="2354237"/>
          </a:xfrm>
        </p:spPr>
        <p:txBody>
          <a:bodyPr>
            <a:normAutofit/>
          </a:bodyPr>
          <a:lstStyle/>
          <a:p>
            <a:pPr marL="0" indent="0" algn="ctr">
              <a:buNone/>
            </a:pPr>
            <a:r>
              <a:rPr lang="pt-BR" sz="4800" dirty="0"/>
              <a:t>Redes neurais recorrentes têm memória!</a:t>
            </a:r>
            <a:endParaRPr lang="en-US" sz="4800" dirty="0"/>
          </a:p>
        </p:txBody>
      </p:sp>
      <p:pic>
        <p:nvPicPr>
          <p:cNvPr id="2050" name="Picture 2" descr="RNN be like! #RNN #NeuralNetwork #meme">
            <a:extLst>
              <a:ext uri="{FF2B5EF4-FFF2-40B4-BE49-F238E27FC236}">
                <a16:creationId xmlns="" xmlns:a16="http://schemas.microsoft.com/office/drawing/2014/main" id="{3187EE8C-1DA4-D24F-08AF-EBBC6954A90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5646" y="1911803"/>
            <a:ext cx="6551109" cy="368345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75835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Redes recorrentes</a:t>
            </a:r>
          </a:p>
        </p:txBody>
      </p:sp>
      <p:sp>
        <p:nvSpPr>
          <p:cNvPr id="3" name="Espaço Reservado para Conteúdo 2"/>
          <p:cNvSpPr>
            <a:spLocks noGrp="1"/>
          </p:cNvSpPr>
          <p:nvPr>
            <p:ph idx="1"/>
          </p:nvPr>
        </p:nvSpPr>
        <p:spPr>
          <a:xfrm>
            <a:off x="5667152" y="1825624"/>
            <a:ext cx="6524847" cy="5032375"/>
          </a:xfrm>
        </p:spPr>
        <p:txBody>
          <a:bodyPr>
            <a:normAutofit/>
          </a:bodyPr>
          <a:lstStyle/>
          <a:p>
            <a:r>
              <a:rPr lang="pt-BR" dirty="0"/>
              <a:t>Possuem </a:t>
            </a:r>
            <a:r>
              <a:rPr lang="pt-BR" b="1" dirty="0">
                <a:solidFill>
                  <a:srgbClr val="0070C0"/>
                </a:solidFill>
              </a:rPr>
              <a:t>laços de realimentação</a:t>
            </a:r>
            <a:r>
              <a:rPr lang="pt-BR" dirty="0"/>
              <a:t>.</a:t>
            </a:r>
          </a:p>
          <a:p>
            <a:r>
              <a:rPr lang="pt-BR" dirty="0"/>
              <a:t>Mantém um </a:t>
            </a:r>
            <a:r>
              <a:rPr lang="pt-BR" b="1" dirty="0">
                <a:solidFill>
                  <a:srgbClr val="0070C0"/>
                </a:solidFill>
              </a:rPr>
              <a:t>estado interno</a:t>
            </a:r>
            <a:r>
              <a:rPr lang="pt-BR" dirty="0"/>
              <a:t> (</a:t>
            </a:r>
            <a:r>
              <a:rPr lang="pt-BR" b="1" dirty="0">
                <a:solidFill>
                  <a:schemeClr val="accent2"/>
                </a:solidFill>
              </a:rPr>
              <a:t>memória</a:t>
            </a:r>
            <a:r>
              <a:rPr lang="pt-BR" dirty="0"/>
              <a:t>) que </a:t>
            </a:r>
            <a:r>
              <a:rPr lang="pt-BR" b="1" dirty="0">
                <a:solidFill>
                  <a:schemeClr val="accent2"/>
                </a:solidFill>
              </a:rPr>
              <a:t>armazena</a:t>
            </a:r>
            <a:r>
              <a:rPr lang="pt-BR" dirty="0"/>
              <a:t> </a:t>
            </a:r>
            <a:r>
              <a:rPr lang="pt-BR" b="1" dirty="0">
                <a:solidFill>
                  <a:schemeClr val="accent2"/>
                </a:solidFill>
              </a:rPr>
              <a:t>informações</a:t>
            </a:r>
            <a:r>
              <a:rPr lang="pt-BR" dirty="0"/>
              <a:t> observadas até o momento.</a:t>
            </a:r>
          </a:p>
          <a:p>
            <a:r>
              <a:rPr lang="pt-BR" dirty="0"/>
              <a:t>A </a:t>
            </a:r>
            <a:r>
              <a:rPr lang="pt-BR" b="1" dirty="0">
                <a:solidFill>
                  <a:srgbClr val="7030A0"/>
                </a:solidFill>
              </a:rPr>
              <a:t>saída</a:t>
            </a:r>
            <a:r>
              <a:rPr lang="pt-BR" dirty="0"/>
              <a:t> da rede depende da </a:t>
            </a:r>
            <a:r>
              <a:rPr lang="pt-BR" b="1" dirty="0">
                <a:solidFill>
                  <a:srgbClr val="7030A0"/>
                </a:solidFill>
              </a:rPr>
              <a:t>entrada atual</a:t>
            </a:r>
            <a:r>
              <a:rPr lang="pt-BR" dirty="0"/>
              <a:t> e do valor do </a:t>
            </a:r>
            <a:r>
              <a:rPr lang="pt-BR" b="1" dirty="0">
                <a:solidFill>
                  <a:srgbClr val="7030A0"/>
                </a:solidFill>
              </a:rPr>
              <a:t>estado interno</a:t>
            </a:r>
            <a:r>
              <a:rPr lang="pt-BR" dirty="0"/>
              <a:t>.</a:t>
            </a:r>
          </a:p>
          <a:p>
            <a:r>
              <a:rPr lang="pt-BR" dirty="0"/>
              <a:t>O </a:t>
            </a:r>
            <a:r>
              <a:rPr lang="pt-BR" b="1" dirty="0">
                <a:solidFill>
                  <a:srgbClr val="00B050"/>
                </a:solidFill>
              </a:rPr>
              <a:t>estado interno</a:t>
            </a:r>
            <a:r>
              <a:rPr lang="pt-BR" dirty="0"/>
              <a:t> mantém o histórico de </a:t>
            </a:r>
            <a:r>
              <a:rPr lang="pt-BR" b="1" dirty="0">
                <a:solidFill>
                  <a:srgbClr val="00B050"/>
                </a:solidFill>
              </a:rPr>
              <a:t>das entradas passadas</a:t>
            </a:r>
            <a:r>
              <a:rPr lang="pt-BR" dirty="0"/>
              <a:t>.</a:t>
            </a:r>
          </a:p>
        </p:txBody>
      </p:sp>
      <p:pic>
        <p:nvPicPr>
          <p:cNvPr id="3074" name="Picture 2" descr="RNN architecture and the concept of sequential memory |... | Fiveable">
            <a:extLst>
              <a:ext uri="{FF2B5EF4-FFF2-40B4-BE49-F238E27FC236}">
                <a16:creationId xmlns="" xmlns:a16="http://schemas.microsoft.com/office/drawing/2014/main" id="{CF222E86-9883-F0F3-0C3D-DE894656D1F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982" t="38503" r="81251" b="2949"/>
          <a:stretch>
            <a:fillRect/>
          </a:stretch>
        </p:blipFill>
        <p:spPr bwMode="auto">
          <a:xfrm>
            <a:off x="1534885" y="2296884"/>
            <a:ext cx="2471058" cy="36631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98720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3774E3A9-57FD-9928-3B76-20D86E5368F7}"/>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32CAA669-542C-6851-4558-AB1FBFA2F00E}"/>
              </a:ext>
            </a:extLst>
          </p:cNvPr>
          <p:cNvSpPr>
            <a:spLocks noGrp="1"/>
          </p:cNvSpPr>
          <p:nvPr>
            <p:ph type="title"/>
          </p:nvPr>
        </p:nvSpPr>
        <p:spPr/>
        <p:txBody>
          <a:bodyPr/>
          <a:lstStyle/>
          <a:p>
            <a:r>
              <a:rPr lang="pt-BR" dirty="0"/>
              <a:t>Redes recorrentes</a:t>
            </a:r>
          </a:p>
        </p:txBody>
      </p:sp>
      <p:sp>
        <p:nvSpPr>
          <p:cNvPr id="3" name="Espaço Reservado para Conteúdo 2">
            <a:extLst>
              <a:ext uri="{FF2B5EF4-FFF2-40B4-BE49-F238E27FC236}">
                <a16:creationId xmlns="" xmlns:a16="http://schemas.microsoft.com/office/drawing/2014/main" id="{7BC8D1AF-6B61-5C93-6D51-B0F1660220EB}"/>
              </a:ext>
            </a:extLst>
          </p:cNvPr>
          <p:cNvSpPr>
            <a:spLocks noGrp="1"/>
          </p:cNvSpPr>
          <p:nvPr>
            <p:ph idx="1"/>
          </p:nvPr>
        </p:nvSpPr>
        <p:spPr>
          <a:xfrm>
            <a:off x="5443870" y="1825624"/>
            <a:ext cx="6628387" cy="5032375"/>
          </a:xfrm>
        </p:spPr>
        <p:txBody>
          <a:bodyPr/>
          <a:lstStyle/>
          <a:p>
            <a:r>
              <a:rPr lang="pt-BR" dirty="0"/>
              <a:t>Uma RNN utiliza </a:t>
            </a:r>
            <a:r>
              <a:rPr lang="pt-BR" b="1" dirty="0">
                <a:solidFill>
                  <a:schemeClr val="accent2"/>
                </a:solidFill>
              </a:rPr>
              <a:t>informações sequenciais</a:t>
            </a:r>
            <a:r>
              <a:rPr lang="pt-BR" dirty="0"/>
              <a:t>, </a:t>
            </a:r>
            <a:r>
              <a:rPr lang="pt-BR" b="1" dirty="0">
                <a:solidFill>
                  <a:srgbClr val="00B050"/>
                </a:solidFill>
              </a:rPr>
              <a:t>modelando as dependências temporais</a:t>
            </a:r>
            <a:r>
              <a:rPr lang="pt-BR" dirty="0"/>
              <a:t> entre as amostras de entrada.</a:t>
            </a:r>
          </a:p>
          <a:p>
            <a:r>
              <a:rPr lang="pt-BR" b="1" dirty="0"/>
              <a:t>Exemplo</a:t>
            </a:r>
            <a:r>
              <a:rPr lang="pt-BR" dirty="0"/>
              <a:t>: se quisermos </a:t>
            </a:r>
            <a:r>
              <a:rPr lang="pt-BR" b="1" dirty="0">
                <a:solidFill>
                  <a:srgbClr val="7030A0"/>
                </a:solidFill>
              </a:rPr>
              <a:t>prever a próxima palavra</a:t>
            </a:r>
            <a:r>
              <a:rPr lang="pt-BR" dirty="0"/>
              <a:t> em uma frase, precisamos saber </a:t>
            </a:r>
            <a:r>
              <a:rPr lang="pt-BR" b="1" dirty="0">
                <a:solidFill>
                  <a:srgbClr val="7030A0"/>
                </a:solidFill>
              </a:rPr>
              <a:t>quais palavras vieram antes dela</a:t>
            </a:r>
            <a:r>
              <a:rPr lang="pt-BR" dirty="0"/>
              <a:t>.</a:t>
            </a:r>
          </a:p>
          <a:p>
            <a:r>
              <a:rPr lang="pt-BR" dirty="0"/>
              <a:t>Por exemplo, na frase:</a:t>
            </a:r>
          </a:p>
          <a:p>
            <a:pPr marL="0" indent="0" algn="ctr">
              <a:buNone/>
            </a:pPr>
            <a:r>
              <a:rPr lang="pt-BR" dirty="0"/>
              <a:t>“O gato subiu no ____”</a:t>
            </a:r>
          </a:p>
          <a:p>
            <a:pPr marL="0" indent="0">
              <a:buNone/>
            </a:pPr>
            <a:r>
              <a:rPr lang="pt-BR" dirty="0"/>
              <a:t>a rede usa as palavras anteriores para prever que “telhado”, “muro”, “sofá” têm maior probabilidade.</a:t>
            </a:r>
          </a:p>
        </p:txBody>
      </p:sp>
      <p:pic>
        <p:nvPicPr>
          <p:cNvPr id="3074" name="Picture 2" descr="RNN architecture and the concept of sequential memory |... | Fiveable">
            <a:extLst>
              <a:ext uri="{FF2B5EF4-FFF2-40B4-BE49-F238E27FC236}">
                <a16:creationId xmlns="" xmlns:a16="http://schemas.microsoft.com/office/drawing/2014/main" id="{65461C4D-C555-02A7-8AE3-2D52AC2FCB0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982" t="38503" r="81251" b="2949"/>
          <a:stretch>
            <a:fillRect/>
          </a:stretch>
        </p:blipFill>
        <p:spPr bwMode="auto">
          <a:xfrm>
            <a:off x="1534885" y="2296884"/>
            <a:ext cx="2471058" cy="36631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208785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3331C89D-FF1F-2926-B807-E6ABE479C3EE}"/>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BBB814E7-25AB-B9C9-EA53-FE90228A1255}"/>
              </a:ext>
            </a:extLst>
          </p:cNvPr>
          <p:cNvSpPr>
            <a:spLocks noGrp="1"/>
          </p:cNvSpPr>
          <p:nvPr>
            <p:ph type="title"/>
          </p:nvPr>
        </p:nvSpPr>
        <p:spPr/>
        <p:txBody>
          <a:bodyPr/>
          <a:lstStyle/>
          <a:p>
            <a:r>
              <a:rPr lang="pt-BR" dirty="0"/>
              <a:t>Redes recorrentes</a:t>
            </a:r>
          </a:p>
        </p:txBody>
      </p:sp>
      <p:sp>
        <p:nvSpPr>
          <p:cNvPr id="3" name="Espaço Reservado para Conteúdo 2">
            <a:extLst>
              <a:ext uri="{FF2B5EF4-FFF2-40B4-BE49-F238E27FC236}">
                <a16:creationId xmlns="" xmlns:a16="http://schemas.microsoft.com/office/drawing/2014/main" id="{54CAE375-0AC4-4799-2DED-0550BB967A87}"/>
              </a:ext>
            </a:extLst>
          </p:cNvPr>
          <p:cNvSpPr>
            <a:spLocks noGrp="1"/>
          </p:cNvSpPr>
          <p:nvPr>
            <p:ph idx="1"/>
          </p:nvPr>
        </p:nvSpPr>
        <p:spPr>
          <a:xfrm>
            <a:off x="5443870" y="1825624"/>
            <a:ext cx="6628387" cy="5032375"/>
          </a:xfrm>
        </p:spPr>
        <p:txBody>
          <a:bodyPr/>
          <a:lstStyle/>
          <a:p>
            <a:r>
              <a:rPr lang="pt-BR" dirty="0" err="1"/>
              <a:t>RNNs</a:t>
            </a:r>
            <a:r>
              <a:rPr lang="pt-BR" dirty="0"/>
              <a:t> são projetadas para processar sequências de </a:t>
            </a:r>
            <a:r>
              <a:rPr lang="pt-BR" b="1" dirty="0">
                <a:solidFill>
                  <a:srgbClr val="0070C0"/>
                </a:solidFill>
              </a:rPr>
              <a:t>comprimento variável</a:t>
            </a:r>
            <a:r>
              <a:rPr lang="pt-BR" dirty="0"/>
              <a:t>. </a:t>
            </a:r>
          </a:p>
          <a:p>
            <a:r>
              <a:rPr lang="pt-BR" dirty="0"/>
              <a:t>Elas usam o </a:t>
            </a:r>
            <a:r>
              <a:rPr lang="pt-BR" b="1" dirty="0">
                <a:solidFill>
                  <a:schemeClr val="accent2"/>
                </a:solidFill>
              </a:rPr>
              <a:t>histórico de entradas anteriores</a:t>
            </a:r>
            <a:r>
              <a:rPr lang="pt-BR" dirty="0"/>
              <a:t> para </a:t>
            </a:r>
            <a:r>
              <a:rPr lang="pt-BR" b="1" dirty="0">
                <a:solidFill>
                  <a:schemeClr val="accent2"/>
                </a:solidFill>
              </a:rPr>
              <a:t>gerar uma saída</a:t>
            </a:r>
            <a:r>
              <a:rPr lang="pt-BR" dirty="0"/>
              <a:t>.</a:t>
            </a:r>
          </a:p>
          <a:p>
            <a:r>
              <a:rPr lang="pt-BR" dirty="0"/>
              <a:t>Porém, como veremos, um problema das </a:t>
            </a:r>
            <a:r>
              <a:rPr lang="pt-BR" dirty="0" err="1"/>
              <a:t>RNNs</a:t>
            </a:r>
            <a:r>
              <a:rPr lang="pt-BR" dirty="0"/>
              <a:t> é que a </a:t>
            </a:r>
            <a:r>
              <a:rPr lang="pt-BR" b="1" dirty="0">
                <a:solidFill>
                  <a:schemeClr val="accent2"/>
                </a:solidFill>
              </a:rPr>
              <a:t>memória</a:t>
            </a:r>
            <a:r>
              <a:rPr lang="pt-BR" dirty="0"/>
              <a:t> </a:t>
            </a:r>
            <a:r>
              <a:rPr lang="pt-BR" b="1" dirty="0">
                <a:solidFill>
                  <a:schemeClr val="accent2"/>
                </a:solidFill>
              </a:rPr>
              <a:t>desaparece</a:t>
            </a:r>
            <a:r>
              <a:rPr lang="pt-BR" dirty="0"/>
              <a:t> </a:t>
            </a:r>
            <a:r>
              <a:rPr lang="pt-BR" b="1" dirty="0">
                <a:solidFill>
                  <a:srgbClr val="0070C0"/>
                </a:solidFill>
              </a:rPr>
              <a:t>rapidamente</a:t>
            </a:r>
            <a:r>
              <a:rPr lang="pt-BR" dirty="0"/>
              <a:t> ao longo do tempo.</a:t>
            </a:r>
          </a:p>
          <a:p>
            <a:endParaRPr lang="pt-BR" dirty="0"/>
          </a:p>
        </p:txBody>
      </p:sp>
      <p:pic>
        <p:nvPicPr>
          <p:cNvPr id="3074" name="Picture 2" descr="RNN architecture and the concept of sequential memory |... | Fiveable">
            <a:extLst>
              <a:ext uri="{FF2B5EF4-FFF2-40B4-BE49-F238E27FC236}">
                <a16:creationId xmlns="" xmlns:a16="http://schemas.microsoft.com/office/drawing/2014/main" id="{E51D7A82-869E-A081-9F87-50F6BC93FCD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982" t="38503" r="81251" b="2949"/>
          <a:stretch>
            <a:fillRect/>
          </a:stretch>
        </p:blipFill>
        <p:spPr bwMode="auto">
          <a:xfrm>
            <a:off x="1534885" y="2296884"/>
            <a:ext cx="2471058" cy="36631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078086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 xmlns:a16="http://schemas.microsoft.com/office/drawing/2014/main" id="{BBA7CF3C-2AB5-ECC1-9920-3B2DE38CC33B}"/>
              </a:ext>
            </a:extLst>
          </p:cNvPr>
          <p:cNvSpPr>
            <a:spLocks noGrp="1"/>
          </p:cNvSpPr>
          <p:nvPr>
            <p:ph idx="1"/>
          </p:nvPr>
        </p:nvSpPr>
        <p:spPr>
          <a:xfrm>
            <a:off x="838200" y="2796041"/>
            <a:ext cx="10515600" cy="1265918"/>
          </a:xfrm>
        </p:spPr>
        <p:txBody>
          <a:bodyPr>
            <a:normAutofit/>
          </a:bodyPr>
          <a:lstStyle/>
          <a:p>
            <a:pPr marL="0" indent="0" algn="ctr">
              <a:buNone/>
            </a:pPr>
            <a:r>
              <a:rPr lang="pt-BR" sz="6000" dirty="0"/>
              <a:t>O que compõem as </a:t>
            </a:r>
            <a:r>
              <a:rPr lang="pt-BR" sz="6000" dirty="0" err="1"/>
              <a:t>RNNs</a:t>
            </a:r>
            <a:r>
              <a:rPr lang="pt-BR" sz="6000" dirty="0"/>
              <a:t>? </a:t>
            </a:r>
            <a:endParaRPr lang="en-US" sz="6000" dirty="0"/>
          </a:p>
        </p:txBody>
      </p:sp>
    </p:spTree>
    <p:extLst>
      <p:ext uri="{BB962C8B-B14F-4D97-AF65-F5344CB8AC3E}">
        <p14:creationId xmlns:p14="http://schemas.microsoft.com/office/powerpoint/2010/main" val="35140497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671F0C14-67BD-40CF-9A8F-E9FC30FC96E5}"/>
              </a:ext>
            </a:extLst>
          </p:cNvPr>
          <p:cNvSpPr>
            <a:spLocks noGrp="1"/>
          </p:cNvSpPr>
          <p:nvPr>
            <p:ph type="title"/>
          </p:nvPr>
        </p:nvSpPr>
        <p:spPr/>
        <p:txBody>
          <a:bodyPr/>
          <a:lstStyle/>
          <a:p>
            <a:r>
              <a:rPr lang="pt-BR" dirty="0"/>
              <a:t>Neurônio (ou célula) recorrente</a:t>
            </a:r>
            <a:endParaRPr lang="en-US" dirty="0"/>
          </a:p>
        </p:txBody>
      </p:sp>
      <p:sp>
        <p:nvSpPr>
          <p:cNvPr id="3" name="Content Placeholder 2">
            <a:extLst>
              <a:ext uri="{FF2B5EF4-FFF2-40B4-BE49-F238E27FC236}">
                <a16:creationId xmlns="" xmlns:a16="http://schemas.microsoft.com/office/drawing/2014/main" id="{6FF8CB8C-0F2B-7C4F-63CA-34C693F26321}"/>
              </a:ext>
            </a:extLst>
          </p:cNvPr>
          <p:cNvSpPr>
            <a:spLocks noGrp="1"/>
          </p:cNvSpPr>
          <p:nvPr>
            <p:ph idx="1"/>
          </p:nvPr>
        </p:nvSpPr>
        <p:spPr>
          <a:xfrm>
            <a:off x="5204536" y="3218490"/>
            <a:ext cx="6069418" cy="1603375"/>
          </a:xfrm>
        </p:spPr>
        <p:txBody>
          <a:bodyPr/>
          <a:lstStyle/>
          <a:p>
            <a:pPr marL="0" indent="0" algn="ctr">
              <a:buNone/>
            </a:pPr>
            <a:r>
              <a:rPr lang="pt-BR" dirty="0"/>
              <a:t>As </a:t>
            </a:r>
            <a:r>
              <a:rPr lang="pt-BR" dirty="0" err="1"/>
              <a:t>RNNs</a:t>
            </a:r>
            <a:r>
              <a:rPr lang="pt-BR" dirty="0"/>
              <a:t> são compostas por </a:t>
            </a:r>
            <a:r>
              <a:rPr lang="pt-BR" b="1" dirty="0"/>
              <a:t>neurônios recorrentes.</a:t>
            </a:r>
            <a:endParaRPr lang="en-US" dirty="0"/>
          </a:p>
        </p:txBody>
      </p:sp>
      <p:pic>
        <p:nvPicPr>
          <p:cNvPr id="5" name="Imagem 4">
            <a:extLst>
              <a:ext uri="{FF2B5EF4-FFF2-40B4-BE49-F238E27FC236}">
                <a16:creationId xmlns="" xmlns:a16="http://schemas.microsoft.com/office/drawing/2014/main" id="{75EB088D-2DA8-6B63-CFA0-01BFE1AC714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019058" y="1690688"/>
            <a:ext cx="2261084" cy="4513855"/>
          </a:xfrm>
          <a:prstGeom prst="rect">
            <a:avLst/>
          </a:prstGeom>
        </p:spPr>
      </p:pic>
    </p:spTree>
    <p:extLst>
      <p:ext uri="{BB962C8B-B14F-4D97-AF65-F5344CB8AC3E}">
        <p14:creationId xmlns:p14="http://schemas.microsoft.com/office/powerpoint/2010/main" val="34841643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73B49179-BA46-8C10-00C9-7227EB093FC3}"/>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387A993C-DAEE-C4BC-272A-C2D7C3B56B46}"/>
              </a:ext>
            </a:extLst>
          </p:cNvPr>
          <p:cNvSpPr>
            <a:spLocks noGrp="1"/>
          </p:cNvSpPr>
          <p:nvPr>
            <p:ph type="title"/>
          </p:nvPr>
        </p:nvSpPr>
        <p:spPr/>
        <p:txBody>
          <a:bodyPr/>
          <a:lstStyle/>
          <a:p>
            <a:r>
              <a:rPr lang="pt-BR" dirty="0"/>
              <a:t>Neurônio (ou célula) recorrente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BAE70A3D-8B65-8CA7-8EEA-8792C2A6EC35}"/>
                  </a:ext>
                </a:extLst>
              </p:cNvPr>
              <p:cNvSpPr>
                <a:spLocks noGrp="1"/>
              </p:cNvSpPr>
              <p:nvPr>
                <p:ph idx="1"/>
              </p:nvPr>
            </p:nvSpPr>
            <p:spPr>
              <a:xfrm>
                <a:off x="4470400" y="1825624"/>
                <a:ext cx="7721601" cy="5032375"/>
              </a:xfrm>
            </p:spPr>
            <p:txBody>
              <a:bodyPr/>
              <a:lstStyle/>
              <a:p>
                <a14:m>
                  <m:oMath xmlns:m="http://schemas.openxmlformats.org/officeDocument/2006/math">
                    <m:r>
                      <a:rPr lang="pt-BR" b="1" i="1" smtClean="0">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𝑡</m:t>
                    </m:r>
                    <m:r>
                      <a:rPr lang="pt-BR" b="0" i="1" smtClean="0">
                        <a:latin typeface="Cambria Math" panose="02040503050406030204" pitchFamily="18" charset="0"/>
                      </a:rPr>
                      <m:t>]</m:t>
                    </m:r>
                  </m:oMath>
                </a14:m>
                <a:r>
                  <a:rPr lang="en-US" dirty="0"/>
                  <a:t>: entrada</a:t>
                </a:r>
              </a:p>
              <a:p>
                <a14:m>
                  <m:oMath xmlns:m="http://schemas.openxmlformats.org/officeDocument/2006/math">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𝒚</m:t>
                        </m:r>
                      </m:e>
                    </m:acc>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en-US" dirty="0"/>
                  <a:t>: </a:t>
                </a:r>
                <a:r>
                  <a:rPr lang="en-US" dirty="0" err="1"/>
                  <a:t>saída</a:t>
                </a:r>
                <a:endParaRPr lang="en-US" dirty="0"/>
              </a:p>
              <a:p>
                <a14:m>
                  <m:oMath xmlns:m="http://schemas.openxmlformats.org/officeDocument/2006/math">
                    <m:r>
                      <a:rPr lang="pt-BR" b="1" i="1" smtClean="0">
                        <a:latin typeface="Cambria Math" panose="02040503050406030204" pitchFamily="18" charset="0"/>
                      </a:rPr>
                      <m:t>𝒉</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en-US" dirty="0"/>
                  <a:t>: </a:t>
                </a:r>
                <a:r>
                  <a:rPr lang="en-US" dirty="0" err="1"/>
                  <a:t>estado</a:t>
                </a:r>
                <a:r>
                  <a:rPr lang="en-US" dirty="0"/>
                  <a:t> </a:t>
                </a:r>
                <a:r>
                  <a:rPr lang="en-US" dirty="0" err="1"/>
                  <a:t>interno</a:t>
                </a:r>
                <a:r>
                  <a:rPr lang="en-US" dirty="0"/>
                  <a:t> </a:t>
                </a:r>
                <a:r>
                  <a:rPr lang="en-US" dirty="0" err="1"/>
                  <a:t>ou</a:t>
                </a:r>
                <a:r>
                  <a:rPr lang="en-US" dirty="0"/>
                  <a:t> </a:t>
                </a:r>
                <a:r>
                  <a:rPr lang="en-US" dirty="0" err="1"/>
                  <a:t>oculto</a:t>
                </a:r>
                <a:r>
                  <a:rPr lang="en-US" dirty="0"/>
                  <a:t> (</a:t>
                </a:r>
                <a:r>
                  <a:rPr lang="en-US" b="1" dirty="0" err="1">
                    <a:solidFill>
                      <a:schemeClr val="accent2"/>
                    </a:solidFill>
                  </a:rPr>
                  <a:t>memória</a:t>
                </a:r>
                <a:r>
                  <a:rPr lang="en-US" b="1" dirty="0">
                    <a:solidFill>
                      <a:schemeClr val="accent2"/>
                    </a:solidFill>
                  </a:rPr>
                  <a:t> da rede</a:t>
                </a:r>
                <a:r>
                  <a:rPr lang="en-US" dirty="0"/>
                  <a:t>)</a:t>
                </a:r>
              </a:p>
              <a:p>
                <a14:m>
                  <m:oMath xmlns:m="http://schemas.openxmlformats.org/officeDocument/2006/math">
                    <m:r>
                      <a:rPr lang="pt-BR" b="1" i="1" smtClean="0">
                        <a:latin typeface="Cambria Math" panose="02040503050406030204" pitchFamily="18" charset="0"/>
                      </a:rPr>
                      <m:t>𝒉</m:t>
                    </m:r>
                    <m:r>
                      <a:rPr lang="pt-BR" i="1">
                        <a:latin typeface="Cambria Math" panose="02040503050406030204" pitchFamily="18" charset="0"/>
                      </a:rPr>
                      <m:t>[</m:t>
                    </m:r>
                    <m:r>
                      <a:rPr lang="pt-BR" i="1">
                        <a:latin typeface="Cambria Math" panose="02040503050406030204" pitchFamily="18" charset="0"/>
                      </a:rPr>
                      <m:t>𝑡</m:t>
                    </m:r>
                    <m:r>
                      <a:rPr lang="pt-BR" b="0" i="1" smtClean="0">
                        <a:latin typeface="Cambria Math" panose="02040503050406030204" pitchFamily="18" charset="0"/>
                      </a:rPr>
                      <m:t>−1</m:t>
                    </m:r>
                    <m:r>
                      <a:rPr lang="pt-BR" i="1">
                        <a:latin typeface="Cambria Math" panose="02040503050406030204" pitchFamily="18" charset="0"/>
                      </a:rPr>
                      <m:t>]</m:t>
                    </m:r>
                  </m:oMath>
                </a14:m>
                <a:r>
                  <a:rPr lang="en-US" dirty="0"/>
                  <a:t>: </a:t>
                </a:r>
                <a:r>
                  <a:rPr lang="en-US" dirty="0" err="1"/>
                  <a:t>estado</a:t>
                </a:r>
                <a:r>
                  <a:rPr lang="en-US" dirty="0"/>
                  <a:t> </a:t>
                </a:r>
                <a:r>
                  <a:rPr lang="en-US" dirty="0" err="1"/>
                  <a:t>interno</a:t>
                </a:r>
                <a:r>
                  <a:rPr lang="en-US" dirty="0"/>
                  <a:t> anterior</a:t>
                </a:r>
              </a:p>
              <a:p>
                <a14:m>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𝑾</m:t>
                        </m:r>
                      </m:e>
                      <m:sub>
                        <m:r>
                          <a:rPr lang="pt-BR" b="0" i="1" smtClean="0">
                            <a:latin typeface="Cambria Math" panose="02040503050406030204" pitchFamily="18" charset="0"/>
                          </a:rPr>
                          <m:t>𝑖</m:t>
                        </m:r>
                      </m:sub>
                    </m:sSub>
                  </m:oMath>
                </a14:m>
                <a:r>
                  <a:rPr lang="en-US" dirty="0"/>
                  <a:t>: pesos de entrada</a:t>
                </a:r>
              </a:p>
              <a:p>
                <a14:m>
                  <m:oMath xmlns:m="http://schemas.openxmlformats.org/officeDocument/2006/math">
                    <m:sSub>
                      <m:sSubPr>
                        <m:ctrlPr>
                          <a:rPr lang="en-US"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h</m:t>
                        </m:r>
                      </m:sub>
                    </m:sSub>
                  </m:oMath>
                </a14:m>
                <a:r>
                  <a:rPr lang="en-US" dirty="0"/>
                  <a:t>: pesos da </a:t>
                </a:r>
                <a:r>
                  <a:rPr lang="en-US" dirty="0" err="1"/>
                  <a:t>camada</a:t>
                </a:r>
                <a:r>
                  <a:rPr lang="en-US" dirty="0"/>
                  <a:t> </a:t>
                </a:r>
                <a:r>
                  <a:rPr lang="en-US" dirty="0" err="1"/>
                  <a:t>recorrente</a:t>
                </a:r>
                <a:r>
                  <a:rPr lang="en-US" dirty="0"/>
                  <a:t> (</a:t>
                </a:r>
                <a:r>
                  <a:rPr lang="en-US" dirty="0" err="1"/>
                  <a:t>oculta</a:t>
                </a:r>
                <a:r>
                  <a:rPr lang="en-US" dirty="0"/>
                  <a:t>)</a:t>
                </a:r>
              </a:p>
              <a:p>
                <a14:m>
                  <m:oMath xmlns:m="http://schemas.openxmlformats.org/officeDocument/2006/math">
                    <m:sSub>
                      <m:sSubPr>
                        <m:ctrlPr>
                          <a:rPr lang="en-US"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𝑜</m:t>
                        </m:r>
                      </m:sub>
                    </m:sSub>
                  </m:oMath>
                </a14:m>
                <a:r>
                  <a:rPr lang="en-US" dirty="0"/>
                  <a:t>: pesos de </a:t>
                </a:r>
                <a:r>
                  <a:rPr lang="en-US" dirty="0" err="1"/>
                  <a:t>saída</a:t>
                </a:r>
                <a:endParaRPr lang="en-US" dirty="0"/>
              </a:p>
              <a:p>
                <a14:m>
                  <m:oMath xmlns:m="http://schemas.openxmlformats.org/officeDocument/2006/math">
                    <m:sSup>
                      <m:sSupPr>
                        <m:ctrlPr>
                          <a:rPr lang="pt-BR" i="1" smtClean="0">
                            <a:latin typeface="Cambria Math" panose="02040503050406030204" pitchFamily="18" charset="0"/>
                          </a:rPr>
                        </m:ctrlPr>
                      </m:sSupPr>
                      <m:e>
                        <m:r>
                          <a:rPr lang="pt-BR" b="0" i="1" smtClean="0">
                            <a:latin typeface="Cambria Math" panose="02040503050406030204" pitchFamily="18" charset="0"/>
                          </a:rPr>
                          <m:t>𝑧</m:t>
                        </m:r>
                      </m:e>
                      <m:sup>
                        <m:r>
                          <a:rPr lang="pt-BR" b="0" i="1" smtClean="0">
                            <a:latin typeface="Cambria Math" panose="02040503050406030204" pitchFamily="18" charset="0"/>
                          </a:rPr>
                          <m:t>−1</m:t>
                        </m:r>
                      </m:sup>
                    </m:sSup>
                  </m:oMath>
                </a14:m>
                <a:r>
                  <a:rPr lang="pt-BR" dirty="0"/>
                  <a:t>: unidade de retardo de tempo</a:t>
                </a:r>
              </a:p>
              <a:p>
                <a14:m>
                  <m:oMath xmlns:m="http://schemas.openxmlformats.org/officeDocument/2006/math">
                    <m:r>
                      <a:rPr lang="pt-BR" i="1">
                        <a:latin typeface="Cambria Math" panose="02040503050406030204" pitchFamily="18" charset="0"/>
                      </a:rPr>
                      <m:t>𝑓</m:t>
                    </m:r>
                    <m:r>
                      <a:rPr lang="pt-BR" i="1">
                        <a:latin typeface="Cambria Math" panose="02040503050406030204" pitchFamily="18" charset="0"/>
                      </a:rPr>
                      <m:t>(.)</m:t>
                    </m:r>
                  </m:oMath>
                </a14:m>
                <a:r>
                  <a:rPr lang="en-US" dirty="0"/>
                  <a:t>: </a:t>
                </a:r>
                <a:r>
                  <a:rPr lang="en-US" dirty="0" err="1"/>
                  <a:t>função</a:t>
                </a:r>
                <a:r>
                  <a:rPr lang="en-US" dirty="0"/>
                  <a:t> de </a:t>
                </a:r>
                <a:r>
                  <a:rPr lang="en-US" dirty="0" err="1"/>
                  <a:t>ativação</a:t>
                </a:r>
                <a:endParaRPr lang="en-US" dirty="0"/>
              </a:p>
            </p:txBody>
          </p:sp>
        </mc:Choice>
        <mc:Fallback xmlns="">
          <p:sp>
            <p:nvSpPr>
              <p:cNvPr id="3" name="Content Placeholder 2">
                <a:extLst>
                  <a:ext uri="{FF2B5EF4-FFF2-40B4-BE49-F238E27FC236}">
                    <a16:creationId xmlns:a16="http://schemas.microsoft.com/office/drawing/2014/main" id="{BAE70A3D-8B65-8CA7-8EEA-8792C2A6EC35}"/>
                  </a:ext>
                </a:extLst>
              </p:cNvPr>
              <p:cNvSpPr>
                <a:spLocks noGrp="1" noRot="1" noChangeAspect="1" noMove="1" noResize="1" noEditPoints="1" noAdjustHandles="1" noChangeArrowheads="1" noChangeShapeType="1" noTextEdit="1"/>
              </p:cNvSpPr>
              <p:nvPr>
                <p:ph idx="1"/>
              </p:nvPr>
            </p:nvSpPr>
            <p:spPr>
              <a:xfrm>
                <a:off x="4470400" y="1825624"/>
                <a:ext cx="7721601" cy="5032375"/>
              </a:xfrm>
              <a:blipFill>
                <a:blip r:embed="rId3"/>
                <a:stretch>
                  <a:fillRect t="-1937"/>
                </a:stretch>
              </a:blipFill>
            </p:spPr>
            <p:txBody>
              <a:bodyPr/>
              <a:lstStyle/>
              <a:p>
                <a:r>
                  <a:rPr lang="en-US">
                    <a:noFill/>
                  </a:rPr>
                  <a:t> </a:t>
                </a:r>
              </a:p>
            </p:txBody>
          </p:sp>
        </mc:Fallback>
      </mc:AlternateContent>
      <p:pic>
        <p:nvPicPr>
          <p:cNvPr id="5" name="Imagem 4">
            <a:extLst>
              <a:ext uri="{FF2B5EF4-FFF2-40B4-BE49-F238E27FC236}">
                <a16:creationId xmlns="" xmlns:a16="http://schemas.microsoft.com/office/drawing/2014/main" id="{A4FBDA72-C26E-0052-AF8A-6E5560FC4E1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266583" y="1419722"/>
            <a:ext cx="2679942" cy="5350031"/>
          </a:xfrm>
          <a:prstGeom prst="rect">
            <a:avLst/>
          </a:prstGeom>
        </p:spPr>
      </p:pic>
    </p:spTree>
    <p:extLst>
      <p:ext uri="{BB962C8B-B14F-4D97-AF65-F5344CB8AC3E}">
        <p14:creationId xmlns:p14="http://schemas.microsoft.com/office/powerpoint/2010/main" val="25564228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15E58F59-116C-8F6D-B7AC-0250568F7A2F}"/>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E9402BEF-ABFC-2E52-8381-46A90E9EEC6F}"/>
              </a:ext>
            </a:extLst>
          </p:cNvPr>
          <p:cNvSpPr>
            <a:spLocks noGrp="1"/>
          </p:cNvSpPr>
          <p:nvPr>
            <p:ph type="title"/>
          </p:nvPr>
        </p:nvSpPr>
        <p:spPr/>
        <p:txBody>
          <a:bodyPr/>
          <a:lstStyle/>
          <a:p>
            <a:r>
              <a:rPr lang="pt-BR" dirty="0"/>
              <a:t>Neurônio (ou célula) recorrente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AAFC11EF-1F73-384D-FC08-ADC0A69BE1A6}"/>
                  </a:ext>
                </a:extLst>
              </p:cNvPr>
              <p:cNvSpPr>
                <a:spLocks noGrp="1"/>
              </p:cNvSpPr>
              <p:nvPr>
                <p:ph idx="1"/>
              </p:nvPr>
            </p:nvSpPr>
            <p:spPr>
              <a:xfrm>
                <a:off x="4470400" y="1825624"/>
                <a:ext cx="7633615" cy="5032375"/>
              </a:xfrm>
            </p:spPr>
            <p:txBody>
              <a:bodyPr>
                <a:normAutofit/>
              </a:bodyPr>
              <a:lstStyle/>
              <a:p>
                <a:r>
                  <a:rPr lang="pt-BR" dirty="0"/>
                  <a:t>As </a:t>
                </a:r>
                <a:r>
                  <a:rPr lang="pt-BR" dirty="0" err="1"/>
                  <a:t>RNNs</a:t>
                </a:r>
                <a:r>
                  <a:rPr lang="pt-BR" dirty="0"/>
                  <a:t> lidam com as dependências temporais entre amostras mantendo um </a:t>
                </a:r>
                <a:r>
                  <a:rPr lang="pt-BR" b="1" dirty="0">
                    <a:solidFill>
                      <a:srgbClr val="0070C0"/>
                    </a:solidFill>
                  </a:rPr>
                  <a:t>estado oculto</a:t>
                </a:r>
                <a:r>
                  <a:rPr lang="pt-BR" dirty="0"/>
                  <a:t>, </a:t>
                </a:r>
                <a14:m>
                  <m:oMath xmlns:m="http://schemas.openxmlformats.org/officeDocument/2006/math">
                    <m:r>
                      <a:rPr lang="pt-BR" b="1" i="1">
                        <a:latin typeface="Cambria Math" panose="02040503050406030204" pitchFamily="18" charset="0"/>
                      </a:rPr>
                      <m:t>𝒉</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pt-BR" dirty="0"/>
                  <a:t>, que armazena informações de todos os passos de tempo anteriores da sequência (</a:t>
                </a:r>
                <a:r>
                  <a:rPr lang="pt-BR" b="1" dirty="0">
                    <a:solidFill>
                      <a:srgbClr val="0070C0"/>
                    </a:solidFill>
                  </a:rPr>
                  <a:t>memória</a:t>
                </a:r>
                <a:r>
                  <a:rPr lang="pt-BR" dirty="0"/>
                  <a:t>).</a:t>
                </a:r>
              </a:p>
              <a:p>
                <a:pPr lvl="1">
                  <a:buFont typeface="Wingdings" panose="05000000000000000000" pitchFamily="2" charset="2"/>
                  <a:buChar char="§"/>
                </a:pPr>
                <a14:m>
                  <m:oMath xmlns:m="http://schemas.openxmlformats.org/officeDocument/2006/math">
                    <m:r>
                      <a:rPr lang="pt-BR" b="1" i="1">
                        <a:latin typeface="Cambria Math" panose="02040503050406030204" pitchFamily="18" charset="0"/>
                      </a:rPr>
                      <m:t>𝒉</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pt-BR" dirty="0"/>
                  <a:t> é uma representação compacta da história da sequência.</a:t>
                </a:r>
              </a:p>
              <a:p>
                <a:r>
                  <a:rPr lang="pt-BR" dirty="0"/>
                  <a:t>O mecanismo de </a:t>
                </a:r>
                <a:r>
                  <a:rPr lang="pt-BR" b="1" dirty="0">
                    <a:solidFill>
                      <a:srgbClr val="0070C0"/>
                    </a:solidFill>
                  </a:rPr>
                  <a:t>recorrência</a:t>
                </a:r>
                <a:r>
                  <a:rPr lang="pt-BR" dirty="0"/>
                  <a:t> permite que a rede aplique o contexto aprendido a partir de entradas anteriores às etapas atuais e futuras.</a:t>
                </a:r>
              </a:p>
              <a:p>
                <a:r>
                  <a:rPr lang="pt-BR" dirty="0"/>
                  <a:t>Uma célula recorrente </a:t>
                </a:r>
                <a:r>
                  <a:rPr lang="pt-BR" b="1" dirty="0">
                    <a:solidFill>
                      <a:schemeClr val="accent2"/>
                    </a:solidFill>
                  </a:rPr>
                  <a:t>aprende padrões presentes</a:t>
                </a:r>
                <a:r>
                  <a:rPr lang="pt-BR" dirty="0"/>
                  <a:t> nas sequências.</a:t>
                </a:r>
                <a:endParaRPr lang="en-US" dirty="0"/>
              </a:p>
            </p:txBody>
          </p:sp>
        </mc:Choice>
        <mc:Fallback xmlns="">
          <p:sp>
            <p:nvSpPr>
              <p:cNvPr id="3" name="Content Placeholder 2">
                <a:extLst>
                  <a:ext uri="{FF2B5EF4-FFF2-40B4-BE49-F238E27FC236}">
                    <a16:creationId xmlns:a16="http://schemas.microsoft.com/office/drawing/2014/main" id="{AAFC11EF-1F73-384D-FC08-ADC0A69BE1A6}"/>
                  </a:ext>
                </a:extLst>
              </p:cNvPr>
              <p:cNvSpPr>
                <a:spLocks noGrp="1" noRot="1" noChangeAspect="1" noMove="1" noResize="1" noEditPoints="1" noAdjustHandles="1" noChangeArrowheads="1" noChangeShapeType="1" noTextEdit="1"/>
              </p:cNvSpPr>
              <p:nvPr>
                <p:ph idx="1"/>
              </p:nvPr>
            </p:nvSpPr>
            <p:spPr>
              <a:xfrm>
                <a:off x="4470400" y="1825624"/>
                <a:ext cx="7633615" cy="5032375"/>
              </a:xfrm>
              <a:blipFill>
                <a:blip r:embed="rId3"/>
                <a:stretch>
                  <a:fillRect l="-1437" t="-1937" r="-2075" b="-969"/>
                </a:stretch>
              </a:blipFill>
            </p:spPr>
            <p:txBody>
              <a:bodyPr/>
              <a:lstStyle/>
              <a:p>
                <a:r>
                  <a:rPr lang="en-US">
                    <a:noFill/>
                  </a:rPr>
                  <a:t> </a:t>
                </a:r>
              </a:p>
            </p:txBody>
          </p:sp>
        </mc:Fallback>
      </mc:AlternateContent>
      <p:pic>
        <p:nvPicPr>
          <p:cNvPr id="5" name="Imagem 4">
            <a:extLst>
              <a:ext uri="{FF2B5EF4-FFF2-40B4-BE49-F238E27FC236}">
                <a16:creationId xmlns="" xmlns:a16="http://schemas.microsoft.com/office/drawing/2014/main" id="{9391CBA0-FDD8-1C64-EBF3-4D66D849BEE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266583" y="1419722"/>
            <a:ext cx="2679942" cy="5350031"/>
          </a:xfrm>
          <a:prstGeom prst="rect">
            <a:avLst/>
          </a:prstGeom>
        </p:spPr>
      </p:pic>
    </p:spTree>
    <p:extLst>
      <p:ext uri="{BB962C8B-B14F-4D97-AF65-F5344CB8AC3E}">
        <p14:creationId xmlns:p14="http://schemas.microsoft.com/office/powerpoint/2010/main" val="372999975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54D77AF7-AEE9-58FC-8805-639651C8A0E0}"/>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A7B90BF9-4F35-7CC8-B4A2-9A0C7D20F69B}"/>
              </a:ext>
            </a:extLst>
          </p:cNvPr>
          <p:cNvSpPr>
            <a:spLocks noGrp="1"/>
          </p:cNvSpPr>
          <p:nvPr>
            <p:ph type="title"/>
          </p:nvPr>
        </p:nvSpPr>
        <p:spPr/>
        <p:txBody>
          <a:bodyPr/>
          <a:lstStyle/>
          <a:p>
            <a:r>
              <a:rPr lang="pt-BR" dirty="0"/>
              <a:t>Neurônio recorrente</a:t>
            </a:r>
            <a:endParaRPr lang="en-US" dirty="0"/>
          </a:p>
        </p:txBody>
      </p:sp>
      <p:sp>
        <p:nvSpPr>
          <p:cNvPr id="6" name="Content Placeholder 5">
            <a:extLst>
              <a:ext uri="{FF2B5EF4-FFF2-40B4-BE49-F238E27FC236}">
                <a16:creationId xmlns="" xmlns:a16="http://schemas.microsoft.com/office/drawing/2014/main" id="{32AD1736-B6E9-B84B-54CD-849BC507F765}"/>
              </a:ext>
            </a:extLst>
          </p:cNvPr>
          <p:cNvSpPr>
            <a:spLocks noGrp="1"/>
          </p:cNvSpPr>
          <p:nvPr>
            <p:ph idx="1"/>
          </p:nvPr>
        </p:nvSpPr>
        <p:spPr>
          <a:xfrm>
            <a:off x="6287678" y="1825625"/>
            <a:ext cx="5773687" cy="5032374"/>
          </a:xfrm>
        </p:spPr>
        <p:txBody>
          <a:bodyPr/>
          <a:lstStyle/>
          <a:p>
            <a:r>
              <a:rPr lang="pt-BR" dirty="0"/>
              <a:t>Representação </a:t>
            </a:r>
            <a:r>
              <a:rPr lang="pt-BR" b="1" dirty="0">
                <a:solidFill>
                  <a:schemeClr val="accent2"/>
                </a:solidFill>
              </a:rPr>
              <a:t>simplificada</a:t>
            </a:r>
            <a:r>
              <a:rPr lang="pt-BR" dirty="0"/>
              <a:t> do neurônio.</a:t>
            </a:r>
          </a:p>
          <a:p>
            <a:r>
              <a:rPr lang="pt-BR" dirty="0"/>
              <a:t>Ela omite a maioria das matrizes de pesos, mostrando uma caixa laranja que corresponde a uma camada densa com função de ativação do tipo tangente hiperbólica (</a:t>
            </a:r>
            <a:r>
              <a:rPr lang="pt-BR" dirty="0" err="1"/>
              <a:t>tanh</a:t>
            </a:r>
            <a:r>
              <a:rPr lang="pt-BR" dirty="0"/>
              <a:t>).</a:t>
            </a:r>
          </a:p>
          <a:p>
            <a:r>
              <a:rPr lang="pt-BR" dirty="0"/>
              <a:t>Essa representação é bastante utilizada na literatura.</a:t>
            </a:r>
          </a:p>
        </p:txBody>
      </p:sp>
      <mc:AlternateContent xmlns:mc="http://schemas.openxmlformats.org/markup-compatibility/2006" xmlns:a14="http://schemas.microsoft.com/office/drawing/2010/main">
        <mc:Choice Requires="a14">
          <p:sp>
            <p:nvSpPr>
              <p:cNvPr id="7" name="TextBox 3">
                <a:extLst>
                  <a:ext uri="{FF2B5EF4-FFF2-40B4-BE49-F238E27FC236}">
                    <a16:creationId xmlns="" xmlns:a16="http://schemas.microsoft.com/office/drawing/2014/main" id="{7CED28AA-0E05-B2BA-0D30-E8DA542D766E}"/>
                  </a:ext>
                </a:extLst>
              </p:cNvPr>
              <p:cNvSpPr txBox="1"/>
              <p:nvPr/>
            </p:nvSpPr>
            <p:spPr>
              <a:xfrm>
                <a:off x="0" y="6611778"/>
                <a:ext cx="3175036" cy="246221"/>
              </a:xfrm>
              <a:prstGeom prst="rect">
                <a:avLst/>
              </a:prstGeom>
              <a:noFill/>
            </p:spPr>
            <p:txBody>
              <a:bodyPr wrap="none" rtlCol="0">
                <a:spAutoFit/>
              </a:bodyPr>
              <a:lstStyle/>
              <a:p>
                <a:r>
                  <a:rPr lang="pt-BR" sz="1000" b="1" dirty="0"/>
                  <a:t>OBS</a:t>
                </a:r>
                <a:r>
                  <a:rPr lang="pt-BR" sz="1000" dirty="0"/>
                  <a:t>.: Para facilitar a notação, usamos </a:t>
                </a:r>
                <a14:m>
                  <m:oMath xmlns:m="http://schemas.openxmlformats.org/officeDocument/2006/math">
                    <m:sSub>
                      <m:sSubPr>
                        <m:ctrlPr>
                          <a:rPr lang="pt-BR" sz="1000" i="1" smtClean="0">
                            <a:latin typeface="Cambria Math" panose="02040503050406030204" pitchFamily="18" charset="0"/>
                          </a:rPr>
                        </m:ctrlPr>
                      </m:sSubPr>
                      <m:e>
                        <m:r>
                          <a:rPr lang="pt-BR" sz="1000" b="1" i="1" smtClean="0">
                            <a:latin typeface="Cambria Math" panose="02040503050406030204" pitchFamily="18" charset="0"/>
                          </a:rPr>
                          <m:t>𝒙</m:t>
                        </m:r>
                      </m:e>
                      <m:sub>
                        <m:r>
                          <a:rPr lang="pt-BR" sz="1000" b="0" i="1" smtClean="0">
                            <a:latin typeface="Cambria Math" panose="02040503050406030204" pitchFamily="18" charset="0"/>
                          </a:rPr>
                          <m:t>𝑡</m:t>
                        </m:r>
                      </m:sub>
                    </m:sSub>
                  </m:oMath>
                </a14:m>
                <a:r>
                  <a:rPr lang="en-US" sz="1000" dirty="0"/>
                  <a:t> </a:t>
                </a:r>
                <a:r>
                  <a:rPr lang="en-US" sz="1000" dirty="0" err="1"/>
                  <a:t>ao</a:t>
                </a:r>
                <a:r>
                  <a:rPr lang="en-US" sz="1000" dirty="0"/>
                  <a:t> </a:t>
                </a:r>
                <a:r>
                  <a:rPr lang="en-US" sz="1000" dirty="0" err="1"/>
                  <a:t>invés</a:t>
                </a:r>
                <a:r>
                  <a:rPr lang="en-US" sz="1000" dirty="0"/>
                  <a:t> de </a:t>
                </a:r>
                <a14:m>
                  <m:oMath xmlns:m="http://schemas.openxmlformats.org/officeDocument/2006/math">
                    <m:r>
                      <a:rPr lang="pt-BR" sz="1000" b="1" i="1" smtClean="0">
                        <a:latin typeface="Cambria Math" panose="02040503050406030204" pitchFamily="18" charset="0"/>
                      </a:rPr>
                      <m:t>𝒙</m:t>
                    </m:r>
                    <m:d>
                      <m:dPr>
                        <m:begChr m:val="["/>
                        <m:endChr m:val="]"/>
                        <m:ctrlPr>
                          <a:rPr lang="pt-BR" sz="1000" b="0" i="1" smtClean="0">
                            <a:latin typeface="Cambria Math" panose="02040503050406030204" pitchFamily="18" charset="0"/>
                          </a:rPr>
                        </m:ctrlPr>
                      </m:dPr>
                      <m:e>
                        <m:r>
                          <a:rPr lang="pt-BR" sz="1000" b="0" i="1" smtClean="0">
                            <a:latin typeface="Cambria Math" panose="02040503050406030204" pitchFamily="18" charset="0"/>
                          </a:rPr>
                          <m:t>𝑡</m:t>
                        </m:r>
                      </m:e>
                    </m:d>
                    <m:r>
                      <a:rPr lang="pt-BR" sz="1000" b="0" i="1" smtClean="0">
                        <a:latin typeface="Cambria Math" panose="02040503050406030204" pitchFamily="18" charset="0"/>
                      </a:rPr>
                      <m:t>.</m:t>
                    </m:r>
                  </m:oMath>
                </a14:m>
                <a:endParaRPr lang="en-US" sz="1000" dirty="0"/>
              </a:p>
            </p:txBody>
          </p:sp>
        </mc:Choice>
        <mc:Fallback xmlns="">
          <p:sp>
            <p:nvSpPr>
              <p:cNvPr id="7" name="TextBox 3">
                <a:extLst>
                  <a:ext uri="{FF2B5EF4-FFF2-40B4-BE49-F238E27FC236}">
                    <a16:creationId xmlns:a16="http://schemas.microsoft.com/office/drawing/2014/main" id="{7CED28AA-0E05-B2BA-0D30-E8DA542D766E}"/>
                  </a:ext>
                </a:extLst>
              </p:cNvPr>
              <p:cNvSpPr txBox="1">
                <a:spLocks noRot="1" noChangeAspect="1" noMove="1" noResize="1" noEditPoints="1" noAdjustHandles="1" noChangeArrowheads="1" noChangeShapeType="1" noTextEdit="1"/>
              </p:cNvSpPr>
              <p:nvPr/>
            </p:nvSpPr>
            <p:spPr>
              <a:xfrm>
                <a:off x="0" y="6611778"/>
                <a:ext cx="3175036" cy="246221"/>
              </a:xfrm>
              <a:prstGeom prst="rect">
                <a:avLst/>
              </a:prstGeom>
              <a:blipFill>
                <a:blip r:embed="rId4"/>
                <a:stretch>
                  <a:fillRect b="-15000"/>
                </a:stretch>
              </a:blipFill>
            </p:spPr>
            <p:txBody>
              <a:bodyPr/>
              <a:lstStyle/>
              <a:p>
                <a:r>
                  <a:rPr lang="en-US">
                    <a:noFill/>
                  </a:rPr>
                  <a:t> </a:t>
                </a:r>
              </a:p>
            </p:txBody>
          </p:sp>
        </mc:Fallback>
      </mc:AlternateContent>
      <p:pic>
        <p:nvPicPr>
          <p:cNvPr id="4" name="Imagem 3">
            <a:extLst>
              <a:ext uri="{FF2B5EF4-FFF2-40B4-BE49-F238E27FC236}">
                <a16:creationId xmlns="" xmlns:a16="http://schemas.microsoft.com/office/drawing/2014/main" id="{7FCC30CB-CB89-F35B-D92D-21E6B094C07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25238" y="2457768"/>
            <a:ext cx="4436269" cy="2809729"/>
          </a:xfrm>
          <a:prstGeom prst="rect">
            <a:avLst/>
          </a:prstGeom>
        </p:spPr>
      </p:pic>
    </p:spTree>
    <p:extLst>
      <p:ext uri="{BB962C8B-B14F-4D97-AF65-F5344CB8AC3E}">
        <p14:creationId xmlns:p14="http://schemas.microsoft.com/office/powerpoint/2010/main" val="41852646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DFF8E223-5A55-598C-6C3A-13F57278F2D7}"/>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D3C890A9-36F8-D703-4FF3-2ECF4E39FAC7}"/>
              </a:ext>
            </a:extLst>
          </p:cNvPr>
          <p:cNvSpPr>
            <a:spLocks noGrp="1"/>
          </p:cNvSpPr>
          <p:nvPr>
            <p:ph type="title"/>
          </p:nvPr>
        </p:nvSpPr>
        <p:spPr/>
        <p:txBody>
          <a:bodyPr/>
          <a:lstStyle/>
          <a:p>
            <a:r>
              <a:rPr lang="pt-BR" dirty="0"/>
              <a:t>Neurônio recorrente</a:t>
            </a:r>
            <a:endParaRPr lang="en-US" dirty="0"/>
          </a:p>
        </p:txBody>
      </p:sp>
      <mc:AlternateContent xmlns:mc="http://schemas.openxmlformats.org/markup-compatibility/2006" xmlns:a14="http://schemas.microsoft.com/office/drawing/2010/main">
        <mc:Choice Requires="a14">
          <p:sp>
            <p:nvSpPr>
              <p:cNvPr id="6" name="Content Placeholder 5">
                <a:extLst>
                  <a:ext uri="{FF2B5EF4-FFF2-40B4-BE49-F238E27FC236}">
                    <a16:creationId xmlns="" xmlns:a16="http://schemas.microsoft.com/office/drawing/2014/main" id="{5D53E8F3-31EC-96A2-5086-93E2C9E2F130}"/>
                  </a:ext>
                </a:extLst>
              </p:cNvPr>
              <p:cNvSpPr>
                <a:spLocks noGrp="1"/>
              </p:cNvSpPr>
              <p:nvPr>
                <p:ph idx="1"/>
              </p:nvPr>
            </p:nvSpPr>
            <p:spPr>
              <a:xfrm>
                <a:off x="5001477" y="1825624"/>
                <a:ext cx="7190523" cy="5032375"/>
              </a:xfrm>
            </p:spPr>
            <p:txBody>
              <a:bodyPr>
                <a:normAutofit/>
              </a:bodyPr>
              <a:lstStyle/>
              <a:p>
                <a:r>
                  <a:rPr lang="pt-BR" dirty="0"/>
                  <a:t>A célula processa uma sequência de entradas um elemento (e.g., uma palavra ou um caractere) de cada vez, executando os seguintes passos em um laço:</a:t>
                </a:r>
              </a:p>
              <a:p>
                <a:pPr lvl="1">
                  <a:buFont typeface="Wingdings" panose="05000000000000000000" pitchFamily="2" charset="2"/>
                  <a:buChar char="§"/>
                </a:pPr>
                <a:r>
                  <a:rPr lang="pt-BR" dirty="0"/>
                  <a:t>Recebe a entrada atual da sequência, </a:t>
                </a:r>
                <a14:m>
                  <m:oMath xmlns:m="http://schemas.openxmlformats.org/officeDocument/2006/math">
                    <m:sSub>
                      <m:sSubPr>
                        <m:ctrlPr>
                          <a:rPr lang="pt-BR"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a14:m>
                <a:r>
                  <a:rPr lang="pt-BR" dirty="0"/>
                  <a:t>.</a:t>
                </a:r>
              </a:p>
              <a:p>
                <a:pPr lvl="1">
                  <a:buFont typeface="Wingdings" panose="05000000000000000000" pitchFamily="2" charset="2"/>
                  <a:buChar char="§"/>
                </a:pPr>
                <a:r>
                  <a:rPr lang="pt-BR" dirty="0"/>
                  <a:t>Recebe o estado oculto do passo de tempo anterior, </a:t>
                </a:r>
                <a14:m>
                  <m:oMath xmlns:m="http://schemas.openxmlformats.org/officeDocument/2006/math">
                    <m:sSub>
                      <m:sSubPr>
                        <m:ctrlPr>
                          <a:rPr lang="pt-BR" i="1">
                            <a:latin typeface="Cambria Math" panose="02040503050406030204" pitchFamily="18" charset="0"/>
                          </a:rPr>
                        </m:ctrlPr>
                      </m:sSubPr>
                      <m:e>
                        <m:r>
                          <a:rPr lang="pt-BR" b="1" i="1" smtClean="0">
                            <a:latin typeface="Cambria Math" panose="02040503050406030204" pitchFamily="18" charset="0"/>
                          </a:rPr>
                          <m:t>𝒉</m:t>
                        </m:r>
                      </m:e>
                      <m:sub>
                        <m:r>
                          <a:rPr lang="pt-BR" i="1">
                            <a:latin typeface="Cambria Math" panose="02040503050406030204" pitchFamily="18" charset="0"/>
                          </a:rPr>
                          <m:t>𝑡</m:t>
                        </m:r>
                        <m:r>
                          <a:rPr lang="pt-BR" b="0" i="1" smtClean="0">
                            <a:latin typeface="Cambria Math" panose="02040503050406030204" pitchFamily="18" charset="0"/>
                          </a:rPr>
                          <m:t>−1</m:t>
                        </m:r>
                      </m:sub>
                    </m:sSub>
                  </m:oMath>
                </a14:m>
                <a:r>
                  <a:rPr lang="pt-BR" dirty="0"/>
                  <a:t> (sua “memória”).</a:t>
                </a:r>
              </a:p>
              <a:p>
                <a:pPr lvl="1">
                  <a:buFont typeface="Wingdings" panose="05000000000000000000" pitchFamily="2" charset="2"/>
                  <a:buChar char="§"/>
                </a:pPr>
                <a:r>
                  <a:rPr lang="pt-BR" dirty="0"/>
                  <a:t>Combina essas duas entradas para calcular o novo estado oculto, </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sub>
                    </m:sSub>
                  </m:oMath>
                </a14:m>
                <a:r>
                  <a:rPr lang="pt-BR" dirty="0"/>
                  <a:t>.</a:t>
                </a:r>
              </a:p>
              <a:p>
                <a:pPr lvl="1">
                  <a:buFont typeface="Wingdings" panose="05000000000000000000" pitchFamily="2" charset="2"/>
                  <a:buChar char="§"/>
                </a:pPr>
                <a:r>
                  <a:rPr lang="pt-BR" dirty="0"/>
                  <a:t>Usa o novo estado oculto </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sub>
                    </m:sSub>
                  </m:oMath>
                </a14:m>
                <a:r>
                  <a:rPr lang="pt-BR" dirty="0"/>
                  <a:t> para calcular a saída, </a:t>
                </a:r>
                <a14:m>
                  <m:oMath xmlns:m="http://schemas.openxmlformats.org/officeDocument/2006/math">
                    <m:sSub>
                      <m:sSubPr>
                        <m:ctrlPr>
                          <a:rPr lang="pt-BR" i="1">
                            <a:latin typeface="Cambria Math" panose="02040503050406030204" pitchFamily="18" charset="0"/>
                          </a:rPr>
                        </m:ctrlPr>
                      </m:sSubPr>
                      <m:e>
                        <m:r>
                          <a:rPr lang="pt-BR" b="1" i="1" smtClean="0">
                            <a:latin typeface="Cambria Math" panose="02040503050406030204" pitchFamily="18" charset="0"/>
                          </a:rPr>
                          <m:t>𝒚</m:t>
                        </m:r>
                      </m:e>
                      <m:sub>
                        <m:r>
                          <a:rPr lang="pt-BR" i="1">
                            <a:latin typeface="Cambria Math" panose="02040503050406030204" pitchFamily="18" charset="0"/>
                          </a:rPr>
                          <m:t>𝑡</m:t>
                        </m:r>
                      </m:sub>
                    </m:sSub>
                  </m:oMath>
                </a14:m>
                <a:r>
                  <a:rPr lang="pt-BR" dirty="0"/>
                  <a:t> para o passo de tempo atual.</a:t>
                </a:r>
              </a:p>
              <a:p>
                <a:pPr lvl="1">
                  <a:buFont typeface="Wingdings" panose="05000000000000000000" pitchFamily="2" charset="2"/>
                  <a:buChar char="§"/>
                </a:pPr>
                <a:r>
                  <a:rPr lang="pt-BR" dirty="0"/>
                  <a:t>O novo estado oculto, </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sub>
                    </m:sSub>
                  </m:oMath>
                </a14:m>
                <a:r>
                  <a:rPr lang="pt-BR" dirty="0"/>
                  <a:t>, é então passado como memória para o próximo passo de tempo, </a:t>
                </a:r>
                <a14:m>
                  <m:oMath xmlns:m="http://schemas.openxmlformats.org/officeDocument/2006/math">
                    <m:r>
                      <a:rPr lang="pt-BR" b="0" i="1" smtClean="0">
                        <a:latin typeface="Cambria Math" panose="02040503050406030204" pitchFamily="18" charset="0"/>
                      </a:rPr>
                      <m:t>𝑡</m:t>
                    </m:r>
                    <m:r>
                      <a:rPr lang="pt-BR" b="0" i="1" smtClean="0">
                        <a:latin typeface="Cambria Math" panose="02040503050406030204" pitchFamily="18" charset="0"/>
                      </a:rPr>
                      <m:t>+1</m:t>
                    </m:r>
                  </m:oMath>
                </a14:m>
                <a:r>
                  <a:rPr lang="pt-BR" dirty="0"/>
                  <a:t>.</a:t>
                </a:r>
                <a:endParaRPr lang="en-US" dirty="0"/>
              </a:p>
            </p:txBody>
          </p:sp>
        </mc:Choice>
        <mc:Fallback xmlns="">
          <p:sp>
            <p:nvSpPr>
              <p:cNvPr id="6" name="Content Placeholder 5">
                <a:extLst>
                  <a:ext uri="{FF2B5EF4-FFF2-40B4-BE49-F238E27FC236}">
                    <a16:creationId xmlns:a16="http://schemas.microsoft.com/office/drawing/2014/main" id="{5D53E8F3-31EC-96A2-5086-93E2C9E2F130}"/>
                  </a:ext>
                </a:extLst>
              </p:cNvPr>
              <p:cNvSpPr>
                <a:spLocks noGrp="1" noRot="1" noChangeAspect="1" noMove="1" noResize="1" noEditPoints="1" noAdjustHandles="1" noChangeArrowheads="1" noChangeShapeType="1" noTextEdit="1"/>
              </p:cNvSpPr>
              <p:nvPr>
                <p:ph idx="1"/>
              </p:nvPr>
            </p:nvSpPr>
            <p:spPr>
              <a:xfrm>
                <a:off x="5001477" y="1825624"/>
                <a:ext cx="7190523" cy="5032375"/>
              </a:xfrm>
              <a:blipFill>
                <a:blip r:embed="rId3"/>
                <a:stretch>
                  <a:fillRect l="-1525" t="-1937" r="-424" b="-242"/>
                </a:stretch>
              </a:blipFill>
            </p:spPr>
            <p:txBody>
              <a:bodyPr/>
              <a:lstStyle/>
              <a:p>
                <a:r>
                  <a:rPr lang="en-US">
                    <a:noFill/>
                  </a:rPr>
                  <a:t> </a:t>
                </a:r>
              </a:p>
            </p:txBody>
          </p:sp>
        </mc:Fallback>
      </mc:AlternateContent>
      <p:pic>
        <p:nvPicPr>
          <p:cNvPr id="3" name="Imagem 2">
            <a:extLst>
              <a:ext uri="{FF2B5EF4-FFF2-40B4-BE49-F238E27FC236}">
                <a16:creationId xmlns="" xmlns:a16="http://schemas.microsoft.com/office/drawing/2014/main" id="{8380297D-98CD-60DC-3ED7-95B86C2C0CF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52240" y="2749999"/>
            <a:ext cx="4436269" cy="2809729"/>
          </a:xfrm>
          <a:prstGeom prst="rect">
            <a:avLst/>
          </a:prstGeom>
        </p:spPr>
      </p:pic>
    </p:spTree>
    <p:extLst>
      <p:ext uri="{BB962C8B-B14F-4D97-AF65-F5344CB8AC3E}">
        <p14:creationId xmlns:p14="http://schemas.microsoft.com/office/powerpoint/2010/main" val="22734530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10058803-0098-D69B-94E1-8CF2F7283A2E}"/>
              </a:ext>
            </a:extLst>
          </p:cNvPr>
          <p:cNvSpPr>
            <a:spLocks noGrp="1"/>
          </p:cNvSpPr>
          <p:nvPr>
            <p:ph type="title"/>
          </p:nvPr>
        </p:nvSpPr>
        <p:spPr/>
        <p:txBody>
          <a:bodyPr/>
          <a:lstStyle/>
          <a:p>
            <a:r>
              <a:rPr lang="pt-BR" dirty="0"/>
              <a:t>Atualização do estado e geração da saída</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988FD72E-BE70-A3E4-42F1-AA2A1AE8D958}"/>
                  </a:ext>
                </a:extLst>
              </p:cNvPr>
              <p:cNvSpPr>
                <a:spLocks noGrp="1"/>
              </p:cNvSpPr>
              <p:nvPr>
                <p:ph idx="1"/>
              </p:nvPr>
            </p:nvSpPr>
            <p:spPr>
              <a:xfrm>
                <a:off x="4829175" y="1825624"/>
                <a:ext cx="7362825" cy="5032375"/>
              </a:xfrm>
            </p:spPr>
            <p:txBody>
              <a:bodyPr/>
              <a:lstStyle/>
              <a:p>
                <a:r>
                  <a:rPr lang="pt-BR" dirty="0"/>
                  <a:t>Equações de </a:t>
                </a:r>
                <a:r>
                  <a:rPr lang="pt-BR" b="1" dirty="0">
                    <a:solidFill>
                      <a:srgbClr val="00B050"/>
                    </a:solidFill>
                  </a:rPr>
                  <a:t>atualização do estado oculto</a:t>
                </a:r>
                <a:r>
                  <a:rPr lang="pt-BR" dirty="0"/>
                  <a:t> e de </a:t>
                </a:r>
                <a:r>
                  <a:rPr lang="pt-BR" b="1" dirty="0">
                    <a:solidFill>
                      <a:srgbClr val="00B050"/>
                    </a:solidFill>
                  </a:rPr>
                  <a:t>saída do neurônio</a:t>
                </a:r>
                <a:r>
                  <a:rPr lang="pt-BR" dirty="0"/>
                  <a:t> recorrente:</a:t>
                </a:r>
              </a:p>
              <a:p>
                <a:pPr marL="0" indent="0" algn="ctr">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𝒉</m:t>
                      </m:r>
                      <m:d>
                        <m:dPr>
                          <m:begChr m:val="["/>
                          <m:endChr m:val="]"/>
                          <m:ctrlPr>
                            <a:rPr lang="pt-BR" b="0" i="1" smtClean="0">
                              <a:latin typeface="Cambria Math" panose="02040503050406030204" pitchFamily="18" charset="0"/>
                            </a:rPr>
                          </m:ctrlPr>
                        </m:dPr>
                        <m:e>
                          <m:r>
                            <a:rPr lang="pt-BR" b="0" i="1" smtClean="0">
                              <a:latin typeface="Cambria Math" panose="02040503050406030204" pitchFamily="18" charset="0"/>
                            </a:rPr>
                            <m:t>𝑡</m:t>
                          </m:r>
                        </m:e>
                      </m:d>
                      <m:r>
                        <a:rPr lang="pt-BR" b="0" i="1" smtClean="0">
                          <a:latin typeface="Cambria Math" panose="02040503050406030204" pitchFamily="18" charset="0"/>
                        </a:rPr>
                        <m:t>=</m:t>
                      </m:r>
                      <m:r>
                        <a:rPr lang="pt-BR" b="0" i="1" smtClean="0">
                          <a:latin typeface="Cambria Math" panose="02040503050406030204" pitchFamily="18" charset="0"/>
                        </a:rPr>
                        <m:t>𝑓</m:t>
                      </m:r>
                      <m:d>
                        <m:dPr>
                          <m:ctrlPr>
                            <a:rPr lang="pt-BR" b="0" i="1" smtClean="0">
                              <a:latin typeface="Cambria Math" panose="02040503050406030204" pitchFamily="18" charset="0"/>
                            </a:rPr>
                          </m:ctrlPr>
                        </m:dPr>
                        <m:e>
                          <m:sSub>
                            <m:sSubPr>
                              <m:ctrlPr>
                                <a:rPr lang="en-US"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h</m:t>
                              </m:r>
                            </m:sub>
                          </m:sSub>
                          <m:r>
                            <a:rPr lang="pt-BR" b="1" i="1" smtClean="0">
                              <a:latin typeface="Cambria Math" panose="02040503050406030204" pitchFamily="18" charset="0"/>
                            </a:rPr>
                            <m:t>𝒉</m:t>
                          </m:r>
                          <m:d>
                            <m:dPr>
                              <m:begChr m:val="["/>
                              <m:endChr m:val="]"/>
                              <m:ctrlPr>
                                <a:rPr lang="pt-BR" b="0" i="1" smtClean="0">
                                  <a:latin typeface="Cambria Math" panose="02040503050406030204" pitchFamily="18" charset="0"/>
                                </a:rPr>
                              </m:ctrlPr>
                            </m:dPr>
                            <m:e>
                              <m:r>
                                <a:rPr lang="pt-BR" b="0" i="1" smtClean="0">
                                  <a:latin typeface="Cambria Math" panose="02040503050406030204" pitchFamily="18" charset="0"/>
                                </a:rPr>
                                <m:t>𝑡</m:t>
                              </m:r>
                              <m:r>
                                <a:rPr lang="pt-BR" b="0" i="1" smtClean="0">
                                  <a:latin typeface="Cambria Math" panose="02040503050406030204" pitchFamily="18" charset="0"/>
                                </a:rPr>
                                <m:t>−1</m:t>
                              </m:r>
                            </m:e>
                          </m:d>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𝑖</m:t>
                              </m:r>
                            </m:sub>
                          </m:sSub>
                          <m:r>
                            <a:rPr lang="pt-BR" b="1" i="1" smtClean="0">
                              <a:latin typeface="Cambria Math" panose="02040503050406030204" pitchFamily="18" charset="0"/>
                            </a:rPr>
                            <m:t>𝒙</m:t>
                          </m:r>
                          <m:d>
                            <m:dPr>
                              <m:begChr m:val="["/>
                              <m:endChr m:val="]"/>
                              <m:ctrlPr>
                                <a:rPr lang="pt-BR" b="0" i="1" smtClean="0">
                                  <a:latin typeface="Cambria Math" panose="02040503050406030204" pitchFamily="18" charset="0"/>
                                </a:rPr>
                              </m:ctrlPr>
                            </m:dPr>
                            <m:e>
                              <m:r>
                                <a:rPr lang="pt-BR" b="0" i="1" smtClean="0">
                                  <a:latin typeface="Cambria Math" panose="02040503050406030204" pitchFamily="18" charset="0"/>
                                </a:rPr>
                                <m:t>𝑡</m:t>
                              </m:r>
                            </m:e>
                          </m:d>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𝒃</m:t>
                              </m:r>
                            </m:e>
                            <m:sub>
                              <m:r>
                                <a:rPr lang="pt-BR" b="0" i="1" smtClean="0">
                                  <a:latin typeface="Cambria Math" panose="02040503050406030204" pitchFamily="18" charset="0"/>
                                </a:rPr>
                                <m:t>h</m:t>
                              </m:r>
                            </m:sub>
                          </m:sSub>
                        </m:e>
                      </m:d>
                      <m:r>
                        <a:rPr lang="pt-BR" b="0" i="0" smtClean="0">
                          <a:latin typeface="Cambria Math" panose="02040503050406030204" pitchFamily="18" charset="0"/>
                        </a:rPr>
                        <m:t>,</m:t>
                      </m:r>
                    </m:oMath>
                  </m:oMathPara>
                </a14:m>
                <a:endParaRPr lang="en-US" dirty="0"/>
              </a:p>
              <a:p>
                <a:pPr marL="0" indent="0" algn="ctr">
                  <a:buNone/>
                </a:pPr>
                <a:endParaRPr lang="en-US" sz="700" dirty="0"/>
              </a:p>
              <a:p>
                <a:pPr marL="0" indent="0" algn="ctr">
                  <a:buNone/>
                </a:pPr>
                <a14:m>
                  <m:oMathPara xmlns:m="http://schemas.openxmlformats.org/officeDocument/2006/math">
                    <m:oMathParaPr>
                      <m:jc m:val="centerGroup"/>
                    </m:oMathParaPr>
                    <m:oMath xmlns:m="http://schemas.openxmlformats.org/officeDocument/2006/math">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𝒚</m:t>
                          </m:r>
                        </m:e>
                      </m:acc>
                      <m:d>
                        <m:dPr>
                          <m:begChr m:val="["/>
                          <m:endChr m:val="]"/>
                          <m:ctrlPr>
                            <a:rPr lang="pt-BR" b="0" i="1" smtClean="0">
                              <a:latin typeface="Cambria Math" panose="02040503050406030204" pitchFamily="18" charset="0"/>
                            </a:rPr>
                          </m:ctrlPr>
                        </m:dPr>
                        <m:e>
                          <m:r>
                            <a:rPr lang="pt-BR" b="0" i="1" smtClean="0">
                              <a:latin typeface="Cambria Math" panose="02040503050406030204" pitchFamily="18" charset="0"/>
                            </a:rPr>
                            <m:t>𝑡</m:t>
                          </m:r>
                        </m:e>
                      </m:d>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𝑜</m:t>
                          </m:r>
                        </m:sub>
                      </m:sSub>
                      <m:r>
                        <a:rPr lang="pt-BR" b="1" i="1" smtClean="0">
                          <a:latin typeface="Cambria Math" panose="02040503050406030204" pitchFamily="18" charset="0"/>
                        </a:rPr>
                        <m:t>𝒉</m:t>
                      </m:r>
                      <m:d>
                        <m:dPr>
                          <m:begChr m:val="["/>
                          <m:endChr m:val="]"/>
                          <m:ctrlPr>
                            <a:rPr lang="pt-BR" b="0" i="1" smtClean="0">
                              <a:latin typeface="Cambria Math" panose="02040503050406030204" pitchFamily="18" charset="0"/>
                            </a:rPr>
                          </m:ctrlPr>
                        </m:dPr>
                        <m:e>
                          <m:r>
                            <a:rPr lang="pt-BR" b="0" i="1" smtClean="0">
                              <a:latin typeface="Cambria Math" panose="02040503050406030204" pitchFamily="18" charset="0"/>
                            </a:rPr>
                            <m:t>𝑡</m:t>
                          </m:r>
                        </m:e>
                      </m:d>
                      <m:r>
                        <a:rPr lang="pt-BR" b="0" i="0" smtClean="0">
                          <a:latin typeface="Cambria Math" panose="02040503050406030204" pitchFamily="18" charset="0"/>
                        </a:rPr>
                        <m:t>,</m:t>
                      </m:r>
                    </m:oMath>
                  </m:oMathPara>
                </a14:m>
                <a:endParaRPr lang="en-US" dirty="0"/>
              </a:p>
              <a:p>
                <a:pPr marL="0" indent="0">
                  <a:buNone/>
                </a:pPr>
                <a:r>
                  <a:rPr lang="pt-BR" dirty="0"/>
                  <a:t>onde </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𝒃</m:t>
                        </m:r>
                      </m:e>
                      <m:sub>
                        <m:r>
                          <a:rPr lang="pt-BR" i="1">
                            <a:latin typeface="Cambria Math" panose="02040503050406030204" pitchFamily="18" charset="0"/>
                          </a:rPr>
                          <m:t>h</m:t>
                        </m:r>
                      </m:sub>
                    </m:sSub>
                  </m:oMath>
                </a14:m>
                <a:r>
                  <a:rPr lang="pt-BR" dirty="0"/>
                  <a:t> é o vetor de </a:t>
                </a:r>
                <a:r>
                  <a:rPr lang="pt-BR" i="1" dirty="0"/>
                  <a:t>bias</a:t>
                </a:r>
                <a:r>
                  <a:rPr lang="pt-BR" dirty="0"/>
                  <a:t>.</a:t>
                </a:r>
                <a:endParaRPr lang="en-US" dirty="0"/>
              </a:p>
              <a:p>
                <a:r>
                  <a:rPr lang="en-US" dirty="0" err="1"/>
                  <a:t>Os</a:t>
                </a:r>
                <a:r>
                  <a:rPr lang="en-US" dirty="0"/>
                  <a:t> </a:t>
                </a:r>
                <a:r>
                  <a:rPr lang="en-US" b="1" dirty="0">
                    <a:solidFill>
                      <a:schemeClr val="accent2"/>
                    </a:solidFill>
                  </a:rPr>
                  <a:t>pesos </a:t>
                </a:r>
                <a:r>
                  <a:rPr lang="en-US" b="1" dirty="0" err="1">
                    <a:solidFill>
                      <a:schemeClr val="accent2"/>
                    </a:solidFill>
                  </a:rPr>
                  <a:t>são</a:t>
                </a:r>
                <a:r>
                  <a:rPr lang="en-US" b="1" dirty="0">
                    <a:solidFill>
                      <a:schemeClr val="accent2"/>
                    </a:solidFill>
                  </a:rPr>
                  <a:t> </a:t>
                </a:r>
                <a:r>
                  <a:rPr lang="en-US" b="1" dirty="0" err="1">
                    <a:solidFill>
                      <a:schemeClr val="accent2"/>
                    </a:solidFill>
                  </a:rPr>
                  <a:t>os</a:t>
                </a:r>
                <a:r>
                  <a:rPr lang="en-US" b="1" dirty="0">
                    <a:solidFill>
                      <a:schemeClr val="accent2"/>
                    </a:solidFill>
                  </a:rPr>
                  <a:t> </a:t>
                </a:r>
                <a:r>
                  <a:rPr lang="en-US" b="1" dirty="0" err="1">
                    <a:solidFill>
                      <a:schemeClr val="accent2"/>
                    </a:solidFill>
                  </a:rPr>
                  <a:t>mesmos</a:t>
                </a:r>
                <a:r>
                  <a:rPr lang="en-US" dirty="0"/>
                  <a:t> </a:t>
                </a:r>
                <a:r>
                  <a:rPr lang="en-US" dirty="0" err="1"/>
                  <a:t>em</a:t>
                </a:r>
                <a:r>
                  <a:rPr lang="en-US" dirty="0"/>
                  <a:t> </a:t>
                </a:r>
                <a:r>
                  <a:rPr lang="en-US" b="1" dirty="0" err="1">
                    <a:solidFill>
                      <a:srgbClr val="7030A0"/>
                    </a:solidFill>
                  </a:rPr>
                  <a:t>todos</a:t>
                </a:r>
                <a:r>
                  <a:rPr lang="en-US" b="1" dirty="0">
                    <a:solidFill>
                      <a:srgbClr val="7030A0"/>
                    </a:solidFill>
                  </a:rPr>
                  <a:t> </a:t>
                </a:r>
                <a:r>
                  <a:rPr lang="en-US" b="1" dirty="0" err="1">
                    <a:solidFill>
                      <a:srgbClr val="7030A0"/>
                    </a:solidFill>
                  </a:rPr>
                  <a:t>os</a:t>
                </a:r>
                <a:r>
                  <a:rPr lang="en-US" b="1" dirty="0">
                    <a:solidFill>
                      <a:srgbClr val="7030A0"/>
                    </a:solidFill>
                  </a:rPr>
                  <a:t> </a:t>
                </a:r>
                <a:r>
                  <a:rPr lang="en-US" b="1" dirty="0" err="1">
                    <a:solidFill>
                      <a:srgbClr val="7030A0"/>
                    </a:solidFill>
                  </a:rPr>
                  <a:t>intervalos</a:t>
                </a:r>
                <a:r>
                  <a:rPr lang="en-US" b="1" dirty="0">
                    <a:solidFill>
                      <a:srgbClr val="7030A0"/>
                    </a:solidFill>
                  </a:rPr>
                  <a:t> de tempo</a:t>
                </a:r>
                <a:r>
                  <a:rPr lang="en-US" dirty="0"/>
                  <a:t>.</a:t>
                </a:r>
              </a:p>
              <a:p>
                <a:r>
                  <a:rPr lang="en-US" dirty="0"/>
                  <a:t>Em </a:t>
                </a:r>
                <a:r>
                  <a:rPr lang="en-US" dirty="0" err="1"/>
                  <a:t>geral</a:t>
                </a:r>
                <a:r>
                  <a:rPr lang="en-US" dirty="0"/>
                  <a:t>, </a:t>
                </a:r>
                <a:r>
                  <a:rPr lang="en-US" dirty="0" err="1"/>
                  <a:t>usa</a:t>
                </a:r>
                <a:r>
                  <a:rPr lang="en-US" dirty="0"/>
                  <a:t>-se </a:t>
                </a:r>
                <a:r>
                  <a:rPr lang="en-US" dirty="0" err="1"/>
                  <a:t>funções</a:t>
                </a:r>
                <a:r>
                  <a:rPr lang="en-US" dirty="0"/>
                  <a:t> de </a:t>
                </a:r>
                <a:r>
                  <a:rPr lang="en-US" dirty="0" err="1"/>
                  <a:t>ativação</a:t>
                </a:r>
                <a:r>
                  <a:rPr lang="en-US" dirty="0"/>
                  <a:t>, </a:t>
                </a:r>
                <a14:m>
                  <m:oMath xmlns:m="http://schemas.openxmlformats.org/officeDocument/2006/math">
                    <m:r>
                      <a:rPr lang="pt-BR" i="1">
                        <a:latin typeface="Cambria Math" panose="02040503050406030204" pitchFamily="18" charset="0"/>
                      </a:rPr>
                      <m:t>𝑓</m:t>
                    </m:r>
                    <m:r>
                      <a:rPr lang="pt-BR" i="1">
                        <a:latin typeface="Cambria Math" panose="02040503050406030204" pitchFamily="18" charset="0"/>
                      </a:rPr>
                      <m:t>(.)</m:t>
                    </m:r>
                  </m:oMath>
                </a14:m>
                <a:r>
                  <a:rPr lang="en-US" dirty="0"/>
                  <a:t>, do </a:t>
                </a:r>
                <a:r>
                  <a:rPr lang="en-US" dirty="0" err="1"/>
                  <a:t>tipo</a:t>
                </a:r>
                <a:r>
                  <a:rPr lang="en-US" dirty="0"/>
                  <a:t> </a:t>
                </a:r>
                <a:r>
                  <a:rPr lang="en-US" b="1" dirty="0" err="1">
                    <a:solidFill>
                      <a:schemeClr val="accent2"/>
                    </a:solidFill>
                  </a:rPr>
                  <a:t>tangente</a:t>
                </a:r>
                <a:r>
                  <a:rPr lang="en-US" b="1" dirty="0">
                    <a:solidFill>
                      <a:schemeClr val="accent2"/>
                    </a:solidFill>
                  </a:rPr>
                  <a:t> </a:t>
                </a:r>
                <a:r>
                  <a:rPr lang="en-US" b="1" dirty="0" err="1">
                    <a:solidFill>
                      <a:schemeClr val="accent2"/>
                    </a:solidFill>
                  </a:rPr>
                  <a:t>hiperbólica</a:t>
                </a:r>
                <a:r>
                  <a:rPr lang="en-US" dirty="0"/>
                  <a:t> (tanh) </a:t>
                </a:r>
                <a:r>
                  <a:rPr lang="en-US" dirty="0" err="1"/>
                  <a:t>ou</a:t>
                </a:r>
                <a:r>
                  <a:rPr lang="en-US" dirty="0"/>
                  <a:t> </a:t>
                </a:r>
                <a:r>
                  <a:rPr lang="en-US" b="1" dirty="0" err="1">
                    <a:solidFill>
                      <a:schemeClr val="accent2"/>
                    </a:solidFill>
                  </a:rPr>
                  <a:t>sigmóide</a:t>
                </a:r>
                <a:r>
                  <a:rPr lang="en-US" dirty="0"/>
                  <a:t>.</a:t>
                </a:r>
              </a:p>
              <a:p>
                <a:pPr lvl="1">
                  <a:buFont typeface="Wingdings" panose="05000000000000000000" pitchFamily="2" charset="2"/>
                  <a:buChar char="§"/>
                </a:pPr>
                <a:r>
                  <a:rPr lang="en-US" dirty="0" err="1"/>
                  <a:t>Não</a:t>
                </a:r>
                <a:r>
                  <a:rPr lang="en-US" dirty="0"/>
                  <a:t> se </a:t>
                </a:r>
                <a:r>
                  <a:rPr lang="en-US" dirty="0" err="1"/>
                  <a:t>usa</a:t>
                </a:r>
                <a:r>
                  <a:rPr lang="en-US" dirty="0"/>
                  <a:t> </a:t>
                </a:r>
                <a:r>
                  <a:rPr lang="en-US" dirty="0" err="1"/>
                  <a:t>ReLU</a:t>
                </a:r>
                <a:r>
                  <a:rPr lang="en-US" dirty="0"/>
                  <a:t>, pois </a:t>
                </a:r>
                <a:r>
                  <a:rPr lang="en-US" b="1" dirty="0" err="1">
                    <a:solidFill>
                      <a:schemeClr val="accent1"/>
                    </a:solidFill>
                  </a:rPr>
                  <a:t>por</a:t>
                </a:r>
                <a:r>
                  <a:rPr lang="en-US" b="1" dirty="0">
                    <a:solidFill>
                      <a:schemeClr val="accent1"/>
                    </a:solidFill>
                  </a:rPr>
                  <a:t> </a:t>
                </a:r>
                <a:r>
                  <a:rPr lang="en-US" b="1" dirty="0" err="1">
                    <a:solidFill>
                      <a:schemeClr val="accent1"/>
                    </a:solidFill>
                  </a:rPr>
                  <a:t>não</a:t>
                </a:r>
                <a:r>
                  <a:rPr lang="en-US" b="1" dirty="0">
                    <a:solidFill>
                      <a:schemeClr val="accent1"/>
                    </a:solidFill>
                  </a:rPr>
                  <a:t> </a:t>
                </a:r>
                <a:r>
                  <a:rPr lang="en-US" b="1" dirty="0" err="1">
                    <a:solidFill>
                      <a:schemeClr val="accent1"/>
                    </a:solidFill>
                  </a:rPr>
                  <a:t>saturarem</a:t>
                </a:r>
                <a:r>
                  <a:rPr lang="en-US" dirty="0"/>
                  <a:t>, a </a:t>
                </a:r>
                <a:r>
                  <a:rPr lang="en-US" b="1" dirty="0" err="1">
                    <a:solidFill>
                      <a:schemeClr val="accent1"/>
                    </a:solidFill>
                  </a:rPr>
                  <a:t>recorrência</a:t>
                </a:r>
                <a:r>
                  <a:rPr lang="en-US" dirty="0"/>
                  <a:t> </a:t>
                </a:r>
                <a:r>
                  <a:rPr lang="en-US" dirty="0" err="1"/>
                  <a:t>pode</a:t>
                </a:r>
                <a:r>
                  <a:rPr lang="en-US" dirty="0"/>
                  <a:t> </a:t>
                </a:r>
                <a:r>
                  <a:rPr lang="en-US" b="1" dirty="0" err="1">
                    <a:solidFill>
                      <a:schemeClr val="accent1"/>
                    </a:solidFill>
                  </a:rPr>
                  <a:t>causar</a:t>
                </a:r>
                <a:r>
                  <a:rPr lang="en-US" b="1" dirty="0">
                    <a:solidFill>
                      <a:schemeClr val="accent1"/>
                    </a:solidFill>
                  </a:rPr>
                  <a:t> </a:t>
                </a:r>
                <a:r>
                  <a:rPr lang="en-US" b="1" dirty="0" err="1">
                    <a:solidFill>
                      <a:schemeClr val="accent1"/>
                    </a:solidFill>
                  </a:rPr>
                  <a:t>explosão</a:t>
                </a:r>
                <a:r>
                  <a:rPr lang="en-US" b="1" dirty="0">
                    <a:solidFill>
                      <a:schemeClr val="accent1"/>
                    </a:solidFill>
                  </a:rPr>
                  <a:t> do </a:t>
                </a:r>
                <a:r>
                  <a:rPr lang="en-US" b="1" dirty="0" err="1">
                    <a:solidFill>
                      <a:schemeClr val="accent1"/>
                    </a:solidFill>
                  </a:rPr>
                  <a:t>gradiente</a:t>
                </a:r>
                <a:r>
                  <a:rPr lang="en-US" dirty="0"/>
                  <a:t>.</a:t>
                </a:r>
              </a:p>
              <a:p>
                <a:pPr algn="ctr"/>
                <a:endParaRPr lang="en-US" dirty="0"/>
              </a:p>
            </p:txBody>
          </p:sp>
        </mc:Choice>
        <mc:Fallback xmlns="">
          <p:sp>
            <p:nvSpPr>
              <p:cNvPr id="3" name="Content Placeholder 2">
                <a:extLst>
                  <a:ext uri="{FF2B5EF4-FFF2-40B4-BE49-F238E27FC236}">
                    <a16:creationId xmlns:a16="http://schemas.microsoft.com/office/drawing/2014/main" id="{988FD72E-BE70-A3E4-42F1-AA2A1AE8D958}"/>
                  </a:ext>
                </a:extLst>
              </p:cNvPr>
              <p:cNvSpPr>
                <a:spLocks noGrp="1" noRot="1" noChangeAspect="1" noMove="1" noResize="1" noEditPoints="1" noAdjustHandles="1" noChangeArrowheads="1" noChangeShapeType="1" noTextEdit="1"/>
              </p:cNvSpPr>
              <p:nvPr>
                <p:ph idx="1"/>
              </p:nvPr>
            </p:nvSpPr>
            <p:spPr>
              <a:xfrm>
                <a:off x="4829175" y="1825624"/>
                <a:ext cx="7362825" cy="5032375"/>
              </a:xfrm>
              <a:blipFill>
                <a:blip r:embed="rId3"/>
                <a:stretch>
                  <a:fillRect l="-1656" t="-1937" r="-828"/>
                </a:stretch>
              </a:blipFill>
            </p:spPr>
            <p:txBody>
              <a:bodyPr/>
              <a:lstStyle/>
              <a:p>
                <a:r>
                  <a:rPr lang="en-US">
                    <a:noFill/>
                  </a:rPr>
                  <a:t> </a:t>
                </a:r>
              </a:p>
            </p:txBody>
          </p:sp>
        </mc:Fallback>
      </mc:AlternateContent>
      <p:pic>
        <p:nvPicPr>
          <p:cNvPr id="6" name="Imagem 5">
            <a:extLst>
              <a:ext uri="{FF2B5EF4-FFF2-40B4-BE49-F238E27FC236}">
                <a16:creationId xmlns="" xmlns:a16="http://schemas.microsoft.com/office/drawing/2014/main" id="{F7DDA95C-C5C7-CCA4-CCDB-D86268AAC52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488832" y="1592865"/>
            <a:ext cx="2454517" cy="4900010"/>
          </a:xfrm>
          <a:prstGeom prst="rect">
            <a:avLst/>
          </a:prstGeom>
        </p:spPr>
      </p:pic>
    </p:spTree>
    <p:extLst>
      <p:ext uri="{BB962C8B-B14F-4D97-AF65-F5344CB8AC3E}">
        <p14:creationId xmlns:p14="http://schemas.microsoft.com/office/powerpoint/2010/main" val="33615492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10A6C62E-76B5-FA20-EE1A-654E9CD9813A}"/>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E145478A-CD8C-A7EE-5ED6-FCEA3B5288A4}"/>
              </a:ext>
            </a:extLst>
          </p:cNvPr>
          <p:cNvSpPr>
            <a:spLocks noGrp="1"/>
          </p:cNvSpPr>
          <p:nvPr>
            <p:ph type="title"/>
          </p:nvPr>
        </p:nvSpPr>
        <p:spPr/>
        <p:txBody>
          <a:bodyPr/>
          <a:lstStyle/>
          <a:p>
            <a:r>
              <a:rPr lang="pt-BR" dirty="0"/>
              <a:t>Atualização do estado e geração da saída</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60AAF98E-E627-AE1F-AE39-31FADE78DD6F}"/>
                  </a:ext>
                </a:extLst>
              </p:cNvPr>
              <p:cNvSpPr>
                <a:spLocks noGrp="1"/>
              </p:cNvSpPr>
              <p:nvPr>
                <p:ph idx="1"/>
              </p:nvPr>
            </p:nvSpPr>
            <p:spPr>
              <a:xfrm>
                <a:off x="4949072" y="1825624"/>
                <a:ext cx="7242928" cy="5032375"/>
              </a:xfrm>
            </p:spPr>
            <p:txBody>
              <a:bodyPr>
                <a:normAutofit/>
              </a:bodyPr>
              <a:lstStyle/>
              <a:p>
                <a:r>
                  <a:rPr lang="pt-BR" dirty="0"/>
                  <a:t>Algumas implementações consideram uma </a:t>
                </a:r>
                <a:r>
                  <a:rPr lang="pt-BR" b="1" dirty="0">
                    <a:solidFill>
                      <a:schemeClr val="accent2"/>
                    </a:solidFill>
                  </a:rPr>
                  <a:t>função de ativação na saída </a:t>
                </a:r>
                <a:r>
                  <a:rPr lang="pt-BR" dirty="0"/>
                  <a:t>(e.g., logística ou </a:t>
                </a:r>
                <a:r>
                  <a:rPr lang="pt-BR" dirty="0" err="1"/>
                  <a:t>tanh</a:t>
                </a:r>
                <a:r>
                  <a:rPr lang="pt-BR" dirty="0"/>
                  <a:t>).</a:t>
                </a:r>
              </a:p>
              <a:p>
                <a:r>
                  <a:rPr lang="pt-BR" dirty="0"/>
                  <a:t>Desta forma, a equação de </a:t>
                </a:r>
                <a:r>
                  <a:rPr lang="pt-BR" b="1" dirty="0">
                    <a:solidFill>
                      <a:srgbClr val="00B050"/>
                    </a:solidFill>
                  </a:rPr>
                  <a:t>saída do neurônio</a:t>
                </a:r>
                <a:r>
                  <a:rPr lang="pt-BR" dirty="0"/>
                  <a:t> recorrente fica assim:</a:t>
                </a:r>
                <a:endParaRPr lang="en-US" sz="700" dirty="0"/>
              </a:p>
              <a:p>
                <a:pPr marL="0" indent="0" algn="ctr">
                  <a:buNone/>
                </a:pPr>
                <a14:m>
                  <m:oMathPara xmlns:m="http://schemas.openxmlformats.org/officeDocument/2006/math">
                    <m:oMathParaPr>
                      <m:jc m:val="centerGroup"/>
                    </m:oMathParaPr>
                    <m:oMath xmlns:m="http://schemas.openxmlformats.org/officeDocument/2006/math">
                      <m:acc>
                        <m:accPr>
                          <m:chr m:val="̂"/>
                          <m:ctrlPr>
                            <a:rPr lang="pt-BR" b="1" i="1">
                              <a:latin typeface="Cambria Math" panose="02040503050406030204" pitchFamily="18" charset="0"/>
                            </a:rPr>
                          </m:ctrlPr>
                        </m:accPr>
                        <m:e>
                          <m:r>
                            <a:rPr lang="pt-BR" b="1" i="1">
                              <a:latin typeface="Cambria Math" panose="02040503050406030204" pitchFamily="18" charset="0"/>
                            </a:rPr>
                            <m:t>𝒚</m:t>
                          </m:r>
                        </m:e>
                      </m:acc>
                      <m:d>
                        <m:dPr>
                          <m:begChr m:val="["/>
                          <m:endChr m:val="]"/>
                          <m:ctrlPr>
                            <a:rPr lang="pt-BR" i="1">
                              <a:latin typeface="Cambria Math" panose="02040503050406030204" pitchFamily="18" charset="0"/>
                            </a:rPr>
                          </m:ctrlPr>
                        </m:dPr>
                        <m:e>
                          <m:r>
                            <a:rPr lang="pt-BR" i="1">
                              <a:latin typeface="Cambria Math" panose="02040503050406030204" pitchFamily="18" charset="0"/>
                            </a:rPr>
                            <m:t>𝑡</m:t>
                          </m:r>
                        </m:e>
                      </m:d>
                      <m:r>
                        <a:rPr lang="pt-BR" i="1">
                          <a:latin typeface="Cambria Math" panose="02040503050406030204" pitchFamily="18" charset="0"/>
                        </a:rPr>
                        <m:t>=</m:t>
                      </m:r>
                      <m:r>
                        <a:rPr lang="pt-BR" b="0" i="1" smtClean="0">
                          <a:latin typeface="Cambria Math" panose="02040503050406030204" pitchFamily="18" charset="0"/>
                        </a:rPr>
                        <m:t>𝑓</m:t>
                      </m:r>
                      <m:d>
                        <m:dPr>
                          <m:ctrlPr>
                            <a:rPr lang="pt-BR" b="0" i="1" smtClean="0">
                              <a:latin typeface="Cambria Math" panose="02040503050406030204" pitchFamily="18" charset="0"/>
                            </a:rPr>
                          </m:ctrlPr>
                        </m:dPr>
                        <m:e>
                          <m:sSub>
                            <m:sSubPr>
                              <m:ctrlPr>
                                <a:rPr lang="en-US"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r>
                            <a:rPr lang="pt-BR" b="1" i="1">
                              <a:latin typeface="Cambria Math" panose="02040503050406030204" pitchFamily="18" charset="0"/>
                            </a:rPr>
                            <m:t>𝒉</m:t>
                          </m:r>
                          <m:d>
                            <m:dPr>
                              <m:begChr m:val="["/>
                              <m:endChr m:val="]"/>
                              <m:ctrlPr>
                                <a:rPr lang="pt-BR" i="1">
                                  <a:latin typeface="Cambria Math" panose="02040503050406030204" pitchFamily="18" charset="0"/>
                                </a:rPr>
                              </m:ctrlPr>
                            </m:dPr>
                            <m:e>
                              <m:r>
                                <a:rPr lang="pt-BR" i="1">
                                  <a:latin typeface="Cambria Math" panose="02040503050406030204" pitchFamily="18" charset="0"/>
                                </a:rPr>
                                <m:t>𝑡</m:t>
                              </m:r>
                            </m:e>
                          </m:d>
                          <m:r>
                            <a:rPr lang="pt-BR" b="0" i="0" smtClean="0">
                              <a:latin typeface="Cambria Math" panose="02040503050406030204" pitchFamily="18" charset="0"/>
                            </a:rPr>
                            <m:t>+</m:t>
                          </m:r>
                          <m:sSub>
                            <m:sSubPr>
                              <m:ctrlPr>
                                <a:rPr lang="pt-BR" b="0" i="1" smtClean="0">
                                  <a:latin typeface="Cambria Math" panose="02040503050406030204" pitchFamily="18" charset="0"/>
                                </a:rPr>
                              </m:ctrlPr>
                            </m:sSubPr>
                            <m:e>
                              <m:r>
                                <a:rPr lang="pt-BR" b="1" i="1" smtClean="0">
                                  <a:latin typeface="Cambria Math" panose="02040503050406030204" pitchFamily="18" charset="0"/>
                                </a:rPr>
                                <m:t>𝒃</m:t>
                              </m:r>
                            </m:e>
                            <m:sub>
                              <m:r>
                                <a:rPr lang="pt-BR" b="0" i="1" smtClean="0">
                                  <a:latin typeface="Cambria Math" panose="02040503050406030204" pitchFamily="18" charset="0"/>
                                </a:rPr>
                                <m:t>𝑜</m:t>
                              </m:r>
                            </m:sub>
                          </m:sSub>
                        </m:e>
                      </m:d>
                      <m:r>
                        <a:rPr lang="pt-BR" b="0" i="0" smtClean="0">
                          <a:latin typeface="Cambria Math" panose="02040503050406030204" pitchFamily="18" charset="0"/>
                        </a:rPr>
                        <m:t>,</m:t>
                      </m:r>
                    </m:oMath>
                  </m:oMathPara>
                </a14:m>
                <a:endParaRPr lang="en-US" dirty="0"/>
              </a:p>
              <a:p>
                <a:pPr marL="0" indent="0">
                  <a:buNone/>
                </a:pPr>
                <a:r>
                  <a:rPr lang="pt-BR" dirty="0"/>
                  <a:t>onde </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𝒃</m:t>
                        </m:r>
                      </m:e>
                      <m:sub>
                        <m:r>
                          <a:rPr lang="pt-BR" i="1">
                            <a:latin typeface="Cambria Math" panose="02040503050406030204" pitchFamily="18" charset="0"/>
                          </a:rPr>
                          <m:t>𝑜</m:t>
                        </m:r>
                      </m:sub>
                    </m:sSub>
                  </m:oMath>
                </a14:m>
                <a:r>
                  <a:rPr lang="pt-BR" dirty="0"/>
                  <a:t> é o vetor de </a:t>
                </a:r>
                <a:r>
                  <a:rPr lang="pt-BR" i="1" dirty="0"/>
                  <a:t>bias.</a:t>
                </a:r>
                <a:endParaRPr lang="en-US" dirty="0"/>
              </a:p>
              <a:p>
                <a:r>
                  <a:rPr lang="pt-BR" dirty="0"/>
                  <a:t>A equação de </a:t>
                </a:r>
                <a:r>
                  <a:rPr lang="pt-BR" b="1" dirty="0">
                    <a:solidFill>
                      <a:srgbClr val="00B050"/>
                    </a:solidFill>
                  </a:rPr>
                  <a:t>atualização do estado oculto </a:t>
                </a:r>
                <a:r>
                  <a:rPr lang="pt-BR" dirty="0"/>
                  <a:t>permanece a mesma.</a:t>
                </a:r>
                <a:endParaRPr lang="en-US" dirty="0"/>
              </a:p>
            </p:txBody>
          </p:sp>
        </mc:Choice>
        <mc:Fallback xmlns="">
          <p:sp>
            <p:nvSpPr>
              <p:cNvPr id="3" name="Content Placeholder 2">
                <a:extLst>
                  <a:ext uri="{FF2B5EF4-FFF2-40B4-BE49-F238E27FC236}">
                    <a16:creationId xmlns:a16="http://schemas.microsoft.com/office/drawing/2014/main" id="{60AAF98E-E627-AE1F-AE39-31FADE78DD6F}"/>
                  </a:ext>
                </a:extLst>
              </p:cNvPr>
              <p:cNvSpPr>
                <a:spLocks noGrp="1" noRot="1" noChangeAspect="1" noMove="1" noResize="1" noEditPoints="1" noAdjustHandles="1" noChangeArrowheads="1" noChangeShapeType="1" noTextEdit="1"/>
              </p:cNvSpPr>
              <p:nvPr>
                <p:ph idx="1"/>
              </p:nvPr>
            </p:nvSpPr>
            <p:spPr>
              <a:xfrm>
                <a:off x="4949072" y="1825624"/>
                <a:ext cx="7242928" cy="5032375"/>
              </a:xfrm>
              <a:blipFill>
                <a:blip r:embed="rId3"/>
                <a:stretch>
                  <a:fillRect l="-1768" t="-1937"/>
                </a:stretch>
              </a:blipFill>
            </p:spPr>
            <p:txBody>
              <a:bodyPr/>
              <a:lstStyle/>
              <a:p>
                <a:r>
                  <a:rPr lang="en-US">
                    <a:noFill/>
                  </a:rPr>
                  <a:t> </a:t>
                </a:r>
              </a:p>
            </p:txBody>
          </p:sp>
        </mc:Fallback>
      </mc:AlternateContent>
      <p:grpSp>
        <p:nvGrpSpPr>
          <p:cNvPr id="4" name="Agrupar 3">
            <a:extLst>
              <a:ext uri="{FF2B5EF4-FFF2-40B4-BE49-F238E27FC236}">
                <a16:creationId xmlns="" xmlns:a16="http://schemas.microsoft.com/office/drawing/2014/main" id="{18759DC6-199E-9641-2389-B62D876BAC88}"/>
              </a:ext>
            </a:extLst>
          </p:cNvPr>
          <p:cNvGrpSpPr/>
          <p:nvPr/>
        </p:nvGrpSpPr>
        <p:grpSpPr>
          <a:xfrm>
            <a:off x="1676298" y="1517693"/>
            <a:ext cx="2258314" cy="5231527"/>
            <a:chOff x="1582030" y="1498840"/>
            <a:chExt cx="2258314" cy="5231527"/>
          </a:xfrm>
        </p:grpSpPr>
        <p:pic>
          <p:nvPicPr>
            <p:cNvPr id="5" name="Imagem 4">
              <a:extLst>
                <a:ext uri="{FF2B5EF4-FFF2-40B4-BE49-F238E27FC236}">
                  <a16:creationId xmlns="" xmlns:a16="http://schemas.microsoft.com/office/drawing/2014/main" id="{8E2B0E5C-B617-1386-87C2-3A8B717B022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82031" y="1498840"/>
              <a:ext cx="2258313" cy="5231527"/>
            </a:xfrm>
            <a:prstGeom prst="rect">
              <a:avLst/>
            </a:prstGeom>
          </p:spPr>
        </p:pic>
        <p:sp>
          <p:nvSpPr>
            <p:cNvPr id="7" name="Retângulo 6">
              <a:extLst>
                <a:ext uri="{FF2B5EF4-FFF2-40B4-BE49-F238E27FC236}">
                  <a16:creationId xmlns="" xmlns:a16="http://schemas.microsoft.com/office/drawing/2014/main" id="{1E3BC3FD-1B5F-5A63-997C-3561384F2766}"/>
                </a:ext>
              </a:extLst>
            </p:cNvPr>
            <p:cNvSpPr/>
            <p:nvPr/>
          </p:nvSpPr>
          <p:spPr>
            <a:xfrm>
              <a:off x="1582030" y="2066729"/>
              <a:ext cx="557657" cy="61912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rgbClr val="FF0000"/>
                  </a:solidFill>
                </a:ln>
                <a:noFill/>
              </a:endParaRPr>
            </a:p>
          </p:txBody>
        </p:sp>
      </p:grpSp>
    </p:spTree>
    <p:extLst>
      <p:ext uri="{BB962C8B-B14F-4D97-AF65-F5344CB8AC3E}">
        <p14:creationId xmlns:p14="http://schemas.microsoft.com/office/powerpoint/2010/main" val="32798602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6D2474F2-5A89-1CB7-BD28-4A23A7F5141A}"/>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610EFA5E-749F-7C57-0BA6-488F9D44EA66}"/>
              </a:ext>
            </a:extLst>
          </p:cNvPr>
          <p:cNvSpPr>
            <a:spLocks noGrp="1"/>
          </p:cNvSpPr>
          <p:nvPr>
            <p:ph type="title"/>
          </p:nvPr>
        </p:nvSpPr>
        <p:spPr/>
        <p:txBody>
          <a:bodyPr/>
          <a:lstStyle/>
          <a:p>
            <a:r>
              <a:rPr lang="pt-BR" dirty="0"/>
              <a:t>Desenrolando uma RNN</a:t>
            </a:r>
            <a:endParaRPr lang="en-US" dirty="0"/>
          </a:p>
        </p:txBody>
      </p:sp>
      <p:sp>
        <p:nvSpPr>
          <p:cNvPr id="3" name="Content Placeholder 2">
            <a:extLst>
              <a:ext uri="{FF2B5EF4-FFF2-40B4-BE49-F238E27FC236}">
                <a16:creationId xmlns="" xmlns:a16="http://schemas.microsoft.com/office/drawing/2014/main" id="{BFCF467E-0C2B-3D54-B6F1-85395ED9EC8F}"/>
              </a:ext>
            </a:extLst>
          </p:cNvPr>
          <p:cNvSpPr>
            <a:spLocks noGrp="1"/>
          </p:cNvSpPr>
          <p:nvPr>
            <p:ph idx="1"/>
          </p:nvPr>
        </p:nvSpPr>
        <p:spPr>
          <a:xfrm>
            <a:off x="7805395" y="1825624"/>
            <a:ext cx="4386605" cy="5032375"/>
          </a:xfrm>
        </p:spPr>
        <p:txBody>
          <a:bodyPr>
            <a:normAutofit/>
          </a:bodyPr>
          <a:lstStyle/>
          <a:p>
            <a:r>
              <a:rPr lang="pt-BR" dirty="0"/>
              <a:t>Embora visualizemos a RNN com um </a:t>
            </a:r>
            <a:r>
              <a:rPr lang="pt-BR" b="1" dirty="0">
                <a:solidFill>
                  <a:schemeClr val="accent1"/>
                </a:solidFill>
              </a:rPr>
              <a:t>laço</a:t>
            </a:r>
            <a:r>
              <a:rPr lang="pt-BR" dirty="0"/>
              <a:t>, é mais fácil entender seu funcionamento </a:t>
            </a:r>
            <a:r>
              <a:rPr lang="pt-BR" b="1" dirty="0">
                <a:solidFill>
                  <a:schemeClr val="accent2"/>
                </a:solidFill>
              </a:rPr>
              <a:t>desenrolando-a</a:t>
            </a:r>
            <a:r>
              <a:rPr lang="pt-BR" dirty="0"/>
              <a:t> ao longo dos passos de tempo.</a:t>
            </a:r>
          </a:p>
          <a:p>
            <a:r>
              <a:rPr lang="pt-BR" dirty="0"/>
              <a:t>Uma RNN desenrolada pode ser vista como </a:t>
            </a:r>
            <a:r>
              <a:rPr lang="pt-BR" b="1" dirty="0">
                <a:solidFill>
                  <a:srgbClr val="7030A0"/>
                </a:solidFill>
              </a:rPr>
              <a:t>múltiplas cópias da mesma camada</a:t>
            </a:r>
            <a:r>
              <a:rPr lang="pt-BR" dirty="0"/>
              <a:t>, cada uma passando </a:t>
            </a:r>
            <a:r>
              <a:rPr lang="pt-BR" b="1" dirty="0">
                <a:solidFill>
                  <a:schemeClr val="accent2"/>
                </a:solidFill>
              </a:rPr>
              <a:t>uma mensagem para a sua sucessora</a:t>
            </a:r>
            <a:r>
              <a:rPr lang="pt-BR" dirty="0"/>
              <a:t>.</a:t>
            </a:r>
          </a:p>
          <a:p>
            <a:endParaRPr lang="pt-BR" dirty="0"/>
          </a:p>
        </p:txBody>
      </p:sp>
      <p:pic>
        <p:nvPicPr>
          <p:cNvPr id="8" name="Imagem 7">
            <a:extLst>
              <a:ext uri="{FF2B5EF4-FFF2-40B4-BE49-F238E27FC236}">
                <a16:creationId xmlns="" xmlns:a16="http://schemas.microsoft.com/office/drawing/2014/main" id="{7647394D-B8E2-7039-16A8-7702A1CD088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26885" y="1851548"/>
            <a:ext cx="7578510" cy="4527709"/>
          </a:xfrm>
          <a:prstGeom prst="rect">
            <a:avLst/>
          </a:prstGeom>
        </p:spPr>
      </p:pic>
    </p:spTree>
    <p:extLst>
      <p:ext uri="{BB962C8B-B14F-4D97-AF65-F5344CB8AC3E}">
        <p14:creationId xmlns:p14="http://schemas.microsoft.com/office/powerpoint/2010/main" val="24242990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21DDC0DF-3D06-4045-B165-7AAB8FC34BE4}"/>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64B05D09-B51B-9F1D-840C-8F31ECA8AC7C}"/>
              </a:ext>
            </a:extLst>
          </p:cNvPr>
          <p:cNvSpPr>
            <a:spLocks noGrp="1"/>
          </p:cNvSpPr>
          <p:nvPr>
            <p:ph type="title"/>
          </p:nvPr>
        </p:nvSpPr>
        <p:spPr/>
        <p:txBody>
          <a:bodyPr/>
          <a:lstStyle/>
          <a:p>
            <a:r>
              <a:rPr lang="pt-BR" dirty="0"/>
              <a:t>Desenrolando uma RNN</a:t>
            </a:r>
            <a:endParaRPr lang="en-US" dirty="0"/>
          </a:p>
        </p:txBody>
      </p:sp>
      <p:sp>
        <p:nvSpPr>
          <p:cNvPr id="3" name="Content Placeholder 2">
            <a:extLst>
              <a:ext uri="{FF2B5EF4-FFF2-40B4-BE49-F238E27FC236}">
                <a16:creationId xmlns="" xmlns:a16="http://schemas.microsoft.com/office/drawing/2014/main" id="{05DB0C75-40DB-1344-2644-3F9C51103B04}"/>
              </a:ext>
            </a:extLst>
          </p:cNvPr>
          <p:cNvSpPr>
            <a:spLocks noGrp="1"/>
          </p:cNvSpPr>
          <p:nvPr>
            <p:ph idx="1"/>
          </p:nvPr>
        </p:nvSpPr>
        <p:spPr>
          <a:xfrm>
            <a:off x="7805395" y="1825624"/>
            <a:ext cx="4386605" cy="5032375"/>
          </a:xfrm>
        </p:spPr>
        <p:txBody>
          <a:bodyPr>
            <a:normAutofit/>
          </a:bodyPr>
          <a:lstStyle/>
          <a:p>
            <a:pPr>
              <a:buFont typeface="Wingdings" panose="05000000000000000000" pitchFamily="2" charset="2"/>
              <a:buChar char="§"/>
            </a:pPr>
            <a:r>
              <a:rPr lang="pt-BR" dirty="0"/>
              <a:t>Cada </a:t>
            </a:r>
            <a:r>
              <a:rPr lang="pt-BR" b="1" dirty="0">
                <a:solidFill>
                  <a:schemeClr val="accent2"/>
                </a:solidFill>
              </a:rPr>
              <a:t>réplica</a:t>
            </a:r>
            <a:r>
              <a:rPr lang="pt-BR" dirty="0"/>
              <a:t> da rede é </a:t>
            </a:r>
            <a:r>
              <a:rPr lang="pt-BR" b="1" dirty="0">
                <a:solidFill>
                  <a:schemeClr val="accent2"/>
                </a:solidFill>
              </a:rPr>
              <a:t>referente </a:t>
            </a:r>
            <a:r>
              <a:rPr lang="pt-BR" dirty="0"/>
              <a:t>a um </a:t>
            </a:r>
            <a:r>
              <a:rPr lang="pt-BR" b="1" dirty="0">
                <a:solidFill>
                  <a:schemeClr val="accent2"/>
                </a:solidFill>
              </a:rPr>
              <a:t>intervalo de tempo diferente </a:t>
            </a:r>
            <a:r>
              <a:rPr lang="pt-BR" dirty="0"/>
              <a:t>e pode ser pensada como </a:t>
            </a:r>
            <a:r>
              <a:rPr lang="pt-BR" b="1" dirty="0">
                <a:solidFill>
                  <a:srgbClr val="00B050"/>
                </a:solidFill>
              </a:rPr>
              <a:t>uma camada em uma rede MLP</a:t>
            </a:r>
            <a:r>
              <a:rPr lang="pt-BR" dirty="0"/>
              <a:t>.</a:t>
            </a:r>
          </a:p>
          <a:p>
            <a:pPr>
              <a:buFont typeface="Wingdings" panose="05000000000000000000" pitchFamily="2" charset="2"/>
              <a:buChar char="§"/>
            </a:pPr>
            <a:r>
              <a:rPr lang="pt-BR" dirty="0"/>
              <a:t>Percebam que a </a:t>
            </a:r>
            <a:r>
              <a:rPr lang="pt-BR" b="1" dirty="0">
                <a:solidFill>
                  <a:srgbClr val="7030A0"/>
                </a:solidFill>
              </a:rPr>
              <a:t>arquitetura da rede</a:t>
            </a:r>
            <a:r>
              <a:rPr lang="pt-BR" dirty="0"/>
              <a:t> pode se tornar </a:t>
            </a:r>
            <a:r>
              <a:rPr lang="pt-BR" b="1" dirty="0">
                <a:solidFill>
                  <a:srgbClr val="7030A0"/>
                </a:solidFill>
              </a:rPr>
              <a:t>muito profunda </a:t>
            </a:r>
            <a:r>
              <a:rPr lang="pt-BR" dirty="0"/>
              <a:t>para</a:t>
            </a:r>
            <a:r>
              <a:rPr lang="pt-BR" b="1" dirty="0">
                <a:solidFill>
                  <a:srgbClr val="7030A0"/>
                </a:solidFill>
              </a:rPr>
              <a:t> sequências muito longas</a:t>
            </a:r>
            <a:r>
              <a:rPr lang="pt-BR" dirty="0"/>
              <a:t>.</a:t>
            </a:r>
          </a:p>
        </p:txBody>
      </p:sp>
      <p:pic>
        <p:nvPicPr>
          <p:cNvPr id="8" name="Imagem 7">
            <a:extLst>
              <a:ext uri="{FF2B5EF4-FFF2-40B4-BE49-F238E27FC236}">
                <a16:creationId xmlns="" xmlns:a16="http://schemas.microsoft.com/office/drawing/2014/main" id="{5432393F-CC34-9AA6-AE14-3B0ED66B82F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26885" y="1851548"/>
            <a:ext cx="7578510" cy="4527709"/>
          </a:xfrm>
          <a:prstGeom prst="rect">
            <a:avLst/>
          </a:prstGeom>
        </p:spPr>
      </p:pic>
    </p:spTree>
    <p:extLst>
      <p:ext uri="{BB962C8B-B14F-4D97-AF65-F5344CB8AC3E}">
        <p14:creationId xmlns:p14="http://schemas.microsoft.com/office/powerpoint/2010/main" val="13707493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27131961-1381-6F3E-8FD0-08285C798796}"/>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1C74E138-4FDB-0A0C-AE94-7C75814D54BE}"/>
              </a:ext>
            </a:extLst>
          </p:cNvPr>
          <p:cNvSpPr>
            <a:spLocks noGrp="1"/>
          </p:cNvSpPr>
          <p:nvPr>
            <p:ph type="title"/>
          </p:nvPr>
        </p:nvSpPr>
        <p:spPr/>
        <p:txBody>
          <a:bodyPr/>
          <a:lstStyle/>
          <a:p>
            <a:r>
              <a:rPr lang="pt-BR" dirty="0"/>
              <a:t>Desenrolando uma RNN</a:t>
            </a:r>
            <a:endParaRPr lang="en-US" dirty="0"/>
          </a:p>
        </p:txBody>
      </p:sp>
      <p:sp>
        <p:nvSpPr>
          <p:cNvPr id="3" name="Content Placeholder 2">
            <a:extLst>
              <a:ext uri="{FF2B5EF4-FFF2-40B4-BE49-F238E27FC236}">
                <a16:creationId xmlns="" xmlns:a16="http://schemas.microsoft.com/office/drawing/2014/main" id="{C4D1FC21-9877-8A53-D087-E821889E0654}"/>
              </a:ext>
            </a:extLst>
          </p:cNvPr>
          <p:cNvSpPr>
            <a:spLocks noGrp="1"/>
          </p:cNvSpPr>
          <p:nvPr>
            <p:ph idx="1"/>
          </p:nvPr>
        </p:nvSpPr>
        <p:spPr>
          <a:xfrm>
            <a:off x="7720553" y="1825624"/>
            <a:ext cx="4471447" cy="5032375"/>
          </a:xfrm>
        </p:spPr>
        <p:txBody>
          <a:bodyPr>
            <a:normAutofit/>
          </a:bodyPr>
          <a:lstStyle/>
          <a:p>
            <a:r>
              <a:rPr lang="pt-BR" dirty="0"/>
              <a:t>Essa visão </a:t>
            </a:r>
            <a:r>
              <a:rPr lang="pt-BR" b="1" dirty="0">
                <a:solidFill>
                  <a:schemeClr val="accent2"/>
                </a:solidFill>
              </a:rPr>
              <a:t>desenrolada</a:t>
            </a:r>
            <a:r>
              <a:rPr lang="pt-BR" dirty="0"/>
              <a:t> mostra claramente o fluxo de informações e a </a:t>
            </a:r>
            <a:r>
              <a:rPr lang="pt-BR" b="1" dirty="0">
                <a:solidFill>
                  <a:srgbClr val="0070C0"/>
                </a:solidFill>
              </a:rPr>
              <a:t>reutilização dos pesos</a:t>
            </a:r>
            <a:r>
              <a:rPr lang="pt-BR" dirty="0"/>
              <a:t>.</a:t>
            </a:r>
          </a:p>
          <a:p>
            <a:r>
              <a:rPr lang="pt-BR" dirty="0"/>
              <a:t>Os </a:t>
            </a:r>
            <a:r>
              <a:rPr lang="pt-BR" b="1" dirty="0">
                <a:solidFill>
                  <a:schemeClr val="accent1"/>
                </a:solidFill>
              </a:rPr>
              <a:t>pesos </a:t>
            </a:r>
            <a:r>
              <a:rPr lang="pt-BR" dirty="0"/>
              <a:t>e as </a:t>
            </a:r>
            <a:r>
              <a:rPr lang="pt-BR" b="1" dirty="0">
                <a:solidFill>
                  <a:schemeClr val="accent1"/>
                </a:solidFill>
              </a:rPr>
              <a:t>funções de ativação </a:t>
            </a:r>
            <a:r>
              <a:rPr lang="pt-BR" dirty="0"/>
              <a:t>são</a:t>
            </a:r>
            <a:r>
              <a:rPr lang="pt-BR" b="1" dirty="0">
                <a:solidFill>
                  <a:schemeClr val="accent1"/>
                </a:solidFill>
              </a:rPr>
              <a:t> mantidos constantes</a:t>
            </a:r>
            <a:r>
              <a:rPr lang="pt-BR" dirty="0"/>
              <a:t> em cada </a:t>
            </a:r>
            <a:r>
              <a:rPr lang="pt-BR" b="1" dirty="0">
                <a:solidFill>
                  <a:schemeClr val="accent1"/>
                </a:solidFill>
              </a:rPr>
              <a:t>intervalo de tempo.</a:t>
            </a:r>
          </a:p>
        </p:txBody>
      </p:sp>
      <p:pic>
        <p:nvPicPr>
          <p:cNvPr id="8" name="Imagem 7">
            <a:extLst>
              <a:ext uri="{FF2B5EF4-FFF2-40B4-BE49-F238E27FC236}">
                <a16:creationId xmlns="" xmlns:a16="http://schemas.microsoft.com/office/drawing/2014/main" id="{C67339C6-8630-9318-806E-885B3088E3A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42043" y="1898682"/>
            <a:ext cx="7578510" cy="4527709"/>
          </a:xfrm>
          <a:prstGeom prst="rect">
            <a:avLst/>
          </a:prstGeom>
        </p:spPr>
      </p:pic>
    </p:spTree>
    <p:extLst>
      <p:ext uri="{BB962C8B-B14F-4D97-AF65-F5344CB8AC3E}">
        <p14:creationId xmlns:p14="http://schemas.microsoft.com/office/powerpoint/2010/main" val="390835723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E08040EC-283E-AF0D-98D2-F63FF4265D72}"/>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6D6B01EA-11FE-E505-9C21-2C7DF649E585}"/>
              </a:ext>
            </a:extLst>
          </p:cNvPr>
          <p:cNvSpPr>
            <a:spLocks noGrp="1"/>
          </p:cNvSpPr>
          <p:nvPr>
            <p:ph type="title"/>
          </p:nvPr>
        </p:nvSpPr>
        <p:spPr/>
        <p:txBody>
          <a:bodyPr/>
          <a:lstStyle/>
          <a:p>
            <a:r>
              <a:rPr lang="pt-BR" dirty="0"/>
              <a:t>Desenrolando uma RNN</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9B7EF629-DAD2-6F9E-E547-E7199A3C8AC0}"/>
                  </a:ext>
                </a:extLst>
              </p:cNvPr>
              <p:cNvSpPr>
                <a:spLocks noGrp="1"/>
              </p:cNvSpPr>
              <p:nvPr>
                <p:ph idx="1"/>
              </p:nvPr>
            </p:nvSpPr>
            <p:spPr>
              <a:xfrm>
                <a:off x="7804910" y="1825624"/>
                <a:ext cx="4387090" cy="5032375"/>
              </a:xfrm>
            </p:spPr>
            <p:txBody>
              <a:bodyPr>
                <a:normAutofit/>
              </a:bodyPr>
              <a:lstStyle/>
              <a:p>
                <a:r>
                  <a:rPr lang="pt-BR" dirty="0"/>
                  <a:t>Esse </a:t>
                </a:r>
                <a:r>
                  <a:rPr lang="pt-BR" b="1" dirty="0">
                    <a:solidFill>
                      <a:schemeClr val="accent2"/>
                    </a:solidFill>
                  </a:rPr>
                  <a:t>conjunto compartilhado de pesos</a:t>
                </a:r>
                <a:r>
                  <a:rPr lang="pt-BR" dirty="0"/>
                  <a:t> é o que torna o modelo "</a:t>
                </a:r>
                <a:r>
                  <a:rPr lang="pt-BR" b="1" dirty="0">
                    <a:solidFill>
                      <a:srgbClr val="00B050"/>
                    </a:solidFill>
                  </a:rPr>
                  <a:t>recorrente</a:t>
                </a:r>
                <a:r>
                  <a:rPr lang="pt-BR" dirty="0"/>
                  <a:t>" e permite que ele </a:t>
                </a:r>
                <a:r>
                  <a:rPr lang="pt-BR" b="1" dirty="0">
                    <a:solidFill>
                      <a:srgbClr val="7030A0"/>
                    </a:solidFill>
                  </a:rPr>
                  <a:t>aprenda (detecte) padrões em sequências</a:t>
                </a:r>
                <a:r>
                  <a:rPr lang="pt-BR" dirty="0"/>
                  <a:t>.</a:t>
                </a:r>
              </a:p>
              <a:p>
                <a:r>
                  <a:rPr lang="pt-BR" dirty="0"/>
                  <a:t>Notem que a saída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begChr m:val="["/>
                        <m:endChr m:val="]"/>
                        <m:ctrlPr>
                          <a:rPr lang="pt-BR" i="1">
                            <a:latin typeface="Cambria Math" panose="02040503050406030204" pitchFamily="18" charset="0"/>
                          </a:rPr>
                        </m:ctrlPr>
                      </m:dPr>
                      <m:e>
                        <m:r>
                          <a:rPr lang="pt-BR" i="1">
                            <a:latin typeface="Cambria Math" panose="02040503050406030204" pitchFamily="18" charset="0"/>
                          </a:rPr>
                          <m:t>𝑡</m:t>
                        </m:r>
                      </m:e>
                    </m:d>
                  </m:oMath>
                </a14:m>
                <a:r>
                  <a:rPr lang="pt-BR" dirty="0"/>
                  <a:t> </a:t>
                </a:r>
                <a:r>
                  <a:rPr lang="pt-BR" b="1" dirty="0">
                    <a:solidFill>
                      <a:srgbClr val="00B050"/>
                    </a:solidFill>
                  </a:rPr>
                  <a:t>depende de </a:t>
                </a:r>
                <a14:m>
                  <m:oMath xmlns:m="http://schemas.openxmlformats.org/officeDocument/2006/math">
                    <m:r>
                      <a:rPr lang="pt-BR" b="1" i="1">
                        <a:solidFill>
                          <a:srgbClr val="00B050"/>
                        </a:solidFill>
                        <a:latin typeface="Cambria Math" panose="02040503050406030204" pitchFamily="18" charset="0"/>
                      </a:rPr>
                      <m:t>𝒉</m:t>
                    </m:r>
                    <m:r>
                      <a:rPr lang="pt-BR" b="1" i="1">
                        <a:solidFill>
                          <a:srgbClr val="00B050"/>
                        </a:solidFill>
                        <a:latin typeface="Cambria Math" panose="02040503050406030204" pitchFamily="18" charset="0"/>
                      </a:rPr>
                      <m:t>[</m:t>
                    </m:r>
                    <m:r>
                      <a:rPr lang="pt-BR" b="1" i="1">
                        <a:solidFill>
                          <a:srgbClr val="00B050"/>
                        </a:solidFill>
                        <a:latin typeface="Cambria Math" panose="02040503050406030204" pitchFamily="18" charset="0"/>
                      </a:rPr>
                      <m:t>𝒕</m:t>
                    </m:r>
                    <m:r>
                      <a:rPr lang="pt-BR" b="1" i="1">
                        <a:solidFill>
                          <a:srgbClr val="00B050"/>
                        </a:solidFill>
                        <a:latin typeface="Cambria Math" panose="02040503050406030204" pitchFamily="18" charset="0"/>
                      </a:rPr>
                      <m:t>] </m:t>
                    </m:r>
                  </m:oMath>
                </a14:m>
                <a:r>
                  <a:rPr lang="pt-BR" b="1" dirty="0">
                    <a:solidFill>
                      <a:srgbClr val="00B050"/>
                    </a:solidFill>
                  </a:rPr>
                  <a:t>e de </a:t>
                </a:r>
                <a:r>
                  <a:rPr lang="pt-BR" b="1" dirty="0">
                    <a:solidFill>
                      <a:schemeClr val="accent2"/>
                    </a:solidFill>
                  </a:rPr>
                  <a:t>todos</a:t>
                </a:r>
                <a:r>
                  <a:rPr lang="pt-BR" b="1" dirty="0">
                    <a:solidFill>
                      <a:srgbClr val="00B050"/>
                    </a:solidFill>
                  </a:rPr>
                  <a:t> os seus valores anteriores</a:t>
                </a:r>
                <a:r>
                  <a:rPr lang="pt-BR" dirty="0"/>
                  <a:t> e não apenas de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pt-BR" dirty="0"/>
                  <a:t> como em uma MLP.</a:t>
                </a:r>
              </a:p>
            </p:txBody>
          </p:sp>
        </mc:Choice>
        <mc:Fallback xmlns="">
          <p:sp>
            <p:nvSpPr>
              <p:cNvPr id="3" name="Content Placeholder 2">
                <a:extLst>
                  <a:ext uri="{FF2B5EF4-FFF2-40B4-BE49-F238E27FC236}">
                    <a16:creationId xmlns:a16="http://schemas.microsoft.com/office/drawing/2014/main" id="{9B7EF629-DAD2-6F9E-E547-E7199A3C8AC0}"/>
                  </a:ext>
                </a:extLst>
              </p:cNvPr>
              <p:cNvSpPr>
                <a:spLocks noGrp="1" noRot="1" noChangeAspect="1" noMove="1" noResize="1" noEditPoints="1" noAdjustHandles="1" noChangeArrowheads="1" noChangeShapeType="1" noTextEdit="1"/>
              </p:cNvSpPr>
              <p:nvPr>
                <p:ph idx="1"/>
              </p:nvPr>
            </p:nvSpPr>
            <p:spPr>
              <a:xfrm>
                <a:off x="7804910" y="1825624"/>
                <a:ext cx="4387090" cy="5032375"/>
              </a:xfrm>
              <a:blipFill>
                <a:blip r:embed="rId3"/>
                <a:stretch>
                  <a:fillRect l="-2500" t="-1937" r="-4306"/>
                </a:stretch>
              </a:blipFill>
            </p:spPr>
            <p:txBody>
              <a:bodyPr/>
              <a:lstStyle/>
              <a:p>
                <a:r>
                  <a:rPr lang="en-US">
                    <a:noFill/>
                  </a:rPr>
                  <a:t> </a:t>
                </a:r>
              </a:p>
            </p:txBody>
          </p:sp>
        </mc:Fallback>
      </mc:AlternateContent>
      <p:pic>
        <p:nvPicPr>
          <p:cNvPr id="5" name="Imagem 4">
            <a:extLst>
              <a:ext uri="{FF2B5EF4-FFF2-40B4-BE49-F238E27FC236}">
                <a16:creationId xmlns="" xmlns:a16="http://schemas.microsoft.com/office/drawing/2014/main" id="{11D00B5F-AE10-DDBA-90FA-2664155E2E1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7434" y="1965166"/>
            <a:ext cx="7578510" cy="4527709"/>
          </a:xfrm>
          <a:prstGeom prst="rect">
            <a:avLst/>
          </a:prstGeom>
        </p:spPr>
      </p:pic>
    </p:spTree>
    <p:extLst>
      <p:ext uri="{BB962C8B-B14F-4D97-AF65-F5344CB8AC3E}">
        <p14:creationId xmlns:p14="http://schemas.microsoft.com/office/powerpoint/2010/main" val="57192338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2FA4CF61-CE52-9ED4-4E52-19F8131215C1}"/>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70517226-7116-AD96-CC12-97CF1266328C}"/>
              </a:ext>
            </a:extLst>
          </p:cNvPr>
          <p:cNvSpPr>
            <a:spLocks noGrp="1"/>
          </p:cNvSpPr>
          <p:nvPr>
            <p:ph type="title"/>
          </p:nvPr>
        </p:nvSpPr>
        <p:spPr/>
        <p:txBody>
          <a:bodyPr/>
          <a:lstStyle/>
          <a:p>
            <a:r>
              <a:rPr lang="pt-BR" dirty="0"/>
              <a:t>Desenrolando uma RNN</a:t>
            </a:r>
            <a:endParaRPr lang="en-US" dirty="0"/>
          </a:p>
        </p:txBody>
      </p:sp>
      <p:sp>
        <p:nvSpPr>
          <p:cNvPr id="3" name="Content Placeholder 2">
            <a:extLst>
              <a:ext uri="{FF2B5EF4-FFF2-40B4-BE49-F238E27FC236}">
                <a16:creationId xmlns="" xmlns:a16="http://schemas.microsoft.com/office/drawing/2014/main" id="{34BD94AA-1AF4-CE3E-B58D-37EA5EC1883A}"/>
              </a:ext>
            </a:extLst>
          </p:cNvPr>
          <p:cNvSpPr>
            <a:spLocks noGrp="1"/>
          </p:cNvSpPr>
          <p:nvPr>
            <p:ph idx="1"/>
          </p:nvPr>
        </p:nvSpPr>
        <p:spPr>
          <a:xfrm>
            <a:off x="6096000" y="1825624"/>
            <a:ext cx="6096000" cy="5032375"/>
          </a:xfrm>
        </p:spPr>
        <p:txBody>
          <a:bodyPr>
            <a:normAutofit/>
          </a:bodyPr>
          <a:lstStyle/>
          <a:p>
            <a:r>
              <a:rPr lang="pt-BR" dirty="0"/>
              <a:t>O processo de desenrolar uma RNN nos ajuda a treinar a rede usando a </a:t>
            </a:r>
            <a:r>
              <a:rPr lang="pt-BR" b="1" dirty="0">
                <a:solidFill>
                  <a:srgbClr val="7030A0"/>
                </a:solidFill>
              </a:rPr>
              <a:t>retropropagação do erro</a:t>
            </a:r>
            <a:r>
              <a:rPr lang="pt-BR" dirty="0"/>
              <a:t>.</a:t>
            </a:r>
          </a:p>
          <a:p>
            <a:r>
              <a:rPr lang="pt-BR" dirty="0"/>
              <a:t>O objetivo é:</a:t>
            </a:r>
          </a:p>
          <a:p>
            <a:pPr lvl="1">
              <a:buFont typeface="Wingdings" panose="05000000000000000000" pitchFamily="2" charset="2"/>
              <a:buChar char="§"/>
            </a:pPr>
            <a:r>
              <a:rPr lang="pt-BR" dirty="0"/>
              <a:t>descobrir como cada peso influenciou o erro, </a:t>
            </a:r>
          </a:p>
          <a:p>
            <a:pPr lvl="1">
              <a:buFont typeface="Wingdings" panose="05000000000000000000" pitchFamily="2" charset="2"/>
              <a:buChar char="§"/>
            </a:pPr>
            <a:r>
              <a:rPr lang="pt-BR" dirty="0"/>
              <a:t>ajustar os pesos para minimizar o erro. </a:t>
            </a:r>
          </a:p>
          <a:p>
            <a:r>
              <a:rPr lang="pt-BR" dirty="0"/>
              <a:t>Nas </a:t>
            </a:r>
            <a:r>
              <a:rPr lang="pt-BR" dirty="0" err="1"/>
              <a:t>RNNs</a:t>
            </a:r>
            <a:r>
              <a:rPr lang="pt-BR" dirty="0"/>
              <a:t>, isso é mais complexo pois:</a:t>
            </a:r>
          </a:p>
          <a:p>
            <a:pPr lvl="1">
              <a:buFont typeface="Wingdings" panose="05000000000000000000" pitchFamily="2" charset="2"/>
              <a:buChar char="§"/>
            </a:pPr>
            <a:r>
              <a:rPr lang="pt-BR" dirty="0"/>
              <a:t>o estado atual depende dos estados anteriores, </a:t>
            </a:r>
          </a:p>
          <a:p>
            <a:pPr lvl="1">
              <a:buFont typeface="Wingdings" panose="05000000000000000000" pitchFamily="2" charset="2"/>
              <a:buChar char="§"/>
            </a:pPr>
            <a:r>
              <a:rPr lang="pt-BR" dirty="0"/>
              <a:t>então o erro precisa voltar no tempo.</a:t>
            </a:r>
          </a:p>
        </p:txBody>
      </p:sp>
      <p:pic>
        <p:nvPicPr>
          <p:cNvPr id="4" name="Imagem 3">
            <a:extLst>
              <a:ext uri="{FF2B5EF4-FFF2-40B4-BE49-F238E27FC236}">
                <a16:creationId xmlns="" xmlns:a16="http://schemas.microsoft.com/office/drawing/2014/main" id="{EFA75654-DF42-EDB9-B152-A60A131AFD6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53849" y="1825624"/>
            <a:ext cx="4896244" cy="4527709"/>
          </a:xfrm>
          <a:prstGeom prst="rect">
            <a:avLst/>
          </a:prstGeom>
        </p:spPr>
      </p:pic>
    </p:spTree>
    <p:extLst>
      <p:ext uri="{BB962C8B-B14F-4D97-AF65-F5344CB8AC3E}">
        <p14:creationId xmlns:p14="http://schemas.microsoft.com/office/powerpoint/2010/main" val="317072715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CE55AF5A-930E-4EB7-9C3A-7CA94CC8D6BB}"/>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93167BFA-0FC4-2278-90FE-EEBB76F8CB10}"/>
              </a:ext>
            </a:extLst>
          </p:cNvPr>
          <p:cNvSpPr>
            <a:spLocks noGrp="1"/>
          </p:cNvSpPr>
          <p:nvPr>
            <p:ph type="title"/>
          </p:nvPr>
        </p:nvSpPr>
        <p:spPr/>
        <p:txBody>
          <a:bodyPr/>
          <a:lstStyle/>
          <a:p>
            <a:r>
              <a:rPr lang="pt-BR" dirty="0"/>
              <a:t>Treinando uma RNN</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C856341B-8DD5-B4D0-04B5-B1D29CAF8A7C}"/>
                  </a:ext>
                </a:extLst>
              </p:cNvPr>
              <p:cNvSpPr>
                <a:spLocks noGrp="1"/>
              </p:cNvSpPr>
              <p:nvPr>
                <p:ph idx="1"/>
              </p:nvPr>
            </p:nvSpPr>
            <p:spPr>
              <a:xfrm>
                <a:off x="5816338" y="1825624"/>
                <a:ext cx="6375662" cy="5032376"/>
              </a:xfrm>
            </p:spPr>
            <p:txBody>
              <a:bodyPr>
                <a:normAutofit/>
              </a:bodyPr>
              <a:lstStyle/>
              <a:p>
                <a:r>
                  <a:rPr lang="pt-BR" dirty="0"/>
                  <a:t>Para treinar a rede, ela é primeiro </a:t>
                </a:r>
                <a:r>
                  <a:rPr lang="pt-BR" b="1" dirty="0">
                    <a:solidFill>
                      <a:schemeClr val="accent2"/>
                    </a:solidFill>
                  </a:rPr>
                  <a:t>desenrolada</a:t>
                </a:r>
                <a:r>
                  <a:rPr lang="pt-BR" dirty="0"/>
                  <a:t> e </a:t>
                </a:r>
                <a:r>
                  <a:rPr lang="pt-BR" b="1" dirty="0">
                    <a:solidFill>
                      <a:srgbClr val="7030A0"/>
                    </a:solidFill>
                  </a:rPr>
                  <a:t>depois aplica-se a retropropagação</a:t>
                </a:r>
                <a:r>
                  <a:rPr lang="pt-BR" dirty="0"/>
                  <a:t> do erro </a:t>
                </a:r>
                <a:r>
                  <a:rPr lang="pt-BR" b="1" dirty="0">
                    <a:solidFill>
                      <a:srgbClr val="7030A0"/>
                    </a:solidFill>
                  </a:rPr>
                  <a:t>tradicional</a:t>
                </a:r>
                <a:r>
                  <a:rPr lang="pt-BR" dirty="0"/>
                  <a:t>.</a:t>
                </a:r>
              </a:p>
              <a:p>
                <a:r>
                  <a:rPr lang="pt-BR" dirty="0"/>
                  <a:t>Inicialmente, a sequência, </a:t>
                </a:r>
                <a14:m>
                  <m:oMath xmlns:m="http://schemas.openxmlformats.org/officeDocument/2006/math">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2</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𝑇</m:t>
                            </m:r>
                          </m:sub>
                        </m:sSub>
                      </m:e>
                    </m:d>
                  </m:oMath>
                </a14:m>
                <a:r>
                  <a:rPr lang="pt-BR" dirty="0"/>
                  <a:t>, é processada em uma </a:t>
                </a:r>
                <a:r>
                  <a:rPr lang="pt-BR" b="1" dirty="0">
                    <a:solidFill>
                      <a:srgbClr val="00B050"/>
                    </a:solidFill>
                  </a:rPr>
                  <a:t>etapa direta</a:t>
                </a:r>
                <a:r>
                  <a:rPr lang="pt-BR" dirty="0"/>
                  <a:t>, gerando saídas ao longo dos vários instantes de tempo, </a:t>
                </a:r>
                <a14:m>
                  <m:oMath xmlns:m="http://schemas.openxmlformats.org/officeDocument/2006/math">
                    <m:d>
                      <m:dPr>
                        <m:ctrlPr>
                          <a:rPr lang="pt-BR" i="1">
                            <a:latin typeface="Cambria Math" panose="02040503050406030204" pitchFamily="18" charset="0"/>
                          </a:rPr>
                        </m:ctrlPr>
                      </m:dPr>
                      <m:e>
                        <m:sSub>
                          <m:sSubPr>
                            <m:ctrlPr>
                              <a:rPr lang="pt-BR" i="1">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2</m:t>
                            </m:r>
                          </m:sub>
                        </m:sSub>
                        <m:r>
                          <a:rPr lang="pt-BR" i="1">
                            <a:latin typeface="Cambria Math" panose="02040503050406030204" pitchFamily="18" charset="0"/>
                          </a:rPr>
                          <m:t>,…,</m:t>
                        </m:r>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𝑇</m:t>
                            </m:r>
                          </m:sub>
                        </m:sSub>
                      </m:e>
                    </m:d>
                  </m:oMath>
                </a14:m>
                <a:r>
                  <a:rPr lang="pt-BR" dirty="0"/>
                  <a:t>. </a:t>
                </a:r>
              </a:p>
              <a:p>
                <a:r>
                  <a:rPr lang="pt-BR" dirty="0"/>
                  <a:t>Em seguida, uma </a:t>
                </a:r>
                <a:r>
                  <a:rPr lang="pt-BR" b="1" dirty="0">
                    <a:solidFill>
                      <a:srgbClr val="00B050"/>
                    </a:solidFill>
                  </a:rPr>
                  <a:t>função de erro</a:t>
                </a:r>
                <a:r>
                  <a:rPr lang="pt-BR" dirty="0"/>
                  <a:t>, </a:t>
                </a:r>
                <a14:m>
                  <m:oMath xmlns:m="http://schemas.openxmlformats.org/officeDocument/2006/math">
                    <m:r>
                      <a:rPr lang="pt-BR" b="0" i="1" smtClean="0">
                        <a:latin typeface="Cambria Math" panose="02040503050406030204" pitchFamily="18" charset="0"/>
                      </a:rPr>
                      <m:t>𝐸</m:t>
                    </m:r>
                  </m:oMath>
                </a14:m>
                <a:r>
                  <a:rPr lang="pt-BR" dirty="0"/>
                  <a:t>,(e.g., EQM, EC) é </a:t>
                </a:r>
                <a:r>
                  <a:rPr lang="pt-BR" b="1" dirty="0">
                    <a:solidFill>
                      <a:srgbClr val="00B050"/>
                    </a:solidFill>
                  </a:rPr>
                  <a:t>calculada</a:t>
                </a:r>
                <a:r>
                  <a:rPr lang="pt-BR" dirty="0"/>
                  <a:t> utilizando as saídas e os rótulos, </a:t>
                </a:r>
                <a14:m>
                  <m:oMath xmlns:m="http://schemas.openxmlformats.org/officeDocument/2006/math">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b="0" i="1" smtClean="0">
                                <a:latin typeface="Cambria Math" panose="02040503050406030204" pitchFamily="18" charset="0"/>
                              </a:rPr>
                              <m:t>𝑦</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𝑦</m:t>
                            </m:r>
                          </m:e>
                          <m:sub>
                            <m:r>
                              <a:rPr lang="pt-BR" i="1">
                                <a:latin typeface="Cambria Math" panose="02040503050406030204" pitchFamily="18" charset="0"/>
                              </a:rPr>
                              <m:t>2</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𝑦</m:t>
                            </m:r>
                          </m:e>
                          <m:sub>
                            <m:r>
                              <a:rPr lang="pt-BR" i="1">
                                <a:latin typeface="Cambria Math" panose="02040503050406030204" pitchFamily="18" charset="0"/>
                              </a:rPr>
                              <m:t>𝑇</m:t>
                            </m:r>
                          </m:sub>
                        </m:sSub>
                      </m:e>
                    </m:d>
                  </m:oMath>
                </a14:m>
                <a:r>
                  <a:rPr lang="pt-BR" dirty="0"/>
                  <a:t>.</a:t>
                </a:r>
              </a:p>
            </p:txBody>
          </p:sp>
        </mc:Choice>
        <mc:Fallback xmlns="">
          <p:sp>
            <p:nvSpPr>
              <p:cNvPr id="3" name="Content Placeholder 2">
                <a:extLst>
                  <a:ext uri="{FF2B5EF4-FFF2-40B4-BE49-F238E27FC236}">
                    <a16:creationId xmlns:a16="http://schemas.microsoft.com/office/drawing/2014/main" id="{C856341B-8DD5-B4D0-04B5-B1D29CAF8A7C}"/>
                  </a:ext>
                </a:extLst>
              </p:cNvPr>
              <p:cNvSpPr>
                <a:spLocks noGrp="1" noRot="1" noChangeAspect="1" noMove="1" noResize="1" noEditPoints="1" noAdjustHandles="1" noChangeArrowheads="1" noChangeShapeType="1" noTextEdit="1"/>
              </p:cNvSpPr>
              <p:nvPr>
                <p:ph idx="1"/>
              </p:nvPr>
            </p:nvSpPr>
            <p:spPr>
              <a:xfrm>
                <a:off x="5816338" y="1825624"/>
                <a:ext cx="6375662" cy="5032376"/>
              </a:xfrm>
              <a:blipFill>
                <a:blip r:embed="rId2"/>
                <a:stretch>
                  <a:fillRect l="-1721" t="-1937" r="-2677"/>
                </a:stretch>
              </a:blipFill>
            </p:spPr>
            <p:txBody>
              <a:bodyPr/>
              <a:lstStyle/>
              <a:p>
                <a:r>
                  <a:rPr lang="en-US">
                    <a:noFill/>
                  </a:rPr>
                  <a:t> </a:t>
                </a:r>
              </a:p>
            </p:txBody>
          </p:sp>
        </mc:Fallback>
      </mc:AlternateContent>
      <p:pic>
        <p:nvPicPr>
          <p:cNvPr id="4" name="Imagem 3">
            <a:extLst>
              <a:ext uri="{FF2B5EF4-FFF2-40B4-BE49-F238E27FC236}">
                <a16:creationId xmlns="" xmlns:a16="http://schemas.microsoft.com/office/drawing/2014/main" id="{723AD603-5E49-AE24-2071-74753017B5F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53849" y="1825624"/>
            <a:ext cx="4896244" cy="4527709"/>
          </a:xfrm>
          <a:prstGeom prst="rect">
            <a:avLst/>
          </a:prstGeom>
        </p:spPr>
      </p:pic>
    </p:spTree>
    <p:extLst>
      <p:ext uri="{BB962C8B-B14F-4D97-AF65-F5344CB8AC3E}">
        <p14:creationId xmlns:p14="http://schemas.microsoft.com/office/powerpoint/2010/main" val="195461123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20D94518-B943-3652-40D5-8C674576F8BD}"/>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3CA5185B-0A25-F012-4043-94A4C6884516}"/>
              </a:ext>
            </a:extLst>
          </p:cNvPr>
          <p:cNvSpPr>
            <a:spLocks noGrp="1"/>
          </p:cNvSpPr>
          <p:nvPr>
            <p:ph type="title"/>
          </p:nvPr>
        </p:nvSpPr>
        <p:spPr/>
        <p:txBody>
          <a:bodyPr/>
          <a:lstStyle/>
          <a:p>
            <a:r>
              <a:rPr lang="pt-BR" dirty="0"/>
              <a:t>Treinando uma RNN</a:t>
            </a:r>
            <a:endParaRPr lang="en-US" dirty="0"/>
          </a:p>
        </p:txBody>
      </p:sp>
      <p:sp>
        <p:nvSpPr>
          <p:cNvPr id="3" name="Content Placeholder 2">
            <a:extLst>
              <a:ext uri="{FF2B5EF4-FFF2-40B4-BE49-F238E27FC236}">
                <a16:creationId xmlns="" xmlns:a16="http://schemas.microsoft.com/office/drawing/2014/main" id="{C11E477E-D988-C2C5-1555-C6A90F36E36F}"/>
              </a:ext>
            </a:extLst>
          </p:cNvPr>
          <p:cNvSpPr>
            <a:spLocks noGrp="1"/>
          </p:cNvSpPr>
          <p:nvPr>
            <p:ph idx="1"/>
          </p:nvPr>
        </p:nvSpPr>
        <p:spPr>
          <a:xfrm>
            <a:off x="5901180" y="1825624"/>
            <a:ext cx="6290820" cy="5032376"/>
          </a:xfrm>
        </p:spPr>
        <p:txBody>
          <a:bodyPr>
            <a:normAutofit/>
          </a:bodyPr>
          <a:lstStyle/>
          <a:p>
            <a:r>
              <a:rPr lang="pt-BR" noProof="0" dirty="0"/>
              <a:t>Após o cálculo do erro, os </a:t>
            </a:r>
            <a:r>
              <a:rPr lang="pt-BR" b="1" noProof="0" dirty="0">
                <a:solidFill>
                  <a:srgbClr val="00B050"/>
                </a:solidFill>
              </a:rPr>
              <a:t>gradientes são propagados retroativamente </a:t>
            </a:r>
            <a:r>
              <a:rPr lang="pt-BR" noProof="0" dirty="0"/>
              <a:t>ao longo da rede desenrolada no tempo.</a:t>
            </a:r>
          </a:p>
          <a:p>
            <a:r>
              <a:rPr lang="pt-BR" noProof="0" dirty="0"/>
              <a:t>Como os </a:t>
            </a:r>
            <a:r>
              <a:rPr lang="pt-BR" b="1" noProof="0" dirty="0">
                <a:solidFill>
                  <a:schemeClr val="accent2"/>
                </a:solidFill>
              </a:rPr>
              <a:t>mesmos pesos são reutilizados</a:t>
            </a:r>
            <a:r>
              <a:rPr lang="pt-BR" noProof="0" dirty="0"/>
              <a:t> em todos os instantes da sequência, </a:t>
            </a:r>
            <a:r>
              <a:rPr lang="pt-BR" b="1" noProof="0" dirty="0">
                <a:solidFill>
                  <a:schemeClr val="accent2"/>
                </a:solidFill>
              </a:rPr>
              <a:t>cada instante</a:t>
            </a:r>
            <a:r>
              <a:rPr lang="pt-BR" noProof="0" dirty="0"/>
              <a:t> temporal </a:t>
            </a:r>
            <a:r>
              <a:rPr lang="pt-BR" b="1" noProof="0" dirty="0">
                <a:solidFill>
                  <a:schemeClr val="accent2"/>
                </a:solidFill>
              </a:rPr>
              <a:t>produz uma contribuição para o gradiente final</a:t>
            </a:r>
            <a:r>
              <a:rPr lang="pt-BR" noProof="0" dirty="0"/>
              <a:t> desses pesos.</a:t>
            </a:r>
          </a:p>
          <a:p>
            <a:r>
              <a:rPr lang="pt-BR" noProof="0" dirty="0"/>
              <a:t>Durante o treinamento, </a:t>
            </a:r>
            <a:r>
              <a:rPr lang="pt-BR" b="1" noProof="0" dirty="0">
                <a:solidFill>
                  <a:srgbClr val="7030A0"/>
                </a:solidFill>
              </a:rPr>
              <a:t>essas contribuições são somadas</a:t>
            </a:r>
            <a:r>
              <a:rPr lang="pt-BR" noProof="0" dirty="0"/>
              <a:t> para gerar o </a:t>
            </a:r>
            <a:r>
              <a:rPr lang="pt-BR" b="1" noProof="0" dirty="0">
                <a:solidFill>
                  <a:srgbClr val="7030A0"/>
                </a:solidFill>
              </a:rPr>
              <a:t>gradiente final</a:t>
            </a:r>
            <a:r>
              <a:rPr lang="pt-BR" noProof="0" dirty="0"/>
              <a:t> e atualizar os pesos da rede.</a:t>
            </a:r>
          </a:p>
        </p:txBody>
      </p:sp>
      <p:pic>
        <p:nvPicPr>
          <p:cNvPr id="4" name="Imagem 3">
            <a:extLst>
              <a:ext uri="{FF2B5EF4-FFF2-40B4-BE49-F238E27FC236}">
                <a16:creationId xmlns="" xmlns:a16="http://schemas.microsoft.com/office/drawing/2014/main" id="{FFEFC366-25A0-8801-988D-FFCD224F3E1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53849" y="1825624"/>
            <a:ext cx="4896244" cy="4527709"/>
          </a:xfrm>
          <a:prstGeom prst="rect">
            <a:avLst/>
          </a:prstGeom>
        </p:spPr>
      </p:pic>
    </p:spTree>
    <p:extLst>
      <p:ext uri="{BB962C8B-B14F-4D97-AF65-F5344CB8AC3E}">
        <p14:creationId xmlns:p14="http://schemas.microsoft.com/office/powerpoint/2010/main" val="225024790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BAD87738-FC7E-21B4-8EC1-0DABBFF6B607}"/>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95A50FF2-35C9-AA04-ED08-BE0660251817}"/>
              </a:ext>
            </a:extLst>
          </p:cNvPr>
          <p:cNvSpPr>
            <a:spLocks noGrp="1"/>
          </p:cNvSpPr>
          <p:nvPr>
            <p:ph type="title"/>
          </p:nvPr>
        </p:nvSpPr>
        <p:spPr/>
        <p:txBody>
          <a:bodyPr/>
          <a:lstStyle/>
          <a:p>
            <a:r>
              <a:rPr lang="pt-BR" dirty="0"/>
              <a:t>Treinando uma RNN</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818A30A8-8D7E-A868-522E-8860A7F87F5D}"/>
                  </a:ext>
                </a:extLst>
              </p:cNvPr>
              <p:cNvSpPr>
                <a:spLocks noGrp="1"/>
              </p:cNvSpPr>
              <p:nvPr>
                <p:ph idx="1"/>
              </p:nvPr>
            </p:nvSpPr>
            <p:spPr>
              <a:xfrm>
                <a:off x="5901180" y="1825624"/>
                <a:ext cx="6290820" cy="5032376"/>
              </a:xfrm>
            </p:spPr>
            <p:txBody>
              <a:bodyPr>
                <a:normAutofit/>
              </a:bodyPr>
              <a:lstStyle/>
              <a:p>
                <a:r>
                  <a:rPr lang="pt-BR" dirty="0"/>
                  <a:t>Por fim, os pesos da rede são atualizados utilizando algum método de otimização baseados no vetor gradiente.</a:t>
                </a:r>
              </a:p>
              <a:p>
                <a:r>
                  <a:rPr lang="pt-BR" dirty="0"/>
                  <a:t>Por exemplo, usando o gradiente descendente em batelada:</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𝑾</m:t>
                      </m:r>
                      <m:r>
                        <a:rPr lang="pt-BR" b="0" i="1" smtClean="0">
                          <a:latin typeface="Cambria Math" panose="02040503050406030204" pitchFamily="18" charset="0"/>
                        </a:rPr>
                        <m:t>=</m:t>
                      </m:r>
                      <m:r>
                        <a:rPr lang="pt-BR" b="1" i="1" smtClean="0">
                          <a:latin typeface="Cambria Math" panose="02040503050406030204" pitchFamily="18" charset="0"/>
                        </a:rPr>
                        <m:t>𝑾</m:t>
                      </m:r>
                      <m:r>
                        <a:rPr lang="pt-BR" b="0" i="1" smtClean="0">
                          <a:latin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𝛼</m:t>
                      </m:r>
                      <m:f>
                        <m:fPr>
                          <m:ctrlPr>
                            <a:rPr lang="pt-BR" b="0" i="1" smtClean="0">
                              <a:latin typeface="Cambria Math" panose="02040503050406030204" pitchFamily="18" charset="0"/>
                              <a:ea typeface="Cambria Math" panose="02040503050406030204" pitchFamily="18" charset="0"/>
                            </a:rPr>
                          </m:ctrlPr>
                        </m:fPr>
                        <m:num>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𝐸</m:t>
                          </m:r>
                        </m:num>
                        <m:den>
                          <m:r>
                            <a:rPr lang="pt-BR" b="0" i="1" smtClean="0">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𝑾</m:t>
                          </m:r>
                        </m:den>
                      </m:f>
                      <m:r>
                        <a:rPr lang="pt-BR" b="0" i="0" smtClean="0">
                          <a:latin typeface="Cambria Math" panose="02040503050406030204" pitchFamily="18" charset="0"/>
                          <a:ea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b="1" i="1">
                        <a:latin typeface="Cambria Math" panose="02040503050406030204" pitchFamily="18" charset="0"/>
                      </a:rPr>
                      <m:t>𝑾</m:t>
                    </m:r>
                  </m:oMath>
                </a14:m>
                <a:r>
                  <a:rPr lang="pt-BR" dirty="0"/>
                  <a:t> é uma das matrizes de peso da célula, </a:t>
                </a:r>
                <a14:m>
                  <m:oMath xmlns:m="http://schemas.openxmlformats.org/officeDocument/2006/math">
                    <m:r>
                      <a:rPr lang="pt-BR" i="1">
                        <a:latin typeface="Cambria Math" panose="02040503050406030204" pitchFamily="18" charset="0"/>
                        <a:ea typeface="Cambria Math" panose="02040503050406030204" pitchFamily="18" charset="0"/>
                      </a:rPr>
                      <m:t>𝛼</m:t>
                    </m:r>
                  </m:oMath>
                </a14:m>
                <a:r>
                  <a:rPr lang="pt-BR" dirty="0"/>
                  <a:t> é o passo de aprendizagem e </a:t>
                </a:r>
                <a14:m>
                  <m:oMath xmlns:m="http://schemas.openxmlformats.org/officeDocument/2006/math">
                    <m:r>
                      <a:rPr lang="pt-BR" i="1">
                        <a:latin typeface="Cambria Math" panose="02040503050406030204" pitchFamily="18" charset="0"/>
                        <a:ea typeface="Cambria Math" panose="02040503050406030204" pitchFamily="18" charset="0"/>
                      </a:rPr>
                      <m:t>𝐸</m:t>
                    </m:r>
                  </m:oMath>
                </a14:m>
                <a:r>
                  <a:rPr lang="pt-BR" dirty="0"/>
                  <a:t> é a função de erro.</a:t>
                </a:r>
              </a:p>
            </p:txBody>
          </p:sp>
        </mc:Choice>
        <mc:Fallback xmlns="">
          <p:sp>
            <p:nvSpPr>
              <p:cNvPr id="3" name="Content Placeholder 2">
                <a:extLst>
                  <a:ext uri="{FF2B5EF4-FFF2-40B4-BE49-F238E27FC236}">
                    <a16:creationId xmlns:a16="http://schemas.microsoft.com/office/drawing/2014/main" id="{818A30A8-8D7E-A868-522E-8860A7F87F5D}"/>
                  </a:ext>
                </a:extLst>
              </p:cNvPr>
              <p:cNvSpPr>
                <a:spLocks noGrp="1" noRot="1" noChangeAspect="1" noMove="1" noResize="1" noEditPoints="1" noAdjustHandles="1" noChangeArrowheads="1" noChangeShapeType="1" noTextEdit="1"/>
              </p:cNvSpPr>
              <p:nvPr>
                <p:ph idx="1"/>
              </p:nvPr>
            </p:nvSpPr>
            <p:spPr>
              <a:xfrm>
                <a:off x="5901180" y="1825624"/>
                <a:ext cx="6290820" cy="5032376"/>
              </a:xfrm>
              <a:blipFill>
                <a:blip r:embed="rId2"/>
                <a:stretch>
                  <a:fillRect l="-1938" t="-1937" r="-2616"/>
                </a:stretch>
              </a:blipFill>
            </p:spPr>
            <p:txBody>
              <a:bodyPr/>
              <a:lstStyle/>
              <a:p>
                <a:r>
                  <a:rPr lang="en-US">
                    <a:noFill/>
                  </a:rPr>
                  <a:t> </a:t>
                </a:r>
              </a:p>
            </p:txBody>
          </p:sp>
        </mc:Fallback>
      </mc:AlternateContent>
      <p:pic>
        <p:nvPicPr>
          <p:cNvPr id="4" name="Imagem 3">
            <a:extLst>
              <a:ext uri="{FF2B5EF4-FFF2-40B4-BE49-F238E27FC236}">
                <a16:creationId xmlns="" xmlns:a16="http://schemas.microsoft.com/office/drawing/2014/main" id="{72E6F4CD-19AC-4CEA-A975-57686007571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53849" y="1825624"/>
            <a:ext cx="4896244" cy="4527709"/>
          </a:xfrm>
          <a:prstGeom prst="rect">
            <a:avLst/>
          </a:prstGeom>
        </p:spPr>
      </p:pic>
    </p:spTree>
    <p:extLst>
      <p:ext uri="{BB962C8B-B14F-4D97-AF65-F5344CB8AC3E}">
        <p14:creationId xmlns:p14="http://schemas.microsoft.com/office/powerpoint/2010/main" val="5475050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93C3594B-041E-A819-7F40-ADDA10695056}"/>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17353FE7-29C4-832D-D880-18B70E1AC7B8}"/>
              </a:ext>
            </a:extLst>
          </p:cNvPr>
          <p:cNvSpPr>
            <a:spLocks noGrp="1"/>
          </p:cNvSpPr>
          <p:nvPr>
            <p:ph type="title"/>
          </p:nvPr>
        </p:nvSpPr>
        <p:spPr/>
        <p:txBody>
          <a:bodyPr/>
          <a:lstStyle/>
          <a:p>
            <a:r>
              <a:rPr lang="pt-BR" dirty="0"/>
              <a:t>Treinando uma RNN</a:t>
            </a:r>
            <a:endParaRPr lang="en-US" dirty="0"/>
          </a:p>
        </p:txBody>
      </p:sp>
      <p:sp>
        <p:nvSpPr>
          <p:cNvPr id="3" name="Content Placeholder 2">
            <a:extLst>
              <a:ext uri="{FF2B5EF4-FFF2-40B4-BE49-F238E27FC236}">
                <a16:creationId xmlns="" xmlns:a16="http://schemas.microsoft.com/office/drawing/2014/main" id="{D0C5AC7A-B3D7-B83C-747E-584985A7A31E}"/>
              </a:ext>
            </a:extLst>
          </p:cNvPr>
          <p:cNvSpPr>
            <a:spLocks noGrp="1"/>
          </p:cNvSpPr>
          <p:nvPr>
            <p:ph idx="1"/>
          </p:nvPr>
        </p:nvSpPr>
        <p:spPr>
          <a:xfrm>
            <a:off x="5967168" y="1825624"/>
            <a:ext cx="6224832" cy="5032376"/>
          </a:xfrm>
        </p:spPr>
        <p:txBody>
          <a:bodyPr>
            <a:normAutofit/>
          </a:bodyPr>
          <a:lstStyle/>
          <a:p>
            <a:r>
              <a:rPr lang="pt-BR" dirty="0"/>
              <a:t>O </a:t>
            </a:r>
            <a:r>
              <a:rPr lang="pt-BR" b="1" dirty="0">
                <a:solidFill>
                  <a:srgbClr val="00B050"/>
                </a:solidFill>
              </a:rPr>
              <a:t>desenrolar da rede</a:t>
            </a:r>
            <a:r>
              <a:rPr lang="pt-BR" dirty="0"/>
              <a:t> para aplicação da retropropagação do erro é chamado de </a:t>
            </a:r>
            <a:r>
              <a:rPr lang="pt-BR" i="1" dirty="0" err="1"/>
              <a:t>Backpropagation</a:t>
            </a:r>
            <a:r>
              <a:rPr lang="pt-BR" i="1" dirty="0"/>
              <a:t> </a:t>
            </a:r>
            <a:r>
              <a:rPr lang="pt-BR" i="1" dirty="0" err="1"/>
              <a:t>Through</a:t>
            </a:r>
            <a:r>
              <a:rPr lang="pt-BR" i="1" dirty="0"/>
              <a:t> Time</a:t>
            </a:r>
            <a:r>
              <a:rPr lang="pt-BR" dirty="0"/>
              <a:t> (BPTT).</a:t>
            </a:r>
          </a:p>
          <a:p>
            <a:r>
              <a:rPr lang="pt-BR" dirty="0"/>
              <a:t>Ele é uma </a:t>
            </a:r>
            <a:r>
              <a:rPr lang="pt-BR" b="1" dirty="0">
                <a:solidFill>
                  <a:schemeClr val="accent2"/>
                </a:solidFill>
              </a:rPr>
              <a:t>extensão</a:t>
            </a:r>
            <a:r>
              <a:rPr lang="pt-BR" dirty="0"/>
              <a:t> do </a:t>
            </a:r>
            <a:r>
              <a:rPr lang="pt-BR" i="1" dirty="0" err="1"/>
              <a:t>backpropagation</a:t>
            </a:r>
            <a:r>
              <a:rPr lang="pt-BR" dirty="0"/>
              <a:t> tradicional, mas </a:t>
            </a:r>
            <a:r>
              <a:rPr lang="pt-BR" b="1" dirty="0">
                <a:solidFill>
                  <a:schemeClr val="accent2"/>
                </a:solidFill>
              </a:rPr>
              <a:t>aplicado ao longo do tempo</a:t>
            </a:r>
            <a:r>
              <a:rPr lang="pt-BR" dirty="0"/>
              <a:t>.</a:t>
            </a:r>
          </a:p>
          <a:p>
            <a:r>
              <a:rPr lang="pt-BR" dirty="0"/>
              <a:t>A ideia central é:</a:t>
            </a:r>
          </a:p>
          <a:p>
            <a:pPr marL="0" indent="0" algn="ctr">
              <a:buNone/>
            </a:pPr>
            <a:r>
              <a:rPr lang="pt-BR" dirty="0"/>
              <a:t>o </a:t>
            </a:r>
            <a:r>
              <a:rPr lang="pt-BR" b="1" dirty="0">
                <a:solidFill>
                  <a:schemeClr val="accent1"/>
                </a:solidFill>
              </a:rPr>
              <a:t>erro atual</a:t>
            </a:r>
            <a:r>
              <a:rPr lang="pt-BR" dirty="0"/>
              <a:t> pode ter </a:t>
            </a:r>
            <a:r>
              <a:rPr lang="pt-BR" b="1" dirty="0">
                <a:solidFill>
                  <a:schemeClr val="accent1"/>
                </a:solidFill>
              </a:rPr>
              <a:t>sido causado por </a:t>
            </a:r>
            <a:r>
              <a:rPr lang="pt-BR" b="1" dirty="0">
                <a:solidFill>
                  <a:srgbClr val="7030A0"/>
                </a:solidFill>
              </a:rPr>
              <a:t>estados passados</a:t>
            </a:r>
            <a:r>
              <a:rPr lang="pt-BR" dirty="0"/>
              <a:t> da rede.</a:t>
            </a:r>
          </a:p>
          <a:p>
            <a:r>
              <a:rPr lang="pt-BR" dirty="0"/>
              <a:t>Então o gradiente precisa “</a:t>
            </a:r>
            <a:r>
              <a:rPr lang="pt-BR" b="1" dirty="0">
                <a:solidFill>
                  <a:srgbClr val="00B050"/>
                </a:solidFill>
              </a:rPr>
              <a:t>voltar no tempo</a:t>
            </a:r>
            <a:r>
              <a:rPr lang="pt-BR" dirty="0"/>
              <a:t>”.</a:t>
            </a:r>
          </a:p>
        </p:txBody>
      </p:sp>
      <p:pic>
        <p:nvPicPr>
          <p:cNvPr id="5" name="Imagem 4">
            <a:extLst>
              <a:ext uri="{FF2B5EF4-FFF2-40B4-BE49-F238E27FC236}">
                <a16:creationId xmlns="" xmlns:a16="http://schemas.microsoft.com/office/drawing/2014/main" id="{DD1162C9-8039-1879-F87F-8925166F46B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53849" y="1825624"/>
            <a:ext cx="4896244" cy="4527709"/>
          </a:xfrm>
          <a:prstGeom prst="rect">
            <a:avLst/>
          </a:prstGeom>
        </p:spPr>
      </p:pic>
    </p:spTree>
    <p:extLst>
      <p:ext uri="{BB962C8B-B14F-4D97-AF65-F5344CB8AC3E}">
        <p14:creationId xmlns:p14="http://schemas.microsoft.com/office/powerpoint/2010/main" val="154053823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5725BD8C-59A6-E96C-9CCD-7115BEC931DD}"/>
              </a:ext>
            </a:extLst>
          </p:cNvPr>
          <p:cNvSpPr>
            <a:spLocks noGrp="1"/>
          </p:cNvSpPr>
          <p:nvPr>
            <p:ph type="title"/>
          </p:nvPr>
        </p:nvSpPr>
        <p:spPr/>
        <p:txBody>
          <a:bodyPr/>
          <a:lstStyle/>
          <a:p>
            <a:r>
              <a:rPr lang="pt-BR" i="1" dirty="0" err="1"/>
              <a:t>Backpropagation</a:t>
            </a:r>
            <a:r>
              <a:rPr lang="pt-BR" i="1" dirty="0"/>
              <a:t> </a:t>
            </a:r>
            <a:r>
              <a:rPr lang="pt-BR" i="1" dirty="0" err="1"/>
              <a:t>Through</a:t>
            </a:r>
            <a:r>
              <a:rPr lang="pt-BR" i="1" dirty="0"/>
              <a:t> Time</a:t>
            </a:r>
            <a:r>
              <a:rPr lang="pt-BR" dirty="0"/>
              <a:t> (BPTT)</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D0347F1D-7D82-FBF2-C746-409D3CF4FA05}"/>
                  </a:ext>
                </a:extLst>
              </p:cNvPr>
              <p:cNvSpPr>
                <a:spLocks noGrp="1"/>
              </p:cNvSpPr>
              <p:nvPr>
                <p:ph idx="1"/>
              </p:nvPr>
            </p:nvSpPr>
            <p:spPr>
              <a:xfrm>
                <a:off x="838199" y="1825624"/>
                <a:ext cx="11353801" cy="5032375"/>
              </a:xfrm>
            </p:spPr>
            <p:txBody>
              <a:bodyPr>
                <a:normAutofit/>
              </a:bodyPr>
              <a:lstStyle/>
              <a:p>
                <a:r>
                  <a:rPr lang="pt-BR" dirty="0"/>
                  <a:t>O objetivo do treinamento é minimizar a </a:t>
                </a:r>
                <a:r>
                  <a:rPr lang="pt-BR" b="1" dirty="0">
                    <a:solidFill>
                      <a:schemeClr val="accent2"/>
                    </a:solidFill>
                  </a:rPr>
                  <a:t>erro total</a:t>
                </a:r>
                <a:r>
                  <a:rPr lang="pt-BR" dirty="0"/>
                  <a:t> gerado pela rede </a:t>
                </a:r>
                <a:r>
                  <a:rPr lang="pt-BR" b="1" dirty="0">
                    <a:solidFill>
                      <a:schemeClr val="accent2"/>
                    </a:solidFill>
                  </a:rPr>
                  <a:t>ao longo de todos os passos de tempo</a:t>
                </a:r>
                <a:r>
                  <a:rPr lang="pt-BR" dirty="0"/>
                  <a:t>.</a:t>
                </a:r>
              </a:p>
              <a:p>
                <a:r>
                  <a:rPr lang="pt-BR" dirty="0"/>
                  <a:t>Inicialmente, o </a:t>
                </a:r>
                <a:r>
                  <a:rPr lang="pt-BR" b="1" dirty="0">
                    <a:solidFill>
                      <a:schemeClr val="accent2"/>
                    </a:solidFill>
                  </a:rPr>
                  <a:t>erro instantâneo</a:t>
                </a:r>
                <a:r>
                  <a:rPr lang="pt-BR" dirty="0"/>
                  <a:t> é calculado para cada passo de tempo, </a:t>
                </a:r>
                <a14:m>
                  <m:oMath xmlns:m="http://schemas.openxmlformats.org/officeDocument/2006/math">
                    <m:r>
                      <a:rPr lang="pt-BR" i="1">
                        <a:latin typeface="Cambria Math" panose="02040503050406030204" pitchFamily="18" charset="0"/>
                      </a:rPr>
                      <m:t>𝑡</m:t>
                    </m:r>
                  </m:oMath>
                </a14:m>
                <a:r>
                  <a:rPr lang="pt-BR" dirty="0"/>
                  <a:t>, da sequência temporal</a:t>
                </a:r>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i="1">
                              <a:latin typeface="Cambria Math" panose="02040503050406030204" pitchFamily="18" charset="0"/>
                            </a:rPr>
                            <m:t>𝑡</m:t>
                          </m:r>
                        </m:sub>
                      </m:sSub>
                      <m:r>
                        <a:rPr lang="pt-BR" b="0" i="1" smtClean="0">
                          <a:latin typeface="Cambria Math" panose="02040503050406030204" pitchFamily="18" charset="0"/>
                        </a:rPr>
                        <m:t>=</m:t>
                      </m:r>
                      <m:r>
                        <a:rPr lang="pt-BR" i="1">
                          <a:latin typeface="Cambria Math" panose="02040503050406030204" pitchFamily="18" charset="0"/>
                        </a:rPr>
                        <m:t>𝑒</m:t>
                      </m:r>
                      <m:d>
                        <m:dPr>
                          <m:ctrlPr>
                            <a:rPr lang="pt-BR" i="1">
                              <a:latin typeface="Cambria Math" panose="02040503050406030204" pitchFamily="18" charset="0"/>
                            </a:rPr>
                          </m:ctrlPr>
                        </m:dPr>
                        <m:e>
                          <m:r>
                            <a:rPr lang="pt-BR" i="1">
                              <a:latin typeface="Cambria Math" panose="02040503050406030204" pitchFamily="18" charset="0"/>
                            </a:rPr>
                            <m:t>𝑦</m:t>
                          </m:r>
                          <m:d>
                            <m:dPr>
                              <m:begChr m:val="["/>
                              <m:endChr m:val="]"/>
                              <m:ctrlPr>
                                <a:rPr lang="pt-BR" i="1">
                                  <a:latin typeface="Cambria Math" panose="02040503050406030204" pitchFamily="18" charset="0"/>
                                </a:rPr>
                              </m:ctrlPr>
                            </m:dPr>
                            <m:e>
                              <m:r>
                                <a:rPr lang="pt-BR" b="0" i="1" smtClean="0">
                                  <a:latin typeface="Cambria Math" panose="02040503050406030204" pitchFamily="18" charset="0"/>
                                </a:rPr>
                                <m:t>𝑡</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begChr m:val="["/>
                              <m:endChr m:val="]"/>
                              <m:ctrlPr>
                                <a:rPr lang="pt-BR" i="1">
                                  <a:latin typeface="Cambria Math" panose="02040503050406030204" pitchFamily="18" charset="0"/>
                                </a:rPr>
                              </m:ctrlPr>
                            </m:dPr>
                            <m:e>
                              <m:r>
                                <a:rPr lang="pt-BR" b="0" i="1" smtClean="0">
                                  <a:latin typeface="Cambria Math" panose="02040503050406030204" pitchFamily="18" charset="0"/>
                                </a:rPr>
                                <m:t>𝑡</m:t>
                              </m:r>
                            </m:e>
                          </m:d>
                        </m:e>
                      </m:d>
                      <m:r>
                        <a:rPr lang="pt-BR" b="0" i="1" smtClean="0">
                          <a:latin typeface="Cambria Math" panose="02040503050406030204" pitchFamily="18" charset="0"/>
                        </a:rPr>
                        <m:t>.</m:t>
                      </m:r>
                    </m:oMath>
                  </m:oMathPara>
                </a14:m>
                <a:endParaRPr lang="pt-BR" b="0" dirty="0"/>
              </a:p>
              <a:p>
                <a:r>
                  <a:rPr lang="pt-BR" dirty="0"/>
                  <a:t>O </a:t>
                </a:r>
                <a:r>
                  <a:rPr lang="pt-BR" b="1" dirty="0">
                    <a:solidFill>
                      <a:srgbClr val="7030A0"/>
                    </a:solidFill>
                  </a:rPr>
                  <a:t>erro total</a:t>
                </a:r>
                <a:r>
                  <a:rPr lang="pt-BR" dirty="0"/>
                  <a:t> é a média do </a:t>
                </a:r>
                <a:r>
                  <a:rPr lang="pt-BR" b="1" dirty="0">
                    <a:solidFill>
                      <a:schemeClr val="accent2"/>
                    </a:solidFill>
                  </a:rPr>
                  <a:t>erro instantâneo</a:t>
                </a:r>
                <a:r>
                  <a:rPr lang="pt-BR" dirty="0"/>
                  <a:t> para todos os instantes de tempo considerados, </a:t>
                </a:r>
                <a14:m>
                  <m:oMath xmlns:m="http://schemas.openxmlformats.org/officeDocument/2006/math">
                    <m:r>
                      <a:rPr lang="pt-BR" b="0" i="1" smtClean="0">
                        <a:latin typeface="Cambria Math" panose="02040503050406030204" pitchFamily="18" charset="0"/>
                      </a:rPr>
                      <m:t>𝑇</m:t>
                    </m:r>
                  </m:oMath>
                </a14:m>
                <a:endParaRPr lang="pt-BR" dirty="0"/>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𝐸</m:t>
                      </m:r>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𝑇</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𝑡</m:t>
                          </m:r>
                          <m:r>
                            <a:rPr lang="pt-BR" i="1">
                              <a:latin typeface="Cambria Math" panose="02040503050406030204" pitchFamily="18" charset="0"/>
                            </a:rPr>
                            <m:t>=0</m:t>
                          </m:r>
                        </m:sub>
                        <m:sup>
                          <m:r>
                            <a:rPr lang="pt-BR" b="0" i="1" smtClean="0">
                              <a:latin typeface="Cambria Math" panose="02040503050406030204" pitchFamily="18" charset="0"/>
                            </a:rPr>
                            <m:t>𝑇</m:t>
                          </m:r>
                          <m:r>
                            <a:rPr lang="pt-BR" b="0" i="1" smtClean="0">
                              <a:latin typeface="Cambria Math" panose="02040503050406030204" pitchFamily="18" charset="0"/>
                            </a:rPr>
                            <m:t>−1</m:t>
                          </m:r>
                        </m:sup>
                        <m:e>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i="1">
                                  <a:latin typeface="Cambria Math" panose="02040503050406030204" pitchFamily="18" charset="0"/>
                                </a:rPr>
                                <m:t>𝑡</m:t>
                              </m:r>
                            </m:sub>
                          </m:sSub>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𝑇</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𝑡</m:t>
                          </m:r>
                          <m:r>
                            <a:rPr lang="pt-BR" i="1">
                              <a:latin typeface="Cambria Math" panose="02040503050406030204" pitchFamily="18" charset="0"/>
                            </a:rPr>
                            <m:t>=0</m:t>
                          </m:r>
                        </m:sub>
                        <m:sup>
                          <m:r>
                            <a:rPr lang="pt-BR" b="0" i="1" smtClean="0">
                              <a:latin typeface="Cambria Math" panose="02040503050406030204" pitchFamily="18" charset="0"/>
                            </a:rPr>
                            <m:t>𝑇</m:t>
                          </m:r>
                          <m:r>
                            <a:rPr lang="pt-BR" b="0" i="1" smtClean="0">
                              <a:latin typeface="Cambria Math" panose="02040503050406030204" pitchFamily="18" charset="0"/>
                            </a:rPr>
                            <m:t>−1</m:t>
                          </m:r>
                        </m:sup>
                        <m:e>
                          <m:r>
                            <a:rPr lang="pt-BR" i="1">
                              <a:latin typeface="Cambria Math" panose="02040503050406030204" pitchFamily="18" charset="0"/>
                            </a:rPr>
                            <m:t>𝑒</m:t>
                          </m:r>
                          <m:r>
                            <a:rPr lang="pt-BR" i="1">
                              <a:latin typeface="Cambria Math" panose="02040503050406030204" pitchFamily="18" charset="0"/>
                            </a:rPr>
                            <m:t>(</m:t>
                          </m:r>
                          <m:r>
                            <a:rPr lang="pt-BR" i="1">
                              <a:latin typeface="Cambria Math" panose="02040503050406030204" pitchFamily="18" charset="0"/>
                            </a:rPr>
                            <m:t>𝑦</m:t>
                          </m:r>
                          <m:d>
                            <m:dPr>
                              <m:begChr m:val="["/>
                              <m:endChr m:val="]"/>
                              <m:ctrlPr>
                                <a:rPr lang="pt-BR" i="1">
                                  <a:latin typeface="Cambria Math" panose="02040503050406030204" pitchFamily="18" charset="0"/>
                                </a:rPr>
                              </m:ctrlPr>
                            </m:dPr>
                            <m:e>
                              <m:r>
                                <a:rPr lang="pt-BR" b="0" i="1" smtClean="0">
                                  <a:latin typeface="Cambria Math" panose="02040503050406030204" pitchFamily="18" charset="0"/>
                                </a:rPr>
                                <m:t>𝑡</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b="0" i="1" smtClean="0">
                              <a:latin typeface="Cambria Math" panose="02040503050406030204" pitchFamily="18" charset="0"/>
                            </a:rPr>
                            <m:t>𝑡</m:t>
                          </m:r>
                          <m:r>
                            <a:rPr lang="pt-BR" i="1">
                              <a:latin typeface="Cambria Math" panose="02040503050406030204" pitchFamily="18" charset="0"/>
                            </a:rPr>
                            <m:t>])</m:t>
                          </m:r>
                        </m:e>
                      </m:nary>
                      <m:r>
                        <a:rPr lang="pt-BR" i="1">
                          <a:latin typeface="Cambria Math" panose="02040503050406030204" pitchFamily="18" charset="0"/>
                        </a:rPr>
                        <m:t>.</m:t>
                      </m:r>
                    </m:oMath>
                  </m:oMathPara>
                </a14:m>
                <a:endParaRPr lang="pt-BR" dirty="0"/>
              </a:p>
              <a:p>
                <a:r>
                  <a:rPr lang="en-US" dirty="0"/>
                  <a:t>Em </a:t>
                </a:r>
                <a:r>
                  <a:rPr lang="en-US" dirty="0" err="1"/>
                  <a:t>outras</a:t>
                </a:r>
                <a:r>
                  <a:rPr lang="en-US" dirty="0"/>
                  <a:t> </a:t>
                </a:r>
                <a:r>
                  <a:rPr lang="en-US" dirty="0" err="1"/>
                  <a:t>palavras</a:t>
                </a:r>
                <a:r>
                  <a:rPr lang="en-US" dirty="0"/>
                  <a:t>, o </a:t>
                </a:r>
                <a:r>
                  <a:rPr lang="en-US" b="1" dirty="0" err="1">
                    <a:solidFill>
                      <a:srgbClr val="00B050"/>
                    </a:solidFill>
                  </a:rPr>
                  <a:t>erro</a:t>
                </a:r>
                <a:r>
                  <a:rPr lang="en-US" b="1" dirty="0">
                    <a:solidFill>
                      <a:srgbClr val="00B050"/>
                    </a:solidFill>
                  </a:rPr>
                  <a:t> total </a:t>
                </a:r>
                <a:r>
                  <a:rPr lang="en-US" dirty="0"/>
                  <a:t>é </a:t>
                </a:r>
                <a:r>
                  <a:rPr lang="en-US" dirty="0" err="1"/>
                  <a:t>uma</a:t>
                </a:r>
                <a:r>
                  <a:rPr lang="en-US" dirty="0"/>
                  <a:t> </a:t>
                </a:r>
                <a:r>
                  <a:rPr lang="en-US" b="1" dirty="0" err="1">
                    <a:solidFill>
                      <a:schemeClr val="accent2"/>
                    </a:solidFill>
                  </a:rPr>
                  <a:t>média</a:t>
                </a:r>
                <a:r>
                  <a:rPr lang="en-US" b="1" dirty="0">
                    <a:solidFill>
                      <a:schemeClr val="accent2"/>
                    </a:solidFill>
                  </a:rPr>
                  <a:t> temporal dos </a:t>
                </a:r>
                <a:r>
                  <a:rPr lang="en-US" b="1" dirty="0" err="1">
                    <a:solidFill>
                      <a:schemeClr val="accent2"/>
                    </a:solidFill>
                  </a:rPr>
                  <a:t>erros</a:t>
                </a:r>
                <a:r>
                  <a:rPr lang="en-US" b="1" dirty="0">
                    <a:solidFill>
                      <a:schemeClr val="accent2"/>
                    </a:solidFill>
                  </a:rPr>
                  <a:t> </a:t>
                </a:r>
                <a:r>
                  <a:rPr lang="en-US" dirty="0" err="1"/>
                  <a:t>cometidos</a:t>
                </a:r>
                <a:r>
                  <a:rPr lang="en-US" dirty="0"/>
                  <a:t> pela rede </a:t>
                </a:r>
                <a:r>
                  <a:rPr lang="en-US" b="1" dirty="0" err="1">
                    <a:solidFill>
                      <a:schemeClr val="accent2"/>
                    </a:solidFill>
                  </a:rPr>
                  <a:t>ao</a:t>
                </a:r>
                <a:r>
                  <a:rPr lang="en-US" b="1" dirty="0">
                    <a:solidFill>
                      <a:schemeClr val="accent2"/>
                    </a:solidFill>
                  </a:rPr>
                  <a:t> </a:t>
                </a:r>
                <a:r>
                  <a:rPr lang="en-US" b="1" dirty="0" err="1">
                    <a:solidFill>
                      <a:schemeClr val="accent2"/>
                    </a:solidFill>
                  </a:rPr>
                  <a:t>longo</a:t>
                </a:r>
                <a:r>
                  <a:rPr lang="en-US" b="1" dirty="0">
                    <a:solidFill>
                      <a:schemeClr val="accent2"/>
                    </a:solidFill>
                  </a:rPr>
                  <a:t> de </a:t>
                </a:r>
                <a:r>
                  <a:rPr lang="en-US" b="1" dirty="0" err="1">
                    <a:solidFill>
                      <a:schemeClr val="accent2"/>
                    </a:solidFill>
                  </a:rPr>
                  <a:t>todos</a:t>
                </a:r>
                <a:r>
                  <a:rPr lang="en-US" b="1" dirty="0">
                    <a:solidFill>
                      <a:schemeClr val="accent2"/>
                    </a:solidFill>
                  </a:rPr>
                  <a:t> </a:t>
                </a:r>
                <a:r>
                  <a:rPr lang="en-US" b="1" dirty="0" err="1">
                    <a:solidFill>
                      <a:schemeClr val="accent2"/>
                    </a:solidFill>
                  </a:rPr>
                  <a:t>os</a:t>
                </a:r>
                <a:r>
                  <a:rPr lang="en-US" b="1" dirty="0">
                    <a:solidFill>
                      <a:schemeClr val="accent2"/>
                    </a:solidFill>
                  </a:rPr>
                  <a:t> </a:t>
                </a:r>
                <a14:m>
                  <m:oMath xmlns:m="http://schemas.openxmlformats.org/officeDocument/2006/math">
                    <m:r>
                      <a:rPr lang="pt-BR" b="1">
                        <a:solidFill>
                          <a:schemeClr val="accent2"/>
                        </a:solidFill>
                        <a:latin typeface="Cambria Math" panose="02040503050406030204" pitchFamily="18" charset="0"/>
                      </a:rPr>
                      <m:t>𝑇</m:t>
                    </m:r>
                  </m:oMath>
                </a14:m>
                <a:r>
                  <a:rPr lang="en-US" b="1" dirty="0">
                    <a:solidFill>
                      <a:schemeClr val="accent2"/>
                    </a:solidFill>
                  </a:rPr>
                  <a:t> </a:t>
                </a:r>
                <a:r>
                  <a:rPr lang="en-US" b="1" dirty="0" err="1">
                    <a:solidFill>
                      <a:schemeClr val="accent2"/>
                    </a:solidFill>
                  </a:rPr>
                  <a:t>instantes</a:t>
                </a:r>
                <a:r>
                  <a:rPr lang="en-US" b="1" dirty="0">
                    <a:solidFill>
                      <a:schemeClr val="accent2"/>
                    </a:solidFill>
                  </a:rPr>
                  <a:t> de tempo</a:t>
                </a:r>
                <a:r>
                  <a:rPr lang="en-US" dirty="0"/>
                  <a:t>.</a:t>
                </a:r>
              </a:p>
              <a:p>
                <a:pPr marL="0" indent="0">
                  <a:buNone/>
                </a:pPr>
                <a:endParaRPr lang="pt-BR" dirty="0"/>
              </a:p>
            </p:txBody>
          </p:sp>
        </mc:Choice>
        <mc:Fallback xmlns="">
          <p:sp>
            <p:nvSpPr>
              <p:cNvPr id="3" name="Content Placeholder 2">
                <a:extLst>
                  <a:ext uri="{FF2B5EF4-FFF2-40B4-BE49-F238E27FC236}">
                    <a16:creationId xmlns:a16="http://schemas.microsoft.com/office/drawing/2014/main" id="{D0347F1D-7D82-FBF2-C746-409D3CF4FA05}"/>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3"/>
                <a:stretch>
                  <a:fillRect l="-913" t="-1937" b="-2906"/>
                </a:stretch>
              </a:blipFill>
            </p:spPr>
            <p:txBody>
              <a:bodyPr/>
              <a:lstStyle/>
              <a:p>
                <a:r>
                  <a:rPr lang="en-US">
                    <a:noFill/>
                  </a:rPr>
                  <a:t> </a:t>
                </a:r>
              </a:p>
            </p:txBody>
          </p:sp>
        </mc:Fallback>
      </mc:AlternateContent>
    </p:spTree>
    <p:extLst>
      <p:ext uri="{BB962C8B-B14F-4D97-AF65-F5344CB8AC3E}">
        <p14:creationId xmlns:p14="http://schemas.microsoft.com/office/powerpoint/2010/main" val="423062346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3689DD09-FA86-3CAE-7297-B124DDFD9D02}"/>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71FEC256-B082-7183-4AD1-C2355A6FD49D}"/>
              </a:ext>
            </a:extLst>
          </p:cNvPr>
          <p:cNvSpPr>
            <a:spLocks noGrp="1"/>
          </p:cNvSpPr>
          <p:nvPr>
            <p:ph type="title"/>
          </p:nvPr>
        </p:nvSpPr>
        <p:spPr/>
        <p:txBody>
          <a:bodyPr/>
          <a:lstStyle/>
          <a:p>
            <a:r>
              <a:rPr lang="pt-BR" i="1" dirty="0" err="1"/>
              <a:t>Backpropagation</a:t>
            </a:r>
            <a:r>
              <a:rPr lang="pt-BR" i="1" dirty="0"/>
              <a:t> </a:t>
            </a:r>
            <a:r>
              <a:rPr lang="pt-BR" i="1" dirty="0" err="1"/>
              <a:t>Through</a:t>
            </a:r>
            <a:r>
              <a:rPr lang="pt-BR" i="1" dirty="0"/>
              <a:t> Time</a:t>
            </a:r>
            <a:r>
              <a:rPr lang="pt-BR" dirty="0"/>
              <a:t> (BPTT)</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03AA9B93-41C8-CC75-5F29-FD0909CE60CA}"/>
                  </a:ext>
                </a:extLst>
              </p:cNvPr>
              <p:cNvSpPr>
                <a:spLocks noGrp="1"/>
              </p:cNvSpPr>
              <p:nvPr>
                <p:ph idx="1"/>
              </p:nvPr>
            </p:nvSpPr>
            <p:spPr>
              <a:xfrm>
                <a:off x="838200" y="1825624"/>
                <a:ext cx="11353800" cy="5032375"/>
              </a:xfrm>
            </p:spPr>
            <p:txBody>
              <a:bodyPr>
                <a:normAutofit lnSpcReduction="10000"/>
              </a:bodyPr>
              <a:lstStyle/>
              <a:p>
                <a:r>
                  <a:rPr lang="pt-BR" noProof="0" dirty="0"/>
                  <a:t>De forma genérica, a derivada do erro em relação à matriz de pesos, </a:t>
                </a:r>
                <a14:m>
                  <m:oMath xmlns:m="http://schemas.openxmlformats.org/officeDocument/2006/math">
                    <m:r>
                      <a:rPr lang="pt-BR" b="1" i="1" noProof="0">
                        <a:latin typeface="Cambria Math" panose="02040503050406030204" pitchFamily="18" charset="0"/>
                      </a:rPr>
                      <m:t>𝑾</m:t>
                    </m:r>
                  </m:oMath>
                </a14:m>
                <a:r>
                  <a:rPr lang="pt-BR" noProof="0" dirty="0"/>
                  <a:t> é obtida usando a </a:t>
                </a:r>
                <a:r>
                  <a:rPr lang="pt-BR" b="1" noProof="0" dirty="0"/>
                  <a:t>regra da cadeia</a:t>
                </a:r>
                <a:r>
                  <a:rPr lang="pt-BR" noProof="0" dirty="0"/>
                  <a:t>:</a:t>
                </a:r>
              </a:p>
              <a:p>
                <a:pPr marL="0" indent="0">
                  <a:buNone/>
                </a:pPr>
                <a14:m>
                  <m:oMathPara xmlns:m="http://schemas.openxmlformats.org/officeDocument/2006/math">
                    <m:oMathParaPr>
                      <m:jc m:val="centerGroup"/>
                    </m:oMathParaPr>
                    <m:oMath xmlns:m="http://schemas.openxmlformats.org/officeDocument/2006/math">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r>
                            <a:rPr lang="pt-BR" b="0" i="1" noProof="0" smtClean="0">
                              <a:latin typeface="Cambria Math" panose="02040503050406030204" pitchFamily="18" charset="0"/>
                            </a:rPr>
                            <m:t>𝐸</m:t>
                          </m:r>
                        </m:num>
                        <m:den>
                          <m:r>
                            <a:rPr lang="pt-BR" i="1" noProof="0" smtClean="0">
                              <a:latin typeface="Cambria Math" panose="02040503050406030204" pitchFamily="18" charset="0"/>
                            </a:rPr>
                            <m:t>𝜕</m:t>
                          </m:r>
                          <m:r>
                            <a:rPr lang="pt-BR" b="1" i="1" noProof="0">
                              <a:latin typeface="Cambria Math" panose="02040503050406030204" pitchFamily="18" charset="0"/>
                            </a:rPr>
                            <m:t>𝑾</m:t>
                          </m:r>
                        </m:den>
                      </m:f>
                      <m:r>
                        <a:rPr lang="pt-BR" b="0" i="1" noProof="0" smtClean="0">
                          <a:latin typeface="Cambria Math" panose="02040503050406030204" pitchFamily="18" charset="0"/>
                        </a:rPr>
                        <m:t>=</m:t>
                      </m:r>
                      <m:f>
                        <m:fPr>
                          <m:ctrlPr>
                            <a:rPr lang="pt-BR" i="1" noProof="0">
                              <a:latin typeface="Cambria Math" panose="02040503050406030204" pitchFamily="18" charset="0"/>
                            </a:rPr>
                          </m:ctrlPr>
                        </m:fPr>
                        <m:num>
                          <m:r>
                            <a:rPr lang="pt-BR" i="1" noProof="0">
                              <a:latin typeface="Cambria Math" panose="02040503050406030204" pitchFamily="18" charset="0"/>
                            </a:rPr>
                            <m:t>1</m:t>
                          </m:r>
                        </m:num>
                        <m:den>
                          <m:r>
                            <a:rPr lang="pt-BR" b="0" i="1" noProof="0" smtClean="0">
                              <a:latin typeface="Cambria Math" panose="02040503050406030204" pitchFamily="18" charset="0"/>
                            </a:rPr>
                            <m:t>𝑇</m:t>
                          </m:r>
                        </m:den>
                      </m:f>
                      <m:nary>
                        <m:naryPr>
                          <m:chr m:val="∑"/>
                          <m:ctrlPr>
                            <a:rPr lang="pt-BR" i="1" noProof="0">
                              <a:latin typeface="Cambria Math" panose="02040503050406030204" pitchFamily="18" charset="0"/>
                            </a:rPr>
                          </m:ctrlPr>
                        </m:naryPr>
                        <m:sub>
                          <m:r>
                            <a:rPr lang="pt-BR" b="0" i="1" noProof="0" smtClean="0">
                              <a:latin typeface="Cambria Math" panose="02040503050406030204" pitchFamily="18" charset="0"/>
                            </a:rPr>
                            <m:t>𝑡</m:t>
                          </m:r>
                          <m:r>
                            <a:rPr lang="pt-BR" i="1" noProof="0">
                              <a:latin typeface="Cambria Math" panose="02040503050406030204" pitchFamily="18" charset="0"/>
                            </a:rPr>
                            <m:t>=0</m:t>
                          </m:r>
                        </m:sub>
                        <m:sup>
                          <m:r>
                            <a:rPr lang="pt-BR" b="0" i="1" noProof="0" smtClean="0">
                              <a:latin typeface="Cambria Math" panose="02040503050406030204" pitchFamily="18" charset="0"/>
                            </a:rPr>
                            <m:t>𝑇</m:t>
                          </m:r>
                          <m:r>
                            <a:rPr lang="pt-BR" b="0" i="1" noProof="0" smtClean="0">
                              <a:latin typeface="Cambria Math" panose="02040503050406030204" pitchFamily="18" charset="0"/>
                            </a:rPr>
                            <m:t>−1</m:t>
                          </m:r>
                        </m:sup>
                        <m:e>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i="1">
                                      <a:latin typeface="Cambria Math" panose="02040503050406030204" pitchFamily="18" charset="0"/>
                                    </a:rPr>
                                    <m:t>𝑡</m:t>
                                  </m:r>
                                </m:sub>
                              </m:sSub>
                            </m:num>
                            <m:den>
                              <m:r>
                                <a:rPr lang="pt-BR" i="1" noProof="0" smtClean="0">
                                  <a:latin typeface="Cambria Math" panose="02040503050406030204" pitchFamily="18" charset="0"/>
                                </a:rPr>
                                <m:t>𝜕</m:t>
                              </m:r>
                              <m:r>
                                <a:rPr lang="pt-BR" b="1" i="1" noProof="0">
                                  <a:latin typeface="Cambria Math" panose="02040503050406030204" pitchFamily="18" charset="0"/>
                                </a:rPr>
                                <m:t>𝑾</m:t>
                              </m:r>
                            </m:den>
                          </m:f>
                        </m:e>
                      </m:nary>
                      <m:r>
                        <a:rPr lang="pt-BR" b="0" i="1" noProof="0" smtClean="0">
                          <a:latin typeface="Cambria Math" panose="02040503050406030204" pitchFamily="18" charset="0"/>
                        </a:rPr>
                        <m:t>=</m:t>
                      </m:r>
                      <m:f>
                        <m:fPr>
                          <m:ctrlPr>
                            <a:rPr lang="pt-BR" i="1" noProof="0">
                              <a:latin typeface="Cambria Math" panose="02040503050406030204" pitchFamily="18" charset="0"/>
                            </a:rPr>
                          </m:ctrlPr>
                        </m:fPr>
                        <m:num>
                          <m:r>
                            <a:rPr lang="pt-BR" i="1" noProof="0">
                              <a:latin typeface="Cambria Math" panose="02040503050406030204" pitchFamily="18" charset="0"/>
                            </a:rPr>
                            <m:t>1</m:t>
                          </m:r>
                        </m:num>
                        <m:den>
                          <m:r>
                            <a:rPr lang="pt-BR" b="0" i="1" noProof="0" smtClean="0">
                              <a:latin typeface="Cambria Math" panose="02040503050406030204" pitchFamily="18" charset="0"/>
                            </a:rPr>
                            <m:t>𝑇</m:t>
                          </m:r>
                        </m:den>
                      </m:f>
                      <m:nary>
                        <m:naryPr>
                          <m:chr m:val="∑"/>
                          <m:ctrlPr>
                            <a:rPr lang="pt-BR" i="1" noProof="0" smtClean="0">
                              <a:latin typeface="Cambria Math" panose="02040503050406030204" pitchFamily="18" charset="0"/>
                            </a:rPr>
                          </m:ctrlPr>
                        </m:naryPr>
                        <m:sub>
                          <m:r>
                            <a:rPr lang="pt-BR" b="0" i="1" noProof="0" smtClean="0">
                              <a:latin typeface="Cambria Math" panose="02040503050406030204" pitchFamily="18" charset="0"/>
                            </a:rPr>
                            <m:t>𝑡</m:t>
                          </m:r>
                          <m:r>
                            <a:rPr lang="pt-BR" i="1" noProof="0">
                              <a:latin typeface="Cambria Math" panose="02040503050406030204" pitchFamily="18" charset="0"/>
                            </a:rPr>
                            <m:t>=0</m:t>
                          </m:r>
                        </m:sub>
                        <m:sup>
                          <m:r>
                            <a:rPr lang="pt-BR" b="0" i="1" noProof="0" smtClean="0">
                              <a:latin typeface="Cambria Math" panose="02040503050406030204" pitchFamily="18" charset="0"/>
                            </a:rPr>
                            <m:t>𝑇</m:t>
                          </m:r>
                          <m:r>
                            <a:rPr lang="pt-BR" b="0" i="1" noProof="0" smtClean="0">
                              <a:latin typeface="Cambria Math" panose="02040503050406030204" pitchFamily="18" charset="0"/>
                            </a:rPr>
                            <m:t>−1</m:t>
                          </m:r>
                        </m:sup>
                        <m:e>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r>
                                <a:rPr lang="pt-BR" i="1" noProof="0">
                                  <a:latin typeface="Cambria Math" panose="02040503050406030204" pitchFamily="18" charset="0"/>
                                </a:rPr>
                                <m:t>𝑒</m:t>
                              </m:r>
                              <m:r>
                                <a:rPr lang="pt-BR" i="1" noProof="0">
                                  <a:latin typeface="Cambria Math" panose="02040503050406030204" pitchFamily="18" charset="0"/>
                                </a:rPr>
                                <m:t>(</m:t>
                              </m:r>
                              <m:r>
                                <a:rPr lang="pt-BR" i="1" noProof="0">
                                  <a:latin typeface="Cambria Math" panose="02040503050406030204" pitchFamily="18" charset="0"/>
                                </a:rPr>
                                <m:t>𝑦</m:t>
                              </m:r>
                              <m:d>
                                <m:dPr>
                                  <m:begChr m:val="["/>
                                  <m:endChr m:val="]"/>
                                  <m:ctrlPr>
                                    <a:rPr lang="pt-BR" i="1" noProof="0">
                                      <a:latin typeface="Cambria Math" panose="02040503050406030204" pitchFamily="18" charset="0"/>
                                    </a:rPr>
                                  </m:ctrlPr>
                                </m:dPr>
                                <m:e>
                                  <m:r>
                                    <a:rPr lang="pt-BR" b="0" i="1" noProof="0" smtClean="0">
                                      <a:latin typeface="Cambria Math" panose="02040503050406030204" pitchFamily="18" charset="0"/>
                                    </a:rPr>
                                    <m:t>𝑡</m:t>
                                  </m:r>
                                </m:e>
                              </m:d>
                              <m:r>
                                <a:rPr lang="pt-BR" i="1" noProof="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b="0" i="1" noProof="0" smtClean="0">
                                  <a:latin typeface="Cambria Math" panose="02040503050406030204" pitchFamily="18" charset="0"/>
                                </a:rPr>
                                <m:t>𝑡</m:t>
                              </m:r>
                              <m:r>
                                <a:rPr lang="pt-BR" i="1" noProof="0">
                                  <a:latin typeface="Cambria Math" panose="02040503050406030204" pitchFamily="18" charset="0"/>
                                </a:rPr>
                                <m:t>])</m:t>
                              </m:r>
                            </m:num>
                            <m:den>
                              <m:r>
                                <a:rPr lang="pt-BR" i="1" noProof="0" smtClean="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den>
                          </m:f>
                        </m:e>
                      </m:nary>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num>
                        <m:den>
                          <m:r>
                            <a:rPr lang="pt-BR" i="1" noProof="0" smtClean="0">
                              <a:latin typeface="Cambria Math" panose="02040503050406030204" pitchFamily="18" charset="0"/>
                            </a:rPr>
                            <m:t>𝜕</m:t>
                          </m:r>
                          <m:r>
                            <a:rPr lang="pt-BR" b="0" i="1" noProof="0" smtClean="0">
                              <a:latin typeface="Cambria Math" panose="02040503050406030204" pitchFamily="18" charset="0"/>
                            </a:rPr>
                            <m:t>h</m:t>
                          </m:r>
                          <m:r>
                            <a:rPr lang="pt-BR" b="0" i="1" noProof="0" smtClean="0">
                              <a:latin typeface="Cambria Math" panose="02040503050406030204" pitchFamily="18" charset="0"/>
                            </a:rPr>
                            <m:t>[</m:t>
                          </m:r>
                          <m:r>
                            <a:rPr lang="pt-BR" b="0" i="1" noProof="0" smtClean="0">
                              <a:latin typeface="Cambria Math" panose="02040503050406030204" pitchFamily="18" charset="0"/>
                            </a:rPr>
                            <m:t>𝑡</m:t>
                          </m:r>
                          <m:r>
                            <a:rPr lang="pt-BR" b="0" i="1" noProof="0" smtClean="0">
                              <a:latin typeface="Cambria Math" panose="02040503050406030204" pitchFamily="18" charset="0"/>
                            </a:rPr>
                            <m:t>]</m:t>
                          </m:r>
                        </m:den>
                      </m:f>
                      <m:f>
                        <m:fPr>
                          <m:ctrlPr>
                            <a:rPr lang="pt-BR" i="1" noProof="0">
                              <a:latin typeface="Cambria Math" panose="02040503050406030204" pitchFamily="18" charset="0"/>
                            </a:rPr>
                          </m:ctrlPr>
                        </m:fPr>
                        <m:num>
                          <m:r>
                            <a:rPr lang="pt-BR" i="1" noProof="0">
                              <a:latin typeface="Cambria Math" panose="02040503050406030204" pitchFamily="18" charset="0"/>
                            </a:rPr>
                            <m:t>𝜕</m:t>
                          </m:r>
                          <m:r>
                            <a:rPr lang="pt-BR" b="0" i="1" noProof="0" smtClean="0">
                              <a:latin typeface="Cambria Math" panose="02040503050406030204" pitchFamily="18" charset="0"/>
                            </a:rPr>
                            <m:t>h</m:t>
                          </m:r>
                          <m:r>
                            <a:rPr lang="pt-BR" i="1" noProof="0">
                              <a:latin typeface="Cambria Math" panose="02040503050406030204" pitchFamily="18" charset="0"/>
                            </a:rPr>
                            <m:t>[</m:t>
                          </m:r>
                          <m:r>
                            <a:rPr lang="pt-BR" b="0" i="1" noProof="0" smtClean="0">
                              <a:latin typeface="Cambria Math" panose="02040503050406030204" pitchFamily="18" charset="0"/>
                            </a:rPr>
                            <m:t>𝑡</m:t>
                          </m:r>
                          <m:r>
                            <a:rPr lang="pt-BR" i="1" noProof="0">
                              <a:latin typeface="Cambria Math" panose="02040503050406030204" pitchFamily="18" charset="0"/>
                            </a:rPr>
                            <m:t>]</m:t>
                          </m:r>
                        </m:num>
                        <m:den>
                          <m:r>
                            <a:rPr lang="pt-BR" i="1" noProof="0">
                              <a:latin typeface="Cambria Math" panose="02040503050406030204" pitchFamily="18" charset="0"/>
                            </a:rPr>
                            <m:t>𝜕</m:t>
                          </m:r>
                          <m:r>
                            <a:rPr lang="pt-BR" b="1" i="1" noProof="0">
                              <a:latin typeface="Cambria Math" panose="02040503050406030204" pitchFamily="18" charset="0"/>
                            </a:rPr>
                            <m:t>𝑾</m:t>
                          </m:r>
                        </m:den>
                      </m:f>
                      <m:r>
                        <a:rPr lang="pt-BR" b="0" i="1" noProof="0" smtClean="0">
                          <a:latin typeface="Cambria Math" panose="02040503050406030204" pitchFamily="18" charset="0"/>
                        </a:rPr>
                        <m:t>.</m:t>
                      </m:r>
                    </m:oMath>
                  </m:oMathPara>
                </a14:m>
                <a:endParaRPr lang="pt-BR" noProof="0" dirty="0"/>
              </a:p>
              <a:p>
                <a:pPr marL="0" indent="0">
                  <a:buNone/>
                </a:pPr>
                <a:r>
                  <a:rPr lang="pt-BR" dirty="0"/>
                  <a:t>o</a:t>
                </a:r>
                <a:r>
                  <a:rPr lang="pt-BR" noProof="0" dirty="0" err="1"/>
                  <a:t>nde</a:t>
                </a:r>
                <a:r>
                  <a:rPr lang="pt-BR" noProof="0" dirty="0"/>
                  <a:t> </a:t>
                </a:r>
                <a14:m>
                  <m:oMath xmlns:m="http://schemas.openxmlformats.org/officeDocument/2006/math">
                    <m:r>
                      <a:rPr lang="pt-BR" i="1">
                        <a:latin typeface="Cambria Math" panose="02040503050406030204" pitchFamily="18" charset="0"/>
                      </a:rPr>
                      <m:t>h</m:t>
                    </m:r>
                    <m:d>
                      <m:dPr>
                        <m:begChr m:val="["/>
                        <m:endChr m:val="]"/>
                        <m:ctrlPr>
                          <a:rPr lang="pt-BR" i="1">
                            <a:latin typeface="Cambria Math" panose="02040503050406030204" pitchFamily="18" charset="0"/>
                          </a:rPr>
                        </m:ctrlPr>
                      </m:dPr>
                      <m:e>
                        <m:r>
                          <a:rPr lang="pt-BR" i="1">
                            <a:latin typeface="Cambria Math" panose="02040503050406030204" pitchFamily="18" charset="0"/>
                          </a:rPr>
                          <m:t>𝑡</m:t>
                        </m:r>
                      </m:e>
                    </m:d>
                    <m:r>
                      <a:rPr lang="pt-BR" b="0" i="1" smtClean="0">
                        <a:latin typeface="Cambria Math" panose="02040503050406030204" pitchFamily="18" charset="0"/>
                      </a:rPr>
                      <m:t>=</m:t>
                    </m:r>
                    <m:r>
                      <a:rPr lang="pt-BR" b="0"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d>
                      <m:dPr>
                        <m:begChr m:val="["/>
                        <m:endChr m:val="]"/>
                        <m:ctrlPr>
                          <a:rPr lang="pt-BR" b="0" i="1" smtClean="0">
                            <a:latin typeface="Cambria Math" panose="02040503050406030204" pitchFamily="18" charset="0"/>
                          </a:rPr>
                        </m:ctrlPr>
                      </m:dPr>
                      <m:e>
                        <m:r>
                          <a:rPr lang="pt-BR" b="0" i="1" smtClean="0">
                            <a:latin typeface="Cambria Math" panose="02040503050406030204" pitchFamily="18" charset="0"/>
                          </a:rPr>
                          <m:t>𝑡</m:t>
                        </m:r>
                      </m:e>
                    </m:d>
                    <m:r>
                      <a:rPr lang="pt-BR" b="0" i="1" smtClean="0">
                        <a:latin typeface="Cambria Math" panose="02040503050406030204" pitchFamily="18" charset="0"/>
                      </a:rPr>
                      <m:t>, </m:t>
                    </m:r>
                    <m:r>
                      <a:rPr lang="pt-BR" b="0" i="1" smtClean="0">
                        <a:latin typeface="Cambria Math" panose="02040503050406030204" pitchFamily="18" charset="0"/>
                      </a:rPr>
                      <m:t>h</m:t>
                    </m:r>
                    <m:d>
                      <m:dPr>
                        <m:begChr m:val="["/>
                        <m:endChr m:val="]"/>
                        <m:ctrlPr>
                          <a:rPr lang="pt-BR" b="0" i="1" smtClean="0">
                            <a:latin typeface="Cambria Math" panose="02040503050406030204" pitchFamily="18" charset="0"/>
                          </a:rPr>
                        </m:ctrlPr>
                      </m:dPr>
                      <m:e>
                        <m:r>
                          <a:rPr lang="pt-BR" b="0" i="1" smtClean="0">
                            <a:latin typeface="Cambria Math" panose="02040503050406030204" pitchFamily="18" charset="0"/>
                          </a:rPr>
                          <m:t>𝑡</m:t>
                        </m:r>
                        <m:r>
                          <a:rPr lang="pt-BR" b="0" i="1" smtClean="0">
                            <a:latin typeface="Cambria Math" panose="02040503050406030204" pitchFamily="18" charset="0"/>
                          </a:rPr>
                          <m:t>−1</m:t>
                        </m:r>
                      </m:e>
                    </m:d>
                    <m:r>
                      <a:rPr lang="pt-BR" b="0" i="1" smtClean="0">
                        <a:latin typeface="Cambria Math" panose="02040503050406030204" pitchFamily="18" charset="0"/>
                      </a:rPr>
                      <m:t>,</m:t>
                    </m:r>
                    <m:r>
                      <a:rPr lang="pt-BR" b="1" i="1">
                        <a:latin typeface="Cambria Math" panose="02040503050406030204" pitchFamily="18" charset="0"/>
                      </a:rPr>
                      <m:t>𝑾</m:t>
                    </m:r>
                    <m:r>
                      <a:rPr lang="pt-BR" b="0" i="1" smtClean="0">
                        <a:latin typeface="Cambria Math" panose="02040503050406030204" pitchFamily="18" charset="0"/>
                      </a:rPr>
                      <m:t>)</m:t>
                    </m:r>
                  </m:oMath>
                </a14:m>
                <a:r>
                  <a:rPr lang="pt-BR" noProof="0" dirty="0"/>
                  <a:t> é o estado oculto.</a:t>
                </a:r>
              </a:p>
              <a:p>
                <a:r>
                  <a:rPr lang="pt-BR" noProof="0" dirty="0"/>
                  <a:t>O gradiente é obtido somando-se as </a:t>
                </a:r>
                <a:r>
                  <a:rPr lang="pt-BR" b="1" dirty="0">
                    <a:solidFill>
                      <a:srgbClr val="00B050"/>
                    </a:solidFill>
                  </a:rPr>
                  <a:t>contribuições de cada passo de tempo.</a:t>
                </a:r>
                <a:endParaRPr lang="pt-BR" noProof="0" dirty="0"/>
              </a:p>
              <a:p>
                <a:r>
                  <a:rPr lang="pt-BR" noProof="0" dirty="0"/>
                  <a:t>Como os pesos são compartilhados ao longo do tempo, uma única atualização de peso deve levar em conta sua influência na predição (e, consequentemente, no erro) feita em </a:t>
                </a:r>
                <a14:m>
                  <m:oMath xmlns:m="http://schemas.openxmlformats.org/officeDocument/2006/math">
                    <m:r>
                      <a:rPr lang="pt-BR" b="0" i="1" noProof="0" smtClean="0">
                        <a:latin typeface="Cambria Math" panose="02040503050406030204" pitchFamily="18" charset="0"/>
                      </a:rPr>
                      <m:t>𝑡</m:t>
                    </m:r>
                    <m:r>
                      <a:rPr lang="pt-BR" b="0" i="1" noProof="0" smtClean="0">
                        <a:latin typeface="Cambria Math" panose="02040503050406030204" pitchFamily="18" charset="0"/>
                      </a:rPr>
                      <m:t>=0</m:t>
                    </m:r>
                  </m:oMath>
                </a14:m>
                <a:r>
                  <a:rPr lang="pt-BR" noProof="0" dirty="0"/>
                  <a:t>, </a:t>
                </a:r>
                <a14:m>
                  <m:oMath xmlns:m="http://schemas.openxmlformats.org/officeDocument/2006/math">
                    <m:r>
                      <a:rPr lang="pt-BR" i="1" noProof="0">
                        <a:latin typeface="Cambria Math" panose="02040503050406030204" pitchFamily="18" charset="0"/>
                      </a:rPr>
                      <m:t>𝑡</m:t>
                    </m:r>
                    <m:r>
                      <a:rPr lang="pt-BR" i="1" noProof="0">
                        <a:latin typeface="Cambria Math" panose="02040503050406030204" pitchFamily="18" charset="0"/>
                      </a:rPr>
                      <m:t>=1</m:t>
                    </m:r>
                  </m:oMath>
                </a14:m>
                <a:r>
                  <a:rPr lang="pt-BR" noProof="0" dirty="0"/>
                  <a:t> até </a:t>
                </a:r>
                <a14:m>
                  <m:oMath xmlns:m="http://schemas.openxmlformats.org/officeDocument/2006/math">
                    <m:r>
                      <a:rPr lang="pt-BR" i="1" noProof="0">
                        <a:latin typeface="Cambria Math" panose="02040503050406030204" pitchFamily="18" charset="0"/>
                      </a:rPr>
                      <m:t>𝑡</m:t>
                    </m:r>
                    <m:r>
                      <a:rPr lang="pt-BR" i="1" noProof="0">
                        <a:latin typeface="Cambria Math" panose="02040503050406030204" pitchFamily="18" charset="0"/>
                      </a:rPr>
                      <m:t>=</m:t>
                    </m:r>
                    <m:r>
                      <a:rPr lang="pt-BR" b="0" i="1" noProof="0" smtClean="0">
                        <a:latin typeface="Cambria Math" panose="02040503050406030204" pitchFamily="18" charset="0"/>
                      </a:rPr>
                      <m:t>𝑇</m:t>
                    </m:r>
                    <m:r>
                      <a:rPr lang="pt-BR" b="0" i="1" noProof="0" smtClean="0">
                        <a:latin typeface="Cambria Math" panose="02040503050406030204" pitchFamily="18" charset="0"/>
                      </a:rPr>
                      <m:t>−1</m:t>
                    </m:r>
                  </m:oMath>
                </a14:m>
                <a:r>
                  <a:rPr lang="pt-BR" noProof="0" dirty="0"/>
                  <a:t>.</a:t>
                </a:r>
              </a:p>
              <a:p>
                <a:r>
                  <a:rPr lang="pt-BR" dirty="0"/>
                  <a:t>Em outras palavras, o BPTT propaga os erros do futuro para o passado.</a:t>
                </a:r>
                <a:endParaRPr lang="pt-BR" noProof="0" dirty="0"/>
              </a:p>
            </p:txBody>
          </p:sp>
        </mc:Choice>
        <mc:Fallback xmlns="">
          <p:sp>
            <p:nvSpPr>
              <p:cNvPr id="3" name="Content Placeholder 2">
                <a:extLst>
                  <a:ext uri="{FF2B5EF4-FFF2-40B4-BE49-F238E27FC236}">
                    <a16:creationId xmlns:a16="http://schemas.microsoft.com/office/drawing/2014/main" id="{03AA9B93-41C8-CC75-5F29-FD0909CE60CA}"/>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1128" t="-2663"/>
                </a:stretch>
              </a:blipFill>
            </p:spPr>
            <p:txBody>
              <a:bodyPr/>
              <a:lstStyle/>
              <a:p>
                <a:r>
                  <a:rPr lang="en-US">
                    <a:noFill/>
                  </a:rPr>
                  <a:t> </a:t>
                </a:r>
              </a:p>
            </p:txBody>
          </p:sp>
        </mc:Fallback>
      </mc:AlternateContent>
    </p:spTree>
    <p:extLst>
      <p:ext uri="{BB962C8B-B14F-4D97-AF65-F5344CB8AC3E}">
        <p14:creationId xmlns:p14="http://schemas.microsoft.com/office/powerpoint/2010/main" val="332439993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4F2798CD-19D6-ECEC-B650-20958EB82D44}"/>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3F7A14C7-1400-69E1-2BE4-A1A26E2E2DBD}"/>
              </a:ext>
            </a:extLst>
          </p:cNvPr>
          <p:cNvSpPr>
            <a:spLocks noGrp="1"/>
          </p:cNvSpPr>
          <p:nvPr>
            <p:ph type="title"/>
          </p:nvPr>
        </p:nvSpPr>
        <p:spPr/>
        <p:txBody>
          <a:bodyPr/>
          <a:lstStyle/>
          <a:p>
            <a:r>
              <a:rPr lang="pt-BR" i="1" dirty="0" err="1"/>
              <a:t>Backpropagation</a:t>
            </a:r>
            <a:r>
              <a:rPr lang="pt-BR" i="1" dirty="0"/>
              <a:t> </a:t>
            </a:r>
            <a:r>
              <a:rPr lang="pt-BR" i="1" dirty="0" err="1"/>
              <a:t>Through</a:t>
            </a:r>
            <a:r>
              <a:rPr lang="pt-BR" i="1" dirty="0"/>
              <a:t> Time</a:t>
            </a:r>
            <a:r>
              <a:rPr lang="pt-BR" dirty="0"/>
              <a:t> (BPTT)</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9D8FEDBB-8B0C-1AAA-8297-CE500B93DB3D}"/>
                  </a:ext>
                </a:extLst>
              </p:cNvPr>
              <p:cNvSpPr>
                <a:spLocks noGrp="1"/>
              </p:cNvSpPr>
              <p:nvPr>
                <p:ph idx="1"/>
              </p:nvPr>
            </p:nvSpPr>
            <p:spPr>
              <a:xfrm>
                <a:off x="838200" y="1825624"/>
                <a:ext cx="11353800" cy="5032375"/>
              </a:xfrm>
            </p:spPr>
            <p:txBody>
              <a:bodyPr>
                <a:normAutofit/>
              </a:bodyPr>
              <a:lstStyle/>
              <a:p>
                <a:pPr marL="0" indent="0">
                  <a:buNone/>
                </a:pPr>
                <a14:m>
                  <m:oMathPara xmlns:m="http://schemas.openxmlformats.org/officeDocument/2006/math">
                    <m:oMathParaPr>
                      <m:jc m:val="centerGroup"/>
                    </m:oMathParaPr>
                    <m:oMath xmlns:m="http://schemas.openxmlformats.org/officeDocument/2006/math">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r>
                            <a:rPr lang="pt-BR" b="0" i="1" noProof="0" smtClean="0">
                              <a:latin typeface="Cambria Math" panose="02040503050406030204" pitchFamily="18" charset="0"/>
                            </a:rPr>
                            <m:t>𝐸</m:t>
                          </m:r>
                        </m:num>
                        <m:den>
                          <m:r>
                            <a:rPr lang="pt-BR" i="1" noProof="0" smtClean="0">
                              <a:latin typeface="Cambria Math" panose="02040503050406030204" pitchFamily="18" charset="0"/>
                            </a:rPr>
                            <m:t>𝜕</m:t>
                          </m:r>
                          <m:r>
                            <a:rPr lang="pt-BR" b="1" i="1" noProof="0">
                              <a:latin typeface="Cambria Math" panose="02040503050406030204" pitchFamily="18" charset="0"/>
                            </a:rPr>
                            <m:t>𝑾</m:t>
                          </m:r>
                        </m:den>
                      </m:f>
                      <m:r>
                        <a:rPr lang="pt-BR" b="0" i="1" noProof="0" smtClean="0">
                          <a:latin typeface="Cambria Math" panose="02040503050406030204" pitchFamily="18" charset="0"/>
                        </a:rPr>
                        <m:t>=</m:t>
                      </m:r>
                      <m:f>
                        <m:fPr>
                          <m:ctrlPr>
                            <a:rPr lang="pt-BR" i="1" noProof="0">
                              <a:latin typeface="Cambria Math" panose="02040503050406030204" pitchFamily="18" charset="0"/>
                            </a:rPr>
                          </m:ctrlPr>
                        </m:fPr>
                        <m:num>
                          <m:r>
                            <a:rPr lang="pt-BR" i="1" noProof="0">
                              <a:latin typeface="Cambria Math" panose="02040503050406030204" pitchFamily="18" charset="0"/>
                            </a:rPr>
                            <m:t>1</m:t>
                          </m:r>
                        </m:num>
                        <m:den>
                          <m:r>
                            <a:rPr lang="pt-BR" b="0" i="1" noProof="0" smtClean="0">
                              <a:latin typeface="Cambria Math" panose="02040503050406030204" pitchFamily="18" charset="0"/>
                            </a:rPr>
                            <m:t>𝑇</m:t>
                          </m:r>
                        </m:den>
                      </m:f>
                      <m:nary>
                        <m:naryPr>
                          <m:chr m:val="∑"/>
                          <m:ctrlPr>
                            <a:rPr lang="pt-BR" i="1" noProof="0">
                              <a:latin typeface="Cambria Math" panose="02040503050406030204" pitchFamily="18" charset="0"/>
                            </a:rPr>
                          </m:ctrlPr>
                        </m:naryPr>
                        <m:sub>
                          <m:r>
                            <a:rPr lang="pt-BR" b="0" i="1" noProof="0" smtClean="0">
                              <a:latin typeface="Cambria Math" panose="02040503050406030204" pitchFamily="18" charset="0"/>
                            </a:rPr>
                            <m:t>𝑡</m:t>
                          </m:r>
                          <m:r>
                            <a:rPr lang="pt-BR" i="1" noProof="0">
                              <a:latin typeface="Cambria Math" panose="02040503050406030204" pitchFamily="18" charset="0"/>
                            </a:rPr>
                            <m:t>=0</m:t>
                          </m:r>
                        </m:sub>
                        <m:sup>
                          <m:r>
                            <a:rPr lang="pt-BR" b="0" i="1" noProof="0" smtClean="0">
                              <a:latin typeface="Cambria Math" panose="02040503050406030204" pitchFamily="18" charset="0"/>
                            </a:rPr>
                            <m:t>𝑇</m:t>
                          </m:r>
                          <m:r>
                            <a:rPr lang="pt-BR" b="0" i="1" noProof="0" smtClean="0">
                              <a:latin typeface="Cambria Math" panose="02040503050406030204" pitchFamily="18" charset="0"/>
                            </a:rPr>
                            <m:t>−1</m:t>
                          </m:r>
                        </m:sup>
                        <m:e>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i="1">
                                      <a:latin typeface="Cambria Math" panose="02040503050406030204" pitchFamily="18" charset="0"/>
                                    </a:rPr>
                                    <m:t>𝑡</m:t>
                                  </m:r>
                                </m:sub>
                              </m:sSub>
                            </m:num>
                            <m:den>
                              <m:r>
                                <a:rPr lang="pt-BR" i="1" noProof="0" smtClean="0">
                                  <a:latin typeface="Cambria Math" panose="02040503050406030204" pitchFamily="18" charset="0"/>
                                </a:rPr>
                                <m:t>𝜕</m:t>
                              </m:r>
                              <m:r>
                                <a:rPr lang="pt-BR" b="1" i="1" noProof="0">
                                  <a:latin typeface="Cambria Math" panose="02040503050406030204" pitchFamily="18" charset="0"/>
                                </a:rPr>
                                <m:t>𝑾</m:t>
                              </m:r>
                            </m:den>
                          </m:f>
                        </m:e>
                      </m:nary>
                      <m:r>
                        <a:rPr lang="pt-BR" b="0" i="1" noProof="0" smtClean="0">
                          <a:latin typeface="Cambria Math" panose="02040503050406030204" pitchFamily="18" charset="0"/>
                        </a:rPr>
                        <m:t>=</m:t>
                      </m:r>
                      <m:f>
                        <m:fPr>
                          <m:ctrlPr>
                            <a:rPr lang="pt-BR" i="1" noProof="0">
                              <a:latin typeface="Cambria Math" panose="02040503050406030204" pitchFamily="18" charset="0"/>
                            </a:rPr>
                          </m:ctrlPr>
                        </m:fPr>
                        <m:num>
                          <m:r>
                            <a:rPr lang="pt-BR" i="1" noProof="0">
                              <a:latin typeface="Cambria Math" panose="02040503050406030204" pitchFamily="18" charset="0"/>
                            </a:rPr>
                            <m:t>1</m:t>
                          </m:r>
                        </m:num>
                        <m:den>
                          <m:r>
                            <a:rPr lang="pt-BR" b="0" i="1" noProof="0" smtClean="0">
                              <a:latin typeface="Cambria Math" panose="02040503050406030204" pitchFamily="18" charset="0"/>
                            </a:rPr>
                            <m:t>𝑇</m:t>
                          </m:r>
                        </m:den>
                      </m:f>
                      <m:nary>
                        <m:naryPr>
                          <m:chr m:val="∑"/>
                          <m:ctrlPr>
                            <a:rPr lang="pt-BR" i="1" noProof="0" smtClean="0">
                              <a:latin typeface="Cambria Math" panose="02040503050406030204" pitchFamily="18" charset="0"/>
                            </a:rPr>
                          </m:ctrlPr>
                        </m:naryPr>
                        <m:sub>
                          <m:r>
                            <a:rPr lang="pt-BR" b="0" i="1" noProof="0" smtClean="0">
                              <a:latin typeface="Cambria Math" panose="02040503050406030204" pitchFamily="18" charset="0"/>
                            </a:rPr>
                            <m:t>𝑡</m:t>
                          </m:r>
                          <m:r>
                            <a:rPr lang="pt-BR" i="1" noProof="0">
                              <a:latin typeface="Cambria Math" panose="02040503050406030204" pitchFamily="18" charset="0"/>
                            </a:rPr>
                            <m:t>=0</m:t>
                          </m:r>
                        </m:sub>
                        <m:sup>
                          <m:r>
                            <a:rPr lang="pt-BR" b="0" i="1" noProof="0" smtClean="0">
                              <a:latin typeface="Cambria Math" panose="02040503050406030204" pitchFamily="18" charset="0"/>
                            </a:rPr>
                            <m:t>𝑇</m:t>
                          </m:r>
                          <m:r>
                            <a:rPr lang="pt-BR" b="0" i="1" noProof="0" smtClean="0">
                              <a:latin typeface="Cambria Math" panose="02040503050406030204" pitchFamily="18" charset="0"/>
                            </a:rPr>
                            <m:t>−1</m:t>
                          </m:r>
                        </m:sup>
                        <m:e>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r>
                                <a:rPr lang="pt-BR" i="1" noProof="0">
                                  <a:latin typeface="Cambria Math" panose="02040503050406030204" pitchFamily="18" charset="0"/>
                                </a:rPr>
                                <m:t>𝑒</m:t>
                              </m:r>
                              <m:r>
                                <a:rPr lang="pt-BR" i="1" noProof="0">
                                  <a:latin typeface="Cambria Math" panose="02040503050406030204" pitchFamily="18" charset="0"/>
                                </a:rPr>
                                <m:t>(</m:t>
                              </m:r>
                              <m:r>
                                <a:rPr lang="pt-BR" i="1" noProof="0">
                                  <a:latin typeface="Cambria Math" panose="02040503050406030204" pitchFamily="18" charset="0"/>
                                </a:rPr>
                                <m:t>𝑦</m:t>
                              </m:r>
                              <m:d>
                                <m:dPr>
                                  <m:begChr m:val="["/>
                                  <m:endChr m:val="]"/>
                                  <m:ctrlPr>
                                    <a:rPr lang="pt-BR" i="1" noProof="0">
                                      <a:latin typeface="Cambria Math" panose="02040503050406030204" pitchFamily="18" charset="0"/>
                                    </a:rPr>
                                  </m:ctrlPr>
                                </m:dPr>
                                <m:e>
                                  <m:r>
                                    <a:rPr lang="pt-BR" b="0" i="1" noProof="0" smtClean="0">
                                      <a:latin typeface="Cambria Math" panose="02040503050406030204" pitchFamily="18" charset="0"/>
                                    </a:rPr>
                                    <m:t>𝑡</m:t>
                                  </m:r>
                                </m:e>
                              </m:d>
                              <m:r>
                                <a:rPr lang="pt-BR" i="1" noProof="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b="0" i="1" noProof="0" smtClean="0">
                                  <a:latin typeface="Cambria Math" panose="02040503050406030204" pitchFamily="18" charset="0"/>
                                </a:rPr>
                                <m:t>𝑡</m:t>
                              </m:r>
                              <m:r>
                                <a:rPr lang="pt-BR" i="1" noProof="0">
                                  <a:latin typeface="Cambria Math" panose="02040503050406030204" pitchFamily="18" charset="0"/>
                                </a:rPr>
                                <m:t>])</m:t>
                              </m:r>
                            </m:num>
                            <m:den>
                              <m:r>
                                <a:rPr lang="pt-BR" i="1" noProof="0" smtClean="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den>
                          </m:f>
                        </m:e>
                      </m:nary>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num>
                        <m:den>
                          <m:r>
                            <a:rPr lang="pt-BR" i="1" noProof="0" smtClean="0">
                              <a:latin typeface="Cambria Math" panose="02040503050406030204" pitchFamily="18" charset="0"/>
                            </a:rPr>
                            <m:t>𝜕</m:t>
                          </m:r>
                          <m:r>
                            <a:rPr lang="pt-BR" b="0" i="1" noProof="0" smtClean="0">
                              <a:latin typeface="Cambria Math" panose="02040503050406030204" pitchFamily="18" charset="0"/>
                            </a:rPr>
                            <m:t>h</m:t>
                          </m:r>
                          <m:r>
                            <a:rPr lang="pt-BR" b="0" i="1" noProof="0" smtClean="0">
                              <a:latin typeface="Cambria Math" panose="02040503050406030204" pitchFamily="18" charset="0"/>
                            </a:rPr>
                            <m:t>[</m:t>
                          </m:r>
                          <m:r>
                            <a:rPr lang="pt-BR" b="0" i="1" noProof="0" smtClean="0">
                              <a:latin typeface="Cambria Math" panose="02040503050406030204" pitchFamily="18" charset="0"/>
                            </a:rPr>
                            <m:t>𝑡</m:t>
                          </m:r>
                          <m:r>
                            <a:rPr lang="pt-BR" b="0" i="1" noProof="0" smtClean="0">
                              <a:latin typeface="Cambria Math" panose="02040503050406030204" pitchFamily="18" charset="0"/>
                            </a:rPr>
                            <m:t>]</m:t>
                          </m:r>
                        </m:den>
                      </m:f>
                      <m:f>
                        <m:fPr>
                          <m:ctrlPr>
                            <a:rPr lang="pt-BR" i="1" noProof="0">
                              <a:latin typeface="Cambria Math" panose="02040503050406030204" pitchFamily="18" charset="0"/>
                            </a:rPr>
                          </m:ctrlPr>
                        </m:fPr>
                        <m:num>
                          <m:r>
                            <a:rPr lang="pt-BR" i="1" noProof="0">
                              <a:latin typeface="Cambria Math" panose="02040503050406030204" pitchFamily="18" charset="0"/>
                            </a:rPr>
                            <m:t>𝜕</m:t>
                          </m:r>
                          <m:r>
                            <a:rPr lang="pt-BR" b="0" i="1" noProof="0" smtClean="0">
                              <a:latin typeface="Cambria Math" panose="02040503050406030204" pitchFamily="18" charset="0"/>
                            </a:rPr>
                            <m:t>h</m:t>
                          </m:r>
                          <m:r>
                            <a:rPr lang="pt-BR" i="1" noProof="0">
                              <a:latin typeface="Cambria Math" panose="02040503050406030204" pitchFamily="18" charset="0"/>
                            </a:rPr>
                            <m:t>[</m:t>
                          </m:r>
                          <m:r>
                            <a:rPr lang="pt-BR" b="0" i="1" noProof="0" smtClean="0">
                              <a:latin typeface="Cambria Math" panose="02040503050406030204" pitchFamily="18" charset="0"/>
                            </a:rPr>
                            <m:t>𝑡</m:t>
                          </m:r>
                          <m:r>
                            <a:rPr lang="pt-BR" i="1" noProof="0">
                              <a:latin typeface="Cambria Math" panose="02040503050406030204" pitchFamily="18" charset="0"/>
                            </a:rPr>
                            <m:t>]</m:t>
                          </m:r>
                        </m:num>
                        <m:den>
                          <m:r>
                            <a:rPr lang="pt-BR" i="1" noProof="0">
                              <a:latin typeface="Cambria Math" panose="02040503050406030204" pitchFamily="18" charset="0"/>
                            </a:rPr>
                            <m:t>𝜕</m:t>
                          </m:r>
                          <m:r>
                            <a:rPr lang="pt-BR" b="1" i="1" noProof="0">
                              <a:latin typeface="Cambria Math" panose="02040503050406030204" pitchFamily="18" charset="0"/>
                            </a:rPr>
                            <m:t>𝑾</m:t>
                          </m:r>
                        </m:den>
                      </m:f>
                      <m:r>
                        <a:rPr lang="pt-BR" b="0" i="1" noProof="0" smtClean="0">
                          <a:latin typeface="Cambria Math" panose="02040503050406030204" pitchFamily="18" charset="0"/>
                        </a:rPr>
                        <m:t>.</m:t>
                      </m:r>
                    </m:oMath>
                  </m:oMathPara>
                </a14:m>
                <a:endParaRPr lang="pt-BR" noProof="0" dirty="0"/>
              </a:p>
              <a:p>
                <a:r>
                  <a:rPr lang="pt-BR" dirty="0"/>
                  <a:t>Os dois primeiros termos são fáceis de se calcular, mas o terceiro é onde as coisas se complicam, já que precisamos calcular </a:t>
                </a:r>
                <a:r>
                  <a:rPr lang="pt-BR" b="1" dirty="0">
                    <a:solidFill>
                      <a:srgbClr val="7030A0"/>
                    </a:solidFill>
                  </a:rPr>
                  <a:t>recursivamente</a:t>
                </a:r>
                <a:r>
                  <a:rPr lang="pt-BR" dirty="0"/>
                  <a:t> o efeito da matriz de pesos </a:t>
                </a:r>
                <a14:m>
                  <m:oMath xmlns:m="http://schemas.openxmlformats.org/officeDocument/2006/math">
                    <m:r>
                      <a:rPr lang="pt-BR" b="1" i="1">
                        <a:latin typeface="Cambria Math" panose="02040503050406030204" pitchFamily="18" charset="0"/>
                      </a:rPr>
                      <m:t>𝑾</m:t>
                    </m:r>
                  </m:oMath>
                </a14:m>
                <a:r>
                  <a:rPr lang="pt-BR" dirty="0"/>
                  <a:t> sobre </a:t>
                </a:r>
                <a14:m>
                  <m:oMath xmlns:m="http://schemas.openxmlformats.org/officeDocument/2006/math">
                    <m:r>
                      <a:rPr lang="pt-BR" i="1">
                        <a:latin typeface="Cambria Math" panose="02040503050406030204" pitchFamily="18" charset="0"/>
                      </a:rPr>
                      <m:t>h</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pt-BR" dirty="0"/>
                  <a:t>.</a:t>
                </a:r>
              </a:p>
              <a:p>
                <a14:m>
                  <m:oMath xmlns:m="http://schemas.openxmlformats.org/officeDocument/2006/math">
                    <m:r>
                      <a:rPr lang="pt-BR" b="1" i="1">
                        <a:latin typeface="Cambria Math" panose="02040503050406030204" pitchFamily="18" charset="0"/>
                      </a:rPr>
                      <m:t>𝑾</m:t>
                    </m:r>
                  </m:oMath>
                </a14:m>
                <a:r>
                  <a:rPr lang="pt-BR" dirty="0"/>
                  <a:t> afeta o erro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i="1">
                            <a:latin typeface="Cambria Math" panose="02040503050406030204" pitchFamily="18" charset="0"/>
                          </a:rPr>
                          <m:t>𝑡</m:t>
                        </m:r>
                      </m:sub>
                    </m:sSub>
                  </m:oMath>
                </a14:m>
                <a:r>
                  <a:rPr lang="pt-BR" dirty="0"/>
                  <a:t> de duas maneiras:</a:t>
                </a:r>
              </a:p>
              <a:p>
                <a:pPr lvl="1">
                  <a:buFont typeface="Wingdings" panose="05000000000000000000" pitchFamily="2" charset="2"/>
                  <a:buChar char="§"/>
                </a:pPr>
                <a:r>
                  <a:rPr lang="pt-BR" b="1" dirty="0"/>
                  <a:t>Diretamente:</a:t>
                </a:r>
                <a:r>
                  <a:rPr lang="pt-BR" dirty="0"/>
                  <a:t> No cálculo do estado oculto atual </a:t>
                </a:r>
                <a14:m>
                  <m:oMath xmlns:m="http://schemas.openxmlformats.org/officeDocument/2006/math">
                    <m:r>
                      <a:rPr lang="pt-BR" i="1">
                        <a:latin typeface="Cambria Math" panose="02040503050406030204" pitchFamily="18" charset="0"/>
                      </a:rPr>
                      <m:t>h</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pt-BR" dirty="0"/>
                  <a:t>.</a:t>
                </a:r>
              </a:p>
              <a:p>
                <a:pPr lvl="1">
                  <a:buFont typeface="Wingdings" panose="05000000000000000000" pitchFamily="2" charset="2"/>
                  <a:buChar char="§"/>
                </a:pPr>
                <a:r>
                  <a:rPr lang="pt-BR" b="1" dirty="0"/>
                  <a:t>Indiretamente:</a:t>
                </a:r>
                <a:r>
                  <a:rPr lang="pt-BR" dirty="0"/>
                  <a:t> Porque </a:t>
                </a:r>
                <a14:m>
                  <m:oMath xmlns:m="http://schemas.openxmlformats.org/officeDocument/2006/math">
                    <m:r>
                      <a:rPr lang="pt-BR" i="1">
                        <a:latin typeface="Cambria Math" panose="02040503050406030204" pitchFamily="18" charset="0"/>
                      </a:rPr>
                      <m:t>h</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pt-BR" dirty="0"/>
                  <a:t> depende de </a:t>
                </a:r>
                <a14:m>
                  <m:oMath xmlns:m="http://schemas.openxmlformats.org/officeDocument/2006/math">
                    <m:r>
                      <a:rPr lang="pt-BR" i="1">
                        <a:latin typeface="Cambria Math" panose="02040503050406030204" pitchFamily="18" charset="0"/>
                      </a:rPr>
                      <m:t>h</m:t>
                    </m:r>
                    <m:r>
                      <a:rPr lang="pt-BR" i="1">
                        <a:latin typeface="Cambria Math" panose="02040503050406030204" pitchFamily="18" charset="0"/>
                      </a:rPr>
                      <m:t>[</m:t>
                    </m:r>
                    <m:r>
                      <a:rPr lang="pt-BR" i="1">
                        <a:latin typeface="Cambria Math" panose="02040503050406030204" pitchFamily="18" charset="0"/>
                      </a:rPr>
                      <m:t>𝑡</m:t>
                    </m:r>
                    <m:r>
                      <a:rPr lang="pt-BR" b="0" i="1" smtClean="0">
                        <a:latin typeface="Cambria Math" panose="02040503050406030204" pitchFamily="18" charset="0"/>
                      </a:rPr>
                      <m:t>−1</m:t>
                    </m:r>
                    <m:r>
                      <a:rPr lang="pt-BR" i="1">
                        <a:latin typeface="Cambria Math" panose="02040503050406030204" pitchFamily="18" charset="0"/>
                      </a:rPr>
                      <m:t>]</m:t>
                    </m:r>
                  </m:oMath>
                </a14:m>
                <a:r>
                  <a:rPr lang="pt-BR" dirty="0"/>
                  <a:t>, que por sua vez dependeu de </a:t>
                </a:r>
                <a14:m>
                  <m:oMath xmlns:m="http://schemas.openxmlformats.org/officeDocument/2006/math">
                    <m:r>
                      <a:rPr lang="pt-BR" b="1" i="1">
                        <a:latin typeface="Cambria Math" panose="02040503050406030204" pitchFamily="18" charset="0"/>
                      </a:rPr>
                      <m:t>𝑾</m:t>
                    </m:r>
                  </m:oMath>
                </a14:m>
                <a:r>
                  <a:rPr lang="pt-BR" dirty="0"/>
                  <a:t> no passado, que dependeu de </a:t>
                </a:r>
                <a14:m>
                  <m:oMath xmlns:m="http://schemas.openxmlformats.org/officeDocument/2006/math">
                    <m:r>
                      <a:rPr lang="pt-BR" i="1">
                        <a:latin typeface="Cambria Math" panose="02040503050406030204" pitchFamily="18" charset="0"/>
                      </a:rPr>
                      <m:t>h</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−2]</m:t>
                    </m:r>
                  </m:oMath>
                </a14:m>
                <a:r>
                  <a:rPr lang="pt-BR" dirty="0"/>
                  <a:t>, e assim por diante, voltando até o estado inicial </a:t>
                </a:r>
                <a14:m>
                  <m:oMath xmlns:m="http://schemas.openxmlformats.org/officeDocument/2006/math">
                    <m:r>
                      <a:rPr lang="pt-BR" i="1">
                        <a:latin typeface="Cambria Math" panose="02040503050406030204" pitchFamily="18" charset="0"/>
                      </a:rPr>
                      <m:t>h</m:t>
                    </m:r>
                    <m:r>
                      <a:rPr lang="pt-BR" i="1">
                        <a:latin typeface="Cambria Math" panose="02040503050406030204" pitchFamily="18" charset="0"/>
                      </a:rPr>
                      <m:t>[0]</m:t>
                    </m:r>
                  </m:oMath>
                </a14:m>
                <a:r>
                  <a:rPr lang="pt-BR" dirty="0"/>
                  <a:t>.</a:t>
                </a:r>
              </a:p>
            </p:txBody>
          </p:sp>
        </mc:Choice>
        <mc:Fallback xmlns="">
          <p:sp>
            <p:nvSpPr>
              <p:cNvPr id="3" name="Content Placeholder 2">
                <a:extLst>
                  <a:ext uri="{FF2B5EF4-FFF2-40B4-BE49-F238E27FC236}">
                    <a16:creationId xmlns:a16="http://schemas.microsoft.com/office/drawing/2014/main" id="{9D8FEDBB-8B0C-1AAA-8297-CE500B93DB3D}"/>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967" r="-1182"/>
                </a:stretch>
              </a:blipFill>
            </p:spPr>
            <p:txBody>
              <a:bodyPr/>
              <a:lstStyle/>
              <a:p>
                <a:r>
                  <a:rPr lang="en-US">
                    <a:noFill/>
                  </a:rPr>
                  <a:t> </a:t>
                </a:r>
              </a:p>
            </p:txBody>
          </p:sp>
        </mc:Fallback>
      </mc:AlternateContent>
      <p:sp>
        <p:nvSpPr>
          <p:cNvPr id="5" name="Retângulo 4">
            <a:extLst>
              <a:ext uri="{FF2B5EF4-FFF2-40B4-BE49-F238E27FC236}">
                <a16:creationId xmlns="" xmlns:a16="http://schemas.microsoft.com/office/drawing/2014/main" id="{50E1D4C1-A556-7B10-9906-749DD399F979}"/>
              </a:ext>
            </a:extLst>
          </p:cNvPr>
          <p:cNvSpPr/>
          <p:nvPr/>
        </p:nvSpPr>
        <p:spPr>
          <a:xfrm>
            <a:off x="9341749" y="1898923"/>
            <a:ext cx="867267" cy="98981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4743033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4FE833D8-2F7F-4BE1-D525-5FAE41667421}"/>
              </a:ext>
            </a:extLst>
          </p:cNvPr>
          <p:cNvSpPr>
            <a:spLocks noGrp="1"/>
          </p:cNvSpPr>
          <p:nvPr>
            <p:ph type="title"/>
          </p:nvPr>
        </p:nvSpPr>
        <p:spPr/>
        <p:txBody>
          <a:bodyPr/>
          <a:lstStyle/>
          <a:p>
            <a:r>
              <a:rPr lang="pt-BR" i="1" dirty="0" err="1"/>
              <a:t>Backpropagation</a:t>
            </a:r>
            <a:r>
              <a:rPr lang="pt-BR" i="1" dirty="0"/>
              <a:t> </a:t>
            </a:r>
            <a:r>
              <a:rPr lang="pt-BR" i="1" dirty="0" err="1"/>
              <a:t>Through</a:t>
            </a:r>
            <a:r>
              <a:rPr lang="pt-BR" i="1" dirty="0"/>
              <a:t> Time</a:t>
            </a:r>
            <a:r>
              <a:rPr lang="pt-BR" dirty="0"/>
              <a:t> (BPTT)</a:t>
            </a:r>
            <a:endParaRPr lang="en-US"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1EF0B173-DE7A-5E16-3DD6-EB66D50745A8}"/>
                  </a:ext>
                </a:extLst>
              </p:cNvPr>
              <p:cNvSpPr>
                <a:spLocks noGrp="1"/>
              </p:cNvSpPr>
              <p:nvPr>
                <p:ph idx="1"/>
              </p:nvPr>
            </p:nvSpPr>
            <p:spPr>
              <a:xfrm>
                <a:off x="838198" y="1825624"/>
                <a:ext cx="11353801" cy="5032375"/>
              </a:xfrm>
            </p:spPr>
            <p:txBody>
              <a:bodyPr>
                <a:normAutofit/>
              </a:bodyPr>
              <a:lstStyle/>
              <a:p>
                <a:r>
                  <a:rPr lang="pt-BR" dirty="0"/>
                  <a:t>Aplicando a regra da cadeia ao terceiro termo, obtemos a formulação analítica completa do BPTT para o passo de tempo </a:t>
                </a:r>
                <a14:m>
                  <m:oMath xmlns:m="http://schemas.openxmlformats.org/officeDocument/2006/math">
                    <m:r>
                      <a:rPr lang="pt-BR" b="0" i="1" smtClean="0">
                        <a:latin typeface="Cambria Math" panose="02040503050406030204" pitchFamily="18" charset="0"/>
                      </a:rPr>
                      <m:t>𝑡</m:t>
                    </m:r>
                  </m:oMath>
                </a14:m>
                <a:r>
                  <a:rPr lang="pt-BR" dirty="0"/>
                  <a:t>:</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r>
                            <a:rPr lang="pt-BR" i="1">
                              <a:latin typeface="Cambria Math" panose="02040503050406030204" pitchFamily="18" charset="0"/>
                            </a:rPr>
                            <m:t>𝐸</m:t>
                          </m:r>
                        </m:num>
                        <m:den>
                          <m:r>
                            <a:rPr lang="pt-BR" i="1">
                              <a:latin typeface="Cambria Math" panose="02040503050406030204" pitchFamily="18" charset="0"/>
                            </a:rPr>
                            <m:t>𝜕</m:t>
                          </m:r>
                          <m:r>
                            <a:rPr lang="pt-BR" b="1" i="1">
                              <a:latin typeface="Cambria Math" panose="02040503050406030204" pitchFamily="18" charset="0"/>
                            </a:rPr>
                            <m:t>𝑾</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𝑇</m:t>
                          </m:r>
                        </m:den>
                      </m:f>
                      <m:nary>
                        <m:naryPr>
                          <m:chr m:val="∑"/>
                          <m:ctrlPr>
                            <a:rPr lang="pt-BR" i="1">
                              <a:latin typeface="Cambria Math" panose="02040503050406030204" pitchFamily="18" charset="0"/>
                            </a:rPr>
                          </m:ctrlPr>
                        </m:naryPr>
                        <m:sub>
                          <m:r>
                            <a:rPr lang="pt-BR" i="1">
                              <a:latin typeface="Cambria Math" panose="02040503050406030204" pitchFamily="18" charset="0"/>
                            </a:rPr>
                            <m:t>𝑡</m:t>
                          </m:r>
                          <m:r>
                            <a:rPr lang="pt-BR" i="1">
                              <a:latin typeface="Cambria Math" panose="02040503050406030204" pitchFamily="18" charset="0"/>
                            </a:rPr>
                            <m:t>=0</m:t>
                          </m:r>
                        </m:sub>
                        <m:sup>
                          <m:r>
                            <a:rPr lang="pt-BR" i="1">
                              <a:latin typeface="Cambria Math" panose="02040503050406030204" pitchFamily="18" charset="0"/>
                            </a:rPr>
                            <m:t>𝑇</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i="1">
                                      <a:latin typeface="Cambria Math" panose="02040503050406030204" pitchFamily="18" charset="0"/>
                                    </a:rPr>
                                    <m:t>𝑡</m:t>
                                  </m:r>
                                </m:sub>
                              </m:sSub>
                            </m:num>
                            <m:den>
                              <m:r>
                                <a:rPr lang="pt-BR" i="1">
                                  <a:latin typeface="Cambria Math" panose="02040503050406030204" pitchFamily="18" charset="0"/>
                                </a:rPr>
                                <m:t>𝜕</m:t>
                              </m:r>
                              <m:r>
                                <a:rPr lang="pt-BR" b="1" i="1">
                                  <a:latin typeface="Cambria Math" panose="02040503050406030204" pitchFamily="18" charset="0"/>
                                </a:rPr>
                                <m:t>𝑾</m:t>
                              </m:r>
                            </m:den>
                          </m:f>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𝑇</m:t>
                          </m:r>
                        </m:den>
                      </m:f>
                      <m:nary>
                        <m:naryPr>
                          <m:chr m:val="∑"/>
                          <m:ctrlPr>
                            <a:rPr lang="pt-BR" i="1">
                              <a:latin typeface="Cambria Math" panose="02040503050406030204" pitchFamily="18" charset="0"/>
                            </a:rPr>
                          </m:ctrlPr>
                        </m:naryPr>
                        <m:sub>
                          <m:r>
                            <a:rPr lang="pt-BR" i="1">
                              <a:latin typeface="Cambria Math" panose="02040503050406030204" pitchFamily="18" charset="0"/>
                            </a:rPr>
                            <m:t>𝑡</m:t>
                          </m:r>
                          <m:r>
                            <a:rPr lang="pt-BR" i="1">
                              <a:latin typeface="Cambria Math" panose="02040503050406030204" pitchFamily="18" charset="0"/>
                            </a:rPr>
                            <m:t>=0</m:t>
                          </m:r>
                        </m:sub>
                        <m:sup>
                          <m:r>
                            <a:rPr lang="pt-BR" i="1">
                              <a:latin typeface="Cambria Math" panose="02040503050406030204" pitchFamily="18" charset="0"/>
                            </a:rPr>
                            <m:t>𝑇</m:t>
                          </m:r>
                          <m:r>
                            <a:rPr lang="pt-BR" i="1">
                              <a:latin typeface="Cambria Math" panose="02040503050406030204" pitchFamily="18" charset="0"/>
                            </a:rPr>
                            <m:t>−1</m:t>
                          </m:r>
                        </m:sup>
                        <m:e>
                          <m:nary>
                            <m:naryPr>
                              <m:chr m:val="∑"/>
                              <m:ctrlPr>
                                <a:rPr lang="pt-BR" i="1" smtClean="0">
                                  <a:latin typeface="Cambria Math" panose="02040503050406030204" pitchFamily="18" charset="0"/>
                                </a:rPr>
                              </m:ctrlPr>
                            </m:naryPr>
                            <m:sub>
                              <m:r>
                                <m:rPr>
                                  <m:brk m:alnAt="23"/>
                                </m:rPr>
                                <a:rPr lang="pt-BR" b="0" i="1" smtClean="0">
                                  <a:latin typeface="Cambria Math" panose="02040503050406030204" pitchFamily="18" charset="0"/>
                                </a:rPr>
                                <m:t>𝑘</m:t>
                              </m:r>
                              <m:r>
                                <a:rPr lang="pt-BR" b="0" i="1" smtClean="0">
                                  <a:latin typeface="Cambria Math" panose="02040503050406030204" pitchFamily="18" charset="0"/>
                                </a:rPr>
                                <m:t>=</m:t>
                              </m:r>
                              <m:r>
                                <m:rPr>
                                  <m:brk m:alnAt="23"/>
                                </m:rPr>
                                <a:rPr lang="pt-BR" b="0" i="1" smtClean="0">
                                  <a:latin typeface="Cambria Math" panose="02040503050406030204" pitchFamily="18" charset="0"/>
                                </a:rPr>
                                <m:t>1</m:t>
                              </m:r>
                            </m:sub>
                            <m:sup>
                              <m:r>
                                <a:rPr lang="pt-BR" b="0" i="1" smtClean="0">
                                  <a:latin typeface="Cambria Math" panose="02040503050406030204" pitchFamily="18" charset="0"/>
                                </a:rPr>
                                <m:t>𝑡</m:t>
                              </m:r>
                            </m:sup>
                            <m:e>
                              <m:f>
                                <m:fPr>
                                  <m:ctrlPr>
                                    <a:rPr lang="pt-BR" i="1" smtClean="0">
                                      <a:latin typeface="Cambria Math" panose="02040503050406030204" pitchFamily="18" charset="0"/>
                                    </a:rPr>
                                  </m:ctrlPr>
                                </m:fPr>
                                <m:num>
                                  <m:r>
                                    <a:rPr lang="pt-BR" i="1" smtClean="0">
                                      <a:latin typeface="Cambria Math" panose="02040503050406030204" pitchFamily="18" charset="0"/>
                                    </a:rPr>
                                    <m:t>𝜕</m:t>
                                  </m:r>
                                  <m:r>
                                    <a:rPr lang="pt-BR" i="1">
                                      <a:latin typeface="Cambria Math" panose="02040503050406030204" pitchFamily="18" charset="0"/>
                                    </a:rPr>
                                    <m:t>𝑒</m:t>
                                  </m:r>
                                  <m:r>
                                    <a:rPr lang="pt-BR" i="1">
                                      <a:latin typeface="Cambria Math" panose="02040503050406030204" pitchFamily="18" charset="0"/>
                                    </a:rPr>
                                    <m:t>(</m:t>
                                  </m:r>
                                  <m:r>
                                    <a:rPr lang="pt-BR" i="1">
                                      <a:latin typeface="Cambria Math" panose="02040503050406030204" pitchFamily="18" charset="0"/>
                                    </a:rPr>
                                    <m:t>𝑦</m:t>
                                  </m:r>
                                  <m:d>
                                    <m:dPr>
                                      <m:begChr m:val="["/>
                                      <m:endChr m:val="]"/>
                                      <m:ctrlPr>
                                        <a:rPr lang="pt-BR" i="1">
                                          <a:latin typeface="Cambria Math" panose="02040503050406030204" pitchFamily="18" charset="0"/>
                                        </a:rPr>
                                      </m:ctrlPr>
                                    </m:dPr>
                                    <m:e>
                                      <m:r>
                                        <a:rPr lang="pt-BR" i="1">
                                          <a:latin typeface="Cambria Math" panose="02040503050406030204" pitchFamily="18" charset="0"/>
                                        </a:rPr>
                                        <m:t>𝑡</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num>
                                <m:den>
                                  <m:r>
                                    <a:rPr lang="pt-BR" i="1" smtClean="0">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den>
                              </m:f>
                              <m:f>
                                <m:fPr>
                                  <m:ctrlPr>
                                    <a:rPr lang="pt-BR" i="1">
                                      <a:latin typeface="Cambria Math" panose="02040503050406030204" pitchFamily="18" charset="0"/>
                                    </a:rPr>
                                  </m:ctrlPr>
                                </m:fPr>
                                <m:num>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num>
                                <m:den>
                                  <m:r>
                                    <a:rPr lang="pt-BR" i="1">
                                      <a:latin typeface="Cambria Math" panose="02040503050406030204" pitchFamily="18" charset="0"/>
                                    </a:rPr>
                                    <m:t>𝜕</m:t>
                                  </m:r>
                                  <m:r>
                                    <a:rPr lang="pt-BR" i="1">
                                      <a:latin typeface="Cambria Math" panose="02040503050406030204" pitchFamily="18" charset="0"/>
                                    </a:rPr>
                                    <m:t>h</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den>
                              </m:f>
                              <m:d>
                                <m:dPr>
                                  <m:ctrlPr>
                                    <a:rPr lang="pt-BR" i="1" smtClean="0">
                                      <a:latin typeface="Cambria Math" panose="02040503050406030204" pitchFamily="18" charset="0"/>
                                    </a:rPr>
                                  </m:ctrlPr>
                                </m:dPr>
                                <m:e>
                                  <m:nary>
                                    <m:naryPr>
                                      <m:chr m:val="∏"/>
                                      <m:ctrlPr>
                                        <a:rPr lang="pt-BR" i="1" smtClean="0">
                                          <a:latin typeface="Cambria Math" panose="02040503050406030204" pitchFamily="18" charset="0"/>
                                        </a:rPr>
                                      </m:ctrlPr>
                                    </m:naryPr>
                                    <m:sub>
                                      <m:r>
                                        <m:rPr>
                                          <m:brk m:alnAt="23"/>
                                        </m:rPr>
                                        <a:rPr lang="pt-BR" b="0" i="1" smtClean="0">
                                          <a:latin typeface="Cambria Math" panose="02040503050406030204" pitchFamily="18" charset="0"/>
                                        </a:rPr>
                                        <m:t>𝑗</m:t>
                                      </m:r>
                                      <m:r>
                                        <a:rPr lang="pt-BR" b="0" i="1" smtClean="0">
                                          <a:latin typeface="Cambria Math" panose="02040503050406030204" pitchFamily="18" charset="0"/>
                                        </a:rPr>
                                        <m:t>=</m:t>
                                      </m:r>
                                      <m:r>
                                        <a:rPr lang="pt-BR" b="0" i="1" smtClean="0">
                                          <a:latin typeface="Cambria Math" panose="02040503050406030204" pitchFamily="18" charset="0"/>
                                        </a:rPr>
                                        <m:t>𝑘</m:t>
                                      </m:r>
                                      <m:r>
                                        <a:rPr lang="pt-BR" b="0" i="1" smtClean="0">
                                          <a:latin typeface="Cambria Math" panose="02040503050406030204" pitchFamily="18" charset="0"/>
                                        </a:rPr>
                                        <m:t>+</m:t>
                                      </m:r>
                                      <m:r>
                                        <m:rPr>
                                          <m:brk m:alnAt="23"/>
                                        </m:rPr>
                                        <a:rPr lang="pt-BR" b="0" i="1" smtClean="0">
                                          <a:latin typeface="Cambria Math" panose="02040503050406030204" pitchFamily="18" charset="0"/>
                                        </a:rPr>
                                        <m:t>1</m:t>
                                      </m:r>
                                    </m:sub>
                                    <m:sup>
                                      <m:r>
                                        <a:rPr lang="pt-BR" b="0" i="1" smtClean="0">
                                          <a:latin typeface="Cambria Math" panose="02040503050406030204" pitchFamily="18" charset="0"/>
                                        </a:rPr>
                                        <m:t>𝑡</m:t>
                                      </m:r>
                                    </m:sup>
                                    <m:e>
                                      <m:f>
                                        <m:fPr>
                                          <m:ctrlPr>
                                            <a:rPr lang="pt-BR" i="1" smtClean="0">
                                              <a:latin typeface="Cambria Math" panose="02040503050406030204" pitchFamily="18" charset="0"/>
                                            </a:rPr>
                                          </m:ctrlPr>
                                        </m:fPr>
                                        <m:num>
                                          <m:r>
                                            <a:rPr lang="pt-BR" i="1" smtClean="0">
                                              <a:latin typeface="Cambria Math" panose="02040503050406030204" pitchFamily="18" charset="0"/>
                                            </a:rPr>
                                            <m:t>𝜕</m:t>
                                          </m:r>
                                          <m:r>
                                            <a:rPr lang="pt-BR" b="0" i="1" smtClean="0">
                                              <a:latin typeface="Cambria Math" panose="02040503050406030204" pitchFamily="18" charset="0"/>
                                            </a:rPr>
                                            <m:t>h</m:t>
                                          </m:r>
                                          <m:r>
                                            <a:rPr lang="pt-BR" b="0" i="1" smtClean="0">
                                              <a:latin typeface="Cambria Math" panose="02040503050406030204" pitchFamily="18" charset="0"/>
                                            </a:rPr>
                                            <m:t>[</m:t>
                                          </m:r>
                                          <m:r>
                                            <a:rPr lang="pt-BR" b="0" i="1" smtClean="0">
                                              <a:latin typeface="Cambria Math" panose="02040503050406030204" pitchFamily="18" charset="0"/>
                                            </a:rPr>
                                            <m:t>𝑗</m:t>
                                          </m:r>
                                          <m:r>
                                            <a:rPr lang="pt-BR" b="0" i="1" smtClean="0">
                                              <a:latin typeface="Cambria Math" panose="02040503050406030204" pitchFamily="18" charset="0"/>
                                            </a:rPr>
                                            <m:t>]</m:t>
                                          </m:r>
                                        </m:num>
                                        <m:den>
                                          <m:r>
                                            <a:rPr lang="pt-BR" i="1" smtClean="0">
                                              <a:latin typeface="Cambria Math" panose="02040503050406030204" pitchFamily="18" charset="0"/>
                                            </a:rPr>
                                            <m:t>𝜕</m:t>
                                          </m:r>
                                          <m:r>
                                            <a:rPr lang="pt-BR" b="0" i="1" smtClean="0">
                                              <a:latin typeface="Cambria Math" panose="02040503050406030204" pitchFamily="18" charset="0"/>
                                            </a:rPr>
                                            <m:t>h</m:t>
                                          </m:r>
                                          <m:r>
                                            <a:rPr lang="pt-BR" b="0" i="1" smtClean="0">
                                              <a:latin typeface="Cambria Math" panose="02040503050406030204" pitchFamily="18" charset="0"/>
                                            </a:rPr>
                                            <m:t>[</m:t>
                                          </m:r>
                                          <m:r>
                                            <a:rPr lang="pt-BR" b="0" i="1" smtClean="0">
                                              <a:latin typeface="Cambria Math" panose="02040503050406030204" pitchFamily="18" charset="0"/>
                                            </a:rPr>
                                            <m:t>𝑗</m:t>
                                          </m:r>
                                          <m:r>
                                            <a:rPr lang="pt-BR" b="0" i="1" smtClean="0">
                                              <a:latin typeface="Cambria Math" panose="02040503050406030204" pitchFamily="18" charset="0"/>
                                            </a:rPr>
                                            <m:t>−1]</m:t>
                                          </m:r>
                                        </m:den>
                                      </m:f>
                                    </m:e>
                                  </m:nary>
                                </m:e>
                              </m:d>
                            </m:e>
                          </m:nary>
                        </m:e>
                      </m:nary>
                      <m:f>
                        <m:fPr>
                          <m:ctrlPr>
                            <a:rPr lang="pt-BR" i="1" smtClean="0">
                              <a:latin typeface="Cambria Math" panose="02040503050406030204" pitchFamily="18" charset="0"/>
                            </a:rPr>
                          </m:ctrlPr>
                        </m:fPr>
                        <m:num>
                          <m:r>
                            <a:rPr lang="pt-BR" i="1" smtClean="0">
                              <a:latin typeface="Cambria Math" panose="02040503050406030204" pitchFamily="18" charset="0"/>
                            </a:rPr>
                            <m:t>𝜕</m:t>
                          </m:r>
                          <m:r>
                            <a:rPr lang="pt-BR" b="0" i="1" smtClean="0">
                              <a:latin typeface="Cambria Math" panose="02040503050406030204" pitchFamily="18" charset="0"/>
                            </a:rPr>
                            <m:t>h</m:t>
                          </m:r>
                          <m:r>
                            <a:rPr lang="pt-BR" b="0" i="1" smtClean="0">
                              <a:latin typeface="Cambria Math" panose="02040503050406030204" pitchFamily="18" charset="0"/>
                            </a:rPr>
                            <m:t>[</m:t>
                          </m:r>
                          <m:r>
                            <a:rPr lang="pt-BR" b="0" i="1" smtClean="0">
                              <a:latin typeface="Cambria Math" panose="02040503050406030204" pitchFamily="18" charset="0"/>
                            </a:rPr>
                            <m:t>𝑘</m:t>
                          </m:r>
                          <m:r>
                            <a:rPr lang="pt-BR" b="0" i="1" smtClean="0">
                              <a:latin typeface="Cambria Math" panose="02040503050406030204" pitchFamily="18" charset="0"/>
                            </a:rPr>
                            <m:t>]</m:t>
                          </m:r>
                        </m:num>
                        <m:den>
                          <m:r>
                            <a:rPr lang="pt-BR" i="1" smtClean="0">
                              <a:latin typeface="Cambria Math" panose="02040503050406030204" pitchFamily="18" charset="0"/>
                            </a:rPr>
                            <m:t>𝜕</m:t>
                          </m:r>
                          <m:r>
                            <a:rPr lang="pt-BR" b="1" i="1" smtClean="0">
                              <a:latin typeface="Cambria Math" panose="02040503050406030204" pitchFamily="18" charset="0"/>
                            </a:rPr>
                            <m:t>𝑾</m:t>
                          </m:r>
                        </m:den>
                      </m:f>
                      <m:r>
                        <a:rPr lang="pt-BR" b="0" i="1" smtClean="0">
                          <a:latin typeface="Cambria Math" panose="02040503050406030204" pitchFamily="18" charset="0"/>
                        </a:rPr>
                        <m:t>.</m:t>
                      </m:r>
                    </m:oMath>
                  </m:oMathPara>
                </a14:m>
                <a:endParaRPr lang="en-US" dirty="0"/>
              </a:p>
              <a:p>
                <a:r>
                  <a:rPr lang="pt-BR" dirty="0"/>
                  <a:t>Notem que o gradiente envolve um </a:t>
                </a:r>
                <a:r>
                  <a:rPr lang="pt-BR" b="1" dirty="0">
                    <a:solidFill>
                      <a:srgbClr val="7030A0"/>
                    </a:solidFill>
                  </a:rPr>
                  <a:t>produto de muitas derivadas sucessivas</a:t>
                </a:r>
                <a:r>
                  <a:rPr lang="pt-BR" dirty="0"/>
                  <a:t>.</a:t>
                </a:r>
              </a:p>
              <a:p>
                <a:r>
                  <a:rPr lang="pt-BR" dirty="0"/>
                  <a:t>O </a:t>
                </a:r>
                <a:r>
                  <a:rPr lang="pt-BR" b="1" dirty="0" err="1">
                    <a:solidFill>
                      <a:schemeClr val="accent2"/>
                    </a:solidFill>
                  </a:rPr>
                  <a:t>produtório</a:t>
                </a:r>
                <a:r>
                  <a:rPr lang="pt-BR" dirty="0"/>
                  <a:t> na equação acima </a:t>
                </a:r>
                <a:r>
                  <a:rPr lang="pt-BR" b="1" dirty="0">
                    <a:solidFill>
                      <a:schemeClr val="accent2"/>
                    </a:solidFill>
                  </a:rPr>
                  <a:t>pode causar o desaparecimento ou a explosão do gradiente</a:t>
                </a:r>
                <a:r>
                  <a:rPr lang="pt-BR" dirty="0"/>
                  <a:t> dependendo dos valores das derivadas parciais, </a:t>
                </a:r>
                <a14:m>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r>
                          <a:rPr lang="pt-BR" i="1">
                            <a:latin typeface="Cambria Math" panose="02040503050406030204" pitchFamily="18" charset="0"/>
                          </a:rPr>
                          <m:t>h</m:t>
                        </m:r>
                        <m:r>
                          <a:rPr lang="pt-BR" i="1">
                            <a:latin typeface="Cambria Math" panose="02040503050406030204" pitchFamily="18" charset="0"/>
                          </a:rPr>
                          <m:t>[</m:t>
                        </m:r>
                        <m:r>
                          <a:rPr lang="pt-BR" i="1">
                            <a:latin typeface="Cambria Math" panose="02040503050406030204" pitchFamily="18" charset="0"/>
                          </a:rPr>
                          <m:t>𝑗</m:t>
                        </m:r>
                        <m:r>
                          <a:rPr lang="pt-BR" i="1">
                            <a:latin typeface="Cambria Math" panose="02040503050406030204" pitchFamily="18" charset="0"/>
                          </a:rPr>
                          <m:t>]</m:t>
                        </m:r>
                      </m:num>
                      <m:den>
                        <m:r>
                          <a:rPr lang="pt-BR" i="1">
                            <a:latin typeface="Cambria Math" panose="02040503050406030204" pitchFamily="18" charset="0"/>
                          </a:rPr>
                          <m:t>𝜕</m:t>
                        </m:r>
                        <m:r>
                          <a:rPr lang="pt-BR" i="1">
                            <a:latin typeface="Cambria Math" panose="02040503050406030204" pitchFamily="18" charset="0"/>
                          </a:rPr>
                          <m:t>h</m:t>
                        </m:r>
                        <m:r>
                          <a:rPr lang="pt-BR" i="1">
                            <a:latin typeface="Cambria Math" panose="02040503050406030204" pitchFamily="18" charset="0"/>
                          </a:rPr>
                          <m:t>[</m:t>
                        </m:r>
                        <m:r>
                          <a:rPr lang="pt-BR" i="1">
                            <a:latin typeface="Cambria Math" panose="02040503050406030204" pitchFamily="18" charset="0"/>
                          </a:rPr>
                          <m:t>𝑗</m:t>
                        </m:r>
                        <m:r>
                          <a:rPr lang="pt-BR" i="1">
                            <a:latin typeface="Cambria Math" panose="02040503050406030204" pitchFamily="18" charset="0"/>
                          </a:rPr>
                          <m:t>−1]</m:t>
                        </m:r>
                      </m:den>
                    </m:f>
                  </m:oMath>
                </a14:m>
                <a:r>
                  <a:rPr lang="pt-BR" dirty="0"/>
                  <a:t>.</a:t>
                </a:r>
              </a:p>
            </p:txBody>
          </p:sp>
        </mc:Choice>
        <mc:Fallback xmlns="">
          <p:sp>
            <p:nvSpPr>
              <p:cNvPr id="3" name="Espaço Reservado para Conteúdo 2">
                <a:extLst>
                  <a:ext uri="{FF2B5EF4-FFF2-40B4-BE49-F238E27FC236}">
                    <a16:creationId xmlns:a16="http://schemas.microsoft.com/office/drawing/2014/main" id="{1EF0B173-DE7A-5E16-3DD6-EB66D50745A8}"/>
                  </a:ext>
                </a:extLst>
              </p:cNvPr>
              <p:cNvSpPr>
                <a:spLocks noGrp="1" noRot="1" noChangeAspect="1" noMove="1" noResize="1" noEditPoints="1" noAdjustHandles="1" noChangeArrowheads="1" noChangeShapeType="1" noTextEdit="1"/>
              </p:cNvSpPr>
              <p:nvPr>
                <p:ph idx="1"/>
              </p:nvPr>
            </p:nvSpPr>
            <p:spPr>
              <a:xfrm>
                <a:off x="838198" y="1825624"/>
                <a:ext cx="11353801" cy="5032375"/>
              </a:xfrm>
              <a:blipFill>
                <a:blip r:embed="rId2"/>
                <a:stretch>
                  <a:fillRect l="-913" t="-1937"/>
                </a:stretch>
              </a:blipFill>
            </p:spPr>
            <p:txBody>
              <a:bodyPr/>
              <a:lstStyle/>
              <a:p>
                <a:r>
                  <a:rPr lang="en-US">
                    <a:noFill/>
                  </a:rPr>
                  <a:t> </a:t>
                </a:r>
              </a:p>
            </p:txBody>
          </p:sp>
        </mc:Fallback>
      </mc:AlternateContent>
    </p:spTree>
    <p:extLst>
      <p:ext uri="{BB962C8B-B14F-4D97-AF65-F5344CB8AC3E}">
        <p14:creationId xmlns:p14="http://schemas.microsoft.com/office/powerpoint/2010/main" val="77288623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930B3E83-9EAE-E8A7-7AA4-FBE22E963DDA}"/>
              </a:ext>
            </a:extLst>
          </p:cNvPr>
          <p:cNvSpPr>
            <a:spLocks noGrp="1"/>
          </p:cNvSpPr>
          <p:nvPr>
            <p:ph type="title"/>
          </p:nvPr>
        </p:nvSpPr>
        <p:spPr/>
        <p:txBody>
          <a:bodyPr/>
          <a:lstStyle/>
          <a:p>
            <a:r>
              <a:rPr lang="pt-BR" dirty="0"/>
              <a:t>Desaparecimento e explosão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3B29E5B8-582B-19A9-B4A3-70C3734023AF}"/>
                  </a:ext>
                </a:extLst>
              </p:cNvPr>
              <p:cNvSpPr>
                <a:spLocks noGrp="1"/>
              </p:cNvSpPr>
              <p:nvPr>
                <p:ph idx="1"/>
              </p:nvPr>
            </p:nvSpPr>
            <p:spPr>
              <a:xfrm>
                <a:off x="838200" y="1825624"/>
                <a:ext cx="11353800" cy="5032375"/>
              </a:xfrm>
            </p:spPr>
            <p:txBody>
              <a:bodyPr>
                <a:normAutofit lnSpcReduction="10000"/>
              </a:bodyPr>
              <a:lstStyle/>
              <a:p>
                <a:r>
                  <a:rPr lang="pt-BR" dirty="0"/>
                  <a:t>Se </a:t>
                </a:r>
                <a14:m>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r>
                          <a:rPr lang="pt-BR" i="1">
                            <a:latin typeface="Cambria Math" panose="02040503050406030204" pitchFamily="18" charset="0"/>
                          </a:rPr>
                          <m:t>h</m:t>
                        </m:r>
                        <m:r>
                          <a:rPr lang="pt-BR" i="1">
                            <a:latin typeface="Cambria Math" panose="02040503050406030204" pitchFamily="18" charset="0"/>
                          </a:rPr>
                          <m:t>[</m:t>
                        </m:r>
                        <m:r>
                          <a:rPr lang="pt-BR" b="0" i="1" smtClean="0">
                            <a:latin typeface="Cambria Math" panose="02040503050406030204" pitchFamily="18" charset="0"/>
                          </a:rPr>
                          <m:t>𝑗</m:t>
                        </m:r>
                        <m:r>
                          <a:rPr lang="pt-BR" i="1">
                            <a:latin typeface="Cambria Math" panose="02040503050406030204" pitchFamily="18" charset="0"/>
                          </a:rPr>
                          <m:t>]</m:t>
                        </m:r>
                      </m:num>
                      <m:den>
                        <m:r>
                          <a:rPr lang="pt-BR" i="1">
                            <a:latin typeface="Cambria Math" panose="02040503050406030204" pitchFamily="18" charset="0"/>
                          </a:rPr>
                          <m:t>𝜕</m:t>
                        </m:r>
                        <m:r>
                          <a:rPr lang="pt-BR" i="1">
                            <a:latin typeface="Cambria Math" panose="02040503050406030204" pitchFamily="18" charset="0"/>
                          </a:rPr>
                          <m:t>h</m:t>
                        </m:r>
                        <m:r>
                          <a:rPr lang="pt-BR" i="1">
                            <a:latin typeface="Cambria Math" panose="02040503050406030204" pitchFamily="18" charset="0"/>
                          </a:rPr>
                          <m:t>[</m:t>
                        </m:r>
                        <m:r>
                          <a:rPr lang="pt-BR" b="0" i="1" smtClean="0">
                            <a:latin typeface="Cambria Math" panose="02040503050406030204" pitchFamily="18" charset="0"/>
                          </a:rPr>
                          <m:t>𝑗</m:t>
                        </m:r>
                        <m:r>
                          <a:rPr lang="pt-BR" b="0" i="1" smtClean="0">
                            <a:latin typeface="Cambria Math" panose="02040503050406030204" pitchFamily="18" charset="0"/>
                          </a:rPr>
                          <m:t>−1]</m:t>
                        </m:r>
                      </m:den>
                    </m:f>
                    <m:r>
                      <a:rPr lang="pt-BR"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𝑗</m:t>
                    </m:r>
                    <m:r>
                      <a:rPr lang="pt-BR" b="0" i="0" smtClean="0">
                        <a:latin typeface="Cambria Math" panose="02040503050406030204" pitchFamily="18" charset="0"/>
                        <a:ea typeface="Cambria Math" panose="02040503050406030204" pitchFamily="18" charset="0"/>
                      </a:rPr>
                      <m:t>&lt;1</m:t>
                    </m:r>
                  </m:oMath>
                </a14:m>
                <a:r>
                  <a:rPr lang="pt-BR" dirty="0"/>
                  <a:t>, então o produto tende a </a:t>
                </a:r>
                <a:r>
                  <a:rPr lang="pt-BR" b="1" dirty="0"/>
                  <a:t>zero</a:t>
                </a:r>
              </a:p>
              <a:p>
                <a:pPr lvl="1">
                  <a:buFont typeface="Wingdings" panose="05000000000000000000" pitchFamily="2" charset="2"/>
                  <a:buChar char="§"/>
                </a:pPr>
                <a:r>
                  <a:rPr lang="pt-BR" dirty="0"/>
                  <a:t>A rede </a:t>
                </a:r>
                <a:r>
                  <a:rPr lang="pt-BR" b="1" dirty="0">
                    <a:solidFill>
                      <a:srgbClr val="7030A0"/>
                    </a:solidFill>
                  </a:rPr>
                  <a:t>esquece o passado mais distante</a:t>
                </a:r>
                <a:r>
                  <a:rPr lang="pt-BR" b="1" dirty="0"/>
                  <a:t> </a:t>
                </a:r>
                <a:r>
                  <a:rPr lang="pt-BR" dirty="0"/>
                  <a:t>(informação antiga se perde).</a:t>
                </a:r>
              </a:p>
              <a:p>
                <a:pPr lvl="1">
                  <a:buFont typeface="Wingdings" panose="05000000000000000000" pitchFamily="2" charset="2"/>
                  <a:buChar char="§"/>
                </a:pPr>
                <a:r>
                  <a:rPr lang="pt-BR" dirty="0"/>
                  <a:t>Não aprende </a:t>
                </a:r>
                <a:r>
                  <a:rPr lang="pt-BR" b="1" dirty="0"/>
                  <a:t>dependências de longo prazo, apenas curtas.</a:t>
                </a:r>
              </a:p>
              <a:p>
                <a:pPr lvl="2">
                  <a:buFont typeface="Courier New" panose="02070309020205020404" pitchFamily="49" charset="0"/>
                  <a:buChar char="o"/>
                </a:pPr>
                <a:r>
                  <a:rPr lang="pt-BR" dirty="0"/>
                  <a:t>Estados ocultos anteriores não têm efeito sobre os estados posteriores.</a:t>
                </a:r>
                <a:endParaRPr lang="en-US" dirty="0"/>
              </a:p>
              <a:p>
                <a:pPr lvl="1">
                  <a:buFont typeface="Wingdings" panose="05000000000000000000" pitchFamily="2" charset="2"/>
                  <a:buChar char="§"/>
                </a:pPr>
                <a:r>
                  <a:rPr lang="pt-BR" dirty="0"/>
                  <a:t>Treinamento se torna </a:t>
                </a:r>
                <a:r>
                  <a:rPr lang="pt-BR" b="1" dirty="0">
                    <a:solidFill>
                      <a:srgbClr val="7030A0"/>
                    </a:solidFill>
                  </a:rPr>
                  <a:t>muito lento</a:t>
                </a:r>
                <a:r>
                  <a:rPr lang="pt-BR" dirty="0"/>
                  <a:t> ou fica</a:t>
                </a:r>
                <a:r>
                  <a:rPr lang="pt-BR" b="1" dirty="0">
                    <a:solidFill>
                      <a:srgbClr val="7030A0"/>
                    </a:solidFill>
                  </a:rPr>
                  <a:t> estagnado</a:t>
                </a:r>
                <a:r>
                  <a:rPr lang="pt-BR" dirty="0"/>
                  <a:t>.</a:t>
                </a:r>
              </a:p>
              <a:p>
                <a:r>
                  <a:rPr lang="pt-BR" dirty="0"/>
                  <a:t>Se </a:t>
                </a:r>
                <a14:m>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r>
                          <a:rPr lang="pt-BR" i="1">
                            <a:latin typeface="Cambria Math" panose="02040503050406030204" pitchFamily="18" charset="0"/>
                          </a:rPr>
                          <m:t>h</m:t>
                        </m:r>
                        <m:r>
                          <a:rPr lang="pt-BR" i="1">
                            <a:latin typeface="Cambria Math" panose="02040503050406030204" pitchFamily="18" charset="0"/>
                          </a:rPr>
                          <m:t>[</m:t>
                        </m:r>
                        <m:r>
                          <a:rPr lang="pt-BR" b="0" i="1" smtClean="0">
                            <a:latin typeface="Cambria Math" panose="02040503050406030204" pitchFamily="18" charset="0"/>
                          </a:rPr>
                          <m:t>𝑗</m:t>
                        </m:r>
                        <m:r>
                          <a:rPr lang="pt-BR" i="1">
                            <a:latin typeface="Cambria Math" panose="02040503050406030204" pitchFamily="18" charset="0"/>
                          </a:rPr>
                          <m:t>]</m:t>
                        </m:r>
                      </m:num>
                      <m:den>
                        <m:r>
                          <a:rPr lang="pt-BR" i="1">
                            <a:latin typeface="Cambria Math" panose="02040503050406030204" pitchFamily="18" charset="0"/>
                          </a:rPr>
                          <m:t>𝜕</m:t>
                        </m:r>
                        <m:r>
                          <a:rPr lang="pt-BR" i="1">
                            <a:latin typeface="Cambria Math" panose="02040503050406030204" pitchFamily="18" charset="0"/>
                          </a:rPr>
                          <m:t>h</m:t>
                        </m:r>
                        <m:r>
                          <a:rPr lang="pt-BR" i="1">
                            <a:latin typeface="Cambria Math" panose="02040503050406030204" pitchFamily="18" charset="0"/>
                          </a:rPr>
                          <m:t>[</m:t>
                        </m:r>
                        <m:r>
                          <a:rPr lang="pt-BR" b="0" i="1" smtClean="0">
                            <a:latin typeface="Cambria Math" panose="02040503050406030204" pitchFamily="18" charset="0"/>
                          </a:rPr>
                          <m:t>𝑗</m:t>
                        </m:r>
                        <m:r>
                          <a:rPr lang="pt-BR" b="0" i="1" smtClean="0">
                            <a:latin typeface="Cambria Math" panose="02040503050406030204" pitchFamily="18" charset="0"/>
                          </a:rPr>
                          <m:t>−1]</m:t>
                        </m:r>
                      </m:den>
                    </m:f>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𝑗</m:t>
                    </m:r>
                    <m:r>
                      <a:rPr lang="pt-BR" b="0" i="0" smtClean="0">
                        <a:latin typeface="Cambria Math" panose="02040503050406030204" pitchFamily="18" charset="0"/>
                        <a:ea typeface="Cambria Math" panose="02040503050406030204" pitchFamily="18" charset="0"/>
                      </a:rPr>
                      <m:t>&gt;</m:t>
                    </m:r>
                    <m:r>
                      <a:rPr lang="pt-BR">
                        <a:latin typeface="Cambria Math" panose="02040503050406030204" pitchFamily="18" charset="0"/>
                        <a:ea typeface="Cambria Math" panose="02040503050406030204" pitchFamily="18" charset="0"/>
                      </a:rPr>
                      <m:t>1</m:t>
                    </m:r>
                  </m:oMath>
                </a14:m>
                <a:r>
                  <a:rPr lang="pt-BR" dirty="0"/>
                  <a:t>, então o produto </a:t>
                </a:r>
                <a:r>
                  <a:rPr lang="pt-BR" b="1" dirty="0"/>
                  <a:t>explode</a:t>
                </a:r>
              </a:p>
              <a:p>
                <a:pPr lvl="1">
                  <a:buFont typeface="Wingdings" panose="05000000000000000000" pitchFamily="2" charset="2"/>
                  <a:buChar char="§"/>
                </a:pPr>
                <a:r>
                  <a:rPr lang="en-US" dirty="0"/>
                  <a:t>O </a:t>
                </a:r>
                <a:r>
                  <a:rPr lang="en-US" dirty="0" err="1"/>
                  <a:t>modelo</a:t>
                </a:r>
                <a:r>
                  <a:rPr lang="en-US" dirty="0"/>
                  <a:t> </a:t>
                </a:r>
                <a:r>
                  <a:rPr lang="en-US" b="1" dirty="0">
                    <a:solidFill>
                      <a:schemeClr val="accent2"/>
                    </a:solidFill>
                  </a:rPr>
                  <a:t>diverge</a:t>
                </a:r>
                <a:r>
                  <a:rPr lang="en-US" dirty="0"/>
                  <a:t>.</a:t>
                </a:r>
              </a:p>
              <a:p>
                <a:pPr lvl="1">
                  <a:buFont typeface="Wingdings" panose="05000000000000000000" pitchFamily="2" charset="2"/>
                  <a:buChar char="§"/>
                </a:pPr>
                <a:r>
                  <a:rPr lang="pt-BR" dirty="0"/>
                  <a:t>Atualizações de pesos se tornam enormes.</a:t>
                </a:r>
              </a:p>
              <a:p>
                <a:pPr lvl="1">
                  <a:buFont typeface="Wingdings" panose="05000000000000000000" pitchFamily="2" charset="2"/>
                  <a:buChar char="§"/>
                </a:pPr>
                <a:r>
                  <a:rPr lang="pt-BR" b="1" dirty="0">
                    <a:solidFill>
                      <a:schemeClr val="accent2"/>
                    </a:solidFill>
                  </a:rPr>
                  <a:t>Treinamento instável</a:t>
                </a:r>
                <a:r>
                  <a:rPr lang="pt-BR" dirty="0"/>
                  <a:t>: erro vira </a:t>
                </a:r>
                <a:r>
                  <a:rPr lang="pt-BR" dirty="0" err="1"/>
                  <a:t>NaN</a:t>
                </a:r>
                <a:r>
                  <a:rPr lang="pt-BR" dirty="0"/>
                  <a:t>.</a:t>
                </a:r>
              </a:p>
              <a:p>
                <a:pPr lvl="1">
                  <a:buFont typeface="Wingdings" panose="05000000000000000000" pitchFamily="2" charset="2"/>
                  <a:buChar char="§"/>
                </a:pPr>
                <a:r>
                  <a:rPr lang="pt-BR" dirty="0"/>
                  <a:t>Sintoma típico: </a:t>
                </a:r>
                <a:r>
                  <a:rPr lang="en-US" b="1" dirty="0" err="1">
                    <a:solidFill>
                      <a:schemeClr val="accent2"/>
                    </a:solidFill>
                  </a:rPr>
                  <a:t>oscilação</a:t>
                </a:r>
                <a:r>
                  <a:rPr lang="en-US" b="1" dirty="0">
                    <a:solidFill>
                      <a:schemeClr val="accent2"/>
                    </a:solidFill>
                  </a:rPr>
                  <a:t> do </a:t>
                </a:r>
                <a:r>
                  <a:rPr lang="en-US" b="1" dirty="0" err="1">
                    <a:solidFill>
                      <a:schemeClr val="accent2"/>
                    </a:solidFill>
                  </a:rPr>
                  <a:t>erro</a:t>
                </a:r>
                <a:r>
                  <a:rPr lang="en-US" dirty="0"/>
                  <a:t>.</a:t>
                </a:r>
              </a:p>
              <a:p>
                <a:r>
                  <a:rPr lang="pt-BR" dirty="0"/>
                  <a:t>Na prática, o desaparecimento do gradiente é mais comum.</a:t>
                </a:r>
                <a:endParaRPr lang="en-US" dirty="0"/>
              </a:p>
            </p:txBody>
          </p:sp>
        </mc:Choice>
        <mc:Fallback xmlns="">
          <p:sp>
            <p:nvSpPr>
              <p:cNvPr id="3" name="Content Placeholder 2">
                <a:extLst>
                  <a:ext uri="{FF2B5EF4-FFF2-40B4-BE49-F238E27FC236}">
                    <a16:creationId xmlns:a16="http://schemas.microsoft.com/office/drawing/2014/main" id="{3B29E5B8-582B-19A9-B4A3-70C3734023AF}"/>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967" t="-969"/>
                </a:stretch>
              </a:blipFill>
            </p:spPr>
            <p:txBody>
              <a:bodyPr/>
              <a:lstStyle/>
              <a:p>
                <a:r>
                  <a:rPr lang="en-US">
                    <a:noFill/>
                  </a:rPr>
                  <a:t> </a:t>
                </a:r>
              </a:p>
            </p:txBody>
          </p:sp>
        </mc:Fallback>
      </mc:AlternateContent>
    </p:spTree>
    <p:extLst>
      <p:ext uri="{BB962C8B-B14F-4D97-AF65-F5344CB8AC3E}">
        <p14:creationId xmlns:p14="http://schemas.microsoft.com/office/powerpoint/2010/main" val="284775622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ACD051B6-265A-12A8-3776-6A1674C729BC}"/>
              </a:ext>
            </a:extLst>
          </p:cNvPr>
          <p:cNvSpPr>
            <a:spLocks noGrp="1"/>
          </p:cNvSpPr>
          <p:nvPr>
            <p:ph type="title"/>
          </p:nvPr>
        </p:nvSpPr>
        <p:spPr/>
        <p:txBody>
          <a:bodyPr/>
          <a:lstStyle/>
          <a:p>
            <a:r>
              <a:rPr lang="pt-BR" dirty="0"/>
              <a:t>Como mitigar esses problemas?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174046BC-6244-425E-9E7B-A8996ECB3C79}"/>
                  </a:ext>
                </a:extLst>
              </p:cNvPr>
              <p:cNvSpPr>
                <a:spLocks noGrp="1"/>
              </p:cNvSpPr>
              <p:nvPr>
                <p:ph idx="1"/>
              </p:nvPr>
            </p:nvSpPr>
            <p:spPr>
              <a:xfrm>
                <a:off x="838200" y="1825624"/>
                <a:ext cx="11353800" cy="5032375"/>
              </a:xfrm>
            </p:spPr>
            <p:txBody>
              <a:bodyPr>
                <a:normAutofit/>
              </a:bodyPr>
              <a:lstStyle/>
              <a:p>
                <a:r>
                  <a:rPr lang="pt-BR" b="1" dirty="0"/>
                  <a:t>Para a explosão</a:t>
                </a:r>
                <a:r>
                  <a:rPr lang="pt-BR" dirty="0"/>
                  <a:t>: </a:t>
                </a:r>
              </a:p>
              <a:p>
                <a:pPr lvl="1">
                  <a:buFont typeface="Wingdings" panose="05000000000000000000" pitchFamily="2" charset="2"/>
                  <a:buChar char="§"/>
                </a:pPr>
                <a:r>
                  <a:rPr lang="pt-BR" dirty="0"/>
                  <a:t>Limitar a magnitude do gradiente (</a:t>
                </a:r>
                <a:r>
                  <a:rPr lang="pt-BR" i="1" dirty="0" err="1"/>
                  <a:t>gradient</a:t>
                </a:r>
                <a:r>
                  <a:rPr lang="pt-BR" i="1" dirty="0"/>
                  <a:t> clipping</a:t>
                </a:r>
                <a:r>
                  <a:rPr lang="pt-BR" dirty="0"/>
                  <a:t>)</a:t>
                </a:r>
              </a:p>
              <a:p>
                <a:pPr lvl="1">
                  <a:buFont typeface="Wingdings" panose="05000000000000000000" pitchFamily="2" charset="2"/>
                  <a:buChar char="§"/>
                </a:pPr>
                <a:r>
                  <a:rPr lang="pt-BR" dirty="0"/>
                  <a:t>Inicializar os pesos de forma apropriada (inicializações de He e Xavier)</a:t>
                </a:r>
              </a:p>
              <a:p>
                <a:r>
                  <a:rPr lang="pt-BR" b="1" dirty="0"/>
                  <a:t>Para o desaparecimento</a:t>
                </a:r>
                <a:r>
                  <a:rPr lang="pt-BR" dirty="0"/>
                  <a:t>:</a:t>
                </a:r>
              </a:p>
              <a:p>
                <a:pPr lvl="1">
                  <a:buFont typeface="Wingdings" panose="05000000000000000000" pitchFamily="2" charset="2"/>
                  <a:buChar char="§"/>
                </a:pPr>
                <a:r>
                  <a:rPr lang="pt-BR" dirty="0"/>
                  <a:t>Usar arquiteturas de </a:t>
                </a:r>
                <a:r>
                  <a:rPr lang="pt-BR" dirty="0" err="1"/>
                  <a:t>RNNs</a:t>
                </a:r>
                <a:r>
                  <a:rPr lang="pt-BR" dirty="0"/>
                  <a:t> mais avançadas: LSTM e GRU</a:t>
                </a:r>
              </a:p>
              <a:p>
                <a:pPr lvl="2">
                  <a:buFont typeface="Courier New" panose="02070309020205020404" pitchFamily="49" charset="0"/>
                  <a:buChar char="o"/>
                </a:pPr>
                <a:r>
                  <a:rPr lang="pt-BR" sz="2100" dirty="0"/>
                  <a:t>Introduzem o </a:t>
                </a:r>
                <a:r>
                  <a:rPr lang="pt-BR" sz="2100" b="1" dirty="0">
                    <a:solidFill>
                      <a:schemeClr val="accent2"/>
                    </a:solidFill>
                  </a:rPr>
                  <a:t>conceito de </a:t>
                </a:r>
                <a:r>
                  <a:rPr lang="pt-BR" sz="2100" b="1" i="1" dirty="0" err="1">
                    <a:solidFill>
                      <a:schemeClr val="accent2"/>
                    </a:solidFill>
                  </a:rPr>
                  <a:t>gates</a:t>
                </a:r>
                <a:r>
                  <a:rPr lang="pt-BR" sz="2100" dirty="0"/>
                  <a:t>, funcionando como </a:t>
                </a:r>
                <a:r>
                  <a:rPr lang="pt-BR" sz="2100" b="1" dirty="0">
                    <a:solidFill>
                      <a:schemeClr val="accent2"/>
                    </a:solidFill>
                  </a:rPr>
                  <a:t>válvulas </a:t>
                </a:r>
                <a:r>
                  <a:rPr lang="en-US" sz="2100" b="1" dirty="0">
                    <a:solidFill>
                      <a:schemeClr val="accent2"/>
                    </a:solidFill>
                  </a:rPr>
                  <a:t>de </a:t>
                </a:r>
                <a:r>
                  <a:rPr lang="en-US" sz="2100" b="1" dirty="0" err="1">
                    <a:solidFill>
                      <a:schemeClr val="accent2"/>
                    </a:solidFill>
                  </a:rPr>
                  <a:t>informação</a:t>
                </a:r>
                <a:r>
                  <a:rPr lang="en-US" sz="2100" b="1" dirty="0">
                    <a:solidFill>
                      <a:schemeClr val="accent2"/>
                    </a:solidFill>
                  </a:rPr>
                  <a:t> e </a:t>
                </a:r>
                <a:r>
                  <a:rPr lang="en-US" sz="2100" b="1" dirty="0" err="1">
                    <a:solidFill>
                      <a:schemeClr val="accent2"/>
                    </a:solidFill>
                  </a:rPr>
                  <a:t>gradiente</a:t>
                </a:r>
                <a:endParaRPr lang="pt-BR" sz="2100" b="1" dirty="0">
                  <a:solidFill>
                    <a:schemeClr val="accent2"/>
                  </a:solidFill>
                </a:endParaRPr>
              </a:p>
              <a:p>
                <a:pPr lvl="3">
                  <a:buFont typeface="Wingdings" panose="05000000000000000000" pitchFamily="2" charset="2"/>
                  <a:buChar char="ü"/>
                </a:pPr>
                <a:r>
                  <a:rPr lang="pt-BR" dirty="0"/>
                  <a:t>Eles são funções (em geral, sigmoide) que produzem valores entre 0 e 1:</a:t>
                </a:r>
              </a:p>
              <a:p>
                <a:pPr lvl="4">
                  <a:buFont typeface="Wingdings" panose="05000000000000000000" pitchFamily="2" charset="2"/>
                  <a:buChar char="Ø"/>
                </a:pPr>
                <a:r>
                  <a:rPr lang="pt-BR" dirty="0"/>
                  <a:t>0 → bloqueia informação </a:t>
                </a:r>
              </a:p>
              <a:p>
                <a:pPr lvl="4">
                  <a:buFont typeface="Wingdings" panose="05000000000000000000" pitchFamily="2" charset="2"/>
                  <a:buChar char="Ø"/>
                </a:pPr>
                <a:r>
                  <a:rPr lang="pt-BR" dirty="0"/>
                  <a:t>1 → deixa passar totalmente</a:t>
                </a:r>
              </a:p>
              <a:p>
                <a:pPr lvl="2">
                  <a:buFont typeface="Courier New" panose="02070309020205020404" pitchFamily="49" charset="0"/>
                  <a:buChar char="o"/>
                </a:pPr>
                <a:r>
                  <a:rPr lang="pt-BR" sz="1800" dirty="0"/>
                  <a:t>Criam caminhos com derivada </a:t>
                </a:r>
                <a14:m>
                  <m:oMath xmlns:m="http://schemas.openxmlformats.org/officeDocument/2006/math">
                    <m:r>
                      <a:rPr lang="pt-BR" sz="1800" i="1" smtClean="0">
                        <a:latin typeface="Cambria Math" panose="02040503050406030204" pitchFamily="18" charset="0"/>
                        <a:ea typeface="Cambria Math" panose="02040503050406030204" pitchFamily="18" charset="0"/>
                      </a:rPr>
                      <m:t>≈</m:t>
                    </m:r>
                  </m:oMath>
                </a14:m>
                <a:r>
                  <a:rPr lang="pt-BR" sz="1800" dirty="0"/>
                  <a:t> 1</a:t>
                </a:r>
              </a:p>
              <a:p>
                <a:pPr lvl="3">
                  <a:buFont typeface="Wingdings" panose="05000000000000000000" pitchFamily="2" charset="2"/>
                  <a:buChar char="ü"/>
                </a:pPr>
                <a:r>
                  <a:rPr lang="pt-BR" b="1" dirty="0">
                    <a:solidFill>
                      <a:schemeClr val="accent2"/>
                    </a:solidFill>
                  </a:rPr>
                  <a:t>Mantendo o gradiente estável</a:t>
                </a:r>
              </a:p>
              <a:p>
                <a:pPr lvl="1">
                  <a:buFont typeface="Wingdings" panose="05000000000000000000" pitchFamily="2" charset="2"/>
                  <a:buChar char="§"/>
                </a:pPr>
                <a:r>
                  <a:rPr lang="pt-BR" b="1" dirty="0">
                    <a:solidFill>
                      <a:schemeClr val="accent6"/>
                    </a:solidFill>
                  </a:rPr>
                  <a:t>Conexões residuais</a:t>
                </a:r>
                <a:r>
                  <a:rPr lang="pt-BR" dirty="0"/>
                  <a:t>: criam </a:t>
                </a:r>
                <a:r>
                  <a:rPr lang="pt-BR" b="1" dirty="0">
                    <a:solidFill>
                      <a:schemeClr val="accent6"/>
                    </a:solidFill>
                  </a:rPr>
                  <a:t>caminhos diretos</a:t>
                </a:r>
                <a:r>
                  <a:rPr lang="pt-BR" dirty="0"/>
                  <a:t> para o gradiente</a:t>
                </a:r>
              </a:p>
              <a:p>
                <a:pPr lvl="1">
                  <a:buFont typeface="Wingdings" panose="05000000000000000000" pitchFamily="2" charset="2"/>
                  <a:buChar char="§"/>
                </a:pPr>
                <a:r>
                  <a:rPr lang="pt-BR" dirty="0"/>
                  <a:t>Inicializar os pesos de forma apropriada (inicializações de He e Xavier)</a:t>
                </a:r>
              </a:p>
            </p:txBody>
          </p:sp>
        </mc:Choice>
        <mc:Fallback xmlns="">
          <p:sp>
            <p:nvSpPr>
              <p:cNvPr id="3" name="Content Placeholder 2">
                <a:extLst>
                  <a:ext uri="{FF2B5EF4-FFF2-40B4-BE49-F238E27FC236}">
                    <a16:creationId xmlns:a16="http://schemas.microsoft.com/office/drawing/2014/main" id="{174046BC-6244-425E-9E7B-A8996ECB3C79}"/>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967" t="-1937"/>
                </a:stretch>
              </a:blipFill>
            </p:spPr>
            <p:txBody>
              <a:bodyPr/>
              <a:lstStyle/>
              <a:p>
                <a:r>
                  <a:rPr lang="en-US">
                    <a:noFill/>
                  </a:rPr>
                  <a:t> </a:t>
                </a:r>
              </a:p>
            </p:txBody>
          </p:sp>
        </mc:Fallback>
      </mc:AlternateContent>
    </p:spTree>
    <p:extLst>
      <p:ext uri="{BB962C8B-B14F-4D97-AF65-F5344CB8AC3E}">
        <p14:creationId xmlns:p14="http://schemas.microsoft.com/office/powerpoint/2010/main" val="174217843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E8E720CE-A76C-A8B2-DCF8-0B3E17CD94F9}"/>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DE327AF2-2A80-2FD6-C65B-1F47B4EFD6B1}"/>
              </a:ext>
            </a:extLst>
          </p:cNvPr>
          <p:cNvSpPr>
            <a:spLocks noGrp="1"/>
          </p:cNvSpPr>
          <p:nvPr>
            <p:ph type="title"/>
          </p:nvPr>
        </p:nvSpPr>
        <p:spPr/>
        <p:txBody>
          <a:bodyPr/>
          <a:lstStyle/>
          <a:p>
            <a:r>
              <a:rPr lang="pt-BR" i="1" dirty="0" err="1"/>
              <a:t>Backpropagation</a:t>
            </a:r>
            <a:r>
              <a:rPr lang="pt-BR" i="1" dirty="0"/>
              <a:t> </a:t>
            </a:r>
            <a:r>
              <a:rPr lang="pt-BR" i="1" dirty="0" err="1"/>
              <a:t>Through</a:t>
            </a:r>
            <a:r>
              <a:rPr lang="pt-BR" i="1" dirty="0"/>
              <a:t> Time</a:t>
            </a:r>
            <a:r>
              <a:rPr lang="pt-BR" dirty="0"/>
              <a:t> (BPTT)</a:t>
            </a:r>
            <a:endParaRPr lang="en-US"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94F3B9AB-2499-75D6-23C6-F253DEDF362D}"/>
                  </a:ext>
                </a:extLst>
              </p:cNvPr>
              <p:cNvSpPr>
                <a:spLocks noGrp="1"/>
              </p:cNvSpPr>
              <p:nvPr>
                <p:ph idx="1"/>
              </p:nvPr>
            </p:nvSpPr>
            <p:spPr>
              <a:xfrm>
                <a:off x="838198" y="1825624"/>
                <a:ext cx="11353801" cy="5032375"/>
              </a:xfrm>
            </p:spPr>
            <p:txBody>
              <a:bodyPr>
                <a:normAutofit/>
              </a:bodyPr>
              <a:lstStyle/>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r>
                            <a:rPr lang="pt-BR" i="1">
                              <a:latin typeface="Cambria Math" panose="02040503050406030204" pitchFamily="18" charset="0"/>
                            </a:rPr>
                            <m:t>𝐸</m:t>
                          </m:r>
                        </m:num>
                        <m:den>
                          <m:r>
                            <a:rPr lang="pt-BR" i="1">
                              <a:latin typeface="Cambria Math" panose="02040503050406030204" pitchFamily="18" charset="0"/>
                            </a:rPr>
                            <m:t>𝜕</m:t>
                          </m:r>
                          <m:r>
                            <a:rPr lang="pt-BR" b="1" i="1">
                              <a:latin typeface="Cambria Math" panose="02040503050406030204" pitchFamily="18" charset="0"/>
                            </a:rPr>
                            <m:t>𝑾</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𝑇</m:t>
                          </m:r>
                        </m:den>
                      </m:f>
                      <m:nary>
                        <m:naryPr>
                          <m:chr m:val="∑"/>
                          <m:ctrlPr>
                            <a:rPr lang="pt-BR" i="1">
                              <a:latin typeface="Cambria Math" panose="02040503050406030204" pitchFamily="18" charset="0"/>
                            </a:rPr>
                          </m:ctrlPr>
                        </m:naryPr>
                        <m:sub>
                          <m:r>
                            <a:rPr lang="pt-BR" i="1">
                              <a:latin typeface="Cambria Math" panose="02040503050406030204" pitchFamily="18" charset="0"/>
                            </a:rPr>
                            <m:t>𝑡</m:t>
                          </m:r>
                          <m:r>
                            <a:rPr lang="pt-BR" i="1">
                              <a:latin typeface="Cambria Math" panose="02040503050406030204" pitchFamily="18" charset="0"/>
                            </a:rPr>
                            <m:t>=</m:t>
                          </m:r>
                          <m:r>
                            <a:rPr lang="pt-BR" i="1">
                              <a:latin typeface="Cambria Math" panose="02040503050406030204" pitchFamily="18" charset="0"/>
                            </a:rPr>
                            <m:t>0</m:t>
                          </m:r>
                        </m:sub>
                        <m:sup>
                          <m:r>
                            <a:rPr lang="pt-BR" i="1">
                              <a:latin typeface="Cambria Math" panose="02040503050406030204" pitchFamily="18" charset="0"/>
                            </a:rPr>
                            <m:t>𝑇</m:t>
                          </m:r>
                          <m:r>
                            <a:rPr lang="pt-BR" i="1">
                              <a:latin typeface="Cambria Math" panose="02040503050406030204" pitchFamily="18" charset="0"/>
                            </a:rPr>
                            <m:t>−</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i="1">
                                      <a:latin typeface="Cambria Math" panose="02040503050406030204" pitchFamily="18" charset="0"/>
                                    </a:rPr>
                                    <m:t>𝑡</m:t>
                                  </m:r>
                                </m:sub>
                              </m:sSub>
                            </m:num>
                            <m:den>
                              <m:r>
                                <a:rPr lang="pt-BR" i="1">
                                  <a:latin typeface="Cambria Math" panose="02040503050406030204" pitchFamily="18" charset="0"/>
                                </a:rPr>
                                <m:t>𝜕</m:t>
                              </m:r>
                              <m:r>
                                <a:rPr lang="pt-BR" b="1" i="1">
                                  <a:latin typeface="Cambria Math" panose="02040503050406030204" pitchFamily="18" charset="0"/>
                                </a:rPr>
                                <m:t>𝑾</m:t>
                              </m:r>
                            </m:den>
                          </m:f>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𝑇</m:t>
                          </m:r>
                        </m:den>
                      </m:f>
                      <m:nary>
                        <m:naryPr>
                          <m:chr m:val="∑"/>
                          <m:ctrlPr>
                            <a:rPr lang="pt-BR" i="1">
                              <a:latin typeface="Cambria Math" panose="02040503050406030204" pitchFamily="18" charset="0"/>
                            </a:rPr>
                          </m:ctrlPr>
                        </m:naryPr>
                        <m:sub>
                          <m:r>
                            <a:rPr lang="pt-BR" i="1">
                              <a:latin typeface="Cambria Math" panose="02040503050406030204" pitchFamily="18" charset="0"/>
                            </a:rPr>
                            <m:t>𝑡</m:t>
                          </m:r>
                          <m:r>
                            <a:rPr lang="pt-BR" i="1">
                              <a:latin typeface="Cambria Math" panose="02040503050406030204" pitchFamily="18" charset="0"/>
                            </a:rPr>
                            <m:t>=</m:t>
                          </m:r>
                          <m:r>
                            <a:rPr lang="pt-BR" i="1">
                              <a:latin typeface="Cambria Math" panose="02040503050406030204" pitchFamily="18" charset="0"/>
                            </a:rPr>
                            <m:t>0</m:t>
                          </m:r>
                        </m:sub>
                        <m:sup>
                          <m:r>
                            <a:rPr lang="pt-BR" i="1">
                              <a:latin typeface="Cambria Math" panose="02040503050406030204" pitchFamily="18" charset="0"/>
                            </a:rPr>
                            <m:t>𝑇</m:t>
                          </m:r>
                          <m:r>
                            <a:rPr lang="pt-BR" i="1">
                              <a:latin typeface="Cambria Math" panose="02040503050406030204" pitchFamily="18" charset="0"/>
                            </a:rPr>
                            <m:t>−</m:t>
                          </m:r>
                          <m:r>
                            <a:rPr lang="pt-BR" i="1">
                              <a:latin typeface="Cambria Math" panose="02040503050406030204" pitchFamily="18" charset="0"/>
                            </a:rPr>
                            <m:t>1</m:t>
                          </m:r>
                        </m:sup>
                        <m:e>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𝑘</m:t>
                              </m:r>
                              <m:r>
                                <a:rPr lang="pt-BR" i="1">
                                  <a:latin typeface="Cambria Math" panose="02040503050406030204" pitchFamily="18" charset="0"/>
                                </a:rPr>
                                <m:t>=</m:t>
                              </m:r>
                              <m:r>
                                <a:rPr lang="pt-BR" i="1">
                                  <a:latin typeface="Cambria Math" panose="02040503050406030204" pitchFamily="18" charset="0"/>
                                </a:rPr>
                                <m:t>1</m:t>
                              </m:r>
                            </m:sub>
                            <m:sup>
                              <m:r>
                                <a:rPr lang="pt-BR" i="1">
                                  <a:latin typeface="Cambria Math" panose="02040503050406030204" pitchFamily="18" charset="0"/>
                                </a:rPr>
                                <m:t>𝑡</m:t>
                              </m:r>
                            </m:sup>
                            <m:e>
                              <m:f>
                                <m:fPr>
                                  <m:ctrlPr>
                                    <a:rPr lang="pt-BR" i="1">
                                      <a:latin typeface="Cambria Math" panose="02040503050406030204" pitchFamily="18" charset="0"/>
                                    </a:rPr>
                                  </m:ctrlPr>
                                </m:fPr>
                                <m:num>
                                  <m:r>
                                    <a:rPr lang="pt-BR" i="1">
                                      <a:latin typeface="Cambria Math" panose="02040503050406030204" pitchFamily="18" charset="0"/>
                                    </a:rPr>
                                    <m:t>𝜕</m:t>
                                  </m:r>
                                  <m:r>
                                    <a:rPr lang="pt-BR" i="1">
                                      <a:latin typeface="Cambria Math" panose="02040503050406030204" pitchFamily="18" charset="0"/>
                                    </a:rPr>
                                    <m:t>𝑒</m:t>
                                  </m:r>
                                  <m:r>
                                    <a:rPr lang="pt-BR" i="1">
                                      <a:latin typeface="Cambria Math" panose="02040503050406030204" pitchFamily="18" charset="0"/>
                                    </a:rPr>
                                    <m:t>(</m:t>
                                  </m:r>
                                  <m:r>
                                    <a:rPr lang="pt-BR" i="1">
                                      <a:latin typeface="Cambria Math" panose="02040503050406030204" pitchFamily="18" charset="0"/>
                                    </a:rPr>
                                    <m:t>𝑦</m:t>
                                  </m:r>
                                  <m:d>
                                    <m:dPr>
                                      <m:begChr m:val="["/>
                                      <m:endChr m:val="]"/>
                                      <m:ctrlPr>
                                        <a:rPr lang="pt-BR" i="1">
                                          <a:latin typeface="Cambria Math" panose="02040503050406030204" pitchFamily="18" charset="0"/>
                                        </a:rPr>
                                      </m:ctrlPr>
                                    </m:dPr>
                                    <m:e>
                                      <m:r>
                                        <a:rPr lang="pt-BR" i="1">
                                          <a:latin typeface="Cambria Math" panose="02040503050406030204" pitchFamily="18" charset="0"/>
                                        </a:rPr>
                                        <m:t>𝑡</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num>
                                <m:den>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den>
                              </m:f>
                              <m:f>
                                <m:fPr>
                                  <m:ctrlPr>
                                    <a:rPr lang="pt-BR" i="1">
                                      <a:latin typeface="Cambria Math" panose="02040503050406030204" pitchFamily="18" charset="0"/>
                                    </a:rPr>
                                  </m:ctrlPr>
                                </m:fPr>
                                <m:num>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num>
                                <m:den>
                                  <m:r>
                                    <a:rPr lang="pt-BR" i="1">
                                      <a:latin typeface="Cambria Math" panose="02040503050406030204" pitchFamily="18" charset="0"/>
                                    </a:rPr>
                                    <m:t>𝜕</m:t>
                                  </m:r>
                                  <m:r>
                                    <a:rPr lang="pt-BR" i="1">
                                      <a:latin typeface="Cambria Math" panose="02040503050406030204" pitchFamily="18" charset="0"/>
                                    </a:rPr>
                                    <m:t>h</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den>
                              </m:f>
                              <m:d>
                                <m:dPr>
                                  <m:ctrlPr>
                                    <a:rPr lang="pt-BR" i="1">
                                      <a:latin typeface="Cambria Math" panose="02040503050406030204" pitchFamily="18" charset="0"/>
                                    </a:rPr>
                                  </m:ctrlPr>
                                </m:dPr>
                                <m:e>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𝑗</m:t>
                                      </m:r>
                                      <m:r>
                                        <a:rPr lang="pt-BR" i="1">
                                          <a:latin typeface="Cambria Math" panose="02040503050406030204" pitchFamily="18" charset="0"/>
                                        </a:rPr>
                                        <m:t>=</m:t>
                                      </m:r>
                                      <m:r>
                                        <a:rPr lang="pt-BR" i="1">
                                          <a:latin typeface="Cambria Math" panose="02040503050406030204" pitchFamily="18" charset="0"/>
                                        </a:rPr>
                                        <m:t>𝑘</m:t>
                                      </m:r>
                                      <m:r>
                                        <a:rPr lang="pt-BR" i="1">
                                          <a:latin typeface="Cambria Math" panose="02040503050406030204" pitchFamily="18" charset="0"/>
                                        </a:rPr>
                                        <m:t>+</m:t>
                                      </m:r>
                                      <m:r>
                                        <a:rPr lang="pt-BR" i="1">
                                          <a:latin typeface="Cambria Math" panose="02040503050406030204" pitchFamily="18" charset="0"/>
                                        </a:rPr>
                                        <m:t>1</m:t>
                                      </m:r>
                                    </m:sub>
                                    <m:sup>
                                      <m:r>
                                        <a:rPr lang="pt-BR" i="1">
                                          <a:latin typeface="Cambria Math" panose="02040503050406030204" pitchFamily="18" charset="0"/>
                                        </a:rPr>
                                        <m:t>𝑡</m:t>
                                      </m:r>
                                    </m:sup>
                                    <m:e>
                                      <m:f>
                                        <m:fPr>
                                          <m:ctrlPr>
                                            <a:rPr lang="pt-BR" i="1">
                                              <a:latin typeface="Cambria Math" panose="02040503050406030204" pitchFamily="18" charset="0"/>
                                            </a:rPr>
                                          </m:ctrlPr>
                                        </m:fPr>
                                        <m:num>
                                          <m:r>
                                            <a:rPr lang="pt-BR" i="1">
                                              <a:latin typeface="Cambria Math" panose="02040503050406030204" pitchFamily="18" charset="0"/>
                                            </a:rPr>
                                            <m:t>𝜕</m:t>
                                          </m:r>
                                          <m:r>
                                            <a:rPr lang="pt-BR" i="1">
                                              <a:latin typeface="Cambria Math" panose="02040503050406030204" pitchFamily="18" charset="0"/>
                                            </a:rPr>
                                            <m:t>h</m:t>
                                          </m:r>
                                          <m:r>
                                            <a:rPr lang="pt-BR" i="1">
                                              <a:latin typeface="Cambria Math" panose="02040503050406030204" pitchFamily="18" charset="0"/>
                                            </a:rPr>
                                            <m:t>[</m:t>
                                          </m:r>
                                          <m:r>
                                            <a:rPr lang="pt-BR" i="1">
                                              <a:latin typeface="Cambria Math" panose="02040503050406030204" pitchFamily="18" charset="0"/>
                                            </a:rPr>
                                            <m:t>𝑗</m:t>
                                          </m:r>
                                          <m:r>
                                            <a:rPr lang="pt-BR" i="1">
                                              <a:latin typeface="Cambria Math" panose="02040503050406030204" pitchFamily="18" charset="0"/>
                                            </a:rPr>
                                            <m:t>]</m:t>
                                          </m:r>
                                        </m:num>
                                        <m:den>
                                          <m:r>
                                            <a:rPr lang="pt-BR" i="1">
                                              <a:latin typeface="Cambria Math" panose="02040503050406030204" pitchFamily="18" charset="0"/>
                                            </a:rPr>
                                            <m:t>𝜕</m:t>
                                          </m:r>
                                          <m:r>
                                            <a:rPr lang="pt-BR" i="1">
                                              <a:latin typeface="Cambria Math" panose="02040503050406030204" pitchFamily="18" charset="0"/>
                                            </a:rPr>
                                            <m:t>h</m:t>
                                          </m:r>
                                          <m:r>
                                            <a:rPr lang="pt-BR" i="1">
                                              <a:latin typeface="Cambria Math" panose="02040503050406030204" pitchFamily="18" charset="0"/>
                                            </a:rPr>
                                            <m:t>[</m:t>
                                          </m:r>
                                          <m:r>
                                            <a:rPr lang="pt-BR" i="1">
                                              <a:latin typeface="Cambria Math" panose="02040503050406030204" pitchFamily="18" charset="0"/>
                                            </a:rPr>
                                            <m:t>𝑗</m:t>
                                          </m:r>
                                          <m:r>
                                            <a:rPr lang="pt-BR" i="1">
                                              <a:latin typeface="Cambria Math" panose="02040503050406030204" pitchFamily="18" charset="0"/>
                                            </a:rPr>
                                            <m:t>−</m:t>
                                          </m:r>
                                          <m:r>
                                            <a:rPr lang="pt-BR" i="1">
                                              <a:latin typeface="Cambria Math" panose="02040503050406030204" pitchFamily="18" charset="0"/>
                                            </a:rPr>
                                            <m:t>1</m:t>
                                          </m:r>
                                          <m:r>
                                            <a:rPr lang="pt-BR" i="1">
                                              <a:latin typeface="Cambria Math" panose="02040503050406030204" pitchFamily="18" charset="0"/>
                                            </a:rPr>
                                            <m:t>]</m:t>
                                          </m:r>
                                        </m:den>
                                      </m:f>
                                    </m:e>
                                  </m:nary>
                                </m:e>
                              </m:d>
                            </m:e>
                          </m:nary>
                        </m:e>
                      </m:nary>
                      <m:f>
                        <m:fPr>
                          <m:ctrlPr>
                            <a:rPr lang="pt-BR" i="1">
                              <a:latin typeface="Cambria Math" panose="02040503050406030204" pitchFamily="18" charset="0"/>
                            </a:rPr>
                          </m:ctrlPr>
                        </m:fPr>
                        <m:num>
                          <m:r>
                            <a:rPr lang="pt-BR" i="1">
                              <a:latin typeface="Cambria Math" panose="02040503050406030204" pitchFamily="18" charset="0"/>
                            </a:rPr>
                            <m:t>𝜕</m:t>
                          </m:r>
                          <m:r>
                            <a:rPr lang="pt-BR" i="1">
                              <a:latin typeface="Cambria Math" panose="02040503050406030204" pitchFamily="18" charset="0"/>
                            </a:rPr>
                            <m:t>h</m:t>
                          </m:r>
                          <m:r>
                            <a:rPr lang="pt-BR" i="1">
                              <a:latin typeface="Cambria Math" panose="02040503050406030204" pitchFamily="18" charset="0"/>
                            </a:rPr>
                            <m:t>[</m:t>
                          </m:r>
                          <m:r>
                            <a:rPr lang="pt-BR" i="1">
                              <a:latin typeface="Cambria Math" panose="02040503050406030204" pitchFamily="18" charset="0"/>
                            </a:rPr>
                            <m:t>𝑘</m:t>
                          </m:r>
                          <m:r>
                            <a:rPr lang="pt-BR" i="1">
                              <a:latin typeface="Cambria Math" panose="02040503050406030204" pitchFamily="18" charset="0"/>
                            </a:rPr>
                            <m:t>]</m:t>
                          </m:r>
                        </m:num>
                        <m:den>
                          <m:r>
                            <a:rPr lang="pt-BR" i="1">
                              <a:latin typeface="Cambria Math" panose="02040503050406030204" pitchFamily="18" charset="0"/>
                            </a:rPr>
                            <m:t>𝜕</m:t>
                          </m:r>
                          <m:r>
                            <a:rPr lang="pt-BR" b="1" i="1">
                              <a:latin typeface="Cambria Math" panose="02040503050406030204" pitchFamily="18" charset="0"/>
                            </a:rPr>
                            <m:t>𝑾</m:t>
                          </m:r>
                        </m:den>
                      </m:f>
                      <m:r>
                        <a:rPr lang="pt-BR" i="1">
                          <a:latin typeface="Cambria Math" panose="02040503050406030204" pitchFamily="18" charset="0"/>
                        </a:rPr>
                        <m:t>.</m:t>
                      </m:r>
                    </m:oMath>
                  </m:oMathPara>
                </a14:m>
                <a:endParaRPr lang="en-US" dirty="0"/>
              </a:p>
              <a:p>
                <a:r>
                  <a:rPr lang="pt-BR" dirty="0"/>
                  <a:t>Na prática, essa equação diz que para atualizar a matriz de pesos </a:t>
                </a:r>
                <a14:m>
                  <m:oMath xmlns:m="http://schemas.openxmlformats.org/officeDocument/2006/math">
                    <m:r>
                      <a:rPr lang="pt-BR" b="1" i="1">
                        <a:latin typeface="Cambria Math" panose="02040503050406030204" pitchFamily="18" charset="0"/>
                      </a:rPr>
                      <m:t>𝑾</m:t>
                    </m:r>
                  </m:oMath>
                </a14:m>
                <a:r>
                  <a:rPr lang="pt-BR" dirty="0"/>
                  <a:t>, a rede </a:t>
                </a:r>
              </a:p>
              <a:p>
                <a:pPr lvl="1">
                  <a:buFont typeface="Wingdings" panose="05000000000000000000" pitchFamily="2" charset="2"/>
                  <a:buChar char="§"/>
                </a:pPr>
                <a:r>
                  <a:rPr lang="pt-BR" dirty="0"/>
                  <a:t>calcula o erro em cada saída, </a:t>
                </a:r>
              </a:p>
              <a:p>
                <a:pPr lvl="1">
                  <a:buFont typeface="Wingdings" panose="05000000000000000000" pitchFamily="2" charset="2"/>
                  <a:buChar char="§"/>
                </a:pPr>
                <a:r>
                  <a:rPr lang="pt-BR" dirty="0"/>
                  <a:t>propaga esse erro de volta através das conexões recorrentes até o início da sequência </a:t>
                </a:r>
              </a:p>
              <a:p>
                <a:pPr lvl="1">
                  <a:buFont typeface="Wingdings" panose="05000000000000000000" pitchFamily="2" charset="2"/>
                  <a:buChar char="§"/>
                </a:pPr>
                <a:r>
                  <a:rPr lang="pt-BR" dirty="0"/>
                  <a:t>e acumula os ajustes baseados nos estados passados.</a:t>
                </a:r>
              </a:p>
              <a:p>
                <a:r>
                  <a:rPr lang="pt-BR" dirty="0"/>
                  <a:t>Se o valor de </a:t>
                </a:r>
                <a14:m>
                  <m:oMath xmlns:m="http://schemas.openxmlformats.org/officeDocument/2006/math">
                    <m:r>
                      <a:rPr lang="pt-BR" i="1">
                        <a:latin typeface="Cambria Math" panose="02040503050406030204" pitchFamily="18" charset="0"/>
                      </a:rPr>
                      <m:t>𝑇</m:t>
                    </m:r>
                  </m:oMath>
                </a14:m>
                <a:r>
                  <a:rPr lang="pt-BR" dirty="0"/>
                  <a:t> for grande (i.e., uma </a:t>
                </a:r>
                <a:r>
                  <a:rPr lang="pt-BR" b="1" dirty="0">
                    <a:solidFill>
                      <a:srgbClr val="00B050"/>
                    </a:solidFill>
                  </a:rPr>
                  <a:t>sequência muito longa</a:t>
                </a:r>
                <a:r>
                  <a:rPr lang="pt-BR" dirty="0"/>
                  <a:t>), temos uma </a:t>
                </a:r>
                <a:r>
                  <a:rPr lang="pt-BR" b="1" dirty="0">
                    <a:solidFill>
                      <a:srgbClr val="00B050"/>
                    </a:solidFill>
                  </a:rPr>
                  <a:t>profundidade intratável</a:t>
                </a:r>
                <a:r>
                  <a:rPr lang="pt-BR" dirty="0"/>
                  <a:t>, o que torna o </a:t>
                </a:r>
                <a:r>
                  <a:rPr lang="pt-BR" b="1" dirty="0">
                    <a:solidFill>
                      <a:srgbClr val="7030A0"/>
                    </a:solidFill>
                  </a:rPr>
                  <a:t>treinamento muito lento</a:t>
                </a:r>
                <a:r>
                  <a:rPr lang="pt-BR" dirty="0"/>
                  <a:t>, </a:t>
                </a:r>
                <a:r>
                  <a:rPr lang="pt-BR" b="1" dirty="0">
                    <a:solidFill>
                      <a:schemeClr val="accent1"/>
                    </a:solidFill>
                  </a:rPr>
                  <a:t>consome muita memória</a:t>
                </a:r>
                <a:r>
                  <a:rPr lang="pt-BR" dirty="0"/>
                  <a:t> e pode deixar o </a:t>
                </a:r>
                <a:r>
                  <a:rPr lang="pt-BR" b="1" dirty="0">
                    <a:solidFill>
                      <a:schemeClr val="accent6"/>
                    </a:solidFill>
                  </a:rPr>
                  <a:t>treinamento instável devido à recursão</a:t>
                </a:r>
                <a:r>
                  <a:rPr lang="pt-BR" dirty="0"/>
                  <a:t>.</a:t>
                </a:r>
                <a:endParaRPr lang="en-US" dirty="0"/>
              </a:p>
            </p:txBody>
          </p:sp>
        </mc:Choice>
        <mc:Fallback xmlns="">
          <p:sp>
            <p:nvSpPr>
              <p:cNvPr id="3" name="Espaço Reservado para Conteúdo 2">
                <a:extLst>
                  <a:ext uri="{FF2B5EF4-FFF2-40B4-BE49-F238E27FC236}">
                    <a16:creationId xmlns:a16="http://schemas.microsoft.com/office/drawing/2014/main" id="{94F3B9AB-2499-75D6-23C6-F253DEDF362D}"/>
                  </a:ext>
                </a:extLst>
              </p:cNvPr>
              <p:cNvSpPr>
                <a:spLocks noGrp="1" noRot="1" noChangeAspect="1" noMove="1" noResize="1" noEditPoints="1" noAdjustHandles="1" noChangeArrowheads="1" noChangeShapeType="1" noTextEdit="1"/>
              </p:cNvSpPr>
              <p:nvPr>
                <p:ph idx="1"/>
              </p:nvPr>
            </p:nvSpPr>
            <p:spPr>
              <a:xfrm>
                <a:off x="838198" y="1825624"/>
                <a:ext cx="11353801" cy="5032375"/>
              </a:xfrm>
              <a:blipFill>
                <a:blip r:embed="rId2"/>
                <a:stretch>
                  <a:fillRect l="-913" r="-1127"/>
                </a:stretch>
              </a:blipFill>
            </p:spPr>
            <p:txBody>
              <a:bodyPr/>
              <a:lstStyle/>
              <a:p>
                <a:r>
                  <a:rPr lang="en-US">
                    <a:noFill/>
                  </a:rPr>
                  <a:t> </a:t>
                </a:r>
              </a:p>
            </p:txBody>
          </p:sp>
        </mc:Fallback>
      </mc:AlternateContent>
    </p:spTree>
    <p:extLst>
      <p:ext uri="{BB962C8B-B14F-4D97-AF65-F5344CB8AC3E}">
        <p14:creationId xmlns:p14="http://schemas.microsoft.com/office/powerpoint/2010/main" val="66203684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CD14D433-326F-849D-932A-FF7EE19B359E}"/>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355088ED-FFA8-2495-4BDA-71832C583C00}"/>
              </a:ext>
            </a:extLst>
          </p:cNvPr>
          <p:cNvSpPr>
            <a:spLocks noGrp="1"/>
          </p:cNvSpPr>
          <p:nvPr>
            <p:ph type="title"/>
          </p:nvPr>
        </p:nvSpPr>
        <p:spPr/>
        <p:txBody>
          <a:bodyPr/>
          <a:lstStyle/>
          <a:p>
            <a:r>
              <a:rPr lang="pt-BR" i="1" dirty="0" err="1"/>
              <a:t>Backpropagation</a:t>
            </a:r>
            <a:r>
              <a:rPr lang="pt-BR" i="1" dirty="0"/>
              <a:t> </a:t>
            </a:r>
            <a:r>
              <a:rPr lang="pt-BR" i="1" dirty="0" err="1"/>
              <a:t>Through</a:t>
            </a:r>
            <a:r>
              <a:rPr lang="pt-BR" i="1" dirty="0"/>
              <a:t> Time</a:t>
            </a:r>
            <a:r>
              <a:rPr lang="pt-BR" dirty="0"/>
              <a:t> (BPTT)</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9318CD52-A943-7B32-573B-CF8EC5A121F4}"/>
                  </a:ext>
                </a:extLst>
              </p:cNvPr>
              <p:cNvSpPr>
                <a:spLocks noGrp="1"/>
              </p:cNvSpPr>
              <p:nvPr>
                <p:ph idx="1"/>
              </p:nvPr>
            </p:nvSpPr>
            <p:spPr>
              <a:xfrm>
                <a:off x="838199" y="1825624"/>
                <a:ext cx="11353801" cy="5032375"/>
              </a:xfrm>
            </p:spPr>
            <p:txBody>
              <a:bodyPr>
                <a:normAutofit lnSpcReduction="10000"/>
              </a:bodyPr>
              <a:lstStyle/>
              <a:p>
                <a:r>
                  <a:rPr lang="pt-BR" dirty="0"/>
                  <a:t>Na prática, muitas vezes </a:t>
                </a:r>
                <a:r>
                  <a:rPr lang="pt-BR" b="1" dirty="0">
                    <a:solidFill>
                      <a:schemeClr val="accent2"/>
                    </a:solidFill>
                  </a:rPr>
                  <a:t>não propagamos até o início da sequência</a:t>
                </a:r>
                <a:r>
                  <a:rPr lang="pt-BR" dirty="0"/>
                  <a:t>, mas até um determinado instante de tempo, </a:t>
                </a:r>
                <a14:m>
                  <m:oMath xmlns:m="http://schemas.openxmlformats.org/officeDocument/2006/math">
                    <m:r>
                      <a:rPr lang="pt-BR" i="1">
                        <a:latin typeface="Cambria Math" panose="02040503050406030204" pitchFamily="18" charset="0"/>
                        <a:ea typeface="Cambria Math" panose="02040503050406030204" pitchFamily="18" charset="0"/>
                      </a:rPr>
                      <m:t>𝜏</m:t>
                    </m:r>
                  </m:oMath>
                </a14:m>
                <a:r>
                  <a:rPr lang="pt-BR" dirty="0"/>
                  <a:t>.</a:t>
                </a:r>
              </a:p>
              <a:p>
                <a:pPr lvl="1">
                  <a:buFont typeface="Wingdings" panose="05000000000000000000" pitchFamily="2" charset="2"/>
                  <a:buChar char="§"/>
                </a:pPr>
                <a:r>
                  <a:rPr lang="pt-BR" dirty="0"/>
                  <a:t>Esse processo é chamado de </a:t>
                </a:r>
                <a:r>
                  <a:rPr lang="pt-BR" b="1" dirty="0">
                    <a:solidFill>
                      <a:schemeClr val="accent2"/>
                    </a:solidFill>
                  </a:rPr>
                  <a:t>BPPT truncado (TBPPT)</a:t>
                </a:r>
                <a:r>
                  <a:rPr lang="pt-BR" dirty="0"/>
                  <a:t>.</a:t>
                </a:r>
              </a:p>
              <a:p>
                <a:pPr lvl="1">
                  <a:buFont typeface="Wingdings" panose="05000000000000000000" pitchFamily="2" charset="2"/>
                  <a:buChar char="§"/>
                </a:pPr>
                <a14:m>
                  <m:oMath xmlns:m="http://schemas.openxmlformats.org/officeDocument/2006/math">
                    <m:r>
                      <a:rPr lang="pt-BR" i="1">
                        <a:latin typeface="Cambria Math" panose="02040503050406030204" pitchFamily="18" charset="0"/>
                        <a:ea typeface="Cambria Math" panose="02040503050406030204" pitchFamily="18" charset="0"/>
                      </a:rPr>
                      <m:t>𝜏</m:t>
                    </m:r>
                  </m:oMath>
                </a14:m>
                <a:r>
                  <a:rPr lang="pt-BR" dirty="0"/>
                  <a:t> é um </a:t>
                </a:r>
                <a:r>
                  <a:rPr lang="pt-BR" dirty="0" err="1"/>
                  <a:t>hiperparâmetro</a:t>
                </a:r>
                <a:r>
                  <a:rPr lang="pt-BR" dirty="0"/>
                  <a:t> crucial que deve ser otimizado: pequeno demais prejudica a memória de longo prazo e grande demais perde a eficiência que motivou a técnica.</a:t>
                </a:r>
              </a:p>
              <a:p>
                <a:r>
                  <a:rPr lang="pt-BR" dirty="0"/>
                  <a:t>Ele reduz:</a:t>
                </a:r>
              </a:p>
              <a:p>
                <a:pPr lvl="1">
                  <a:buFont typeface="Wingdings" panose="05000000000000000000" pitchFamily="2" charset="2"/>
                  <a:buChar char="§"/>
                </a:pPr>
                <a:r>
                  <a:rPr lang="pt-BR" dirty="0"/>
                  <a:t>custo computacional,</a:t>
                </a:r>
              </a:p>
              <a:p>
                <a:pPr lvl="1">
                  <a:buFont typeface="Wingdings" panose="05000000000000000000" pitchFamily="2" charset="2"/>
                  <a:buChar char="§"/>
                </a:pPr>
                <a:r>
                  <a:rPr lang="pt-BR" dirty="0"/>
                  <a:t>uso de memória.</a:t>
                </a:r>
              </a:p>
              <a:p>
                <a:pPr lvl="1">
                  <a:buFont typeface="Wingdings" panose="05000000000000000000" pitchFamily="2" charset="2"/>
                  <a:buChar char="§"/>
                </a:pPr>
                <a:r>
                  <a:rPr lang="en-US" dirty="0"/>
                  <a:t>e </a:t>
                </a:r>
                <a:r>
                  <a:rPr lang="en-US" dirty="0" err="1"/>
                  <a:t>ajuda</a:t>
                </a:r>
                <a:r>
                  <a:rPr lang="en-US" dirty="0"/>
                  <a:t> a combater </a:t>
                </a:r>
                <a:r>
                  <a:rPr lang="en-US" dirty="0" err="1"/>
                  <a:t>os</a:t>
                </a:r>
                <a:r>
                  <a:rPr lang="en-US" dirty="0"/>
                  <a:t> </a:t>
                </a:r>
                <a:r>
                  <a:rPr lang="en-US" dirty="0" err="1"/>
                  <a:t>problemas</a:t>
                </a:r>
                <a:r>
                  <a:rPr lang="en-US" dirty="0"/>
                  <a:t> de </a:t>
                </a:r>
                <a:r>
                  <a:rPr lang="en-US" dirty="0" err="1"/>
                  <a:t>explosão</a:t>
                </a:r>
                <a:r>
                  <a:rPr lang="en-US" dirty="0"/>
                  <a:t> e </a:t>
                </a:r>
                <a:r>
                  <a:rPr lang="en-US" dirty="0" err="1"/>
                  <a:t>desaparecimento</a:t>
                </a:r>
                <a:r>
                  <a:rPr lang="en-US" dirty="0"/>
                  <a:t> do </a:t>
                </a:r>
                <a:r>
                  <a:rPr lang="en-US" dirty="0" err="1"/>
                  <a:t>gradiente</a:t>
                </a:r>
                <a:r>
                  <a:rPr lang="en-US" dirty="0"/>
                  <a:t>.</a:t>
                </a:r>
              </a:p>
              <a:p>
                <a:r>
                  <a:rPr lang="en-US" dirty="0" err="1"/>
                  <a:t>Porém</a:t>
                </a:r>
                <a:r>
                  <a:rPr lang="en-US" dirty="0"/>
                  <a:t>, o TBPPT </a:t>
                </a:r>
                <a:r>
                  <a:rPr lang="pt-BR" dirty="0"/>
                  <a:t>força a rede a se concentrar em padrões de curto e médio alcance.</a:t>
                </a:r>
              </a:p>
              <a:p>
                <a:r>
                  <a:rPr lang="pt-BR" dirty="0"/>
                  <a:t>Dependências que excedem o tamanho do truncamento </a:t>
                </a:r>
                <a:r>
                  <a:rPr lang="pt-BR" b="1" dirty="0"/>
                  <a:t>não são aprendidas.</a:t>
                </a:r>
                <a:endParaRPr lang="pt-BR" dirty="0"/>
              </a:p>
            </p:txBody>
          </p:sp>
        </mc:Choice>
        <mc:Fallback xmlns="">
          <p:sp>
            <p:nvSpPr>
              <p:cNvPr id="3" name="Content Placeholder 2">
                <a:extLst>
                  <a:ext uri="{FF2B5EF4-FFF2-40B4-BE49-F238E27FC236}">
                    <a16:creationId xmlns:a16="http://schemas.microsoft.com/office/drawing/2014/main" id="{9318CD52-A943-7B32-573B-CF8EC5A121F4}"/>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3"/>
                <a:stretch>
                  <a:fillRect l="-913" t="-2663" r="-215" b="-1695"/>
                </a:stretch>
              </a:blipFill>
            </p:spPr>
            <p:txBody>
              <a:bodyPr/>
              <a:lstStyle/>
              <a:p>
                <a:r>
                  <a:rPr lang="en-US">
                    <a:noFill/>
                  </a:rPr>
                  <a:t> </a:t>
                </a:r>
              </a:p>
            </p:txBody>
          </p:sp>
        </mc:Fallback>
      </mc:AlternateContent>
    </p:spTree>
    <p:extLst>
      <p:ext uri="{BB962C8B-B14F-4D97-AF65-F5344CB8AC3E}">
        <p14:creationId xmlns:p14="http://schemas.microsoft.com/office/powerpoint/2010/main" val="237842944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2AB1BAB6-1EE4-4547-07FC-97B0B6DEB3C3}"/>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BE3B04ED-99C9-38B8-A6B7-07300AEB9169}"/>
              </a:ext>
            </a:extLst>
          </p:cNvPr>
          <p:cNvSpPr>
            <a:spLocks noGrp="1"/>
          </p:cNvSpPr>
          <p:nvPr>
            <p:ph type="title"/>
          </p:nvPr>
        </p:nvSpPr>
        <p:spPr/>
        <p:txBody>
          <a:bodyPr/>
          <a:lstStyle/>
          <a:p>
            <a:r>
              <a:rPr lang="pt-BR" dirty="0"/>
              <a:t>Por que o BPTT truncado funciona?</a:t>
            </a:r>
            <a:endParaRPr lang="en-US" dirty="0"/>
          </a:p>
        </p:txBody>
      </p:sp>
      <p:sp>
        <p:nvSpPr>
          <p:cNvPr id="3" name="Content Placeholder 2">
            <a:extLst>
              <a:ext uri="{FF2B5EF4-FFF2-40B4-BE49-F238E27FC236}">
                <a16:creationId xmlns="" xmlns:a16="http://schemas.microsoft.com/office/drawing/2014/main" id="{A6B4DBBF-C43B-70AC-AAA4-A3D9A2DAABDE}"/>
              </a:ext>
            </a:extLst>
          </p:cNvPr>
          <p:cNvSpPr>
            <a:spLocks noGrp="1"/>
          </p:cNvSpPr>
          <p:nvPr>
            <p:ph idx="1"/>
          </p:nvPr>
        </p:nvSpPr>
        <p:spPr>
          <a:xfrm>
            <a:off x="838199" y="1825624"/>
            <a:ext cx="11353801" cy="5032375"/>
          </a:xfrm>
        </p:spPr>
        <p:txBody>
          <a:bodyPr>
            <a:normAutofit/>
          </a:bodyPr>
          <a:lstStyle/>
          <a:p>
            <a:r>
              <a:rPr lang="pt-BR" dirty="0"/>
              <a:t>Funciona porque, na prática, </a:t>
            </a:r>
            <a:r>
              <a:rPr lang="pt-BR" b="1" dirty="0">
                <a:solidFill>
                  <a:schemeClr val="accent2"/>
                </a:solidFill>
              </a:rPr>
              <a:t>muitas dependências temporais relevantes </a:t>
            </a:r>
            <a:r>
              <a:rPr lang="pt-BR" b="1" dirty="0">
                <a:solidFill>
                  <a:srgbClr val="FF0000"/>
                </a:solidFill>
              </a:rPr>
              <a:t>são locais</a:t>
            </a:r>
            <a:r>
              <a:rPr lang="pt-BR" dirty="0"/>
              <a:t>.</a:t>
            </a:r>
          </a:p>
          <a:p>
            <a:r>
              <a:rPr lang="pt-BR" dirty="0"/>
              <a:t>Além disso, muitas </a:t>
            </a:r>
            <a:r>
              <a:rPr lang="pt-BR" b="1" dirty="0">
                <a:solidFill>
                  <a:srgbClr val="00B050"/>
                </a:solidFill>
              </a:rPr>
              <a:t>dependências temporais relevantes decaem com o tempo</a:t>
            </a:r>
            <a:r>
              <a:rPr lang="pt-BR" dirty="0"/>
              <a:t>.</a:t>
            </a:r>
          </a:p>
          <a:p>
            <a:r>
              <a:rPr lang="pt-BR" dirty="0"/>
              <a:t>Isso </a:t>
            </a:r>
            <a:r>
              <a:rPr lang="pt-BR" b="1" dirty="0">
                <a:solidFill>
                  <a:srgbClr val="7030A0"/>
                </a:solidFill>
              </a:rPr>
              <a:t>evita</a:t>
            </a:r>
            <a:r>
              <a:rPr lang="pt-BR" dirty="0"/>
              <a:t> a necessidade de </a:t>
            </a:r>
            <a:r>
              <a:rPr lang="pt-BR" b="1" dirty="0">
                <a:solidFill>
                  <a:srgbClr val="7030A0"/>
                </a:solidFill>
              </a:rPr>
              <a:t>voltar até o primeiro passo</a:t>
            </a:r>
            <a:r>
              <a:rPr lang="pt-BR" dirty="0"/>
              <a:t> da sequência </a:t>
            </a:r>
            <a:r>
              <a:rPr lang="pt-BR" b="1" dirty="0">
                <a:solidFill>
                  <a:srgbClr val="7030A0"/>
                </a:solidFill>
              </a:rPr>
              <a:t>para calcular o gradiente</a:t>
            </a:r>
            <a:r>
              <a:rPr lang="pt-BR" dirty="0"/>
              <a:t>.</a:t>
            </a:r>
          </a:p>
          <a:p>
            <a:r>
              <a:rPr lang="pt-BR" dirty="0"/>
              <a:t>Ou seja:</a:t>
            </a:r>
          </a:p>
          <a:p>
            <a:pPr lvl="1">
              <a:buFont typeface="Wingdings" panose="05000000000000000000" pitchFamily="2" charset="2"/>
              <a:buChar char="§"/>
            </a:pPr>
            <a:r>
              <a:rPr lang="pt-BR" dirty="0"/>
              <a:t>o </a:t>
            </a:r>
            <a:r>
              <a:rPr lang="pt-BR" b="1" dirty="0">
                <a:solidFill>
                  <a:srgbClr val="0070C0"/>
                </a:solidFill>
              </a:rPr>
              <a:t>estado atual</a:t>
            </a:r>
            <a:r>
              <a:rPr lang="pt-BR" dirty="0"/>
              <a:t> geralmente depende mais do </a:t>
            </a:r>
            <a:r>
              <a:rPr lang="pt-BR" b="1" dirty="0">
                <a:solidFill>
                  <a:srgbClr val="0070C0"/>
                </a:solidFill>
              </a:rPr>
              <a:t>passado recente</a:t>
            </a:r>
            <a:r>
              <a:rPr lang="pt-BR" dirty="0"/>
              <a:t>,</a:t>
            </a:r>
          </a:p>
          <a:p>
            <a:pPr lvl="1">
              <a:buFont typeface="Wingdings" panose="05000000000000000000" pitchFamily="2" charset="2"/>
              <a:buChar char="§"/>
            </a:pPr>
            <a:r>
              <a:rPr lang="pt-BR" b="1" dirty="0">
                <a:solidFill>
                  <a:srgbClr val="0070C0"/>
                </a:solidFill>
              </a:rPr>
              <a:t>contribuições</a:t>
            </a:r>
            <a:r>
              <a:rPr lang="pt-BR" dirty="0"/>
              <a:t> muito </a:t>
            </a:r>
            <a:r>
              <a:rPr lang="pt-BR" b="1" dirty="0">
                <a:solidFill>
                  <a:srgbClr val="0070C0"/>
                </a:solidFill>
              </a:rPr>
              <a:t>antigas</a:t>
            </a:r>
            <a:r>
              <a:rPr lang="pt-BR" dirty="0"/>
              <a:t> tendem a </a:t>
            </a:r>
            <a:r>
              <a:rPr lang="pt-BR" b="1" dirty="0">
                <a:solidFill>
                  <a:srgbClr val="0070C0"/>
                </a:solidFill>
              </a:rPr>
              <a:t>ficar pequenas</a:t>
            </a:r>
            <a:r>
              <a:rPr lang="pt-BR" dirty="0"/>
              <a:t>.</a:t>
            </a:r>
          </a:p>
          <a:p>
            <a:endParaRPr lang="pt-BR" dirty="0"/>
          </a:p>
          <a:p>
            <a:endParaRPr lang="pt-BR" dirty="0"/>
          </a:p>
        </p:txBody>
      </p:sp>
    </p:spTree>
    <p:extLst>
      <p:ext uri="{BB962C8B-B14F-4D97-AF65-F5344CB8AC3E}">
        <p14:creationId xmlns:p14="http://schemas.microsoft.com/office/powerpoint/2010/main" val="114423915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Por que não usar funções de ativação </a:t>
            </a:r>
            <a:r>
              <a:rPr lang="pt-BR" dirty="0" err="1"/>
              <a:t>ReLU</a:t>
            </a:r>
            <a:r>
              <a:rPr lang="pt-BR" dirty="0"/>
              <a:t>?</a:t>
            </a:r>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838201" y="1825624"/>
                <a:ext cx="11210364" cy="5032375"/>
              </a:xfrm>
            </p:spPr>
            <p:txBody>
              <a:bodyPr>
                <a:normAutofit/>
              </a:bodyPr>
              <a:lstStyle/>
              <a:p>
                <a:r>
                  <a:rPr lang="pt-BR" dirty="0"/>
                  <a:t>RNNs </a:t>
                </a:r>
                <a:r>
                  <a:rPr lang="pt-BR" b="1" dirty="0"/>
                  <a:t>reusam</a:t>
                </a:r>
                <a:r>
                  <a:rPr lang="pt-BR" dirty="0"/>
                  <a:t> a </a:t>
                </a:r>
                <a:r>
                  <a:rPr lang="pt-BR" b="1" dirty="0">
                    <a:solidFill>
                      <a:srgbClr val="7030A0"/>
                    </a:solidFill>
                  </a:rPr>
                  <a:t>mesma matriz de pesos e a mesma função de ativação</a:t>
                </a:r>
                <a:r>
                  <a:rPr lang="pt-BR" dirty="0"/>
                  <a:t> </a:t>
                </a:r>
                <a:r>
                  <a:rPr lang="pt-BR" b="1" dirty="0">
                    <a:solidFill>
                      <a:srgbClr val="7030A0"/>
                    </a:solidFill>
                  </a:rPr>
                  <a:t>repetidamente</a:t>
                </a:r>
                <a:r>
                  <a:rPr lang="pt-BR" dirty="0"/>
                  <a:t> em cada passo.</a:t>
                </a:r>
              </a:p>
              <a:p>
                <a:r>
                  <a:rPr lang="pt-BR" b="1" dirty="0">
                    <a:solidFill>
                      <a:srgbClr val="00B050"/>
                    </a:solidFill>
                  </a:rPr>
                  <a:t>Valores maiores que 1</a:t>
                </a:r>
                <a:r>
                  <a:rPr lang="pt-BR" dirty="0"/>
                  <a:t> na entrada de uma </a:t>
                </a:r>
                <a:r>
                  <a:rPr lang="pt-BR" b="1" dirty="0">
                    <a:solidFill>
                      <a:srgbClr val="00B050"/>
                    </a:solidFill>
                  </a:rPr>
                  <a:t>função que não satura</a:t>
                </a:r>
                <a:r>
                  <a:rPr lang="pt-BR" dirty="0"/>
                  <a:t> como a </a:t>
                </a:r>
                <a:r>
                  <a:rPr lang="pt-BR" dirty="0" err="1"/>
                  <a:t>ReLU</a:t>
                </a:r>
                <a:r>
                  <a:rPr lang="pt-BR" dirty="0"/>
                  <a:t> (</a:t>
                </a:r>
                <a14:m>
                  <m:oMath xmlns:m="http://schemas.openxmlformats.org/officeDocument/2006/math">
                    <m:r>
                      <a:rPr lang="pt-BR" b="1" i="1" smtClean="0">
                        <a:latin typeface="Cambria Math" panose="02040503050406030204" pitchFamily="18" charset="0"/>
                      </a:rPr>
                      <m:t>𝒚</m:t>
                    </m:r>
                    <m:r>
                      <a:rPr lang="pt-BR" b="0" i="1" smtClean="0">
                        <a:latin typeface="Cambria Math" panose="02040503050406030204" pitchFamily="18" charset="0"/>
                      </a:rPr>
                      <m:t>=</m:t>
                    </m:r>
                    <m:r>
                      <m:rPr>
                        <m:sty m:val="p"/>
                      </m:rPr>
                      <a:rPr lang="pt-BR" b="0" i="0" smtClean="0">
                        <a:latin typeface="Cambria Math" panose="02040503050406030204" pitchFamily="18" charset="0"/>
                      </a:rPr>
                      <m:t>max</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,0</m:t>
                    </m:r>
                  </m:oMath>
                </a14:m>
                <a:r>
                  <a:rPr lang="pt-BR" dirty="0"/>
                  <a:t>) podem causar um crescimento exponencial (explosão) dos valores do estado oculto,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0" i="1" smtClean="0">
                        <a:latin typeface="Cambria Math" panose="02040503050406030204" pitchFamily="18" charset="0"/>
                      </a:rPr>
                      <m:t>𝑡</m:t>
                    </m:r>
                    <m:r>
                      <a:rPr lang="pt-BR" b="0" i="1" smtClean="0">
                        <a:latin typeface="Cambria Math" panose="02040503050406030204" pitchFamily="18" charset="0"/>
                      </a:rPr>
                      <m:t>]</m:t>
                    </m:r>
                  </m:oMath>
                </a14:m>
                <a:r>
                  <a:rPr lang="pt-BR" dirty="0"/>
                  <a:t>.</a:t>
                </a:r>
              </a:p>
              <a:p>
                <a:r>
                  <a:rPr lang="pt-BR" dirty="0"/>
                  <a:t>Isso torna o treinamento instável:</a:t>
                </a:r>
              </a:p>
              <a:p>
                <a:pPr lvl="1">
                  <a:buFont typeface="Wingdings" panose="05000000000000000000" pitchFamily="2" charset="2"/>
                  <a:buChar char="§"/>
                </a:pPr>
                <a:r>
                  <a:rPr lang="pt-BR" dirty="0"/>
                  <a:t>Os estados podem crescer sem limite, causando dinâmica instável no tempo.</a:t>
                </a:r>
              </a:p>
              <a:p>
                <a:pPr lvl="1">
                  <a:buFont typeface="Wingdings" panose="05000000000000000000" pitchFamily="2" charset="2"/>
                  <a:buChar char="§"/>
                </a:pPr>
                <a:r>
                  <a:rPr lang="pt-BR" dirty="0"/>
                  <a:t>Em </a:t>
                </a:r>
                <a:r>
                  <a:rPr lang="pt-BR" b="1" dirty="0">
                    <a:solidFill>
                      <a:schemeClr val="accent1"/>
                    </a:solidFill>
                  </a:rPr>
                  <a:t>sistemas dinâmicos </a:t>
                </a:r>
                <a:r>
                  <a:rPr lang="pt-BR" dirty="0"/>
                  <a:t>(como em </a:t>
                </a:r>
                <a:r>
                  <a:rPr lang="pt-BR" dirty="0" err="1"/>
                  <a:t>RNNs</a:t>
                </a:r>
                <a:r>
                  <a:rPr lang="pt-BR" dirty="0"/>
                  <a:t>), isso é ruim, pois </a:t>
                </a:r>
                <a:r>
                  <a:rPr lang="pt-BR" b="1" dirty="0">
                    <a:solidFill>
                      <a:schemeClr val="accent1"/>
                    </a:solidFill>
                  </a:rPr>
                  <a:t>causa oscilações ou divergência</a:t>
                </a:r>
                <a:r>
                  <a:rPr lang="pt-BR" dirty="0"/>
                  <a:t>.</a:t>
                </a:r>
              </a:p>
              <a:p>
                <a:r>
                  <a:rPr lang="pt-BR" dirty="0"/>
                  <a:t>Além disso, </a:t>
                </a:r>
                <a:r>
                  <a:rPr lang="pt-BR" b="1" dirty="0">
                    <a:solidFill>
                      <a:schemeClr val="accent2"/>
                    </a:solidFill>
                  </a:rPr>
                  <a:t>valores negativos</a:t>
                </a:r>
                <a:r>
                  <a:rPr lang="pt-BR" dirty="0"/>
                  <a:t> em sua entrada </a:t>
                </a:r>
                <a:r>
                  <a:rPr lang="pt-BR" b="1" dirty="0">
                    <a:solidFill>
                      <a:schemeClr val="accent2"/>
                    </a:solidFill>
                  </a:rPr>
                  <a:t>geram saídas e derivadas iguais a 0</a:t>
                </a:r>
                <a:r>
                  <a:rPr lang="pt-BR" dirty="0"/>
                  <a:t>, fazendo com que o </a:t>
                </a:r>
                <a:r>
                  <a:rPr lang="pt-BR" b="1" dirty="0">
                    <a:solidFill>
                      <a:schemeClr val="accent2"/>
                    </a:solidFill>
                  </a:rPr>
                  <a:t>fluxo de aprendizado morra</a:t>
                </a:r>
                <a:r>
                  <a:rPr lang="pt-BR" dirty="0"/>
                  <a:t>.</a:t>
                </a:r>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838201" y="1825624"/>
                <a:ext cx="11210364" cy="5032375"/>
              </a:xfrm>
              <a:blipFill>
                <a:blip r:embed="rId2"/>
                <a:stretch>
                  <a:fillRect l="-979" t="-1937"/>
                </a:stretch>
              </a:blipFill>
            </p:spPr>
            <p:txBody>
              <a:bodyPr/>
              <a:lstStyle/>
              <a:p>
                <a:r>
                  <a:rPr lang="en-US">
                    <a:noFill/>
                  </a:rPr>
                  <a:t> </a:t>
                </a:r>
              </a:p>
            </p:txBody>
          </p:sp>
        </mc:Fallback>
      </mc:AlternateContent>
    </p:spTree>
    <p:extLst>
      <p:ext uri="{BB962C8B-B14F-4D97-AF65-F5344CB8AC3E}">
        <p14:creationId xmlns:p14="http://schemas.microsoft.com/office/powerpoint/2010/main" val="263805727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5776FCFB-336A-8296-6F79-4601798B9D60}"/>
            </a:ext>
          </a:extLst>
        </p:cNvPr>
        <p:cNvGrpSpPr/>
        <p:nvPr/>
      </p:nvGrpSpPr>
      <p:grpSpPr>
        <a:xfrm>
          <a:off x="0" y="0"/>
          <a:ext cx="0" cy="0"/>
          <a:chOff x="0" y="0"/>
          <a:chExt cx="0" cy="0"/>
        </a:xfrm>
      </p:grpSpPr>
      <p:sp>
        <p:nvSpPr>
          <p:cNvPr id="3" name="Content Placeholder 2">
            <a:extLst>
              <a:ext uri="{FF2B5EF4-FFF2-40B4-BE49-F238E27FC236}">
                <a16:creationId xmlns="" xmlns:a16="http://schemas.microsoft.com/office/drawing/2014/main" id="{B6A579CB-F7BE-007A-141C-207261894D91}"/>
              </a:ext>
            </a:extLst>
          </p:cNvPr>
          <p:cNvSpPr>
            <a:spLocks noGrp="1"/>
          </p:cNvSpPr>
          <p:nvPr>
            <p:ph idx="1"/>
          </p:nvPr>
        </p:nvSpPr>
        <p:spPr>
          <a:xfrm>
            <a:off x="6318608" y="904126"/>
            <a:ext cx="5661060" cy="5640512"/>
          </a:xfrm>
        </p:spPr>
        <p:txBody>
          <a:bodyPr anchor="ctr">
            <a:normAutofit/>
          </a:bodyPr>
          <a:lstStyle/>
          <a:p>
            <a:pPr marL="0" indent="0" algn="ctr">
              <a:buNone/>
            </a:pPr>
            <a:r>
              <a:rPr lang="pt-BR" sz="3600" dirty="0"/>
              <a:t>Quando uma RNN tradicional processa uma sequência muito longa, ela se esquece gradualmente das primeiras amostras da sequência.</a:t>
            </a:r>
          </a:p>
          <a:p>
            <a:pPr marL="0" indent="0" algn="ctr">
              <a:buNone/>
            </a:pPr>
            <a:endParaRPr lang="pt-BR" sz="3600" dirty="0"/>
          </a:p>
          <a:p>
            <a:pPr marL="0" indent="0" algn="ctr">
              <a:buNone/>
            </a:pPr>
            <a:r>
              <a:rPr lang="pt-BR" sz="3600" dirty="0"/>
              <a:t>Ou seja, elas não aprendem dependências longas</a:t>
            </a:r>
            <a:endParaRPr lang="en-US" sz="3600" dirty="0"/>
          </a:p>
        </p:txBody>
      </p:sp>
      <p:pic>
        <p:nvPicPr>
          <p:cNvPr id="1026" name="Picture 2" descr="I AM NEVER DRINKING AGAIN! OOOHHH LOOK, ALCOHOL! - Dory from Nemo (5 second  memory) | Make a Meme">
            <a:extLst>
              <a:ext uri="{FF2B5EF4-FFF2-40B4-BE49-F238E27FC236}">
                <a16:creationId xmlns="" xmlns:a16="http://schemas.microsoft.com/office/drawing/2014/main" id="{E63707F4-DB83-9062-72ED-B2E6A96EE64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2333" y="1410817"/>
            <a:ext cx="5957678" cy="46271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4727924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4D6302C1-1D71-8369-2652-1C4831795E31}"/>
              </a:ext>
            </a:extLst>
          </p:cNvPr>
          <p:cNvSpPr>
            <a:spLocks noGrp="1"/>
          </p:cNvSpPr>
          <p:nvPr>
            <p:ph type="title"/>
          </p:nvPr>
        </p:nvSpPr>
        <p:spPr/>
        <p:txBody>
          <a:bodyPr/>
          <a:lstStyle/>
          <a:p>
            <a:r>
              <a:rPr lang="pt-BR" dirty="0"/>
              <a:t>O problema das dependências de longo prazo</a:t>
            </a:r>
            <a:endParaRPr lang="en-US" dirty="0"/>
          </a:p>
        </p:txBody>
      </p:sp>
      <p:sp>
        <p:nvSpPr>
          <p:cNvPr id="3" name="Content Placeholder 2">
            <a:extLst>
              <a:ext uri="{FF2B5EF4-FFF2-40B4-BE49-F238E27FC236}">
                <a16:creationId xmlns="" xmlns:a16="http://schemas.microsoft.com/office/drawing/2014/main" id="{F210C7DC-900E-A12D-9EE8-1087C3111C87}"/>
              </a:ext>
            </a:extLst>
          </p:cNvPr>
          <p:cNvSpPr>
            <a:spLocks noGrp="1"/>
          </p:cNvSpPr>
          <p:nvPr>
            <p:ph idx="1"/>
          </p:nvPr>
        </p:nvSpPr>
        <p:spPr>
          <a:xfrm>
            <a:off x="838200" y="1825624"/>
            <a:ext cx="11353799" cy="5032375"/>
          </a:xfrm>
        </p:spPr>
        <p:txBody>
          <a:bodyPr>
            <a:normAutofit/>
          </a:bodyPr>
          <a:lstStyle/>
          <a:p>
            <a:r>
              <a:rPr lang="pt-BR" dirty="0"/>
              <a:t>Devido ao </a:t>
            </a:r>
            <a:r>
              <a:rPr lang="pt-BR" b="1" dirty="0">
                <a:solidFill>
                  <a:schemeClr val="accent2"/>
                </a:solidFill>
              </a:rPr>
              <a:t>desaparecimento do gradiente</a:t>
            </a:r>
            <a:r>
              <a:rPr lang="pt-BR" dirty="0"/>
              <a:t>, as </a:t>
            </a:r>
            <a:r>
              <a:rPr lang="pt-BR" dirty="0" err="1"/>
              <a:t>RNNs</a:t>
            </a:r>
            <a:r>
              <a:rPr lang="pt-BR" dirty="0"/>
              <a:t> tradicionais (baunilha) treinadas usando o BPTT </a:t>
            </a:r>
            <a:r>
              <a:rPr lang="pt-BR" b="1" dirty="0">
                <a:solidFill>
                  <a:schemeClr val="accent2"/>
                </a:solidFill>
              </a:rPr>
              <a:t>são incapazes de aprender dependências de longo prazo</a:t>
            </a:r>
            <a:r>
              <a:rPr lang="pt-BR" dirty="0"/>
              <a:t>.</a:t>
            </a:r>
          </a:p>
          <a:p>
            <a:r>
              <a:rPr lang="pt-BR" dirty="0"/>
              <a:t>Quando uma RNN processa uma </a:t>
            </a:r>
            <a:r>
              <a:rPr lang="pt-BR" b="1" dirty="0">
                <a:solidFill>
                  <a:srgbClr val="7030A0"/>
                </a:solidFill>
              </a:rPr>
              <a:t>sequência longa</a:t>
            </a:r>
            <a:r>
              <a:rPr lang="pt-BR" dirty="0"/>
              <a:t>, ela </a:t>
            </a:r>
            <a:r>
              <a:rPr lang="pt-BR" b="1" dirty="0">
                <a:solidFill>
                  <a:srgbClr val="7030A0"/>
                </a:solidFill>
              </a:rPr>
              <a:t>gradualmente esquece as primeiras entradas</a:t>
            </a:r>
            <a:r>
              <a:rPr lang="pt-BR" dirty="0"/>
              <a:t> da sequência.</a:t>
            </a:r>
          </a:p>
          <a:p>
            <a:r>
              <a:rPr lang="pt-BR" dirty="0"/>
              <a:t>O TBPTT </a:t>
            </a:r>
            <a:r>
              <a:rPr lang="pt-BR" b="1" dirty="0"/>
              <a:t>também limita o aprendizado de longo prazo</a:t>
            </a:r>
            <a:r>
              <a:rPr lang="pt-BR" dirty="0"/>
              <a:t>, pois impõe um horizonte máximo para a retropropagação dos gradientes.</a:t>
            </a:r>
          </a:p>
          <a:p>
            <a:r>
              <a:rPr lang="pt-BR" dirty="0"/>
              <a:t>Entretanto, </a:t>
            </a:r>
            <a:r>
              <a:rPr lang="pt-BR" b="1" dirty="0">
                <a:solidFill>
                  <a:srgbClr val="00B050"/>
                </a:solidFill>
              </a:rPr>
              <a:t>algumas aplicações</a:t>
            </a:r>
            <a:r>
              <a:rPr lang="pt-BR" dirty="0"/>
              <a:t> </a:t>
            </a:r>
            <a:r>
              <a:rPr lang="pt-BR" b="1" dirty="0">
                <a:solidFill>
                  <a:srgbClr val="00B050"/>
                </a:solidFill>
              </a:rPr>
              <a:t>exigem</a:t>
            </a:r>
            <a:r>
              <a:rPr lang="pt-BR" dirty="0"/>
              <a:t> </a:t>
            </a:r>
            <a:r>
              <a:rPr lang="pt-BR" b="1" dirty="0">
                <a:solidFill>
                  <a:srgbClr val="00B050"/>
                </a:solidFill>
              </a:rPr>
              <a:t>dependências tanto de curto quanto de longo prazo</a:t>
            </a:r>
            <a:r>
              <a:rPr lang="pt-BR" dirty="0"/>
              <a:t>.</a:t>
            </a:r>
          </a:p>
          <a:p>
            <a:pPr lvl="1">
              <a:buFont typeface="Wingdings" panose="05000000000000000000" pitchFamily="2" charset="2"/>
              <a:buChar char="§"/>
            </a:pPr>
            <a:r>
              <a:rPr lang="en-US" dirty="0" err="1"/>
              <a:t>Tradução</a:t>
            </a:r>
            <a:r>
              <a:rPr lang="en-US" dirty="0"/>
              <a:t> </a:t>
            </a:r>
            <a:r>
              <a:rPr lang="en-US" dirty="0" err="1"/>
              <a:t>automática</a:t>
            </a:r>
            <a:r>
              <a:rPr lang="en-US" dirty="0"/>
              <a:t>: </a:t>
            </a:r>
            <a:r>
              <a:rPr lang="pt-BR" dirty="0"/>
              <a:t>o significado de uma palavra ou frase pode depender de palavras vizinhas ou de um contexto que apareceu muito antes no texto.</a:t>
            </a:r>
          </a:p>
        </p:txBody>
      </p:sp>
    </p:spTree>
    <p:extLst>
      <p:ext uri="{BB962C8B-B14F-4D97-AF65-F5344CB8AC3E}">
        <p14:creationId xmlns:p14="http://schemas.microsoft.com/office/powerpoint/2010/main" val="301211373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8C27CE59-D8FC-0683-12EB-3BCB0F761DE4}"/>
            </a:ext>
          </a:extLst>
        </p:cNvPr>
        <p:cNvGrpSpPr/>
        <p:nvPr/>
      </p:nvGrpSpPr>
      <p:grpSpPr>
        <a:xfrm>
          <a:off x="0" y="0"/>
          <a:ext cx="0" cy="0"/>
          <a:chOff x="0" y="0"/>
          <a:chExt cx="0" cy="0"/>
        </a:xfrm>
      </p:grpSpPr>
      <p:pic>
        <p:nvPicPr>
          <p:cNvPr id="5" name="Picture 4">
            <a:extLst>
              <a:ext uri="{FF2B5EF4-FFF2-40B4-BE49-F238E27FC236}">
                <a16:creationId xmlns="" xmlns:a16="http://schemas.microsoft.com/office/drawing/2014/main" id="{D5446177-ADB3-5B28-1AA8-5319ACA6457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66490" y="2158372"/>
            <a:ext cx="4373006" cy="3774595"/>
          </a:xfrm>
          <a:prstGeom prst="rect">
            <a:avLst/>
          </a:prstGeom>
        </p:spPr>
      </p:pic>
      <p:sp>
        <p:nvSpPr>
          <p:cNvPr id="2" name="Title 1">
            <a:extLst>
              <a:ext uri="{FF2B5EF4-FFF2-40B4-BE49-F238E27FC236}">
                <a16:creationId xmlns="" xmlns:a16="http://schemas.microsoft.com/office/drawing/2014/main" id="{0DA6D747-76A0-672E-907C-B0D4EB836235}"/>
              </a:ext>
            </a:extLst>
          </p:cNvPr>
          <p:cNvSpPr>
            <a:spLocks noGrp="1"/>
          </p:cNvSpPr>
          <p:nvPr>
            <p:ph type="title"/>
          </p:nvPr>
        </p:nvSpPr>
        <p:spPr/>
        <p:txBody>
          <a:bodyPr/>
          <a:lstStyle/>
          <a:p>
            <a:r>
              <a:rPr lang="pt-BR" dirty="0"/>
              <a:t>O problema das dependências de longo prazo</a:t>
            </a:r>
            <a:endParaRPr lang="en-US" dirty="0"/>
          </a:p>
        </p:txBody>
      </p:sp>
      <p:sp>
        <p:nvSpPr>
          <p:cNvPr id="3" name="Content Placeholder 2">
            <a:extLst>
              <a:ext uri="{FF2B5EF4-FFF2-40B4-BE49-F238E27FC236}">
                <a16:creationId xmlns="" xmlns:a16="http://schemas.microsoft.com/office/drawing/2014/main" id="{F0A8BB54-C317-2A6B-095D-1AE752708024}"/>
              </a:ext>
            </a:extLst>
          </p:cNvPr>
          <p:cNvSpPr>
            <a:spLocks noGrp="1"/>
          </p:cNvSpPr>
          <p:nvPr>
            <p:ph idx="1"/>
          </p:nvPr>
        </p:nvSpPr>
        <p:spPr>
          <a:xfrm>
            <a:off x="5818910" y="1825624"/>
            <a:ext cx="6373090" cy="5032375"/>
          </a:xfrm>
        </p:spPr>
        <p:txBody>
          <a:bodyPr>
            <a:normAutofit/>
          </a:bodyPr>
          <a:lstStyle/>
          <a:p>
            <a:r>
              <a:rPr lang="pt-BR" dirty="0"/>
              <a:t>Considere treinar a RNN ao lado para prever </a:t>
            </a:r>
            <a:r>
              <a:rPr lang="pt-BR" b="1" dirty="0">
                <a:solidFill>
                  <a:srgbClr val="00B050"/>
                </a:solidFill>
              </a:rPr>
              <a:t>a próxima palavra</a:t>
            </a:r>
            <a:r>
              <a:rPr lang="pt-BR" dirty="0"/>
              <a:t>.</a:t>
            </a:r>
          </a:p>
          <a:p>
            <a:r>
              <a:rPr lang="pt-BR" dirty="0"/>
              <a:t>Para </a:t>
            </a:r>
            <a:r>
              <a:rPr lang="pt-BR" b="1" dirty="0">
                <a:solidFill>
                  <a:schemeClr val="accent2"/>
                </a:solidFill>
              </a:rPr>
              <a:t>prever </a:t>
            </a:r>
            <a:r>
              <a:rPr lang="pt-BR" dirty="0"/>
              <a:t>a palavra</a:t>
            </a:r>
            <a:r>
              <a:rPr lang="pt-BR" b="1" dirty="0">
                <a:solidFill>
                  <a:schemeClr val="accent2"/>
                </a:solidFill>
              </a:rPr>
              <a:t> </a:t>
            </a:r>
            <a:r>
              <a:rPr lang="pt-BR" b="1" dirty="0">
                <a:solidFill>
                  <a:schemeClr val="accent5"/>
                </a:solidFill>
              </a:rPr>
              <a:t>“azul”</a:t>
            </a:r>
            <a:r>
              <a:rPr lang="pt-BR" dirty="0"/>
              <a:t>, a RNN precisa apenas de </a:t>
            </a:r>
            <a:r>
              <a:rPr lang="pt-BR" b="1" dirty="0">
                <a:solidFill>
                  <a:srgbClr val="00B050"/>
                </a:solidFill>
              </a:rPr>
              <a:t>informação de dois passos atrás</a:t>
            </a:r>
            <a:r>
              <a:rPr lang="pt-BR" dirty="0"/>
              <a:t>, i.e., a informação relevante está a poucos passos no tempo (</a:t>
            </a:r>
            <a:r>
              <a:rPr lang="pt-BR" b="1" dirty="0">
                <a:solidFill>
                  <a:schemeClr val="accent2"/>
                </a:solidFill>
              </a:rPr>
              <a:t>contexto recente</a:t>
            </a:r>
            <a:r>
              <a:rPr lang="pt-BR" dirty="0"/>
              <a:t>).</a:t>
            </a:r>
          </a:p>
          <a:p>
            <a:endParaRPr lang="pt-BR" dirty="0"/>
          </a:p>
        </p:txBody>
      </p:sp>
      <p:sp>
        <p:nvSpPr>
          <p:cNvPr id="8" name="Rectangle 7">
            <a:extLst>
              <a:ext uri="{FF2B5EF4-FFF2-40B4-BE49-F238E27FC236}">
                <a16:creationId xmlns="" xmlns:a16="http://schemas.microsoft.com/office/drawing/2014/main" id="{C53011F6-166D-E866-27C5-69A2EF65F07A}"/>
              </a:ext>
            </a:extLst>
          </p:cNvPr>
          <p:cNvSpPr/>
          <p:nvPr/>
        </p:nvSpPr>
        <p:spPr>
          <a:xfrm>
            <a:off x="3314699" y="2225711"/>
            <a:ext cx="716973" cy="132556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64373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3C64356E-F5FE-E5D3-9E6C-6927EBEC8C90}"/>
            </a:ext>
          </a:extLst>
        </p:cNvPr>
        <p:cNvGrpSpPr/>
        <p:nvPr/>
      </p:nvGrpSpPr>
      <p:grpSpPr>
        <a:xfrm>
          <a:off x="0" y="0"/>
          <a:ext cx="0" cy="0"/>
          <a:chOff x="0" y="0"/>
          <a:chExt cx="0" cy="0"/>
        </a:xfrm>
      </p:grpSpPr>
      <p:pic>
        <p:nvPicPr>
          <p:cNvPr id="5" name="Picture 4">
            <a:extLst>
              <a:ext uri="{FF2B5EF4-FFF2-40B4-BE49-F238E27FC236}">
                <a16:creationId xmlns="" xmlns:a16="http://schemas.microsoft.com/office/drawing/2014/main" id="{3A944CD8-CBDA-65AB-AE05-7694FE8B6C7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66490" y="2158372"/>
            <a:ext cx="4373006" cy="3774595"/>
          </a:xfrm>
          <a:prstGeom prst="rect">
            <a:avLst/>
          </a:prstGeom>
        </p:spPr>
      </p:pic>
      <p:sp>
        <p:nvSpPr>
          <p:cNvPr id="2" name="Title 1">
            <a:extLst>
              <a:ext uri="{FF2B5EF4-FFF2-40B4-BE49-F238E27FC236}">
                <a16:creationId xmlns="" xmlns:a16="http://schemas.microsoft.com/office/drawing/2014/main" id="{FE9B53B2-8E68-BEE1-0D8A-E19655A4929A}"/>
              </a:ext>
            </a:extLst>
          </p:cNvPr>
          <p:cNvSpPr>
            <a:spLocks noGrp="1"/>
          </p:cNvSpPr>
          <p:nvPr>
            <p:ph type="title"/>
          </p:nvPr>
        </p:nvSpPr>
        <p:spPr/>
        <p:txBody>
          <a:bodyPr/>
          <a:lstStyle/>
          <a:p>
            <a:r>
              <a:rPr lang="pt-BR" dirty="0"/>
              <a:t>O problema das dependências de longo prazo</a:t>
            </a:r>
            <a:endParaRPr lang="en-US" dirty="0"/>
          </a:p>
        </p:txBody>
      </p:sp>
      <p:sp>
        <p:nvSpPr>
          <p:cNvPr id="3" name="Content Placeholder 2">
            <a:extLst>
              <a:ext uri="{FF2B5EF4-FFF2-40B4-BE49-F238E27FC236}">
                <a16:creationId xmlns="" xmlns:a16="http://schemas.microsoft.com/office/drawing/2014/main" id="{B571CB8A-DBB4-30C0-9F19-9763A30E40A2}"/>
              </a:ext>
            </a:extLst>
          </p:cNvPr>
          <p:cNvSpPr>
            <a:spLocks noGrp="1"/>
          </p:cNvSpPr>
          <p:nvPr>
            <p:ph idx="1"/>
          </p:nvPr>
        </p:nvSpPr>
        <p:spPr>
          <a:xfrm>
            <a:off x="5818910" y="1825624"/>
            <a:ext cx="6373090" cy="5032375"/>
          </a:xfrm>
        </p:spPr>
        <p:txBody>
          <a:bodyPr>
            <a:normAutofit/>
          </a:bodyPr>
          <a:lstStyle/>
          <a:p>
            <a:r>
              <a:rPr lang="pt-BR" dirty="0"/>
              <a:t>Assim, durante o treinamento, o erro precisa ser retropropagado por apenas alguns instantes temporais.</a:t>
            </a:r>
          </a:p>
          <a:p>
            <a:r>
              <a:rPr lang="pt-BR" dirty="0"/>
              <a:t>Porém, em muitas aplicações, a informação importante pode estar muito distante na sequência.</a:t>
            </a:r>
          </a:p>
        </p:txBody>
      </p:sp>
      <p:sp>
        <p:nvSpPr>
          <p:cNvPr id="8" name="Rectangle 7">
            <a:extLst>
              <a:ext uri="{FF2B5EF4-FFF2-40B4-BE49-F238E27FC236}">
                <a16:creationId xmlns="" xmlns:a16="http://schemas.microsoft.com/office/drawing/2014/main" id="{DA4B9400-011F-CE71-B12A-9EB45E21B3C6}"/>
              </a:ext>
            </a:extLst>
          </p:cNvPr>
          <p:cNvSpPr/>
          <p:nvPr/>
        </p:nvSpPr>
        <p:spPr>
          <a:xfrm>
            <a:off x="3314699" y="2225711"/>
            <a:ext cx="716973" cy="132556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6340925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0D984BD1-9D88-7A7E-95C0-39AB6310B897}"/>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BB6B7A25-7D9F-2655-41EB-F9274FE4A33B}"/>
              </a:ext>
            </a:extLst>
          </p:cNvPr>
          <p:cNvSpPr>
            <a:spLocks noGrp="1"/>
          </p:cNvSpPr>
          <p:nvPr>
            <p:ph type="title"/>
          </p:nvPr>
        </p:nvSpPr>
        <p:spPr/>
        <p:txBody>
          <a:bodyPr/>
          <a:lstStyle/>
          <a:p>
            <a:r>
              <a:rPr lang="pt-BR" dirty="0"/>
              <a:t>O problema das dependências de longo prazo</a:t>
            </a:r>
            <a:endParaRPr lang="en-US" dirty="0"/>
          </a:p>
        </p:txBody>
      </p:sp>
      <p:sp>
        <p:nvSpPr>
          <p:cNvPr id="3" name="Content Placeholder 2">
            <a:extLst>
              <a:ext uri="{FF2B5EF4-FFF2-40B4-BE49-F238E27FC236}">
                <a16:creationId xmlns="" xmlns:a16="http://schemas.microsoft.com/office/drawing/2014/main" id="{A60FF3FD-0963-BC17-8992-4327E5058BC2}"/>
              </a:ext>
            </a:extLst>
          </p:cNvPr>
          <p:cNvSpPr>
            <a:spLocks noGrp="1"/>
          </p:cNvSpPr>
          <p:nvPr>
            <p:ph idx="1"/>
          </p:nvPr>
        </p:nvSpPr>
        <p:spPr>
          <a:xfrm>
            <a:off x="6307810" y="1825624"/>
            <a:ext cx="5884189" cy="5032375"/>
          </a:xfrm>
        </p:spPr>
        <p:txBody>
          <a:bodyPr>
            <a:normAutofit/>
          </a:bodyPr>
          <a:lstStyle/>
          <a:p>
            <a:r>
              <a:rPr lang="pt-BR" dirty="0" smtClean="0"/>
              <a:t>Agora, vamos considerar </a:t>
            </a:r>
            <a:r>
              <a:rPr lang="pt-BR" dirty="0"/>
              <a:t>a frase: </a:t>
            </a:r>
          </a:p>
          <a:p>
            <a:pPr marL="457200" lvl="1" indent="0" algn="ctr">
              <a:buNone/>
            </a:pPr>
            <a:r>
              <a:rPr lang="pt-BR" dirty="0"/>
              <a:t>“Sou de Roma. Nasci há 30 anos. Gosto de comer bem e andar de bicicleta. Minha língua materna é o italiano</a:t>
            </a:r>
            <a:r>
              <a:rPr lang="pt-BR" dirty="0" smtClean="0"/>
              <a:t>.”</a:t>
            </a:r>
          </a:p>
          <a:p>
            <a:pPr>
              <a:lnSpc>
                <a:spcPct val="100000"/>
              </a:lnSpc>
              <a:spcBef>
                <a:spcPts val="0"/>
              </a:spcBef>
              <a:defRPr/>
            </a:pPr>
            <a:r>
              <a:rPr lang="pt-BR" dirty="0"/>
              <a:t>Para prever </a:t>
            </a:r>
            <a:r>
              <a:rPr lang="pt-BR" b="1" dirty="0" smtClean="0">
                <a:solidFill>
                  <a:schemeClr val="accent2"/>
                </a:solidFill>
              </a:rPr>
              <a:t>“italiano”</a:t>
            </a:r>
            <a:r>
              <a:rPr lang="pt-BR" dirty="0" smtClean="0"/>
              <a:t>, </a:t>
            </a:r>
            <a:r>
              <a:rPr lang="pt-BR" dirty="0"/>
              <a:t>a rede precisa lembrar uma informação muito antiga da </a:t>
            </a:r>
            <a:r>
              <a:rPr lang="pt-BR" dirty="0" smtClean="0"/>
              <a:t>sequência, a palavra </a:t>
            </a:r>
            <a:r>
              <a:rPr lang="pt-BR" b="1" dirty="0" smtClean="0">
                <a:solidFill>
                  <a:schemeClr val="accent2"/>
                </a:solidFill>
              </a:rPr>
              <a:t>“Roma”</a:t>
            </a:r>
            <a:r>
              <a:rPr lang="pt-BR" dirty="0" smtClean="0"/>
              <a:t>.</a:t>
            </a:r>
          </a:p>
          <a:p>
            <a:pPr>
              <a:lnSpc>
                <a:spcPct val="100000"/>
              </a:lnSpc>
              <a:spcBef>
                <a:spcPts val="0"/>
              </a:spcBef>
              <a:defRPr/>
            </a:pPr>
            <a:r>
              <a:rPr lang="pt-BR" dirty="0" smtClean="0"/>
              <a:t>Durante </a:t>
            </a:r>
            <a:r>
              <a:rPr lang="pt-BR" dirty="0"/>
              <a:t>o treinamento, o erro precisa ser </a:t>
            </a:r>
            <a:r>
              <a:rPr lang="pt-BR" dirty="0" err="1"/>
              <a:t>retropropagado</a:t>
            </a:r>
            <a:r>
              <a:rPr lang="pt-BR" dirty="0"/>
              <a:t> por </a:t>
            </a:r>
            <a:r>
              <a:rPr lang="pt-BR" dirty="0" smtClean="0"/>
              <a:t>vários instantes de tempo, o que pode fazer com que o </a:t>
            </a:r>
            <a:r>
              <a:rPr lang="pt-BR" b="1" dirty="0" smtClean="0">
                <a:solidFill>
                  <a:srgbClr val="7030A0"/>
                </a:solidFill>
              </a:rPr>
              <a:t>gradiente desapareça</a:t>
            </a:r>
            <a:r>
              <a:rPr lang="pt-BR" dirty="0" smtClean="0"/>
              <a:t>.</a:t>
            </a:r>
            <a:endParaRPr lang="pt-BR" dirty="0"/>
          </a:p>
        </p:txBody>
      </p:sp>
      <p:sp>
        <p:nvSpPr>
          <p:cNvPr id="8" name="Rectangle 7">
            <a:extLst>
              <a:ext uri="{FF2B5EF4-FFF2-40B4-BE49-F238E27FC236}">
                <a16:creationId xmlns="" xmlns:a16="http://schemas.microsoft.com/office/drawing/2014/main" id="{EB82918D-ADE2-AAB7-1AE4-7AF0D762FD32}"/>
              </a:ext>
            </a:extLst>
          </p:cNvPr>
          <p:cNvSpPr/>
          <p:nvPr/>
        </p:nvSpPr>
        <p:spPr>
          <a:xfrm>
            <a:off x="4322619" y="2597510"/>
            <a:ext cx="779318" cy="1013907"/>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 xmlns:a16="http://schemas.microsoft.com/office/drawing/2014/main" id="{C4D27DDD-946D-AB8C-ED06-3C325B14C52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0532" y="2597510"/>
            <a:ext cx="5885468" cy="2740456"/>
          </a:xfrm>
          <a:prstGeom prst="rect">
            <a:avLst/>
          </a:prstGeom>
        </p:spPr>
      </p:pic>
    </p:spTree>
    <p:extLst>
      <p:ext uri="{BB962C8B-B14F-4D97-AF65-F5344CB8AC3E}">
        <p14:creationId xmlns:p14="http://schemas.microsoft.com/office/powerpoint/2010/main" val="322804079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99FCAA46-FB18-7F4A-9CA9-0600DE6F2EB3}"/>
            </a:ext>
          </a:extLst>
        </p:cNvPr>
        <p:cNvGrpSpPr/>
        <p:nvPr/>
      </p:nvGrpSpPr>
      <p:grpSpPr>
        <a:xfrm>
          <a:off x="0" y="0"/>
          <a:ext cx="0" cy="0"/>
          <a:chOff x="0" y="0"/>
          <a:chExt cx="0" cy="0"/>
        </a:xfrm>
      </p:grpSpPr>
      <p:pic>
        <p:nvPicPr>
          <p:cNvPr id="5" name="Picture 4">
            <a:extLst>
              <a:ext uri="{FF2B5EF4-FFF2-40B4-BE49-F238E27FC236}">
                <a16:creationId xmlns="" xmlns:a16="http://schemas.microsoft.com/office/drawing/2014/main" id="{80D115FB-FCD8-EC8B-4716-893C9868673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10532" y="2597510"/>
            <a:ext cx="5885468" cy="2740456"/>
          </a:xfrm>
          <a:prstGeom prst="rect">
            <a:avLst/>
          </a:prstGeom>
        </p:spPr>
      </p:pic>
      <p:sp>
        <p:nvSpPr>
          <p:cNvPr id="2" name="Title 1">
            <a:extLst>
              <a:ext uri="{FF2B5EF4-FFF2-40B4-BE49-F238E27FC236}">
                <a16:creationId xmlns="" xmlns:a16="http://schemas.microsoft.com/office/drawing/2014/main" id="{54791B03-E616-FD43-80C5-5DF812B2B60E}"/>
              </a:ext>
            </a:extLst>
          </p:cNvPr>
          <p:cNvSpPr>
            <a:spLocks noGrp="1"/>
          </p:cNvSpPr>
          <p:nvPr>
            <p:ph type="title"/>
          </p:nvPr>
        </p:nvSpPr>
        <p:spPr/>
        <p:txBody>
          <a:bodyPr/>
          <a:lstStyle/>
          <a:p>
            <a:r>
              <a:rPr lang="pt-BR" dirty="0"/>
              <a:t>O problema das dependências de longo prazo</a:t>
            </a:r>
            <a:endParaRPr lang="en-US" dirty="0"/>
          </a:p>
        </p:txBody>
      </p:sp>
      <p:sp>
        <p:nvSpPr>
          <p:cNvPr id="3" name="Content Placeholder 2">
            <a:extLst>
              <a:ext uri="{FF2B5EF4-FFF2-40B4-BE49-F238E27FC236}">
                <a16:creationId xmlns="" xmlns:a16="http://schemas.microsoft.com/office/drawing/2014/main" id="{6C1404A6-E7DD-907F-A21B-91BD8A91FAEC}"/>
              </a:ext>
            </a:extLst>
          </p:cNvPr>
          <p:cNvSpPr>
            <a:spLocks noGrp="1"/>
          </p:cNvSpPr>
          <p:nvPr>
            <p:ph idx="1"/>
          </p:nvPr>
        </p:nvSpPr>
        <p:spPr>
          <a:xfrm>
            <a:off x="6199158" y="1825624"/>
            <a:ext cx="5992842" cy="5032375"/>
          </a:xfrm>
        </p:spPr>
        <p:txBody>
          <a:bodyPr>
            <a:normAutofit/>
          </a:bodyPr>
          <a:lstStyle/>
          <a:p>
            <a:r>
              <a:rPr lang="pt-BR" dirty="0" smtClean="0"/>
              <a:t>Quanto </a:t>
            </a:r>
            <a:r>
              <a:rPr lang="pt-BR" dirty="0"/>
              <a:t>maior a distância temporal, mais difícil é para a RNN manter a informação relevante</a:t>
            </a:r>
            <a:r>
              <a:rPr lang="pt-BR" dirty="0" smtClean="0"/>
              <a:t>.</a:t>
            </a:r>
          </a:p>
          <a:p>
            <a:r>
              <a:rPr lang="pt-BR" dirty="0" smtClean="0"/>
              <a:t>As </a:t>
            </a:r>
            <a:r>
              <a:rPr lang="pt-BR" dirty="0" err="1"/>
              <a:t>RNNs</a:t>
            </a:r>
            <a:r>
              <a:rPr lang="pt-BR" dirty="0"/>
              <a:t> tradicionais têm dificuldade em preservar informações por muitos passos temporais</a:t>
            </a:r>
            <a:r>
              <a:rPr lang="pt-BR" dirty="0" smtClean="0"/>
              <a:t>.</a:t>
            </a:r>
            <a:endParaRPr lang="pt-BR" dirty="0"/>
          </a:p>
          <a:p>
            <a:pPr marL="0" indent="0">
              <a:buNone/>
            </a:pPr>
            <a:endParaRPr lang="pt-BR" dirty="0" smtClean="0"/>
          </a:p>
          <a:p>
            <a:pPr marL="0" indent="0" algn="ctr">
              <a:buNone/>
            </a:pPr>
            <a:r>
              <a:rPr lang="pt-BR" dirty="0" smtClean="0"/>
              <a:t>Como </a:t>
            </a:r>
            <a:r>
              <a:rPr lang="pt-BR" dirty="0"/>
              <a:t>permitir que a rede preserve </a:t>
            </a:r>
            <a:r>
              <a:rPr lang="pt-BR" b="1" dirty="0">
                <a:solidFill>
                  <a:schemeClr val="accent2"/>
                </a:solidFill>
              </a:rPr>
              <a:t>informações importantes</a:t>
            </a:r>
            <a:r>
              <a:rPr lang="pt-BR" dirty="0"/>
              <a:t> por muito mais tempo</a:t>
            </a:r>
            <a:r>
              <a:rPr lang="pt-BR" dirty="0" smtClean="0"/>
              <a:t>?</a:t>
            </a:r>
          </a:p>
        </p:txBody>
      </p:sp>
      <p:sp>
        <p:nvSpPr>
          <p:cNvPr id="8" name="Rectangle 7">
            <a:extLst>
              <a:ext uri="{FF2B5EF4-FFF2-40B4-BE49-F238E27FC236}">
                <a16:creationId xmlns="" xmlns:a16="http://schemas.microsoft.com/office/drawing/2014/main" id="{ADCDC70A-B3DA-C5F7-B8FF-163E59F072E4}"/>
              </a:ext>
            </a:extLst>
          </p:cNvPr>
          <p:cNvSpPr/>
          <p:nvPr/>
        </p:nvSpPr>
        <p:spPr>
          <a:xfrm>
            <a:off x="4322619" y="2618292"/>
            <a:ext cx="779318" cy="1013907"/>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44102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99FCAA46-FB18-7F4A-9CA9-0600DE6F2EB3}"/>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54791B03-E616-FD43-80C5-5DF812B2B60E}"/>
              </a:ext>
            </a:extLst>
          </p:cNvPr>
          <p:cNvSpPr>
            <a:spLocks noGrp="1"/>
          </p:cNvSpPr>
          <p:nvPr>
            <p:ph type="title"/>
          </p:nvPr>
        </p:nvSpPr>
        <p:spPr/>
        <p:txBody>
          <a:bodyPr/>
          <a:lstStyle/>
          <a:p>
            <a:r>
              <a:rPr lang="pt-BR" dirty="0"/>
              <a:t>O problema das dependências de longo prazo</a:t>
            </a:r>
            <a:endParaRPr lang="en-US" dirty="0"/>
          </a:p>
        </p:txBody>
      </p:sp>
      <p:sp>
        <p:nvSpPr>
          <p:cNvPr id="3" name="Content Placeholder 2">
            <a:extLst>
              <a:ext uri="{FF2B5EF4-FFF2-40B4-BE49-F238E27FC236}">
                <a16:creationId xmlns="" xmlns:a16="http://schemas.microsoft.com/office/drawing/2014/main" id="{6C1404A6-E7DD-907F-A21B-91BD8A91FAEC}"/>
              </a:ext>
            </a:extLst>
          </p:cNvPr>
          <p:cNvSpPr>
            <a:spLocks noGrp="1"/>
          </p:cNvSpPr>
          <p:nvPr>
            <p:ph idx="1"/>
          </p:nvPr>
        </p:nvSpPr>
        <p:spPr>
          <a:xfrm>
            <a:off x="838201" y="1825624"/>
            <a:ext cx="11353800" cy="5032375"/>
          </a:xfrm>
        </p:spPr>
        <p:txBody>
          <a:bodyPr>
            <a:normAutofit/>
          </a:bodyPr>
          <a:lstStyle/>
          <a:p>
            <a:r>
              <a:rPr lang="pt-BR" dirty="0" smtClean="0"/>
              <a:t>Para resolver o problema das dependências de longo prazo, causado </a:t>
            </a:r>
            <a:r>
              <a:rPr lang="pt-BR" dirty="0" smtClean="0"/>
              <a:t>pelo </a:t>
            </a:r>
            <a:r>
              <a:rPr lang="pt-BR" dirty="0" smtClean="0"/>
              <a:t>desaparecimento </a:t>
            </a:r>
            <a:r>
              <a:rPr lang="pt-BR" dirty="0" smtClean="0"/>
              <a:t>ou explosão do </a:t>
            </a:r>
            <a:r>
              <a:rPr lang="pt-BR" dirty="0" smtClean="0"/>
              <a:t>gradiente, </a:t>
            </a:r>
            <a:r>
              <a:rPr lang="pt-BR" dirty="0"/>
              <a:t>foram propostas arquiteturas com mecanismos de </a:t>
            </a:r>
            <a:r>
              <a:rPr lang="pt-BR" dirty="0" smtClean="0"/>
              <a:t>memória:</a:t>
            </a:r>
            <a:endParaRPr lang="pt-BR" dirty="0"/>
          </a:p>
          <a:p>
            <a:pPr lvl="1">
              <a:buFont typeface="Wingdings" panose="05000000000000000000" pitchFamily="2" charset="2"/>
              <a:buChar char="§"/>
            </a:pPr>
            <a:r>
              <a:rPr lang="pt-BR" dirty="0" err="1" smtClean="0"/>
              <a:t>Long</a:t>
            </a:r>
            <a:r>
              <a:rPr lang="pt-BR" dirty="0" smtClean="0"/>
              <a:t> </a:t>
            </a:r>
            <a:r>
              <a:rPr lang="pt-BR" dirty="0"/>
              <a:t>Short-</a:t>
            </a:r>
            <a:r>
              <a:rPr lang="pt-BR" dirty="0" err="1"/>
              <a:t>Term</a:t>
            </a:r>
            <a:r>
              <a:rPr lang="pt-BR" dirty="0"/>
              <a:t> </a:t>
            </a:r>
            <a:r>
              <a:rPr lang="pt-BR" dirty="0" err="1" smtClean="0"/>
              <a:t>Memory</a:t>
            </a:r>
            <a:r>
              <a:rPr lang="pt-BR" dirty="0"/>
              <a:t> </a:t>
            </a:r>
            <a:r>
              <a:rPr lang="pt-BR" dirty="0" smtClean="0"/>
              <a:t>(LSTM)</a:t>
            </a:r>
            <a:endParaRPr lang="pt-BR" dirty="0"/>
          </a:p>
          <a:p>
            <a:pPr lvl="1">
              <a:buFont typeface="Wingdings" panose="05000000000000000000" pitchFamily="2" charset="2"/>
              <a:buChar char="§"/>
            </a:pPr>
            <a:r>
              <a:rPr lang="pt-BR" dirty="0" err="1" smtClean="0"/>
              <a:t>Gated</a:t>
            </a:r>
            <a:r>
              <a:rPr lang="pt-BR" dirty="0" smtClean="0"/>
              <a:t> </a:t>
            </a:r>
            <a:r>
              <a:rPr lang="pt-BR" dirty="0" err="1"/>
              <a:t>Recurrent</a:t>
            </a:r>
            <a:r>
              <a:rPr lang="pt-BR" dirty="0"/>
              <a:t> </a:t>
            </a:r>
            <a:r>
              <a:rPr lang="pt-BR" dirty="0" smtClean="0"/>
              <a:t>Unit</a:t>
            </a:r>
            <a:r>
              <a:rPr lang="pt-BR" dirty="0"/>
              <a:t> </a:t>
            </a:r>
            <a:r>
              <a:rPr lang="pt-BR" dirty="0" smtClean="0"/>
              <a:t>(GRU)</a:t>
            </a:r>
          </a:p>
          <a:p>
            <a:r>
              <a:rPr lang="pt-BR" dirty="0"/>
              <a:t>Essas redes </a:t>
            </a:r>
            <a:r>
              <a:rPr lang="pt-BR" dirty="0" smtClean="0"/>
              <a:t>criam caminhos </a:t>
            </a:r>
            <a:r>
              <a:rPr lang="pt-BR" dirty="0"/>
              <a:t>ao longo do tempo cujas derivadas não desaparecem </a:t>
            </a:r>
            <a:r>
              <a:rPr lang="pt-BR" dirty="0" smtClean="0"/>
              <a:t>nem explodem</a:t>
            </a:r>
            <a:r>
              <a:rPr lang="pt-BR" dirty="0"/>
              <a:t>.</a:t>
            </a:r>
            <a:endParaRPr lang="pt-BR" dirty="0" smtClean="0"/>
          </a:p>
          <a:p>
            <a:r>
              <a:rPr lang="pt-BR" dirty="0" smtClean="0"/>
              <a:t>Elas </a:t>
            </a:r>
            <a:r>
              <a:rPr lang="pt-BR" dirty="0" smtClean="0"/>
              <a:t>utilizam </a:t>
            </a:r>
            <a:r>
              <a:rPr lang="pt-BR" b="1" dirty="0"/>
              <a:t>portas (</a:t>
            </a:r>
            <a:r>
              <a:rPr lang="pt-BR" b="1" i="1" dirty="0" err="1"/>
              <a:t>gates</a:t>
            </a:r>
            <a:r>
              <a:rPr lang="pt-BR" b="1" dirty="0"/>
              <a:t>)</a:t>
            </a:r>
            <a:r>
              <a:rPr lang="pt-BR" dirty="0"/>
              <a:t> para controlar:</a:t>
            </a:r>
          </a:p>
          <a:p>
            <a:pPr lvl="1">
              <a:buFont typeface="Wingdings" panose="05000000000000000000" pitchFamily="2" charset="2"/>
              <a:buChar char="§"/>
            </a:pPr>
            <a:r>
              <a:rPr lang="pt-BR" dirty="0"/>
              <a:t>quais informações devem ser </a:t>
            </a:r>
            <a:r>
              <a:rPr lang="pt-BR" dirty="0" smtClean="0"/>
              <a:t>armazenadas (o que lembrar).</a:t>
            </a:r>
            <a:endParaRPr lang="pt-BR" dirty="0"/>
          </a:p>
          <a:p>
            <a:pPr lvl="1">
              <a:buFont typeface="Wingdings" panose="05000000000000000000" pitchFamily="2" charset="2"/>
              <a:buChar char="§"/>
            </a:pPr>
            <a:r>
              <a:rPr lang="pt-BR" dirty="0"/>
              <a:t>quais devem ser </a:t>
            </a:r>
            <a:r>
              <a:rPr lang="pt-BR" dirty="0" smtClean="0"/>
              <a:t>esquecidas</a:t>
            </a:r>
            <a:r>
              <a:rPr lang="pt-BR" dirty="0"/>
              <a:t>.</a:t>
            </a:r>
          </a:p>
          <a:p>
            <a:pPr lvl="1">
              <a:buFont typeface="Wingdings" panose="05000000000000000000" pitchFamily="2" charset="2"/>
              <a:buChar char="§"/>
            </a:pPr>
            <a:r>
              <a:rPr lang="pt-BR" dirty="0"/>
              <a:t>quais devem ser utilizadas na </a:t>
            </a:r>
            <a:r>
              <a:rPr lang="pt-BR" dirty="0" smtClean="0"/>
              <a:t>saída (quando usar uma informação armazenada</a:t>
            </a:r>
            <a:r>
              <a:rPr lang="pt-BR" dirty="0" smtClean="0"/>
              <a:t>).</a:t>
            </a:r>
          </a:p>
        </p:txBody>
      </p:sp>
    </p:spTree>
    <p:extLst>
      <p:ext uri="{BB962C8B-B14F-4D97-AF65-F5344CB8AC3E}">
        <p14:creationId xmlns:p14="http://schemas.microsoft.com/office/powerpoint/2010/main" val="38626507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m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011608"/>
            <a:ext cx="7882811" cy="4310246"/>
          </a:xfrm>
          <a:prstGeom prst="rect">
            <a:avLst/>
          </a:prstGeom>
        </p:spPr>
      </p:pic>
      <p:sp>
        <p:nvSpPr>
          <p:cNvPr id="2" name="Title 1">
            <a:extLst>
              <a:ext uri="{FF2B5EF4-FFF2-40B4-BE49-F238E27FC236}">
                <a16:creationId xmlns="" xmlns:a16="http://schemas.microsoft.com/office/drawing/2014/main" id="{CE5FE4D3-51CB-D07E-2D42-B438EA185FF2}"/>
              </a:ext>
            </a:extLst>
          </p:cNvPr>
          <p:cNvSpPr>
            <a:spLocks noGrp="1"/>
          </p:cNvSpPr>
          <p:nvPr>
            <p:ph type="title"/>
          </p:nvPr>
        </p:nvSpPr>
        <p:spPr/>
        <p:txBody>
          <a:bodyPr/>
          <a:lstStyle/>
          <a:p>
            <a:r>
              <a:rPr lang="pt-BR" i="1" dirty="0" err="1"/>
              <a:t>Long</a:t>
            </a:r>
            <a:r>
              <a:rPr lang="pt-BR" i="1" dirty="0"/>
              <a:t>-short </a:t>
            </a:r>
            <a:r>
              <a:rPr lang="pt-BR" i="1" dirty="0" err="1"/>
              <a:t>term</a:t>
            </a:r>
            <a:r>
              <a:rPr lang="pt-BR" i="1" dirty="0"/>
              <a:t> </a:t>
            </a:r>
            <a:r>
              <a:rPr lang="pt-BR" i="1" dirty="0" err="1"/>
              <a:t>memory</a:t>
            </a:r>
            <a:r>
              <a:rPr lang="pt-BR" i="1" dirty="0"/>
              <a:t> </a:t>
            </a:r>
            <a:r>
              <a:rPr lang="pt-BR" dirty="0"/>
              <a:t>(LSTM)</a:t>
            </a:r>
            <a:endParaRPr lang="en-US" i="1" dirty="0"/>
          </a:p>
        </p:txBody>
      </p:sp>
      <p:sp>
        <p:nvSpPr>
          <p:cNvPr id="3" name="Content Placeholder 2">
            <a:extLst>
              <a:ext uri="{FF2B5EF4-FFF2-40B4-BE49-F238E27FC236}">
                <a16:creationId xmlns="" xmlns:a16="http://schemas.microsoft.com/office/drawing/2014/main" id="{E0BCFCB7-6C37-0809-93AB-AF4180361789}"/>
              </a:ext>
            </a:extLst>
          </p:cNvPr>
          <p:cNvSpPr>
            <a:spLocks noGrp="1"/>
          </p:cNvSpPr>
          <p:nvPr>
            <p:ph idx="1"/>
          </p:nvPr>
        </p:nvSpPr>
        <p:spPr>
          <a:xfrm>
            <a:off x="7718156" y="1825624"/>
            <a:ext cx="4473845" cy="5032375"/>
          </a:xfrm>
        </p:spPr>
        <p:txBody>
          <a:bodyPr/>
          <a:lstStyle/>
          <a:p>
            <a:r>
              <a:rPr lang="pt-BR" dirty="0"/>
              <a:t>Introduzida por </a:t>
            </a:r>
            <a:r>
              <a:rPr lang="pt-BR" dirty="0" err="1"/>
              <a:t>Hochreiter</a:t>
            </a:r>
            <a:r>
              <a:rPr lang="pt-BR" dirty="0"/>
              <a:t> e </a:t>
            </a:r>
            <a:r>
              <a:rPr lang="pt-BR" dirty="0" err="1"/>
              <a:t>Schmidhuber</a:t>
            </a:r>
            <a:r>
              <a:rPr lang="pt-BR" dirty="0"/>
              <a:t> em 1997.</a:t>
            </a:r>
          </a:p>
          <a:p>
            <a:r>
              <a:rPr lang="pt-BR" dirty="0"/>
              <a:t>Funcionam muito bem em </a:t>
            </a:r>
            <a:r>
              <a:rPr lang="pt-BR" b="1" dirty="0">
                <a:solidFill>
                  <a:schemeClr val="accent2"/>
                </a:solidFill>
              </a:rPr>
              <a:t>diversos problemas que envolvem dados </a:t>
            </a:r>
            <a:r>
              <a:rPr lang="pt-BR" b="1" dirty="0" smtClean="0">
                <a:solidFill>
                  <a:schemeClr val="accent2"/>
                </a:solidFill>
              </a:rPr>
              <a:t>sequenciais</a:t>
            </a:r>
            <a:r>
              <a:rPr lang="pt-BR" dirty="0" smtClean="0"/>
              <a:t>.</a:t>
            </a:r>
          </a:p>
          <a:p>
            <a:r>
              <a:rPr lang="pt-BR" dirty="0" smtClean="0"/>
              <a:t>São </a:t>
            </a:r>
            <a:r>
              <a:rPr lang="pt-BR" dirty="0"/>
              <a:t>amplamente utilizadas </a:t>
            </a:r>
            <a:r>
              <a:rPr lang="pt-BR" dirty="0" smtClean="0"/>
              <a:t>atualmente.</a:t>
            </a:r>
          </a:p>
        </p:txBody>
      </p:sp>
      <mc:AlternateContent xmlns:mc="http://schemas.openxmlformats.org/markup-compatibility/2006" xmlns:a14="http://schemas.microsoft.com/office/drawing/2010/main">
        <mc:Choice Requires="a14">
          <p:sp>
            <p:nvSpPr>
              <p:cNvPr id="4" name="TextBox 3">
                <a:extLst>
                  <a:ext uri="{FF2B5EF4-FFF2-40B4-BE49-F238E27FC236}">
                    <a16:creationId xmlns="" xmlns:a16="http://schemas.microsoft.com/office/drawing/2014/main" id="{767CEB79-6A0F-ABB3-2CE7-334D403DD862}"/>
                  </a:ext>
                </a:extLst>
              </p:cNvPr>
              <p:cNvSpPr txBox="1"/>
              <p:nvPr/>
            </p:nvSpPr>
            <p:spPr>
              <a:xfrm>
                <a:off x="0" y="6611778"/>
                <a:ext cx="3175036" cy="246221"/>
              </a:xfrm>
              <a:prstGeom prst="rect">
                <a:avLst/>
              </a:prstGeom>
              <a:noFill/>
            </p:spPr>
            <p:txBody>
              <a:bodyPr wrap="none" rtlCol="0">
                <a:spAutoFit/>
              </a:bodyPr>
              <a:lstStyle/>
              <a:p>
                <a:r>
                  <a:rPr lang="pt-BR" sz="1000" b="1" dirty="0"/>
                  <a:t>OBS</a:t>
                </a:r>
                <a:r>
                  <a:rPr lang="pt-BR" sz="1000" dirty="0"/>
                  <a:t>.: Para facilitar a notação, usamos </a:t>
                </a:r>
                <a14:m>
                  <m:oMath xmlns:m="http://schemas.openxmlformats.org/officeDocument/2006/math">
                    <m:sSub>
                      <m:sSubPr>
                        <m:ctrlPr>
                          <a:rPr lang="pt-BR" sz="1000" i="1" smtClean="0">
                            <a:latin typeface="Cambria Math" panose="02040503050406030204" pitchFamily="18" charset="0"/>
                          </a:rPr>
                        </m:ctrlPr>
                      </m:sSubPr>
                      <m:e>
                        <m:r>
                          <a:rPr lang="pt-BR" sz="1000" b="1" i="1" smtClean="0">
                            <a:latin typeface="Cambria Math" panose="02040503050406030204" pitchFamily="18" charset="0"/>
                          </a:rPr>
                          <m:t>𝒙</m:t>
                        </m:r>
                      </m:e>
                      <m:sub>
                        <m:r>
                          <a:rPr lang="pt-BR" sz="1000" b="0" i="1" smtClean="0">
                            <a:latin typeface="Cambria Math" panose="02040503050406030204" pitchFamily="18" charset="0"/>
                          </a:rPr>
                          <m:t>𝑡</m:t>
                        </m:r>
                      </m:sub>
                    </m:sSub>
                  </m:oMath>
                </a14:m>
                <a:r>
                  <a:rPr lang="en-US" sz="1000" dirty="0"/>
                  <a:t> </a:t>
                </a:r>
                <a:r>
                  <a:rPr lang="en-US" sz="1000" dirty="0" err="1"/>
                  <a:t>ao</a:t>
                </a:r>
                <a:r>
                  <a:rPr lang="en-US" sz="1000" dirty="0"/>
                  <a:t> </a:t>
                </a:r>
                <a:r>
                  <a:rPr lang="en-US" sz="1000" dirty="0" err="1"/>
                  <a:t>inves</a:t>
                </a:r>
                <a:r>
                  <a:rPr lang="en-US" sz="1000" dirty="0"/>
                  <a:t> de </a:t>
                </a:r>
                <a14:m>
                  <m:oMath xmlns:m="http://schemas.openxmlformats.org/officeDocument/2006/math">
                    <m:r>
                      <a:rPr lang="pt-BR" sz="1000" b="1" i="1" smtClean="0">
                        <a:latin typeface="Cambria Math" panose="02040503050406030204" pitchFamily="18" charset="0"/>
                      </a:rPr>
                      <m:t>𝒙</m:t>
                    </m:r>
                    <m:d>
                      <m:dPr>
                        <m:begChr m:val="["/>
                        <m:endChr m:val="]"/>
                        <m:ctrlPr>
                          <a:rPr lang="pt-BR" sz="1000" b="0" i="1" smtClean="0">
                            <a:latin typeface="Cambria Math" panose="02040503050406030204" pitchFamily="18" charset="0"/>
                          </a:rPr>
                        </m:ctrlPr>
                      </m:dPr>
                      <m:e>
                        <m:r>
                          <a:rPr lang="pt-BR" sz="1000" b="0" i="1" smtClean="0">
                            <a:latin typeface="Cambria Math" panose="02040503050406030204" pitchFamily="18" charset="0"/>
                          </a:rPr>
                          <m:t>𝑡</m:t>
                        </m:r>
                      </m:e>
                    </m:d>
                    <m:r>
                      <a:rPr lang="pt-BR" sz="1000" b="0" i="1" smtClean="0">
                        <a:latin typeface="Cambria Math" panose="02040503050406030204" pitchFamily="18" charset="0"/>
                      </a:rPr>
                      <m:t>.</m:t>
                    </m:r>
                  </m:oMath>
                </a14:m>
                <a:endParaRPr lang="en-US" sz="1000" dirty="0"/>
              </a:p>
            </p:txBody>
          </p:sp>
        </mc:Choice>
        <mc:Fallback xmlns="">
          <p:sp>
            <p:nvSpPr>
              <p:cNvPr id="4" name="TextBox 3">
                <a:extLst>
                  <a:ext uri="{FF2B5EF4-FFF2-40B4-BE49-F238E27FC236}">
                    <a16:creationId xmlns:a16="http://schemas.microsoft.com/office/drawing/2014/main" id="{767CEB79-6A0F-ABB3-2CE7-334D403DD862}"/>
                  </a:ext>
                </a:extLst>
              </p:cNvPr>
              <p:cNvSpPr txBox="1">
                <a:spLocks noRot="1" noChangeAspect="1" noMove="1" noResize="1" noEditPoints="1" noAdjustHandles="1" noChangeArrowheads="1" noChangeShapeType="1" noTextEdit="1"/>
              </p:cNvSpPr>
              <p:nvPr/>
            </p:nvSpPr>
            <p:spPr>
              <a:xfrm>
                <a:off x="0" y="6611778"/>
                <a:ext cx="3175036" cy="246221"/>
              </a:xfrm>
              <a:prstGeom prst="rect">
                <a:avLst/>
              </a:prstGeom>
              <a:blipFill>
                <a:blip r:embed="rId3"/>
                <a:stretch>
                  <a:fillRect b="-15000"/>
                </a:stretch>
              </a:blipFill>
            </p:spPr>
            <p:txBody>
              <a:bodyPr/>
              <a:lstStyle/>
              <a:p>
                <a:r>
                  <a:rPr lang="en-US">
                    <a:noFill/>
                  </a:rPr>
                  <a:t> </a:t>
                </a:r>
              </a:p>
            </p:txBody>
          </p:sp>
        </mc:Fallback>
      </mc:AlternateContent>
    </p:spTree>
    <p:extLst>
      <p:ext uri="{BB962C8B-B14F-4D97-AF65-F5344CB8AC3E}">
        <p14:creationId xmlns:p14="http://schemas.microsoft.com/office/powerpoint/2010/main" val="339867053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m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011608"/>
            <a:ext cx="7882811" cy="4310246"/>
          </a:xfrm>
          <a:prstGeom prst="rect">
            <a:avLst/>
          </a:prstGeom>
        </p:spPr>
      </p:pic>
      <p:sp>
        <p:nvSpPr>
          <p:cNvPr id="2" name="Title 1">
            <a:extLst>
              <a:ext uri="{FF2B5EF4-FFF2-40B4-BE49-F238E27FC236}">
                <a16:creationId xmlns="" xmlns:a16="http://schemas.microsoft.com/office/drawing/2014/main" id="{CE5FE4D3-51CB-D07E-2D42-B438EA185FF2}"/>
              </a:ext>
            </a:extLst>
          </p:cNvPr>
          <p:cNvSpPr>
            <a:spLocks noGrp="1"/>
          </p:cNvSpPr>
          <p:nvPr>
            <p:ph type="title"/>
          </p:nvPr>
        </p:nvSpPr>
        <p:spPr/>
        <p:txBody>
          <a:bodyPr/>
          <a:lstStyle/>
          <a:p>
            <a:r>
              <a:rPr lang="pt-BR" i="1" dirty="0" err="1"/>
              <a:t>Long</a:t>
            </a:r>
            <a:r>
              <a:rPr lang="pt-BR" i="1" dirty="0"/>
              <a:t>-short </a:t>
            </a:r>
            <a:r>
              <a:rPr lang="pt-BR" i="1" dirty="0" err="1"/>
              <a:t>term</a:t>
            </a:r>
            <a:r>
              <a:rPr lang="pt-BR" i="1" dirty="0"/>
              <a:t> </a:t>
            </a:r>
            <a:r>
              <a:rPr lang="pt-BR" i="1" dirty="0" err="1"/>
              <a:t>memory</a:t>
            </a:r>
            <a:r>
              <a:rPr lang="pt-BR" i="1" dirty="0"/>
              <a:t> </a:t>
            </a:r>
            <a:r>
              <a:rPr lang="pt-BR" dirty="0"/>
              <a:t>(LSTM)</a:t>
            </a:r>
            <a:endParaRPr lang="en-US" i="1" dirty="0"/>
          </a:p>
        </p:txBody>
      </p:sp>
      <p:sp>
        <p:nvSpPr>
          <p:cNvPr id="3" name="Content Placeholder 2">
            <a:extLst>
              <a:ext uri="{FF2B5EF4-FFF2-40B4-BE49-F238E27FC236}">
                <a16:creationId xmlns="" xmlns:a16="http://schemas.microsoft.com/office/drawing/2014/main" id="{E0BCFCB7-6C37-0809-93AB-AF4180361789}"/>
              </a:ext>
            </a:extLst>
          </p:cNvPr>
          <p:cNvSpPr>
            <a:spLocks noGrp="1"/>
          </p:cNvSpPr>
          <p:nvPr>
            <p:ph idx="1"/>
          </p:nvPr>
        </p:nvSpPr>
        <p:spPr>
          <a:xfrm>
            <a:off x="7718156" y="1825624"/>
            <a:ext cx="4473845" cy="5032375"/>
          </a:xfrm>
        </p:spPr>
        <p:txBody>
          <a:bodyPr/>
          <a:lstStyle/>
          <a:p>
            <a:r>
              <a:rPr lang="pt-BR" dirty="0" smtClean="0"/>
              <a:t>Elas </a:t>
            </a:r>
            <a:r>
              <a:rPr lang="pt-BR" b="1" dirty="0">
                <a:solidFill>
                  <a:schemeClr val="accent1"/>
                </a:solidFill>
              </a:rPr>
              <a:t>capturam </a:t>
            </a:r>
            <a:r>
              <a:rPr lang="pt-BR" b="1" dirty="0" smtClean="0">
                <a:solidFill>
                  <a:schemeClr val="accent1"/>
                </a:solidFill>
              </a:rPr>
              <a:t>padrões </a:t>
            </a:r>
            <a:r>
              <a:rPr lang="pt-BR" b="1" dirty="0">
                <a:solidFill>
                  <a:schemeClr val="accent1"/>
                </a:solidFill>
              </a:rPr>
              <a:t>de longo e curto prazo</a:t>
            </a:r>
            <a:r>
              <a:rPr lang="pt-BR" dirty="0"/>
              <a:t> de uma sequência de dados. </a:t>
            </a:r>
            <a:endParaRPr lang="pt-BR" dirty="0" smtClean="0"/>
          </a:p>
          <a:p>
            <a:r>
              <a:rPr lang="pt-BR" dirty="0"/>
              <a:t>Assim como as </a:t>
            </a:r>
            <a:r>
              <a:rPr lang="pt-BR" dirty="0" err="1"/>
              <a:t>RNNs</a:t>
            </a:r>
            <a:r>
              <a:rPr lang="pt-BR" dirty="0"/>
              <a:t> tradicionais, elas </a:t>
            </a:r>
            <a:r>
              <a:rPr lang="pt-BR" b="1" dirty="0">
                <a:solidFill>
                  <a:srgbClr val="7030A0"/>
                </a:solidFill>
              </a:rPr>
              <a:t>precisam ser desdobradas</a:t>
            </a:r>
            <a:r>
              <a:rPr lang="pt-BR" dirty="0"/>
              <a:t> no tempo para serem </a:t>
            </a:r>
            <a:r>
              <a:rPr lang="pt-BR" b="1" dirty="0">
                <a:solidFill>
                  <a:srgbClr val="7030A0"/>
                </a:solidFill>
              </a:rPr>
              <a:t>treinadas</a:t>
            </a:r>
            <a:r>
              <a:rPr lang="pt-BR" dirty="0" smtClean="0"/>
              <a:t>.</a:t>
            </a:r>
            <a:endParaRPr lang="pt-BR" dirty="0"/>
          </a:p>
        </p:txBody>
      </p:sp>
      <mc:AlternateContent xmlns:mc="http://schemas.openxmlformats.org/markup-compatibility/2006" xmlns:a14="http://schemas.microsoft.com/office/drawing/2010/main">
        <mc:Choice Requires="a14">
          <p:sp>
            <p:nvSpPr>
              <p:cNvPr id="4" name="TextBox 3">
                <a:extLst>
                  <a:ext uri="{FF2B5EF4-FFF2-40B4-BE49-F238E27FC236}">
                    <a16:creationId xmlns="" xmlns:a16="http://schemas.microsoft.com/office/drawing/2014/main" id="{767CEB79-6A0F-ABB3-2CE7-334D403DD862}"/>
                  </a:ext>
                </a:extLst>
              </p:cNvPr>
              <p:cNvSpPr txBox="1"/>
              <p:nvPr/>
            </p:nvSpPr>
            <p:spPr>
              <a:xfrm>
                <a:off x="0" y="6611778"/>
                <a:ext cx="3175036" cy="246221"/>
              </a:xfrm>
              <a:prstGeom prst="rect">
                <a:avLst/>
              </a:prstGeom>
              <a:noFill/>
            </p:spPr>
            <p:txBody>
              <a:bodyPr wrap="none" rtlCol="0">
                <a:spAutoFit/>
              </a:bodyPr>
              <a:lstStyle/>
              <a:p>
                <a:r>
                  <a:rPr lang="pt-BR" sz="1000" b="1" dirty="0"/>
                  <a:t>OBS</a:t>
                </a:r>
                <a:r>
                  <a:rPr lang="pt-BR" sz="1000" dirty="0"/>
                  <a:t>.: Para facilitar a notação, usamos </a:t>
                </a:r>
                <a14:m>
                  <m:oMath xmlns:m="http://schemas.openxmlformats.org/officeDocument/2006/math">
                    <m:sSub>
                      <m:sSubPr>
                        <m:ctrlPr>
                          <a:rPr lang="pt-BR" sz="1000" i="1" smtClean="0">
                            <a:latin typeface="Cambria Math" panose="02040503050406030204" pitchFamily="18" charset="0"/>
                          </a:rPr>
                        </m:ctrlPr>
                      </m:sSubPr>
                      <m:e>
                        <m:r>
                          <a:rPr lang="pt-BR" sz="1000" b="1" i="1" smtClean="0">
                            <a:latin typeface="Cambria Math" panose="02040503050406030204" pitchFamily="18" charset="0"/>
                          </a:rPr>
                          <m:t>𝒙</m:t>
                        </m:r>
                      </m:e>
                      <m:sub>
                        <m:r>
                          <a:rPr lang="pt-BR" sz="1000" b="0" i="1" smtClean="0">
                            <a:latin typeface="Cambria Math" panose="02040503050406030204" pitchFamily="18" charset="0"/>
                          </a:rPr>
                          <m:t>𝑡</m:t>
                        </m:r>
                      </m:sub>
                    </m:sSub>
                  </m:oMath>
                </a14:m>
                <a:r>
                  <a:rPr lang="en-US" sz="1000" dirty="0"/>
                  <a:t> </a:t>
                </a:r>
                <a:r>
                  <a:rPr lang="en-US" sz="1000" dirty="0" err="1"/>
                  <a:t>ao</a:t>
                </a:r>
                <a:r>
                  <a:rPr lang="en-US" sz="1000" dirty="0"/>
                  <a:t> </a:t>
                </a:r>
                <a:r>
                  <a:rPr lang="en-US" sz="1000" dirty="0" err="1"/>
                  <a:t>inves</a:t>
                </a:r>
                <a:r>
                  <a:rPr lang="en-US" sz="1000" dirty="0"/>
                  <a:t> de </a:t>
                </a:r>
                <a14:m>
                  <m:oMath xmlns:m="http://schemas.openxmlformats.org/officeDocument/2006/math">
                    <m:r>
                      <a:rPr lang="pt-BR" sz="1000" b="1" i="1" smtClean="0">
                        <a:latin typeface="Cambria Math" panose="02040503050406030204" pitchFamily="18" charset="0"/>
                      </a:rPr>
                      <m:t>𝒙</m:t>
                    </m:r>
                    <m:d>
                      <m:dPr>
                        <m:begChr m:val="["/>
                        <m:endChr m:val="]"/>
                        <m:ctrlPr>
                          <a:rPr lang="pt-BR" sz="1000" b="0" i="1" smtClean="0">
                            <a:latin typeface="Cambria Math" panose="02040503050406030204" pitchFamily="18" charset="0"/>
                          </a:rPr>
                        </m:ctrlPr>
                      </m:dPr>
                      <m:e>
                        <m:r>
                          <a:rPr lang="pt-BR" sz="1000" b="0" i="1" smtClean="0">
                            <a:latin typeface="Cambria Math" panose="02040503050406030204" pitchFamily="18" charset="0"/>
                          </a:rPr>
                          <m:t>𝑡</m:t>
                        </m:r>
                      </m:e>
                    </m:d>
                    <m:r>
                      <a:rPr lang="pt-BR" sz="1000" b="0" i="1" smtClean="0">
                        <a:latin typeface="Cambria Math" panose="02040503050406030204" pitchFamily="18" charset="0"/>
                      </a:rPr>
                      <m:t>.</m:t>
                    </m:r>
                  </m:oMath>
                </a14:m>
                <a:endParaRPr lang="en-US" sz="1000" dirty="0"/>
              </a:p>
            </p:txBody>
          </p:sp>
        </mc:Choice>
        <mc:Fallback xmlns="">
          <p:sp>
            <p:nvSpPr>
              <p:cNvPr id="4" name="TextBox 3">
                <a:extLst>
                  <a:ext uri="{FF2B5EF4-FFF2-40B4-BE49-F238E27FC236}">
                    <a16:creationId xmlns:a16="http://schemas.microsoft.com/office/drawing/2014/main" id="{767CEB79-6A0F-ABB3-2CE7-334D403DD862}"/>
                  </a:ext>
                </a:extLst>
              </p:cNvPr>
              <p:cNvSpPr txBox="1">
                <a:spLocks noRot="1" noChangeAspect="1" noMove="1" noResize="1" noEditPoints="1" noAdjustHandles="1" noChangeArrowheads="1" noChangeShapeType="1" noTextEdit="1"/>
              </p:cNvSpPr>
              <p:nvPr/>
            </p:nvSpPr>
            <p:spPr>
              <a:xfrm>
                <a:off x="0" y="6611778"/>
                <a:ext cx="3175036" cy="246221"/>
              </a:xfrm>
              <a:prstGeom prst="rect">
                <a:avLst/>
              </a:prstGeom>
              <a:blipFill>
                <a:blip r:embed="rId3"/>
                <a:stretch>
                  <a:fillRect b="-15000"/>
                </a:stretch>
              </a:blipFill>
            </p:spPr>
            <p:txBody>
              <a:bodyPr/>
              <a:lstStyle/>
              <a:p>
                <a:r>
                  <a:rPr lang="en-US">
                    <a:noFill/>
                  </a:rPr>
                  <a:t> </a:t>
                </a:r>
              </a:p>
            </p:txBody>
          </p:sp>
        </mc:Fallback>
      </mc:AlternateContent>
    </p:spTree>
    <p:extLst>
      <p:ext uri="{BB962C8B-B14F-4D97-AF65-F5344CB8AC3E}">
        <p14:creationId xmlns:p14="http://schemas.microsoft.com/office/powerpoint/2010/main" val="23103805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80A8604B-8785-D978-9325-685488A932C9}"/>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A8A21FDD-8B38-01BA-02A2-E93917D46581}"/>
              </a:ext>
            </a:extLst>
          </p:cNvPr>
          <p:cNvSpPr>
            <a:spLocks noGrp="1"/>
          </p:cNvSpPr>
          <p:nvPr>
            <p:ph type="title"/>
          </p:nvPr>
        </p:nvSpPr>
        <p:spPr/>
        <p:txBody>
          <a:bodyPr/>
          <a:lstStyle/>
          <a:p>
            <a:r>
              <a:rPr lang="pt-BR" i="1" dirty="0" err="1"/>
              <a:t>Long</a:t>
            </a:r>
            <a:r>
              <a:rPr lang="pt-BR" i="1" dirty="0"/>
              <a:t>-short </a:t>
            </a:r>
            <a:r>
              <a:rPr lang="pt-BR" i="1" dirty="0" err="1"/>
              <a:t>term</a:t>
            </a:r>
            <a:r>
              <a:rPr lang="pt-BR" i="1" dirty="0"/>
              <a:t> </a:t>
            </a:r>
            <a:r>
              <a:rPr lang="pt-BR" i="1" dirty="0" err="1"/>
              <a:t>memory</a:t>
            </a:r>
            <a:r>
              <a:rPr lang="pt-BR" dirty="0"/>
              <a:t> (LSTM)</a:t>
            </a:r>
            <a:endParaRPr lang="en-US" i="1" dirty="0"/>
          </a:p>
        </p:txBody>
      </p:sp>
      <p:sp>
        <p:nvSpPr>
          <p:cNvPr id="3" name="Content Placeholder 2">
            <a:extLst>
              <a:ext uri="{FF2B5EF4-FFF2-40B4-BE49-F238E27FC236}">
                <a16:creationId xmlns="" xmlns:a16="http://schemas.microsoft.com/office/drawing/2014/main" id="{D789EFBE-5969-6A4D-8EA1-2E41201F5225}"/>
              </a:ext>
            </a:extLst>
          </p:cNvPr>
          <p:cNvSpPr>
            <a:spLocks noGrp="1"/>
          </p:cNvSpPr>
          <p:nvPr>
            <p:ph idx="1"/>
          </p:nvPr>
        </p:nvSpPr>
        <p:spPr>
          <a:xfrm>
            <a:off x="5956035" y="1825624"/>
            <a:ext cx="6235967" cy="5032375"/>
          </a:xfrm>
        </p:spPr>
        <p:txBody>
          <a:bodyPr>
            <a:normAutofit/>
          </a:bodyPr>
          <a:lstStyle/>
          <a:p>
            <a:r>
              <a:rPr lang="pt-BR" dirty="0" smtClean="0"/>
              <a:t>A </a:t>
            </a:r>
            <a:r>
              <a:rPr lang="pt-BR" b="1" dirty="0">
                <a:solidFill>
                  <a:srgbClr val="7030A0"/>
                </a:solidFill>
              </a:rPr>
              <a:t>unidade de processamento</a:t>
            </a:r>
            <a:r>
              <a:rPr lang="pt-BR" dirty="0"/>
              <a:t> (neurônio) da LSTM é mais </a:t>
            </a:r>
            <a:r>
              <a:rPr lang="pt-BR" b="1" dirty="0">
                <a:solidFill>
                  <a:srgbClr val="7030A0"/>
                </a:solidFill>
              </a:rPr>
              <a:t>complexa</a:t>
            </a:r>
            <a:r>
              <a:rPr lang="pt-BR" dirty="0"/>
              <a:t> e é chamada de </a:t>
            </a:r>
            <a:r>
              <a:rPr lang="pt-BR" b="1" dirty="0">
                <a:solidFill>
                  <a:srgbClr val="7030A0"/>
                </a:solidFill>
              </a:rPr>
              <a:t>célula</a:t>
            </a:r>
            <a:r>
              <a:rPr lang="pt-BR" dirty="0"/>
              <a:t>.</a:t>
            </a:r>
          </a:p>
          <a:p>
            <a:r>
              <a:rPr lang="pt-BR" dirty="0"/>
              <a:t>Uma célula LSTM é composta por </a:t>
            </a:r>
            <a:r>
              <a:rPr lang="pt-BR" b="1" dirty="0">
                <a:solidFill>
                  <a:schemeClr val="accent2"/>
                </a:solidFill>
              </a:rPr>
              <a:t>4 camadas totalmente conectadas</a:t>
            </a:r>
            <a:r>
              <a:rPr lang="pt-BR" dirty="0"/>
              <a:t>, </a:t>
            </a:r>
            <a:r>
              <a:rPr lang="pt-BR" dirty="0" smtClean="0"/>
              <a:t>que formam </a:t>
            </a:r>
            <a:r>
              <a:rPr lang="pt-BR" b="1" dirty="0" smtClean="0"/>
              <a:t>3 </a:t>
            </a:r>
            <a:r>
              <a:rPr lang="pt-BR" b="1" dirty="0"/>
              <a:t>portas</a:t>
            </a:r>
            <a:r>
              <a:rPr lang="pt-BR" dirty="0"/>
              <a:t>:</a:t>
            </a:r>
          </a:p>
          <a:p>
            <a:pPr lvl="1">
              <a:buFont typeface="Wingdings" panose="05000000000000000000" pitchFamily="2" charset="2"/>
              <a:buChar char="§"/>
            </a:pPr>
            <a:r>
              <a:rPr lang="pt-BR" b="1" i="1" dirty="0" err="1"/>
              <a:t>Forget</a:t>
            </a:r>
            <a:r>
              <a:rPr lang="pt-BR" b="1" i="1" dirty="0"/>
              <a:t> </a:t>
            </a:r>
            <a:r>
              <a:rPr lang="pt-BR" b="1" i="1" dirty="0" err="1"/>
              <a:t>gate</a:t>
            </a:r>
            <a:r>
              <a:rPr lang="pt-BR" dirty="0"/>
              <a:t> (porta de esquecimento) </a:t>
            </a:r>
          </a:p>
          <a:p>
            <a:pPr lvl="1">
              <a:buFont typeface="Wingdings" panose="05000000000000000000" pitchFamily="2" charset="2"/>
              <a:buChar char="§"/>
            </a:pPr>
            <a:r>
              <a:rPr lang="pt-BR" b="1" i="1" dirty="0"/>
              <a:t>Input </a:t>
            </a:r>
            <a:r>
              <a:rPr lang="pt-BR" b="1" i="1" dirty="0" err="1"/>
              <a:t>gate</a:t>
            </a:r>
            <a:r>
              <a:rPr lang="pt-BR" dirty="0"/>
              <a:t> (porta de entrada) </a:t>
            </a:r>
          </a:p>
          <a:p>
            <a:pPr lvl="1">
              <a:buFont typeface="Wingdings" panose="05000000000000000000" pitchFamily="2" charset="2"/>
              <a:buChar char="§"/>
            </a:pPr>
            <a:r>
              <a:rPr lang="pt-BR" b="1" i="1" dirty="0"/>
              <a:t>Output </a:t>
            </a:r>
            <a:r>
              <a:rPr lang="pt-BR" b="1" i="1" dirty="0" err="1"/>
              <a:t>gate</a:t>
            </a:r>
            <a:r>
              <a:rPr lang="pt-BR" dirty="0"/>
              <a:t> (porta de saída)</a:t>
            </a:r>
          </a:p>
          <a:p>
            <a:r>
              <a:rPr lang="pt-BR" dirty="0"/>
              <a:t>A informação na célula é </a:t>
            </a:r>
            <a:r>
              <a:rPr lang="pt-BR" b="1" dirty="0">
                <a:solidFill>
                  <a:srgbClr val="00B050"/>
                </a:solidFill>
              </a:rPr>
              <a:t>protegida e controlada</a:t>
            </a:r>
            <a:r>
              <a:rPr lang="pt-BR" dirty="0"/>
              <a:t> por meio das 3 portas.</a:t>
            </a:r>
          </a:p>
          <a:p>
            <a:endParaRPr lang="pt-BR" dirty="0"/>
          </a:p>
          <a:p>
            <a:endParaRPr lang="pt-BR" dirty="0"/>
          </a:p>
        </p:txBody>
      </p:sp>
      <p:grpSp>
        <p:nvGrpSpPr>
          <p:cNvPr id="5" name="Grupo 4"/>
          <p:cNvGrpSpPr/>
          <p:nvPr/>
        </p:nvGrpSpPr>
        <p:grpSpPr>
          <a:xfrm>
            <a:off x="635838" y="2424223"/>
            <a:ext cx="5320197" cy="3228140"/>
            <a:chOff x="697831" y="2222745"/>
            <a:chExt cx="5320197" cy="3228140"/>
          </a:xfrm>
        </p:grpSpPr>
        <p:pic>
          <p:nvPicPr>
            <p:cNvPr id="7" name="Picture 4">
              <a:extLst>
                <a:ext uri="{FF2B5EF4-FFF2-40B4-BE49-F238E27FC236}">
                  <a16:creationId xmlns="" xmlns:a16="http://schemas.microsoft.com/office/drawing/2014/main" id="{E0180B18-707C-9189-F385-D0DD1450619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97831" y="2222745"/>
              <a:ext cx="5320197" cy="3228140"/>
            </a:xfrm>
            <a:prstGeom prst="rect">
              <a:avLst/>
            </a:prstGeom>
          </p:spPr>
        </p:pic>
        <p:sp>
          <p:nvSpPr>
            <p:cNvPr id="8" name="Retângulo 7">
              <a:extLst>
                <a:ext uri="{FF2B5EF4-FFF2-40B4-BE49-F238E27FC236}">
                  <a16:creationId xmlns="" xmlns:a16="http://schemas.microsoft.com/office/drawing/2014/main" id="{9B1DA347-BBC4-AE49-41A5-6D28C39A35B8}"/>
                </a:ext>
              </a:extLst>
            </p:cNvPr>
            <p:cNvSpPr/>
            <p:nvPr/>
          </p:nvSpPr>
          <p:spPr>
            <a:xfrm>
              <a:off x="1678193" y="2893806"/>
              <a:ext cx="484094" cy="182584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aixaDeTexto 8">
              <a:extLst>
                <a:ext uri="{FF2B5EF4-FFF2-40B4-BE49-F238E27FC236}">
                  <a16:creationId xmlns="" xmlns:a16="http://schemas.microsoft.com/office/drawing/2014/main" id="{BC6A37ED-D7FF-0A9B-246C-6A1327E19771}"/>
                </a:ext>
              </a:extLst>
            </p:cNvPr>
            <p:cNvSpPr txBox="1"/>
            <p:nvPr/>
          </p:nvSpPr>
          <p:spPr>
            <a:xfrm>
              <a:off x="1371600" y="2361749"/>
              <a:ext cx="1097280" cy="430887"/>
            </a:xfrm>
            <a:prstGeom prst="rect">
              <a:avLst/>
            </a:prstGeom>
            <a:noFill/>
          </p:spPr>
          <p:txBody>
            <a:bodyPr wrap="square" rtlCol="0">
              <a:spAutoFit/>
            </a:bodyPr>
            <a:lstStyle/>
            <a:p>
              <a:pPr algn="ctr"/>
              <a:r>
                <a:rPr lang="pt-BR" sz="1100" dirty="0"/>
                <a:t>Porta de esquecimento</a:t>
              </a:r>
              <a:endParaRPr lang="en-US" sz="1100" dirty="0"/>
            </a:p>
          </p:txBody>
        </p:sp>
        <p:sp>
          <p:nvSpPr>
            <p:cNvPr id="10" name="Retângulo 9">
              <a:extLst>
                <a:ext uri="{FF2B5EF4-FFF2-40B4-BE49-F238E27FC236}">
                  <a16:creationId xmlns="" xmlns:a16="http://schemas.microsoft.com/office/drawing/2014/main" id="{D841BE1E-2151-5C15-382E-E4E866E97366}"/>
                </a:ext>
              </a:extLst>
            </p:cNvPr>
            <p:cNvSpPr/>
            <p:nvPr/>
          </p:nvSpPr>
          <p:spPr>
            <a:xfrm>
              <a:off x="2259105" y="3603812"/>
              <a:ext cx="1312433" cy="111584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aixaDeTexto 10">
              <a:extLst>
                <a:ext uri="{FF2B5EF4-FFF2-40B4-BE49-F238E27FC236}">
                  <a16:creationId xmlns="" xmlns:a16="http://schemas.microsoft.com/office/drawing/2014/main" id="{9FE171E2-98E2-80BF-7246-2FA7AC491881}"/>
                </a:ext>
              </a:extLst>
            </p:cNvPr>
            <p:cNvSpPr txBox="1"/>
            <p:nvPr/>
          </p:nvSpPr>
          <p:spPr>
            <a:xfrm>
              <a:off x="2366681" y="4776881"/>
              <a:ext cx="1097280" cy="430887"/>
            </a:xfrm>
            <a:prstGeom prst="rect">
              <a:avLst/>
            </a:prstGeom>
            <a:noFill/>
          </p:spPr>
          <p:txBody>
            <a:bodyPr wrap="square" rtlCol="0">
              <a:spAutoFit/>
            </a:bodyPr>
            <a:lstStyle/>
            <a:p>
              <a:pPr algn="ctr"/>
              <a:r>
                <a:rPr lang="pt-BR" sz="1100" dirty="0"/>
                <a:t>Porta de entrada</a:t>
              </a:r>
              <a:endParaRPr lang="en-US" sz="1100" dirty="0"/>
            </a:p>
          </p:txBody>
        </p:sp>
        <p:sp>
          <p:nvSpPr>
            <p:cNvPr id="12" name="Retângulo 11">
              <a:extLst>
                <a:ext uri="{FF2B5EF4-FFF2-40B4-BE49-F238E27FC236}">
                  <a16:creationId xmlns="" xmlns:a16="http://schemas.microsoft.com/office/drawing/2014/main" id="{B5D41BF3-5175-2D98-868F-9949FD2DD01F}"/>
                </a:ext>
              </a:extLst>
            </p:cNvPr>
            <p:cNvSpPr/>
            <p:nvPr/>
          </p:nvSpPr>
          <p:spPr>
            <a:xfrm>
              <a:off x="3668355" y="3162748"/>
              <a:ext cx="1140313" cy="155690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aixaDeTexto 12">
              <a:extLst>
                <a:ext uri="{FF2B5EF4-FFF2-40B4-BE49-F238E27FC236}">
                  <a16:creationId xmlns="" xmlns:a16="http://schemas.microsoft.com/office/drawing/2014/main" id="{5690B213-E976-D58E-3664-2CC432FE0432}"/>
                </a:ext>
              </a:extLst>
            </p:cNvPr>
            <p:cNvSpPr txBox="1"/>
            <p:nvPr/>
          </p:nvSpPr>
          <p:spPr>
            <a:xfrm>
              <a:off x="3626869" y="4820825"/>
              <a:ext cx="1097280" cy="261610"/>
            </a:xfrm>
            <a:prstGeom prst="rect">
              <a:avLst/>
            </a:prstGeom>
            <a:noFill/>
          </p:spPr>
          <p:txBody>
            <a:bodyPr wrap="square" rtlCol="0">
              <a:spAutoFit/>
            </a:bodyPr>
            <a:lstStyle/>
            <a:p>
              <a:pPr algn="ctr"/>
              <a:r>
                <a:rPr lang="pt-BR" sz="1100" dirty="0"/>
                <a:t>Porta de saída</a:t>
              </a:r>
              <a:endParaRPr lang="en-US" sz="1100" dirty="0"/>
            </a:p>
          </p:txBody>
        </p:sp>
      </p:grpSp>
    </p:spTree>
    <p:extLst>
      <p:ext uri="{BB962C8B-B14F-4D97-AF65-F5344CB8AC3E}">
        <p14:creationId xmlns:p14="http://schemas.microsoft.com/office/powerpoint/2010/main" val="349192022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39C3E673-1103-7EA7-9CAE-C63E5DA9C327}"/>
              </a:ext>
            </a:extLst>
          </p:cNvPr>
          <p:cNvSpPr>
            <a:spLocks noGrp="1"/>
          </p:cNvSpPr>
          <p:nvPr>
            <p:ph type="title"/>
          </p:nvPr>
        </p:nvSpPr>
        <p:spPr/>
        <p:txBody>
          <a:bodyPr/>
          <a:lstStyle/>
          <a:p>
            <a:r>
              <a:rPr lang="pt-BR" i="1" dirty="0" err="1"/>
              <a:t>Long</a:t>
            </a:r>
            <a:r>
              <a:rPr lang="pt-BR" i="1" dirty="0"/>
              <a:t>-short </a:t>
            </a:r>
            <a:r>
              <a:rPr lang="pt-BR" i="1" dirty="0" err="1"/>
              <a:t>term</a:t>
            </a:r>
            <a:r>
              <a:rPr lang="pt-BR" i="1" dirty="0"/>
              <a:t> </a:t>
            </a:r>
            <a:r>
              <a:rPr lang="pt-BR" i="1" dirty="0" err="1"/>
              <a:t>memory</a:t>
            </a:r>
            <a:r>
              <a:rPr lang="pt-BR" dirty="0"/>
              <a:t> (LSTM)</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 xmlns:a16="http://schemas.microsoft.com/office/drawing/2014/main" id="{F6C3165D-F5CE-BE8B-AF39-F79FAD0B84D1}"/>
                  </a:ext>
                </a:extLst>
              </p:cNvPr>
              <p:cNvSpPr>
                <a:spLocks noGrp="1"/>
              </p:cNvSpPr>
              <p:nvPr>
                <p:ph idx="1"/>
              </p:nvPr>
            </p:nvSpPr>
            <p:spPr>
              <a:xfrm>
                <a:off x="5904854" y="1825624"/>
                <a:ext cx="6287147" cy="5032375"/>
              </a:xfrm>
            </p:spPr>
            <p:txBody>
              <a:bodyPr>
                <a:normAutofit/>
              </a:bodyPr>
              <a:lstStyle/>
              <a:p>
                <a:r>
                  <a:rPr lang="pt-BR" dirty="0"/>
                  <a:t>Uma célula LSTM possui dois estados:</a:t>
                </a:r>
              </a:p>
              <a:p>
                <a:pPr lvl="1">
                  <a:buFont typeface="Wingdings" panose="05000000000000000000" pitchFamily="2" charset="2"/>
                  <a:buChar char="§"/>
                </a:pPr>
                <a:r>
                  <a:rPr lang="pt-BR" dirty="0"/>
                  <a:t>o estado da célula, </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sub>
                    </m:sSub>
                  </m:oMath>
                </a14:m>
                <a:endParaRPr lang="pt-BR" dirty="0"/>
              </a:p>
              <a:p>
                <a:pPr lvl="1">
                  <a:buFont typeface="Wingdings" panose="05000000000000000000" pitchFamily="2" charset="2"/>
                  <a:buChar char="§"/>
                </a:pPr>
                <a:r>
                  <a:rPr lang="pt-BR" dirty="0"/>
                  <a:t>e o estado oculto da célula, </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sub>
                    </m:sSub>
                  </m:oMath>
                </a14:m>
                <a:r>
                  <a:rPr lang="pt-BR" dirty="0"/>
                  <a:t>.</a:t>
                </a:r>
              </a:p>
              <a:p>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sub>
                    </m:sSub>
                  </m:oMath>
                </a14:m>
                <a:r>
                  <a:rPr lang="pt-BR" dirty="0"/>
                  <a:t> é a memória de longo prazo.</a:t>
                </a:r>
              </a:p>
              <a:p>
                <a:r>
                  <a:rPr lang="pt-BR" dirty="0"/>
                  <a:t> </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sub>
                    </m:sSub>
                  </m:oMath>
                </a14:m>
                <a:r>
                  <a:rPr lang="pt-BR" dirty="0"/>
                  <a:t> é memória de curto prazo e saída </a:t>
                </a:r>
                <a:r>
                  <a:rPr lang="pt-BR" dirty="0" smtClean="0"/>
                  <a:t>da </a:t>
                </a:r>
                <a:r>
                  <a:rPr lang="pt-BR" dirty="0"/>
                  <a:t>célula</a:t>
                </a:r>
                <a:r>
                  <a:rPr lang="pt-BR" dirty="0" smtClean="0"/>
                  <a:t>.</a:t>
                </a:r>
                <a:endParaRPr lang="pt-BR" dirty="0"/>
              </a:p>
            </p:txBody>
          </p:sp>
        </mc:Choice>
        <mc:Fallback>
          <p:sp>
            <p:nvSpPr>
              <p:cNvPr id="3" name="Content Placeholder 2">
                <a:extLst>
                  <a:ext uri="{FF2B5EF4-FFF2-40B4-BE49-F238E27FC236}">
                    <a16:creationId xmlns="" xmlns:a16="http://schemas.microsoft.com/office/drawing/2014/main" xmlns:a14="http://schemas.microsoft.com/office/drawing/2010/main" id="{F6C3165D-F5CE-BE8B-AF39-F79FAD0B84D1}"/>
                  </a:ext>
                </a:extLst>
              </p:cNvPr>
              <p:cNvSpPr>
                <a:spLocks noGrp="1" noRot="1" noChangeAspect="1" noMove="1" noResize="1" noEditPoints="1" noAdjustHandles="1" noChangeArrowheads="1" noChangeShapeType="1" noTextEdit="1"/>
              </p:cNvSpPr>
              <p:nvPr>
                <p:ph idx="1"/>
              </p:nvPr>
            </p:nvSpPr>
            <p:spPr>
              <a:xfrm>
                <a:off x="5904854" y="1825624"/>
                <a:ext cx="6287147" cy="5032375"/>
              </a:xfrm>
              <a:blipFill rotWithShape="0">
                <a:blip r:embed="rId2"/>
                <a:stretch>
                  <a:fillRect l="-1746" t="-1937" r="-1649"/>
                </a:stretch>
              </a:blipFill>
            </p:spPr>
            <p:txBody>
              <a:bodyPr/>
              <a:lstStyle/>
              <a:p>
                <a:r>
                  <a:rPr lang="pt-BR">
                    <a:noFill/>
                  </a:rPr>
                  <a:t> </a:t>
                </a:r>
              </a:p>
            </p:txBody>
          </p:sp>
        </mc:Fallback>
      </mc:AlternateContent>
      <p:sp>
        <p:nvSpPr>
          <p:cNvPr id="4" name="TextBox 7">
            <a:extLst>
              <a:ext uri="{FF2B5EF4-FFF2-40B4-BE49-F238E27FC236}">
                <a16:creationId xmlns="" xmlns:a16="http://schemas.microsoft.com/office/drawing/2014/main" id="{08B4F401-8089-55FA-9674-E0D136960DBF}"/>
              </a:ext>
            </a:extLst>
          </p:cNvPr>
          <p:cNvSpPr txBox="1"/>
          <p:nvPr/>
        </p:nvSpPr>
        <p:spPr>
          <a:xfrm>
            <a:off x="0" y="6550222"/>
            <a:ext cx="4763548" cy="307777"/>
          </a:xfrm>
          <a:prstGeom prst="rect">
            <a:avLst/>
          </a:prstGeom>
          <a:noFill/>
        </p:spPr>
        <p:txBody>
          <a:bodyPr wrap="none" rtlCol="0">
            <a:spAutoFit/>
          </a:bodyPr>
          <a:lstStyle/>
          <a:p>
            <a:r>
              <a:rPr lang="pt-BR" sz="1400" dirty="0"/>
              <a:t>* importante, pois minimiza o desaparecimento do gradiente.</a:t>
            </a:r>
            <a:endParaRPr lang="en-US" sz="1400" dirty="0"/>
          </a:p>
        </p:txBody>
      </p:sp>
      <p:pic>
        <p:nvPicPr>
          <p:cNvPr id="7" name="Picture 5">
            <a:extLst>
              <a:ext uri="{FF2B5EF4-FFF2-40B4-BE49-F238E27FC236}">
                <a16:creationId xmlns="" xmlns:a16="http://schemas.microsoft.com/office/drawing/2014/main" id="{E6F33E3F-21F0-98F8-7A75-265BBFA1F4F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2988" y="2312161"/>
            <a:ext cx="5131773" cy="3158867"/>
          </a:xfrm>
          <a:prstGeom prst="rect">
            <a:avLst/>
          </a:prstGeom>
        </p:spPr>
      </p:pic>
    </p:spTree>
    <p:extLst>
      <p:ext uri="{BB962C8B-B14F-4D97-AF65-F5344CB8AC3E}">
        <p14:creationId xmlns:p14="http://schemas.microsoft.com/office/powerpoint/2010/main" val="219381771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i="1" dirty="0" err="1"/>
              <a:t>Long</a:t>
            </a:r>
            <a:r>
              <a:rPr lang="pt-BR" i="1" dirty="0"/>
              <a:t>-short </a:t>
            </a:r>
            <a:r>
              <a:rPr lang="pt-BR" i="1" dirty="0" err="1"/>
              <a:t>term</a:t>
            </a:r>
            <a:r>
              <a:rPr lang="pt-BR" i="1" dirty="0"/>
              <a:t> </a:t>
            </a:r>
            <a:r>
              <a:rPr lang="pt-BR" i="1" dirty="0" err="1"/>
              <a:t>memory</a:t>
            </a:r>
            <a:r>
              <a:rPr lang="pt-BR" dirty="0"/>
              <a:t> (LSTM)</a:t>
            </a:r>
          </a:p>
        </p:txBody>
      </p:sp>
      <mc:AlternateContent xmlns:mc="http://schemas.openxmlformats.org/markup-compatibility/2006">
        <mc:Choice xmlns:a14="http://schemas.microsoft.com/office/drawing/2010/main" Requires="a14">
          <p:sp>
            <p:nvSpPr>
              <p:cNvPr id="3" name="Espaço Reservado para Conteúdo 2"/>
              <p:cNvSpPr>
                <a:spLocks noGrp="1"/>
              </p:cNvSpPr>
              <p:nvPr>
                <p:ph idx="1"/>
              </p:nvPr>
            </p:nvSpPr>
            <p:spPr>
              <a:xfrm>
                <a:off x="5741381" y="1825624"/>
                <a:ext cx="6450619" cy="5032375"/>
              </a:xfrm>
            </p:spPr>
            <p:txBody>
              <a:bodyPr>
                <a:normAutofit/>
              </a:bodyPr>
              <a:lstStyle/>
              <a:p>
                <a:r>
                  <a:rPr lang="pt-BR" dirty="0" smtClean="0"/>
                  <a:t>A p</a:t>
                </a:r>
                <a:r>
                  <a:rPr lang="pt-BR" dirty="0" smtClean="0">
                    <a:solidFill>
                      <a:schemeClr val="tx1"/>
                    </a:solidFill>
                  </a:rPr>
                  <a:t>orta de esquecimento </a:t>
                </a:r>
                <a:r>
                  <a:rPr lang="pt-BR" dirty="0">
                    <a:solidFill>
                      <a:schemeClr val="tx1"/>
                    </a:solidFill>
                  </a:rPr>
                  <a:t>(</a:t>
                </a:r>
                <a:r>
                  <a:rPr lang="pt-BR" dirty="0" smtClean="0">
                    <a:solidFill>
                      <a:schemeClr val="tx1"/>
                    </a:solidFill>
                  </a:rPr>
                  <a:t>controlada por </a:t>
                </a:r>
                <a14:m>
                  <m:oMath xmlns:m="http://schemas.openxmlformats.org/officeDocument/2006/math">
                    <m:sSub>
                      <m:sSubPr>
                        <m:ctrlPr>
                          <a:rPr lang="pt-BR" i="1" smtClean="0">
                            <a:solidFill>
                              <a:schemeClr val="tx1"/>
                            </a:solidFill>
                            <a:latin typeface="Cambria Math" panose="02040503050406030204" pitchFamily="18" charset="0"/>
                          </a:rPr>
                        </m:ctrlPr>
                      </m:sSubPr>
                      <m:e>
                        <m:r>
                          <a:rPr lang="pt-BR" b="1" i="1" smtClean="0">
                            <a:solidFill>
                              <a:schemeClr val="tx1"/>
                            </a:solidFill>
                            <a:latin typeface="Cambria Math" panose="02040503050406030204" pitchFamily="18" charset="0"/>
                          </a:rPr>
                          <m:t>𝒇</m:t>
                        </m:r>
                      </m:e>
                      <m:sub>
                        <m:r>
                          <a:rPr lang="pt-BR" b="0" i="1" smtClean="0">
                            <a:solidFill>
                              <a:schemeClr val="tx1"/>
                            </a:solidFill>
                            <a:latin typeface="Cambria Math" panose="02040503050406030204" pitchFamily="18" charset="0"/>
                          </a:rPr>
                          <m:t>𝑡</m:t>
                        </m:r>
                      </m:sub>
                    </m:sSub>
                  </m:oMath>
                </a14:m>
                <a:r>
                  <a:rPr lang="pt-BR" dirty="0" smtClean="0">
                    <a:solidFill>
                      <a:schemeClr val="tx1"/>
                    </a:solidFill>
                  </a:rPr>
                  <a:t>) controla </a:t>
                </a:r>
                <a:r>
                  <a:rPr lang="pt-BR" b="1" dirty="0">
                    <a:solidFill>
                      <a:schemeClr val="accent2"/>
                    </a:solidFill>
                  </a:rPr>
                  <a:t>quais partes </a:t>
                </a:r>
                <a:r>
                  <a:rPr lang="pt-BR" dirty="0" smtClean="0">
                    <a:solidFill>
                      <a:schemeClr val="tx1"/>
                    </a:solidFill>
                  </a:rPr>
                  <a:t>da </a:t>
                </a:r>
                <a:r>
                  <a:rPr lang="pt-BR" b="1" dirty="0" smtClean="0">
                    <a:solidFill>
                      <a:srgbClr val="7030A0"/>
                    </a:solidFill>
                  </a:rPr>
                  <a:t>informação passada</a:t>
                </a:r>
                <a:r>
                  <a:rPr lang="pt-BR" dirty="0" smtClean="0">
                    <a:solidFill>
                      <a:schemeClr val="tx1"/>
                    </a:solidFill>
                  </a:rPr>
                  <a:t>, </a:t>
                </a:r>
                <a14:m>
                  <m:oMath xmlns:m="http://schemas.openxmlformats.org/officeDocument/2006/math">
                    <m:sSub>
                      <m:sSubPr>
                        <m:ctrlPr>
                          <a:rPr lang="pt-BR" i="1">
                            <a:solidFill>
                              <a:schemeClr val="tx1"/>
                            </a:solidFill>
                            <a:latin typeface="Cambria Math" panose="02040503050406030204" pitchFamily="18" charset="0"/>
                          </a:rPr>
                        </m:ctrlPr>
                      </m:sSubPr>
                      <m:e>
                        <m:r>
                          <a:rPr lang="pt-BR" b="1" i="1">
                            <a:solidFill>
                              <a:schemeClr val="tx1"/>
                            </a:solidFill>
                            <a:latin typeface="Cambria Math" panose="02040503050406030204" pitchFamily="18" charset="0"/>
                          </a:rPr>
                          <m:t>𝒄</m:t>
                        </m:r>
                      </m:e>
                      <m:sub>
                        <m:r>
                          <a:rPr lang="pt-BR" i="1">
                            <a:solidFill>
                              <a:schemeClr val="tx1"/>
                            </a:solidFill>
                            <a:latin typeface="Cambria Math" panose="02040503050406030204" pitchFamily="18" charset="0"/>
                          </a:rPr>
                          <m:t>𝑡</m:t>
                        </m:r>
                        <m:r>
                          <a:rPr lang="pt-BR" b="0" i="1" smtClean="0">
                            <a:solidFill>
                              <a:schemeClr val="tx1"/>
                            </a:solidFill>
                            <a:latin typeface="Cambria Math" panose="02040503050406030204" pitchFamily="18" charset="0"/>
                          </a:rPr>
                          <m:t>−1</m:t>
                        </m:r>
                      </m:sub>
                    </m:sSub>
                  </m:oMath>
                </a14:m>
                <a:r>
                  <a:rPr lang="pt-BR" dirty="0" smtClean="0">
                    <a:solidFill>
                      <a:schemeClr val="tx1"/>
                    </a:solidFill>
                  </a:rPr>
                  <a:t>, devem </a:t>
                </a:r>
                <a:r>
                  <a:rPr lang="pt-BR" dirty="0">
                    <a:solidFill>
                      <a:schemeClr val="tx1"/>
                    </a:solidFill>
                  </a:rPr>
                  <a:t>ser </a:t>
                </a:r>
                <a:r>
                  <a:rPr lang="pt-BR" b="1" dirty="0" smtClean="0">
                    <a:solidFill>
                      <a:srgbClr val="00B050"/>
                    </a:solidFill>
                  </a:rPr>
                  <a:t>apagadas ou mantidas</a:t>
                </a:r>
                <a:r>
                  <a:rPr lang="pt-BR" dirty="0" smtClean="0">
                    <a:solidFill>
                      <a:schemeClr val="tx1"/>
                    </a:solidFill>
                  </a:rPr>
                  <a:t>.</a:t>
                </a:r>
                <a:endParaRPr lang="pt-BR" dirty="0">
                  <a:solidFill>
                    <a:schemeClr val="tx1"/>
                  </a:solidFill>
                </a:endParaRPr>
              </a:p>
              <a:p>
                <a:r>
                  <a:rPr lang="pt-BR" dirty="0" smtClean="0"/>
                  <a:t>A p</a:t>
                </a:r>
                <a:r>
                  <a:rPr lang="pt-BR" dirty="0" smtClean="0">
                    <a:solidFill>
                      <a:schemeClr val="tx1"/>
                    </a:solidFill>
                  </a:rPr>
                  <a:t>orta de entrada </a:t>
                </a:r>
                <a:r>
                  <a:rPr lang="pt-BR" dirty="0">
                    <a:solidFill>
                      <a:schemeClr val="tx1"/>
                    </a:solidFill>
                  </a:rPr>
                  <a:t>(</a:t>
                </a:r>
                <a:r>
                  <a:rPr lang="pt-BR" dirty="0" smtClean="0">
                    <a:solidFill>
                      <a:schemeClr val="tx1"/>
                    </a:solidFill>
                  </a:rPr>
                  <a:t>controlada por </a:t>
                </a:r>
                <a14:m>
                  <m:oMath xmlns:m="http://schemas.openxmlformats.org/officeDocument/2006/math">
                    <m:sSub>
                      <m:sSubPr>
                        <m:ctrlPr>
                          <a:rPr lang="pt-BR" i="1">
                            <a:solidFill>
                              <a:schemeClr val="tx1"/>
                            </a:solidFill>
                            <a:latin typeface="Cambria Math" panose="02040503050406030204" pitchFamily="18" charset="0"/>
                          </a:rPr>
                        </m:ctrlPr>
                      </m:sSubPr>
                      <m:e>
                        <m:r>
                          <a:rPr lang="pt-BR" b="1" i="1" smtClean="0">
                            <a:solidFill>
                              <a:schemeClr val="tx1"/>
                            </a:solidFill>
                            <a:latin typeface="Cambria Math" panose="02040503050406030204" pitchFamily="18" charset="0"/>
                          </a:rPr>
                          <m:t>𝒊</m:t>
                        </m:r>
                      </m:e>
                      <m:sub>
                        <m:r>
                          <a:rPr lang="pt-BR" i="1">
                            <a:solidFill>
                              <a:schemeClr val="tx1"/>
                            </a:solidFill>
                            <a:latin typeface="Cambria Math" panose="02040503050406030204" pitchFamily="18" charset="0"/>
                          </a:rPr>
                          <m:t>𝑡</m:t>
                        </m:r>
                      </m:sub>
                    </m:sSub>
                  </m:oMath>
                </a14:m>
                <a:r>
                  <a:rPr lang="pt-BR" dirty="0" smtClean="0">
                    <a:solidFill>
                      <a:schemeClr val="tx1"/>
                    </a:solidFill>
                  </a:rPr>
                  <a:t>) controla </a:t>
                </a:r>
                <a:r>
                  <a:rPr lang="pt-BR" b="1" dirty="0">
                    <a:solidFill>
                      <a:schemeClr val="accent2"/>
                    </a:solidFill>
                  </a:rPr>
                  <a:t>quais </a:t>
                </a:r>
                <a:r>
                  <a:rPr lang="pt-BR" b="1" dirty="0" smtClean="0">
                    <a:solidFill>
                      <a:schemeClr val="accent2"/>
                    </a:solidFill>
                  </a:rPr>
                  <a:t>partes </a:t>
                </a:r>
                <a:r>
                  <a:rPr lang="pt-BR" dirty="0"/>
                  <a:t>de </a:t>
                </a:r>
                <a:r>
                  <a:rPr lang="pt-BR" b="1" dirty="0">
                    <a:solidFill>
                      <a:srgbClr val="7030A0"/>
                    </a:solidFill>
                  </a:rPr>
                  <a:t>novas </a:t>
                </a:r>
                <a:r>
                  <a:rPr lang="pt-BR" b="1" dirty="0" smtClean="0">
                    <a:solidFill>
                      <a:srgbClr val="7030A0"/>
                    </a:solidFill>
                  </a:rPr>
                  <a:t>informações (memórias)</a:t>
                </a:r>
                <a:r>
                  <a:rPr lang="pt-BR" dirty="0" smtClean="0"/>
                  <a:t>,</a:t>
                </a:r>
                <a:r>
                  <a:rPr lang="pt-BR" dirty="0" smtClean="0">
                    <a:solidFill>
                      <a:schemeClr val="tx1"/>
                    </a:solidFill>
                  </a:rPr>
                  <a:t> </a:t>
                </a:r>
                <a14:m>
                  <m:oMath xmlns:m="http://schemas.openxmlformats.org/officeDocument/2006/math">
                    <m:sSub>
                      <m:sSubPr>
                        <m:ctrlPr>
                          <a:rPr lang="pt-BR" i="1" smtClean="0">
                            <a:solidFill>
                              <a:schemeClr val="tx1"/>
                            </a:solidFill>
                            <a:latin typeface="Cambria Math" panose="02040503050406030204" pitchFamily="18" charset="0"/>
                          </a:rPr>
                        </m:ctrlPr>
                      </m:sSubPr>
                      <m:e>
                        <m:acc>
                          <m:accPr>
                            <m:chr m:val="̃"/>
                            <m:ctrlPr>
                              <a:rPr lang="pt-BR" i="1" smtClean="0">
                                <a:solidFill>
                                  <a:schemeClr val="tx1"/>
                                </a:solidFill>
                                <a:latin typeface="Cambria Math" panose="02040503050406030204" pitchFamily="18" charset="0"/>
                              </a:rPr>
                            </m:ctrlPr>
                          </m:accPr>
                          <m:e>
                            <m:r>
                              <a:rPr lang="pt-BR" b="1" i="1">
                                <a:solidFill>
                                  <a:schemeClr val="tx1"/>
                                </a:solidFill>
                                <a:latin typeface="Cambria Math" panose="02040503050406030204" pitchFamily="18" charset="0"/>
                              </a:rPr>
                              <m:t>𝒄</m:t>
                            </m:r>
                          </m:e>
                        </m:acc>
                      </m:e>
                      <m:sub>
                        <m:r>
                          <a:rPr lang="pt-BR" i="1">
                            <a:solidFill>
                              <a:schemeClr val="tx1"/>
                            </a:solidFill>
                            <a:latin typeface="Cambria Math" panose="02040503050406030204" pitchFamily="18" charset="0"/>
                          </a:rPr>
                          <m:t>𝑡</m:t>
                        </m:r>
                      </m:sub>
                    </m:sSub>
                  </m:oMath>
                </a14:m>
                <a:r>
                  <a:rPr lang="pt-BR" dirty="0" smtClean="0">
                    <a:solidFill>
                      <a:schemeClr val="tx1"/>
                    </a:solidFill>
                  </a:rPr>
                  <a:t>, devem </a:t>
                </a:r>
                <a:r>
                  <a:rPr lang="pt-BR" dirty="0">
                    <a:solidFill>
                      <a:schemeClr val="tx1"/>
                    </a:solidFill>
                  </a:rPr>
                  <a:t>ser </a:t>
                </a:r>
                <a:r>
                  <a:rPr lang="pt-BR" b="1" dirty="0" smtClean="0">
                    <a:solidFill>
                      <a:srgbClr val="00B050"/>
                    </a:solidFill>
                  </a:rPr>
                  <a:t>adicionadas</a:t>
                </a:r>
                <a:r>
                  <a:rPr lang="pt-BR" dirty="0" smtClean="0">
                    <a:solidFill>
                      <a:schemeClr val="tx1"/>
                    </a:solidFill>
                  </a:rPr>
                  <a:t> à </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r>
                          <a:rPr lang="pt-BR" i="1">
                            <a:latin typeface="Cambria Math" panose="02040503050406030204" pitchFamily="18" charset="0"/>
                          </a:rPr>
                          <m:t>−1</m:t>
                        </m:r>
                      </m:sub>
                    </m:sSub>
                  </m:oMath>
                </a14:m>
                <a:r>
                  <a:rPr lang="pt-BR" dirty="0" smtClean="0">
                    <a:solidFill>
                      <a:schemeClr val="tx1"/>
                    </a:solidFill>
                  </a:rPr>
                  <a:t>.</a:t>
                </a:r>
                <a:endParaRPr lang="pt-BR" dirty="0">
                  <a:solidFill>
                    <a:schemeClr val="tx1"/>
                  </a:solidFill>
                </a:endParaRPr>
              </a:p>
              <a:p>
                <a:r>
                  <a:rPr lang="pt-BR" dirty="0" smtClean="0"/>
                  <a:t>A p</a:t>
                </a:r>
                <a:r>
                  <a:rPr lang="pt-BR" dirty="0" smtClean="0">
                    <a:solidFill>
                      <a:schemeClr val="tx1"/>
                    </a:solidFill>
                  </a:rPr>
                  <a:t>orta de saída </a:t>
                </a:r>
                <a:r>
                  <a:rPr lang="pt-BR" dirty="0">
                    <a:solidFill>
                      <a:schemeClr val="tx1"/>
                    </a:solidFill>
                  </a:rPr>
                  <a:t>(</a:t>
                </a:r>
                <a:r>
                  <a:rPr lang="pt-BR" dirty="0" smtClean="0">
                    <a:solidFill>
                      <a:schemeClr val="tx1"/>
                    </a:solidFill>
                  </a:rPr>
                  <a:t>controlada por </a:t>
                </a:r>
                <a14:m>
                  <m:oMath xmlns:m="http://schemas.openxmlformats.org/officeDocument/2006/math">
                    <m:sSub>
                      <m:sSubPr>
                        <m:ctrlPr>
                          <a:rPr lang="pt-BR" i="1">
                            <a:solidFill>
                              <a:schemeClr val="tx1"/>
                            </a:solidFill>
                            <a:latin typeface="Cambria Math" panose="02040503050406030204" pitchFamily="18" charset="0"/>
                          </a:rPr>
                        </m:ctrlPr>
                      </m:sSubPr>
                      <m:e>
                        <m:r>
                          <a:rPr lang="pt-BR" b="1" i="1" smtClean="0">
                            <a:solidFill>
                              <a:schemeClr val="tx1"/>
                            </a:solidFill>
                            <a:latin typeface="Cambria Math" panose="02040503050406030204" pitchFamily="18" charset="0"/>
                          </a:rPr>
                          <m:t>𝒐</m:t>
                        </m:r>
                      </m:e>
                      <m:sub>
                        <m:r>
                          <a:rPr lang="pt-BR" i="1">
                            <a:solidFill>
                              <a:schemeClr val="tx1"/>
                            </a:solidFill>
                            <a:latin typeface="Cambria Math" panose="02040503050406030204" pitchFamily="18" charset="0"/>
                          </a:rPr>
                          <m:t>𝑡</m:t>
                        </m:r>
                      </m:sub>
                    </m:sSub>
                  </m:oMath>
                </a14:m>
                <a:r>
                  <a:rPr lang="pt-BR" dirty="0" smtClean="0">
                    <a:solidFill>
                      <a:schemeClr val="tx1"/>
                    </a:solidFill>
                  </a:rPr>
                  <a:t>) controla </a:t>
                </a:r>
                <a:r>
                  <a:rPr lang="pt-BR" b="1" dirty="0">
                    <a:solidFill>
                      <a:schemeClr val="accent2"/>
                    </a:solidFill>
                  </a:rPr>
                  <a:t>quais partes </a:t>
                </a:r>
                <a:r>
                  <a:rPr lang="pt-BR" dirty="0" smtClean="0">
                    <a:solidFill>
                      <a:schemeClr val="tx1"/>
                    </a:solidFill>
                  </a:rPr>
                  <a:t>de </a:t>
                </a:r>
                <a14:m>
                  <m:oMath xmlns:m="http://schemas.openxmlformats.org/officeDocument/2006/math">
                    <m:sSub>
                      <m:sSubPr>
                        <m:ctrlPr>
                          <a:rPr lang="pt-BR" i="1" smtClean="0">
                            <a:solidFill>
                              <a:srgbClr val="7030A0"/>
                            </a:solidFill>
                            <a:latin typeface="Cambria Math" panose="02040503050406030204" pitchFamily="18" charset="0"/>
                          </a:rPr>
                        </m:ctrlPr>
                      </m:sSubPr>
                      <m:e>
                        <m:r>
                          <a:rPr lang="pt-BR" b="1" i="1">
                            <a:solidFill>
                              <a:srgbClr val="7030A0"/>
                            </a:solidFill>
                            <a:latin typeface="Cambria Math" panose="02040503050406030204" pitchFamily="18" charset="0"/>
                          </a:rPr>
                          <m:t>𝒄</m:t>
                        </m:r>
                      </m:e>
                      <m:sub>
                        <m:r>
                          <a:rPr lang="pt-BR" i="1">
                            <a:solidFill>
                              <a:srgbClr val="7030A0"/>
                            </a:solidFill>
                            <a:latin typeface="Cambria Math" panose="02040503050406030204" pitchFamily="18" charset="0"/>
                          </a:rPr>
                          <m:t>𝑡</m:t>
                        </m:r>
                      </m:sub>
                    </m:sSub>
                  </m:oMath>
                </a14:m>
                <a:r>
                  <a:rPr lang="pt-BR" dirty="0" smtClean="0">
                    <a:solidFill>
                      <a:schemeClr val="tx1"/>
                    </a:solidFill>
                  </a:rPr>
                  <a:t> devem </a:t>
                </a:r>
                <a:r>
                  <a:rPr lang="pt-BR" dirty="0">
                    <a:solidFill>
                      <a:schemeClr val="tx1"/>
                    </a:solidFill>
                  </a:rPr>
                  <a:t>ser </a:t>
                </a:r>
                <a:r>
                  <a:rPr lang="pt-BR" b="1" dirty="0">
                    <a:solidFill>
                      <a:srgbClr val="00B050"/>
                    </a:solidFill>
                  </a:rPr>
                  <a:t>lidas e fornecidas como </a:t>
                </a:r>
                <a:r>
                  <a:rPr lang="pt-BR" b="1" dirty="0" smtClean="0">
                    <a:solidFill>
                      <a:srgbClr val="00B050"/>
                    </a:solidFill>
                  </a:rPr>
                  <a:t>saída</a:t>
                </a:r>
                <a:r>
                  <a:rPr lang="pt-BR" dirty="0" smtClean="0">
                    <a:solidFill>
                      <a:schemeClr val="tx1"/>
                    </a:solidFill>
                  </a:rPr>
                  <a:t>, </a:t>
                </a:r>
                <a14:m>
                  <m:oMath xmlns:m="http://schemas.openxmlformats.org/officeDocument/2006/math">
                    <m:sSub>
                      <m:sSubPr>
                        <m:ctrlPr>
                          <a:rPr lang="pt-BR" i="1">
                            <a:latin typeface="Cambria Math" panose="02040503050406030204" pitchFamily="18" charset="0"/>
                          </a:rPr>
                        </m:ctrlPr>
                      </m:sSubPr>
                      <m:e>
                        <m:r>
                          <a:rPr lang="pt-BR" b="1" i="1" smtClean="0">
                            <a:latin typeface="Cambria Math" panose="02040503050406030204" pitchFamily="18" charset="0"/>
                          </a:rPr>
                          <m:t>𝒉</m:t>
                        </m:r>
                      </m:e>
                      <m:sub>
                        <m:r>
                          <a:rPr lang="pt-BR" i="1">
                            <a:latin typeface="Cambria Math" panose="02040503050406030204" pitchFamily="18" charset="0"/>
                          </a:rPr>
                          <m:t>𝑡</m:t>
                        </m:r>
                      </m:sub>
                    </m:sSub>
                  </m:oMath>
                </a14:m>
                <a:r>
                  <a:rPr lang="pt-BR" dirty="0" smtClean="0">
                    <a:solidFill>
                      <a:schemeClr val="tx1"/>
                    </a:solidFill>
                  </a:rPr>
                  <a:t>, </a:t>
                </a:r>
                <a:r>
                  <a:rPr lang="pt-BR" dirty="0">
                    <a:solidFill>
                      <a:schemeClr val="tx1"/>
                    </a:solidFill>
                  </a:rPr>
                  <a:t>neste passo de </a:t>
                </a:r>
                <a:r>
                  <a:rPr lang="pt-BR" dirty="0" smtClean="0">
                    <a:solidFill>
                      <a:schemeClr val="tx1"/>
                    </a:solidFill>
                  </a:rPr>
                  <a:t>tempo</a:t>
                </a:r>
                <a:r>
                  <a:rPr lang="pt-BR" dirty="0" smtClean="0"/>
                  <a:t>.</a:t>
                </a:r>
              </a:p>
            </p:txBody>
          </p:sp>
        </mc:Choice>
        <mc:Fallback>
          <p:sp>
            <p:nvSpPr>
              <p:cNvPr id="3" name="Espaço Reservado para Conteúdo 2"/>
              <p:cNvSpPr>
                <a:spLocks noGrp="1" noRot="1" noChangeAspect="1" noMove="1" noResize="1" noEditPoints="1" noAdjustHandles="1" noChangeArrowheads="1" noChangeShapeType="1" noTextEdit="1"/>
              </p:cNvSpPr>
              <p:nvPr>
                <p:ph idx="1"/>
              </p:nvPr>
            </p:nvSpPr>
            <p:spPr>
              <a:xfrm>
                <a:off x="5741381" y="1825624"/>
                <a:ext cx="6450619" cy="5032375"/>
              </a:xfrm>
              <a:blipFill rotWithShape="0">
                <a:blip r:embed="rId3"/>
                <a:stretch>
                  <a:fillRect l="-1701" t="-1937" r="-1985" b="-1816"/>
                </a:stretch>
              </a:blipFill>
            </p:spPr>
            <p:txBody>
              <a:bodyPr/>
              <a:lstStyle/>
              <a:p>
                <a:r>
                  <a:rPr lang="pt-BR">
                    <a:noFill/>
                  </a:rPr>
                  <a:t> </a:t>
                </a:r>
              </a:p>
            </p:txBody>
          </p:sp>
        </mc:Fallback>
      </mc:AlternateContent>
      <p:grpSp>
        <p:nvGrpSpPr>
          <p:cNvPr id="4" name="Grupo 3"/>
          <p:cNvGrpSpPr/>
          <p:nvPr/>
        </p:nvGrpSpPr>
        <p:grpSpPr>
          <a:xfrm>
            <a:off x="336708" y="2419245"/>
            <a:ext cx="5133277" cy="3164098"/>
            <a:chOff x="584681" y="2224681"/>
            <a:chExt cx="5133277" cy="3164098"/>
          </a:xfrm>
        </p:grpSpPr>
        <p:pic>
          <p:nvPicPr>
            <p:cNvPr id="5" name="Imagem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4681" y="2224681"/>
              <a:ext cx="5133277" cy="3164098"/>
            </a:xfrm>
            <a:prstGeom prst="rect">
              <a:avLst/>
            </a:prstGeom>
          </p:spPr>
        </p:pic>
        <p:sp>
          <p:nvSpPr>
            <p:cNvPr id="6" name="Retângulo 5">
              <a:extLst>
                <a:ext uri="{FF2B5EF4-FFF2-40B4-BE49-F238E27FC236}">
                  <a16:creationId xmlns="" xmlns:a16="http://schemas.microsoft.com/office/drawing/2014/main" id="{5B538100-869E-9015-E39A-A1340D4D0515}"/>
                </a:ext>
              </a:extLst>
            </p:cNvPr>
            <p:cNvSpPr/>
            <p:nvPr/>
          </p:nvSpPr>
          <p:spPr>
            <a:xfrm>
              <a:off x="1627322" y="2893806"/>
              <a:ext cx="534965" cy="182584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aixaDeTexto 6">
              <a:extLst>
                <a:ext uri="{FF2B5EF4-FFF2-40B4-BE49-F238E27FC236}">
                  <a16:creationId xmlns="" xmlns:a16="http://schemas.microsoft.com/office/drawing/2014/main" id="{45DD632F-0686-568D-5F9B-260BA967E010}"/>
                </a:ext>
              </a:extLst>
            </p:cNvPr>
            <p:cNvSpPr txBox="1"/>
            <p:nvPr/>
          </p:nvSpPr>
          <p:spPr>
            <a:xfrm>
              <a:off x="1371600" y="2361749"/>
              <a:ext cx="1097280" cy="430887"/>
            </a:xfrm>
            <a:prstGeom prst="rect">
              <a:avLst/>
            </a:prstGeom>
            <a:noFill/>
          </p:spPr>
          <p:txBody>
            <a:bodyPr wrap="square" rtlCol="0">
              <a:spAutoFit/>
            </a:bodyPr>
            <a:lstStyle/>
            <a:p>
              <a:pPr algn="ctr"/>
              <a:r>
                <a:rPr lang="pt-BR" sz="1100" dirty="0"/>
                <a:t>Porta de esquecimento</a:t>
              </a:r>
              <a:endParaRPr lang="en-US" sz="1100" dirty="0"/>
            </a:p>
          </p:txBody>
        </p:sp>
        <p:sp>
          <p:nvSpPr>
            <p:cNvPr id="8" name="Retângulo 7">
              <a:extLst>
                <a:ext uri="{FF2B5EF4-FFF2-40B4-BE49-F238E27FC236}">
                  <a16:creationId xmlns="" xmlns:a16="http://schemas.microsoft.com/office/drawing/2014/main" id="{AA82173B-E627-D5F4-C24A-C8EFB8591AF2}"/>
                </a:ext>
              </a:extLst>
            </p:cNvPr>
            <p:cNvSpPr/>
            <p:nvPr/>
          </p:nvSpPr>
          <p:spPr>
            <a:xfrm>
              <a:off x="2259105" y="3456122"/>
              <a:ext cx="1312433" cy="126353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aixaDeTexto 8">
              <a:extLst>
                <a:ext uri="{FF2B5EF4-FFF2-40B4-BE49-F238E27FC236}">
                  <a16:creationId xmlns="" xmlns:a16="http://schemas.microsoft.com/office/drawing/2014/main" id="{B738DFC6-B08A-BCAF-A6DC-558964B054EF}"/>
                </a:ext>
              </a:extLst>
            </p:cNvPr>
            <p:cNvSpPr txBox="1"/>
            <p:nvPr/>
          </p:nvSpPr>
          <p:spPr>
            <a:xfrm>
              <a:off x="2366681" y="4776881"/>
              <a:ext cx="1097280" cy="430887"/>
            </a:xfrm>
            <a:prstGeom prst="rect">
              <a:avLst/>
            </a:prstGeom>
            <a:noFill/>
          </p:spPr>
          <p:txBody>
            <a:bodyPr wrap="square" rtlCol="0">
              <a:spAutoFit/>
            </a:bodyPr>
            <a:lstStyle/>
            <a:p>
              <a:pPr algn="ctr"/>
              <a:r>
                <a:rPr lang="pt-BR" sz="1100" dirty="0"/>
                <a:t>Porta de entrada</a:t>
              </a:r>
              <a:endParaRPr lang="en-US" sz="1100" dirty="0"/>
            </a:p>
          </p:txBody>
        </p:sp>
        <p:sp>
          <p:nvSpPr>
            <p:cNvPr id="10" name="Retângulo 9">
              <a:extLst>
                <a:ext uri="{FF2B5EF4-FFF2-40B4-BE49-F238E27FC236}">
                  <a16:creationId xmlns="" xmlns:a16="http://schemas.microsoft.com/office/drawing/2014/main" id="{724DFD49-F8A1-B391-4C4D-9D392820E8F5}"/>
                </a:ext>
              </a:extLst>
            </p:cNvPr>
            <p:cNvSpPr/>
            <p:nvPr/>
          </p:nvSpPr>
          <p:spPr>
            <a:xfrm>
              <a:off x="3652858" y="3192651"/>
              <a:ext cx="1140312" cy="152700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aixaDeTexto 10">
              <a:extLst>
                <a:ext uri="{FF2B5EF4-FFF2-40B4-BE49-F238E27FC236}">
                  <a16:creationId xmlns="" xmlns:a16="http://schemas.microsoft.com/office/drawing/2014/main" id="{256C62AF-7481-CE0B-1BB2-B4A93CE957B9}"/>
                </a:ext>
              </a:extLst>
            </p:cNvPr>
            <p:cNvSpPr txBox="1"/>
            <p:nvPr/>
          </p:nvSpPr>
          <p:spPr>
            <a:xfrm>
              <a:off x="3626869" y="4820825"/>
              <a:ext cx="1097280" cy="261610"/>
            </a:xfrm>
            <a:prstGeom prst="rect">
              <a:avLst/>
            </a:prstGeom>
            <a:noFill/>
          </p:spPr>
          <p:txBody>
            <a:bodyPr wrap="square" rtlCol="0">
              <a:spAutoFit/>
            </a:bodyPr>
            <a:lstStyle/>
            <a:p>
              <a:pPr algn="ctr"/>
              <a:r>
                <a:rPr lang="pt-BR" sz="1100" dirty="0"/>
                <a:t>Porta de saída</a:t>
              </a:r>
              <a:endParaRPr lang="en-US" sz="1100" dirty="0"/>
            </a:p>
          </p:txBody>
        </p:sp>
      </p:grpSp>
    </p:spTree>
    <p:extLst>
      <p:ext uri="{BB962C8B-B14F-4D97-AF65-F5344CB8AC3E}">
        <p14:creationId xmlns:p14="http://schemas.microsoft.com/office/powerpoint/2010/main" val="77276700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DA6D7632-DD0B-773B-931F-622479528B24}"/>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091B612C-6F65-E184-0E1E-387461C173AF}"/>
              </a:ext>
            </a:extLst>
          </p:cNvPr>
          <p:cNvSpPr>
            <a:spLocks noGrp="1"/>
          </p:cNvSpPr>
          <p:nvPr>
            <p:ph type="title"/>
          </p:nvPr>
        </p:nvSpPr>
        <p:spPr/>
        <p:txBody>
          <a:bodyPr/>
          <a:lstStyle/>
          <a:p>
            <a:r>
              <a:rPr lang="pt-BR" dirty="0" smtClean="0"/>
              <a:t>Como as portas funcionam?</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 xmlns:a16="http://schemas.microsoft.com/office/drawing/2014/main" id="{CA3812A4-BB08-CF51-52EF-8F212B136A5D}"/>
                  </a:ext>
                </a:extLst>
              </p:cNvPr>
              <p:cNvSpPr>
                <a:spLocks noGrp="1"/>
              </p:cNvSpPr>
              <p:nvPr>
                <p:ph idx="1"/>
              </p:nvPr>
            </p:nvSpPr>
            <p:spPr>
              <a:xfrm>
                <a:off x="5085670" y="1825624"/>
                <a:ext cx="7106331" cy="5032375"/>
              </a:xfrm>
            </p:spPr>
            <p:txBody>
              <a:bodyPr>
                <a:normAutofit/>
              </a:bodyPr>
              <a:lstStyle/>
              <a:p>
                <a:r>
                  <a:rPr lang="pt-BR" dirty="0" smtClean="0"/>
                  <a:t>As portas são uma forma de </a:t>
                </a:r>
                <a:r>
                  <a:rPr lang="pt-BR" b="1" dirty="0">
                    <a:solidFill>
                      <a:srgbClr val="7030A0"/>
                    </a:solidFill>
                  </a:rPr>
                  <a:t>permitir </a:t>
                </a:r>
                <a:r>
                  <a:rPr lang="pt-BR" dirty="0" smtClean="0"/>
                  <a:t>a </a:t>
                </a:r>
                <a:r>
                  <a:rPr lang="pt-BR" b="1" dirty="0" smtClean="0">
                    <a:solidFill>
                      <a:srgbClr val="00B050"/>
                    </a:solidFill>
                  </a:rPr>
                  <a:t>passagem ou não </a:t>
                </a:r>
                <a:r>
                  <a:rPr lang="pt-BR" b="1" dirty="0">
                    <a:solidFill>
                      <a:srgbClr val="00B050"/>
                    </a:solidFill>
                  </a:rPr>
                  <a:t>de informações</a:t>
                </a:r>
                <a:r>
                  <a:rPr lang="pt-BR" dirty="0"/>
                  <a:t>.</a:t>
                </a:r>
              </a:p>
              <a:p>
                <a:r>
                  <a:rPr lang="pt-BR" dirty="0"/>
                  <a:t>I</a:t>
                </a:r>
                <a:r>
                  <a:rPr lang="pt-BR" dirty="0" smtClean="0"/>
                  <a:t>maginem uma das 3 camadas densas </a:t>
                </a:r>
                <a:r>
                  <a:rPr lang="pt-BR" dirty="0"/>
                  <a:t>com função de ativação </a:t>
                </a:r>
                <a:r>
                  <a:rPr lang="pt-BR" dirty="0" smtClean="0"/>
                  <a:t>sigmoide da célula LSTM.</a:t>
                </a:r>
              </a:p>
              <a:p>
                <a:r>
                  <a:rPr lang="pt-BR" dirty="0" smtClean="0"/>
                  <a:t>A camada</a:t>
                </a:r>
                <a:r>
                  <a:rPr lang="pt-BR" dirty="0" smtClean="0"/>
                  <a:t> </a:t>
                </a:r>
                <a:r>
                  <a:rPr lang="pt-BR" dirty="0"/>
                  <a:t>gera </a:t>
                </a:r>
                <a:r>
                  <a:rPr lang="pt-BR" dirty="0" smtClean="0"/>
                  <a:t>um vetor, </a:t>
                </a:r>
                <a14:m>
                  <m:oMath xmlns:m="http://schemas.openxmlformats.org/officeDocument/2006/math">
                    <m:sSub>
                      <m:sSubPr>
                        <m:ctrlPr>
                          <a:rPr lang="pt-BR" i="1" smtClean="0">
                            <a:latin typeface="Cambria Math" panose="02040503050406030204" pitchFamily="18" charset="0"/>
                          </a:rPr>
                        </m:ctrlPr>
                      </m:sSubPr>
                      <m:e>
                        <m:r>
                          <a:rPr lang="pt-BR" b="1" i="1" smtClean="0">
                            <a:latin typeface="Cambria Math" panose="02040503050406030204" pitchFamily="18" charset="0"/>
                          </a:rPr>
                          <m:t>𝒈</m:t>
                        </m:r>
                      </m:e>
                      <m:sub>
                        <m:r>
                          <a:rPr lang="pt-BR" b="0" i="1" smtClean="0">
                            <a:latin typeface="Cambria Math" panose="02040503050406030204" pitchFamily="18" charset="0"/>
                          </a:rPr>
                          <m:t>𝑡</m:t>
                        </m:r>
                      </m:sub>
                    </m:sSub>
                  </m:oMath>
                </a14:m>
                <a:r>
                  <a:rPr lang="pt-BR" dirty="0" smtClean="0"/>
                  <a:t>, com elementos assumindo valores </a:t>
                </a:r>
                <a:r>
                  <a:rPr lang="pt-BR" dirty="0"/>
                  <a:t>entre 0 e 1.</a:t>
                </a:r>
              </a:p>
              <a:p>
                <a:r>
                  <a:rPr lang="pt-BR" dirty="0"/>
                  <a:t>Uma </a:t>
                </a:r>
                <a:r>
                  <a:rPr lang="pt-BR" b="1" dirty="0">
                    <a:solidFill>
                      <a:schemeClr val="accent2"/>
                    </a:solidFill>
                  </a:rPr>
                  <a:t>operação de multiplicação elemento a elemento</a:t>
                </a:r>
                <a:r>
                  <a:rPr lang="pt-BR" dirty="0"/>
                  <a:t> decide o quanto da </a:t>
                </a:r>
                <a:r>
                  <a:rPr lang="pt-BR" dirty="0" smtClean="0"/>
                  <a:t>entrada </a:t>
                </a:r>
                <a14:m>
                  <m:oMath xmlns:m="http://schemas.openxmlformats.org/officeDocument/2006/math">
                    <m:sSub>
                      <m:sSubPr>
                        <m:ctrlPr>
                          <a:rPr lang="pt-BR" i="1">
                            <a:latin typeface="Cambria Math" panose="02040503050406030204" pitchFamily="18" charset="0"/>
                          </a:rPr>
                        </m:ctrlPr>
                      </m:sSubPr>
                      <m:e>
                        <m:r>
                          <a:rPr lang="pt-BR" b="1" i="1" smtClean="0">
                            <a:latin typeface="Cambria Math" panose="02040503050406030204" pitchFamily="18" charset="0"/>
                          </a:rPr>
                          <m:t>𝒙</m:t>
                        </m:r>
                      </m:e>
                      <m:sub>
                        <m:r>
                          <a:rPr lang="pt-BR" i="1">
                            <a:latin typeface="Cambria Math" panose="02040503050406030204" pitchFamily="18" charset="0"/>
                          </a:rPr>
                          <m:t>𝑡</m:t>
                        </m:r>
                      </m:sub>
                    </m:sSub>
                  </m:oMath>
                </a14:m>
                <a:r>
                  <a:rPr lang="pt-BR" dirty="0" smtClean="0"/>
                  <a:t> passa para a saída </a:t>
                </a:r>
                <a14:m>
                  <m:oMath xmlns:m="http://schemas.openxmlformats.org/officeDocument/2006/math">
                    <m:sSub>
                      <m:sSubPr>
                        <m:ctrlPr>
                          <a:rPr lang="pt-BR" i="1">
                            <a:latin typeface="Cambria Math" panose="02040503050406030204" pitchFamily="18" charset="0"/>
                          </a:rPr>
                        </m:ctrlPr>
                      </m:sSubPr>
                      <m:e>
                        <m:r>
                          <a:rPr lang="pt-BR" b="1" i="1" smtClean="0">
                            <a:latin typeface="Cambria Math" panose="02040503050406030204" pitchFamily="18" charset="0"/>
                          </a:rPr>
                          <m:t>𝒚</m:t>
                        </m:r>
                      </m:e>
                      <m:sub>
                        <m:r>
                          <a:rPr lang="pt-BR" i="1">
                            <a:latin typeface="Cambria Math" panose="02040503050406030204" pitchFamily="18" charset="0"/>
                          </a:rPr>
                          <m:t>𝑡</m:t>
                        </m:r>
                      </m:sub>
                    </m:sSub>
                  </m:oMath>
                </a14:m>
                <a:r>
                  <a:rPr lang="pt-BR" dirty="0" smtClean="0"/>
                  <a:t>.</a:t>
                </a:r>
              </a:p>
              <a:p>
                <a:r>
                  <a:rPr lang="pt-BR" dirty="0"/>
                  <a:t>Com isso a porta decide (</a:t>
                </a:r>
                <a:r>
                  <a:rPr lang="pt-BR" b="1" dirty="0">
                    <a:solidFill>
                      <a:srgbClr val="00B050"/>
                    </a:solidFill>
                  </a:rPr>
                  <a:t>aprende</a:t>
                </a:r>
                <a:r>
                  <a:rPr lang="pt-BR" dirty="0"/>
                  <a:t>) o quanto de cada elemento deve ser permitido passar</a:t>
                </a:r>
                <a:r>
                  <a:rPr lang="pt-BR" dirty="0" smtClean="0"/>
                  <a:t>.</a:t>
                </a:r>
                <a:endParaRPr lang="pt-BR" dirty="0"/>
              </a:p>
            </p:txBody>
          </p:sp>
        </mc:Choice>
        <mc:Fallback>
          <p:sp>
            <p:nvSpPr>
              <p:cNvPr id="3" name="Content Placeholder 2">
                <a:extLst>
                  <a:ext uri="{FF2B5EF4-FFF2-40B4-BE49-F238E27FC236}">
                    <a16:creationId xmlns="" xmlns:a16="http://schemas.microsoft.com/office/drawing/2014/main" id="{CA3812A4-BB08-CF51-52EF-8F212B136A5D}"/>
                  </a:ext>
                </a:extLst>
              </p:cNvPr>
              <p:cNvSpPr>
                <a:spLocks noGrp="1" noRot="1" noChangeAspect="1" noMove="1" noResize="1" noEditPoints="1" noAdjustHandles="1" noChangeArrowheads="1" noChangeShapeType="1" noTextEdit="1"/>
              </p:cNvSpPr>
              <p:nvPr>
                <p:ph idx="1"/>
              </p:nvPr>
            </p:nvSpPr>
            <p:spPr>
              <a:xfrm>
                <a:off x="5085670" y="1825624"/>
                <a:ext cx="7106331" cy="5032375"/>
              </a:xfrm>
              <a:blipFill rotWithShape="0">
                <a:blip r:embed="rId3"/>
                <a:stretch>
                  <a:fillRect l="-1544" t="-1937"/>
                </a:stretch>
              </a:blipFill>
            </p:spPr>
            <p:txBody>
              <a:bodyPr/>
              <a:lstStyle/>
              <a:p>
                <a:r>
                  <a:rPr lang="pt-BR">
                    <a:noFill/>
                  </a:rPr>
                  <a:t> </a:t>
                </a:r>
              </a:p>
            </p:txBody>
          </p:sp>
        </mc:Fallback>
      </mc:AlternateContent>
      <p:pic>
        <p:nvPicPr>
          <p:cNvPr id="8" name="Picture 7">
            <a:extLst>
              <a:ext uri="{FF2B5EF4-FFF2-40B4-BE49-F238E27FC236}">
                <a16:creationId xmlns="" xmlns:a16="http://schemas.microsoft.com/office/drawing/2014/main" id="{B9728557-869E-BAFB-3066-1D739731CD5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685284" y="2051849"/>
            <a:ext cx="1834360" cy="1839902"/>
          </a:xfrm>
          <a:prstGeom prst="rect">
            <a:avLst/>
          </a:prstGeom>
        </p:spPr>
      </p:pic>
      <p:graphicFrame>
        <p:nvGraphicFramePr>
          <p:cNvPr id="9" name="Table 8">
            <a:extLst>
              <a:ext uri="{FF2B5EF4-FFF2-40B4-BE49-F238E27FC236}">
                <a16:creationId xmlns="" xmlns:a16="http://schemas.microsoft.com/office/drawing/2014/main" id="{070CEDC2-429E-FD22-6690-830CD30AF076}"/>
              </a:ext>
            </a:extLst>
          </p:cNvPr>
          <p:cNvGraphicFramePr>
            <a:graphicFrameLocks noGrp="1"/>
          </p:cNvGraphicFramePr>
          <p:nvPr>
            <p:extLst>
              <p:ext uri="{D42A27DB-BD31-4B8C-83A1-F6EECF244321}">
                <p14:modId xmlns:p14="http://schemas.microsoft.com/office/powerpoint/2010/main" val="3794853161"/>
              </p:ext>
            </p:extLst>
          </p:nvPr>
        </p:nvGraphicFramePr>
        <p:xfrm>
          <a:off x="838200" y="4746082"/>
          <a:ext cx="684618" cy="1483360"/>
        </p:xfrm>
        <a:graphic>
          <a:graphicData uri="http://schemas.openxmlformats.org/drawingml/2006/table">
            <a:tbl>
              <a:tblPr firstRow="1" bandRow="1">
                <a:tableStyleId>{2D5ABB26-0587-4C30-8999-92F81FD0307C}</a:tableStyleId>
              </a:tblPr>
              <a:tblGrid>
                <a:gridCol w="684618">
                  <a:extLst>
                    <a:ext uri="{9D8B030D-6E8A-4147-A177-3AD203B41FA5}">
                      <a16:colId xmlns="" xmlns:a16="http://schemas.microsoft.com/office/drawing/2014/main" val="3798675499"/>
                    </a:ext>
                  </a:extLst>
                </a:gridCol>
              </a:tblGrid>
              <a:tr h="370840">
                <a:tc>
                  <a:txBody>
                    <a:bodyPr/>
                    <a:lstStyle/>
                    <a:p>
                      <a:pPr algn="ctr"/>
                      <a:r>
                        <a:rPr lang="pt-BR" dirty="0"/>
                        <a:t>0.58</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3934049621"/>
                  </a:ext>
                </a:extLst>
              </a:tr>
              <a:tr h="370840">
                <a:tc>
                  <a:txBody>
                    <a:bodyPr/>
                    <a:lstStyle/>
                    <a:p>
                      <a:pPr algn="ctr"/>
                      <a:r>
                        <a:rPr lang="pt-BR" dirty="0"/>
                        <a:t>-0.32</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2183629333"/>
                  </a:ext>
                </a:extLst>
              </a:tr>
              <a:tr h="370840">
                <a:tc>
                  <a:txBody>
                    <a:bodyPr/>
                    <a:lstStyle/>
                    <a:p>
                      <a:pPr algn="ctr"/>
                      <a:r>
                        <a:rPr lang="pt-BR" dirty="0" smtClean="0"/>
                        <a:t>0.1</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656619801"/>
                  </a:ext>
                </a:extLst>
              </a:tr>
              <a:tr h="370840">
                <a:tc>
                  <a:txBody>
                    <a:bodyPr/>
                    <a:lstStyle/>
                    <a:p>
                      <a:pPr algn="ctr"/>
                      <a:r>
                        <a:rPr lang="pt-BR" dirty="0"/>
                        <a:t>1.24</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2751490427"/>
                  </a:ext>
                </a:extLst>
              </a:tr>
            </a:tbl>
          </a:graphicData>
        </a:graphic>
      </p:graphicFrame>
      <p:sp>
        <p:nvSpPr>
          <p:cNvPr id="10" name="Oval 9">
            <a:extLst>
              <a:ext uri="{FF2B5EF4-FFF2-40B4-BE49-F238E27FC236}">
                <a16:creationId xmlns="" xmlns:a16="http://schemas.microsoft.com/office/drawing/2014/main" id="{8B26B905-DC25-9DA7-2367-B16D6608B5DA}"/>
              </a:ext>
            </a:extLst>
          </p:cNvPr>
          <p:cNvSpPr/>
          <p:nvPr/>
        </p:nvSpPr>
        <p:spPr>
          <a:xfrm>
            <a:off x="1748784" y="5351237"/>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graphicFrame>
        <p:nvGraphicFramePr>
          <p:cNvPr id="11" name="Table 10">
            <a:extLst>
              <a:ext uri="{FF2B5EF4-FFF2-40B4-BE49-F238E27FC236}">
                <a16:creationId xmlns="" xmlns:a16="http://schemas.microsoft.com/office/drawing/2014/main" id="{5E348D4B-93D4-C098-7AF9-B153BE1F75DB}"/>
              </a:ext>
            </a:extLst>
          </p:cNvPr>
          <p:cNvGraphicFramePr>
            <a:graphicFrameLocks noGrp="1"/>
          </p:cNvGraphicFramePr>
          <p:nvPr>
            <p:extLst>
              <p:ext uri="{D42A27DB-BD31-4B8C-83A1-F6EECF244321}">
                <p14:modId xmlns:p14="http://schemas.microsoft.com/office/powerpoint/2010/main" val="621257650"/>
              </p:ext>
            </p:extLst>
          </p:nvPr>
        </p:nvGraphicFramePr>
        <p:xfrm>
          <a:off x="2247800" y="4746082"/>
          <a:ext cx="684618" cy="1483360"/>
        </p:xfrm>
        <a:graphic>
          <a:graphicData uri="http://schemas.openxmlformats.org/drawingml/2006/table">
            <a:tbl>
              <a:tblPr firstRow="1" bandRow="1">
                <a:tableStyleId>{2D5ABB26-0587-4C30-8999-92F81FD0307C}</a:tableStyleId>
              </a:tblPr>
              <a:tblGrid>
                <a:gridCol w="684618">
                  <a:extLst>
                    <a:ext uri="{9D8B030D-6E8A-4147-A177-3AD203B41FA5}">
                      <a16:colId xmlns="" xmlns:a16="http://schemas.microsoft.com/office/drawing/2014/main" val="3798675499"/>
                    </a:ext>
                  </a:extLst>
                </a:gridCol>
              </a:tblGrid>
              <a:tr h="370840">
                <a:tc>
                  <a:txBody>
                    <a:bodyPr/>
                    <a:lstStyle/>
                    <a:p>
                      <a:pPr algn="ctr"/>
                      <a:r>
                        <a:rPr lang="pt-BR" dirty="0"/>
                        <a:t>0.2</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3934049621"/>
                  </a:ext>
                </a:extLst>
              </a:tr>
              <a:tr h="370840">
                <a:tc>
                  <a:txBody>
                    <a:bodyPr/>
                    <a:lstStyle/>
                    <a:p>
                      <a:pPr algn="ctr"/>
                      <a:r>
                        <a:rPr lang="pt-BR" dirty="0"/>
                        <a:t>0.99</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2183629333"/>
                  </a:ext>
                </a:extLst>
              </a:tr>
              <a:tr h="370840">
                <a:tc>
                  <a:txBody>
                    <a:bodyPr/>
                    <a:lstStyle/>
                    <a:p>
                      <a:pPr algn="ctr"/>
                      <a:r>
                        <a:rPr lang="pt-BR" dirty="0" smtClean="0"/>
                        <a:t>0.01</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656619801"/>
                  </a:ext>
                </a:extLst>
              </a:tr>
              <a:tr h="370840">
                <a:tc>
                  <a:txBody>
                    <a:bodyPr/>
                    <a:lstStyle/>
                    <a:p>
                      <a:pPr algn="ctr"/>
                      <a:r>
                        <a:rPr lang="pt-BR" dirty="0"/>
                        <a:t>0.95</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2751490427"/>
                  </a:ext>
                </a:extLst>
              </a:tr>
            </a:tbl>
          </a:graphicData>
        </a:graphic>
      </p:graphicFrame>
      <p:sp>
        <p:nvSpPr>
          <p:cNvPr id="12" name="TextBox 11">
            <a:extLst>
              <a:ext uri="{FF2B5EF4-FFF2-40B4-BE49-F238E27FC236}">
                <a16:creationId xmlns="" xmlns:a16="http://schemas.microsoft.com/office/drawing/2014/main" id="{32B1D0E7-53E6-C236-1C2B-B2CE4AE3DE25}"/>
              </a:ext>
            </a:extLst>
          </p:cNvPr>
          <p:cNvSpPr txBox="1"/>
          <p:nvPr/>
        </p:nvSpPr>
        <p:spPr>
          <a:xfrm>
            <a:off x="3045720" y="5195374"/>
            <a:ext cx="389850" cy="584775"/>
          </a:xfrm>
          <a:prstGeom prst="rect">
            <a:avLst/>
          </a:prstGeom>
          <a:noFill/>
        </p:spPr>
        <p:txBody>
          <a:bodyPr wrap="none" rtlCol="0">
            <a:spAutoFit/>
          </a:bodyPr>
          <a:lstStyle/>
          <a:p>
            <a:r>
              <a:rPr lang="pt-BR" sz="3200" dirty="0"/>
              <a:t>=</a:t>
            </a:r>
            <a:endParaRPr lang="en-US" sz="3200" dirty="0"/>
          </a:p>
        </p:txBody>
      </p:sp>
      <p:graphicFrame>
        <p:nvGraphicFramePr>
          <p:cNvPr id="13" name="Table 12">
            <a:extLst>
              <a:ext uri="{FF2B5EF4-FFF2-40B4-BE49-F238E27FC236}">
                <a16:creationId xmlns="" xmlns:a16="http://schemas.microsoft.com/office/drawing/2014/main" id="{01F8917B-8816-341A-558C-A1CAEB0704F8}"/>
              </a:ext>
            </a:extLst>
          </p:cNvPr>
          <p:cNvGraphicFramePr>
            <a:graphicFrameLocks noGrp="1"/>
          </p:cNvGraphicFramePr>
          <p:nvPr>
            <p:extLst>
              <p:ext uri="{D42A27DB-BD31-4B8C-83A1-F6EECF244321}">
                <p14:modId xmlns:p14="http://schemas.microsoft.com/office/powerpoint/2010/main" val="2075979028"/>
              </p:ext>
            </p:extLst>
          </p:nvPr>
        </p:nvGraphicFramePr>
        <p:xfrm>
          <a:off x="3548871" y="4746082"/>
          <a:ext cx="920346" cy="1483360"/>
        </p:xfrm>
        <a:graphic>
          <a:graphicData uri="http://schemas.openxmlformats.org/drawingml/2006/table">
            <a:tbl>
              <a:tblPr firstRow="1" bandRow="1">
                <a:tableStyleId>{2D5ABB26-0587-4C30-8999-92F81FD0307C}</a:tableStyleId>
              </a:tblPr>
              <a:tblGrid>
                <a:gridCol w="920346">
                  <a:extLst>
                    <a:ext uri="{9D8B030D-6E8A-4147-A177-3AD203B41FA5}">
                      <a16:colId xmlns="" xmlns:a16="http://schemas.microsoft.com/office/drawing/2014/main" val="3798675499"/>
                    </a:ext>
                  </a:extLst>
                </a:gridCol>
              </a:tblGrid>
              <a:tr h="370840">
                <a:tc>
                  <a:txBody>
                    <a:bodyPr/>
                    <a:lstStyle/>
                    <a:p>
                      <a:pPr algn="ctr"/>
                      <a:r>
                        <a:rPr lang="pt-BR" dirty="0"/>
                        <a:t>0.116</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3934049621"/>
                  </a:ext>
                </a:extLst>
              </a:tr>
              <a:tr h="370840">
                <a:tc>
                  <a:txBody>
                    <a:bodyPr/>
                    <a:lstStyle/>
                    <a:p>
                      <a:pPr algn="ctr"/>
                      <a:r>
                        <a:rPr lang="pt-BR" dirty="0"/>
                        <a:t>-0.3168</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2183629333"/>
                  </a:ext>
                </a:extLst>
              </a:tr>
              <a:tr h="370840">
                <a:tc>
                  <a:txBody>
                    <a:bodyPr/>
                    <a:lstStyle/>
                    <a:p>
                      <a:pPr algn="ctr"/>
                      <a:r>
                        <a:rPr lang="pt-BR" dirty="0"/>
                        <a:t>0.001</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656619801"/>
                  </a:ext>
                </a:extLst>
              </a:tr>
              <a:tr h="370840">
                <a:tc>
                  <a:txBody>
                    <a:bodyPr/>
                    <a:lstStyle/>
                    <a:p>
                      <a:pPr algn="ctr"/>
                      <a:r>
                        <a:rPr lang="pt-BR" dirty="0"/>
                        <a:t>1.178</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2751490427"/>
                  </a:ext>
                </a:extLst>
              </a:tr>
            </a:tbl>
          </a:graphicData>
        </a:graphic>
      </p:graphicFrame>
      <mc:AlternateContent xmlns:mc="http://schemas.openxmlformats.org/markup-compatibility/2006" xmlns:a14="http://schemas.microsoft.com/office/drawing/2010/main">
        <mc:Choice Requires="a14">
          <p:sp>
            <p:nvSpPr>
              <p:cNvPr id="25" name="TextBox 24">
                <a:extLst>
                  <a:ext uri="{FF2B5EF4-FFF2-40B4-BE49-F238E27FC236}">
                    <a16:creationId xmlns="" xmlns:a16="http://schemas.microsoft.com/office/drawing/2014/main" id="{53BADD3D-2C82-CCC1-B891-BEB0379E4781}"/>
                  </a:ext>
                </a:extLst>
              </p:cNvPr>
              <p:cNvSpPr txBox="1"/>
              <p:nvPr/>
            </p:nvSpPr>
            <p:spPr>
              <a:xfrm>
                <a:off x="951312" y="4318900"/>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25" name="TextBox 24">
                <a:extLst>
                  <a:ext uri="{FF2B5EF4-FFF2-40B4-BE49-F238E27FC236}">
                    <a16:creationId xmlns:a16="http://schemas.microsoft.com/office/drawing/2014/main" id="{53BADD3D-2C82-CCC1-B891-BEB0379E4781}"/>
                  </a:ext>
                </a:extLst>
              </p:cNvPr>
              <p:cNvSpPr txBox="1">
                <a:spLocks noRot="1" noChangeAspect="1" noMove="1" noResize="1" noEditPoints="1" noAdjustHandles="1" noChangeArrowheads="1" noChangeShapeType="1" noTextEdit="1"/>
              </p:cNvSpPr>
              <p:nvPr/>
            </p:nvSpPr>
            <p:spPr>
              <a:xfrm>
                <a:off x="951312" y="4318900"/>
                <a:ext cx="458394"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 xmlns:a16="http://schemas.microsoft.com/office/drawing/2014/main" id="{BF8D9E77-C242-804E-69C9-0B2514AE0614}"/>
                  </a:ext>
                </a:extLst>
              </p:cNvPr>
              <p:cNvSpPr txBox="1"/>
              <p:nvPr/>
            </p:nvSpPr>
            <p:spPr>
              <a:xfrm>
                <a:off x="2366605" y="4324531"/>
                <a:ext cx="48083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𝒈</m:t>
                          </m:r>
                        </m:e>
                        <m:sub>
                          <m:r>
                            <a:rPr lang="pt-BR" b="0" i="1" smtClean="0">
                              <a:latin typeface="Cambria Math" panose="02040503050406030204" pitchFamily="18" charset="0"/>
                            </a:rPr>
                            <m:t>𝑡</m:t>
                          </m:r>
                        </m:sub>
                      </m:sSub>
                    </m:oMath>
                  </m:oMathPara>
                </a14:m>
                <a:endParaRPr lang="en-US" dirty="0"/>
              </a:p>
            </p:txBody>
          </p:sp>
        </mc:Choice>
        <mc:Fallback xmlns="">
          <p:sp>
            <p:nvSpPr>
              <p:cNvPr id="26" name="TextBox 25">
                <a:extLst>
                  <a:ext uri="{FF2B5EF4-FFF2-40B4-BE49-F238E27FC236}">
                    <a16:creationId xmlns:a16="http://schemas.microsoft.com/office/drawing/2014/main" id="{BF8D9E77-C242-804E-69C9-0B2514AE0614}"/>
                  </a:ext>
                </a:extLst>
              </p:cNvPr>
              <p:cNvSpPr txBox="1">
                <a:spLocks noRot="1" noChangeAspect="1" noMove="1" noResize="1" noEditPoints="1" noAdjustHandles="1" noChangeArrowheads="1" noChangeShapeType="1" noTextEdit="1"/>
              </p:cNvSpPr>
              <p:nvPr/>
            </p:nvSpPr>
            <p:spPr>
              <a:xfrm>
                <a:off x="2366605" y="4324531"/>
                <a:ext cx="480836" cy="369332"/>
              </a:xfrm>
              <a:prstGeom prst="rect">
                <a:avLst/>
              </a:prstGeom>
              <a:blipFill>
                <a:blip r:embed="rId6"/>
                <a:stretch>
                  <a:fillRect b="-65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 xmlns:a16="http://schemas.microsoft.com/office/drawing/2014/main" id="{98D3637C-D10A-1278-EAC9-E3EAAC103B78}"/>
                  </a:ext>
                </a:extLst>
              </p:cNvPr>
              <p:cNvSpPr txBox="1"/>
              <p:nvPr/>
            </p:nvSpPr>
            <p:spPr>
              <a:xfrm>
                <a:off x="3821137" y="4318900"/>
                <a:ext cx="46320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a16="http://schemas.microsoft.com/office/drawing/2014/main" id="{98D3637C-D10A-1278-EAC9-E3EAAC103B78}"/>
                  </a:ext>
                </a:extLst>
              </p:cNvPr>
              <p:cNvSpPr txBox="1">
                <a:spLocks noRot="1" noChangeAspect="1" noMove="1" noResize="1" noEditPoints="1" noAdjustHandles="1" noChangeArrowheads="1" noChangeShapeType="1" noTextEdit="1"/>
              </p:cNvSpPr>
              <p:nvPr/>
            </p:nvSpPr>
            <p:spPr>
              <a:xfrm>
                <a:off x="3821137" y="4318900"/>
                <a:ext cx="463204" cy="369332"/>
              </a:xfrm>
              <a:prstGeom prst="rect">
                <a:avLst/>
              </a:prstGeom>
              <a:blipFill>
                <a:blip r:embed="rId7"/>
                <a:stretch>
                  <a:fillRect b="-6557"/>
                </a:stretch>
              </a:blipFill>
            </p:spPr>
            <p:txBody>
              <a:bodyPr/>
              <a:lstStyle/>
              <a:p>
                <a:r>
                  <a:rPr lang="en-US">
                    <a:noFill/>
                  </a:rPr>
                  <a:t> </a:t>
                </a:r>
              </a:p>
            </p:txBody>
          </p:sp>
        </mc:Fallback>
      </mc:AlternateContent>
    </p:spTree>
    <p:extLst>
      <p:ext uri="{BB962C8B-B14F-4D97-AF65-F5344CB8AC3E}">
        <p14:creationId xmlns:p14="http://schemas.microsoft.com/office/powerpoint/2010/main" val="358375011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D6586379-E466-E661-270D-8BE5BF3F14F6}"/>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89580765-C6E3-77E8-073B-A8B3F6BA3C27}"/>
              </a:ext>
            </a:extLst>
          </p:cNvPr>
          <p:cNvSpPr>
            <a:spLocks noGrp="1"/>
          </p:cNvSpPr>
          <p:nvPr>
            <p:ph type="title"/>
          </p:nvPr>
        </p:nvSpPr>
        <p:spPr/>
        <p:txBody>
          <a:bodyPr/>
          <a:lstStyle/>
          <a:p>
            <a:r>
              <a:rPr lang="pt-BR" dirty="0"/>
              <a:t>Como as portas funcionam?</a:t>
            </a:r>
            <a:endParaRPr lang="en-US" dirty="0"/>
          </a:p>
        </p:txBody>
      </p:sp>
      <p:sp>
        <p:nvSpPr>
          <p:cNvPr id="3" name="Content Placeholder 2">
            <a:extLst>
              <a:ext uri="{FF2B5EF4-FFF2-40B4-BE49-F238E27FC236}">
                <a16:creationId xmlns="" xmlns:a16="http://schemas.microsoft.com/office/drawing/2014/main" id="{8B06E7DB-3A45-270A-379C-5B53CF58BB04}"/>
              </a:ext>
            </a:extLst>
          </p:cNvPr>
          <p:cNvSpPr>
            <a:spLocks noGrp="1"/>
          </p:cNvSpPr>
          <p:nvPr>
            <p:ph idx="1"/>
          </p:nvPr>
        </p:nvSpPr>
        <p:spPr>
          <a:xfrm>
            <a:off x="838200" y="1825624"/>
            <a:ext cx="11353799" cy="5032375"/>
          </a:xfrm>
        </p:spPr>
        <p:txBody>
          <a:bodyPr>
            <a:normAutofit/>
          </a:bodyPr>
          <a:lstStyle/>
          <a:p>
            <a:r>
              <a:rPr lang="pt-BR" dirty="0" smtClean="0"/>
              <a:t>Uma nova</a:t>
            </a:r>
            <a:r>
              <a:rPr lang="pt-BR" dirty="0" smtClean="0"/>
              <a:t> </a:t>
            </a:r>
            <a:r>
              <a:rPr lang="pt-BR" dirty="0"/>
              <a:t>informação </a:t>
            </a:r>
            <a:r>
              <a:rPr lang="pt-BR" dirty="0" smtClean="0"/>
              <a:t>é armazenada na </a:t>
            </a:r>
            <a:r>
              <a:rPr lang="pt-BR" dirty="0"/>
              <a:t>célula sempre que </a:t>
            </a:r>
            <a:r>
              <a:rPr lang="pt-BR" dirty="0" smtClean="0"/>
              <a:t>um elemento da porta </a:t>
            </a:r>
            <a:r>
              <a:rPr lang="pt-BR" dirty="0"/>
              <a:t>de entrada </a:t>
            </a:r>
            <a:r>
              <a:rPr lang="pt-BR" dirty="0" smtClean="0"/>
              <a:t>tender a 1.</a:t>
            </a:r>
            <a:endParaRPr lang="pt-BR" dirty="0"/>
          </a:p>
          <a:p>
            <a:r>
              <a:rPr lang="pt-BR" dirty="0" smtClean="0"/>
              <a:t>Uma</a:t>
            </a:r>
            <a:r>
              <a:rPr lang="pt-BR" dirty="0" smtClean="0"/>
              <a:t> </a:t>
            </a:r>
            <a:r>
              <a:rPr lang="pt-BR" dirty="0"/>
              <a:t>informação </a:t>
            </a:r>
            <a:r>
              <a:rPr lang="pt-BR" dirty="0" smtClean="0"/>
              <a:t>de longo prazo é </a:t>
            </a:r>
            <a:r>
              <a:rPr lang="pt-BR" dirty="0"/>
              <a:t>descartada da célula sempre </a:t>
            </a:r>
            <a:r>
              <a:rPr lang="pt-BR" dirty="0" smtClean="0"/>
              <a:t>que um elemento da porta </a:t>
            </a:r>
            <a:r>
              <a:rPr lang="pt-BR" dirty="0"/>
              <a:t>de </a:t>
            </a:r>
            <a:r>
              <a:rPr lang="pt-BR" dirty="0" smtClean="0"/>
              <a:t>esquecimento tender a 0.</a:t>
            </a:r>
            <a:endParaRPr lang="pt-BR" dirty="0"/>
          </a:p>
          <a:p>
            <a:r>
              <a:rPr lang="pt-BR" dirty="0" smtClean="0"/>
              <a:t>Uma</a:t>
            </a:r>
            <a:r>
              <a:rPr lang="pt-BR" dirty="0" smtClean="0"/>
              <a:t> </a:t>
            </a:r>
            <a:r>
              <a:rPr lang="pt-BR" dirty="0"/>
              <a:t>informação </a:t>
            </a:r>
            <a:r>
              <a:rPr lang="pt-BR" dirty="0" smtClean="0"/>
              <a:t>de longo prazo é lida </a:t>
            </a:r>
            <a:r>
              <a:rPr lang="pt-BR" dirty="0"/>
              <a:t>da célula </a:t>
            </a:r>
            <a:r>
              <a:rPr lang="pt-BR" dirty="0" smtClean="0"/>
              <a:t>sempre que um elemento da </a:t>
            </a:r>
            <a:r>
              <a:rPr lang="pt-BR" dirty="0"/>
              <a:t>porta de </a:t>
            </a:r>
            <a:r>
              <a:rPr lang="pt-BR" dirty="0" smtClean="0"/>
              <a:t>saída tender a 1.</a:t>
            </a:r>
            <a:endParaRPr lang="pt-BR" dirty="0"/>
          </a:p>
          <a:p>
            <a:r>
              <a:rPr lang="pt-BR" dirty="0"/>
              <a:t>Em resumo, uma célula </a:t>
            </a:r>
            <a:r>
              <a:rPr lang="pt-BR" dirty="0" smtClean="0"/>
              <a:t>LSTM aprende a </a:t>
            </a:r>
            <a:r>
              <a:rPr lang="pt-BR" dirty="0"/>
              <a:t>reconhecer uma </a:t>
            </a:r>
            <a:r>
              <a:rPr lang="pt-BR" dirty="0" smtClean="0"/>
              <a:t>informação importante, </a:t>
            </a:r>
            <a:r>
              <a:rPr lang="pt-BR" dirty="0"/>
              <a:t>armazená-la no estado de longo prazo, preservá-la pelo tempo que for </a:t>
            </a:r>
            <a:r>
              <a:rPr lang="pt-BR"/>
              <a:t>necessário </a:t>
            </a:r>
            <a:r>
              <a:rPr lang="pt-BR" smtClean="0"/>
              <a:t>e </a:t>
            </a:r>
            <a:r>
              <a:rPr lang="pt-BR" dirty="0"/>
              <a:t>extraí-la sempre que necessário</a:t>
            </a:r>
            <a:r>
              <a:rPr lang="pt-BR" dirty="0" smtClean="0"/>
              <a:t>.</a:t>
            </a:r>
            <a:endParaRPr lang="en-US" dirty="0"/>
          </a:p>
        </p:txBody>
      </p:sp>
    </p:spTree>
    <p:extLst>
      <p:ext uri="{BB962C8B-B14F-4D97-AF65-F5344CB8AC3E}">
        <p14:creationId xmlns:p14="http://schemas.microsoft.com/office/powerpoint/2010/main" val="278010532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C982EBEB-341A-ECC3-30F7-25CD742B1FF2}"/>
              </a:ext>
            </a:extLst>
          </p:cNvPr>
          <p:cNvSpPr>
            <a:spLocks noGrp="1"/>
          </p:cNvSpPr>
          <p:nvPr>
            <p:ph type="title"/>
          </p:nvPr>
        </p:nvSpPr>
        <p:spPr/>
        <p:txBody>
          <a:bodyPr/>
          <a:lstStyle/>
          <a:p>
            <a:endParaRPr lang="en-US"/>
          </a:p>
        </p:txBody>
      </p:sp>
      <p:sp>
        <p:nvSpPr>
          <p:cNvPr id="3" name="Espaço Reservado para Conteúdo 2">
            <a:extLst>
              <a:ext uri="{FF2B5EF4-FFF2-40B4-BE49-F238E27FC236}">
                <a16:creationId xmlns="" xmlns:a16="http://schemas.microsoft.com/office/drawing/2014/main" id="{095CE4D4-E809-49EE-AE7E-DDF85AA267DC}"/>
              </a:ext>
            </a:extLst>
          </p:cNvPr>
          <p:cNvSpPr>
            <a:spLocks noGrp="1"/>
          </p:cNvSpPr>
          <p:nvPr>
            <p:ph idx="1"/>
          </p:nvPr>
        </p:nvSpPr>
        <p:spPr/>
        <p:txBody>
          <a:bodyPr>
            <a:normAutofit/>
          </a:bodyPr>
          <a:lstStyle/>
          <a:p>
            <a:r>
              <a:rPr lang="pt-BR" sz="5400" b="1" dirty="0">
                <a:solidFill>
                  <a:srgbClr val="FF0000"/>
                </a:solidFill>
              </a:rPr>
              <a:t>PAREI!!!!!</a:t>
            </a:r>
            <a:endParaRPr lang="en-US" sz="5400" b="1" dirty="0">
              <a:solidFill>
                <a:srgbClr val="FF0000"/>
              </a:solidFill>
            </a:endParaRPr>
          </a:p>
        </p:txBody>
      </p:sp>
    </p:spTree>
    <p:extLst>
      <p:ext uri="{BB962C8B-B14F-4D97-AF65-F5344CB8AC3E}">
        <p14:creationId xmlns:p14="http://schemas.microsoft.com/office/powerpoint/2010/main" val="373411000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8F262C8C-8191-2D84-EFBA-74B11AA293FF}"/>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CF49B969-F400-92D5-152D-2637CB4904C4}"/>
              </a:ext>
            </a:extLst>
          </p:cNvPr>
          <p:cNvSpPr>
            <a:spLocks noGrp="1"/>
          </p:cNvSpPr>
          <p:nvPr>
            <p:ph type="title"/>
          </p:nvPr>
        </p:nvSpPr>
        <p:spPr/>
        <p:txBody>
          <a:bodyPr/>
          <a:lstStyle/>
          <a:p>
            <a:r>
              <a:rPr lang="pt-BR" dirty="0"/>
              <a:t>A ideia central por trás das </a:t>
            </a:r>
            <a:r>
              <a:rPr lang="pt-BR" dirty="0" err="1"/>
              <a:t>LSTMs</a:t>
            </a:r>
            <a:r>
              <a:rPr lang="pt-BR" dirty="0"/>
              <a:t>: o estado da célula</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 xmlns:a16="http://schemas.microsoft.com/office/drawing/2014/main" id="{29079D43-D4FA-D0BA-8D88-3951453F2C01}"/>
                  </a:ext>
                </a:extLst>
              </p:cNvPr>
              <p:cNvSpPr>
                <a:spLocks noGrp="1"/>
              </p:cNvSpPr>
              <p:nvPr>
                <p:ph idx="1"/>
              </p:nvPr>
            </p:nvSpPr>
            <p:spPr>
              <a:xfrm>
                <a:off x="5872163" y="1825624"/>
                <a:ext cx="6186488" cy="5032375"/>
              </a:xfrm>
            </p:spPr>
            <p:txBody>
              <a:bodyPr>
                <a:normAutofit fontScale="92500"/>
              </a:bodyPr>
              <a:lstStyle/>
              <a:p>
                <a:r>
                  <a:rPr lang="pt-BR" dirty="0"/>
                  <a:t>A célula modifica o estado da célula, </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sub>
                    </m:sSub>
                  </m:oMath>
                </a14:m>
                <a:r>
                  <a:rPr lang="pt-BR" dirty="0"/>
                  <a:t>, apenas por meio de </a:t>
                </a:r>
                <a:r>
                  <a:rPr lang="pt-BR" b="1" dirty="0">
                    <a:solidFill>
                      <a:schemeClr val="accent2"/>
                    </a:solidFill>
                  </a:rPr>
                  <a:t>interações lineares*</a:t>
                </a:r>
                <a:r>
                  <a:rPr lang="pt-BR" dirty="0"/>
                  <a:t>: </a:t>
                </a:r>
              </a:p>
              <a:p>
                <a:pPr lvl="1">
                  <a:buFont typeface="Wingdings" panose="05000000000000000000" pitchFamily="2" charset="2"/>
                  <a:buChar char="§"/>
                </a:pP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sub>
                    </m:sSub>
                  </m:oMath>
                </a14:m>
                <a:r>
                  <a:rPr lang="pt-BR" dirty="0"/>
                  <a:t> é </a:t>
                </a:r>
                <a:r>
                  <a:rPr lang="pt-BR" dirty="0"/>
                  <a:t>atualizado </a:t>
                </a:r>
                <a:r>
                  <a:rPr lang="pt-BR" dirty="0"/>
                  <a:t>usando </a:t>
                </a:r>
                <a:r>
                  <a:rPr lang="pt-BR" b="1" dirty="0"/>
                  <a:t>somas e multiplicações elemento a elemento</a:t>
                </a:r>
                <a:r>
                  <a:rPr lang="pt-BR" dirty="0"/>
                  <a:t>, sem passar </a:t>
                </a:r>
                <a:r>
                  <a:rPr lang="pt-BR" dirty="0"/>
                  <a:t>por </a:t>
                </a:r>
                <a:r>
                  <a:rPr lang="pt-BR" dirty="0"/>
                  <a:t>transformações </a:t>
                </a:r>
                <a:r>
                  <a:rPr lang="pt-BR" dirty="0"/>
                  <a:t>não lineares</a:t>
                </a:r>
                <a:r>
                  <a:rPr lang="pt-BR" dirty="0" smtClean="0"/>
                  <a:t>.</a:t>
                </a:r>
                <a:endParaRPr lang="pt-BR" dirty="0" smtClean="0"/>
              </a:p>
              <a:p>
                <a:r>
                  <a:rPr lang="pt-BR" dirty="0" smtClean="0"/>
                  <a:t>A </a:t>
                </a:r>
                <a:r>
                  <a:rPr lang="pt-BR" b="1" dirty="0">
                    <a:solidFill>
                      <a:schemeClr val="accent2"/>
                    </a:solidFill>
                  </a:rPr>
                  <a:t>informação</a:t>
                </a:r>
                <a:r>
                  <a:rPr lang="pt-BR" dirty="0"/>
                  <a:t> pode </a:t>
                </a:r>
                <a:r>
                  <a:rPr lang="pt-BR" b="1" dirty="0">
                    <a:solidFill>
                      <a:schemeClr val="accent2"/>
                    </a:solidFill>
                  </a:rPr>
                  <a:t>fluir ao longo da célula</a:t>
                </a:r>
                <a:r>
                  <a:rPr lang="pt-BR" dirty="0"/>
                  <a:t> de memória </a:t>
                </a:r>
                <a:r>
                  <a:rPr lang="pt-BR" b="1" dirty="0">
                    <a:solidFill>
                      <a:srgbClr val="7030A0"/>
                    </a:solidFill>
                  </a:rPr>
                  <a:t>sem sofrer alterações</a:t>
                </a:r>
                <a:r>
                  <a:rPr lang="pt-BR" dirty="0"/>
                  <a:t>.</a:t>
                </a:r>
              </a:p>
              <a:p>
                <a:pPr lvl="1">
                  <a:buFont typeface="Wingdings" panose="05000000000000000000" pitchFamily="2" charset="2"/>
                  <a:buChar char="§"/>
                </a:pPr>
                <a:r>
                  <a:rPr lang="pt-BR" dirty="0"/>
                  <a:t>Interações lineares.</a:t>
                </a:r>
              </a:p>
              <a:p>
                <a:pPr lvl="1">
                  <a:buFont typeface="Wingdings" panose="05000000000000000000" pitchFamily="2" charset="2"/>
                  <a:buChar char="§"/>
                </a:pPr>
                <a:r>
                  <a:rPr lang="pt-BR" dirty="0"/>
                  <a:t>Mitiga o desaparecimento do gradiente.</a:t>
                </a:r>
              </a:p>
              <a:p>
                <a:r>
                  <a:rPr lang="pt-BR" dirty="0"/>
                  <a:t>A </a:t>
                </a:r>
                <a:r>
                  <a:rPr lang="pt-BR" b="1" dirty="0">
                    <a:solidFill>
                      <a:schemeClr val="accent2"/>
                    </a:solidFill>
                  </a:rPr>
                  <a:t>informação</a:t>
                </a:r>
                <a:r>
                  <a:rPr lang="pt-BR" dirty="0"/>
                  <a:t> pode ser </a:t>
                </a:r>
                <a:r>
                  <a:rPr lang="pt-BR" b="1" dirty="0">
                    <a:solidFill>
                      <a:schemeClr val="accent2"/>
                    </a:solidFill>
                  </a:rPr>
                  <a:t>removida</a:t>
                </a:r>
                <a:r>
                  <a:rPr lang="pt-BR" dirty="0"/>
                  <a:t> ou </a:t>
                </a:r>
                <a:r>
                  <a:rPr lang="pt-BR" b="1" dirty="0">
                    <a:solidFill>
                      <a:schemeClr val="accent2"/>
                    </a:solidFill>
                  </a:rPr>
                  <a:t>gravada</a:t>
                </a:r>
                <a:r>
                  <a:rPr lang="pt-BR" dirty="0"/>
                  <a:t> na célula de memória </a:t>
                </a:r>
                <a:r>
                  <a:rPr lang="pt-BR" b="1" dirty="0">
                    <a:solidFill>
                      <a:srgbClr val="7030A0"/>
                    </a:solidFill>
                  </a:rPr>
                  <a:t>regulando-se as portas</a:t>
                </a:r>
                <a:r>
                  <a:rPr lang="pt-BR" dirty="0"/>
                  <a:t>.</a:t>
                </a:r>
              </a:p>
            </p:txBody>
          </p:sp>
        </mc:Choice>
        <mc:Fallback>
          <p:sp>
            <p:nvSpPr>
              <p:cNvPr id="3" name="Content Placeholder 2">
                <a:extLst>
                  <a:ext uri="{FF2B5EF4-FFF2-40B4-BE49-F238E27FC236}">
                    <a16:creationId xmlns="" xmlns:a16="http://schemas.microsoft.com/office/drawing/2014/main" id="{29079D43-D4FA-D0BA-8D88-3951453F2C01}"/>
                  </a:ext>
                </a:extLst>
              </p:cNvPr>
              <p:cNvSpPr>
                <a:spLocks noGrp="1" noRot="1" noChangeAspect="1" noMove="1" noResize="1" noEditPoints="1" noAdjustHandles="1" noChangeArrowheads="1" noChangeShapeType="1" noTextEdit="1"/>
              </p:cNvSpPr>
              <p:nvPr>
                <p:ph idx="1"/>
              </p:nvPr>
            </p:nvSpPr>
            <p:spPr>
              <a:xfrm>
                <a:off x="5872163" y="1825624"/>
                <a:ext cx="6186488" cy="5032375"/>
              </a:xfrm>
              <a:blipFill rotWithShape="0">
                <a:blip r:embed="rId2"/>
                <a:stretch>
                  <a:fillRect l="-1478" t="-1816" r="-2266"/>
                </a:stretch>
              </a:blipFill>
            </p:spPr>
            <p:txBody>
              <a:bodyPr/>
              <a:lstStyle/>
              <a:p>
                <a:r>
                  <a:rPr lang="pt-BR">
                    <a:noFill/>
                  </a:rPr>
                  <a:t> </a:t>
                </a:r>
              </a:p>
            </p:txBody>
          </p:sp>
        </mc:Fallback>
      </mc:AlternateContent>
      <p:pic>
        <p:nvPicPr>
          <p:cNvPr id="6" name="Picture 5">
            <a:extLst>
              <a:ext uri="{FF2B5EF4-FFF2-40B4-BE49-F238E27FC236}">
                <a16:creationId xmlns="" xmlns:a16="http://schemas.microsoft.com/office/drawing/2014/main" id="{E6F33E3F-21F0-98F8-7A75-265BBFA1F4F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06480" y="2513639"/>
            <a:ext cx="5131773" cy="3158867"/>
          </a:xfrm>
          <a:prstGeom prst="rect">
            <a:avLst/>
          </a:prstGeom>
        </p:spPr>
      </p:pic>
    </p:spTree>
    <p:extLst>
      <p:ext uri="{BB962C8B-B14F-4D97-AF65-F5344CB8AC3E}">
        <p14:creationId xmlns:p14="http://schemas.microsoft.com/office/powerpoint/2010/main" val="53399196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endParaRPr lang="pt-BR"/>
          </a:p>
        </p:txBody>
      </p:sp>
      <p:sp>
        <p:nvSpPr>
          <p:cNvPr id="3" name="Espaço Reservado para Conteúdo 2"/>
          <p:cNvSpPr>
            <a:spLocks noGrp="1"/>
          </p:cNvSpPr>
          <p:nvPr>
            <p:ph idx="1"/>
          </p:nvPr>
        </p:nvSpPr>
        <p:spPr/>
        <p:txBody>
          <a:bodyPr>
            <a:noAutofit/>
          </a:bodyPr>
          <a:lstStyle/>
          <a:p>
            <a:r>
              <a:rPr lang="en-US" sz="4400" dirty="0">
                <a:solidFill>
                  <a:srgbClr val="FF0000"/>
                </a:solidFill>
              </a:rPr>
              <a:t>If the forget gate is always 1 and the input gate is always 0, the memory cell internal state  will remain constant forever, passing unchanged to each subsequent time step. However, input gates and forget gates give the model the flexibility of being able to learn when to keep this value unchanged and when to perturb it in response to subsequent inputs.</a:t>
            </a:r>
            <a:endParaRPr lang="pt-BR" sz="4400" dirty="0">
              <a:solidFill>
                <a:srgbClr val="FF0000"/>
              </a:solidFill>
            </a:endParaRPr>
          </a:p>
        </p:txBody>
      </p:sp>
    </p:spTree>
    <p:extLst>
      <p:ext uri="{BB962C8B-B14F-4D97-AF65-F5344CB8AC3E}">
        <p14:creationId xmlns:p14="http://schemas.microsoft.com/office/powerpoint/2010/main" val="191492297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endParaRPr lang="pt-BR"/>
          </a:p>
        </p:txBody>
      </p:sp>
      <p:sp>
        <p:nvSpPr>
          <p:cNvPr id="3" name="Espaço Reservado para Conteúdo 2"/>
          <p:cNvSpPr>
            <a:spLocks noGrp="1"/>
          </p:cNvSpPr>
          <p:nvPr>
            <p:ph idx="1"/>
          </p:nvPr>
        </p:nvSpPr>
        <p:spPr/>
        <p:txBody>
          <a:bodyPr>
            <a:normAutofit/>
          </a:bodyPr>
          <a:lstStyle/>
          <a:p>
            <a:r>
              <a:rPr lang="en-US" sz="4000" dirty="0">
                <a:solidFill>
                  <a:srgbClr val="FF0000"/>
                </a:solidFill>
              </a:rPr>
              <a:t>Whenever the output gate is close to 1, we allow the memory cell internal state to impact the subsequent layers uninhibited, whereas for output gate values close to 0, we prevent the current memory from impacting other layers of the network at the current time step.</a:t>
            </a:r>
            <a:endParaRPr lang="pt-BR" sz="4000" dirty="0">
              <a:solidFill>
                <a:srgbClr val="FF0000"/>
              </a:solidFill>
            </a:endParaRPr>
          </a:p>
        </p:txBody>
      </p:sp>
    </p:spTree>
    <p:extLst>
      <p:ext uri="{BB962C8B-B14F-4D97-AF65-F5344CB8AC3E}">
        <p14:creationId xmlns:p14="http://schemas.microsoft.com/office/powerpoint/2010/main" val="393102565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endParaRPr lang="pt-BR"/>
          </a:p>
        </p:txBody>
      </p:sp>
      <p:sp>
        <p:nvSpPr>
          <p:cNvPr id="3" name="Espaço Reservado para Conteúdo 2"/>
          <p:cNvSpPr>
            <a:spLocks noGrp="1"/>
          </p:cNvSpPr>
          <p:nvPr>
            <p:ph idx="1"/>
          </p:nvPr>
        </p:nvSpPr>
        <p:spPr/>
        <p:txBody>
          <a:bodyPr/>
          <a:lstStyle/>
          <a:p>
            <a:endParaRPr lang="pt-BR"/>
          </a:p>
        </p:txBody>
      </p:sp>
    </p:spTree>
    <p:extLst>
      <p:ext uri="{BB962C8B-B14F-4D97-AF65-F5344CB8AC3E}">
        <p14:creationId xmlns:p14="http://schemas.microsoft.com/office/powerpoint/2010/main" val="338911577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34F0908E-61BC-4EE3-3C23-07FB350F419F}"/>
              </a:ext>
            </a:extLst>
          </p:cNvPr>
          <p:cNvSpPr>
            <a:spLocks noGrp="1"/>
          </p:cNvSpPr>
          <p:nvPr>
            <p:ph type="title"/>
          </p:nvPr>
        </p:nvSpPr>
        <p:spPr/>
        <p:txBody>
          <a:bodyPr/>
          <a:lstStyle/>
          <a:p>
            <a:r>
              <a:rPr lang="pt-BR" dirty="0" smtClean="0"/>
              <a:t>Porta de esquecimento</a:t>
            </a:r>
            <a:endParaRPr lang="pt-BR"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2AB8871D-05B3-0B5D-B7A9-8B87B3BFA96C}"/>
                  </a:ext>
                </a:extLst>
              </p:cNvPr>
              <p:cNvSpPr>
                <a:spLocks noGrp="1"/>
              </p:cNvSpPr>
              <p:nvPr>
                <p:ph idx="1"/>
              </p:nvPr>
            </p:nvSpPr>
            <p:spPr>
              <a:xfrm>
                <a:off x="5809130" y="1825624"/>
                <a:ext cx="6382872" cy="5032375"/>
              </a:xfrm>
            </p:spPr>
            <p:txBody>
              <a:bodyPr>
                <a:normAutofit lnSpcReduction="10000"/>
              </a:bodyPr>
              <a:lstStyle/>
              <a:p>
                <a:r>
                  <a:rPr lang="pt-BR" dirty="0"/>
                  <a:t>Controla quais informações devem ser descartadas do estado de longo prazo da célula.</a:t>
                </a:r>
              </a:p>
              <a:p>
                <a:pPr marL="0" indent="0">
                  <a:buNone/>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1" i="1" smtClean="0">
                              <a:latin typeface="Cambria Math" panose="02040503050406030204" pitchFamily="18" charset="0"/>
                            </a:rPr>
                            <m:t>𝒇</m:t>
                          </m:r>
                        </m:e>
                        <m:sub>
                          <m:r>
                            <a:rPr lang="pt-BR" sz="2000" b="0" i="1" smtClean="0">
                              <a:latin typeface="Cambria Math" panose="02040503050406030204" pitchFamily="18" charset="0"/>
                            </a:rPr>
                            <m:t>𝑡</m:t>
                          </m:r>
                        </m:sub>
                      </m:sSub>
                      <m:r>
                        <a:rPr lang="pt-BR" sz="2000" b="0" i="1" smtClean="0">
                          <a:latin typeface="Cambria Math" panose="02040503050406030204" pitchFamily="18" charset="0"/>
                        </a:rPr>
                        <m:t>=</m:t>
                      </m:r>
                      <m:d>
                        <m:dPr>
                          <m:begChr m:val="{"/>
                          <m:endChr m:val=""/>
                          <m:ctrlPr>
                            <a:rPr lang="pt-BR" sz="2000" b="0" i="1" smtClean="0">
                              <a:latin typeface="Cambria Math" panose="02040503050406030204" pitchFamily="18" charset="0"/>
                            </a:rPr>
                          </m:ctrlPr>
                        </m:dPr>
                        <m:e>
                          <m:eqArr>
                            <m:eqArrPr>
                              <m:ctrlPr>
                                <a:rPr lang="pt-BR" sz="2000" b="0" i="1" smtClean="0">
                                  <a:latin typeface="Cambria Math" panose="02040503050406030204" pitchFamily="18" charset="0"/>
                                </a:rPr>
                              </m:ctrlPr>
                            </m:eqArrPr>
                            <m:e>
                              <m:m>
                                <m:mPr>
                                  <m:mcs>
                                    <m:mc>
                                      <m:mcPr>
                                        <m:count m:val="2"/>
                                        <m:mcJc m:val="center"/>
                                      </m:mcPr>
                                    </m:mc>
                                  </m:mcs>
                                  <m:ctrlPr>
                                    <a:rPr lang="pt-BR" sz="2000" b="0" i="1" smtClean="0">
                                      <a:latin typeface="Cambria Math" panose="02040503050406030204" pitchFamily="18" charset="0"/>
                                    </a:rPr>
                                  </m:ctrlPr>
                                </m:mPr>
                                <m:mr>
                                  <m:e>
                                    <m:r>
                                      <m:rPr>
                                        <m:brk m:alnAt="7"/>
                                      </m:rPr>
                                      <a:rPr lang="pt-BR" sz="2000" b="0" i="1" smtClean="0">
                                        <a:latin typeface="Cambria Math" panose="02040503050406030204" pitchFamily="18" charset="0"/>
                                      </a:rPr>
                                      <m:t>0</m:t>
                                    </m:r>
                                    <m:r>
                                      <a:rPr lang="pt-BR" sz="2000" b="0" i="1" smtClean="0">
                                        <a:latin typeface="Cambria Math" panose="02040503050406030204" pitchFamily="18" charset="0"/>
                                      </a:rPr>
                                      <m:t>,</m:t>
                                    </m:r>
                                  </m:e>
                                  <m:e>
                                    <m:r>
                                      <m:rPr>
                                        <m:sty m:val="p"/>
                                      </m:rPr>
                                      <a:rPr lang="pt-BR" sz="2000" b="0" i="0" smtClean="0">
                                        <a:latin typeface="Cambria Math" panose="02040503050406030204" pitchFamily="18" charset="0"/>
                                      </a:rPr>
                                      <m:t>esquece</m:t>
                                    </m:r>
                                    <m:r>
                                      <a:rPr lang="pt-BR" sz="2000" b="0" i="0" smtClean="0">
                                        <a:latin typeface="Cambria Math" panose="02040503050406030204" pitchFamily="18" charset="0"/>
                                      </a:rPr>
                                      <m:t> </m:t>
                                    </m:r>
                                    <m:r>
                                      <m:rPr>
                                        <m:sty m:val="p"/>
                                      </m:rPr>
                                      <a:rPr lang="pt-BR" sz="2000" b="0" i="0" smtClean="0">
                                        <a:latin typeface="Cambria Math" panose="02040503050406030204" pitchFamily="18" charset="0"/>
                                      </a:rPr>
                                      <m:t>completamente</m:t>
                                    </m:r>
                                    <m:r>
                                      <a:rPr lang="pt-BR" sz="2000" b="0" i="0" smtClean="0">
                                        <a:latin typeface="Cambria Math" panose="02040503050406030204" pitchFamily="18" charset="0"/>
                                      </a:rPr>
                                      <m:t> </m:t>
                                    </m:r>
                                    <m:sSub>
                                      <m:sSubPr>
                                        <m:ctrlPr>
                                          <a:rPr lang="pt-BR" sz="2000" b="0" i="1" smtClean="0">
                                            <a:latin typeface="Cambria Math" panose="02040503050406030204" pitchFamily="18" charset="0"/>
                                          </a:rPr>
                                        </m:ctrlPr>
                                      </m:sSubPr>
                                      <m:e>
                                        <m:r>
                                          <a:rPr lang="pt-BR" sz="2000" b="1" i="1" smtClean="0">
                                            <a:latin typeface="Cambria Math" panose="02040503050406030204" pitchFamily="18" charset="0"/>
                                          </a:rPr>
                                          <m:t>𝒄</m:t>
                                        </m:r>
                                      </m:e>
                                      <m:sub>
                                        <m:r>
                                          <a:rPr lang="pt-BR" sz="2000" b="0" i="1" smtClean="0">
                                            <a:latin typeface="Cambria Math" panose="02040503050406030204" pitchFamily="18" charset="0"/>
                                          </a:rPr>
                                          <m:t>𝑡</m:t>
                                        </m:r>
                                        <m:r>
                                          <a:rPr lang="pt-BR" sz="2000" b="0" i="1" smtClean="0">
                                            <a:latin typeface="Cambria Math" panose="02040503050406030204" pitchFamily="18" charset="0"/>
                                          </a:rPr>
                                          <m:t>−1</m:t>
                                        </m:r>
                                      </m:sub>
                                    </m:sSub>
                                  </m:e>
                                </m:mr>
                              </m:m>
                            </m:e>
                            <m:e>
                              <m:m>
                                <m:mPr>
                                  <m:mcs>
                                    <m:mc>
                                      <m:mcPr>
                                        <m:count m:val="2"/>
                                        <m:mcJc m:val="center"/>
                                      </m:mcPr>
                                    </m:mc>
                                  </m:mcs>
                                  <m:ctrlPr>
                                    <a:rPr lang="pt-BR" sz="2000" b="0" i="1" smtClean="0">
                                      <a:latin typeface="Cambria Math" panose="02040503050406030204" pitchFamily="18" charset="0"/>
                                    </a:rPr>
                                  </m:ctrlPr>
                                </m:mPr>
                                <m:mr>
                                  <m:e>
                                    <m:r>
                                      <m:rPr>
                                        <m:brk m:alnAt="7"/>
                                      </m:rPr>
                                      <a:rPr lang="pt-BR" sz="2000" b="0" i="1" smtClean="0">
                                        <a:latin typeface="Cambria Math" panose="02040503050406030204" pitchFamily="18" charset="0"/>
                                      </a:rPr>
                                      <m:t>1</m:t>
                                    </m:r>
                                    <m:r>
                                      <a:rPr lang="pt-BR" sz="2000" b="0" i="1" smtClean="0">
                                        <a:latin typeface="Cambria Math" panose="02040503050406030204" pitchFamily="18" charset="0"/>
                                      </a:rPr>
                                      <m:t>,</m:t>
                                    </m:r>
                                  </m:e>
                                  <m:e>
                                    <m:r>
                                      <a:rPr lang="pt-BR" sz="2000" b="0" i="1" smtClean="0">
                                        <a:latin typeface="Cambria Math" panose="02040503050406030204" pitchFamily="18" charset="0"/>
                                      </a:rPr>
                                      <m:t>          </m:t>
                                    </m:r>
                                    <m:r>
                                      <m:rPr>
                                        <m:sty m:val="p"/>
                                      </m:rPr>
                                      <a:rPr lang="pt-BR" sz="2000" b="0" i="0" smtClean="0">
                                        <a:latin typeface="Cambria Math" panose="02040503050406030204" pitchFamily="18" charset="0"/>
                                      </a:rPr>
                                      <m:t>mant</m:t>
                                    </m:r>
                                    <m:r>
                                      <a:rPr lang="pt-BR" sz="2000" b="0" i="0" smtClean="0">
                                        <a:latin typeface="Cambria Math" panose="02040503050406030204" pitchFamily="18" charset="0"/>
                                      </a:rPr>
                                      <m:t>é</m:t>
                                    </m:r>
                                    <m:r>
                                      <m:rPr>
                                        <m:sty m:val="p"/>
                                      </m:rPr>
                                      <a:rPr lang="pt-BR" sz="2000" b="0" i="0" smtClean="0">
                                        <a:latin typeface="Cambria Math" panose="02040503050406030204" pitchFamily="18" charset="0"/>
                                      </a:rPr>
                                      <m:t>m</m:t>
                                    </m:r>
                                    <m:r>
                                      <a:rPr lang="pt-BR" sz="2000" b="0" i="0" smtClean="0">
                                        <a:latin typeface="Cambria Math" panose="02040503050406030204" pitchFamily="18" charset="0"/>
                                      </a:rPr>
                                      <m:t> 100% </m:t>
                                    </m:r>
                                    <m:r>
                                      <m:rPr>
                                        <m:sty m:val="p"/>
                                      </m:rPr>
                                      <a:rPr lang="pt-BR" sz="2000" b="0" i="0" smtClean="0">
                                        <a:latin typeface="Cambria Math" panose="02040503050406030204" pitchFamily="18" charset="0"/>
                                      </a:rPr>
                                      <m:t>de</m:t>
                                    </m:r>
                                    <m:r>
                                      <a:rPr lang="pt-BR" sz="2000" b="0" i="0" smtClean="0">
                                        <a:latin typeface="Cambria Math" panose="02040503050406030204" pitchFamily="18" charset="0"/>
                                      </a:rPr>
                                      <m:t> </m:t>
                                    </m:r>
                                    <m:sSub>
                                      <m:sSubPr>
                                        <m:ctrlPr>
                                          <a:rPr lang="pt-BR" sz="2000" b="0" i="1" smtClean="0">
                                            <a:latin typeface="Cambria Math" panose="02040503050406030204" pitchFamily="18" charset="0"/>
                                          </a:rPr>
                                        </m:ctrlPr>
                                      </m:sSubPr>
                                      <m:e>
                                        <m:r>
                                          <a:rPr lang="pt-BR" sz="2000" b="1" i="1" smtClean="0">
                                            <a:latin typeface="Cambria Math" panose="02040503050406030204" pitchFamily="18" charset="0"/>
                                          </a:rPr>
                                          <m:t>𝒄</m:t>
                                        </m:r>
                                      </m:e>
                                      <m:sub>
                                        <m:r>
                                          <a:rPr lang="pt-BR" sz="2000" b="0" i="1" smtClean="0">
                                            <a:latin typeface="Cambria Math" panose="02040503050406030204" pitchFamily="18" charset="0"/>
                                          </a:rPr>
                                          <m:t>𝑡</m:t>
                                        </m:r>
                                        <m:r>
                                          <a:rPr lang="pt-BR" sz="2000" b="0" i="1" smtClean="0">
                                            <a:latin typeface="Cambria Math" panose="02040503050406030204" pitchFamily="18" charset="0"/>
                                          </a:rPr>
                                          <m:t>−1</m:t>
                                        </m:r>
                                      </m:sub>
                                    </m:sSub>
                                    <m:r>
                                      <a:rPr lang="pt-BR" sz="2000" b="0" i="1" smtClean="0">
                                        <a:latin typeface="Cambria Math" panose="02040503050406030204" pitchFamily="18" charset="0"/>
                                      </a:rPr>
                                      <m:t>  </m:t>
                                    </m:r>
                                  </m:e>
                                </m:mr>
                              </m:m>
                            </m:e>
                          </m:eqArr>
                        </m:e>
                      </m:d>
                    </m:oMath>
                  </m:oMathPara>
                </a14:m>
                <a:endParaRPr lang="pt-BR" dirty="0"/>
              </a:p>
              <a:p>
                <a:r>
                  <a:rPr lang="pt-BR" dirty="0"/>
                  <a:t>Porta controlada pela entrada atual </a:t>
                </a:r>
                <a14:m>
                  <m:oMath xmlns:m="http://schemas.openxmlformats.org/officeDocument/2006/math">
                    <m:sSub>
                      <m:sSubPr>
                        <m:ctrlPr>
                          <a:rPr lang="pt-BR"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a14:m>
                <a:r>
                  <a:rPr lang="pt-BR" dirty="0"/>
                  <a:t> e pela saída da célula anterior </a:t>
                </a:r>
                <a14:m>
                  <m:oMath xmlns:m="http://schemas.openxmlformats.org/officeDocument/2006/math">
                    <m:sSub>
                      <m:sSubPr>
                        <m:ctrlPr>
                          <a:rPr lang="pt-BR"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a14:m>
                <a:r>
                  <a:rPr lang="pt-BR" dirty="0"/>
                  <a:t>.</a:t>
                </a:r>
              </a:p>
              <a:p>
                <a:r>
                  <a:rPr lang="pt-BR" dirty="0"/>
                  <a:t>Exemplo de PLN: </a:t>
                </a:r>
              </a:p>
              <a:p>
                <a:pPr lvl="1">
                  <a:buFont typeface="Wingdings" panose="05000000000000000000" pitchFamily="2" charset="2"/>
                  <a:buChar char="§"/>
                </a:pPr>
                <a:r>
                  <a:rPr lang="pt-BR" dirty="0"/>
                  <a:t>O estado da célula mantém o gênero do sujeito presente para usar os pronomes corretos.</a:t>
                </a:r>
              </a:p>
              <a:p>
                <a:pPr lvl="1">
                  <a:buFont typeface="Wingdings" panose="05000000000000000000" pitchFamily="2" charset="2"/>
                  <a:buChar char="§"/>
                </a:pPr>
                <a:r>
                  <a:rPr lang="pt-BR" dirty="0"/>
                  <a:t>Ao ver um novo sujeito, esqueça o gênero do sujeito anterior.</a:t>
                </a:r>
                <a:endParaRPr lang="en-US" dirty="0"/>
              </a:p>
            </p:txBody>
          </p:sp>
        </mc:Choice>
        <mc:Fallback xmlns="">
          <p:sp>
            <p:nvSpPr>
              <p:cNvPr id="3" name="Content Placeholder 2">
                <a:extLst>
                  <a:ext uri="{FF2B5EF4-FFF2-40B4-BE49-F238E27FC236}">
                    <a16:creationId xmlns:a16="http://schemas.microsoft.com/office/drawing/2014/main" id="{2AB8871D-05B3-0B5D-B7A9-8B87B3BFA96C}"/>
                  </a:ext>
                </a:extLst>
              </p:cNvPr>
              <p:cNvSpPr>
                <a:spLocks noGrp="1" noRot="1" noChangeAspect="1" noMove="1" noResize="1" noEditPoints="1" noAdjustHandles="1" noChangeArrowheads="1" noChangeShapeType="1" noTextEdit="1"/>
              </p:cNvSpPr>
              <p:nvPr>
                <p:ph idx="1"/>
              </p:nvPr>
            </p:nvSpPr>
            <p:spPr>
              <a:xfrm>
                <a:off x="5809130" y="1825624"/>
                <a:ext cx="6382872" cy="5032375"/>
              </a:xfrm>
              <a:blipFill>
                <a:blip r:embed="rId3"/>
                <a:stretch>
                  <a:fillRect l="-1719" t="-2663" r="-1815"/>
                </a:stretch>
              </a:blipFill>
            </p:spPr>
            <p:txBody>
              <a:bodyPr/>
              <a:lstStyle/>
              <a:p>
                <a:r>
                  <a:rPr lang="en-US">
                    <a:noFill/>
                  </a:rPr>
                  <a:t> </a:t>
                </a:r>
              </a:p>
            </p:txBody>
          </p:sp>
        </mc:Fallback>
      </mc:AlternateContent>
      <p:pic>
        <p:nvPicPr>
          <p:cNvPr id="6" name="Imagem 5">
            <a:extLst>
              <a:ext uri="{FF2B5EF4-FFF2-40B4-BE49-F238E27FC236}">
                <a16:creationId xmlns="" xmlns:a16="http://schemas.microsoft.com/office/drawing/2014/main" id="{BCAB297B-CDDB-7EF5-2A7E-0434E34079D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4183" y="2387448"/>
            <a:ext cx="5131773" cy="3158867"/>
          </a:xfrm>
          <a:prstGeom prst="rect">
            <a:avLst/>
          </a:prstGeom>
        </p:spPr>
      </p:pic>
    </p:spTree>
    <p:extLst>
      <p:ext uri="{BB962C8B-B14F-4D97-AF65-F5344CB8AC3E}">
        <p14:creationId xmlns:p14="http://schemas.microsoft.com/office/powerpoint/2010/main" val="201806058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F81B4BE9-24E6-DBC5-186F-61B6FA6689E6}"/>
              </a:ext>
            </a:extLst>
          </p:cNvPr>
          <p:cNvSpPr>
            <a:spLocks noGrp="1"/>
          </p:cNvSpPr>
          <p:nvPr>
            <p:ph type="title"/>
          </p:nvPr>
        </p:nvSpPr>
        <p:spPr/>
        <p:txBody>
          <a:bodyPr/>
          <a:lstStyle/>
          <a:p>
            <a:r>
              <a:rPr lang="pt-BR" dirty="0"/>
              <a:t>Porta de entrada</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7D2F9DE0-B3FD-2A90-3146-043295CAFDE1}"/>
                  </a:ext>
                </a:extLst>
              </p:cNvPr>
              <p:cNvSpPr>
                <a:spLocks noGrp="1"/>
              </p:cNvSpPr>
              <p:nvPr>
                <p:ph idx="1"/>
              </p:nvPr>
            </p:nvSpPr>
            <p:spPr>
              <a:xfrm>
                <a:off x="5838826" y="1825624"/>
                <a:ext cx="6353174" cy="5032375"/>
              </a:xfrm>
            </p:spPr>
            <p:txBody>
              <a:bodyPr>
                <a:normAutofit/>
              </a:bodyPr>
              <a:lstStyle/>
              <a:p>
                <a:r>
                  <a:rPr lang="pt-BR" dirty="0"/>
                  <a:t>Determina o quanto atualizar o estado antigo </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sub>
                    </m:sSub>
                  </m:oMath>
                </a14:m>
                <a:r>
                  <a:rPr lang="pt-BR" dirty="0"/>
                  <a:t> com um novo candidato </a:t>
                </a:r>
                <a14:m>
                  <m:oMath xmlns:m="http://schemas.openxmlformats.org/officeDocument/2006/math">
                    <m:sSub>
                      <m:sSubPr>
                        <m:ctrlPr>
                          <a:rPr lang="pt-BR" i="1" smtClean="0">
                            <a:latin typeface="Cambria Math" panose="02040503050406030204" pitchFamily="18" charset="0"/>
                          </a:rPr>
                        </m:ctrlPr>
                      </m:sSubPr>
                      <m:e>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𝒄</m:t>
                            </m:r>
                          </m:e>
                        </m:acc>
                      </m:e>
                      <m:sub>
                        <m:r>
                          <a:rPr lang="pt-BR" b="0" i="1" smtClean="0">
                            <a:latin typeface="Cambria Math" panose="02040503050406030204" pitchFamily="18" charset="0"/>
                          </a:rPr>
                          <m:t>𝑡</m:t>
                        </m:r>
                      </m:sub>
                    </m:sSub>
                  </m:oMath>
                </a14:m>
                <a:r>
                  <a:rPr lang="en-US" dirty="0"/>
                  <a:t>.</a:t>
                </a:r>
              </a:p>
              <a:p>
                <a:pPr marL="0" indent="0">
                  <a:buNone/>
                </a:pPr>
                <a14:m>
                  <m:oMathPara xmlns:m="http://schemas.openxmlformats.org/officeDocument/2006/math">
                    <m:oMathParaPr>
                      <m:jc m:val="centerGroup"/>
                    </m:oMathParaPr>
                    <m:oMath xmlns:m="http://schemas.openxmlformats.org/officeDocument/2006/math">
                      <m:sSub>
                        <m:sSubPr>
                          <m:ctrlPr>
                            <a:rPr lang="pt-BR" sz="2000" i="1">
                              <a:latin typeface="Cambria Math" panose="02040503050406030204" pitchFamily="18" charset="0"/>
                            </a:rPr>
                          </m:ctrlPr>
                        </m:sSubPr>
                        <m:e>
                          <m:r>
                            <a:rPr lang="pt-BR" sz="2000" b="1" i="1" smtClean="0">
                              <a:latin typeface="Cambria Math" panose="02040503050406030204" pitchFamily="18" charset="0"/>
                            </a:rPr>
                            <m:t>𝒊</m:t>
                          </m:r>
                        </m:e>
                        <m:sub>
                          <m:r>
                            <a:rPr lang="pt-BR" sz="2000" i="1">
                              <a:latin typeface="Cambria Math" panose="02040503050406030204" pitchFamily="18" charset="0"/>
                            </a:rPr>
                            <m:t>𝑡</m:t>
                          </m:r>
                        </m:sub>
                      </m:sSub>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eqArr>
                            <m:eqArrPr>
                              <m:ctrlPr>
                                <a:rPr lang="pt-BR" sz="2000" i="1">
                                  <a:latin typeface="Cambria Math" panose="02040503050406030204" pitchFamily="18" charset="0"/>
                                </a:rPr>
                              </m:ctrlPr>
                            </m:eqArrPr>
                            <m:e>
                              <m:m>
                                <m:mPr>
                                  <m:mcs>
                                    <m:mc>
                                      <m:mcPr>
                                        <m:count m:val="2"/>
                                        <m:mcJc m:val="center"/>
                                      </m:mcPr>
                                    </m:mc>
                                  </m:mcs>
                                  <m:ctrlPr>
                                    <a:rPr lang="pt-BR" sz="2000" i="1">
                                      <a:latin typeface="Cambria Math" panose="02040503050406030204" pitchFamily="18" charset="0"/>
                                    </a:rPr>
                                  </m:ctrlPr>
                                </m:mPr>
                                <m:mr>
                                  <m:e>
                                    <m:r>
                                      <m:rPr>
                                        <m:brk m:alnAt="7"/>
                                      </m:rPr>
                                      <a:rPr lang="pt-BR" sz="2000" i="1">
                                        <a:latin typeface="Cambria Math" panose="02040503050406030204" pitchFamily="18" charset="0"/>
                                      </a:rPr>
                                      <m:t>0</m:t>
                                    </m:r>
                                    <m:r>
                                      <a:rPr lang="pt-BR" sz="2000" i="1">
                                        <a:latin typeface="Cambria Math" panose="02040503050406030204" pitchFamily="18" charset="0"/>
                                      </a:rPr>
                                      <m:t>,</m:t>
                                    </m:r>
                                  </m:e>
                                  <m:e>
                                    <m:r>
                                      <a:rPr lang="pt-BR" sz="2000" b="0" i="0" smtClean="0">
                                        <a:latin typeface="Cambria Math" panose="02040503050406030204" pitchFamily="18" charset="0"/>
                                      </a:rPr>
                                      <m:t>                  </m:t>
                                    </m:r>
                                    <m:r>
                                      <m:rPr>
                                        <m:sty m:val="p"/>
                                      </m:rPr>
                                      <a:rPr lang="pt-BR" sz="2000" b="0" i="0" smtClean="0">
                                        <a:latin typeface="Cambria Math" panose="02040503050406030204" pitchFamily="18" charset="0"/>
                                      </a:rPr>
                                      <m:t>sem</m:t>
                                    </m:r>
                                    <m:r>
                                      <a:rPr lang="pt-BR" sz="2000" b="0" i="0" smtClean="0">
                                        <a:latin typeface="Cambria Math" panose="02040503050406030204" pitchFamily="18" charset="0"/>
                                      </a:rPr>
                                      <m:t> </m:t>
                                    </m:r>
                                    <m:r>
                                      <m:rPr>
                                        <m:sty m:val="p"/>
                                      </m:rPr>
                                      <a:rPr lang="pt-BR" sz="2000" b="0" i="0" smtClean="0">
                                        <a:latin typeface="Cambria Math" panose="02040503050406030204" pitchFamily="18" charset="0"/>
                                      </a:rPr>
                                      <m:t>atualiza</m:t>
                                    </m:r>
                                    <m:r>
                                      <a:rPr lang="pt-BR" sz="2000" b="0" i="0" smtClean="0">
                                        <a:latin typeface="Cambria Math" panose="02040503050406030204" pitchFamily="18" charset="0"/>
                                      </a:rPr>
                                      <m:t>çã</m:t>
                                    </m:r>
                                    <m:r>
                                      <m:rPr>
                                        <m:sty m:val="p"/>
                                      </m:rPr>
                                      <a:rPr lang="pt-BR" sz="2000" b="0" i="0" smtClean="0">
                                        <a:latin typeface="Cambria Math" panose="02040503050406030204" pitchFamily="18" charset="0"/>
                                      </a:rPr>
                                      <m:t>o</m:t>
                                    </m:r>
                                  </m:e>
                                </m:mr>
                              </m:m>
                            </m:e>
                            <m:e>
                              <m:m>
                                <m:mPr>
                                  <m:mcs>
                                    <m:mc>
                                      <m:mcPr>
                                        <m:count m:val="2"/>
                                        <m:mcJc m:val="center"/>
                                      </m:mcPr>
                                    </m:mc>
                                  </m:mcs>
                                  <m:ctrlPr>
                                    <a:rPr lang="pt-BR" sz="2000" i="1">
                                      <a:latin typeface="Cambria Math" panose="02040503050406030204" pitchFamily="18" charset="0"/>
                                    </a:rPr>
                                  </m:ctrlPr>
                                </m:mPr>
                                <m:mr>
                                  <m:e>
                                    <m:r>
                                      <m:rPr>
                                        <m:brk m:alnAt="7"/>
                                      </m:rPr>
                                      <a:rPr lang="pt-BR" sz="2000" i="1">
                                        <a:latin typeface="Cambria Math" panose="02040503050406030204" pitchFamily="18" charset="0"/>
                                      </a:rPr>
                                      <m:t>1</m:t>
                                    </m:r>
                                    <m:r>
                                      <a:rPr lang="pt-BR" sz="2000" i="1">
                                        <a:latin typeface="Cambria Math" panose="02040503050406030204" pitchFamily="18" charset="0"/>
                                      </a:rPr>
                                      <m:t>,</m:t>
                                    </m:r>
                                  </m:e>
                                  <m:e>
                                    <m:r>
                                      <a:rPr lang="pt-BR" sz="2000" i="1">
                                        <a:latin typeface="Cambria Math" panose="02040503050406030204" pitchFamily="18" charset="0"/>
                                      </a:rPr>
                                      <m:t> </m:t>
                                    </m:r>
                                    <m:r>
                                      <m:rPr>
                                        <m:sty m:val="p"/>
                                      </m:rPr>
                                      <a:rPr lang="pt-BR" sz="2000" b="0" i="0" smtClean="0">
                                        <a:latin typeface="Cambria Math" panose="02040503050406030204" pitchFamily="18" charset="0"/>
                                      </a:rPr>
                                      <m:t>atualiza</m:t>
                                    </m:r>
                                    <m:r>
                                      <a:rPr lang="pt-BR" sz="2000" b="0" i="0" smtClean="0">
                                        <a:latin typeface="Cambria Math" panose="02040503050406030204" pitchFamily="18" charset="0"/>
                                      </a:rPr>
                                      <m:t> </m:t>
                                    </m:r>
                                    <m:r>
                                      <m:rPr>
                                        <m:sty m:val="p"/>
                                      </m:rPr>
                                      <a:rPr lang="pt-BR" sz="2000" b="0" i="0" smtClean="0">
                                        <a:latin typeface="Cambria Math" panose="02040503050406030204" pitchFamily="18" charset="0"/>
                                      </a:rPr>
                                      <m:t>com</m:t>
                                    </m:r>
                                    <m:r>
                                      <a:rPr lang="pt-BR" sz="2000" b="0" i="0" smtClean="0">
                                        <a:latin typeface="Cambria Math" panose="02040503050406030204" pitchFamily="18" charset="0"/>
                                      </a:rPr>
                                      <m:t> 100% </m:t>
                                    </m:r>
                                    <m:r>
                                      <m:rPr>
                                        <m:sty m:val="p"/>
                                      </m:rPr>
                                      <a:rPr lang="pt-BR" sz="2000" b="0" i="0" smtClean="0">
                                        <a:latin typeface="Cambria Math" panose="02040503050406030204" pitchFamily="18" charset="0"/>
                                      </a:rPr>
                                      <m:t>de</m:t>
                                    </m:r>
                                    <m:sSub>
                                      <m:sSubPr>
                                        <m:ctrlPr>
                                          <a:rPr lang="pt-BR" sz="2000" i="1">
                                            <a:latin typeface="Cambria Math" panose="02040503050406030204" pitchFamily="18" charset="0"/>
                                          </a:rPr>
                                        </m:ctrlPr>
                                      </m:sSubPr>
                                      <m:e>
                                        <m:r>
                                          <a:rPr lang="pt-BR" sz="2000" b="0" i="1" smtClean="0">
                                            <a:latin typeface="Cambria Math" panose="02040503050406030204" pitchFamily="18" charset="0"/>
                                          </a:rPr>
                                          <m:t> </m:t>
                                        </m:r>
                                        <m:acc>
                                          <m:accPr>
                                            <m:chr m:val="̃"/>
                                            <m:ctrlPr>
                                              <a:rPr lang="pt-BR" sz="2000" i="1">
                                                <a:latin typeface="Cambria Math" panose="02040503050406030204" pitchFamily="18" charset="0"/>
                                              </a:rPr>
                                            </m:ctrlPr>
                                          </m:accPr>
                                          <m:e>
                                            <m:r>
                                              <a:rPr lang="pt-BR" sz="2000" i="1">
                                                <a:latin typeface="Cambria Math" panose="02040503050406030204" pitchFamily="18" charset="0"/>
                                              </a:rPr>
                                              <m:t>𝐶</m:t>
                                            </m:r>
                                          </m:e>
                                        </m:acc>
                                      </m:e>
                                      <m:sub>
                                        <m:r>
                                          <a:rPr lang="pt-BR" sz="2000" i="1">
                                            <a:latin typeface="Cambria Math" panose="02040503050406030204" pitchFamily="18" charset="0"/>
                                          </a:rPr>
                                          <m:t>𝑡</m:t>
                                        </m:r>
                                      </m:sub>
                                    </m:sSub>
                                  </m:e>
                                </m:mr>
                              </m:m>
                            </m:e>
                          </m:eqArr>
                        </m:e>
                      </m:d>
                    </m:oMath>
                  </m:oMathPara>
                </a14:m>
                <a:endParaRPr lang="pt-BR" sz="2000" dirty="0"/>
              </a:p>
              <a:p>
                <a:r>
                  <a:rPr lang="pt-BR" dirty="0"/>
                  <a:t>No exemplo de PNL:</a:t>
                </a:r>
              </a:p>
              <a:p>
                <a:pPr lvl="1">
                  <a:buFont typeface="Wingdings" panose="05000000000000000000" pitchFamily="2" charset="2"/>
                  <a:buChar char="§"/>
                </a:pPr>
                <a:r>
                  <a:rPr lang="pt-BR" dirty="0"/>
                  <a:t>Gostaríamos de adicionar o gênero do novo sujeito ao estado da célula, para substituir o antigo que estamos esquecendo.</a:t>
                </a:r>
                <a:endParaRPr lang="en-US" dirty="0"/>
              </a:p>
            </p:txBody>
          </p:sp>
        </mc:Choice>
        <mc:Fallback xmlns="">
          <p:sp>
            <p:nvSpPr>
              <p:cNvPr id="3" name="Content Placeholder 2">
                <a:extLst>
                  <a:ext uri="{FF2B5EF4-FFF2-40B4-BE49-F238E27FC236}">
                    <a16:creationId xmlns:a16="http://schemas.microsoft.com/office/drawing/2014/main" id="{7D2F9DE0-B3FD-2A90-3146-043295CAFDE1}"/>
                  </a:ext>
                </a:extLst>
              </p:cNvPr>
              <p:cNvSpPr>
                <a:spLocks noGrp="1" noRot="1" noChangeAspect="1" noMove="1" noResize="1" noEditPoints="1" noAdjustHandles="1" noChangeArrowheads="1" noChangeShapeType="1" noTextEdit="1"/>
              </p:cNvSpPr>
              <p:nvPr>
                <p:ph idx="1"/>
              </p:nvPr>
            </p:nvSpPr>
            <p:spPr>
              <a:xfrm>
                <a:off x="5838826" y="1825624"/>
                <a:ext cx="6353174" cy="5032375"/>
              </a:xfrm>
              <a:blipFill>
                <a:blip r:embed="rId3"/>
                <a:stretch>
                  <a:fillRect l="-1727" t="-1937" r="-1823"/>
                </a:stretch>
              </a:blipFill>
            </p:spPr>
            <p:txBody>
              <a:bodyPr/>
              <a:lstStyle/>
              <a:p>
                <a:r>
                  <a:rPr lang="en-US">
                    <a:noFill/>
                  </a:rPr>
                  <a:t> </a:t>
                </a:r>
              </a:p>
            </p:txBody>
          </p:sp>
        </mc:Fallback>
      </mc:AlternateContent>
      <p:pic>
        <p:nvPicPr>
          <p:cNvPr id="5" name="Picture 4">
            <a:extLst>
              <a:ext uri="{FF2B5EF4-FFF2-40B4-BE49-F238E27FC236}">
                <a16:creationId xmlns="" xmlns:a16="http://schemas.microsoft.com/office/drawing/2014/main" id="{C9028197-6E3A-D453-E14C-79F999DC2F8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87182" y="2338664"/>
            <a:ext cx="5131773" cy="3158867"/>
          </a:xfrm>
          <a:prstGeom prst="rect">
            <a:avLst/>
          </a:prstGeom>
        </p:spPr>
      </p:pic>
    </p:spTree>
    <p:extLst>
      <p:ext uri="{BB962C8B-B14F-4D97-AF65-F5344CB8AC3E}">
        <p14:creationId xmlns:p14="http://schemas.microsoft.com/office/powerpoint/2010/main" val="276393376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0772FAD1-4DBD-A371-7565-6081A1219FA0}"/>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C9476E6C-21FE-5575-46B7-F6F5257A089A}"/>
              </a:ext>
            </a:extLst>
          </p:cNvPr>
          <p:cNvSpPr>
            <a:spLocks noGrp="1"/>
          </p:cNvSpPr>
          <p:nvPr>
            <p:ph type="title"/>
          </p:nvPr>
        </p:nvSpPr>
        <p:spPr/>
        <p:txBody>
          <a:bodyPr/>
          <a:lstStyle/>
          <a:p>
            <a:r>
              <a:rPr lang="pt-BR" dirty="0"/>
              <a:t>Atualização do estado da célula</a:t>
            </a:r>
            <a:endParaRPr lang="en-US" dirty="0"/>
          </a:p>
        </p:txBody>
      </p:sp>
      <mc:AlternateContent xmlns:mc="http://schemas.openxmlformats.org/markup-compatibility/2006" xmlns:a14="http://schemas.microsoft.com/office/drawing/2010/main">
        <mc:Choice Requires="a14">
          <p:sp>
            <p:nvSpPr>
              <p:cNvPr id="8" name="Content Placeholder 7">
                <a:extLst>
                  <a:ext uri="{FF2B5EF4-FFF2-40B4-BE49-F238E27FC236}">
                    <a16:creationId xmlns="" xmlns:a16="http://schemas.microsoft.com/office/drawing/2014/main" id="{7B42820C-05C1-F0F4-4D04-180E61344403}"/>
                  </a:ext>
                </a:extLst>
              </p:cNvPr>
              <p:cNvSpPr>
                <a:spLocks noGrp="1"/>
              </p:cNvSpPr>
              <p:nvPr>
                <p:ph idx="1"/>
              </p:nvPr>
            </p:nvSpPr>
            <p:spPr>
              <a:xfrm>
                <a:off x="838200" y="1825625"/>
                <a:ext cx="11353801" cy="5032376"/>
              </a:xfrm>
            </p:spPr>
            <p:txBody>
              <a:bodyPr>
                <a:normAutofit/>
              </a:bodyPr>
              <a:lstStyle/>
              <a:p>
                <a:r>
                  <a:rPr lang="pt-BR" dirty="0"/>
                  <a:t>Calcular o vetor da porta de esquecimento</a:t>
                </a: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b="1" i="1" smtClean="0">
                              <a:latin typeface="Cambria Math" panose="02040503050406030204" pitchFamily="18" charset="0"/>
                            </a:rPr>
                            <m:t>𝒇</m:t>
                          </m:r>
                        </m:e>
                        <m:sub>
                          <m:r>
                            <a:rPr lang="pt-BR" i="1">
                              <a:latin typeface="Cambria Math" panose="02040503050406030204" pitchFamily="18" charset="0"/>
                            </a:rPr>
                            <m:t>𝑡</m:t>
                          </m:r>
                        </m:sub>
                      </m:sSub>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𝜎</m:t>
                      </m:r>
                      <m:d>
                        <m:dPr>
                          <m:ctrlPr>
                            <a:rPr lang="pt-BR" i="1">
                              <a:latin typeface="Cambria Math" panose="02040503050406030204" pitchFamily="18" charset="0"/>
                              <a:ea typeface="Cambria Math" panose="02040503050406030204" pitchFamily="18" charset="0"/>
                            </a:rPr>
                          </m:ctrlPr>
                        </m:dPr>
                        <m:e>
                          <m:d>
                            <m:dPr>
                              <m:begChr m:val="["/>
                              <m:endChr m:val="]"/>
                              <m:ctrlPr>
                                <a:rPr lang="pt-BR" i="1">
                                  <a:latin typeface="Cambria Math" panose="02040503050406030204" pitchFamily="18" charset="0"/>
                                  <a:ea typeface="Cambria Math" panose="02040503050406030204" pitchFamily="18" charset="0"/>
                                </a:rPr>
                              </m:ctrlPr>
                            </m:dPr>
                            <m:e>
                              <m:sSub>
                                <m:sSubPr>
                                  <m:ctrlPr>
                                    <a:rPr lang="pt-BR" i="1">
                                      <a:latin typeface="Cambria Math" panose="02040503050406030204" pitchFamily="18" charset="0"/>
                                      <a:ea typeface="Cambria Math" panose="02040503050406030204" pitchFamily="18" charset="0"/>
                                    </a:rPr>
                                  </m:ctrlPr>
                                </m:sSubPr>
                                <m:e>
                                  <m:r>
                                    <a:rPr lang="pt-BR" b="1" i="1">
                                      <a:latin typeface="Cambria Math" panose="02040503050406030204" pitchFamily="18" charset="0"/>
                                      <a:ea typeface="Cambria Math" panose="02040503050406030204" pitchFamily="18" charset="0"/>
                                    </a:rPr>
                                    <m:t>𝒉</m:t>
                                  </m:r>
                                </m:e>
                                <m:sub>
                                  <m:r>
                                    <a:rPr lang="pt-BR" i="1">
                                      <a:latin typeface="Cambria Math" panose="02040503050406030204" pitchFamily="18" charset="0"/>
                                      <a:ea typeface="Cambria Math" panose="02040503050406030204" pitchFamily="18" charset="0"/>
                                    </a:rPr>
                                    <m:t>𝑡</m:t>
                                  </m:r>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b="1" i="1">
                                      <a:latin typeface="Cambria Math" panose="02040503050406030204" pitchFamily="18" charset="0"/>
                                      <a:ea typeface="Cambria Math" panose="02040503050406030204" pitchFamily="18" charset="0"/>
                                    </a:rPr>
                                    <m:t>𝒙</m:t>
                                  </m:r>
                                </m:e>
                                <m:sub>
                                  <m:r>
                                    <a:rPr lang="pt-BR" i="1">
                                      <a:latin typeface="Cambria Math" panose="02040503050406030204" pitchFamily="18" charset="0"/>
                                      <a:ea typeface="Cambria Math" panose="02040503050406030204" pitchFamily="18" charset="0"/>
                                    </a:rPr>
                                    <m:t>𝑡</m:t>
                                  </m:r>
                                </m:sub>
                              </m:sSub>
                            </m:e>
                          </m:d>
                          <m:sSub>
                            <m:sSubPr>
                              <m:ctrlPr>
                                <a:rPr lang="pt-BR" i="1">
                                  <a:latin typeface="Cambria Math" panose="02040503050406030204" pitchFamily="18" charset="0"/>
                                  <a:ea typeface="Cambria Math" panose="02040503050406030204" pitchFamily="18" charset="0"/>
                                </a:rPr>
                              </m:ctrlPr>
                            </m:sSubPr>
                            <m:e>
                              <m:r>
                                <a:rPr lang="pt-BR" b="1" i="1">
                                  <a:latin typeface="Cambria Math" panose="02040503050406030204" pitchFamily="18" charset="0"/>
                                  <a:ea typeface="Cambria Math" panose="02040503050406030204" pitchFamily="18" charset="0"/>
                                </a:rPr>
                                <m:t>𝑾</m:t>
                              </m:r>
                            </m:e>
                            <m:sub>
                              <m:r>
                                <a:rPr lang="pt-BR" b="0" i="1" smtClean="0">
                                  <a:latin typeface="Cambria Math" panose="02040503050406030204" pitchFamily="18" charset="0"/>
                                  <a:ea typeface="Cambria Math" panose="02040503050406030204" pitchFamily="18" charset="0"/>
                                </a:rPr>
                                <m:t>𝑓</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b="1" i="1">
                                  <a:latin typeface="Cambria Math" panose="02040503050406030204" pitchFamily="18" charset="0"/>
                                  <a:ea typeface="Cambria Math" panose="02040503050406030204" pitchFamily="18" charset="0"/>
                                </a:rPr>
                                <m:t>𝒃</m:t>
                              </m:r>
                            </m:e>
                            <m:sub>
                              <m:r>
                                <a:rPr lang="pt-BR" b="0" i="1" smtClean="0">
                                  <a:latin typeface="Cambria Math" panose="02040503050406030204" pitchFamily="18" charset="0"/>
                                  <a:ea typeface="Cambria Math" panose="02040503050406030204" pitchFamily="18" charset="0"/>
                                </a:rPr>
                                <m:t>𝑓</m:t>
                              </m:r>
                            </m:sub>
                          </m:sSub>
                        </m:e>
                      </m:d>
                    </m:oMath>
                  </m:oMathPara>
                </a14:m>
                <a:endParaRPr lang="pt-BR" dirty="0"/>
              </a:p>
              <a:p>
                <a:r>
                  <a:rPr lang="pt-BR" dirty="0"/>
                  <a:t>Calcular o vetor da porta de entrada</a:t>
                </a:r>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𝒊</m:t>
                          </m:r>
                        </m:e>
                        <m:sub>
                          <m:r>
                            <a:rPr lang="pt-BR" b="0" i="1" smtClean="0">
                              <a:latin typeface="Cambria Math" panose="02040503050406030204" pitchFamily="18" charset="0"/>
                            </a:rPr>
                            <m:t>𝑡</m:t>
                          </m:r>
                        </m:sub>
                      </m:sSub>
                      <m:r>
                        <a:rPr lang="pt-BR" b="0" i="1" smtClean="0">
                          <a:latin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𝜎</m:t>
                      </m:r>
                      <m:d>
                        <m:dPr>
                          <m:ctrlPr>
                            <a:rPr lang="pt-BR" b="0" i="1" smtClean="0">
                              <a:latin typeface="Cambria Math" panose="02040503050406030204" pitchFamily="18" charset="0"/>
                              <a:ea typeface="Cambria Math" panose="02040503050406030204" pitchFamily="18" charset="0"/>
                            </a:rPr>
                          </m:ctrlPr>
                        </m:dPr>
                        <m:e>
                          <m:d>
                            <m:dPr>
                              <m:begChr m:val="["/>
                              <m:endChr m:val="]"/>
                              <m:ctrlPr>
                                <a:rPr lang="pt-BR" b="0" i="1" smtClean="0">
                                  <a:latin typeface="Cambria Math" panose="02040503050406030204" pitchFamily="18" charset="0"/>
                                  <a:ea typeface="Cambria Math" panose="02040503050406030204" pitchFamily="18" charset="0"/>
                                </a:rPr>
                              </m:ctrlPr>
                            </m:dPr>
                            <m:e>
                              <m:sSub>
                                <m:sSubPr>
                                  <m:ctrlPr>
                                    <a:rPr lang="pt-BR" b="0" i="1" smtClean="0">
                                      <a:latin typeface="Cambria Math" panose="02040503050406030204" pitchFamily="18" charset="0"/>
                                      <a:ea typeface="Cambria Math" panose="02040503050406030204" pitchFamily="18" charset="0"/>
                                    </a:rPr>
                                  </m:ctrlPr>
                                </m:sSubPr>
                                <m:e>
                                  <m:r>
                                    <a:rPr lang="pt-BR" b="1" i="1" smtClean="0">
                                      <a:latin typeface="Cambria Math" panose="02040503050406030204" pitchFamily="18" charset="0"/>
                                      <a:ea typeface="Cambria Math" panose="02040503050406030204" pitchFamily="18" charset="0"/>
                                    </a:rPr>
                                    <m:t>𝒉</m:t>
                                  </m:r>
                                </m:e>
                                <m:sub>
                                  <m:r>
                                    <a:rPr lang="pt-BR" b="0" i="1" smtClean="0">
                                      <a:latin typeface="Cambria Math" panose="02040503050406030204" pitchFamily="18" charset="0"/>
                                      <a:ea typeface="Cambria Math" panose="02040503050406030204" pitchFamily="18" charset="0"/>
                                    </a:rPr>
                                    <m:t>𝑡</m:t>
                                  </m:r>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m:t>
                              </m:r>
                              <m:sSub>
                                <m:sSubPr>
                                  <m:ctrlPr>
                                    <a:rPr lang="pt-BR" b="0" i="1" smtClean="0">
                                      <a:latin typeface="Cambria Math" panose="02040503050406030204" pitchFamily="18" charset="0"/>
                                      <a:ea typeface="Cambria Math" panose="02040503050406030204" pitchFamily="18" charset="0"/>
                                    </a:rPr>
                                  </m:ctrlPr>
                                </m:sSubPr>
                                <m:e>
                                  <m:r>
                                    <a:rPr lang="pt-BR" b="1" i="1" smtClean="0">
                                      <a:latin typeface="Cambria Math" panose="02040503050406030204" pitchFamily="18" charset="0"/>
                                      <a:ea typeface="Cambria Math" panose="02040503050406030204" pitchFamily="18" charset="0"/>
                                    </a:rPr>
                                    <m:t>𝒙</m:t>
                                  </m:r>
                                </m:e>
                                <m:sub>
                                  <m:r>
                                    <a:rPr lang="pt-BR" b="0" i="1" smtClean="0">
                                      <a:latin typeface="Cambria Math" panose="02040503050406030204" pitchFamily="18" charset="0"/>
                                      <a:ea typeface="Cambria Math" panose="02040503050406030204" pitchFamily="18" charset="0"/>
                                    </a:rPr>
                                    <m:t>𝑡</m:t>
                                  </m:r>
                                </m:sub>
                              </m:sSub>
                            </m:e>
                          </m:d>
                          <m:sSub>
                            <m:sSubPr>
                              <m:ctrlPr>
                                <a:rPr lang="pt-BR" b="0" i="1" smtClean="0">
                                  <a:latin typeface="Cambria Math" panose="02040503050406030204" pitchFamily="18" charset="0"/>
                                  <a:ea typeface="Cambria Math" panose="02040503050406030204" pitchFamily="18" charset="0"/>
                                </a:rPr>
                              </m:ctrlPr>
                            </m:sSubPr>
                            <m:e>
                              <m:r>
                                <a:rPr lang="pt-BR" b="1" i="1" smtClean="0">
                                  <a:latin typeface="Cambria Math" panose="02040503050406030204" pitchFamily="18" charset="0"/>
                                  <a:ea typeface="Cambria Math" panose="02040503050406030204" pitchFamily="18" charset="0"/>
                                </a:rPr>
                                <m:t>𝑾</m:t>
                              </m:r>
                            </m:e>
                            <m:sub>
                              <m:r>
                                <a:rPr lang="pt-BR" b="0" i="1" smtClean="0">
                                  <a:latin typeface="Cambria Math" panose="02040503050406030204" pitchFamily="18" charset="0"/>
                                  <a:ea typeface="Cambria Math" panose="02040503050406030204" pitchFamily="18" charset="0"/>
                                </a:rPr>
                                <m:t>𝑖</m:t>
                              </m:r>
                            </m:sub>
                          </m:sSub>
                          <m:r>
                            <a:rPr lang="pt-BR" b="0" i="1" smtClean="0">
                              <a:latin typeface="Cambria Math" panose="02040503050406030204" pitchFamily="18" charset="0"/>
                              <a:ea typeface="Cambria Math" panose="02040503050406030204" pitchFamily="18" charset="0"/>
                            </a:rPr>
                            <m:t>+</m:t>
                          </m:r>
                          <m:sSub>
                            <m:sSubPr>
                              <m:ctrlPr>
                                <a:rPr lang="pt-BR" b="0" i="1" smtClean="0">
                                  <a:latin typeface="Cambria Math" panose="02040503050406030204" pitchFamily="18" charset="0"/>
                                  <a:ea typeface="Cambria Math" panose="02040503050406030204" pitchFamily="18" charset="0"/>
                                </a:rPr>
                              </m:ctrlPr>
                            </m:sSubPr>
                            <m:e>
                              <m:r>
                                <a:rPr lang="pt-BR" b="1" i="1" smtClean="0">
                                  <a:latin typeface="Cambria Math" panose="02040503050406030204" pitchFamily="18" charset="0"/>
                                  <a:ea typeface="Cambria Math" panose="02040503050406030204" pitchFamily="18" charset="0"/>
                                </a:rPr>
                                <m:t>𝒃</m:t>
                              </m:r>
                            </m:e>
                            <m:sub>
                              <m:r>
                                <a:rPr lang="pt-BR" b="0" i="1" smtClean="0">
                                  <a:latin typeface="Cambria Math" panose="02040503050406030204" pitchFamily="18" charset="0"/>
                                  <a:ea typeface="Cambria Math" panose="02040503050406030204" pitchFamily="18" charset="0"/>
                                </a:rPr>
                                <m:t>𝑖</m:t>
                              </m:r>
                            </m:sub>
                          </m:sSub>
                        </m:e>
                      </m:d>
                    </m:oMath>
                  </m:oMathPara>
                </a14:m>
                <a:endParaRPr lang="en-US" dirty="0"/>
              </a:p>
              <a:p>
                <a:r>
                  <a:rPr lang="pt-BR" dirty="0"/>
                  <a:t>Calcular o vetor de informação</a:t>
                </a: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acc>
                            <m:accPr>
                              <m:chr m:val="̃"/>
                              <m:ctrlPr>
                                <a:rPr lang="en-US" b="1" i="1" smtClean="0">
                                  <a:latin typeface="Cambria Math" panose="02040503050406030204" pitchFamily="18" charset="0"/>
                                </a:rPr>
                              </m:ctrlPr>
                            </m:accPr>
                            <m:e>
                              <m:r>
                                <a:rPr lang="pt-BR" b="1" i="1" smtClean="0">
                                  <a:latin typeface="Cambria Math" panose="02040503050406030204" pitchFamily="18" charset="0"/>
                                </a:rPr>
                                <m:t>𝒄</m:t>
                              </m:r>
                            </m:e>
                          </m:acc>
                        </m:e>
                        <m:sub>
                          <m:r>
                            <a:rPr lang="pt-BR" i="1">
                              <a:latin typeface="Cambria Math" panose="02040503050406030204" pitchFamily="18" charset="0"/>
                            </a:rPr>
                            <m:t>𝑡</m:t>
                          </m:r>
                        </m:sub>
                      </m:sSub>
                      <m:r>
                        <a:rPr lang="pt-BR" i="1">
                          <a:latin typeface="Cambria Math" panose="02040503050406030204" pitchFamily="18" charset="0"/>
                        </a:rPr>
                        <m:t>=</m:t>
                      </m:r>
                      <m:func>
                        <m:funcPr>
                          <m:ctrlPr>
                            <a:rPr lang="pt-BR" i="1" smtClean="0">
                              <a:latin typeface="Cambria Math" panose="02040503050406030204" pitchFamily="18" charset="0"/>
                            </a:rPr>
                          </m:ctrlPr>
                        </m:funcPr>
                        <m:fName>
                          <m:r>
                            <m:rPr>
                              <m:sty m:val="p"/>
                            </m:rPr>
                            <a:rPr lang="pt-BR" i="0" smtClean="0">
                              <a:latin typeface="Cambria Math" panose="02040503050406030204" pitchFamily="18" charset="0"/>
                            </a:rPr>
                            <m:t>tanh</m:t>
                          </m:r>
                        </m:fName>
                        <m:e>
                          <m:d>
                            <m:dPr>
                              <m:ctrlPr>
                                <a:rPr lang="pt-BR" i="1">
                                  <a:latin typeface="Cambria Math" panose="02040503050406030204" pitchFamily="18" charset="0"/>
                                  <a:ea typeface="Cambria Math" panose="02040503050406030204" pitchFamily="18" charset="0"/>
                                </a:rPr>
                              </m:ctrlPr>
                            </m:dPr>
                            <m:e>
                              <m:d>
                                <m:dPr>
                                  <m:begChr m:val="["/>
                                  <m:endChr m:val="]"/>
                                  <m:ctrlPr>
                                    <a:rPr lang="pt-BR" i="1">
                                      <a:latin typeface="Cambria Math" panose="02040503050406030204" pitchFamily="18" charset="0"/>
                                      <a:ea typeface="Cambria Math" panose="02040503050406030204" pitchFamily="18" charset="0"/>
                                    </a:rPr>
                                  </m:ctrlPr>
                                </m:dPr>
                                <m:e>
                                  <m:sSub>
                                    <m:sSubPr>
                                      <m:ctrlPr>
                                        <a:rPr lang="pt-BR" i="1">
                                          <a:latin typeface="Cambria Math" panose="02040503050406030204" pitchFamily="18" charset="0"/>
                                          <a:ea typeface="Cambria Math" panose="02040503050406030204" pitchFamily="18" charset="0"/>
                                        </a:rPr>
                                      </m:ctrlPr>
                                    </m:sSubPr>
                                    <m:e>
                                      <m:r>
                                        <a:rPr lang="pt-BR" b="1" i="1">
                                          <a:latin typeface="Cambria Math" panose="02040503050406030204" pitchFamily="18" charset="0"/>
                                          <a:ea typeface="Cambria Math" panose="02040503050406030204" pitchFamily="18" charset="0"/>
                                        </a:rPr>
                                        <m:t>𝒉</m:t>
                                      </m:r>
                                    </m:e>
                                    <m:sub>
                                      <m:r>
                                        <a:rPr lang="pt-BR" i="1">
                                          <a:latin typeface="Cambria Math" panose="02040503050406030204" pitchFamily="18" charset="0"/>
                                          <a:ea typeface="Cambria Math" panose="02040503050406030204" pitchFamily="18" charset="0"/>
                                        </a:rPr>
                                        <m:t>𝑡</m:t>
                                      </m:r>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b="1" i="1">
                                          <a:latin typeface="Cambria Math" panose="02040503050406030204" pitchFamily="18" charset="0"/>
                                          <a:ea typeface="Cambria Math" panose="02040503050406030204" pitchFamily="18" charset="0"/>
                                        </a:rPr>
                                        <m:t>𝒙</m:t>
                                      </m:r>
                                    </m:e>
                                    <m:sub>
                                      <m:r>
                                        <a:rPr lang="pt-BR" i="1">
                                          <a:latin typeface="Cambria Math" panose="02040503050406030204" pitchFamily="18" charset="0"/>
                                          <a:ea typeface="Cambria Math" panose="02040503050406030204" pitchFamily="18" charset="0"/>
                                        </a:rPr>
                                        <m:t>𝑡</m:t>
                                      </m:r>
                                    </m:sub>
                                  </m:sSub>
                                </m:e>
                              </m:d>
                              <m:sSub>
                                <m:sSubPr>
                                  <m:ctrlPr>
                                    <a:rPr lang="pt-BR" i="1">
                                      <a:latin typeface="Cambria Math" panose="02040503050406030204" pitchFamily="18" charset="0"/>
                                      <a:ea typeface="Cambria Math" panose="02040503050406030204" pitchFamily="18" charset="0"/>
                                    </a:rPr>
                                  </m:ctrlPr>
                                </m:sSubPr>
                                <m:e>
                                  <m:r>
                                    <a:rPr lang="pt-BR" b="1" i="1">
                                      <a:latin typeface="Cambria Math" panose="02040503050406030204" pitchFamily="18" charset="0"/>
                                      <a:ea typeface="Cambria Math" panose="02040503050406030204" pitchFamily="18" charset="0"/>
                                    </a:rPr>
                                    <m:t>𝑾</m:t>
                                  </m:r>
                                </m:e>
                                <m:sub>
                                  <m:r>
                                    <a:rPr lang="pt-BR" b="0" i="1" smtClean="0">
                                      <a:latin typeface="Cambria Math" panose="02040503050406030204" pitchFamily="18" charset="0"/>
                                      <a:ea typeface="Cambria Math" panose="02040503050406030204" pitchFamily="18" charset="0"/>
                                    </a:rPr>
                                    <m:t>𝑐</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b="1" i="1">
                                      <a:latin typeface="Cambria Math" panose="02040503050406030204" pitchFamily="18" charset="0"/>
                                      <a:ea typeface="Cambria Math" panose="02040503050406030204" pitchFamily="18" charset="0"/>
                                    </a:rPr>
                                    <m:t>𝒃</m:t>
                                  </m:r>
                                </m:e>
                                <m:sub>
                                  <m:r>
                                    <a:rPr lang="pt-BR" b="0" i="1" smtClean="0">
                                      <a:latin typeface="Cambria Math" panose="02040503050406030204" pitchFamily="18" charset="0"/>
                                      <a:ea typeface="Cambria Math" panose="02040503050406030204" pitchFamily="18" charset="0"/>
                                    </a:rPr>
                                    <m:t>𝑐</m:t>
                                  </m:r>
                                </m:sub>
                              </m:sSub>
                            </m:e>
                          </m:d>
                        </m:e>
                      </m:func>
                    </m:oMath>
                  </m:oMathPara>
                </a14:m>
                <a:endParaRPr lang="pt-BR" dirty="0"/>
              </a:p>
              <a:p>
                <a:r>
                  <a:rPr lang="pt-BR" dirty="0"/>
                  <a:t>Calcular o novo vetor de estado</a:t>
                </a: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sub>
                      </m:sSub>
                      <m:r>
                        <a:rPr lang="pt-BR" i="1">
                          <a:latin typeface="Cambria Math" panose="02040503050406030204" pitchFamily="18" charset="0"/>
                        </a:rPr>
                        <m:t>=</m:t>
                      </m:r>
                      <m:limLow>
                        <m:limLowPr>
                          <m:ctrlPr>
                            <a:rPr lang="pt-BR" i="1" smtClean="0">
                              <a:latin typeface="Cambria Math" panose="02040503050406030204" pitchFamily="18" charset="0"/>
                            </a:rPr>
                          </m:ctrlPr>
                        </m:limLowPr>
                        <m:e>
                          <m:groupChr>
                            <m:groupChrPr>
                              <m:chr m:val="⏟"/>
                              <m:ctrlPr>
                                <a:rPr lang="pt-BR" i="1" smtClean="0">
                                  <a:latin typeface="Cambria Math" panose="02040503050406030204" pitchFamily="18" charset="0"/>
                                </a:rPr>
                              </m:ctrlPr>
                            </m:groupChrPr>
                            <m:e>
                              <m:sSub>
                                <m:sSubPr>
                                  <m:ctrlPr>
                                    <a:rPr lang="pt-BR" i="1">
                                      <a:latin typeface="Cambria Math" panose="02040503050406030204" pitchFamily="18" charset="0"/>
                                    </a:rPr>
                                  </m:ctrlPr>
                                </m:sSubPr>
                                <m:e>
                                  <m:r>
                                    <a:rPr lang="pt-BR" b="1" i="1">
                                      <a:latin typeface="Cambria Math" panose="02040503050406030204" pitchFamily="18" charset="0"/>
                                    </a:rPr>
                                    <m:t>𝒇</m:t>
                                  </m:r>
                                </m:e>
                                <m:sub>
                                  <m:r>
                                    <a:rPr lang="pt-BR" i="1">
                                      <a:latin typeface="Cambria Math" panose="02040503050406030204" pitchFamily="18" charset="0"/>
                                    </a:rPr>
                                    <m:t>𝑡</m:t>
                                  </m:r>
                                </m:sub>
                              </m:sSub>
                              <m:sSub>
                                <m:sSubPr>
                                  <m:ctrlPr>
                                    <a:rPr lang="en-US"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r>
                                    <a:rPr lang="pt-BR" i="1">
                                      <a:latin typeface="Cambria Math" panose="02040503050406030204" pitchFamily="18" charset="0"/>
                                    </a:rPr>
                                    <m:t>−1</m:t>
                                  </m:r>
                                </m:sub>
                              </m:sSub>
                            </m:e>
                          </m:groupChr>
                        </m:e>
                        <m:lim>
                          <m:r>
                            <m:rPr>
                              <m:sty m:val="p"/>
                            </m:rPr>
                            <a:rPr lang="pt-BR" b="0" i="0" smtClean="0">
                              <a:latin typeface="Cambria Math" panose="02040503050406030204" pitchFamily="18" charset="0"/>
                            </a:rPr>
                            <m:t>esquece</m:t>
                          </m:r>
                          <m:r>
                            <a:rPr lang="pt-BR" b="0" i="0" smtClean="0">
                              <a:latin typeface="Cambria Math" panose="02040503050406030204" pitchFamily="18" charset="0"/>
                            </a:rPr>
                            <m:t> </m:t>
                          </m:r>
                          <m:r>
                            <m:rPr>
                              <m:sty m:val="p"/>
                            </m:rPr>
                            <a:rPr lang="pt-BR" b="0" i="0" smtClean="0">
                              <a:latin typeface="Cambria Math" panose="02040503050406030204" pitchFamily="18" charset="0"/>
                            </a:rPr>
                            <m:t>da</m:t>
                          </m:r>
                          <m:r>
                            <a:rPr lang="pt-BR" b="0" i="0" smtClean="0">
                              <a:latin typeface="Cambria Math" panose="02040503050406030204" pitchFamily="18" charset="0"/>
                            </a:rPr>
                            <m:t> </m:t>
                          </m:r>
                          <m:r>
                            <m:rPr>
                              <m:sty m:val="p"/>
                            </m:rPr>
                            <a:rPr lang="pt-BR" b="0" i="0" smtClean="0">
                              <a:latin typeface="Cambria Math" panose="02040503050406030204" pitchFamily="18" charset="0"/>
                            </a:rPr>
                            <m:t>informa</m:t>
                          </m:r>
                          <m:r>
                            <a:rPr lang="pt-BR" b="0" i="0" smtClean="0">
                              <a:latin typeface="Cambria Math" panose="02040503050406030204" pitchFamily="18" charset="0"/>
                            </a:rPr>
                            <m:t>çã</m:t>
                          </m:r>
                          <m:r>
                            <m:rPr>
                              <m:sty m:val="p"/>
                            </m:rPr>
                            <a:rPr lang="pt-BR" b="0" i="0" smtClean="0">
                              <a:latin typeface="Cambria Math" panose="02040503050406030204" pitchFamily="18" charset="0"/>
                            </a:rPr>
                            <m:t>o</m:t>
                          </m:r>
                          <m:r>
                            <a:rPr lang="pt-BR" b="0" i="0" smtClean="0">
                              <a:latin typeface="Cambria Math" panose="02040503050406030204" pitchFamily="18" charset="0"/>
                            </a:rPr>
                            <m:t> </m:t>
                          </m:r>
                          <m:r>
                            <m:rPr>
                              <m:sty m:val="p"/>
                            </m:rPr>
                            <a:rPr lang="pt-BR" b="0" i="0" smtClean="0">
                              <a:latin typeface="Cambria Math" panose="02040503050406030204" pitchFamily="18" charset="0"/>
                            </a:rPr>
                            <m:t>anterior</m:t>
                          </m:r>
                        </m:lim>
                      </m:limLow>
                      <m:r>
                        <a:rPr lang="pt-BR" i="1">
                          <a:latin typeface="Cambria Math" panose="02040503050406030204" pitchFamily="18" charset="0"/>
                        </a:rPr>
                        <m:t>+</m:t>
                      </m:r>
                      <m:limLow>
                        <m:limLowPr>
                          <m:ctrlPr>
                            <a:rPr lang="pt-BR" i="1">
                              <a:latin typeface="Cambria Math" panose="02040503050406030204" pitchFamily="18" charset="0"/>
                            </a:rPr>
                          </m:ctrlPr>
                        </m:limLowPr>
                        <m:e>
                          <m:groupChr>
                            <m:groupChrPr>
                              <m:chr m:val="⏟"/>
                              <m:ctrlPr>
                                <a:rPr lang="pt-BR" i="1">
                                  <a:latin typeface="Cambria Math" panose="02040503050406030204" pitchFamily="18" charset="0"/>
                                </a:rPr>
                              </m:ctrlPr>
                            </m:groupChrPr>
                            <m:e>
                              <m:sSub>
                                <m:sSubPr>
                                  <m:ctrlPr>
                                    <a:rPr lang="en-US" i="1">
                                      <a:latin typeface="Cambria Math" panose="02040503050406030204" pitchFamily="18" charset="0"/>
                                    </a:rPr>
                                  </m:ctrlPr>
                                </m:sSubPr>
                                <m:e>
                                  <m:sSub>
                                    <m:sSubPr>
                                      <m:ctrlPr>
                                        <a:rPr lang="pt-BR" i="1">
                                          <a:latin typeface="Cambria Math" panose="02040503050406030204" pitchFamily="18" charset="0"/>
                                        </a:rPr>
                                      </m:ctrlPr>
                                    </m:sSubPr>
                                    <m:e>
                                      <m:r>
                                        <a:rPr lang="pt-BR" b="1" i="1">
                                          <a:latin typeface="Cambria Math" panose="02040503050406030204" pitchFamily="18" charset="0"/>
                                        </a:rPr>
                                        <m:t>𝒊</m:t>
                                      </m:r>
                                    </m:e>
                                    <m:sub>
                                      <m:r>
                                        <a:rPr lang="pt-BR" i="1">
                                          <a:latin typeface="Cambria Math" panose="02040503050406030204" pitchFamily="18" charset="0"/>
                                        </a:rPr>
                                        <m:t>𝑡</m:t>
                                      </m:r>
                                    </m:sub>
                                  </m:sSub>
                                  <m:acc>
                                    <m:accPr>
                                      <m:chr m:val="̃"/>
                                      <m:ctrlPr>
                                        <a:rPr lang="en-US" b="1" i="1">
                                          <a:latin typeface="Cambria Math" panose="02040503050406030204" pitchFamily="18" charset="0"/>
                                        </a:rPr>
                                      </m:ctrlPr>
                                    </m:accPr>
                                    <m:e>
                                      <m:r>
                                        <a:rPr lang="pt-BR" b="1" i="1">
                                          <a:latin typeface="Cambria Math" panose="02040503050406030204" pitchFamily="18" charset="0"/>
                                        </a:rPr>
                                        <m:t>𝒄</m:t>
                                      </m:r>
                                    </m:e>
                                  </m:acc>
                                </m:e>
                                <m:sub>
                                  <m:r>
                                    <a:rPr lang="pt-BR" i="1">
                                      <a:latin typeface="Cambria Math" panose="02040503050406030204" pitchFamily="18" charset="0"/>
                                    </a:rPr>
                                    <m:t>𝑡</m:t>
                                  </m:r>
                                </m:sub>
                              </m:sSub>
                            </m:e>
                          </m:groupChr>
                        </m:e>
                        <m:lim>
                          <m:r>
                            <m:rPr>
                              <m:sty m:val="p"/>
                            </m:rPr>
                            <a:rPr lang="pt-BR" b="0" i="0" smtClean="0">
                              <a:latin typeface="Cambria Math" panose="02040503050406030204" pitchFamily="18" charset="0"/>
                            </a:rPr>
                            <m:t>entarda</m:t>
                          </m:r>
                          <m:r>
                            <a:rPr lang="pt-BR" b="0" i="0" smtClean="0">
                              <a:latin typeface="Cambria Math" panose="02040503050406030204" pitchFamily="18" charset="0"/>
                            </a:rPr>
                            <m:t> </m:t>
                          </m:r>
                          <m:r>
                            <m:rPr>
                              <m:sty m:val="p"/>
                            </m:rPr>
                            <a:rPr lang="pt-BR" b="0" i="0" smtClean="0">
                              <a:latin typeface="Cambria Math" panose="02040503050406030204" pitchFamily="18" charset="0"/>
                            </a:rPr>
                            <m:t>de</m:t>
                          </m:r>
                          <m:r>
                            <a:rPr lang="pt-BR" b="0" i="0" smtClean="0">
                              <a:latin typeface="Cambria Math" panose="02040503050406030204" pitchFamily="18" charset="0"/>
                            </a:rPr>
                            <m:t> </m:t>
                          </m:r>
                          <m:r>
                            <m:rPr>
                              <m:sty m:val="p"/>
                            </m:rPr>
                            <a:rPr lang="pt-BR" b="0" i="0" smtClean="0">
                              <a:latin typeface="Cambria Math" panose="02040503050406030204" pitchFamily="18" charset="0"/>
                            </a:rPr>
                            <m:t>nova</m:t>
                          </m:r>
                          <m:r>
                            <a:rPr lang="pt-BR">
                              <a:latin typeface="Cambria Math" panose="02040503050406030204" pitchFamily="18" charset="0"/>
                            </a:rPr>
                            <m:t> </m:t>
                          </m:r>
                          <m:r>
                            <m:rPr>
                              <m:sty m:val="p"/>
                            </m:rPr>
                            <a:rPr lang="pt-BR">
                              <a:latin typeface="Cambria Math" panose="02040503050406030204" pitchFamily="18" charset="0"/>
                            </a:rPr>
                            <m:t>informa</m:t>
                          </m:r>
                          <m:r>
                            <a:rPr lang="pt-BR">
                              <a:latin typeface="Cambria Math" panose="02040503050406030204" pitchFamily="18" charset="0"/>
                            </a:rPr>
                            <m:t>çã</m:t>
                          </m:r>
                          <m:r>
                            <m:rPr>
                              <m:sty m:val="p"/>
                            </m:rPr>
                            <a:rPr lang="pt-BR">
                              <a:latin typeface="Cambria Math" panose="02040503050406030204" pitchFamily="18" charset="0"/>
                            </a:rPr>
                            <m:t>o</m:t>
                          </m:r>
                        </m:lim>
                      </m:limLow>
                      <m:r>
                        <a:rPr lang="pt-BR" i="1">
                          <a:latin typeface="Cambria Math" panose="02040503050406030204" pitchFamily="18" charset="0"/>
                        </a:rPr>
                        <m:t>,</m:t>
                      </m:r>
                    </m:oMath>
                  </m:oMathPara>
                </a14:m>
                <a:endParaRPr lang="en-US" dirty="0"/>
              </a:p>
            </p:txBody>
          </p:sp>
        </mc:Choice>
        <mc:Fallback xmlns="">
          <p:sp>
            <p:nvSpPr>
              <p:cNvPr id="8" name="Content Placeholder 7">
                <a:extLst>
                  <a:ext uri="{FF2B5EF4-FFF2-40B4-BE49-F238E27FC236}">
                    <a16:creationId xmlns:a16="http://schemas.microsoft.com/office/drawing/2014/main" id="{7B42820C-05C1-F0F4-4D04-180E61344403}"/>
                  </a:ext>
                </a:extLst>
              </p:cNvPr>
              <p:cNvSpPr>
                <a:spLocks noGrp="1" noRot="1" noChangeAspect="1" noMove="1" noResize="1" noEditPoints="1" noAdjustHandles="1" noChangeArrowheads="1" noChangeShapeType="1" noTextEdit="1"/>
              </p:cNvSpPr>
              <p:nvPr>
                <p:ph idx="1"/>
              </p:nvPr>
            </p:nvSpPr>
            <p:spPr>
              <a:xfrm>
                <a:off x="838200" y="1825625"/>
                <a:ext cx="11353801" cy="5032376"/>
              </a:xfrm>
              <a:blipFill>
                <a:blip r:embed="rId3"/>
                <a:stretch>
                  <a:fillRect l="-967" t="-1937"/>
                </a:stretch>
              </a:blipFill>
            </p:spPr>
            <p:txBody>
              <a:bodyPr/>
              <a:lstStyle/>
              <a:p>
                <a:r>
                  <a:rPr lang="en-US">
                    <a:noFill/>
                  </a:rPr>
                  <a:t> </a:t>
                </a:r>
              </a:p>
            </p:txBody>
          </p:sp>
        </mc:Fallback>
      </mc:AlternateContent>
      <p:pic>
        <p:nvPicPr>
          <p:cNvPr id="11" name="Picture 10">
            <a:extLst>
              <a:ext uri="{FF2B5EF4-FFF2-40B4-BE49-F238E27FC236}">
                <a16:creationId xmlns="" xmlns:a16="http://schemas.microsoft.com/office/drawing/2014/main" id="{8A3055A6-AFBF-722F-46B1-12B03F916C6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48567" y="2222205"/>
            <a:ext cx="3443433" cy="2119608"/>
          </a:xfrm>
          <a:prstGeom prst="rect">
            <a:avLst/>
          </a:prstGeom>
        </p:spPr>
      </p:pic>
    </p:spTree>
    <p:extLst>
      <p:ext uri="{BB962C8B-B14F-4D97-AF65-F5344CB8AC3E}">
        <p14:creationId xmlns:p14="http://schemas.microsoft.com/office/powerpoint/2010/main" val="364621222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B1C7D1F2-6CA4-20EA-CC21-706A3BBFA6A1}"/>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9E3B3B1D-D2B0-1301-7FA6-4831F5728376}"/>
              </a:ext>
            </a:extLst>
          </p:cNvPr>
          <p:cNvSpPr>
            <a:spLocks noGrp="1"/>
          </p:cNvSpPr>
          <p:nvPr>
            <p:ph type="title"/>
          </p:nvPr>
        </p:nvSpPr>
        <p:spPr/>
        <p:txBody>
          <a:bodyPr/>
          <a:lstStyle/>
          <a:p>
            <a:r>
              <a:rPr lang="pt-BR" dirty="0"/>
              <a:t>Porta de saída</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0A65D47D-498E-037A-E3AD-6F97600C32A6}"/>
                  </a:ext>
                </a:extLst>
              </p:cNvPr>
              <p:cNvSpPr>
                <a:spLocks noGrp="1"/>
              </p:cNvSpPr>
              <p:nvPr>
                <p:ph idx="1"/>
              </p:nvPr>
            </p:nvSpPr>
            <p:spPr>
              <a:xfrm>
                <a:off x="5829300" y="1825624"/>
                <a:ext cx="6362700" cy="5032375"/>
              </a:xfrm>
            </p:spPr>
            <p:txBody>
              <a:bodyPr>
                <a:normAutofit/>
              </a:bodyPr>
              <a:lstStyle/>
              <a:p>
                <a:r>
                  <a:rPr lang="pt-BR" dirty="0"/>
                  <a:t>A saída é uma versão filtrada do estado da célula, </a:t>
                </a:r>
                <a14:m>
                  <m:oMath xmlns:m="http://schemas.openxmlformats.org/officeDocument/2006/math">
                    <m:sSub>
                      <m:sSubPr>
                        <m:ctrlPr>
                          <a:rPr lang="pt-BR" i="1">
                            <a:latin typeface="Cambria Math" panose="02040503050406030204" pitchFamily="18" charset="0"/>
                          </a:rPr>
                        </m:ctrlPr>
                      </m:sSubPr>
                      <m:e>
                        <m:r>
                          <a:rPr lang="pt-BR" b="1" i="1" smtClean="0">
                            <a:latin typeface="Cambria Math" panose="02040503050406030204" pitchFamily="18" charset="0"/>
                          </a:rPr>
                          <m:t>𝒄</m:t>
                        </m:r>
                      </m:e>
                      <m:sub>
                        <m:r>
                          <a:rPr lang="pt-BR" i="1">
                            <a:latin typeface="Cambria Math" panose="02040503050406030204" pitchFamily="18" charset="0"/>
                          </a:rPr>
                          <m:t>𝑡</m:t>
                        </m:r>
                      </m:sub>
                    </m:sSub>
                  </m:oMath>
                </a14:m>
                <a:r>
                  <a:rPr lang="pt-BR" dirty="0"/>
                  <a:t>.</a:t>
                </a:r>
              </a:p>
              <a:p>
                <a14:m>
                  <m:oMath xmlns:m="http://schemas.openxmlformats.org/officeDocument/2006/math">
                    <m:sSub>
                      <m:sSubPr>
                        <m:ctrlPr>
                          <a:rPr lang="pt-BR" i="1">
                            <a:latin typeface="Cambria Math" panose="02040503050406030204" pitchFamily="18" charset="0"/>
                          </a:rPr>
                        </m:ctrlPr>
                      </m:sSubPr>
                      <m:e>
                        <m:r>
                          <a:rPr lang="pt-BR" b="1" i="1" smtClean="0">
                            <a:latin typeface="Cambria Math" panose="02040503050406030204" pitchFamily="18" charset="0"/>
                          </a:rPr>
                          <m:t>𝒄</m:t>
                        </m:r>
                      </m:e>
                      <m:sub>
                        <m:r>
                          <a:rPr lang="pt-BR" i="1">
                            <a:latin typeface="Cambria Math" panose="02040503050406030204" pitchFamily="18" charset="0"/>
                          </a:rPr>
                          <m:t>𝑡</m:t>
                        </m:r>
                      </m:sub>
                    </m:sSub>
                  </m:oMath>
                </a14:m>
                <a:r>
                  <a:rPr lang="pt-BR" dirty="0"/>
                  <a:t> é passado através de uma </a:t>
                </a:r>
                <a:r>
                  <a:rPr lang="pt-BR" i="1" dirty="0" err="1"/>
                  <a:t>tanh</a:t>
                </a:r>
                <a:r>
                  <a:rPr lang="pt-BR" dirty="0"/>
                  <a:t>, que comprime seus valores entre -1 e 1.</a:t>
                </a:r>
              </a:p>
              <a:p>
                <a:r>
                  <a:rPr lang="pt-BR" dirty="0"/>
                  <a:t>Em seguida, a porta decide quais partes de </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sub>
                    </m:sSub>
                  </m:oMath>
                </a14:m>
                <a:r>
                  <a:rPr lang="pt-BR" dirty="0"/>
                  <a:t> serão passadas para a saída.</a:t>
                </a:r>
              </a:p>
              <a:p>
                <a:pPr marL="0" indent="0">
                  <a:buNone/>
                </a:pPr>
                <a14:m>
                  <m:oMathPara xmlns:m="http://schemas.openxmlformats.org/officeDocument/2006/math">
                    <m:oMathParaPr>
                      <m:jc m:val="centerGroup"/>
                    </m:oMathParaPr>
                    <m:oMath xmlns:m="http://schemas.openxmlformats.org/officeDocument/2006/math">
                      <m:sSub>
                        <m:sSubPr>
                          <m:ctrlPr>
                            <a:rPr lang="pt-BR" sz="2000" i="1">
                              <a:latin typeface="Cambria Math" panose="02040503050406030204" pitchFamily="18" charset="0"/>
                            </a:rPr>
                          </m:ctrlPr>
                        </m:sSubPr>
                        <m:e>
                          <m:r>
                            <a:rPr lang="pt-BR" sz="2000" b="1" i="1">
                              <a:latin typeface="Cambria Math" panose="02040503050406030204" pitchFamily="18" charset="0"/>
                            </a:rPr>
                            <m:t>𝒐</m:t>
                          </m:r>
                        </m:e>
                        <m:sub>
                          <m:r>
                            <a:rPr lang="pt-BR" sz="2000" i="1">
                              <a:latin typeface="Cambria Math" panose="02040503050406030204" pitchFamily="18" charset="0"/>
                            </a:rPr>
                            <m:t>𝑡</m:t>
                          </m:r>
                        </m:sub>
                      </m:sSub>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eqArr>
                            <m:eqArrPr>
                              <m:ctrlPr>
                                <a:rPr lang="pt-BR" sz="2000" i="1">
                                  <a:latin typeface="Cambria Math" panose="02040503050406030204" pitchFamily="18" charset="0"/>
                                </a:rPr>
                              </m:ctrlPr>
                            </m:eqArrPr>
                            <m:e>
                              <m:m>
                                <m:mPr>
                                  <m:mcs>
                                    <m:mc>
                                      <m:mcPr>
                                        <m:count m:val="2"/>
                                        <m:mcJc m:val="center"/>
                                      </m:mcPr>
                                    </m:mc>
                                  </m:mcs>
                                  <m:ctrlPr>
                                    <a:rPr lang="pt-BR" sz="2000" i="1">
                                      <a:latin typeface="Cambria Math" panose="02040503050406030204" pitchFamily="18" charset="0"/>
                                    </a:rPr>
                                  </m:ctrlPr>
                                </m:mPr>
                                <m:mr>
                                  <m:e>
                                    <m:r>
                                      <m:rPr>
                                        <m:brk m:alnAt="7"/>
                                      </m:rPr>
                                      <a:rPr lang="pt-BR" sz="2000" i="1">
                                        <a:latin typeface="Cambria Math" panose="02040503050406030204" pitchFamily="18" charset="0"/>
                                      </a:rPr>
                                      <m:t>0</m:t>
                                    </m:r>
                                    <m:r>
                                      <a:rPr lang="pt-BR" sz="2000" i="1">
                                        <a:latin typeface="Cambria Math" panose="02040503050406030204" pitchFamily="18" charset="0"/>
                                      </a:rPr>
                                      <m:t>,</m:t>
                                    </m:r>
                                  </m:e>
                                  <m:e>
                                    <m:r>
                                      <a:rPr lang="pt-BR" sz="2000">
                                        <a:latin typeface="Cambria Math" panose="02040503050406030204" pitchFamily="18" charset="0"/>
                                      </a:rPr>
                                      <m:t>                                  </m:t>
                                    </m:r>
                                    <m:r>
                                      <m:rPr>
                                        <m:sty m:val="p"/>
                                      </m:rPr>
                                      <a:rPr lang="pt-BR" sz="2000">
                                        <a:latin typeface="Cambria Math" panose="02040503050406030204" pitchFamily="18" charset="0"/>
                                      </a:rPr>
                                      <m:t>sem</m:t>
                                    </m:r>
                                    <m:r>
                                      <a:rPr lang="pt-BR" sz="2000">
                                        <a:latin typeface="Cambria Math" panose="02040503050406030204" pitchFamily="18" charset="0"/>
                                      </a:rPr>
                                      <m:t> </m:t>
                                    </m:r>
                                    <m:r>
                                      <m:rPr>
                                        <m:sty m:val="p"/>
                                      </m:rPr>
                                      <a:rPr lang="pt-BR" sz="2000">
                                        <a:latin typeface="Cambria Math" panose="02040503050406030204" pitchFamily="18" charset="0"/>
                                      </a:rPr>
                                      <m:t>sa</m:t>
                                    </m:r>
                                    <m:r>
                                      <a:rPr lang="pt-BR" sz="2000">
                                        <a:latin typeface="Cambria Math" panose="02040503050406030204" pitchFamily="18" charset="0"/>
                                      </a:rPr>
                                      <m:t>í</m:t>
                                    </m:r>
                                    <m:r>
                                      <m:rPr>
                                        <m:sty m:val="p"/>
                                      </m:rPr>
                                      <a:rPr lang="pt-BR" sz="2000">
                                        <a:latin typeface="Cambria Math" panose="02040503050406030204" pitchFamily="18" charset="0"/>
                                      </a:rPr>
                                      <m:t>da</m:t>
                                    </m:r>
                                  </m:e>
                                </m:mr>
                              </m:m>
                            </m:e>
                            <m:e>
                              <m:m>
                                <m:mPr>
                                  <m:mcs>
                                    <m:mc>
                                      <m:mcPr>
                                        <m:count m:val="2"/>
                                        <m:mcJc m:val="center"/>
                                      </m:mcPr>
                                    </m:mc>
                                  </m:mcs>
                                  <m:ctrlPr>
                                    <a:rPr lang="pt-BR" sz="2000" i="1">
                                      <a:latin typeface="Cambria Math" panose="02040503050406030204" pitchFamily="18" charset="0"/>
                                    </a:rPr>
                                  </m:ctrlPr>
                                </m:mPr>
                                <m:mr>
                                  <m:e>
                                    <m:r>
                                      <m:rPr>
                                        <m:brk m:alnAt="7"/>
                                      </m:rPr>
                                      <a:rPr lang="pt-BR" sz="2000" i="1">
                                        <a:latin typeface="Cambria Math" panose="02040503050406030204" pitchFamily="18" charset="0"/>
                                      </a:rPr>
                                      <m:t>1</m:t>
                                    </m:r>
                                    <m:r>
                                      <a:rPr lang="pt-BR" sz="2000" i="1">
                                        <a:latin typeface="Cambria Math" panose="02040503050406030204" pitchFamily="18" charset="0"/>
                                      </a:rPr>
                                      <m:t>,</m:t>
                                    </m:r>
                                  </m:e>
                                  <m:e>
                                    <m:r>
                                      <a:rPr lang="pt-BR" sz="2000" i="1">
                                        <a:latin typeface="Cambria Math" panose="02040503050406030204" pitchFamily="18" charset="0"/>
                                      </a:rPr>
                                      <m:t>          </m:t>
                                    </m:r>
                                    <m:r>
                                      <m:rPr>
                                        <m:sty m:val="p"/>
                                      </m:rPr>
                                      <a:rPr lang="pt-BR" sz="2000">
                                        <a:latin typeface="Cambria Math" panose="02040503050406030204" pitchFamily="18" charset="0"/>
                                      </a:rPr>
                                      <m:t>passa</m:t>
                                    </m:r>
                                    <m:r>
                                      <a:rPr lang="pt-BR" sz="2000">
                                        <a:latin typeface="Cambria Math" panose="02040503050406030204" pitchFamily="18" charset="0"/>
                                      </a:rPr>
                                      <m:t> </m:t>
                                    </m:r>
                                    <m:r>
                                      <a:rPr lang="pt-BR" sz="2000">
                                        <a:latin typeface="Cambria Math" panose="02040503050406030204" pitchFamily="18" charset="0"/>
                                      </a:rPr>
                                      <m:t>100</m:t>
                                    </m:r>
                                    <m:r>
                                      <a:rPr lang="pt-BR" sz="2000">
                                        <a:latin typeface="Cambria Math" panose="02040503050406030204" pitchFamily="18" charset="0"/>
                                      </a:rPr>
                                      <m:t>% </m:t>
                                    </m:r>
                                    <m:r>
                                      <m:rPr>
                                        <m:sty m:val="p"/>
                                      </m:rPr>
                                      <a:rPr lang="pt-BR" sz="2000">
                                        <a:latin typeface="Cambria Math" panose="02040503050406030204" pitchFamily="18" charset="0"/>
                                      </a:rPr>
                                      <m:t>do</m:t>
                                    </m:r>
                                    <m:r>
                                      <a:rPr lang="pt-BR" sz="2000">
                                        <a:latin typeface="Cambria Math" panose="02040503050406030204" pitchFamily="18" charset="0"/>
                                      </a:rPr>
                                      <m:t> </m:t>
                                    </m:r>
                                    <m:r>
                                      <m:rPr>
                                        <m:sty m:val="p"/>
                                      </m:rPr>
                                      <a:rPr lang="pt-BR" sz="2000">
                                        <a:latin typeface="Cambria Math" panose="02040503050406030204" pitchFamily="18" charset="0"/>
                                      </a:rPr>
                                      <m:t>estado</m:t>
                                    </m:r>
                                  </m:e>
                                </m:mr>
                              </m:m>
                            </m:e>
                          </m:eqArr>
                        </m:e>
                      </m:d>
                    </m:oMath>
                  </m:oMathPara>
                </a14:m>
                <a:endParaRPr lang="pt-BR" sz="2000" dirty="0"/>
              </a:p>
              <a:p>
                <a:r>
                  <a:rPr lang="pt-BR" dirty="0"/>
                  <a:t>No exemplo de PLN:</a:t>
                </a:r>
              </a:p>
              <a:p>
                <a:pPr lvl="1">
                  <a:buFont typeface="Wingdings" panose="05000000000000000000" pitchFamily="2" charset="2"/>
                  <a:buChar char="§"/>
                </a:pPr>
                <a:r>
                  <a:rPr lang="pt-BR" dirty="0"/>
                  <a:t>Pode indicar se o sujeito é singular ou plural, para que se um verbo vier em seguida, ele seja conjugado corretamente.</a:t>
                </a:r>
              </a:p>
            </p:txBody>
          </p:sp>
        </mc:Choice>
        <mc:Fallback xmlns="">
          <p:sp>
            <p:nvSpPr>
              <p:cNvPr id="3" name="Content Placeholder 2">
                <a:extLst>
                  <a:ext uri="{FF2B5EF4-FFF2-40B4-BE49-F238E27FC236}">
                    <a16:creationId xmlns:a16="http://schemas.microsoft.com/office/drawing/2014/main" id="{0A65D47D-498E-037A-E3AD-6F97600C32A6}"/>
                  </a:ext>
                </a:extLst>
              </p:cNvPr>
              <p:cNvSpPr>
                <a:spLocks noGrp="1" noRot="1" noChangeAspect="1" noMove="1" noResize="1" noEditPoints="1" noAdjustHandles="1" noChangeArrowheads="1" noChangeShapeType="1" noTextEdit="1"/>
              </p:cNvSpPr>
              <p:nvPr>
                <p:ph idx="1"/>
              </p:nvPr>
            </p:nvSpPr>
            <p:spPr>
              <a:xfrm>
                <a:off x="5829300" y="1825624"/>
                <a:ext cx="6362700" cy="5032375"/>
              </a:xfrm>
              <a:blipFill>
                <a:blip r:embed="rId3"/>
                <a:stretch>
                  <a:fillRect l="-1724" t="-1937"/>
                </a:stretch>
              </a:blipFill>
            </p:spPr>
            <p:txBody>
              <a:bodyPr/>
              <a:lstStyle/>
              <a:p>
                <a:r>
                  <a:rPr lang="en-US">
                    <a:noFill/>
                  </a:rPr>
                  <a:t> </a:t>
                </a:r>
              </a:p>
            </p:txBody>
          </p:sp>
        </mc:Fallback>
      </mc:AlternateContent>
      <p:pic>
        <p:nvPicPr>
          <p:cNvPr id="5" name="Picture 4">
            <a:extLst>
              <a:ext uri="{FF2B5EF4-FFF2-40B4-BE49-F238E27FC236}">
                <a16:creationId xmlns="" xmlns:a16="http://schemas.microsoft.com/office/drawing/2014/main" id="{AA5BC753-8840-8C1C-7822-2E7EFD9C53F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61611" y="2422339"/>
            <a:ext cx="5131773" cy="3161638"/>
          </a:xfrm>
          <a:prstGeom prst="rect">
            <a:avLst/>
          </a:prstGeom>
        </p:spPr>
      </p:pic>
    </p:spTree>
    <p:extLst>
      <p:ext uri="{BB962C8B-B14F-4D97-AF65-F5344CB8AC3E}">
        <p14:creationId xmlns:p14="http://schemas.microsoft.com/office/powerpoint/2010/main" val="180338841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ACA9160B-0A9F-1A85-6B15-1990ABAB5092}"/>
              </a:ext>
            </a:extLst>
          </p:cNvPr>
          <p:cNvSpPr>
            <a:spLocks noGrp="1"/>
          </p:cNvSpPr>
          <p:nvPr>
            <p:ph type="title"/>
          </p:nvPr>
        </p:nvSpPr>
        <p:spPr/>
        <p:txBody>
          <a:bodyPr/>
          <a:lstStyle/>
          <a:p>
            <a:r>
              <a:rPr lang="pt-BR" i="1" dirty="0" err="1"/>
              <a:t>Long</a:t>
            </a:r>
            <a:r>
              <a:rPr lang="pt-BR" i="1" dirty="0"/>
              <a:t>-short </a:t>
            </a:r>
            <a:r>
              <a:rPr lang="pt-BR" i="1" dirty="0" err="1"/>
              <a:t>term</a:t>
            </a:r>
            <a:r>
              <a:rPr lang="pt-BR" i="1" dirty="0"/>
              <a:t> </a:t>
            </a:r>
            <a:r>
              <a:rPr lang="pt-BR" i="1" dirty="0" err="1"/>
              <a:t>memory</a:t>
            </a:r>
            <a:r>
              <a:rPr lang="pt-BR" i="1" dirty="0"/>
              <a:t> </a:t>
            </a:r>
            <a:r>
              <a:rPr lang="pt-BR" dirty="0"/>
              <a:t>(LSTM)</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65A0CB09-932B-8FCE-FD61-796D1203C803}"/>
                  </a:ext>
                </a:extLst>
              </p:cNvPr>
              <p:cNvSpPr>
                <a:spLocks noGrp="1"/>
              </p:cNvSpPr>
              <p:nvPr>
                <p:ph idx="1"/>
              </p:nvPr>
            </p:nvSpPr>
            <p:spPr>
              <a:xfrm>
                <a:off x="838200" y="1825624"/>
                <a:ext cx="11142518" cy="5032375"/>
              </a:xfrm>
            </p:spPr>
            <p:txBody>
              <a:bodyPr/>
              <a:lstStyle/>
              <a:p>
                <a:r>
                  <a:rPr lang="pt-BR" dirty="0"/>
                  <a:t>Resumindo, uma célula LSTM pode:</a:t>
                </a:r>
              </a:p>
              <a:p>
                <a:pPr lvl="1">
                  <a:buFont typeface="Wingdings" panose="05000000000000000000" pitchFamily="2" charset="2"/>
                  <a:buChar char="§"/>
                </a:pPr>
                <a:r>
                  <a:rPr lang="pt-BR" dirty="0"/>
                  <a:t>aprender a reconhecer uma entrada importante (essa é a função da porta de entrada), </a:t>
                </a:r>
              </a:p>
              <a:p>
                <a:pPr lvl="1">
                  <a:buFont typeface="Wingdings" panose="05000000000000000000" pitchFamily="2" charset="2"/>
                  <a:buChar char="§"/>
                </a:pPr>
                <a:r>
                  <a:rPr lang="pt-BR" dirty="0"/>
                  <a:t>armazená-la no estado de longo prazo,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𝑡</m:t>
                        </m:r>
                      </m:sub>
                    </m:sSub>
                  </m:oMath>
                </a14:m>
                <a:r>
                  <a:rPr lang="pt-BR" dirty="0"/>
                  <a:t>, </a:t>
                </a:r>
              </a:p>
              <a:p>
                <a:pPr lvl="1">
                  <a:buFont typeface="Wingdings" panose="05000000000000000000" pitchFamily="2" charset="2"/>
                  <a:buChar char="§"/>
                </a:pPr>
                <a:r>
                  <a:rPr lang="pt-BR" dirty="0"/>
                  <a:t>preservá-la pelo tempo que for necessário (essa é a função da porta do esquecimento) </a:t>
                </a:r>
              </a:p>
              <a:p>
                <a:pPr lvl="1">
                  <a:buFont typeface="Wingdings" panose="05000000000000000000" pitchFamily="2" charset="2"/>
                  <a:buChar char="§"/>
                </a:pPr>
                <a:r>
                  <a:rPr lang="pt-BR" dirty="0"/>
                  <a:t>e extraí-la sempre que necessário (essa é a função da porta de saída).</a:t>
                </a:r>
                <a:endParaRPr lang="en-US" dirty="0"/>
              </a:p>
            </p:txBody>
          </p:sp>
        </mc:Choice>
        <mc:Fallback xmlns="">
          <p:sp>
            <p:nvSpPr>
              <p:cNvPr id="3" name="Content Placeholder 2">
                <a:extLst>
                  <a:ext uri="{FF2B5EF4-FFF2-40B4-BE49-F238E27FC236}">
                    <a16:creationId xmlns:a16="http://schemas.microsoft.com/office/drawing/2014/main" id="{65A0CB09-932B-8FCE-FD61-796D1203C803}"/>
                  </a:ext>
                </a:extLst>
              </p:cNvPr>
              <p:cNvSpPr>
                <a:spLocks noGrp="1" noRot="1" noChangeAspect="1" noMove="1" noResize="1" noEditPoints="1" noAdjustHandles="1" noChangeArrowheads="1" noChangeShapeType="1" noTextEdit="1"/>
              </p:cNvSpPr>
              <p:nvPr>
                <p:ph idx="1"/>
              </p:nvPr>
            </p:nvSpPr>
            <p:spPr>
              <a:xfrm>
                <a:off x="838200" y="1825624"/>
                <a:ext cx="11142518" cy="5032375"/>
              </a:xfrm>
              <a:blipFill>
                <a:blip r:embed="rId2"/>
                <a:stretch>
                  <a:fillRect l="-985" t="-1937"/>
                </a:stretch>
              </a:blipFill>
            </p:spPr>
            <p:txBody>
              <a:bodyPr/>
              <a:lstStyle/>
              <a:p>
                <a:r>
                  <a:rPr lang="en-US">
                    <a:noFill/>
                  </a:rPr>
                  <a:t> </a:t>
                </a:r>
              </a:p>
            </p:txBody>
          </p:sp>
        </mc:Fallback>
      </mc:AlternateContent>
    </p:spTree>
    <p:extLst>
      <p:ext uri="{BB962C8B-B14F-4D97-AF65-F5344CB8AC3E}">
        <p14:creationId xmlns:p14="http://schemas.microsoft.com/office/powerpoint/2010/main" val="267387287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FF2A2A55-F68E-8442-C0DD-A2410B7ACB7A}"/>
              </a:ext>
            </a:extLst>
          </p:cNvPr>
          <p:cNvSpPr>
            <a:spLocks noGrp="1"/>
          </p:cNvSpPr>
          <p:nvPr>
            <p:ph type="title"/>
          </p:nvPr>
        </p:nvSpPr>
        <p:spPr/>
        <p:txBody>
          <a:bodyPr/>
          <a:lstStyle/>
          <a:p>
            <a:r>
              <a:rPr lang="en-US" dirty="0" err="1"/>
              <a:t>Principais</a:t>
            </a:r>
            <a:r>
              <a:rPr lang="en-US" dirty="0"/>
              <a:t> </a:t>
            </a:r>
            <a:r>
              <a:rPr lang="en-US" dirty="0" err="1"/>
              <a:t>desvantagens</a:t>
            </a:r>
            <a:r>
              <a:rPr lang="en-US" dirty="0"/>
              <a:t> de LSTMs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4BBE798D-84FA-D85F-AF66-CCB3774595A2}"/>
                  </a:ext>
                </a:extLst>
              </p:cNvPr>
              <p:cNvSpPr>
                <a:spLocks noGrp="1"/>
              </p:cNvSpPr>
              <p:nvPr>
                <p:ph idx="1"/>
              </p:nvPr>
            </p:nvSpPr>
            <p:spPr>
              <a:xfrm>
                <a:off x="838199" y="1825624"/>
                <a:ext cx="11353801" cy="5032375"/>
              </a:xfrm>
            </p:spPr>
            <p:txBody>
              <a:bodyPr>
                <a:normAutofit/>
              </a:bodyPr>
              <a:lstStyle/>
              <a:p>
                <a:r>
                  <a:rPr lang="pt-BR" dirty="0"/>
                  <a:t>As saídas das portas nunca são realmente 0 ou 1. </a:t>
                </a:r>
              </a:p>
              <a:p>
                <a:pPr lvl="1">
                  <a:buFont typeface="Wingdings" panose="05000000000000000000" pitchFamily="2" charset="2"/>
                  <a:buChar char="§"/>
                </a:pPr>
                <a:r>
                  <a:rPr lang="pt-BR" dirty="0"/>
                  <a:t>Assim, o conteúdo da célula inevitavelmente se corrompe após um longo período.</a:t>
                </a:r>
              </a:p>
              <a:p>
                <a:pPr lvl="1">
                  <a:buFont typeface="Wingdings" panose="05000000000000000000" pitchFamily="2" charset="2"/>
                  <a:buChar char="§"/>
                </a:pPr>
                <a:r>
                  <a:rPr lang="pt-BR" dirty="0"/>
                  <a:t>Portanto, ainda apresenta dificuldades com dependências temporais muito longas.</a:t>
                </a:r>
              </a:p>
              <a:p>
                <a:r>
                  <a:rPr lang="en-US" dirty="0"/>
                  <a:t>Alta </a:t>
                </a:r>
                <a:r>
                  <a:rPr lang="en-US" dirty="0" err="1"/>
                  <a:t>complexidade</a:t>
                </a:r>
                <a:r>
                  <a:rPr lang="en-US" dirty="0"/>
                  <a:t> </a:t>
                </a:r>
                <a:r>
                  <a:rPr lang="en-US" dirty="0" err="1"/>
                  <a:t>computacional</a:t>
                </a:r>
                <a:r>
                  <a:rPr lang="en-US" dirty="0"/>
                  <a:t>.</a:t>
                </a:r>
              </a:p>
              <a:p>
                <a:pPr lvl="1">
                  <a:buFont typeface="Wingdings" panose="05000000000000000000" pitchFamily="2" charset="2"/>
                  <a:buChar char="§"/>
                </a:pPr>
                <a:r>
                  <a:rPr lang="pt-BR" dirty="0"/>
                  <a:t>Muito mais parâmetros que RNN simples.</a:t>
                </a:r>
              </a:p>
              <a:p>
                <a:r>
                  <a:rPr lang="en-US" dirty="0" err="1"/>
                  <a:t>Dificuldade</a:t>
                </a:r>
                <a:r>
                  <a:rPr lang="en-US" dirty="0"/>
                  <a:t> de </a:t>
                </a:r>
                <a:r>
                  <a:rPr lang="en-US" dirty="0" err="1"/>
                  <a:t>paralelização</a:t>
                </a:r>
                <a:endParaRPr lang="en-US" dirty="0"/>
              </a:p>
              <a:p>
                <a:pPr lvl="1">
                  <a:buFont typeface="Wingdings" panose="05000000000000000000" pitchFamily="2" charset="2"/>
                  <a:buChar char="§"/>
                </a:pPr>
                <a:r>
                  <a:rPr lang="pt-BR" dirty="0"/>
                  <a:t>Processamento sequencial: depende de </a:t>
                </a:r>
                <a14:m>
                  <m:oMath xmlns:m="http://schemas.openxmlformats.org/officeDocument/2006/math">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oMath>
                </a14:m>
                <a:r>
                  <a:rPr lang="pt-BR" dirty="0"/>
                  <a:t> para calcular </a:t>
                </a:r>
                <a14:m>
                  <m:oMath xmlns:m="http://schemas.openxmlformats.org/officeDocument/2006/math">
                    <m:r>
                      <a:rPr lang="pt-BR" b="0" i="1" smtClean="0">
                        <a:latin typeface="Cambria Math" panose="02040503050406030204" pitchFamily="18" charset="0"/>
                      </a:rPr>
                      <m:t>𝑡</m:t>
                    </m:r>
                  </m:oMath>
                </a14:m>
                <a:endParaRPr lang="pt-BR" dirty="0"/>
              </a:p>
              <a:p>
                <a:pPr lvl="1">
                  <a:buFont typeface="Wingdings" panose="05000000000000000000" pitchFamily="2" charset="2"/>
                  <a:buChar char="§"/>
                </a:pPr>
                <a:r>
                  <a:rPr lang="pt-BR" dirty="0"/>
                  <a:t>Difícil explorar paralelismo em GPU</a:t>
                </a:r>
              </a:p>
              <a:p>
                <a:r>
                  <a:rPr lang="pt-BR" dirty="0"/>
                  <a:t>Hoje é superada em muitos cenários</a:t>
                </a:r>
              </a:p>
              <a:p>
                <a:pPr lvl="1">
                  <a:buFont typeface="Wingdings" panose="05000000000000000000" pitchFamily="2" charset="2"/>
                  <a:buChar char="§"/>
                </a:pPr>
                <a:r>
                  <a:rPr lang="en-US" dirty="0" err="1"/>
                  <a:t>Modelos</a:t>
                </a:r>
                <a:r>
                  <a:rPr lang="en-US" dirty="0"/>
                  <a:t> </a:t>
                </a:r>
                <a:r>
                  <a:rPr lang="en-US" dirty="0" err="1"/>
                  <a:t>mais</a:t>
                </a:r>
                <a:r>
                  <a:rPr lang="en-US" dirty="0"/>
                  <a:t> </a:t>
                </a:r>
                <a:r>
                  <a:rPr lang="en-US" dirty="0" err="1"/>
                  <a:t>modernos</a:t>
                </a:r>
                <a:r>
                  <a:rPr lang="en-US" dirty="0"/>
                  <a:t>: Transformers com attention</a:t>
                </a:r>
              </a:p>
              <a:p>
                <a:pPr lvl="1">
                  <a:buFont typeface="Wingdings" panose="05000000000000000000" pitchFamily="2" charset="2"/>
                  <a:buChar char="§"/>
                </a:pPr>
                <a:r>
                  <a:rPr lang="en-US" dirty="0"/>
                  <a:t>Eles </a:t>
                </a:r>
                <a:r>
                  <a:rPr lang="en-US" dirty="0" err="1"/>
                  <a:t>apresentam</a:t>
                </a:r>
                <a:r>
                  <a:rPr lang="en-US" dirty="0"/>
                  <a:t> m</a:t>
                </a:r>
                <a:r>
                  <a:rPr lang="pt-BR" dirty="0" err="1"/>
                  <a:t>elhor</a:t>
                </a:r>
                <a:r>
                  <a:rPr lang="pt-BR" dirty="0"/>
                  <a:t>: paralelização e capturam de dependências globais</a:t>
                </a:r>
              </a:p>
              <a:p>
                <a:pPr lvl="1">
                  <a:buFont typeface="Wingdings" panose="05000000000000000000" pitchFamily="2" charset="2"/>
                  <a:buChar char="§"/>
                </a:pPr>
                <a:endParaRPr lang="en-US" dirty="0"/>
              </a:p>
            </p:txBody>
          </p:sp>
        </mc:Choice>
        <mc:Fallback xmlns="">
          <p:sp>
            <p:nvSpPr>
              <p:cNvPr id="3" name="Content Placeholder 2">
                <a:extLst>
                  <a:ext uri="{FF2B5EF4-FFF2-40B4-BE49-F238E27FC236}">
                    <a16:creationId xmlns:a16="http://schemas.microsoft.com/office/drawing/2014/main" id="{4BBE798D-84FA-D85F-AF66-CCB3774595A2}"/>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3"/>
                <a:stretch>
                  <a:fillRect l="-913" t="-1937"/>
                </a:stretch>
              </a:blipFill>
            </p:spPr>
            <p:txBody>
              <a:bodyPr/>
              <a:lstStyle/>
              <a:p>
                <a:r>
                  <a:rPr lang="en-US">
                    <a:noFill/>
                  </a:rPr>
                  <a:t> </a:t>
                </a:r>
              </a:p>
            </p:txBody>
          </p:sp>
        </mc:Fallback>
      </mc:AlternateContent>
    </p:spTree>
    <p:extLst>
      <p:ext uri="{BB962C8B-B14F-4D97-AF65-F5344CB8AC3E}">
        <p14:creationId xmlns:p14="http://schemas.microsoft.com/office/powerpoint/2010/main" val="90999936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40CC6145-8996-89DD-159B-03716E375EFF}"/>
              </a:ext>
            </a:extLst>
          </p:cNvPr>
          <p:cNvSpPr>
            <a:spLocks noGrp="1"/>
          </p:cNvSpPr>
          <p:nvPr>
            <p:ph type="title"/>
          </p:nvPr>
        </p:nvSpPr>
        <p:spPr/>
        <p:txBody>
          <a:bodyPr/>
          <a:lstStyle/>
          <a:p>
            <a:r>
              <a:rPr lang="pt-BR" dirty="0" err="1"/>
              <a:t>GRUs</a:t>
            </a:r>
            <a:endParaRPr lang="en-US" dirty="0"/>
          </a:p>
        </p:txBody>
      </p:sp>
      <p:sp>
        <p:nvSpPr>
          <p:cNvPr id="3" name="Espaço Reservado para Conteúdo 2">
            <a:extLst>
              <a:ext uri="{FF2B5EF4-FFF2-40B4-BE49-F238E27FC236}">
                <a16:creationId xmlns="" xmlns:a16="http://schemas.microsoft.com/office/drawing/2014/main" id="{E7B9C5FB-79E3-59EE-FDA7-C5472E668477}"/>
              </a:ext>
            </a:extLst>
          </p:cNvPr>
          <p:cNvSpPr>
            <a:spLocks noGrp="1"/>
          </p:cNvSpPr>
          <p:nvPr>
            <p:ph idx="1"/>
          </p:nvPr>
        </p:nvSpPr>
        <p:spPr/>
        <p:txBody>
          <a:bodyPr>
            <a:normAutofit fontScale="92500" lnSpcReduction="10000"/>
          </a:bodyPr>
          <a:lstStyle/>
          <a:p>
            <a:pPr fontAlgn="base"/>
            <a:r>
              <a:rPr lang="en-US" sz="4400" b="1" dirty="0">
                <a:solidFill>
                  <a:srgbClr val="FF0000"/>
                </a:solidFill>
              </a:rPr>
              <a:t>4. Gated Recurrent Units (GRUs)</a:t>
            </a:r>
          </a:p>
          <a:p>
            <a:pPr fontAlgn="base"/>
            <a:r>
              <a:rPr lang="en-US" sz="4400" u="sng" dirty="0">
                <a:solidFill>
                  <a:srgbClr val="FF0000"/>
                </a:solidFill>
                <a:hlinkClick r:id="rId2">
                  <a:extLst>
                    <a:ext uri="{A12FA001-AC4F-418D-AE19-62706E023703}">
                      <ahyp:hlinkClr xmlns="" xmlns:ahyp="http://schemas.microsoft.com/office/drawing/2018/hyperlinkcolor" val="tx"/>
                    </a:ext>
                  </a:extLst>
                </a:hlinkClick>
              </a:rPr>
              <a:t>Gated Recurrent Units (GRUs) </a:t>
            </a:r>
            <a:r>
              <a:rPr lang="en-US" sz="4400" dirty="0">
                <a:solidFill>
                  <a:srgbClr val="FF0000"/>
                </a:solidFill>
              </a:rPr>
              <a:t>simplify LSTMs by combining the input and forget gates into a single update gate and streamlining the output mechanism. This design is computationally efficient, often performing similarly to LSTMs and is useful in tasks where simplicity and faster training are beneficial.</a:t>
            </a:r>
          </a:p>
          <a:p>
            <a:endParaRPr lang="en-US" sz="4400" dirty="0">
              <a:solidFill>
                <a:srgbClr val="FF0000"/>
              </a:solidFill>
            </a:endParaRPr>
          </a:p>
        </p:txBody>
      </p:sp>
    </p:spTree>
    <p:extLst>
      <p:ext uri="{BB962C8B-B14F-4D97-AF65-F5344CB8AC3E}">
        <p14:creationId xmlns:p14="http://schemas.microsoft.com/office/powerpoint/2010/main" val="358858253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45D02D76-2EBA-1393-BE09-7CDA497C6318}"/>
              </a:ext>
            </a:extLst>
          </p:cNvPr>
          <p:cNvSpPr>
            <a:spLocks noGrp="1"/>
          </p:cNvSpPr>
          <p:nvPr>
            <p:ph type="title"/>
          </p:nvPr>
        </p:nvSpPr>
        <p:spPr/>
        <p:txBody>
          <a:bodyPr/>
          <a:lstStyle/>
          <a:p>
            <a:r>
              <a:rPr lang="pt-BR" i="1" dirty="0" err="1"/>
              <a:t>Gated</a:t>
            </a:r>
            <a:r>
              <a:rPr lang="pt-BR" i="1" dirty="0"/>
              <a:t> </a:t>
            </a:r>
            <a:r>
              <a:rPr lang="pt-BR" i="1" dirty="0" err="1"/>
              <a:t>recurrent</a:t>
            </a:r>
            <a:r>
              <a:rPr lang="pt-BR" i="1" dirty="0"/>
              <a:t> </a:t>
            </a:r>
            <a:r>
              <a:rPr lang="pt-BR" i="1" dirty="0" err="1"/>
              <a:t>unit</a:t>
            </a:r>
            <a:r>
              <a:rPr lang="pt-BR" dirty="0"/>
              <a:t> (GRU)</a:t>
            </a:r>
            <a:endParaRPr lang="en-US" dirty="0"/>
          </a:p>
        </p:txBody>
      </p:sp>
      <p:sp>
        <p:nvSpPr>
          <p:cNvPr id="3" name="Content Placeholder 2">
            <a:extLst>
              <a:ext uri="{FF2B5EF4-FFF2-40B4-BE49-F238E27FC236}">
                <a16:creationId xmlns="" xmlns:a16="http://schemas.microsoft.com/office/drawing/2014/main" id="{7EBE64A2-9011-342C-7697-75B6C4877646}"/>
              </a:ext>
            </a:extLst>
          </p:cNvPr>
          <p:cNvSpPr>
            <a:spLocks noGrp="1"/>
          </p:cNvSpPr>
          <p:nvPr>
            <p:ph idx="1"/>
          </p:nvPr>
        </p:nvSpPr>
        <p:spPr>
          <a:xfrm>
            <a:off x="5448692" y="1825624"/>
            <a:ext cx="6743307" cy="5032375"/>
          </a:xfrm>
        </p:spPr>
        <p:txBody>
          <a:bodyPr>
            <a:normAutofit lnSpcReduction="10000"/>
          </a:bodyPr>
          <a:lstStyle/>
          <a:p>
            <a:r>
              <a:rPr lang="pt-BR" dirty="0"/>
              <a:t>Com o sucesso das </a:t>
            </a:r>
            <a:r>
              <a:rPr lang="pt-BR" dirty="0" err="1"/>
              <a:t>LSTMs</a:t>
            </a:r>
            <a:r>
              <a:rPr lang="pt-BR" dirty="0"/>
              <a:t> em capturar dependências de longo prazo, arquiteturas simplificadas foram propostas com o objetivo de acelerar a computação.</a:t>
            </a:r>
          </a:p>
          <a:p>
            <a:r>
              <a:rPr lang="pt-BR" dirty="0" err="1"/>
              <a:t>GRUs</a:t>
            </a:r>
            <a:r>
              <a:rPr lang="pt-BR" dirty="0"/>
              <a:t> foram propostas em 2014 por Cho et al.</a:t>
            </a:r>
          </a:p>
          <a:p>
            <a:r>
              <a:rPr lang="pt-BR" dirty="0"/>
              <a:t>São uma versão simplificada da célula de memória LSTM.</a:t>
            </a:r>
          </a:p>
          <a:p>
            <a:r>
              <a:rPr lang="pt-BR" dirty="0"/>
              <a:t>Em geral, atingem desempenho comparável, mas com a vantagem de terem menos parâmetros e serem mais rápidas em termos de computação.</a:t>
            </a:r>
            <a:endParaRPr lang="en-US" dirty="0"/>
          </a:p>
        </p:txBody>
      </p:sp>
      <p:pic>
        <p:nvPicPr>
          <p:cNvPr id="5" name="Picture 4">
            <a:extLst>
              <a:ext uri="{FF2B5EF4-FFF2-40B4-BE49-F238E27FC236}">
                <a16:creationId xmlns="" xmlns:a16="http://schemas.microsoft.com/office/drawing/2014/main" id="{FEE9C48C-C90C-F33E-D12D-C8B6D0A1B56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86303" y="3013147"/>
            <a:ext cx="4929495" cy="2657328"/>
          </a:xfrm>
          <a:prstGeom prst="rect">
            <a:avLst/>
          </a:prstGeom>
        </p:spPr>
      </p:pic>
    </p:spTree>
    <p:extLst>
      <p:ext uri="{BB962C8B-B14F-4D97-AF65-F5344CB8AC3E}">
        <p14:creationId xmlns:p14="http://schemas.microsoft.com/office/powerpoint/2010/main" val="39566729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C46CC0D9-476E-8E7D-EC3C-28E97B88ABA6}"/>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6B5BE93B-0FD8-4FAC-CF58-5DD52D3DB7FF}"/>
              </a:ext>
            </a:extLst>
          </p:cNvPr>
          <p:cNvSpPr>
            <a:spLocks noGrp="1"/>
          </p:cNvSpPr>
          <p:nvPr>
            <p:ph type="title"/>
          </p:nvPr>
        </p:nvSpPr>
        <p:spPr/>
        <p:txBody>
          <a:bodyPr/>
          <a:lstStyle/>
          <a:p>
            <a:r>
              <a:rPr lang="pt-BR" i="1" dirty="0" err="1"/>
              <a:t>Gated</a:t>
            </a:r>
            <a:r>
              <a:rPr lang="pt-BR" i="1" dirty="0"/>
              <a:t> </a:t>
            </a:r>
            <a:r>
              <a:rPr lang="pt-BR" i="1" dirty="0" err="1"/>
              <a:t>recurrent</a:t>
            </a:r>
            <a:r>
              <a:rPr lang="pt-BR" i="1" dirty="0"/>
              <a:t> </a:t>
            </a:r>
            <a:r>
              <a:rPr lang="pt-BR" i="1" dirty="0" err="1"/>
              <a:t>unit</a:t>
            </a:r>
            <a:r>
              <a:rPr lang="pt-BR" dirty="0"/>
              <a:t> (GRU)</a:t>
            </a:r>
            <a:endParaRPr lang="en-US" dirty="0"/>
          </a:p>
        </p:txBody>
      </p:sp>
      <p:sp>
        <p:nvSpPr>
          <p:cNvPr id="3" name="Content Placeholder 2">
            <a:extLst>
              <a:ext uri="{FF2B5EF4-FFF2-40B4-BE49-F238E27FC236}">
                <a16:creationId xmlns="" xmlns:a16="http://schemas.microsoft.com/office/drawing/2014/main" id="{26A8CC03-24B7-54E8-63B4-1022B00698F3}"/>
              </a:ext>
            </a:extLst>
          </p:cNvPr>
          <p:cNvSpPr>
            <a:spLocks noGrp="1"/>
          </p:cNvSpPr>
          <p:nvPr>
            <p:ph idx="1"/>
          </p:nvPr>
        </p:nvSpPr>
        <p:spPr>
          <a:xfrm>
            <a:off x="5397500" y="1825624"/>
            <a:ext cx="6794500" cy="5032375"/>
          </a:xfrm>
        </p:spPr>
        <p:txBody>
          <a:bodyPr>
            <a:normAutofit/>
          </a:bodyPr>
          <a:lstStyle/>
          <a:p>
            <a:r>
              <a:rPr lang="pt-BR" dirty="0"/>
              <a:t>Usam menos portas e não possuem um estado da célula.</a:t>
            </a:r>
          </a:p>
          <a:p>
            <a:r>
              <a:rPr lang="pt-BR" dirty="0"/>
              <a:t>A porta de </a:t>
            </a:r>
            <a:r>
              <a:rPr lang="pt-BR" i="1" dirty="0"/>
              <a:t>reset</a:t>
            </a:r>
            <a:r>
              <a:rPr lang="pt-BR" dirty="0"/>
              <a:t> é responsável pela memória de curto prazo, pois decide quanta informação passada será mantida e quanta informação será descartada.</a:t>
            </a:r>
          </a:p>
          <a:p>
            <a:r>
              <a:rPr lang="pt-BR" dirty="0"/>
              <a:t>Em contraste, a porta de atualização é responsável pela memória de longo prazo e é comparável à porta de esquecimento da LSTM.</a:t>
            </a:r>
          </a:p>
          <a:p>
            <a:pPr lvl="1">
              <a:buFont typeface="Wingdings" panose="05000000000000000000" pitchFamily="2" charset="2"/>
              <a:buChar char="§"/>
            </a:pPr>
            <a:r>
              <a:rPr lang="pt-BR" dirty="0"/>
              <a:t>É a combinação das portas de esquecimento e de entrada da LSTM.</a:t>
            </a:r>
          </a:p>
        </p:txBody>
      </p:sp>
      <p:pic>
        <p:nvPicPr>
          <p:cNvPr id="5" name="Picture 4">
            <a:extLst>
              <a:ext uri="{FF2B5EF4-FFF2-40B4-BE49-F238E27FC236}">
                <a16:creationId xmlns="" xmlns:a16="http://schemas.microsoft.com/office/drawing/2014/main" id="{FEBB883C-AF65-D3CE-B74B-0176B4408C4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35159" y="2601160"/>
            <a:ext cx="4929495" cy="2995382"/>
          </a:xfrm>
          <a:prstGeom prst="rect">
            <a:avLst/>
          </a:prstGeom>
        </p:spPr>
      </p:pic>
    </p:spTree>
    <p:extLst>
      <p:ext uri="{BB962C8B-B14F-4D97-AF65-F5344CB8AC3E}">
        <p14:creationId xmlns:p14="http://schemas.microsoft.com/office/powerpoint/2010/main" val="364532342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6F46201-70AB-3101-010F-37663AAABA87}"/>
            </a:ext>
          </a:extLst>
        </p:cNvPr>
        <p:cNvGrpSpPr/>
        <p:nvPr/>
      </p:nvGrpSpPr>
      <p:grpSpPr>
        <a:xfrm>
          <a:off x="0" y="0"/>
          <a:ext cx="0" cy="0"/>
          <a:chOff x="0" y="0"/>
          <a:chExt cx="0" cy="0"/>
        </a:xfrm>
      </p:grpSpPr>
      <p:sp>
        <p:nvSpPr>
          <p:cNvPr id="3" name="Content Placeholder 2">
            <a:extLst>
              <a:ext uri="{FF2B5EF4-FFF2-40B4-BE49-F238E27FC236}">
                <a16:creationId xmlns="" xmlns:a16="http://schemas.microsoft.com/office/drawing/2014/main" id="{C31D9534-0BDC-5AAE-8B8A-DE28FBF1111D}"/>
              </a:ext>
            </a:extLst>
          </p:cNvPr>
          <p:cNvSpPr>
            <a:spLocks noGrp="1"/>
          </p:cNvSpPr>
          <p:nvPr>
            <p:ph idx="1"/>
          </p:nvPr>
        </p:nvSpPr>
        <p:spPr>
          <a:xfrm>
            <a:off x="320843" y="2170398"/>
            <a:ext cx="11598442" cy="2706402"/>
          </a:xfrm>
        </p:spPr>
        <p:txBody>
          <a:bodyPr>
            <a:normAutofit/>
          </a:bodyPr>
          <a:lstStyle/>
          <a:p>
            <a:pPr marL="0" indent="0" algn="ctr">
              <a:buNone/>
            </a:pPr>
            <a:r>
              <a:rPr lang="pt-BR" sz="6000" dirty="0"/>
              <a:t>Como </a:t>
            </a:r>
            <a:r>
              <a:rPr lang="pt-BR" sz="6000" dirty="0" err="1"/>
              <a:t>LSTMs</a:t>
            </a:r>
            <a:r>
              <a:rPr lang="pt-BR" sz="6000" dirty="0"/>
              <a:t> e </a:t>
            </a:r>
            <a:r>
              <a:rPr lang="pt-BR" sz="6000" dirty="0" err="1"/>
              <a:t>GRUs</a:t>
            </a:r>
            <a:r>
              <a:rPr lang="pt-BR" sz="6000" dirty="0"/>
              <a:t> minimizam o problema do desaparecimento do gradiente?</a:t>
            </a:r>
            <a:endParaRPr lang="en-US" sz="6000" dirty="0"/>
          </a:p>
        </p:txBody>
      </p:sp>
    </p:spTree>
    <p:extLst>
      <p:ext uri="{BB962C8B-B14F-4D97-AF65-F5344CB8AC3E}">
        <p14:creationId xmlns:p14="http://schemas.microsoft.com/office/powerpoint/2010/main" val="161994258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E217C2CC-E86F-6285-9CEE-AEE63628EAB7}"/>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72691B0C-DF41-453D-2999-4912A83FED73}"/>
                  </a:ext>
                </a:extLst>
              </p:cNvPr>
              <p:cNvSpPr>
                <a:spLocks noGrp="1"/>
              </p:cNvSpPr>
              <p:nvPr>
                <p:ph idx="1"/>
              </p:nvPr>
            </p:nvSpPr>
            <p:spPr>
              <a:xfrm>
                <a:off x="5380074" y="1825624"/>
                <a:ext cx="6811926" cy="5032375"/>
              </a:xfrm>
            </p:spPr>
            <p:txBody>
              <a:bodyPr>
                <a:normAutofit/>
              </a:bodyPr>
              <a:lstStyle/>
              <a:p>
                <a:r>
                  <a:rPr lang="pt-BR" dirty="0"/>
                  <a:t>GRUs e </a:t>
                </a:r>
                <a:r>
                  <a:rPr lang="pt-BR" dirty="0" err="1"/>
                  <a:t>LSTMs</a:t>
                </a:r>
                <a:r>
                  <a:rPr lang="pt-BR" dirty="0"/>
                  <a:t> têm um caminho quase linear para o gradiente.</a:t>
                </a: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𝒇</m:t>
                          </m:r>
                        </m:e>
                        <m:sub>
                          <m:r>
                            <a:rPr lang="pt-BR" i="1">
                              <a:latin typeface="Cambria Math" panose="02040503050406030204" pitchFamily="18" charset="0"/>
                            </a:rPr>
                            <m:t>𝑡</m:t>
                          </m:r>
                        </m:sub>
                      </m:sSub>
                      <m:sSub>
                        <m:sSubPr>
                          <m:ctrlPr>
                            <a:rPr lang="en-US"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r>
                            <a:rPr lang="pt-BR" i="1">
                              <a:latin typeface="Cambria Math" panose="02040503050406030204" pitchFamily="18" charset="0"/>
                            </a:rPr>
                            <m:t>−1</m:t>
                          </m:r>
                        </m:sub>
                      </m:sSub>
                      <m:r>
                        <a:rPr lang="pt-BR" i="1">
                          <a:latin typeface="Cambria Math" panose="02040503050406030204" pitchFamily="18" charset="0"/>
                        </a:rPr>
                        <m:t>+</m:t>
                      </m:r>
                      <m:sSub>
                        <m:sSubPr>
                          <m:ctrlPr>
                            <a:rPr lang="en-US" i="1">
                              <a:latin typeface="Cambria Math" panose="02040503050406030204" pitchFamily="18" charset="0"/>
                            </a:rPr>
                          </m:ctrlPr>
                        </m:sSubPr>
                        <m:e>
                          <m:sSub>
                            <m:sSubPr>
                              <m:ctrlPr>
                                <a:rPr lang="pt-BR" i="1">
                                  <a:latin typeface="Cambria Math" panose="02040503050406030204" pitchFamily="18" charset="0"/>
                                </a:rPr>
                              </m:ctrlPr>
                            </m:sSubPr>
                            <m:e>
                              <m:r>
                                <a:rPr lang="pt-BR" b="1" i="1">
                                  <a:latin typeface="Cambria Math" panose="02040503050406030204" pitchFamily="18" charset="0"/>
                                </a:rPr>
                                <m:t>𝒊</m:t>
                              </m:r>
                            </m:e>
                            <m:sub>
                              <m:r>
                                <a:rPr lang="pt-BR" i="1">
                                  <a:latin typeface="Cambria Math" panose="02040503050406030204" pitchFamily="18" charset="0"/>
                                </a:rPr>
                                <m:t>𝑡</m:t>
                              </m:r>
                            </m:sub>
                          </m:sSub>
                          <m:acc>
                            <m:accPr>
                              <m:chr m:val="̃"/>
                              <m:ctrlPr>
                                <a:rPr lang="en-US" b="1" i="1">
                                  <a:latin typeface="Cambria Math" panose="02040503050406030204" pitchFamily="18" charset="0"/>
                                </a:rPr>
                              </m:ctrlPr>
                            </m:accPr>
                            <m:e>
                              <m:r>
                                <a:rPr lang="pt-BR" b="1" i="1">
                                  <a:latin typeface="Cambria Math" panose="02040503050406030204" pitchFamily="18" charset="0"/>
                                </a:rPr>
                                <m:t>𝒄</m:t>
                              </m:r>
                            </m:e>
                          </m:acc>
                        </m:e>
                        <m:sub>
                          <m:r>
                            <a:rPr lang="pt-BR" i="1">
                              <a:latin typeface="Cambria Math" panose="02040503050406030204" pitchFamily="18" charset="0"/>
                            </a:rPr>
                            <m:t>𝑡</m:t>
                          </m:r>
                        </m:sub>
                      </m:sSub>
                      <m:r>
                        <a:rPr lang="pt-BR" b="0" i="1" smtClean="0">
                          <a:latin typeface="Cambria Math" panose="02040503050406030204" pitchFamily="18" charset="0"/>
                        </a:rPr>
                        <m:t>.</m:t>
                      </m:r>
                    </m:oMath>
                  </m:oMathPara>
                </a14:m>
                <a:endParaRPr lang="pt-BR" dirty="0"/>
              </a:p>
              <a:p>
                <a:r>
                  <a:rPr lang="pt-BR" dirty="0"/>
                  <a:t>Já as </a:t>
                </a:r>
                <a:r>
                  <a:rPr lang="pt-BR" dirty="0" err="1"/>
                  <a:t>RNNs</a:t>
                </a:r>
                <a:r>
                  <a:rPr lang="pt-BR" dirty="0"/>
                  <a:t> baunilha têm uma caminha </a:t>
                </a:r>
                <a:r>
                  <a:rPr lang="pt-BR" dirty="0" err="1"/>
                  <a:t>nã</a:t>
                </a:r>
                <a:r>
                  <a:rPr lang="pt-BR" dirty="0"/>
                  <a:t>-linear: o novo estado passa por um função </a:t>
                </a:r>
                <a:r>
                  <a:rPr lang="pt-BR" dirty="0" err="1"/>
                  <a:t>tanh</a:t>
                </a:r>
                <a:r>
                  <a:rPr lang="pt-BR" dirty="0"/>
                  <a:t>.</a:t>
                </a: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b="1" i="1" smtClean="0">
                              <a:latin typeface="Cambria Math" panose="02040503050406030204" pitchFamily="18" charset="0"/>
                            </a:rPr>
                            <m:t>𝒉</m:t>
                          </m:r>
                        </m:e>
                        <m:sub>
                          <m:r>
                            <a:rPr lang="pt-BR" i="1">
                              <a:latin typeface="Cambria Math" panose="02040503050406030204" pitchFamily="18" charset="0"/>
                            </a:rPr>
                            <m:t>𝑡</m:t>
                          </m:r>
                        </m:sub>
                      </m:sSub>
                      <m:r>
                        <a:rPr lang="pt-BR" i="1">
                          <a:latin typeface="Cambria Math" panose="02040503050406030204" pitchFamily="18" charset="0"/>
                        </a:rPr>
                        <m:t>=</m:t>
                      </m:r>
                      <m:func>
                        <m:funcPr>
                          <m:ctrlPr>
                            <a:rPr lang="pt-BR" i="1" smtClean="0">
                              <a:latin typeface="Cambria Math" panose="02040503050406030204" pitchFamily="18" charset="0"/>
                            </a:rPr>
                          </m:ctrlPr>
                        </m:funcPr>
                        <m:fName>
                          <m:r>
                            <m:rPr>
                              <m:sty m:val="p"/>
                            </m:rPr>
                            <a:rPr lang="pt-BR" i="0" smtClean="0">
                              <a:latin typeface="Cambria Math" panose="02040503050406030204" pitchFamily="18" charset="0"/>
                            </a:rPr>
                            <m:t>tanh</m:t>
                          </m:r>
                        </m:fName>
                        <m:e>
                          <m:d>
                            <m:dPr>
                              <m:ctrlPr>
                                <a:rPr lang="pt-BR" i="1" smtClean="0">
                                  <a:latin typeface="Cambria Math" panose="02040503050406030204" pitchFamily="18" charset="0"/>
                                </a:rPr>
                              </m:ctrlPr>
                            </m:dPr>
                            <m:e>
                              <m:d>
                                <m:dPr>
                                  <m:begChr m:val="["/>
                                  <m:endChr m:val="]"/>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r>
                                    <a:rPr lang="pt-BR" b="0" i="1" smtClean="0">
                                      <a:latin typeface="Cambria Math" panose="02040503050406030204" pitchFamily="18" charset="0"/>
                                    </a:rPr>
                                    <m:t>, </m:t>
                                  </m:r>
                                  <m:sSub>
                                    <m:sSubPr>
                                      <m:ctrlPr>
                                        <a:rPr lang="en-US" i="1">
                                          <a:latin typeface="Cambria Math" panose="02040503050406030204" pitchFamily="18" charset="0"/>
                                        </a:rPr>
                                      </m:ctrlPr>
                                    </m:sSubPr>
                                    <m:e>
                                      <m:r>
                                        <a:rPr lang="pt-BR" b="1" i="1" smtClean="0">
                                          <a:latin typeface="Cambria Math" panose="02040503050406030204" pitchFamily="18" charset="0"/>
                                        </a:rPr>
                                        <m:t>𝒉</m:t>
                                      </m:r>
                                    </m:e>
                                    <m:sub>
                                      <m:r>
                                        <a:rPr lang="pt-BR" i="1">
                                          <a:latin typeface="Cambria Math" panose="02040503050406030204" pitchFamily="18" charset="0"/>
                                        </a:rPr>
                                        <m:t>𝑡</m:t>
                                      </m:r>
                                      <m:r>
                                        <a:rPr lang="pt-BR" i="1">
                                          <a:latin typeface="Cambria Math" panose="02040503050406030204" pitchFamily="18" charset="0"/>
                                        </a:rPr>
                                        <m:t>−1</m:t>
                                      </m:r>
                                    </m:sub>
                                  </m:sSub>
                                </m:e>
                              </m:d>
                            </m:e>
                          </m:d>
                        </m:e>
                      </m:func>
                      <m:r>
                        <a:rPr lang="pt-BR" i="1">
                          <a:latin typeface="Cambria Math" panose="02040503050406030204" pitchFamily="18" charset="0"/>
                        </a:rPr>
                        <m:t>.</m:t>
                      </m:r>
                    </m:oMath>
                  </m:oMathPara>
                </a14:m>
                <a:endParaRPr lang="en-US" dirty="0"/>
              </a:p>
            </p:txBody>
          </p:sp>
        </mc:Choice>
        <mc:Fallback xmlns="">
          <p:sp>
            <p:nvSpPr>
              <p:cNvPr id="3" name="Content Placeholder 2">
                <a:extLst>
                  <a:ext uri="{FF2B5EF4-FFF2-40B4-BE49-F238E27FC236}">
                    <a16:creationId xmlns:a16="http://schemas.microsoft.com/office/drawing/2014/main" id="{72691B0C-DF41-453D-2999-4912A83FED73}"/>
                  </a:ext>
                </a:extLst>
              </p:cNvPr>
              <p:cNvSpPr>
                <a:spLocks noGrp="1" noRot="1" noChangeAspect="1" noMove="1" noResize="1" noEditPoints="1" noAdjustHandles="1" noChangeArrowheads="1" noChangeShapeType="1" noTextEdit="1"/>
              </p:cNvSpPr>
              <p:nvPr>
                <p:ph idx="1"/>
              </p:nvPr>
            </p:nvSpPr>
            <p:spPr>
              <a:xfrm>
                <a:off x="5380074" y="1825624"/>
                <a:ext cx="6811926" cy="5032375"/>
              </a:xfrm>
              <a:blipFill>
                <a:blip r:embed="rId2"/>
                <a:stretch>
                  <a:fillRect l="-1611" t="-1937"/>
                </a:stretch>
              </a:blipFill>
            </p:spPr>
            <p:txBody>
              <a:bodyPr/>
              <a:lstStyle/>
              <a:p>
                <a:r>
                  <a:rPr lang="en-US">
                    <a:noFill/>
                  </a:rPr>
                  <a:t> </a:t>
                </a:r>
              </a:p>
            </p:txBody>
          </p:sp>
        </mc:Fallback>
      </mc:AlternateContent>
      <p:pic>
        <p:nvPicPr>
          <p:cNvPr id="4" name="Picture 3">
            <a:extLst>
              <a:ext uri="{FF2B5EF4-FFF2-40B4-BE49-F238E27FC236}">
                <a16:creationId xmlns="" xmlns:a16="http://schemas.microsoft.com/office/drawing/2014/main" id="{A0DB283C-57CF-8CCB-475A-8E64A9D1D90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8200" y="1690688"/>
            <a:ext cx="3888430" cy="2393526"/>
          </a:xfrm>
          <a:prstGeom prst="rect">
            <a:avLst/>
          </a:prstGeom>
        </p:spPr>
      </p:pic>
      <p:pic>
        <p:nvPicPr>
          <p:cNvPr id="5" name="Picture 4">
            <a:extLst>
              <a:ext uri="{FF2B5EF4-FFF2-40B4-BE49-F238E27FC236}">
                <a16:creationId xmlns="" xmlns:a16="http://schemas.microsoft.com/office/drawing/2014/main" id="{945A00CD-C690-0519-A0B6-48532CE3E9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21243" y="4667693"/>
            <a:ext cx="4112520" cy="2041451"/>
          </a:xfrm>
          <a:prstGeom prst="rect">
            <a:avLst/>
          </a:prstGeom>
        </p:spPr>
      </p:pic>
    </p:spTree>
    <p:extLst>
      <p:ext uri="{BB962C8B-B14F-4D97-AF65-F5344CB8AC3E}">
        <p14:creationId xmlns:p14="http://schemas.microsoft.com/office/powerpoint/2010/main" val="319242794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9CDD7DCE-1242-9C51-3F89-48626CD90F8C}"/>
              </a:ext>
            </a:extLst>
          </p:cNvPr>
          <p:cNvSpPr>
            <a:spLocks noGrp="1"/>
          </p:cNvSpPr>
          <p:nvPr>
            <p:ph type="title"/>
          </p:nvPr>
        </p:nvSpPr>
        <p:spPr/>
        <p:txBody>
          <a:bodyPr/>
          <a:lstStyle/>
          <a:p>
            <a:r>
              <a:rPr lang="pt-BR" dirty="0"/>
              <a:t>Desaparecimento do gradiente</a:t>
            </a:r>
            <a:endParaRPr lang="en-US" dirty="0"/>
          </a:p>
        </p:txBody>
      </p:sp>
      <p:sp>
        <p:nvSpPr>
          <p:cNvPr id="3" name="Content Placeholder 2">
            <a:extLst>
              <a:ext uri="{FF2B5EF4-FFF2-40B4-BE49-F238E27FC236}">
                <a16:creationId xmlns="" xmlns:a16="http://schemas.microsoft.com/office/drawing/2014/main" id="{01089038-AB05-41BB-2D39-80FBAB0804A2}"/>
              </a:ext>
            </a:extLst>
          </p:cNvPr>
          <p:cNvSpPr>
            <a:spLocks noGrp="1"/>
          </p:cNvSpPr>
          <p:nvPr>
            <p:ph idx="1"/>
          </p:nvPr>
        </p:nvSpPr>
        <p:spPr>
          <a:xfrm>
            <a:off x="5571459" y="1825625"/>
            <a:ext cx="6620541" cy="5032376"/>
          </a:xfrm>
        </p:spPr>
        <p:txBody>
          <a:bodyPr>
            <a:normAutofit/>
          </a:bodyPr>
          <a:lstStyle/>
          <a:p>
            <a:r>
              <a:rPr lang="pt-BR" dirty="0" err="1"/>
              <a:t>LSTMs</a:t>
            </a:r>
            <a:r>
              <a:rPr lang="pt-BR" dirty="0"/>
              <a:t> e </a:t>
            </a:r>
            <a:r>
              <a:rPr lang="pt-BR" dirty="0" err="1"/>
              <a:t>GRUs</a:t>
            </a:r>
            <a:r>
              <a:rPr lang="pt-BR" dirty="0"/>
              <a:t> minimizam o problema do desaparecimento do gradiente porque a atualização do estado da célula é aditiva e não puramente multiplicativa</a:t>
            </a:r>
            <a:r>
              <a:rPr lang="en-US" dirty="0"/>
              <a:t>.</a:t>
            </a:r>
            <a:endParaRPr lang="pt-BR" dirty="0"/>
          </a:p>
          <a:p>
            <a:r>
              <a:rPr lang="pt-BR" dirty="0"/>
              <a:t>A soma cria um “atalho” </a:t>
            </a:r>
            <a:r>
              <a:rPr lang="pt-BR" b="1" dirty="0"/>
              <a:t>configurável</a:t>
            </a:r>
            <a:r>
              <a:rPr lang="pt-BR" dirty="0"/>
              <a:t> para o gradiente.</a:t>
            </a:r>
          </a:p>
          <a:p>
            <a:r>
              <a:rPr lang="pt-BR" dirty="0"/>
              <a:t>Esse atalho permite que os gradientes retrocedam no tempo sem necessariamente desaparecer.</a:t>
            </a:r>
          </a:p>
        </p:txBody>
      </p:sp>
      <p:pic>
        <p:nvPicPr>
          <p:cNvPr id="7" name="Picture 6">
            <a:extLst>
              <a:ext uri="{FF2B5EF4-FFF2-40B4-BE49-F238E27FC236}">
                <a16:creationId xmlns="" xmlns:a16="http://schemas.microsoft.com/office/drawing/2014/main" id="{F63E2320-9C7D-2BEC-DBF2-A340E846740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8200" y="1690688"/>
            <a:ext cx="3888430" cy="2393526"/>
          </a:xfrm>
          <a:prstGeom prst="rect">
            <a:avLst/>
          </a:prstGeom>
        </p:spPr>
      </p:pic>
      <p:pic>
        <p:nvPicPr>
          <p:cNvPr id="9" name="Picture 8">
            <a:extLst>
              <a:ext uri="{FF2B5EF4-FFF2-40B4-BE49-F238E27FC236}">
                <a16:creationId xmlns="" xmlns:a16="http://schemas.microsoft.com/office/drawing/2014/main" id="{739B0D30-CDE5-D51A-1F46-F2F7055CCA3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21243" y="4667693"/>
            <a:ext cx="4112520" cy="2041451"/>
          </a:xfrm>
          <a:prstGeom prst="rect">
            <a:avLst/>
          </a:prstGeom>
        </p:spPr>
      </p:pic>
    </p:spTree>
    <p:extLst>
      <p:ext uri="{BB962C8B-B14F-4D97-AF65-F5344CB8AC3E}">
        <p14:creationId xmlns:p14="http://schemas.microsoft.com/office/powerpoint/2010/main" val="157087009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C27262E0-3E97-671D-6E9F-7D5CF88F7FEB}"/>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5F5C8D3E-7443-40D0-EFC0-AE612DDB87C9}"/>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 xmlns:a16="http://schemas.microsoft.com/office/drawing/2014/main" id="{77E5298F-0274-DB9E-3AE4-1B71C47C5174}"/>
                  </a:ext>
                </a:extLst>
              </p:cNvPr>
              <p:cNvSpPr>
                <a:spLocks noGrp="1"/>
              </p:cNvSpPr>
              <p:nvPr>
                <p:ph idx="1"/>
              </p:nvPr>
            </p:nvSpPr>
            <p:spPr>
              <a:xfrm>
                <a:off x="5433237" y="1825625"/>
                <a:ext cx="6645349" cy="5032376"/>
              </a:xfrm>
            </p:spPr>
            <p:txBody>
              <a:bodyPr>
                <a:normAutofit/>
              </a:bodyPr>
              <a:lstStyle/>
              <a:p>
                <a:r>
                  <a:rPr lang="pt-BR" dirty="0"/>
                  <a:t>Para </a:t>
                </a:r>
                <a:r>
                  <a:rPr lang="pt-BR" dirty="0" err="1"/>
                  <a:t>LSTMs</a:t>
                </a:r>
                <a:r>
                  <a:rPr lang="pt-BR" dirty="0"/>
                  <a:t> e </a:t>
                </a:r>
                <a:r>
                  <a:rPr lang="pt-BR" dirty="0" err="1"/>
                  <a:t>GRUs</a:t>
                </a:r>
                <a:r>
                  <a:rPr lang="pt-BR" dirty="0"/>
                  <a:t>, o valor da derivada </a:t>
                </a:r>
                <a14:m>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b="1" i="1" smtClean="0">
                                <a:latin typeface="Cambria Math" panose="02040503050406030204" pitchFamily="18" charset="0"/>
                              </a:rPr>
                              <m:t>𝒄</m:t>
                            </m:r>
                          </m:e>
                          <m:sub>
                            <m:r>
                              <a:rPr lang="pt-BR" i="1">
                                <a:latin typeface="Cambria Math" panose="02040503050406030204" pitchFamily="18" charset="0"/>
                              </a:rPr>
                              <m:t>𝑡</m:t>
                            </m:r>
                            <m:r>
                              <a:rPr lang="pt-BR" b="0" i="1" smtClean="0">
                                <a:latin typeface="Cambria Math" panose="02040503050406030204" pitchFamily="18" charset="0"/>
                              </a:rPr>
                              <m:t>−1</m:t>
                            </m:r>
                          </m:sub>
                        </m:sSub>
                      </m:den>
                    </m:f>
                  </m:oMath>
                </a14:m>
                <a:r>
                  <a:rPr lang="pt-BR" dirty="0"/>
                  <a:t> é função das 3 portas: </a:t>
                </a:r>
                <a14:m>
                  <m:oMath xmlns:m="http://schemas.openxmlformats.org/officeDocument/2006/math">
                    <m:sSub>
                      <m:sSubPr>
                        <m:ctrlPr>
                          <a:rPr lang="pt-BR" i="1">
                            <a:latin typeface="Cambria Math" panose="02040503050406030204" pitchFamily="18" charset="0"/>
                          </a:rPr>
                        </m:ctrlPr>
                      </m:sSubPr>
                      <m:e>
                        <m:r>
                          <a:rPr lang="pt-BR" b="1" i="1" smtClean="0">
                            <a:latin typeface="Cambria Math" panose="02040503050406030204" pitchFamily="18" charset="0"/>
                          </a:rPr>
                          <m:t>𝒇</m:t>
                        </m:r>
                      </m:e>
                      <m:sub>
                        <m:r>
                          <a:rPr lang="pt-BR" i="1">
                            <a:latin typeface="Cambria Math" panose="02040503050406030204" pitchFamily="18" charset="0"/>
                          </a:rPr>
                          <m:t>𝑡</m:t>
                        </m:r>
                      </m:sub>
                    </m:sSub>
                  </m:oMath>
                </a14:m>
                <a:r>
                  <a:rPr lang="pt-BR" dirty="0"/>
                  <a:t>, </a:t>
                </a:r>
                <a14:m>
                  <m:oMath xmlns:m="http://schemas.openxmlformats.org/officeDocument/2006/math">
                    <m:sSub>
                      <m:sSubPr>
                        <m:ctrlPr>
                          <a:rPr lang="pt-BR" i="1" smtClean="0">
                            <a:latin typeface="Cambria Math" panose="02040503050406030204" pitchFamily="18" charset="0"/>
                          </a:rPr>
                        </m:ctrlPr>
                      </m:sSubPr>
                      <m:e>
                        <m:r>
                          <a:rPr lang="pt-BR" b="1" i="1" smtClean="0">
                            <a:latin typeface="Cambria Math" panose="02040503050406030204" pitchFamily="18" charset="0"/>
                          </a:rPr>
                          <m:t>𝒊</m:t>
                        </m:r>
                      </m:e>
                      <m:sub>
                        <m:r>
                          <a:rPr lang="pt-BR" i="1">
                            <a:latin typeface="Cambria Math" panose="02040503050406030204" pitchFamily="18" charset="0"/>
                          </a:rPr>
                          <m:t>𝑡</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b="1" i="1" smtClean="0">
                            <a:latin typeface="Cambria Math" panose="02040503050406030204" pitchFamily="18" charset="0"/>
                          </a:rPr>
                          <m:t>𝒐</m:t>
                        </m:r>
                      </m:e>
                      <m:sub>
                        <m:r>
                          <a:rPr lang="pt-BR" i="1">
                            <a:latin typeface="Cambria Math" panose="02040503050406030204" pitchFamily="18" charset="0"/>
                          </a:rPr>
                          <m:t>𝑡</m:t>
                        </m:r>
                      </m:sub>
                    </m:sSub>
                  </m:oMath>
                </a14:m>
                <a:r>
                  <a:rPr lang="pt-BR" dirty="0"/>
                  <a:t> e do estado de atualização </a:t>
                </a:r>
                <a14:m>
                  <m:oMath xmlns:m="http://schemas.openxmlformats.org/officeDocument/2006/math">
                    <m:sSub>
                      <m:sSubPr>
                        <m:ctrlPr>
                          <a:rPr lang="en-US" i="1">
                            <a:latin typeface="Cambria Math" panose="02040503050406030204" pitchFamily="18" charset="0"/>
                          </a:rPr>
                        </m:ctrlPr>
                      </m:sSubPr>
                      <m:e>
                        <m:acc>
                          <m:accPr>
                            <m:chr m:val="̃"/>
                            <m:ctrlPr>
                              <a:rPr lang="en-US" i="1">
                                <a:latin typeface="Cambria Math" panose="02040503050406030204" pitchFamily="18" charset="0"/>
                              </a:rPr>
                            </m:ctrlPr>
                          </m:accPr>
                          <m:e>
                            <m:r>
                              <a:rPr lang="pt-BR" b="1" i="1">
                                <a:latin typeface="Cambria Math" panose="02040503050406030204" pitchFamily="18" charset="0"/>
                              </a:rPr>
                              <m:t>𝒄</m:t>
                            </m:r>
                          </m:e>
                        </m:acc>
                      </m:e>
                      <m:sub>
                        <m:r>
                          <a:rPr lang="pt-BR" i="1">
                            <a:latin typeface="Cambria Math" panose="02040503050406030204" pitchFamily="18" charset="0"/>
                          </a:rPr>
                          <m:t>𝑡</m:t>
                        </m:r>
                      </m:sub>
                    </m:sSub>
                  </m:oMath>
                </a14:m>
                <a:r>
                  <a:rPr lang="pt-BR" dirty="0"/>
                  <a:t>.</a:t>
                </a:r>
              </a:p>
              <a:p>
                <a:r>
                  <a:rPr lang="pt-BR" dirty="0"/>
                  <a:t>Esses 4 valores são configurações que a rede aprende a definir.</a:t>
                </a:r>
              </a:p>
              <a:p>
                <a:r>
                  <a:rPr lang="pt-BR" dirty="0"/>
                  <a:t>Dessa forma, a rede aprende a decidir quando deixar o gradiente desaparecer e quando preservá-lo, ajustando os valores das portas.</a:t>
                </a:r>
              </a:p>
              <a:p>
                <a:r>
                  <a:rPr lang="pt-BR" dirty="0"/>
                  <a:t>Assim, as portas permitem que a rede decida o que guardar e o que descartar.</a:t>
                </a:r>
              </a:p>
            </p:txBody>
          </p:sp>
        </mc:Choice>
        <mc:Fallback xmlns="">
          <p:sp>
            <p:nvSpPr>
              <p:cNvPr id="3" name="Content Placeholder 2">
                <a:extLst>
                  <a:ext uri="{FF2B5EF4-FFF2-40B4-BE49-F238E27FC236}">
                    <a16:creationId xmlns:a16="http://schemas.microsoft.com/office/drawing/2014/main" id="{77E5298F-0274-DB9E-3AE4-1B71C47C5174}"/>
                  </a:ext>
                </a:extLst>
              </p:cNvPr>
              <p:cNvSpPr>
                <a:spLocks noGrp="1" noRot="1" noChangeAspect="1" noMove="1" noResize="1" noEditPoints="1" noAdjustHandles="1" noChangeArrowheads="1" noChangeShapeType="1" noTextEdit="1"/>
              </p:cNvSpPr>
              <p:nvPr>
                <p:ph idx="1"/>
              </p:nvPr>
            </p:nvSpPr>
            <p:spPr>
              <a:xfrm>
                <a:off x="5433237" y="1825625"/>
                <a:ext cx="6645349" cy="5032376"/>
              </a:xfrm>
              <a:blipFill>
                <a:blip r:embed="rId3"/>
                <a:stretch>
                  <a:fillRect l="-1651" t="-1937" r="-2752" b="-1332"/>
                </a:stretch>
              </a:blipFill>
            </p:spPr>
            <p:txBody>
              <a:bodyPr/>
              <a:lstStyle/>
              <a:p>
                <a:r>
                  <a:rPr lang="en-US">
                    <a:noFill/>
                  </a:rPr>
                  <a:t> </a:t>
                </a:r>
              </a:p>
            </p:txBody>
          </p:sp>
        </mc:Fallback>
      </mc:AlternateContent>
      <p:pic>
        <p:nvPicPr>
          <p:cNvPr id="7" name="Picture 6">
            <a:extLst>
              <a:ext uri="{FF2B5EF4-FFF2-40B4-BE49-F238E27FC236}">
                <a16:creationId xmlns="" xmlns:a16="http://schemas.microsoft.com/office/drawing/2014/main" id="{D4662DC6-AD4B-B713-EE3A-3FDEE28D9C6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38200" y="1690688"/>
            <a:ext cx="3888430" cy="2393526"/>
          </a:xfrm>
          <a:prstGeom prst="rect">
            <a:avLst/>
          </a:prstGeom>
        </p:spPr>
      </p:pic>
      <p:pic>
        <p:nvPicPr>
          <p:cNvPr id="4" name="Picture 4">
            <a:extLst>
              <a:ext uri="{FF2B5EF4-FFF2-40B4-BE49-F238E27FC236}">
                <a16:creationId xmlns="" xmlns:a16="http://schemas.microsoft.com/office/drawing/2014/main" id="{BA697ABF-3D68-0137-7426-7AD16763889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21243" y="4667693"/>
            <a:ext cx="4112520" cy="2041451"/>
          </a:xfrm>
          <a:prstGeom prst="rect">
            <a:avLst/>
          </a:prstGeom>
        </p:spPr>
      </p:pic>
    </p:spTree>
    <p:extLst>
      <p:ext uri="{BB962C8B-B14F-4D97-AF65-F5344CB8AC3E}">
        <p14:creationId xmlns:p14="http://schemas.microsoft.com/office/powerpoint/2010/main" val="188536372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6F46201-70AB-3101-010F-37663AAABA87}"/>
            </a:ext>
          </a:extLst>
        </p:cNvPr>
        <p:cNvGrpSpPr/>
        <p:nvPr/>
      </p:nvGrpSpPr>
      <p:grpSpPr>
        <a:xfrm>
          <a:off x="0" y="0"/>
          <a:ext cx="0" cy="0"/>
          <a:chOff x="0" y="0"/>
          <a:chExt cx="0" cy="0"/>
        </a:xfrm>
      </p:grpSpPr>
      <p:sp>
        <p:nvSpPr>
          <p:cNvPr id="3" name="Content Placeholder 2">
            <a:extLst>
              <a:ext uri="{FF2B5EF4-FFF2-40B4-BE49-F238E27FC236}">
                <a16:creationId xmlns="" xmlns:a16="http://schemas.microsoft.com/office/drawing/2014/main" id="{C31D9534-0BDC-5AAE-8B8A-DE28FBF1111D}"/>
              </a:ext>
            </a:extLst>
          </p:cNvPr>
          <p:cNvSpPr>
            <a:spLocks noGrp="1"/>
          </p:cNvSpPr>
          <p:nvPr>
            <p:ph idx="1"/>
          </p:nvPr>
        </p:nvSpPr>
        <p:spPr>
          <a:xfrm>
            <a:off x="838200" y="2796041"/>
            <a:ext cx="10515600" cy="1265918"/>
          </a:xfrm>
        </p:spPr>
        <p:txBody>
          <a:bodyPr>
            <a:normAutofit/>
          </a:bodyPr>
          <a:lstStyle/>
          <a:p>
            <a:pPr marL="0" indent="0" algn="ctr">
              <a:buNone/>
            </a:pPr>
            <a:r>
              <a:rPr lang="pt-BR" sz="6000" dirty="0"/>
              <a:t>Diferentes aplicações de </a:t>
            </a:r>
            <a:r>
              <a:rPr lang="pt-BR" sz="6000" dirty="0" err="1"/>
              <a:t>RNNs</a:t>
            </a:r>
            <a:endParaRPr lang="en-US" sz="6000" dirty="0"/>
          </a:p>
        </p:txBody>
      </p:sp>
    </p:spTree>
    <p:extLst>
      <p:ext uri="{BB962C8B-B14F-4D97-AF65-F5344CB8AC3E}">
        <p14:creationId xmlns:p14="http://schemas.microsoft.com/office/powerpoint/2010/main" val="285363786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1E75519F-4E97-D41B-FEDC-5985815D8930}"/>
              </a:ext>
            </a:extLst>
          </p:cNvPr>
          <p:cNvSpPr>
            <a:spLocks noGrp="1"/>
          </p:cNvSpPr>
          <p:nvPr>
            <p:ph type="title"/>
          </p:nvPr>
        </p:nvSpPr>
        <p:spPr/>
        <p:txBody>
          <a:bodyPr/>
          <a:lstStyle/>
          <a:p>
            <a:r>
              <a:rPr lang="pt-BR" dirty="0"/>
              <a:t>Aplicação: um-para-um</a:t>
            </a:r>
            <a:endParaRPr lang="en-US" dirty="0"/>
          </a:p>
        </p:txBody>
      </p:sp>
      <p:sp>
        <p:nvSpPr>
          <p:cNvPr id="3" name="Content Placeholder 2">
            <a:extLst>
              <a:ext uri="{FF2B5EF4-FFF2-40B4-BE49-F238E27FC236}">
                <a16:creationId xmlns="" xmlns:a16="http://schemas.microsoft.com/office/drawing/2014/main" id="{73FB7023-EEE1-0137-9550-E8D35802B032}"/>
              </a:ext>
            </a:extLst>
          </p:cNvPr>
          <p:cNvSpPr>
            <a:spLocks noGrp="1"/>
          </p:cNvSpPr>
          <p:nvPr>
            <p:ph idx="1"/>
          </p:nvPr>
        </p:nvSpPr>
        <p:spPr>
          <a:xfrm>
            <a:off x="6096001" y="1825624"/>
            <a:ext cx="5971952" cy="5032375"/>
          </a:xfrm>
        </p:spPr>
        <p:txBody>
          <a:bodyPr/>
          <a:lstStyle/>
          <a:p>
            <a:r>
              <a:rPr lang="pt-BR" dirty="0"/>
              <a:t>Rede neural de alimentação direta tradicional.</a:t>
            </a:r>
          </a:p>
          <a:p>
            <a:r>
              <a:rPr lang="pt-BR" dirty="0"/>
              <a:t>Entrada e saída de tamanhos fixos.</a:t>
            </a:r>
          </a:p>
          <a:p>
            <a:r>
              <a:rPr lang="pt-BR" dirty="0"/>
              <a:t>Não há dados sequenciais envolvidos.</a:t>
            </a:r>
          </a:p>
          <a:p>
            <a:r>
              <a:rPr lang="pt-BR" dirty="0"/>
              <a:t>Exemplo de uso: </a:t>
            </a:r>
          </a:p>
          <a:p>
            <a:pPr lvl="1">
              <a:buFont typeface="Wingdings" panose="05000000000000000000" pitchFamily="2" charset="2"/>
              <a:buChar char="§"/>
            </a:pPr>
            <a:r>
              <a:rPr lang="pt-BR" dirty="0"/>
              <a:t>Classificação de imagens.</a:t>
            </a:r>
          </a:p>
          <a:p>
            <a:pPr lvl="2">
              <a:buFont typeface="Courier New" panose="02070309020205020404" pitchFamily="49" charset="0"/>
              <a:buChar char="o"/>
            </a:pPr>
            <a:r>
              <a:rPr lang="pt-BR" dirty="0"/>
              <a:t>Entrada: imagem</a:t>
            </a:r>
          </a:p>
          <a:p>
            <a:pPr lvl="2">
              <a:buFont typeface="Courier New" panose="02070309020205020404" pitchFamily="49" charset="0"/>
              <a:buChar char="o"/>
            </a:pPr>
            <a:r>
              <a:rPr lang="pt-BR" dirty="0"/>
              <a:t>Saída: classe</a:t>
            </a:r>
            <a:endParaRPr lang="en-US" dirty="0"/>
          </a:p>
        </p:txBody>
      </p:sp>
      <p:grpSp>
        <p:nvGrpSpPr>
          <p:cNvPr id="16" name="Group 15">
            <a:extLst>
              <a:ext uri="{FF2B5EF4-FFF2-40B4-BE49-F238E27FC236}">
                <a16:creationId xmlns="" xmlns:a16="http://schemas.microsoft.com/office/drawing/2014/main" id="{15122A6D-DC79-2AF9-1085-14936C685310}"/>
              </a:ext>
            </a:extLst>
          </p:cNvPr>
          <p:cNvGrpSpPr/>
          <p:nvPr/>
        </p:nvGrpSpPr>
        <p:grpSpPr>
          <a:xfrm>
            <a:off x="2551812" y="1825625"/>
            <a:ext cx="393407" cy="4188675"/>
            <a:chOff x="1754370" y="1988288"/>
            <a:chExt cx="393407" cy="4188675"/>
          </a:xfrm>
        </p:grpSpPr>
        <p:sp>
          <p:nvSpPr>
            <p:cNvPr id="4" name="Rectangle 3">
              <a:extLst>
                <a:ext uri="{FF2B5EF4-FFF2-40B4-BE49-F238E27FC236}">
                  <a16:creationId xmlns="" xmlns:a16="http://schemas.microsoft.com/office/drawing/2014/main" id="{01948E46-812A-1E66-F7BB-490F2947AA8F}"/>
                </a:ext>
              </a:extLst>
            </p:cNvPr>
            <p:cNvSpPr/>
            <p:nvPr/>
          </p:nvSpPr>
          <p:spPr>
            <a:xfrm>
              <a:off x="1754372" y="1988288"/>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 xmlns:a16="http://schemas.microsoft.com/office/drawing/2014/main" id="{9DBCB693-614D-5B50-C07B-DA27AF31D3BA}"/>
                </a:ext>
              </a:extLst>
            </p:cNvPr>
            <p:cNvSpPr/>
            <p:nvPr/>
          </p:nvSpPr>
          <p:spPr>
            <a:xfrm>
              <a:off x="1754371" y="3540365"/>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 name="Rectangle 5">
              <a:extLst>
                <a:ext uri="{FF2B5EF4-FFF2-40B4-BE49-F238E27FC236}">
                  <a16:creationId xmlns="" xmlns:a16="http://schemas.microsoft.com/office/drawing/2014/main" id="{A514DA19-CE6F-9767-CCCD-49466007DF08}"/>
                </a:ext>
              </a:extLst>
            </p:cNvPr>
            <p:cNvSpPr/>
            <p:nvPr/>
          </p:nvSpPr>
          <p:spPr>
            <a:xfrm>
              <a:off x="1754370" y="5092442"/>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8" name="Straight Arrow Connector 7">
              <a:extLst>
                <a:ext uri="{FF2B5EF4-FFF2-40B4-BE49-F238E27FC236}">
                  <a16:creationId xmlns="" xmlns:a16="http://schemas.microsoft.com/office/drawing/2014/main" id="{8AC2FB4A-7CD4-042C-9701-B24C1E6C7FE3}"/>
                </a:ext>
              </a:extLst>
            </p:cNvPr>
            <p:cNvCxnSpPr>
              <a:stCxn id="5" idx="0"/>
              <a:endCxn id="4" idx="2"/>
            </p:cNvCxnSpPr>
            <p:nvPr/>
          </p:nvCxnSpPr>
          <p:spPr>
            <a:xfrm flipV="1">
              <a:off x="1951074" y="3072809"/>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 xmlns:a16="http://schemas.microsoft.com/office/drawing/2014/main" id="{960CE189-87E8-01A6-FFCA-A4F6919BBAE0}"/>
                </a:ext>
              </a:extLst>
            </p:cNvPr>
            <p:cNvCxnSpPr>
              <a:cxnSpLocks/>
              <a:stCxn id="6" idx="0"/>
              <a:endCxn id="5" idx="2"/>
            </p:cNvCxnSpPr>
            <p:nvPr/>
          </p:nvCxnSpPr>
          <p:spPr>
            <a:xfrm flipV="1">
              <a:off x="1951073" y="4624886"/>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 name="TextBox 13">
                  <a:extLst>
                    <a:ext uri="{FF2B5EF4-FFF2-40B4-BE49-F238E27FC236}">
                      <a16:creationId xmlns="" xmlns:a16="http://schemas.microsoft.com/office/drawing/2014/main" id="{624E2679-792C-F87E-14FB-2AF9E64F6E79}"/>
                    </a:ext>
                  </a:extLst>
                </p:cNvPr>
                <p:cNvSpPr txBox="1"/>
                <p:nvPr/>
              </p:nvSpPr>
              <p:spPr>
                <a:xfrm>
                  <a:off x="1754370" y="5450036"/>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0</m:t>
                            </m:r>
                          </m:sub>
                        </m:sSub>
                      </m:oMath>
                    </m:oMathPara>
                  </a14:m>
                  <a:endParaRPr lang="en-US" dirty="0"/>
                </a:p>
              </p:txBody>
            </p:sp>
          </mc:Choice>
          <mc:Fallback xmlns="">
            <p:sp>
              <p:nvSpPr>
                <p:cNvPr id="14" name="TextBox 13">
                  <a:extLst>
                    <a:ext uri="{FF2B5EF4-FFF2-40B4-BE49-F238E27FC236}">
                      <a16:creationId xmlns:a16="http://schemas.microsoft.com/office/drawing/2014/main" id="{624E2679-792C-F87E-14FB-2AF9E64F6E79}"/>
                    </a:ext>
                  </a:extLst>
                </p:cNvPr>
                <p:cNvSpPr txBox="1">
                  <a:spLocks noRot="1" noChangeAspect="1" noMove="1" noResize="1" noEditPoints="1" noAdjustHandles="1" noChangeArrowheads="1" noChangeShapeType="1" noTextEdit="1"/>
                </p:cNvSpPr>
                <p:nvPr/>
              </p:nvSpPr>
              <p:spPr>
                <a:xfrm>
                  <a:off x="1754370" y="5450036"/>
                  <a:ext cx="393406" cy="369332"/>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 xmlns:a16="http://schemas.microsoft.com/office/drawing/2014/main" id="{1668DFCE-0DD9-DC2F-2185-D32B6C069879}"/>
                    </a:ext>
                  </a:extLst>
                </p:cNvPr>
                <p:cNvSpPr txBox="1"/>
                <p:nvPr/>
              </p:nvSpPr>
              <p:spPr>
                <a:xfrm>
                  <a:off x="1754370" y="2340014"/>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0</m:t>
                            </m:r>
                          </m:sub>
                        </m:sSub>
                      </m:oMath>
                    </m:oMathPara>
                  </a14:m>
                  <a:endParaRPr lang="en-US" dirty="0"/>
                </a:p>
              </p:txBody>
            </p:sp>
          </mc:Choice>
          <mc:Fallback xmlns="">
            <p:sp>
              <p:nvSpPr>
                <p:cNvPr id="15" name="TextBox 14">
                  <a:extLst>
                    <a:ext uri="{FF2B5EF4-FFF2-40B4-BE49-F238E27FC236}">
                      <a16:creationId xmlns:a16="http://schemas.microsoft.com/office/drawing/2014/main" id="{1668DFCE-0DD9-DC2F-2185-D32B6C069879}"/>
                    </a:ext>
                  </a:extLst>
                </p:cNvPr>
                <p:cNvSpPr txBox="1">
                  <a:spLocks noRot="1" noChangeAspect="1" noMove="1" noResize="1" noEditPoints="1" noAdjustHandles="1" noChangeArrowheads="1" noChangeShapeType="1" noTextEdit="1"/>
                </p:cNvSpPr>
                <p:nvPr/>
              </p:nvSpPr>
              <p:spPr>
                <a:xfrm>
                  <a:off x="1754370" y="2340014"/>
                  <a:ext cx="393406" cy="369332"/>
                </a:xfrm>
                <a:prstGeom prst="rect">
                  <a:avLst/>
                </a:prstGeom>
                <a:blipFill>
                  <a:blip r:embed="rId3"/>
                  <a:stretch>
                    <a:fillRect b="-6557"/>
                  </a:stretch>
                </a:blipFill>
              </p:spPr>
              <p:txBody>
                <a:bodyPr/>
                <a:lstStyle/>
                <a:p>
                  <a:r>
                    <a:rPr lang="en-US">
                      <a:noFill/>
                    </a:rPr>
                    <a:t> </a:t>
                  </a:r>
                </a:p>
              </p:txBody>
            </p:sp>
          </mc:Fallback>
        </mc:AlternateContent>
      </p:grpSp>
    </p:spTree>
    <p:extLst>
      <p:ext uri="{BB962C8B-B14F-4D97-AF65-F5344CB8AC3E}">
        <p14:creationId xmlns:p14="http://schemas.microsoft.com/office/powerpoint/2010/main" val="212919767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DA56FE1B-2F4B-3642-C94B-B94B9E919B59}"/>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6A24085D-74A3-7DF1-5CE0-BB50E2AA9DDB}"/>
              </a:ext>
            </a:extLst>
          </p:cNvPr>
          <p:cNvSpPr>
            <a:spLocks noGrp="1"/>
          </p:cNvSpPr>
          <p:nvPr>
            <p:ph type="title"/>
          </p:nvPr>
        </p:nvSpPr>
        <p:spPr/>
        <p:txBody>
          <a:bodyPr/>
          <a:lstStyle/>
          <a:p>
            <a:r>
              <a:rPr lang="pt-BR" dirty="0"/>
              <a:t>Aplicação: um-para-vários</a:t>
            </a:r>
            <a:endParaRPr lang="en-US" dirty="0"/>
          </a:p>
        </p:txBody>
      </p:sp>
      <p:sp>
        <p:nvSpPr>
          <p:cNvPr id="3" name="Content Placeholder 2">
            <a:extLst>
              <a:ext uri="{FF2B5EF4-FFF2-40B4-BE49-F238E27FC236}">
                <a16:creationId xmlns="" xmlns:a16="http://schemas.microsoft.com/office/drawing/2014/main" id="{310758ED-F051-FFC1-8759-DD2BFDD237A0}"/>
              </a:ext>
            </a:extLst>
          </p:cNvPr>
          <p:cNvSpPr>
            <a:spLocks noGrp="1"/>
          </p:cNvSpPr>
          <p:nvPr>
            <p:ph idx="1"/>
          </p:nvPr>
        </p:nvSpPr>
        <p:spPr>
          <a:xfrm>
            <a:off x="6096001" y="1825624"/>
            <a:ext cx="5971952" cy="5032375"/>
          </a:xfrm>
        </p:spPr>
        <p:txBody>
          <a:bodyPr/>
          <a:lstStyle/>
          <a:p>
            <a:r>
              <a:rPr lang="pt-BR" dirty="0"/>
              <a:t>Entrada de tamanho fixo.</a:t>
            </a:r>
          </a:p>
          <a:p>
            <a:r>
              <a:rPr lang="pt-BR" dirty="0"/>
              <a:t>Saída de tamanho variável (sequência).</a:t>
            </a:r>
          </a:p>
          <a:p>
            <a:r>
              <a:rPr lang="pt-BR" dirty="0"/>
              <a:t>Rede do tipo vetor para sequência</a:t>
            </a:r>
          </a:p>
          <a:p>
            <a:r>
              <a:rPr lang="pt-BR" dirty="0"/>
              <a:t>Exemplo de uso: </a:t>
            </a:r>
          </a:p>
          <a:p>
            <a:pPr lvl="1">
              <a:buFont typeface="Wingdings" panose="05000000000000000000" pitchFamily="2" charset="2"/>
              <a:buChar char="§"/>
            </a:pPr>
            <a:r>
              <a:rPr lang="pt-BR" dirty="0"/>
              <a:t>Legendas de imagens.</a:t>
            </a:r>
          </a:p>
          <a:p>
            <a:pPr lvl="2">
              <a:buFont typeface="Courier New" panose="02070309020205020404" pitchFamily="49" charset="0"/>
              <a:buChar char="o"/>
            </a:pPr>
            <a:r>
              <a:rPr lang="pt-BR" dirty="0"/>
              <a:t>Imagem de entrada -&gt; sequência de palavras descrevendo a imagem na saída.</a:t>
            </a:r>
          </a:p>
          <a:p>
            <a:pPr lvl="1">
              <a:buFont typeface="Wingdings" panose="05000000000000000000" pitchFamily="2" charset="2"/>
              <a:buChar char="§"/>
            </a:pPr>
            <a:r>
              <a:rPr lang="pt-BR" dirty="0"/>
              <a:t>Geração de música.</a:t>
            </a:r>
            <a:endParaRPr lang="en-US" dirty="0"/>
          </a:p>
        </p:txBody>
      </p:sp>
      <p:sp>
        <p:nvSpPr>
          <p:cNvPr id="4" name="Rectangle 3">
            <a:extLst>
              <a:ext uri="{FF2B5EF4-FFF2-40B4-BE49-F238E27FC236}">
                <a16:creationId xmlns="" xmlns:a16="http://schemas.microsoft.com/office/drawing/2014/main" id="{173BC90E-401F-9CA8-D485-C705D4BC18A0}"/>
              </a:ext>
            </a:extLst>
          </p:cNvPr>
          <p:cNvSpPr/>
          <p:nvPr/>
        </p:nvSpPr>
        <p:spPr>
          <a:xfrm>
            <a:off x="2551814" y="1825625"/>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 xmlns:a16="http://schemas.microsoft.com/office/drawing/2014/main" id="{9B4DE169-2DEC-FD02-39D3-4ED036488B2C}"/>
              </a:ext>
            </a:extLst>
          </p:cNvPr>
          <p:cNvSpPr/>
          <p:nvPr/>
        </p:nvSpPr>
        <p:spPr>
          <a:xfrm>
            <a:off x="2551813"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 name="Rectangle 5">
            <a:extLst>
              <a:ext uri="{FF2B5EF4-FFF2-40B4-BE49-F238E27FC236}">
                <a16:creationId xmlns="" xmlns:a16="http://schemas.microsoft.com/office/drawing/2014/main" id="{B071E458-90CC-1CD9-F668-0F83E5EC2B49}"/>
              </a:ext>
            </a:extLst>
          </p:cNvPr>
          <p:cNvSpPr/>
          <p:nvPr/>
        </p:nvSpPr>
        <p:spPr>
          <a:xfrm>
            <a:off x="2551812" y="4929779"/>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8" name="Straight Arrow Connector 7">
            <a:extLst>
              <a:ext uri="{FF2B5EF4-FFF2-40B4-BE49-F238E27FC236}">
                <a16:creationId xmlns="" xmlns:a16="http://schemas.microsoft.com/office/drawing/2014/main" id="{74C9AC7C-2534-C237-037C-6BFE9DD1441F}"/>
              </a:ext>
            </a:extLst>
          </p:cNvPr>
          <p:cNvCxnSpPr>
            <a:stCxn id="5" idx="0"/>
            <a:endCxn id="4" idx="2"/>
          </p:cNvCxnSpPr>
          <p:nvPr/>
        </p:nvCxnSpPr>
        <p:spPr>
          <a:xfrm flipV="1">
            <a:off x="2748516" y="2910146"/>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 xmlns:a16="http://schemas.microsoft.com/office/drawing/2014/main" id="{949FE849-8DE0-FC82-5C8D-E6F4F451D705}"/>
              </a:ext>
            </a:extLst>
          </p:cNvPr>
          <p:cNvCxnSpPr>
            <a:cxnSpLocks/>
            <a:stCxn id="6" idx="0"/>
            <a:endCxn id="5" idx="2"/>
          </p:cNvCxnSpPr>
          <p:nvPr/>
        </p:nvCxnSpPr>
        <p:spPr>
          <a:xfrm flipV="1">
            <a:off x="2748515" y="4462223"/>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 name="TextBox 13">
                <a:extLst>
                  <a:ext uri="{FF2B5EF4-FFF2-40B4-BE49-F238E27FC236}">
                    <a16:creationId xmlns="" xmlns:a16="http://schemas.microsoft.com/office/drawing/2014/main" id="{BF0B0C31-83B7-B86A-1FDA-929B051F4519}"/>
                  </a:ext>
                </a:extLst>
              </p:cNvPr>
              <p:cNvSpPr txBox="1"/>
              <p:nvPr/>
            </p:nvSpPr>
            <p:spPr>
              <a:xfrm>
                <a:off x="2551812" y="5287373"/>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0</m:t>
                          </m:r>
                        </m:sub>
                      </m:sSub>
                    </m:oMath>
                  </m:oMathPara>
                </a14:m>
                <a:endParaRPr lang="en-US" dirty="0"/>
              </a:p>
            </p:txBody>
          </p:sp>
        </mc:Choice>
        <mc:Fallback xmlns="">
          <p:sp>
            <p:nvSpPr>
              <p:cNvPr id="14" name="TextBox 13">
                <a:extLst>
                  <a:ext uri="{FF2B5EF4-FFF2-40B4-BE49-F238E27FC236}">
                    <a16:creationId xmlns:a16="http://schemas.microsoft.com/office/drawing/2014/main" id="{BF0B0C31-83B7-B86A-1FDA-929B051F4519}"/>
                  </a:ext>
                </a:extLst>
              </p:cNvPr>
              <p:cNvSpPr txBox="1">
                <a:spLocks noRot="1" noChangeAspect="1" noMove="1" noResize="1" noEditPoints="1" noAdjustHandles="1" noChangeArrowheads="1" noChangeShapeType="1" noTextEdit="1"/>
              </p:cNvSpPr>
              <p:nvPr/>
            </p:nvSpPr>
            <p:spPr>
              <a:xfrm>
                <a:off x="2551812" y="5287373"/>
                <a:ext cx="393406" cy="369332"/>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 xmlns:a16="http://schemas.microsoft.com/office/drawing/2014/main" id="{5C4EB947-2B00-01B1-897A-ECEC27DA1157}"/>
                  </a:ext>
                </a:extLst>
              </p:cNvPr>
              <p:cNvSpPr txBox="1"/>
              <p:nvPr/>
            </p:nvSpPr>
            <p:spPr>
              <a:xfrm>
                <a:off x="2551812" y="2177351"/>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0</m:t>
                          </m:r>
                        </m:sub>
                      </m:sSub>
                    </m:oMath>
                  </m:oMathPara>
                </a14:m>
                <a:endParaRPr lang="en-US" dirty="0"/>
              </a:p>
            </p:txBody>
          </p:sp>
        </mc:Choice>
        <mc:Fallback xmlns="">
          <p:sp>
            <p:nvSpPr>
              <p:cNvPr id="15" name="TextBox 14">
                <a:extLst>
                  <a:ext uri="{FF2B5EF4-FFF2-40B4-BE49-F238E27FC236}">
                    <a16:creationId xmlns:a16="http://schemas.microsoft.com/office/drawing/2014/main" id="{5C4EB947-2B00-01B1-897A-ECEC27DA1157}"/>
                  </a:ext>
                </a:extLst>
              </p:cNvPr>
              <p:cNvSpPr txBox="1">
                <a:spLocks noRot="1" noChangeAspect="1" noMove="1" noResize="1" noEditPoints="1" noAdjustHandles="1" noChangeArrowheads="1" noChangeShapeType="1" noTextEdit="1"/>
              </p:cNvSpPr>
              <p:nvPr/>
            </p:nvSpPr>
            <p:spPr>
              <a:xfrm>
                <a:off x="2551812" y="2177351"/>
                <a:ext cx="393406" cy="369332"/>
              </a:xfrm>
              <a:prstGeom prst="rect">
                <a:avLst/>
              </a:prstGeom>
              <a:blipFill>
                <a:blip r:embed="rId3"/>
                <a:stretch>
                  <a:fillRect b="-6557"/>
                </a:stretch>
              </a:blipFill>
            </p:spPr>
            <p:txBody>
              <a:bodyPr/>
              <a:lstStyle/>
              <a:p>
                <a:r>
                  <a:rPr lang="en-US">
                    <a:noFill/>
                  </a:rPr>
                  <a:t> </a:t>
                </a:r>
              </a:p>
            </p:txBody>
          </p:sp>
        </mc:Fallback>
      </mc:AlternateContent>
      <p:sp>
        <p:nvSpPr>
          <p:cNvPr id="7" name="Rectangle 6">
            <a:extLst>
              <a:ext uri="{FF2B5EF4-FFF2-40B4-BE49-F238E27FC236}">
                <a16:creationId xmlns="" xmlns:a16="http://schemas.microsoft.com/office/drawing/2014/main" id="{4195ADE5-EFD2-2CE4-120C-33F17F06CF8E}"/>
              </a:ext>
            </a:extLst>
          </p:cNvPr>
          <p:cNvSpPr/>
          <p:nvPr/>
        </p:nvSpPr>
        <p:spPr>
          <a:xfrm>
            <a:off x="3342167"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0" name="Rectangle 9">
            <a:extLst>
              <a:ext uri="{FF2B5EF4-FFF2-40B4-BE49-F238E27FC236}">
                <a16:creationId xmlns="" xmlns:a16="http://schemas.microsoft.com/office/drawing/2014/main" id="{8BE88036-7171-C33B-3FF7-46CC4F7712FE}"/>
              </a:ext>
            </a:extLst>
          </p:cNvPr>
          <p:cNvSpPr/>
          <p:nvPr/>
        </p:nvSpPr>
        <p:spPr>
          <a:xfrm>
            <a:off x="4127204"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1" name="Rectangle 10">
            <a:extLst>
              <a:ext uri="{FF2B5EF4-FFF2-40B4-BE49-F238E27FC236}">
                <a16:creationId xmlns="" xmlns:a16="http://schemas.microsoft.com/office/drawing/2014/main" id="{B91DF6AC-A6FD-8CCC-389D-EA539B1BD52C}"/>
              </a:ext>
            </a:extLst>
          </p:cNvPr>
          <p:cNvSpPr/>
          <p:nvPr/>
        </p:nvSpPr>
        <p:spPr>
          <a:xfrm>
            <a:off x="3342166" y="1825625"/>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 xmlns:a16="http://schemas.microsoft.com/office/drawing/2014/main" id="{DB7CDD93-437A-87E6-0718-836C2DF6B602}"/>
              </a:ext>
            </a:extLst>
          </p:cNvPr>
          <p:cNvSpPr/>
          <p:nvPr/>
        </p:nvSpPr>
        <p:spPr>
          <a:xfrm>
            <a:off x="4127204" y="1819756"/>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3" name="TextBox 12">
                <a:extLst>
                  <a:ext uri="{FF2B5EF4-FFF2-40B4-BE49-F238E27FC236}">
                    <a16:creationId xmlns="" xmlns:a16="http://schemas.microsoft.com/office/drawing/2014/main" id="{E681BE14-7B2A-5CF4-E10E-A7DEB61B11C4}"/>
                  </a:ext>
                </a:extLst>
              </p:cNvPr>
              <p:cNvSpPr txBox="1"/>
              <p:nvPr/>
            </p:nvSpPr>
            <p:spPr>
              <a:xfrm>
                <a:off x="3336851" y="2177351"/>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1</m:t>
                          </m:r>
                        </m:sub>
                      </m:sSub>
                    </m:oMath>
                  </m:oMathPara>
                </a14:m>
                <a:endParaRPr lang="en-US" dirty="0"/>
              </a:p>
            </p:txBody>
          </p:sp>
        </mc:Choice>
        <mc:Fallback xmlns="">
          <p:sp>
            <p:nvSpPr>
              <p:cNvPr id="13" name="TextBox 12">
                <a:extLst>
                  <a:ext uri="{FF2B5EF4-FFF2-40B4-BE49-F238E27FC236}">
                    <a16:creationId xmlns:a16="http://schemas.microsoft.com/office/drawing/2014/main" id="{E681BE14-7B2A-5CF4-E10E-A7DEB61B11C4}"/>
                  </a:ext>
                </a:extLst>
              </p:cNvPr>
              <p:cNvSpPr txBox="1">
                <a:spLocks noRot="1" noChangeAspect="1" noMove="1" noResize="1" noEditPoints="1" noAdjustHandles="1" noChangeArrowheads="1" noChangeShapeType="1" noTextEdit="1"/>
              </p:cNvSpPr>
              <p:nvPr/>
            </p:nvSpPr>
            <p:spPr>
              <a:xfrm>
                <a:off x="3336851" y="2177351"/>
                <a:ext cx="393406" cy="369332"/>
              </a:xfrm>
              <a:prstGeom prst="rect">
                <a:avLst/>
              </a:prstGeom>
              <a:blipFill>
                <a:blip r:embed="rId4"/>
                <a:stretch>
                  <a:fillRect b="-65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 xmlns:a16="http://schemas.microsoft.com/office/drawing/2014/main" id="{CBEA5730-C4C7-738D-E0EB-6B0AC22615B6}"/>
                  </a:ext>
                </a:extLst>
              </p:cNvPr>
              <p:cNvSpPr txBox="1"/>
              <p:nvPr/>
            </p:nvSpPr>
            <p:spPr>
              <a:xfrm>
                <a:off x="4127203" y="2177351"/>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2</m:t>
                          </m:r>
                        </m:sub>
                      </m:sSub>
                    </m:oMath>
                  </m:oMathPara>
                </a14:m>
                <a:endParaRPr lang="en-US" dirty="0"/>
              </a:p>
            </p:txBody>
          </p:sp>
        </mc:Choice>
        <mc:Fallback xmlns="">
          <p:sp>
            <p:nvSpPr>
              <p:cNvPr id="17" name="TextBox 16">
                <a:extLst>
                  <a:ext uri="{FF2B5EF4-FFF2-40B4-BE49-F238E27FC236}">
                    <a16:creationId xmlns:a16="http://schemas.microsoft.com/office/drawing/2014/main" id="{CBEA5730-C4C7-738D-E0EB-6B0AC22615B6}"/>
                  </a:ext>
                </a:extLst>
              </p:cNvPr>
              <p:cNvSpPr txBox="1">
                <a:spLocks noRot="1" noChangeAspect="1" noMove="1" noResize="1" noEditPoints="1" noAdjustHandles="1" noChangeArrowheads="1" noChangeShapeType="1" noTextEdit="1"/>
              </p:cNvSpPr>
              <p:nvPr/>
            </p:nvSpPr>
            <p:spPr>
              <a:xfrm>
                <a:off x="4127203" y="2177351"/>
                <a:ext cx="393406" cy="369332"/>
              </a:xfrm>
              <a:prstGeom prst="rect">
                <a:avLst/>
              </a:prstGeom>
              <a:blipFill>
                <a:blip r:embed="rId5"/>
                <a:stretch>
                  <a:fillRect b="-6557"/>
                </a:stretch>
              </a:blipFill>
            </p:spPr>
            <p:txBody>
              <a:bodyPr/>
              <a:lstStyle/>
              <a:p>
                <a:r>
                  <a:rPr lang="en-US">
                    <a:noFill/>
                  </a:rPr>
                  <a:t> </a:t>
                </a:r>
              </a:p>
            </p:txBody>
          </p:sp>
        </mc:Fallback>
      </mc:AlternateContent>
      <p:cxnSp>
        <p:nvCxnSpPr>
          <p:cNvPr id="19" name="Straight Arrow Connector 18">
            <a:extLst>
              <a:ext uri="{FF2B5EF4-FFF2-40B4-BE49-F238E27FC236}">
                <a16:creationId xmlns="" xmlns:a16="http://schemas.microsoft.com/office/drawing/2014/main" id="{56B2A9D7-DA78-68D1-4F93-5197D873212F}"/>
              </a:ext>
            </a:extLst>
          </p:cNvPr>
          <p:cNvCxnSpPr>
            <a:stCxn id="5" idx="3"/>
            <a:endCxn id="7" idx="1"/>
          </p:cNvCxnSpPr>
          <p:nvPr/>
        </p:nvCxnSpPr>
        <p:spPr>
          <a:xfrm>
            <a:off x="2945218" y="3919963"/>
            <a:ext cx="39694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 xmlns:a16="http://schemas.microsoft.com/office/drawing/2014/main" id="{B6A2E247-2561-B91B-B93F-32FFD3EDDC5F}"/>
              </a:ext>
            </a:extLst>
          </p:cNvPr>
          <p:cNvCxnSpPr>
            <a:stCxn id="7" idx="3"/>
            <a:endCxn id="10" idx="1"/>
          </p:cNvCxnSpPr>
          <p:nvPr/>
        </p:nvCxnSpPr>
        <p:spPr>
          <a:xfrm>
            <a:off x="3735572" y="3919963"/>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3" name="Straight Arrow Connector 22">
            <a:extLst>
              <a:ext uri="{FF2B5EF4-FFF2-40B4-BE49-F238E27FC236}">
                <a16:creationId xmlns="" xmlns:a16="http://schemas.microsoft.com/office/drawing/2014/main" id="{6F1616EF-3A72-1259-59E2-590EFB39D927}"/>
              </a:ext>
            </a:extLst>
          </p:cNvPr>
          <p:cNvCxnSpPr>
            <a:stCxn id="7" idx="0"/>
            <a:endCxn id="11" idx="2"/>
          </p:cNvCxnSpPr>
          <p:nvPr/>
        </p:nvCxnSpPr>
        <p:spPr>
          <a:xfrm flipH="1" flipV="1">
            <a:off x="3538869" y="2910146"/>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5" name="Straight Arrow Connector 24">
            <a:extLst>
              <a:ext uri="{FF2B5EF4-FFF2-40B4-BE49-F238E27FC236}">
                <a16:creationId xmlns="" xmlns:a16="http://schemas.microsoft.com/office/drawing/2014/main" id="{7B138E64-74E4-4721-F500-DB7B5398D8BA}"/>
              </a:ext>
            </a:extLst>
          </p:cNvPr>
          <p:cNvCxnSpPr>
            <a:stCxn id="10" idx="0"/>
            <a:endCxn id="12" idx="2"/>
          </p:cNvCxnSpPr>
          <p:nvPr/>
        </p:nvCxnSpPr>
        <p:spPr>
          <a:xfrm flipV="1">
            <a:off x="4323907" y="2904277"/>
            <a:ext cx="0"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03226899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B3444CC4-1F8D-1221-E0A5-2DD7F9D111A6}"/>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0347A3C2-C6DB-13A0-B8F1-546D0E455D49}"/>
              </a:ext>
            </a:extLst>
          </p:cNvPr>
          <p:cNvSpPr>
            <a:spLocks noGrp="1"/>
          </p:cNvSpPr>
          <p:nvPr>
            <p:ph type="title"/>
          </p:nvPr>
        </p:nvSpPr>
        <p:spPr/>
        <p:txBody>
          <a:bodyPr/>
          <a:lstStyle/>
          <a:p>
            <a:r>
              <a:rPr lang="pt-BR" dirty="0"/>
              <a:t>Aplicação: vários-para-um</a:t>
            </a:r>
            <a:endParaRPr lang="en-US" dirty="0"/>
          </a:p>
        </p:txBody>
      </p:sp>
      <p:sp>
        <p:nvSpPr>
          <p:cNvPr id="3" name="Content Placeholder 2">
            <a:extLst>
              <a:ext uri="{FF2B5EF4-FFF2-40B4-BE49-F238E27FC236}">
                <a16:creationId xmlns="" xmlns:a16="http://schemas.microsoft.com/office/drawing/2014/main" id="{426CAEBD-083F-C12D-7B6A-7E3651A6C2E6}"/>
              </a:ext>
            </a:extLst>
          </p:cNvPr>
          <p:cNvSpPr>
            <a:spLocks noGrp="1"/>
          </p:cNvSpPr>
          <p:nvPr>
            <p:ph idx="1"/>
          </p:nvPr>
        </p:nvSpPr>
        <p:spPr>
          <a:xfrm>
            <a:off x="5674942" y="1825624"/>
            <a:ext cx="6393012" cy="5032375"/>
          </a:xfrm>
        </p:spPr>
        <p:txBody>
          <a:bodyPr>
            <a:normAutofit/>
          </a:bodyPr>
          <a:lstStyle/>
          <a:p>
            <a:r>
              <a:rPr lang="pt-BR" dirty="0"/>
              <a:t>Entrada de tamanho variável (sequência).</a:t>
            </a:r>
          </a:p>
          <a:p>
            <a:r>
              <a:rPr lang="pt-BR" dirty="0"/>
              <a:t>Saída de tamanho fixo.</a:t>
            </a:r>
          </a:p>
          <a:p>
            <a:r>
              <a:rPr lang="pt-BR" dirty="0"/>
              <a:t>Rede do tipo sequência para vetor.</a:t>
            </a:r>
          </a:p>
          <a:p>
            <a:r>
              <a:rPr lang="pt-BR" dirty="0"/>
              <a:t>Exemplo de uso: </a:t>
            </a:r>
          </a:p>
          <a:p>
            <a:pPr lvl="1">
              <a:buFont typeface="Wingdings" panose="05000000000000000000" pitchFamily="2" charset="2"/>
              <a:buChar char="§"/>
            </a:pPr>
            <a:r>
              <a:rPr lang="pt-BR" dirty="0"/>
              <a:t>Classificação de sentimentos.</a:t>
            </a:r>
          </a:p>
          <a:p>
            <a:pPr lvl="2">
              <a:buFont typeface="Courier New" panose="02070309020205020404" pitchFamily="49" charset="0"/>
              <a:buChar char="o"/>
            </a:pPr>
            <a:r>
              <a:rPr lang="pt-BR" dirty="0"/>
              <a:t>Por exemplo, classificar o sentimento em uma mensagem de rede social.</a:t>
            </a:r>
          </a:p>
          <a:p>
            <a:pPr lvl="3">
              <a:buFont typeface="Wingdings" panose="05000000000000000000" pitchFamily="2" charset="2"/>
              <a:buChar char="ü"/>
            </a:pPr>
            <a:r>
              <a:rPr lang="pt-BR" dirty="0"/>
              <a:t>Entrada: sequência de palavras</a:t>
            </a:r>
          </a:p>
          <a:p>
            <a:pPr lvl="3">
              <a:buFont typeface="Wingdings" panose="05000000000000000000" pitchFamily="2" charset="2"/>
              <a:buChar char="ü"/>
            </a:pPr>
            <a:r>
              <a:rPr lang="pt-BR" dirty="0"/>
              <a:t>Saída: sentimento.</a:t>
            </a:r>
          </a:p>
          <a:p>
            <a:pPr lvl="2">
              <a:buFont typeface="Courier New" panose="02070309020205020404" pitchFamily="49" charset="0"/>
              <a:buChar char="o"/>
            </a:pPr>
            <a:r>
              <a:rPr lang="pt-BR" dirty="0"/>
              <a:t>Entrada: sequência de palavras correspondentes a uma crítica de um filme.</a:t>
            </a:r>
          </a:p>
          <a:p>
            <a:pPr lvl="2">
              <a:buFont typeface="Courier New" panose="02070309020205020404" pitchFamily="49" charset="0"/>
              <a:buChar char="o"/>
            </a:pPr>
            <a:r>
              <a:rPr lang="pt-BR" dirty="0"/>
              <a:t>Saída: pontuação de sentimento: 0 [odiou] até 1 [amou]</a:t>
            </a:r>
            <a:endParaRPr lang="en-US" dirty="0"/>
          </a:p>
        </p:txBody>
      </p:sp>
      <p:sp>
        <p:nvSpPr>
          <p:cNvPr id="4" name="Rectangle 3">
            <a:extLst>
              <a:ext uri="{FF2B5EF4-FFF2-40B4-BE49-F238E27FC236}">
                <a16:creationId xmlns="" xmlns:a16="http://schemas.microsoft.com/office/drawing/2014/main" id="{C9302BEE-2F04-7DDD-4454-3518684E7D47}"/>
              </a:ext>
            </a:extLst>
          </p:cNvPr>
          <p:cNvSpPr/>
          <p:nvPr/>
        </p:nvSpPr>
        <p:spPr>
          <a:xfrm>
            <a:off x="3563678" y="1819756"/>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 xmlns:a16="http://schemas.microsoft.com/office/drawing/2014/main" id="{5C42A486-679A-4E3B-7913-6F218BD23A83}"/>
              </a:ext>
            </a:extLst>
          </p:cNvPr>
          <p:cNvSpPr/>
          <p:nvPr/>
        </p:nvSpPr>
        <p:spPr>
          <a:xfrm>
            <a:off x="1988288"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 name="Rectangle 5">
            <a:extLst>
              <a:ext uri="{FF2B5EF4-FFF2-40B4-BE49-F238E27FC236}">
                <a16:creationId xmlns="" xmlns:a16="http://schemas.microsoft.com/office/drawing/2014/main" id="{84137C4D-A821-FEC0-D8F6-AE7B0C2954FE}"/>
              </a:ext>
            </a:extLst>
          </p:cNvPr>
          <p:cNvSpPr/>
          <p:nvPr/>
        </p:nvSpPr>
        <p:spPr>
          <a:xfrm>
            <a:off x="1988287" y="4929779"/>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9" name="Straight Arrow Connector 8">
            <a:extLst>
              <a:ext uri="{FF2B5EF4-FFF2-40B4-BE49-F238E27FC236}">
                <a16:creationId xmlns="" xmlns:a16="http://schemas.microsoft.com/office/drawing/2014/main" id="{03ADAD61-EE48-411E-977D-6A94581807B9}"/>
              </a:ext>
            </a:extLst>
          </p:cNvPr>
          <p:cNvCxnSpPr>
            <a:cxnSpLocks/>
            <a:stCxn id="6" idx="0"/>
            <a:endCxn id="5" idx="2"/>
          </p:cNvCxnSpPr>
          <p:nvPr/>
        </p:nvCxnSpPr>
        <p:spPr>
          <a:xfrm flipV="1">
            <a:off x="2184990" y="4462223"/>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 name="TextBox 13">
                <a:extLst>
                  <a:ext uri="{FF2B5EF4-FFF2-40B4-BE49-F238E27FC236}">
                    <a16:creationId xmlns="" xmlns:a16="http://schemas.microsoft.com/office/drawing/2014/main" id="{D438ACA1-F975-B9C5-FACB-89F4912E372A}"/>
                  </a:ext>
                </a:extLst>
              </p:cNvPr>
              <p:cNvSpPr txBox="1"/>
              <p:nvPr/>
            </p:nvSpPr>
            <p:spPr>
              <a:xfrm>
                <a:off x="1988287" y="5287373"/>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0</m:t>
                          </m:r>
                        </m:sub>
                      </m:sSub>
                    </m:oMath>
                  </m:oMathPara>
                </a14:m>
                <a:endParaRPr lang="en-US" dirty="0"/>
              </a:p>
            </p:txBody>
          </p:sp>
        </mc:Choice>
        <mc:Fallback xmlns="">
          <p:sp>
            <p:nvSpPr>
              <p:cNvPr id="14" name="TextBox 13">
                <a:extLst>
                  <a:ext uri="{FF2B5EF4-FFF2-40B4-BE49-F238E27FC236}">
                    <a16:creationId xmlns:a16="http://schemas.microsoft.com/office/drawing/2014/main" id="{D438ACA1-F975-B9C5-FACB-89F4912E372A}"/>
                  </a:ext>
                </a:extLst>
              </p:cNvPr>
              <p:cNvSpPr txBox="1">
                <a:spLocks noRot="1" noChangeAspect="1" noMove="1" noResize="1" noEditPoints="1" noAdjustHandles="1" noChangeArrowheads="1" noChangeShapeType="1" noTextEdit="1"/>
              </p:cNvSpPr>
              <p:nvPr/>
            </p:nvSpPr>
            <p:spPr>
              <a:xfrm>
                <a:off x="1988287" y="5287373"/>
                <a:ext cx="393406" cy="369332"/>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 xmlns:a16="http://schemas.microsoft.com/office/drawing/2014/main" id="{7E8B84A3-F2D0-4ED5-997A-BF31055ECC10}"/>
                  </a:ext>
                </a:extLst>
              </p:cNvPr>
              <p:cNvSpPr txBox="1"/>
              <p:nvPr/>
            </p:nvSpPr>
            <p:spPr>
              <a:xfrm>
                <a:off x="3550387" y="2164863"/>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0</m:t>
                          </m:r>
                        </m:sub>
                      </m:sSub>
                    </m:oMath>
                  </m:oMathPara>
                </a14:m>
                <a:endParaRPr lang="en-US" dirty="0"/>
              </a:p>
            </p:txBody>
          </p:sp>
        </mc:Choice>
        <mc:Fallback xmlns="">
          <p:sp>
            <p:nvSpPr>
              <p:cNvPr id="15" name="TextBox 14">
                <a:extLst>
                  <a:ext uri="{FF2B5EF4-FFF2-40B4-BE49-F238E27FC236}">
                    <a16:creationId xmlns:a16="http://schemas.microsoft.com/office/drawing/2014/main" id="{7E8B84A3-F2D0-4ED5-997A-BF31055ECC10}"/>
                  </a:ext>
                </a:extLst>
              </p:cNvPr>
              <p:cNvSpPr txBox="1">
                <a:spLocks noRot="1" noChangeAspect="1" noMove="1" noResize="1" noEditPoints="1" noAdjustHandles="1" noChangeArrowheads="1" noChangeShapeType="1" noTextEdit="1"/>
              </p:cNvSpPr>
              <p:nvPr/>
            </p:nvSpPr>
            <p:spPr>
              <a:xfrm>
                <a:off x="3550387" y="2164863"/>
                <a:ext cx="393406" cy="369332"/>
              </a:xfrm>
              <a:prstGeom prst="rect">
                <a:avLst/>
              </a:prstGeom>
              <a:blipFill>
                <a:blip r:embed="rId3"/>
                <a:stretch>
                  <a:fillRect b="-6557"/>
                </a:stretch>
              </a:blipFill>
            </p:spPr>
            <p:txBody>
              <a:bodyPr/>
              <a:lstStyle/>
              <a:p>
                <a:r>
                  <a:rPr lang="en-US">
                    <a:noFill/>
                  </a:rPr>
                  <a:t> </a:t>
                </a:r>
              </a:p>
            </p:txBody>
          </p:sp>
        </mc:Fallback>
      </mc:AlternateContent>
      <p:sp>
        <p:nvSpPr>
          <p:cNvPr id="7" name="Rectangle 6">
            <a:extLst>
              <a:ext uri="{FF2B5EF4-FFF2-40B4-BE49-F238E27FC236}">
                <a16:creationId xmlns="" xmlns:a16="http://schemas.microsoft.com/office/drawing/2014/main" id="{706B4863-BE44-D743-50A1-A3EEBEF19A35}"/>
              </a:ext>
            </a:extLst>
          </p:cNvPr>
          <p:cNvSpPr/>
          <p:nvPr/>
        </p:nvSpPr>
        <p:spPr>
          <a:xfrm>
            <a:off x="2778642"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0" name="Rectangle 9">
            <a:extLst>
              <a:ext uri="{FF2B5EF4-FFF2-40B4-BE49-F238E27FC236}">
                <a16:creationId xmlns="" xmlns:a16="http://schemas.microsoft.com/office/drawing/2014/main" id="{E3232E91-DB17-6760-4C7B-BAFB26A059DE}"/>
              </a:ext>
            </a:extLst>
          </p:cNvPr>
          <p:cNvSpPr/>
          <p:nvPr/>
        </p:nvSpPr>
        <p:spPr>
          <a:xfrm>
            <a:off x="3563679"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 xmlns:a16="http://schemas.microsoft.com/office/drawing/2014/main" id="{E5FC7DDE-A424-45F8-3EC3-88B4FA815788}"/>
              </a:ext>
            </a:extLst>
          </p:cNvPr>
          <p:cNvCxnSpPr>
            <a:stCxn id="5" idx="3"/>
            <a:endCxn id="7" idx="1"/>
          </p:cNvCxnSpPr>
          <p:nvPr/>
        </p:nvCxnSpPr>
        <p:spPr>
          <a:xfrm>
            <a:off x="2381693" y="3919963"/>
            <a:ext cx="39694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 xmlns:a16="http://schemas.microsoft.com/office/drawing/2014/main" id="{3996B64A-481D-45A0-6C85-EF8B17685CE6}"/>
              </a:ext>
            </a:extLst>
          </p:cNvPr>
          <p:cNvCxnSpPr>
            <a:stCxn id="7" idx="3"/>
            <a:endCxn id="10" idx="1"/>
          </p:cNvCxnSpPr>
          <p:nvPr/>
        </p:nvCxnSpPr>
        <p:spPr>
          <a:xfrm>
            <a:off x="3172047" y="3919963"/>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5" name="Straight Arrow Connector 24">
            <a:extLst>
              <a:ext uri="{FF2B5EF4-FFF2-40B4-BE49-F238E27FC236}">
                <a16:creationId xmlns="" xmlns:a16="http://schemas.microsoft.com/office/drawing/2014/main" id="{E23C1344-9F0C-C2A8-439A-E28032095064}"/>
              </a:ext>
            </a:extLst>
          </p:cNvPr>
          <p:cNvCxnSpPr>
            <a:cxnSpLocks/>
            <a:stCxn id="10" idx="0"/>
          </p:cNvCxnSpPr>
          <p:nvPr/>
        </p:nvCxnSpPr>
        <p:spPr>
          <a:xfrm flipV="1">
            <a:off x="3760382" y="2904277"/>
            <a:ext cx="0"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8" name="Rectangle 17">
            <a:extLst>
              <a:ext uri="{FF2B5EF4-FFF2-40B4-BE49-F238E27FC236}">
                <a16:creationId xmlns="" xmlns:a16="http://schemas.microsoft.com/office/drawing/2014/main" id="{8B36DB85-1904-3FAD-DB09-F697141543B7}"/>
              </a:ext>
            </a:extLst>
          </p:cNvPr>
          <p:cNvSpPr/>
          <p:nvPr/>
        </p:nvSpPr>
        <p:spPr>
          <a:xfrm>
            <a:off x="2778642" y="4935648"/>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20" name="TextBox 19">
                <a:extLst>
                  <a:ext uri="{FF2B5EF4-FFF2-40B4-BE49-F238E27FC236}">
                    <a16:creationId xmlns="" xmlns:a16="http://schemas.microsoft.com/office/drawing/2014/main" id="{BAFB01E3-9980-BEE6-183B-C3D6A9366013}"/>
                  </a:ext>
                </a:extLst>
              </p:cNvPr>
              <p:cNvSpPr txBox="1"/>
              <p:nvPr/>
            </p:nvSpPr>
            <p:spPr>
              <a:xfrm>
                <a:off x="2778642" y="5293242"/>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BAFB01E3-9980-BEE6-183B-C3D6A9366013}"/>
                  </a:ext>
                </a:extLst>
              </p:cNvPr>
              <p:cNvSpPr txBox="1">
                <a:spLocks noRot="1" noChangeAspect="1" noMove="1" noResize="1" noEditPoints="1" noAdjustHandles="1" noChangeArrowheads="1" noChangeShapeType="1" noTextEdit="1"/>
              </p:cNvSpPr>
              <p:nvPr/>
            </p:nvSpPr>
            <p:spPr>
              <a:xfrm>
                <a:off x="2778642" y="5293242"/>
                <a:ext cx="393406" cy="369332"/>
              </a:xfrm>
              <a:prstGeom prst="rect">
                <a:avLst/>
              </a:prstGeom>
              <a:blipFill>
                <a:blip r:embed="rId4"/>
                <a:stretch>
                  <a:fillRect/>
                </a:stretch>
              </a:blipFill>
            </p:spPr>
            <p:txBody>
              <a:bodyPr/>
              <a:lstStyle/>
              <a:p>
                <a:r>
                  <a:rPr lang="en-US">
                    <a:noFill/>
                  </a:rPr>
                  <a:t> </a:t>
                </a:r>
              </a:p>
            </p:txBody>
          </p:sp>
        </mc:Fallback>
      </mc:AlternateContent>
      <p:sp>
        <p:nvSpPr>
          <p:cNvPr id="22" name="Rectangle 21">
            <a:extLst>
              <a:ext uri="{FF2B5EF4-FFF2-40B4-BE49-F238E27FC236}">
                <a16:creationId xmlns="" xmlns:a16="http://schemas.microsoft.com/office/drawing/2014/main" id="{85D741A9-7260-51BF-BD2E-69E1839284AD}"/>
              </a:ext>
            </a:extLst>
          </p:cNvPr>
          <p:cNvSpPr/>
          <p:nvPr/>
        </p:nvSpPr>
        <p:spPr>
          <a:xfrm>
            <a:off x="3550388" y="4935648"/>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24" name="TextBox 23">
                <a:extLst>
                  <a:ext uri="{FF2B5EF4-FFF2-40B4-BE49-F238E27FC236}">
                    <a16:creationId xmlns="" xmlns:a16="http://schemas.microsoft.com/office/drawing/2014/main" id="{A840B1E8-BB78-B6D2-D8D6-825201C6243F}"/>
                  </a:ext>
                </a:extLst>
              </p:cNvPr>
              <p:cNvSpPr txBox="1"/>
              <p:nvPr/>
            </p:nvSpPr>
            <p:spPr>
              <a:xfrm>
                <a:off x="3550388" y="5293242"/>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2</m:t>
                          </m:r>
                        </m:sub>
                      </m:sSub>
                    </m:oMath>
                  </m:oMathPara>
                </a14:m>
                <a:endParaRPr lang="en-US" dirty="0"/>
              </a:p>
            </p:txBody>
          </p:sp>
        </mc:Choice>
        <mc:Fallback xmlns="">
          <p:sp>
            <p:nvSpPr>
              <p:cNvPr id="24" name="TextBox 23">
                <a:extLst>
                  <a:ext uri="{FF2B5EF4-FFF2-40B4-BE49-F238E27FC236}">
                    <a16:creationId xmlns:a16="http://schemas.microsoft.com/office/drawing/2014/main" id="{A840B1E8-BB78-B6D2-D8D6-825201C6243F}"/>
                  </a:ext>
                </a:extLst>
              </p:cNvPr>
              <p:cNvSpPr txBox="1">
                <a:spLocks noRot="1" noChangeAspect="1" noMove="1" noResize="1" noEditPoints="1" noAdjustHandles="1" noChangeArrowheads="1" noChangeShapeType="1" noTextEdit="1"/>
              </p:cNvSpPr>
              <p:nvPr/>
            </p:nvSpPr>
            <p:spPr>
              <a:xfrm>
                <a:off x="3550388" y="5293242"/>
                <a:ext cx="393406" cy="369332"/>
              </a:xfrm>
              <a:prstGeom prst="rect">
                <a:avLst/>
              </a:prstGeom>
              <a:blipFill>
                <a:blip r:embed="rId5"/>
                <a:stretch>
                  <a:fillRect/>
                </a:stretch>
              </a:blipFill>
            </p:spPr>
            <p:txBody>
              <a:bodyPr/>
              <a:lstStyle/>
              <a:p>
                <a:r>
                  <a:rPr lang="en-US">
                    <a:noFill/>
                  </a:rPr>
                  <a:t> </a:t>
                </a:r>
              </a:p>
            </p:txBody>
          </p:sp>
        </mc:Fallback>
      </mc:AlternateContent>
      <p:cxnSp>
        <p:nvCxnSpPr>
          <p:cNvPr id="26" name="Straight Arrow Connector 25">
            <a:extLst>
              <a:ext uri="{FF2B5EF4-FFF2-40B4-BE49-F238E27FC236}">
                <a16:creationId xmlns="" xmlns:a16="http://schemas.microsoft.com/office/drawing/2014/main" id="{03AA0414-818E-6F6B-1BE6-D96E6EE87D8B}"/>
              </a:ext>
            </a:extLst>
          </p:cNvPr>
          <p:cNvCxnSpPr>
            <a:cxnSpLocks/>
            <a:stCxn id="18" idx="0"/>
            <a:endCxn id="7" idx="2"/>
          </p:cNvCxnSpPr>
          <p:nvPr/>
        </p:nvCxnSpPr>
        <p:spPr>
          <a:xfrm flipV="1">
            <a:off x="2975345" y="4462223"/>
            <a:ext cx="0"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 xmlns:a16="http://schemas.microsoft.com/office/drawing/2014/main" id="{86CC9551-6E4F-358E-26ED-41D46B38457B}"/>
              </a:ext>
            </a:extLst>
          </p:cNvPr>
          <p:cNvCxnSpPr>
            <a:cxnSpLocks/>
            <a:stCxn id="22" idx="0"/>
            <a:endCxn id="10" idx="2"/>
          </p:cNvCxnSpPr>
          <p:nvPr/>
        </p:nvCxnSpPr>
        <p:spPr>
          <a:xfrm flipV="1">
            <a:off x="3747091" y="4462223"/>
            <a:ext cx="13291"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623508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20F404BC-1C10-75A1-B4B9-0F07ABD9614D}"/>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79B0E4F9-E85F-5499-E6C5-4B935396A4F2}"/>
              </a:ext>
            </a:extLst>
          </p:cNvPr>
          <p:cNvSpPr>
            <a:spLocks noGrp="1"/>
          </p:cNvSpPr>
          <p:nvPr>
            <p:ph type="title"/>
          </p:nvPr>
        </p:nvSpPr>
        <p:spPr/>
        <p:txBody>
          <a:bodyPr/>
          <a:lstStyle/>
          <a:p>
            <a:r>
              <a:rPr lang="pt-BR" dirty="0"/>
              <a:t>Aplicação: vários-para-vários síncrono</a:t>
            </a:r>
            <a:endParaRPr lang="en-US" dirty="0"/>
          </a:p>
        </p:txBody>
      </p:sp>
      <p:sp>
        <p:nvSpPr>
          <p:cNvPr id="3" name="Content Placeholder 2">
            <a:extLst>
              <a:ext uri="{FF2B5EF4-FFF2-40B4-BE49-F238E27FC236}">
                <a16:creationId xmlns="" xmlns:a16="http://schemas.microsoft.com/office/drawing/2014/main" id="{6D63A1C2-4E07-2232-684D-8A7C66D92F6F}"/>
              </a:ext>
            </a:extLst>
          </p:cNvPr>
          <p:cNvSpPr>
            <a:spLocks noGrp="1"/>
          </p:cNvSpPr>
          <p:nvPr>
            <p:ph idx="1"/>
          </p:nvPr>
        </p:nvSpPr>
        <p:spPr>
          <a:xfrm>
            <a:off x="5645891" y="1825624"/>
            <a:ext cx="6422062" cy="5032375"/>
          </a:xfrm>
        </p:spPr>
        <p:txBody>
          <a:bodyPr>
            <a:normAutofit/>
          </a:bodyPr>
          <a:lstStyle/>
          <a:p>
            <a:r>
              <a:rPr lang="pt-BR" dirty="0"/>
              <a:t>Entrada de tamanho variável (sequência).</a:t>
            </a:r>
          </a:p>
          <a:p>
            <a:r>
              <a:rPr lang="pt-BR" dirty="0"/>
              <a:t>Saída de tamanho variável (sequência).</a:t>
            </a:r>
          </a:p>
          <a:p>
            <a:r>
              <a:rPr lang="pt-BR" dirty="0"/>
              <a:t>Rede do tipo sequência para sequência</a:t>
            </a:r>
          </a:p>
          <a:p>
            <a:r>
              <a:rPr lang="pt-BR" dirty="0"/>
              <a:t>Entrada e saída sincronizadas.</a:t>
            </a:r>
          </a:p>
          <a:p>
            <a:pPr lvl="1">
              <a:buFont typeface="Wingdings" panose="05000000000000000000" pitchFamily="2" charset="2"/>
              <a:buChar char="§"/>
            </a:pPr>
            <a:r>
              <a:rPr lang="pt-BR" dirty="0"/>
              <a:t>Comprimentos de entrada e saída são iguais.</a:t>
            </a:r>
          </a:p>
          <a:p>
            <a:r>
              <a:rPr lang="pt-BR" dirty="0"/>
              <a:t>Exemplos de uso:</a:t>
            </a:r>
          </a:p>
          <a:p>
            <a:pPr lvl="1">
              <a:buFont typeface="Wingdings" panose="05000000000000000000" pitchFamily="2" charset="2"/>
              <a:buChar char="§"/>
            </a:pPr>
            <a:r>
              <a:rPr lang="pt-BR" dirty="0"/>
              <a:t>Classificação de vídeo em nível de quadro.</a:t>
            </a:r>
          </a:p>
          <a:p>
            <a:pPr lvl="2">
              <a:buFont typeface="Courier New" panose="02070309020205020404" pitchFamily="49" charset="0"/>
              <a:buChar char="o"/>
            </a:pPr>
            <a:r>
              <a:rPr lang="pt-BR" dirty="0"/>
              <a:t>Contagem de tráfego: </a:t>
            </a:r>
          </a:p>
          <a:p>
            <a:pPr lvl="3">
              <a:buFont typeface="Wingdings" panose="05000000000000000000" pitchFamily="2" charset="2"/>
              <a:buChar char="ü"/>
            </a:pPr>
            <a:r>
              <a:rPr lang="pt-BR" dirty="0"/>
              <a:t>Entrada: Imagem de carros em um semáforo.</a:t>
            </a:r>
          </a:p>
          <a:p>
            <a:pPr lvl="3">
              <a:buFont typeface="Wingdings" panose="05000000000000000000" pitchFamily="2" charset="2"/>
              <a:buChar char="ü"/>
            </a:pPr>
            <a:r>
              <a:rPr lang="pt-BR" dirty="0"/>
              <a:t>Saída: quantos carros na imagem.</a:t>
            </a:r>
          </a:p>
        </p:txBody>
      </p:sp>
      <p:sp>
        <p:nvSpPr>
          <p:cNvPr id="5" name="Rectangle 4">
            <a:extLst>
              <a:ext uri="{FF2B5EF4-FFF2-40B4-BE49-F238E27FC236}">
                <a16:creationId xmlns="" xmlns:a16="http://schemas.microsoft.com/office/drawing/2014/main" id="{4995F72F-2BD9-38FB-B83A-AB47646799CC}"/>
              </a:ext>
            </a:extLst>
          </p:cNvPr>
          <p:cNvSpPr/>
          <p:nvPr/>
        </p:nvSpPr>
        <p:spPr>
          <a:xfrm>
            <a:off x="1988288"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 name="Rectangle 5">
            <a:extLst>
              <a:ext uri="{FF2B5EF4-FFF2-40B4-BE49-F238E27FC236}">
                <a16:creationId xmlns="" xmlns:a16="http://schemas.microsoft.com/office/drawing/2014/main" id="{4A8E543B-2A6C-76EE-A90B-AF59A3BC4B35}"/>
              </a:ext>
            </a:extLst>
          </p:cNvPr>
          <p:cNvSpPr/>
          <p:nvPr/>
        </p:nvSpPr>
        <p:spPr>
          <a:xfrm>
            <a:off x="1988287" y="4929779"/>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9" name="Straight Arrow Connector 8">
            <a:extLst>
              <a:ext uri="{FF2B5EF4-FFF2-40B4-BE49-F238E27FC236}">
                <a16:creationId xmlns="" xmlns:a16="http://schemas.microsoft.com/office/drawing/2014/main" id="{D9813126-B789-1A77-F6A1-7A11925203A8}"/>
              </a:ext>
            </a:extLst>
          </p:cNvPr>
          <p:cNvCxnSpPr>
            <a:cxnSpLocks/>
            <a:stCxn id="6" idx="0"/>
            <a:endCxn id="5" idx="2"/>
          </p:cNvCxnSpPr>
          <p:nvPr/>
        </p:nvCxnSpPr>
        <p:spPr>
          <a:xfrm flipV="1">
            <a:off x="2184990" y="4462223"/>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 name="TextBox 13">
                <a:extLst>
                  <a:ext uri="{FF2B5EF4-FFF2-40B4-BE49-F238E27FC236}">
                    <a16:creationId xmlns="" xmlns:a16="http://schemas.microsoft.com/office/drawing/2014/main" id="{150A4A27-B2A2-9AEE-E4C4-3E3FD4C84292}"/>
                  </a:ext>
                </a:extLst>
              </p:cNvPr>
              <p:cNvSpPr txBox="1"/>
              <p:nvPr/>
            </p:nvSpPr>
            <p:spPr>
              <a:xfrm>
                <a:off x="1988287" y="5287373"/>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0</m:t>
                          </m:r>
                        </m:sub>
                      </m:sSub>
                    </m:oMath>
                  </m:oMathPara>
                </a14:m>
                <a:endParaRPr lang="en-US" dirty="0"/>
              </a:p>
            </p:txBody>
          </p:sp>
        </mc:Choice>
        <mc:Fallback xmlns="">
          <p:sp>
            <p:nvSpPr>
              <p:cNvPr id="14" name="TextBox 13">
                <a:extLst>
                  <a:ext uri="{FF2B5EF4-FFF2-40B4-BE49-F238E27FC236}">
                    <a16:creationId xmlns:a16="http://schemas.microsoft.com/office/drawing/2014/main" id="{150A4A27-B2A2-9AEE-E4C4-3E3FD4C84292}"/>
                  </a:ext>
                </a:extLst>
              </p:cNvPr>
              <p:cNvSpPr txBox="1">
                <a:spLocks noRot="1" noChangeAspect="1" noMove="1" noResize="1" noEditPoints="1" noAdjustHandles="1" noChangeArrowheads="1" noChangeShapeType="1" noTextEdit="1"/>
              </p:cNvSpPr>
              <p:nvPr/>
            </p:nvSpPr>
            <p:spPr>
              <a:xfrm>
                <a:off x="1988287" y="5287373"/>
                <a:ext cx="393406" cy="369332"/>
              </a:xfrm>
              <a:prstGeom prst="rect">
                <a:avLst/>
              </a:prstGeom>
              <a:blipFill>
                <a:blip r:embed="rId3"/>
                <a:stretch>
                  <a:fillRect/>
                </a:stretch>
              </a:blipFill>
            </p:spPr>
            <p:txBody>
              <a:bodyPr/>
              <a:lstStyle/>
              <a:p>
                <a:r>
                  <a:rPr lang="en-US">
                    <a:noFill/>
                  </a:rPr>
                  <a:t> </a:t>
                </a:r>
              </a:p>
            </p:txBody>
          </p:sp>
        </mc:Fallback>
      </mc:AlternateContent>
      <p:sp>
        <p:nvSpPr>
          <p:cNvPr id="7" name="Rectangle 6">
            <a:extLst>
              <a:ext uri="{FF2B5EF4-FFF2-40B4-BE49-F238E27FC236}">
                <a16:creationId xmlns="" xmlns:a16="http://schemas.microsoft.com/office/drawing/2014/main" id="{558C9C3B-60A4-C64D-B49B-1B1C9E194593}"/>
              </a:ext>
            </a:extLst>
          </p:cNvPr>
          <p:cNvSpPr/>
          <p:nvPr/>
        </p:nvSpPr>
        <p:spPr>
          <a:xfrm>
            <a:off x="2778642"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0" name="Rectangle 9">
            <a:extLst>
              <a:ext uri="{FF2B5EF4-FFF2-40B4-BE49-F238E27FC236}">
                <a16:creationId xmlns="" xmlns:a16="http://schemas.microsoft.com/office/drawing/2014/main" id="{7676B9C2-12DC-9ABF-3BAF-AC571AACC871}"/>
              </a:ext>
            </a:extLst>
          </p:cNvPr>
          <p:cNvSpPr/>
          <p:nvPr/>
        </p:nvSpPr>
        <p:spPr>
          <a:xfrm>
            <a:off x="3563679"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 xmlns:a16="http://schemas.microsoft.com/office/drawing/2014/main" id="{46A19DB0-6685-2AD8-373E-D2F68ECAF744}"/>
              </a:ext>
            </a:extLst>
          </p:cNvPr>
          <p:cNvCxnSpPr>
            <a:stCxn id="5" idx="3"/>
            <a:endCxn id="7" idx="1"/>
          </p:cNvCxnSpPr>
          <p:nvPr/>
        </p:nvCxnSpPr>
        <p:spPr>
          <a:xfrm>
            <a:off x="2381693" y="3919963"/>
            <a:ext cx="39694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 xmlns:a16="http://schemas.microsoft.com/office/drawing/2014/main" id="{E1E13E0C-1119-C2C4-FCB5-4819B3CCF11B}"/>
              </a:ext>
            </a:extLst>
          </p:cNvPr>
          <p:cNvCxnSpPr>
            <a:stCxn id="7" idx="3"/>
            <a:endCxn id="10" idx="1"/>
          </p:cNvCxnSpPr>
          <p:nvPr/>
        </p:nvCxnSpPr>
        <p:spPr>
          <a:xfrm>
            <a:off x="3172047" y="3919963"/>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8" name="Rectangle 17">
            <a:extLst>
              <a:ext uri="{FF2B5EF4-FFF2-40B4-BE49-F238E27FC236}">
                <a16:creationId xmlns="" xmlns:a16="http://schemas.microsoft.com/office/drawing/2014/main" id="{6AE3F7AB-D78A-57A0-6D37-1952662B3091}"/>
              </a:ext>
            </a:extLst>
          </p:cNvPr>
          <p:cNvSpPr/>
          <p:nvPr/>
        </p:nvSpPr>
        <p:spPr>
          <a:xfrm>
            <a:off x="2778642" y="4935648"/>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20" name="TextBox 19">
                <a:extLst>
                  <a:ext uri="{FF2B5EF4-FFF2-40B4-BE49-F238E27FC236}">
                    <a16:creationId xmlns="" xmlns:a16="http://schemas.microsoft.com/office/drawing/2014/main" id="{8A6FCE55-45B7-948C-5BF5-B5109D06298E}"/>
                  </a:ext>
                </a:extLst>
              </p:cNvPr>
              <p:cNvSpPr txBox="1"/>
              <p:nvPr/>
            </p:nvSpPr>
            <p:spPr>
              <a:xfrm>
                <a:off x="2778642" y="5293242"/>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8A6FCE55-45B7-948C-5BF5-B5109D06298E}"/>
                  </a:ext>
                </a:extLst>
              </p:cNvPr>
              <p:cNvSpPr txBox="1">
                <a:spLocks noRot="1" noChangeAspect="1" noMove="1" noResize="1" noEditPoints="1" noAdjustHandles="1" noChangeArrowheads="1" noChangeShapeType="1" noTextEdit="1"/>
              </p:cNvSpPr>
              <p:nvPr/>
            </p:nvSpPr>
            <p:spPr>
              <a:xfrm>
                <a:off x="2778642" y="5293242"/>
                <a:ext cx="393406" cy="369332"/>
              </a:xfrm>
              <a:prstGeom prst="rect">
                <a:avLst/>
              </a:prstGeom>
              <a:blipFill>
                <a:blip r:embed="rId4"/>
                <a:stretch>
                  <a:fillRect/>
                </a:stretch>
              </a:blipFill>
            </p:spPr>
            <p:txBody>
              <a:bodyPr/>
              <a:lstStyle/>
              <a:p>
                <a:r>
                  <a:rPr lang="en-US">
                    <a:noFill/>
                  </a:rPr>
                  <a:t> </a:t>
                </a:r>
              </a:p>
            </p:txBody>
          </p:sp>
        </mc:Fallback>
      </mc:AlternateContent>
      <p:sp>
        <p:nvSpPr>
          <p:cNvPr id="22" name="Rectangle 21">
            <a:extLst>
              <a:ext uri="{FF2B5EF4-FFF2-40B4-BE49-F238E27FC236}">
                <a16:creationId xmlns="" xmlns:a16="http://schemas.microsoft.com/office/drawing/2014/main" id="{628D5E02-FAD3-DE67-0AFB-5246C0981DBF}"/>
              </a:ext>
            </a:extLst>
          </p:cNvPr>
          <p:cNvSpPr/>
          <p:nvPr/>
        </p:nvSpPr>
        <p:spPr>
          <a:xfrm>
            <a:off x="3550388" y="4935648"/>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24" name="TextBox 23">
                <a:extLst>
                  <a:ext uri="{FF2B5EF4-FFF2-40B4-BE49-F238E27FC236}">
                    <a16:creationId xmlns="" xmlns:a16="http://schemas.microsoft.com/office/drawing/2014/main" id="{360B5F50-7612-CF7D-5752-6D6B29496A45}"/>
                  </a:ext>
                </a:extLst>
              </p:cNvPr>
              <p:cNvSpPr txBox="1"/>
              <p:nvPr/>
            </p:nvSpPr>
            <p:spPr>
              <a:xfrm>
                <a:off x="3550388" y="5293242"/>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2</m:t>
                          </m:r>
                        </m:sub>
                      </m:sSub>
                    </m:oMath>
                  </m:oMathPara>
                </a14:m>
                <a:endParaRPr lang="en-US" dirty="0"/>
              </a:p>
            </p:txBody>
          </p:sp>
        </mc:Choice>
        <mc:Fallback xmlns="">
          <p:sp>
            <p:nvSpPr>
              <p:cNvPr id="24" name="TextBox 23">
                <a:extLst>
                  <a:ext uri="{FF2B5EF4-FFF2-40B4-BE49-F238E27FC236}">
                    <a16:creationId xmlns:a16="http://schemas.microsoft.com/office/drawing/2014/main" id="{360B5F50-7612-CF7D-5752-6D6B29496A45}"/>
                  </a:ext>
                </a:extLst>
              </p:cNvPr>
              <p:cNvSpPr txBox="1">
                <a:spLocks noRot="1" noChangeAspect="1" noMove="1" noResize="1" noEditPoints="1" noAdjustHandles="1" noChangeArrowheads="1" noChangeShapeType="1" noTextEdit="1"/>
              </p:cNvSpPr>
              <p:nvPr/>
            </p:nvSpPr>
            <p:spPr>
              <a:xfrm>
                <a:off x="3550388" y="5293242"/>
                <a:ext cx="393406" cy="369332"/>
              </a:xfrm>
              <a:prstGeom prst="rect">
                <a:avLst/>
              </a:prstGeom>
              <a:blipFill>
                <a:blip r:embed="rId5"/>
                <a:stretch>
                  <a:fillRect/>
                </a:stretch>
              </a:blipFill>
            </p:spPr>
            <p:txBody>
              <a:bodyPr/>
              <a:lstStyle/>
              <a:p>
                <a:r>
                  <a:rPr lang="en-US">
                    <a:noFill/>
                  </a:rPr>
                  <a:t> </a:t>
                </a:r>
              </a:p>
            </p:txBody>
          </p:sp>
        </mc:Fallback>
      </mc:AlternateContent>
      <p:cxnSp>
        <p:nvCxnSpPr>
          <p:cNvPr id="26" name="Straight Arrow Connector 25">
            <a:extLst>
              <a:ext uri="{FF2B5EF4-FFF2-40B4-BE49-F238E27FC236}">
                <a16:creationId xmlns="" xmlns:a16="http://schemas.microsoft.com/office/drawing/2014/main" id="{134BE841-89F2-A2C4-C9B5-D0DB8124B0D6}"/>
              </a:ext>
            </a:extLst>
          </p:cNvPr>
          <p:cNvCxnSpPr>
            <a:cxnSpLocks/>
            <a:stCxn id="18" idx="0"/>
            <a:endCxn id="7" idx="2"/>
          </p:cNvCxnSpPr>
          <p:nvPr/>
        </p:nvCxnSpPr>
        <p:spPr>
          <a:xfrm flipV="1">
            <a:off x="2975345" y="4462223"/>
            <a:ext cx="0"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 xmlns:a16="http://schemas.microsoft.com/office/drawing/2014/main" id="{93135856-AF84-67C1-10D1-525E750AED6A}"/>
              </a:ext>
            </a:extLst>
          </p:cNvPr>
          <p:cNvCxnSpPr>
            <a:cxnSpLocks/>
            <a:stCxn id="22" idx="0"/>
            <a:endCxn id="10" idx="2"/>
          </p:cNvCxnSpPr>
          <p:nvPr/>
        </p:nvCxnSpPr>
        <p:spPr>
          <a:xfrm flipV="1">
            <a:off x="3747091" y="4462223"/>
            <a:ext cx="13291"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 name="Rectangle 7">
            <a:extLst>
              <a:ext uri="{FF2B5EF4-FFF2-40B4-BE49-F238E27FC236}">
                <a16:creationId xmlns="" xmlns:a16="http://schemas.microsoft.com/office/drawing/2014/main" id="{EA502664-2B02-D8DD-2049-E6242569B361}"/>
              </a:ext>
            </a:extLst>
          </p:cNvPr>
          <p:cNvSpPr/>
          <p:nvPr/>
        </p:nvSpPr>
        <p:spPr>
          <a:xfrm>
            <a:off x="1974998" y="1825625"/>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 xmlns:a16="http://schemas.microsoft.com/office/drawing/2014/main" id="{8A70192F-4EE8-A08F-E106-F257ECAA7DA0}"/>
              </a:ext>
            </a:extLst>
          </p:cNvPr>
          <p:cNvCxnSpPr>
            <a:endCxn id="8" idx="2"/>
          </p:cNvCxnSpPr>
          <p:nvPr/>
        </p:nvCxnSpPr>
        <p:spPr>
          <a:xfrm flipV="1">
            <a:off x="2171700" y="2910146"/>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 xmlns:a16="http://schemas.microsoft.com/office/drawing/2014/main" id="{A02AA77B-A4A9-98E6-A431-1FF627F50371}"/>
                  </a:ext>
                </a:extLst>
              </p:cNvPr>
              <p:cNvSpPr txBox="1"/>
              <p:nvPr/>
            </p:nvSpPr>
            <p:spPr>
              <a:xfrm>
                <a:off x="1974996" y="2177351"/>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0</m:t>
                          </m:r>
                        </m:sub>
                      </m:sSub>
                    </m:oMath>
                  </m:oMathPara>
                </a14:m>
                <a:endParaRPr lang="en-US" dirty="0"/>
              </a:p>
            </p:txBody>
          </p:sp>
        </mc:Choice>
        <mc:Fallback xmlns="">
          <p:sp>
            <p:nvSpPr>
              <p:cNvPr id="12" name="TextBox 11">
                <a:extLst>
                  <a:ext uri="{FF2B5EF4-FFF2-40B4-BE49-F238E27FC236}">
                    <a16:creationId xmlns:a16="http://schemas.microsoft.com/office/drawing/2014/main" id="{A02AA77B-A4A9-98E6-A431-1FF627F50371}"/>
                  </a:ext>
                </a:extLst>
              </p:cNvPr>
              <p:cNvSpPr txBox="1">
                <a:spLocks noRot="1" noChangeAspect="1" noMove="1" noResize="1" noEditPoints="1" noAdjustHandles="1" noChangeArrowheads="1" noChangeShapeType="1" noTextEdit="1"/>
              </p:cNvSpPr>
              <p:nvPr/>
            </p:nvSpPr>
            <p:spPr>
              <a:xfrm>
                <a:off x="1974996" y="2177351"/>
                <a:ext cx="393406" cy="369332"/>
              </a:xfrm>
              <a:prstGeom prst="rect">
                <a:avLst/>
              </a:prstGeom>
              <a:blipFill>
                <a:blip r:embed="rId6"/>
                <a:stretch>
                  <a:fillRect b="-6557"/>
                </a:stretch>
              </a:blipFill>
            </p:spPr>
            <p:txBody>
              <a:bodyPr/>
              <a:lstStyle/>
              <a:p>
                <a:r>
                  <a:rPr lang="en-US">
                    <a:noFill/>
                  </a:rPr>
                  <a:t> </a:t>
                </a:r>
              </a:p>
            </p:txBody>
          </p:sp>
        </mc:Fallback>
      </mc:AlternateContent>
      <p:sp>
        <p:nvSpPr>
          <p:cNvPr id="13" name="Rectangle 12">
            <a:extLst>
              <a:ext uri="{FF2B5EF4-FFF2-40B4-BE49-F238E27FC236}">
                <a16:creationId xmlns="" xmlns:a16="http://schemas.microsoft.com/office/drawing/2014/main" id="{A69FB649-89CE-B9B7-1DA9-70653D12A0EB}"/>
              </a:ext>
            </a:extLst>
          </p:cNvPr>
          <p:cNvSpPr/>
          <p:nvPr/>
        </p:nvSpPr>
        <p:spPr>
          <a:xfrm>
            <a:off x="2765350" y="1825625"/>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 xmlns:a16="http://schemas.microsoft.com/office/drawing/2014/main" id="{0535F41B-B1EC-9A7E-FDFC-47DBBCE4E7BC}"/>
              </a:ext>
            </a:extLst>
          </p:cNvPr>
          <p:cNvSpPr/>
          <p:nvPr/>
        </p:nvSpPr>
        <p:spPr>
          <a:xfrm>
            <a:off x="3550388" y="1819756"/>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 xmlns:a16="http://schemas.microsoft.com/office/drawing/2014/main" id="{323C9920-DB11-694B-4711-8E46CF485FF0}"/>
                  </a:ext>
                </a:extLst>
              </p:cNvPr>
              <p:cNvSpPr txBox="1"/>
              <p:nvPr/>
            </p:nvSpPr>
            <p:spPr>
              <a:xfrm>
                <a:off x="2760035" y="2177351"/>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1</m:t>
                          </m:r>
                        </m:sub>
                      </m:sSub>
                    </m:oMath>
                  </m:oMathPara>
                </a14:m>
                <a:endParaRPr lang="en-US" dirty="0"/>
              </a:p>
            </p:txBody>
          </p:sp>
        </mc:Choice>
        <mc:Fallback xmlns="">
          <p:sp>
            <p:nvSpPr>
              <p:cNvPr id="17" name="TextBox 16">
                <a:extLst>
                  <a:ext uri="{FF2B5EF4-FFF2-40B4-BE49-F238E27FC236}">
                    <a16:creationId xmlns:a16="http://schemas.microsoft.com/office/drawing/2014/main" id="{323C9920-DB11-694B-4711-8E46CF485FF0}"/>
                  </a:ext>
                </a:extLst>
              </p:cNvPr>
              <p:cNvSpPr txBox="1">
                <a:spLocks noRot="1" noChangeAspect="1" noMove="1" noResize="1" noEditPoints="1" noAdjustHandles="1" noChangeArrowheads="1" noChangeShapeType="1" noTextEdit="1"/>
              </p:cNvSpPr>
              <p:nvPr/>
            </p:nvSpPr>
            <p:spPr>
              <a:xfrm>
                <a:off x="2760035" y="2177351"/>
                <a:ext cx="393406" cy="369332"/>
              </a:xfrm>
              <a:prstGeom prst="rect">
                <a:avLst/>
              </a:prstGeom>
              <a:blipFill>
                <a:blip r:embed="rId7"/>
                <a:stretch>
                  <a:fillRect b="-65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 xmlns:a16="http://schemas.microsoft.com/office/drawing/2014/main" id="{A1E7D38B-069D-1161-9EB1-AE548F7B17FD}"/>
                  </a:ext>
                </a:extLst>
              </p:cNvPr>
              <p:cNvSpPr txBox="1"/>
              <p:nvPr/>
            </p:nvSpPr>
            <p:spPr>
              <a:xfrm>
                <a:off x="3550387" y="2177351"/>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2</m:t>
                          </m:r>
                        </m:sub>
                      </m:sSub>
                    </m:oMath>
                  </m:oMathPara>
                </a14:m>
                <a:endParaRPr lang="en-US" dirty="0"/>
              </a:p>
            </p:txBody>
          </p:sp>
        </mc:Choice>
        <mc:Fallback xmlns="">
          <p:sp>
            <p:nvSpPr>
              <p:cNvPr id="23" name="TextBox 22">
                <a:extLst>
                  <a:ext uri="{FF2B5EF4-FFF2-40B4-BE49-F238E27FC236}">
                    <a16:creationId xmlns:a16="http://schemas.microsoft.com/office/drawing/2014/main" id="{A1E7D38B-069D-1161-9EB1-AE548F7B17FD}"/>
                  </a:ext>
                </a:extLst>
              </p:cNvPr>
              <p:cNvSpPr txBox="1">
                <a:spLocks noRot="1" noChangeAspect="1" noMove="1" noResize="1" noEditPoints="1" noAdjustHandles="1" noChangeArrowheads="1" noChangeShapeType="1" noTextEdit="1"/>
              </p:cNvSpPr>
              <p:nvPr/>
            </p:nvSpPr>
            <p:spPr>
              <a:xfrm>
                <a:off x="3550387" y="2177351"/>
                <a:ext cx="393406" cy="369332"/>
              </a:xfrm>
              <a:prstGeom prst="rect">
                <a:avLst/>
              </a:prstGeom>
              <a:blipFill>
                <a:blip r:embed="rId8"/>
                <a:stretch>
                  <a:fillRect b="-6557"/>
                </a:stretch>
              </a:blipFill>
            </p:spPr>
            <p:txBody>
              <a:bodyPr/>
              <a:lstStyle/>
              <a:p>
                <a:r>
                  <a:rPr lang="en-US">
                    <a:noFill/>
                  </a:rPr>
                  <a:t> </a:t>
                </a:r>
              </a:p>
            </p:txBody>
          </p:sp>
        </mc:Fallback>
      </mc:AlternateContent>
      <p:cxnSp>
        <p:nvCxnSpPr>
          <p:cNvPr id="27" name="Straight Arrow Connector 26">
            <a:extLst>
              <a:ext uri="{FF2B5EF4-FFF2-40B4-BE49-F238E27FC236}">
                <a16:creationId xmlns="" xmlns:a16="http://schemas.microsoft.com/office/drawing/2014/main" id="{6E3989D9-DC44-B559-A01E-848ADB238AD5}"/>
              </a:ext>
            </a:extLst>
          </p:cNvPr>
          <p:cNvCxnSpPr>
            <a:endCxn id="13" idx="2"/>
          </p:cNvCxnSpPr>
          <p:nvPr/>
        </p:nvCxnSpPr>
        <p:spPr>
          <a:xfrm flipH="1" flipV="1">
            <a:off x="2962053" y="2910146"/>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8" name="Straight Arrow Connector 27">
            <a:extLst>
              <a:ext uri="{FF2B5EF4-FFF2-40B4-BE49-F238E27FC236}">
                <a16:creationId xmlns="" xmlns:a16="http://schemas.microsoft.com/office/drawing/2014/main" id="{374BD4A0-F2CD-47D6-7C05-F5BABD485877}"/>
              </a:ext>
            </a:extLst>
          </p:cNvPr>
          <p:cNvCxnSpPr>
            <a:endCxn id="16" idx="2"/>
          </p:cNvCxnSpPr>
          <p:nvPr/>
        </p:nvCxnSpPr>
        <p:spPr>
          <a:xfrm flipV="1">
            <a:off x="3747091" y="2904277"/>
            <a:ext cx="0"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96026594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E4341BD3-0D3E-6DEB-5946-3B872D362BA7}"/>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039BF0EC-97E2-611C-7E0B-006D6C50A52E}"/>
              </a:ext>
            </a:extLst>
          </p:cNvPr>
          <p:cNvSpPr>
            <a:spLocks noGrp="1"/>
          </p:cNvSpPr>
          <p:nvPr>
            <p:ph type="title"/>
          </p:nvPr>
        </p:nvSpPr>
        <p:spPr/>
        <p:txBody>
          <a:bodyPr/>
          <a:lstStyle/>
          <a:p>
            <a:r>
              <a:rPr lang="pt-BR" dirty="0"/>
              <a:t>Aplicação: vários-para-vários síncrono</a:t>
            </a:r>
            <a:endParaRPr lang="en-US" dirty="0"/>
          </a:p>
        </p:txBody>
      </p:sp>
      <p:sp>
        <p:nvSpPr>
          <p:cNvPr id="3" name="Content Placeholder 2">
            <a:extLst>
              <a:ext uri="{FF2B5EF4-FFF2-40B4-BE49-F238E27FC236}">
                <a16:creationId xmlns="" xmlns:a16="http://schemas.microsoft.com/office/drawing/2014/main" id="{824A5087-1F81-BC00-EC85-E49ADC7954CF}"/>
              </a:ext>
            </a:extLst>
          </p:cNvPr>
          <p:cNvSpPr>
            <a:spLocks noGrp="1"/>
          </p:cNvSpPr>
          <p:nvPr>
            <p:ph idx="1"/>
          </p:nvPr>
        </p:nvSpPr>
        <p:spPr>
          <a:xfrm>
            <a:off x="5645890" y="1825624"/>
            <a:ext cx="6458123" cy="5032375"/>
          </a:xfrm>
        </p:spPr>
        <p:txBody>
          <a:bodyPr>
            <a:normAutofit/>
          </a:bodyPr>
          <a:lstStyle/>
          <a:p>
            <a:r>
              <a:rPr lang="pt-BR" noProof="0" dirty="0"/>
              <a:t>Exemplos de uso:</a:t>
            </a:r>
          </a:p>
          <a:p>
            <a:pPr lvl="1">
              <a:buFont typeface="Wingdings" panose="05000000000000000000" pitchFamily="2" charset="2"/>
              <a:buChar char="§"/>
            </a:pPr>
            <a:r>
              <a:rPr lang="pt-BR" noProof="0" dirty="0"/>
              <a:t>Etiquetagem gramatical</a:t>
            </a:r>
          </a:p>
          <a:p>
            <a:pPr lvl="2">
              <a:buFont typeface="Courier New" panose="02070309020205020404" pitchFamily="49" charset="0"/>
              <a:buChar char="o"/>
            </a:pPr>
            <a:r>
              <a:rPr lang="pt-BR" noProof="0" dirty="0"/>
              <a:t>Entrada: sequência de palavras </a:t>
            </a:r>
          </a:p>
          <a:p>
            <a:pPr lvl="2">
              <a:buFont typeface="Courier New" panose="02070309020205020404" pitchFamily="49" charset="0"/>
              <a:buChar char="o"/>
            </a:pPr>
            <a:r>
              <a:rPr lang="pt-BR" noProof="0" dirty="0"/>
              <a:t>Saída: classe gramatical de cada palavra</a:t>
            </a:r>
          </a:p>
          <a:p>
            <a:pPr lvl="1">
              <a:buFont typeface="Wingdings" panose="05000000000000000000" pitchFamily="2" charset="2"/>
              <a:buChar char="§"/>
            </a:pPr>
            <a:r>
              <a:rPr lang="pt-BR" noProof="0" dirty="0"/>
              <a:t>Previsão de séries temporais</a:t>
            </a:r>
          </a:p>
          <a:p>
            <a:pPr lvl="2">
              <a:buFont typeface="Wingdings" panose="05000000000000000000" pitchFamily="2" charset="2"/>
              <a:buChar char="§"/>
            </a:pPr>
            <a:r>
              <a:rPr lang="pt-BR" noProof="0" dirty="0"/>
              <a:t>Entrada: dados de consumo diário de energia de uma residência ao longo dos últimos N dias</a:t>
            </a:r>
          </a:p>
          <a:p>
            <a:pPr lvl="2">
              <a:buFont typeface="Wingdings" panose="05000000000000000000" pitchFamily="2" charset="2"/>
              <a:buChar char="§"/>
            </a:pPr>
            <a:r>
              <a:rPr lang="pt-BR" noProof="0" dirty="0"/>
              <a:t>Saída: consumo de energia deslocado de um dia no futuro (i.e., N-1 dias atrás até amanhã)</a:t>
            </a:r>
          </a:p>
        </p:txBody>
      </p:sp>
      <p:sp>
        <p:nvSpPr>
          <p:cNvPr id="5" name="Rectangle 4">
            <a:extLst>
              <a:ext uri="{FF2B5EF4-FFF2-40B4-BE49-F238E27FC236}">
                <a16:creationId xmlns="" xmlns:a16="http://schemas.microsoft.com/office/drawing/2014/main" id="{546D22A6-623A-3A53-AB0D-AA63A915A314}"/>
              </a:ext>
            </a:extLst>
          </p:cNvPr>
          <p:cNvSpPr/>
          <p:nvPr/>
        </p:nvSpPr>
        <p:spPr>
          <a:xfrm>
            <a:off x="1988288"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 name="Rectangle 5">
            <a:extLst>
              <a:ext uri="{FF2B5EF4-FFF2-40B4-BE49-F238E27FC236}">
                <a16:creationId xmlns="" xmlns:a16="http://schemas.microsoft.com/office/drawing/2014/main" id="{0F04D59B-D01A-C064-63E3-A934C9B06E64}"/>
              </a:ext>
            </a:extLst>
          </p:cNvPr>
          <p:cNvSpPr/>
          <p:nvPr/>
        </p:nvSpPr>
        <p:spPr>
          <a:xfrm>
            <a:off x="1988287" y="4929779"/>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9" name="Straight Arrow Connector 8">
            <a:extLst>
              <a:ext uri="{FF2B5EF4-FFF2-40B4-BE49-F238E27FC236}">
                <a16:creationId xmlns="" xmlns:a16="http://schemas.microsoft.com/office/drawing/2014/main" id="{6BAF60DC-5533-F7AF-10EF-97B4A0D9742E}"/>
              </a:ext>
            </a:extLst>
          </p:cNvPr>
          <p:cNvCxnSpPr>
            <a:cxnSpLocks/>
            <a:stCxn id="6" idx="0"/>
            <a:endCxn id="5" idx="2"/>
          </p:cNvCxnSpPr>
          <p:nvPr/>
        </p:nvCxnSpPr>
        <p:spPr>
          <a:xfrm flipV="1">
            <a:off x="2184990" y="4462223"/>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 name="TextBox 13">
                <a:extLst>
                  <a:ext uri="{FF2B5EF4-FFF2-40B4-BE49-F238E27FC236}">
                    <a16:creationId xmlns="" xmlns:a16="http://schemas.microsoft.com/office/drawing/2014/main" id="{0D787C19-D55D-062A-8993-9F3BDE7D0CFB}"/>
                  </a:ext>
                </a:extLst>
              </p:cNvPr>
              <p:cNvSpPr txBox="1"/>
              <p:nvPr/>
            </p:nvSpPr>
            <p:spPr>
              <a:xfrm>
                <a:off x="1988287" y="5287373"/>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0</m:t>
                          </m:r>
                        </m:sub>
                      </m:sSub>
                    </m:oMath>
                  </m:oMathPara>
                </a14:m>
                <a:endParaRPr lang="en-US" dirty="0"/>
              </a:p>
            </p:txBody>
          </p:sp>
        </mc:Choice>
        <mc:Fallback xmlns="">
          <p:sp>
            <p:nvSpPr>
              <p:cNvPr id="14" name="TextBox 13">
                <a:extLst>
                  <a:ext uri="{FF2B5EF4-FFF2-40B4-BE49-F238E27FC236}">
                    <a16:creationId xmlns:a16="http://schemas.microsoft.com/office/drawing/2014/main" id="{150A4A27-B2A2-9AEE-E4C4-3E3FD4C84292}"/>
                  </a:ext>
                </a:extLst>
              </p:cNvPr>
              <p:cNvSpPr txBox="1">
                <a:spLocks noRot="1" noChangeAspect="1" noMove="1" noResize="1" noEditPoints="1" noAdjustHandles="1" noChangeArrowheads="1" noChangeShapeType="1" noTextEdit="1"/>
              </p:cNvSpPr>
              <p:nvPr/>
            </p:nvSpPr>
            <p:spPr>
              <a:xfrm>
                <a:off x="1988287" y="5287373"/>
                <a:ext cx="393406" cy="369332"/>
              </a:xfrm>
              <a:prstGeom prst="rect">
                <a:avLst/>
              </a:prstGeom>
              <a:blipFill>
                <a:blip r:embed="rId3"/>
                <a:stretch>
                  <a:fillRect/>
                </a:stretch>
              </a:blipFill>
            </p:spPr>
            <p:txBody>
              <a:bodyPr/>
              <a:lstStyle/>
              <a:p>
                <a:r>
                  <a:rPr lang="en-US">
                    <a:noFill/>
                  </a:rPr>
                  <a:t> </a:t>
                </a:r>
              </a:p>
            </p:txBody>
          </p:sp>
        </mc:Fallback>
      </mc:AlternateContent>
      <p:sp>
        <p:nvSpPr>
          <p:cNvPr id="7" name="Rectangle 6">
            <a:extLst>
              <a:ext uri="{FF2B5EF4-FFF2-40B4-BE49-F238E27FC236}">
                <a16:creationId xmlns="" xmlns:a16="http://schemas.microsoft.com/office/drawing/2014/main" id="{81C8F54F-37AE-0851-1255-2C402C7B9A81}"/>
              </a:ext>
            </a:extLst>
          </p:cNvPr>
          <p:cNvSpPr/>
          <p:nvPr/>
        </p:nvSpPr>
        <p:spPr>
          <a:xfrm>
            <a:off x="2778642"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0" name="Rectangle 9">
            <a:extLst>
              <a:ext uri="{FF2B5EF4-FFF2-40B4-BE49-F238E27FC236}">
                <a16:creationId xmlns="" xmlns:a16="http://schemas.microsoft.com/office/drawing/2014/main" id="{979428AF-F5F3-DC4C-AA34-E7A63E46722C}"/>
              </a:ext>
            </a:extLst>
          </p:cNvPr>
          <p:cNvSpPr/>
          <p:nvPr/>
        </p:nvSpPr>
        <p:spPr>
          <a:xfrm>
            <a:off x="3563679"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 xmlns:a16="http://schemas.microsoft.com/office/drawing/2014/main" id="{BA203DD1-2CF6-1DDE-B1DD-496D64170841}"/>
              </a:ext>
            </a:extLst>
          </p:cNvPr>
          <p:cNvCxnSpPr>
            <a:stCxn id="5" idx="3"/>
            <a:endCxn id="7" idx="1"/>
          </p:cNvCxnSpPr>
          <p:nvPr/>
        </p:nvCxnSpPr>
        <p:spPr>
          <a:xfrm>
            <a:off x="2381693" y="3919963"/>
            <a:ext cx="39694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 xmlns:a16="http://schemas.microsoft.com/office/drawing/2014/main" id="{A87BCE60-0271-DC90-5527-BBE682A671E4}"/>
              </a:ext>
            </a:extLst>
          </p:cNvPr>
          <p:cNvCxnSpPr>
            <a:stCxn id="7" idx="3"/>
            <a:endCxn id="10" idx="1"/>
          </p:cNvCxnSpPr>
          <p:nvPr/>
        </p:nvCxnSpPr>
        <p:spPr>
          <a:xfrm>
            <a:off x="3172047" y="3919963"/>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8" name="Rectangle 17">
            <a:extLst>
              <a:ext uri="{FF2B5EF4-FFF2-40B4-BE49-F238E27FC236}">
                <a16:creationId xmlns="" xmlns:a16="http://schemas.microsoft.com/office/drawing/2014/main" id="{2CB26EE5-E8FC-BE89-CFE3-EE2202917209}"/>
              </a:ext>
            </a:extLst>
          </p:cNvPr>
          <p:cNvSpPr/>
          <p:nvPr/>
        </p:nvSpPr>
        <p:spPr>
          <a:xfrm>
            <a:off x="2778642" y="4935648"/>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20" name="TextBox 19">
                <a:extLst>
                  <a:ext uri="{FF2B5EF4-FFF2-40B4-BE49-F238E27FC236}">
                    <a16:creationId xmlns="" xmlns:a16="http://schemas.microsoft.com/office/drawing/2014/main" id="{2D6684CC-F798-C72E-26E9-9CDEF2479856}"/>
                  </a:ext>
                </a:extLst>
              </p:cNvPr>
              <p:cNvSpPr txBox="1"/>
              <p:nvPr/>
            </p:nvSpPr>
            <p:spPr>
              <a:xfrm>
                <a:off x="2778642" y="5293242"/>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8A6FCE55-45B7-948C-5BF5-B5109D06298E}"/>
                  </a:ext>
                </a:extLst>
              </p:cNvPr>
              <p:cNvSpPr txBox="1">
                <a:spLocks noRot="1" noChangeAspect="1" noMove="1" noResize="1" noEditPoints="1" noAdjustHandles="1" noChangeArrowheads="1" noChangeShapeType="1" noTextEdit="1"/>
              </p:cNvSpPr>
              <p:nvPr/>
            </p:nvSpPr>
            <p:spPr>
              <a:xfrm>
                <a:off x="2778642" y="5293242"/>
                <a:ext cx="393406" cy="369332"/>
              </a:xfrm>
              <a:prstGeom prst="rect">
                <a:avLst/>
              </a:prstGeom>
              <a:blipFill>
                <a:blip r:embed="rId4"/>
                <a:stretch>
                  <a:fillRect/>
                </a:stretch>
              </a:blipFill>
            </p:spPr>
            <p:txBody>
              <a:bodyPr/>
              <a:lstStyle/>
              <a:p>
                <a:r>
                  <a:rPr lang="en-US">
                    <a:noFill/>
                  </a:rPr>
                  <a:t> </a:t>
                </a:r>
              </a:p>
            </p:txBody>
          </p:sp>
        </mc:Fallback>
      </mc:AlternateContent>
      <p:sp>
        <p:nvSpPr>
          <p:cNvPr id="22" name="Rectangle 21">
            <a:extLst>
              <a:ext uri="{FF2B5EF4-FFF2-40B4-BE49-F238E27FC236}">
                <a16:creationId xmlns="" xmlns:a16="http://schemas.microsoft.com/office/drawing/2014/main" id="{3DE7201E-33CE-0959-D2D5-B7C43895F5F5}"/>
              </a:ext>
            </a:extLst>
          </p:cNvPr>
          <p:cNvSpPr/>
          <p:nvPr/>
        </p:nvSpPr>
        <p:spPr>
          <a:xfrm>
            <a:off x="3550388" y="4935648"/>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24" name="TextBox 23">
                <a:extLst>
                  <a:ext uri="{FF2B5EF4-FFF2-40B4-BE49-F238E27FC236}">
                    <a16:creationId xmlns="" xmlns:a16="http://schemas.microsoft.com/office/drawing/2014/main" id="{D2559753-208A-D5E7-C823-02D1917A440C}"/>
                  </a:ext>
                </a:extLst>
              </p:cNvPr>
              <p:cNvSpPr txBox="1"/>
              <p:nvPr/>
            </p:nvSpPr>
            <p:spPr>
              <a:xfrm>
                <a:off x="3550388" y="5293242"/>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2</m:t>
                          </m:r>
                        </m:sub>
                      </m:sSub>
                    </m:oMath>
                  </m:oMathPara>
                </a14:m>
                <a:endParaRPr lang="en-US" dirty="0"/>
              </a:p>
            </p:txBody>
          </p:sp>
        </mc:Choice>
        <mc:Fallback xmlns="">
          <p:sp>
            <p:nvSpPr>
              <p:cNvPr id="24" name="TextBox 23">
                <a:extLst>
                  <a:ext uri="{FF2B5EF4-FFF2-40B4-BE49-F238E27FC236}">
                    <a16:creationId xmlns:a16="http://schemas.microsoft.com/office/drawing/2014/main" id="{360B5F50-7612-CF7D-5752-6D6B29496A45}"/>
                  </a:ext>
                </a:extLst>
              </p:cNvPr>
              <p:cNvSpPr txBox="1">
                <a:spLocks noRot="1" noChangeAspect="1" noMove="1" noResize="1" noEditPoints="1" noAdjustHandles="1" noChangeArrowheads="1" noChangeShapeType="1" noTextEdit="1"/>
              </p:cNvSpPr>
              <p:nvPr/>
            </p:nvSpPr>
            <p:spPr>
              <a:xfrm>
                <a:off x="3550388" y="5293242"/>
                <a:ext cx="393406" cy="369332"/>
              </a:xfrm>
              <a:prstGeom prst="rect">
                <a:avLst/>
              </a:prstGeom>
              <a:blipFill>
                <a:blip r:embed="rId5"/>
                <a:stretch>
                  <a:fillRect/>
                </a:stretch>
              </a:blipFill>
            </p:spPr>
            <p:txBody>
              <a:bodyPr/>
              <a:lstStyle/>
              <a:p>
                <a:r>
                  <a:rPr lang="en-US">
                    <a:noFill/>
                  </a:rPr>
                  <a:t> </a:t>
                </a:r>
              </a:p>
            </p:txBody>
          </p:sp>
        </mc:Fallback>
      </mc:AlternateContent>
      <p:cxnSp>
        <p:nvCxnSpPr>
          <p:cNvPr id="26" name="Straight Arrow Connector 25">
            <a:extLst>
              <a:ext uri="{FF2B5EF4-FFF2-40B4-BE49-F238E27FC236}">
                <a16:creationId xmlns="" xmlns:a16="http://schemas.microsoft.com/office/drawing/2014/main" id="{6316211B-1712-8829-AEA6-C2DF1665B708}"/>
              </a:ext>
            </a:extLst>
          </p:cNvPr>
          <p:cNvCxnSpPr>
            <a:cxnSpLocks/>
            <a:stCxn id="18" idx="0"/>
            <a:endCxn id="7" idx="2"/>
          </p:cNvCxnSpPr>
          <p:nvPr/>
        </p:nvCxnSpPr>
        <p:spPr>
          <a:xfrm flipV="1">
            <a:off x="2975345" y="4462223"/>
            <a:ext cx="0"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 xmlns:a16="http://schemas.microsoft.com/office/drawing/2014/main" id="{D7052F20-B3D8-1A26-9511-8F6498789785}"/>
              </a:ext>
            </a:extLst>
          </p:cNvPr>
          <p:cNvCxnSpPr>
            <a:cxnSpLocks/>
            <a:stCxn id="22" idx="0"/>
            <a:endCxn id="10" idx="2"/>
          </p:cNvCxnSpPr>
          <p:nvPr/>
        </p:nvCxnSpPr>
        <p:spPr>
          <a:xfrm flipV="1">
            <a:off x="3747091" y="4462223"/>
            <a:ext cx="13291"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 name="Rectangle 7">
            <a:extLst>
              <a:ext uri="{FF2B5EF4-FFF2-40B4-BE49-F238E27FC236}">
                <a16:creationId xmlns="" xmlns:a16="http://schemas.microsoft.com/office/drawing/2014/main" id="{2A036A00-5879-D13D-1FF2-C1F2CD766239}"/>
              </a:ext>
            </a:extLst>
          </p:cNvPr>
          <p:cNvSpPr/>
          <p:nvPr/>
        </p:nvSpPr>
        <p:spPr>
          <a:xfrm>
            <a:off x="1974998" y="1825625"/>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 xmlns:a16="http://schemas.microsoft.com/office/drawing/2014/main" id="{D8602EFC-88D4-F298-D3BA-798BF3C78A47}"/>
              </a:ext>
            </a:extLst>
          </p:cNvPr>
          <p:cNvCxnSpPr>
            <a:endCxn id="8" idx="2"/>
          </p:cNvCxnSpPr>
          <p:nvPr/>
        </p:nvCxnSpPr>
        <p:spPr>
          <a:xfrm flipV="1">
            <a:off x="2171700" y="2910146"/>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 xmlns:a16="http://schemas.microsoft.com/office/drawing/2014/main" id="{52965A74-FDA5-49EC-7C7D-F5D921B6BC0B}"/>
                  </a:ext>
                </a:extLst>
              </p:cNvPr>
              <p:cNvSpPr txBox="1"/>
              <p:nvPr/>
            </p:nvSpPr>
            <p:spPr>
              <a:xfrm>
                <a:off x="1974996" y="2177351"/>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0</m:t>
                          </m:r>
                        </m:sub>
                      </m:sSub>
                    </m:oMath>
                  </m:oMathPara>
                </a14:m>
                <a:endParaRPr lang="en-US" dirty="0"/>
              </a:p>
            </p:txBody>
          </p:sp>
        </mc:Choice>
        <mc:Fallback xmlns="">
          <p:sp>
            <p:nvSpPr>
              <p:cNvPr id="12" name="TextBox 11">
                <a:extLst>
                  <a:ext uri="{FF2B5EF4-FFF2-40B4-BE49-F238E27FC236}">
                    <a16:creationId xmlns:a16="http://schemas.microsoft.com/office/drawing/2014/main" id="{A02AA77B-A4A9-98E6-A431-1FF627F50371}"/>
                  </a:ext>
                </a:extLst>
              </p:cNvPr>
              <p:cNvSpPr txBox="1">
                <a:spLocks noRot="1" noChangeAspect="1" noMove="1" noResize="1" noEditPoints="1" noAdjustHandles="1" noChangeArrowheads="1" noChangeShapeType="1" noTextEdit="1"/>
              </p:cNvSpPr>
              <p:nvPr/>
            </p:nvSpPr>
            <p:spPr>
              <a:xfrm>
                <a:off x="1974996" y="2177351"/>
                <a:ext cx="393406" cy="369332"/>
              </a:xfrm>
              <a:prstGeom prst="rect">
                <a:avLst/>
              </a:prstGeom>
              <a:blipFill>
                <a:blip r:embed="rId6"/>
                <a:stretch>
                  <a:fillRect b="-6557"/>
                </a:stretch>
              </a:blipFill>
            </p:spPr>
            <p:txBody>
              <a:bodyPr/>
              <a:lstStyle/>
              <a:p>
                <a:r>
                  <a:rPr lang="en-US">
                    <a:noFill/>
                  </a:rPr>
                  <a:t> </a:t>
                </a:r>
              </a:p>
            </p:txBody>
          </p:sp>
        </mc:Fallback>
      </mc:AlternateContent>
      <p:sp>
        <p:nvSpPr>
          <p:cNvPr id="13" name="Rectangle 12">
            <a:extLst>
              <a:ext uri="{FF2B5EF4-FFF2-40B4-BE49-F238E27FC236}">
                <a16:creationId xmlns="" xmlns:a16="http://schemas.microsoft.com/office/drawing/2014/main" id="{D3366F43-9817-FE8F-AB7E-1BEC1A59BE1B}"/>
              </a:ext>
            </a:extLst>
          </p:cNvPr>
          <p:cNvSpPr/>
          <p:nvPr/>
        </p:nvSpPr>
        <p:spPr>
          <a:xfrm>
            <a:off x="2765350" y="1825625"/>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 xmlns:a16="http://schemas.microsoft.com/office/drawing/2014/main" id="{0399464E-DF61-887E-96F5-F2503641F4AE}"/>
              </a:ext>
            </a:extLst>
          </p:cNvPr>
          <p:cNvSpPr/>
          <p:nvPr/>
        </p:nvSpPr>
        <p:spPr>
          <a:xfrm>
            <a:off x="3550388" y="1819756"/>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 xmlns:a16="http://schemas.microsoft.com/office/drawing/2014/main" id="{E5C6F255-66BF-8187-D7FE-3DBC6B1AAAFF}"/>
                  </a:ext>
                </a:extLst>
              </p:cNvPr>
              <p:cNvSpPr txBox="1"/>
              <p:nvPr/>
            </p:nvSpPr>
            <p:spPr>
              <a:xfrm>
                <a:off x="2760035" y="2177351"/>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1</m:t>
                          </m:r>
                        </m:sub>
                      </m:sSub>
                    </m:oMath>
                  </m:oMathPara>
                </a14:m>
                <a:endParaRPr lang="en-US" dirty="0"/>
              </a:p>
            </p:txBody>
          </p:sp>
        </mc:Choice>
        <mc:Fallback xmlns="">
          <p:sp>
            <p:nvSpPr>
              <p:cNvPr id="17" name="TextBox 16">
                <a:extLst>
                  <a:ext uri="{FF2B5EF4-FFF2-40B4-BE49-F238E27FC236}">
                    <a16:creationId xmlns:a16="http://schemas.microsoft.com/office/drawing/2014/main" id="{323C9920-DB11-694B-4711-8E46CF485FF0}"/>
                  </a:ext>
                </a:extLst>
              </p:cNvPr>
              <p:cNvSpPr txBox="1">
                <a:spLocks noRot="1" noChangeAspect="1" noMove="1" noResize="1" noEditPoints="1" noAdjustHandles="1" noChangeArrowheads="1" noChangeShapeType="1" noTextEdit="1"/>
              </p:cNvSpPr>
              <p:nvPr/>
            </p:nvSpPr>
            <p:spPr>
              <a:xfrm>
                <a:off x="2760035" y="2177351"/>
                <a:ext cx="393406" cy="369332"/>
              </a:xfrm>
              <a:prstGeom prst="rect">
                <a:avLst/>
              </a:prstGeom>
              <a:blipFill>
                <a:blip r:embed="rId7"/>
                <a:stretch>
                  <a:fillRect b="-65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 xmlns:a16="http://schemas.microsoft.com/office/drawing/2014/main" id="{87457A1D-6101-F8F4-7D24-8AB84781E22C}"/>
                  </a:ext>
                </a:extLst>
              </p:cNvPr>
              <p:cNvSpPr txBox="1"/>
              <p:nvPr/>
            </p:nvSpPr>
            <p:spPr>
              <a:xfrm>
                <a:off x="3550387" y="2177351"/>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2</m:t>
                          </m:r>
                        </m:sub>
                      </m:sSub>
                    </m:oMath>
                  </m:oMathPara>
                </a14:m>
                <a:endParaRPr lang="en-US" dirty="0"/>
              </a:p>
            </p:txBody>
          </p:sp>
        </mc:Choice>
        <mc:Fallback xmlns="">
          <p:sp>
            <p:nvSpPr>
              <p:cNvPr id="23" name="TextBox 22">
                <a:extLst>
                  <a:ext uri="{FF2B5EF4-FFF2-40B4-BE49-F238E27FC236}">
                    <a16:creationId xmlns:a16="http://schemas.microsoft.com/office/drawing/2014/main" id="{A1E7D38B-069D-1161-9EB1-AE548F7B17FD}"/>
                  </a:ext>
                </a:extLst>
              </p:cNvPr>
              <p:cNvSpPr txBox="1">
                <a:spLocks noRot="1" noChangeAspect="1" noMove="1" noResize="1" noEditPoints="1" noAdjustHandles="1" noChangeArrowheads="1" noChangeShapeType="1" noTextEdit="1"/>
              </p:cNvSpPr>
              <p:nvPr/>
            </p:nvSpPr>
            <p:spPr>
              <a:xfrm>
                <a:off x="3550387" y="2177351"/>
                <a:ext cx="393406" cy="369332"/>
              </a:xfrm>
              <a:prstGeom prst="rect">
                <a:avLst/>
              </a:prstGeom>
              <a:blipFill>
                <a:blip r:embed="rId8"/>
                <a:stretch>
                  <a:fillRect b="-6557"/>
                </a:stretch>
              </a:blipFill>
            </p:spPr>
            <p:txBody>
              <a:bodyPr/>
              <a:lstStyle/>
              <a:p>
                <a:r>
                  <a:rPr lang="en-US">
                    <a:noFill/>
                  </a:rPr>
                  <a:t> </a:t>
                </a:r>
              </a:p>
            </p:txBody>
          </p:sp>
        </mc:Fallback>
      </mc:AlternateContent>
      <p:cxnSp>
        <p:nvCxnSpPr>
          <p:cNvPr id="27" name="Straight Arrow Connector 26">
            <a:extLst>
              <a:ext uri="{FF2B5EF4-FFF2-40B4-BE49-F238E27FC236}">
                <a16:creationId xmlns="" xmlns:a16="http://schemas.microsoft.com/office/drawing/2014/main" id="{216B3E8F-47DC-A048-59E4-A18211C53B53}"/>
              </a:ext>
            </a:extLst>
          </p:cNvPr>
          <p:cNvCxnSpPr>
            <a:endCxn id="13" idx="2"/>
          </p:cNvCxnSpPr>
          <p:nvPr/>
        </p:nvCxnSpPr>
        <p:spPr>
          <a:xfrm flipH="1" flipV="1">
            <a:off x="2962053" y="2910146"/>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8" name="Straight Arrow Connector 27">
            <a:extLst>
              <a:ext uri="{FF2B5EF4-FFF2-40B4-BE49-F238E27FC236}">
                <a16:creationId xmlns="" xmlns:a16="http://schemas.microsoft.com/office/drawing/2014/main" id="{76EAC032-39F4-1ED8-9E80-E4721885453B}"/>
              </a:ext>
            </a:extLst>
          </p:cNvPr>
          <p:cNvCxnSpPr>
            <a:endCxn id="16" idx="2"/>
          </p:cNvCxnSpPr>
          <p:nvPr/>
        </p:nvCxnSpPr>
        <p:spPr>
          <a:xfrm flipV="1">
            <a:off x="3747091" y="2904277"/>
            <a:ext cx="0"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77959413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492F80CB-9E3E-541A-008D-49B810D2EC40}"/>
            </a:ext>
          </a:extLst>
        </p:cNvPr>
        <p:cNvGrpSpPr/>
        <p:nvPr/>
      </p:nvGrpSpPr>
      <p:grpSpPr>
        <a:xfrm>
          <a:off x="0" y="0"/>
          <a:ext cx="0" cy="0"/>
          <a:chOff x="0" y="0"/>
          <a:chExt cx="0" cy="0"/>
        </a:xfrm>
      </p:grpSpPr>
      <p:sp>
        <p:nvSpPr>
          <p:cNvPr id="2" name="Title 1">
            <a:extLst>
              <a:ext uri="{FF2B5EF4-FFF2-40B4-BE49-F238E27FC236}">
                <a16:creationId xmlns="" xmlns:a16="http://schemas.microsoft.com/office/drawing/2014/main" id="{7693B55B-5A45-B168-45F1-33C226DBCCEE}"/>
              </a:ext>
            </a:extLst>
          </p:cNvPr>
          <p:cNvSpPr>
            <a:spLocks noGrp="1"/>
          </p:cNvSpPr>
          <p:nvPr>
            <p:ph type="title"/>
          </p:nvPr>
        </p:nvSpPr>
        <p:spPr/>
        <p:txBody>
          <a:bodyPr/>
          <a:lstStyle/>
          <a:p>
            <a:r>
              <a:rPr lang="pt-BR" dirty="0"/>
              <a:t>Aplicação: vários-para-vários assíncrono</a:t>
            </a:r>
            <a:endParaRPr lang="en-US" dirty="0"/>
          </a:p>
        </p:txBody>
      </p:sp>
      <p:sp>
        <p:nvSpPr>
          <p:cNvPr id="3" name="Content Placeholder 2">
            <a:extLst>
              <a:ext uri="{FF2B5EF4-FFF2-40B4-BE49-F238E27FC236}">
                <a16:creationId xmlns="" xmlns:a16="http://schemas.microsoft.com/office/drawing/2014/main" id="{9CC483E7-E17F-0BD3-09E3-C6956FD7A4D3}"/>
              </a:ext>
            </a:extLst>
          </p:cNvPr>
          <p:cNvSpPr>
            <a:spLocks noGrp="1"/>
          </p:cNvSpPr>
          <p:nvPr>
            <p:ph idx="1"/>
          </p:nvPr>
        </p:nvSpPr>
        <p:spPr>
          <a:xfrm>
            <a:off x="5943637" y="1825624"/>
            <a:ext cx="6248363" cy="5032375"/>
          </a:xfrm>
        </p:spPr>
        <p:txBody>
          <a:bodyPr>
            <a:normAutofit lnSpcReduction="10000"/>
          </a:bodyPr>
          <a:lstStyle/>
          <a:p>
            <a:r>
              <a:rPr lang="pt-BR" dirty="0"/>
              <a:t>Entrada de tamanho variável (sequência).</a:t>
            </a:r>
          </a:p>
          <a:p>
            <a:r>
              <a:rPr lang="pt-BR" dirty="0"/>
              <a:t>Saída de tamanho variável (sequência).</a:t>
            </a:r>
          </a:p>
          <a:p>
            <a:r>
              <a:rPr lang="pt-BR" dirty="0"/>
              <a:t>Rede do tipo </a:t>
            </a:r>
            <a:r>
              <a:rPr lang="pt-BR" i="1" dirty="0" err="1"/>
              <a:t>encoder</a:t>
            </a:r>
            <a:r>
              <a:rPr lang="pt-BR" dirty="0"/>
              <a:t>/</a:t>
            </a:r>
            <a:r>
              <a:rPr lang="pt-BR" i="1" dirty="0" err="1"/>
              <a:t>decoder</a:t>
            </a:r>
            <a:r>
              <a:rPr lang="pt-BR" dirty="0"/>
              <a:t>.</a:t>
            </a:r>
          </a:p>
          <a:p>
            <a:r>
              <a:rPr lang="pt-BR" dirty="0"/>
              <a:t>Entrada e saída não são sincronizadas.</a:t>
            </a:r>
          </a:p>
          <a:p>
            <a:pPr lvl="1">
              <a:buFont typeface="Wingdings" panose="05000000000000000000" pitchFamily="2" charset="2"/>
              <a:buChar char="§"/>
            </a:pPr>
            <a:r>
              <a:rPr lang="pt-BR" dirty="0"/>
              <a:t>Comprimentos de entrada e saída não são necessariamente iguais.</a:t>
            </a:r>
          </a:p>
          <a:p>
            <a:r>
              <a:rPr lang="pt-BR" dirty="0"/>
              <a:t>Exemplo de uso:</a:t>
            </a:r>
          </a:p>
          <a:p>
            <a:pPr lvl="1">
              <a:buFont typeface="Wingdings" panose="05000000000000000000" pitchFamily="2" charset="2"/>
              <a:buChar char="§"/>
            </a:pPr>
            <a:r>
              <a:rPr lang="pt-BR" dirty="0"/>
              <a:t>Tradução automática</a:t>
            </a:r>
            <a:endParaRPr lang="pt-BR" i="1" dirty="0"/>
          </a:p>
          <a:p>
            <a:pPr lvl="2">
              <a:buFont typeface="Courier New" panose="02070309020205020404" pitchFamily="49" charset="0"/>
              <a:buChar char="o"/>
            </a:pPr>
            <a:r>
              <a:rPr lang="pt-BR" dirty="0"/>
              <a:t>Entrada: sequência de palavras em uma língua.</a:t>
            </a:r>
          </a:p>
          <a:p>
            <a:pPr lvl="2">
              <a:buFont typeface="Courier New" panose="02070309020205020404" pitchFamily="49" charset="0"/>
              <a:buChar char="o"/>
            </a:pPr>
            <a:r>
              <a:rPr lang="pt-BR" dirty="0"/>
              <a:t>Saída: sequência de palavras em outra língua.</a:t>
            </a:r>
          </a:p>
          <a:p>
            <a:pPr lvl="1">
              <a:buFont typeface="Wingdings" panose="05000000000000000000" pitchFamily="2" charset="2"/>
              <a:buChar char="§"/>
            </a:pPr>
            <a:r>
              <a:rPr lang="pt-BR" i="1" dirty="0" err="1"/>
              <a:t>chatbots</a:t>
            </a:r>
            <a:endParaRPr lang="pt-BR" dirty="0"/>
          </a:p>
        </p:txBody>
      </p:sp>
      <p:sp>
        <p:nvSpPr>
          <p:cNvPr id="5" name="Rectangle 4">
            <a:extLst>
              <a:ext uri="{FF2B5EF4-FFF2-40B4-BE49-F238E27FC236}">
                <a16:creationId xmlns="" xmlns:a16="http://schemas.microsoft.com/office/drawing/2014/main" id="{798C9BC5-15E8-FB86-A2FF-03CF2C96CB13}"/>
              </a:ext>
            </a:extLst>
          </p:cNvPr>
          <p:cNvSpPr/>
          <p:nvPr/>
        </p:nvSpPr>
        <p:spPr>
          <a:xfrm>
            <a:off x="1857517" y="3429000"/>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7" name="Rectangle 6">
            <a:extLst>
              <a:ext uri="{FF2B5EF4-FFF2-40B4-BE49-F238E27FC236}">
                <a16:creationId xmlns="" xmlns:a16="http://schemas.microsoft.com/office/drawing/2014/main" id="{63577D96-6FE7-F60B-ED7E-0CE5B6852522}"/>
              </a:ext>
            </a:extLst>
          </p:cNvPr>
          <p:cNvSpPr/>
          <p:nvPr/>
        </p:nvSpPr>
        <p:spPr>
          <a:xfrm>
            <a:off x="2647871" y="3429000"/>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0" name="Rectangle 9">
            <a:extLst>
              <a:ext uri="{FF2B5EF4-FFF2-40B4-BE49-F238E27FC236}">
                <a16:creationId xmlns="" xmlns:a16="http://schemas.microsoft.com/office/drawing/2014/main" id="{C8E04DD1-F3A6-5114-B79F-4BC65F8FEA96}"/>
              </a:ext>
            </a:extLst>
          </p:cNvPr>
          <p:cNvSpPr/>
          <p:nvPr/>
        </p:nvSpPr>
        <p:spPr>
          <a:xfrm>
            <a:off x="3432908" y="3429000"/>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 xmlns:a16="http://schemas.microsoft.com/office/drawing/2014/main" id="{544DBCE3-F503-E62D-06A2-1F1E871B411F}"/>
              </a:ext>
            </a:extLst>
          </p:cNvPr>
          <p:cNvCxnSpPr>
            <a:stCxn id="5" idx="3"/>
            <a:endCxn id="7" idx="1"/>
          </p:cNvCxnSpPr>
          <p:nvPr/>
        </p:nvCxnSpPr>
        <p:spPr>
          <a:xfrm>
            <a:off x="2250922" y="3971261"/>
            <a:ext cx="39694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 xmlns:a16="http://schemas.microsoft.com/office/drawing/2014/main" id="{96DD0089-EB3B-2E96-D1AD-99C175C43B5D}"/>
              </a:ext>
            </a:extLst>
          </p:cNvPr>
          <p:cNvCxnSpPr>
            <a:stCxn id="7" idx="3"/>
            <a:endCxn id="10" idx="1"/>
          </p:cNvCxnSpPr>
          <p:nvPr/>
        </p:nvCxnSpPr>
        <p:spPr>
          <a:xfrm>
            <a:off x="3041276" y="3971261"/>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 name="Rectangle 7">
            <a:extLst>
              <a:ext uri="{FF2B5EF4-FFF2-40B4-BE49-F238E27FC236}">
                <a16:creationId xmlns="" xmlns:a16="http://schemas.microsoft.com/office/drawing/2014/main" id="{8EBFA63A-7A7F-C301-161E-58CB3778B150}"/>
              </a:ext>
            </a:extLst>
          </p:cNvPr>
          <p:cNvSpPr/>
          <p:nvPr/>
        </p:nvSpPr>
        <p:spPr>
          <a:xfrm>
            <a:off x="4217946" y="1871053"/>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 xmlns:a16="http://schemas.microsoft.com/office/drawing/2014/main" id="{C88EB1AD-6975-BCC1-C82D-8CF2AB176F0A}"/>
              </a:ext>
            </a:extLst>
          </p:cNvPr>
          <p:cNvCxnSpPr>
            <a:cxnSpLocks/>
            <a:endCxn id="8" idx="2"/>
          </p:cNvCxnSpPr>
          <p:nvPr/>
        </p:nvCxnSpPr>
        <p:spPr>
          <a:xfrm flipV="1">
            <a:off x="4414648" y="2955574"/>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 xmlns:a16="http://schemas.microsoft.com/office/drawing/2014/main" id="{9C6940C0-6ABE-A439-AED8-8F3DA6633B44}"/>
                  </a:ext>
                </a:extLst>
              </p:cNvPr>
              <p:cNvSpPr txBox="1"/>
              <p:nvPr/>
            </p:nvSpPr>
            <p:spPr>
              <a:xfrm>
                <a:off x="4217944" y="2222779"/>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2</m:t>
                          </m:r>
                        </m:sub>
                      </m:sSub>
                    </m:oMath>
                  </m:oMathPara>
                </a14:m>
                <a:endParaRPr lang="en-US" dirty="0"/>
              </a:p>
            </p:txBody>
          </p:sp>
        </mc:Choice>
        <mc:Fallback xmlns="">
          <p:sp>
            <p:nvSpPr>
              <p:cNvPr id="12" name="TextBox 11">
                <a:extLst>
                  <a:ext uri="{FF2B5EF4-FFF2-40B4-BE49-F238E27FC236}">
                    <a16:creationId xmlns:a16="http://schemas.microsoft.com/office/drawing/2014/main" id="{9C6940C0-6ABE-A439-AED8-8F3DA6633B44}"/>
                  </a:ext>
                </a:extLst>
              </p:cNvPr>
              <p:cNvSpPr txBox="1">
                <a:spLocks noRot="1" noChangeAspect="1" noMove="1" noResize="1" noEditPoints="1" noAdjustHandles="1" noChangeArrowheads="1" noChangeShapeType="1" noTextEdit="1"/>
              </p:cNvSpPr>
              <p:nvPr/>
            </p:nvSpPr>
            <p:spPr>
              <a:xfrm>
                <a:off x="4217944" y="2222779"/>
                <a:ext cx="393406" cy="369332"/>
              </a:xfrm>
              <a:prstGeom prst="rect">
                <a:avLst/>
              </a:prstGeom>
              <a:blipFill>
                <a:blip r:embed="rId3"/>
                <a:stretch>
                  <a:fillRect b="-6667"/>
                </a:stretch>
              </a:blipFill>
            </p:spPr>
            <p:txBody>
              <a:bodyPr/>
              <a:lstStyle/>
              <a:p>
                <a:r>
                  <a:rPr lang="en-US">
                    <a:noFill/>
                  </a:rPr>
                  <a:t> </a:t>
                </a:r>
              </a:p>
            </p:txBody>
          </p:sp>
        </mc:Fallback>
      </mc:AlternateContent>
      <p:sp>
        <p:nvSpPr>
          <p:cNvPr id="13" name="Rectangle 12">
            <a:extLst>
              <a:ext uri="{FF2B5EF4-FFF2-40B4-BE49-F238E27FC236}">
                <a16:creationId xmlns="" xmlns:a16="http://schemas.microsoft.com/office/drawing/2014/main" id="{A6970E72-E9CD-203F-5D6D-CD2520CE5E69}"/>
              </a:ext>
            </a:extLst>
          </p:cNvPr>
          <p:cNvSpPr/>
          <p:nvPr/>
        </p:nvSpPr>
        <p:spPr>
          <a:xfrm>
            <a:off x="2634579" y="1876923"/>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 xmlns:a16="http://schemas.microsoft.com/office/drawing/2014/main" id="{DFFB94F9-963A-CC29-C51E-098A134A1737}"/>
              </a:ext>
            </a:extLst>
          </p:cNvPr>
          <p:cNvSpPr/>
          <p:nvPr/>
        </p:nvSpPr>
        <p:spPr>
          <a:xfrm>
            <a:off x="3419617" y="1871054"/>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 xmlns:a16="http://schemas.microsoft.com/office/drawing/2014/main" id="{C270900E-2C0E-C040-BAF6-1BBA1B85CAE2}"/>
                  </a:ext>
                </a:extLst>
              </p:cNvPr>
              <p:cNvSpPr txBox="1"/>
              <p:nvPr/>
            </p:nvSpPr>
            <p:spPr>
              <a:xfrm>
                <a:off x="2629264" y="2228649"/>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0</m:t>
                          </m:r>
                        </m:sub>
                      </m:sSub>
                    </m:oMath>
                  </m:oMathPara>
                </a14:m>
                <a:endParaRPr lang="en-US" dirty="0"/>
              </a:p>
            </p:txBody>
          </p:sp>
        </mc:Choice>
        <mc:Fallback xmlns="">
          <p:sp>
            <p:nvSpPr>
              <p:cNvPr id="17" name="TextBox 16">
                <a:extLst>
                  <a:ext uri="{FF2B5EF4-FFF2-40B4-BE49-F238E27FC236}">
                    <a16:creationId xmlns:a16="http://schemas.microsoft.com/office/drawing/2014/main" id="{C270900E-2C0E-C040-BAF6-1BBA1B85CAE2}"/>
                  </a:ext>
                </a:extLst>
              </p:cNvPr>
              <p:cNvSpPr txBox="1">
                <a:spLocks noRot="1" noChangeAspect="1" noMove="1" noResize="1" noEditPoints="1" noAdjustHandles="1" noChangeArrowheads="1" noChangeShapeType="1" noTextEdit="1"/>
              </p:cNvSpPr>
              <p:nvPr/>
            </p:nvSpPr>
            <p:spPr>
              <a:xfrm>
                <a:off x="2629264" y="2228649"/>
                <a:ext cx="393406" cy="369332"/>
              </a:xfrm>
              <a:prstGeom prst="rect">
                <a:avLst/>
              </a:prstGeom>
              <a:blipFill>
                <a:blip r:embed="rId4"/>
                <a:stretch>
                  <a:fillRect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 xmlns:a16="http://schemas.microsoft.com/office/drawing/2014/main" id="{53791838-1266-112F-718E-55D7F92583EF}"/>
                  </a:ext>
                </a:extLst>
              </p:cNvPr>
              <p:cNvSpPr txBox="1"/>
              <p:nvPr/>
            </p:nvSpPr>
            <p:spPr>
              <a:xfrm>
                <a:off x="3419616" y="2228649"/>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1</m:t>
                          </m:r>
                        </m:sub>
                      </m:sSub>
                    </m:oMath>
                  </m:oMathPara>
                </a14:m>
                <a:endParaRPr lang="en-US" dirty="0"/>
              </a:p>
            </p:txBody>
          </p:sp>
        </mc:Choice>
        <mc:Fallback xmlns="">
          <p:sp>
            <p:nvSpPr>
              <p:cNvPr id="23" name="TextBox 22">
                <a:extLst>
                  <a:ext uri="{FF2B5EF4-FFF2-40B4-BE49-F238E27FC236}">
                    <a16:creationId xmlns:a16="http://schemas.microsoft.com/office/drawing/2014/main" id="{53791838-1266-112F-718E-55D7F92583EF}"/>
                  </a:ext>
                </a:extLst>
              </p:cNvPr>
              <p:cNvSpPr txBox="1">
                <a:spLocks noRot="1" noChangeAspect="1" noMove="1" noResize="1" noEditPoints="1" noAdjustHandles="1" noChangeArrowheads="1" noChangeShapeType="1" noTextEdit="1"/>
              </p:cNvSpPr>
              <p:nvPr/>
            </p:nvSpPr>
            <p:spPr>
              <a:xfrm>
                <a:off x="3419616" y="2228649"/>
                <a:ext cx="393406" cy="369332"/>
              </a:xfrm>
              <a:prstGeom prst="rect">
                <a:avLst/>
              </a:prstGeom>
              <a:blipFill>
                <a:blip r:embed="rId5"/>
                <a:stretch>
                  <a:fillRect b="-6667"/>
                </a:stretch>
              </a:blipFill>
            </p:spPr>
            <p:txBody>
              <a:bodyPr/>
              <a:lstStyle/>
              <a:p>
                <a:r>
                  <a:rPr lang="en-US">
                    <a:noFill/>
                  </a:rPr>
                  <a:t> </a:t>
                </a:r>
              </a:p>
            </p:txBody>
          </p:sp>
        </mc:Fallback>
      </mc:AlternateContent>
      <p:cxnSp>
        <p:nvCxnSpPr>
          <p:cNvPr id="27" name="Straight Arrow Connector 26">
            <a:extLst>
              <a:ext uri="{FF2B5EF4-FFF2-40B4-BE49-F238E27FC236}">
                <a16:creationId xmlns="" xmlns:a16="http://schemas.microsoft.com/office/drawing/2014/main" id="{085B9A2E-6534-2437-D967-5DF1514BF9F3}"/>
              </a:ext>
            </a:extLst>
          </p:cNvPr>
          <p:cNvCxnSpPr>
            <a:endCxn id="13" idx="2"/>
          </p:cNvCxnSpPr>
          <p:nvPr/>
        </p:nvCxnSpPr>
        <p:spPr>
          <a:xfrm flipH="1" flipV="1">
            <a:off x="2831282" y="2961444"/>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8" name="Straight Arrow Connector 27">
            <a:extLst>
              <a:ext uri="{FF2B5EF4-FFF2-40B4-BE49-F238E27FC236}">
                <a16:creationId xmlns="" xmlns:a16="http://schemas.microsoft.com/office/drawing/2014/main" id="{2668834C-FD74-F5C2-962C-47E7E949C549}"/>
              </a:ext>
            </a:extLst>
          </p:cNvPr>
          <p:cNvCxnSpPr>
            <a:endCxn id="16" idx="2"/>
          </p:cNvCxnSpPr>
          <p:nvPr/>
        </p:nvCxnSpPr>
        <p:spPr>
          <a:xfrm flipV="1">
            <a:off x="3616320" y="2955575"/>
            <a:ext cx="0"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 name="Rectangle 3">
            <a:extLst>
              <a:ext uri="{FF2B5EF4-FFF2-40B4-BE49-F238E27FC236}">
                <a16:creationId xmlns="" xmlns:a16="http://schemas.microsoft.com/office/drawing/2014/main" id="{F078DBB0-1AC8-EAEA-D2B3-81EBA1BC73AB}"/>
              </a:ext>
            </a:extLst>
          </p:cNvPr>
          <p:cNvSpPr/>
          <p:nvPr/>
        </p:nvSpPr>
        <p:spPr>
          <a:xfrm>
            <a:off x="268836" y="3429000"/>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5" name="Rectangle 14">
            <a:extLst>
              <a:ext uri="{FF2B5EF4-FFF2-40B4-BE49-F238E27FC236}">
                <a16:creationId xmlns="" xmlns:a16="http://schemas.microsoft.com/office/drawing/2014/main" id="{7B7F1159-D526-3036-9F30-22158503DAFC}"/>
              </a:ext>
            </a:extLst>
          </p:cNvPr>
          <p:cNvSpPr/>
          <p:nvPr/>
        </p:nvSpPr>
        <p:spPr>
          <a:xfrm>
            <a:off x="1059190" y="3429000"/>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25" name="Straight Arrow Connector 24">
            <a:extLst>
              <a:ext uri="{FF2B5EF4-FFF2-40B4-BE49-F238E27FC236}">
                <a16:creationId xmlns="" xmlns:a16="http://schemas.microsoft.com/office/drawing/2014/main" id="{1E7B0A6F-5745-009B-E429-C10DA86AAFB2}"/>
              </a:ext>
            </a:extLst>
          </p:cNvPr>
          <p:cNvCxnSpPr>
            <a:stCxn id="4" idx="3"/>
            <a:endCxn id="15" idx="1"/>
          </p:cNvCxnSpPr>
          <p:nvPr/>
        </p:nvCxnSpPr>
        <p:spPr>
          <a:xfrm>
            <a:off x="662241" y="3971261"/>
            <a:ext cx="39694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0" name="Straight Arrow Connector 29">
            <a:extLst>
              <a:ext uri="{FF2B5EF4-FFF2-40B4-BE49-F238E27FC236}">
                <a16:creationId xmlns="" xmlns:a16="http://schemas.microsoft.com/office/drawing/2014/main" id="{102BBC63-2BC0-6A02-4BFE-A72CD982FBB0}"/>
              </a:ext>
            </a:extLst>
          </p:cNvPr>
          <p:cNvCxnSpPr>
            <a:stCxn id="15" idx="3"/>
          </p:cNvCxnSpPr>
          <p:nvPr/>
        </p:nvCxnSpPr>
        <p:spPr>
          <a:xfrm>
            <a:off x="1452595" y="3971261"/>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1" name="Rectangle 30">
            <a:extLst>
              <a:ext uri="{FF2B5EF4-FFF2-40B4-BE49-F238E27FC236}">
                <a16:creationId xmlns="" xmlns:a16="http://schemas.microsoft.com/office/drawing/2014/main" id="{5D3FFC8E-6BAF-6DF7-526E-C081A5A48F93}"/>
              </a:ext>
            </a:extLst>
          </p:cNvPr>
          <p:cNvSpPr/>
          <p:nvPr/>
        </p:nvSpPr>
        <p:spPr>
          <a:xfrm>
            <a:off x="264847" y="4995807"/>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32" name="Straight Arrow Connector 31">
            <a:extLst>
              <a:ext uri="{FF2B5EF4-FFF2-40B4-BE49-F238E27FC236}">
                <a16:creationId xmlns="" xmlns:a16="http://schemas.microsoft.com/office/drawing/2014/main" id="{1401AD97-C582-4298-BF25-40AEF15257C9}"/>
              </a:ext>
            </a:extLst>
          </p:cNvPr>
          <p:cNvCxnSpPr>
            <a:cxnSpLocks/>
            <a:stCxn id="31" idx="0"/>
            <a:endCxn id="4" idx="2"/>
          </p:cNvCxnSpPr>
          <p:nvPr/>
        </p:nvCxnSpPr>
        <p:spPr>
          <a:xfrm flipV="1">
            <a:off x="461550" y="4513521"/>
            <a:ext cx="3989" cy="48228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 xmlns:a16="http://schemas.microsoft.com/office/drawing/2014/main" id="{0ECCB039-D660-E729-AA13-2E270370247F}"/>
                  </a:ext>
                </a:extLst>
              </p:cNvPr>
              <p:cNvSpPr txBox="1"/>
              <p:nvPr/>
            </p:nvSpPr>
            <p:spPr>
              <a:xfrm>
                <a:off x="295415" y="5338671"/>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0</m:t>
                          </m:r>
                        </m:sub>
                      </m:sSub>
                    </m:oMath>
                  </m:oMathPara>
                </a14:m>
                <a:endParaRPr lang="en-US" dirty="0"/>
              </a:p>
            </p:txBody>
          </p:sp>
        </mc:Choice>
        <mc:Fallback xmlns="">
          <p:sp>
            <p:nvSpPr>
              <p:cNvPr id="33" name="TextBox 32">
                <a:extLst>
                  <a:ext uri="{FF2B5EF4-FFF2-40B4-BE49-F238E27FC236}">
                    <a16:creationId xmlns:a16="http://schemas.microsoft.com/office/drawing/2014/main" id="{0ECCB039-D660-E729-AA13-2E270370247F}"/>
                  </a:ext>
                </a:extLst>
              </p:cNvPr>
              <p:cNvSpPr txBox="1">
                <a:spLocks noRot="1" noChangeAspect="1" noMove="1" noResize="1" noEditPoints="1" noAdjustHandles="1" noChangeArrowheads="1" noChangeShapeType="1" noTextEdit="1"/>
              </p:cNvSpPr>
              <p:nvPr/>
            </p:nvSpPr>
            <p:spPr>
              <a:xfrm>
                <a:off x="295415" y="5338671"/>
                <a:ext cx="393406" cy="369332"/>
              </a:xfrm>
              <a:prstGeom prst="rect">
                <a:avLst/>
              </a:prstGeom>
              <a:blipFill>
                <a:blip r:embed="rId6"/>
                <a:stretch>
                  <a:fillRect/>
                </a:stretch>
              </a:blipFill>
            </p:spPr>
            <p:txBody>
              <a:bodyPr/>
              <a:lstStyle/>
              <a:p>
                <a:r>
                  <a:rPr lang="en-US">
                    <a:noFill/>
                  </a:rPr>
                  <a:t> </a:t>
                </a:r>
              </a:p>
            </p:txBody>
          </p:sp>
        </mc:Fallback>
      </mc:AlternateContent>
      <p:sp>
        <p:nvSpPr>
          <p:cNvPr id="34" name="Rectangle 33">
            <a:extLst>
              <a:ext uri="{FF2B5EF4-FFF2-40B4-BE49-F238E27FC236}">
                <a16:creationId xmlns="" xmlns:a16="http://schemas.microsoft.com/office/drawing/2014/main" id="{61795796-1CB2-CAB5-F67E-063C07C2A635}"/>
              </a:ext>
            </a:extLst>
          </p:cNvPr>
          <p:cNvSpPr/>
          <p:nvPr/>
        </p:nvSpPr>
        <p:spPr>
          <a:xfrm>
            <a:off x="1059190" y="5025933"/>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35" name="TextBox 34">
                <a:extLst>
                  <a:ext uri="{FF2B5EF4-FFF2-40B4-BE49-F238E27FC236}">
                    <a16:creationId xmlns="" xmlns:a16="http://schemas.microsoft.com/office/drawing/2014/main" id="{FC51BB95-2E57-AE1B-0448-EEF63C3319E4}"/>
                  </a:ext>
                </a:extLst>
              </p:cNvPr>
              <p:cNvSpPr txBox="1"/>
              <p:nvPr/>
            </p:nvSpPr>
            <p:spPr>
              <a:xfrm>
                <a:off x="1085770" y="5344540"/>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1</m:t>
                          </m:r>
                        </m:sub>
                      </m:sSub>
                    </m:oMath>
                  </m:oMathPara>
                </a14:m>
                <a:endParaRPr lang="en-US" dirty="0"/>
              </a:p>
            </p:txBody>
          </p:sp>
        </mc:Choice>
        <mc:Fallback xmlns="">
          <p:sp>
            <p:nvSpPr>
              <p:cNvPr id="35" name="TextBox 34">
                <a:extLst>
                  <a:ext uri="{FF2B5EF4-FFF2-40B4-BE49-F238E27FC236}">
                    <a16:creationId xmlns:a16="http://schemas.microsoft.com/office/drawing/2014/main" id="{FC51BB95-2E57-AE1B-0448-EEF63C3319E4}"/>
                  </a:ext>
                </a:extLst>
              </p:cNvPr>
              <p:cNvSpPr txBox="1">
                <a:spLocks noRot="1" noChangeAspect="1" noMove="1" noResize="1" noEditPoints="1" noAdjustHandles="1" noChangeArrowheads="1" noChangeShapeType="1" noTextEdit="1"/>
              </p:cNvSpPr>
              <p:nvPr/>
            </p:nvSpPr>
            <p:spPr>
              <a:xfrm>
                <a:off x="1085770" y="5344540"/>
                <a:ext cx="393406" cy="369332"/>
              </a:xfrm>
              <a:prstGeom prst="rect">
                <a:avLst/>
              </a:prstGeom>
              <a:blipFill>
                <a:blip r:embed="rId7"/>
                <a:stretch>
                  <a:fillRect/>
                </a:stretch>
              </a:blipFill>
            </p:spPr>
            <p:txBody>
              <a:bodyPr/>
              <a:lstStyle/>
              <a:p>
                <a:r>
                  <a:rPr lang="en-US">
                    <a:noFill/>
                  </a:rPr>
                  <a:t> </a:t>
                </a:r>
              </a:p>
            </p:txBody>
          </p:sp>
        </mc:Fallback>
      </mc:AlternateContent>
      <p:sp>
        <p:nvSpPr>
          <p:cNvPr id="36" name="Rectangle 35">
            <a:extLst>
              <a:ext uri="{FF2B5EF4-FFF2-40B4-BE49-F238E27FC236}">
                <a16:creationId xmlns="" xmlns:a16="http://schemas.microsoft.com/office/drawing/2014/main" id="{C5443291-1F22-B419-C44A-99E58D94E756}"/>
              </a:ext>
            </a:extLst>
          </p:cNvPr>
          <p:cNvSpPr/>
          <p:nvPr/>
        </p:nvSpPr>
        <p:spPr>
          <a:xfrm>
            <a:off x="1857516" y="4986946"/>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37" name="TextBox 36">
                <a:extLst>
                  <a:ext uri="{FF2B5EF4-FFF2-40B4-BE49-F238E27FC236}">
                    <a16:creationId xmlns="" xmlns:a16="http://schemas.microsoft.com/office/drawing/2014/main" id="{94029703-0659-3912-FB5F-EE18C24BD3C7}"/>
                  </a:ext>
                </a:extLst>
              </p:cNvPr>
              <p:cNvSpPr txBox="1"/>
              <p:nvPr/>
            </p:nvSpPr>
            <p:spPr>
              <a:xfrm>
                <a:off x="1857516" y="5344540"/>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2</m:t>
                          </m:r>
                        </m:sub>
                      </m:sSub>
                    </m:oMath>
                  </m:oMathPara>
                </a14:m>
                <a:endParaRPr lang="en-US" dirty="0"/>
              </a:p>
            </p:txBody>
          </p:sp>
        </mc:Choice>
        <mc:Fallback xmlns="">
          <p:sp>
            <p:nvSpPr>
              <p:cNvPr id="37" name="TextBox 36">
                <a:extLst>
                  <a:ext uri="{FF2B5EF4-FFF2-40B4-BE49-F238E27FC236}">
                    <a16:creationId xmlns:a16="http://schemas.microsoft.com/office/drawing/2014/main" id="{94029703-0659-3912-FB5F-EE18C24BD3C7}"/>
                  </a:ext>
                </a:extLst>
              </p:cNvPr>
              <p:cNvSpPr txBox="1">
                <a:spLocks noRot="1" noChangeAspect="1" noMove="1" noResize="1" noEditPoints="1" noAdjustHandles="1" noChangeArrowheads="1" noChangeShapeType="1" noTextEdit="1"/>
              </p:cNvSpPr>
              <p:nvPr/>
            </p:nvSpPr>
            <p:spPr>
              <a:xfrm>
                <a:off x="1857516" y="5344540"/>
                <a:ext cx="393406" cy="369332"/>
              </a:xfrm>
              <a:prstGeom prst="rect">
                <a:avLst/>
              </a:prstGeom>
              <a:blipFill>
                <a:blip r:embed="rId8"/>
                <a:stretch>
                  <a:fillRect/>
                </a:stretch>
              </a:blipFill>
            </p:spPr>
            <p:txBody>
              <a:bodyPr/>
              <a:lstStyle/>
              <a:p>
                <a:r>
                  <a:rPr lang="en-US">
                    <a:noFill/>
                  </a:rPr>
                  <a:t> </a:t>
                </a:r>
              </a:p>
            </p:txBody>
          </p:sp>
        </mc:Fallback>
      </mc:AlternateContent>
      <p:cxnSp>
        <p:nvCxnSpPr>
          <p:cNvPr id="38" name="Straight Arrow Connector 37">
            <a:extLst>
              <a:ext uri="{FF2B5EF4-FFF2-40B4-BE49-F238E27FC236}">
                <a16:creationId xmlns="" xmlns:a16="http://schemas.microsoft.com/office/drawing/2014/main" id="{049CB08D-F5AA-E52C-D64E-AC29F0A74978}"/>
              </a:ext>
            </a:extLst>
          </p:cNvPr>
          <p:cNvCxnSpPr>
            <a:cxnSpLocks/>
            <a:stCxn id="34" idx="0"/>
            <a:endCxn id="15" idx="2"/>
          </p:cNvCxnSpPr>
          <p:nvPr/>
        </p:nvCxnSpPr>
        <p:spPr>
          <a:xfrm flipV="1">
            <a:off x="1255893" y="4513521"/>
            <a:ext cx="0" cy="51241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9" name="Straight Arrow Connector 38">
            <a:extLst>
              <a:ext uri="{FF2B5EF4-FFF2-40B4-BE49-F238E27FC236}">
                <a16:creationId xmlns="" xmlns:a16="http://schemas.microsoft.com/office/drawing/2014/main" id="{8D3C2576-5153-3012-FA03-0337C7695948}"/>
              </a:ext>
            </a:extLst>
          </p:cNvPr>
          <p:cNvCxnSpPr>
            <a:cxnSpLocks/>
            <a:stCxn id="36" idx="0"/>
            <a:endCxn id="5" idx="2"/>
          </p:cNvCxnSpPr>
          <p:nvPr/>
        </p:nvCxnSpPr>
        <p:spPr>
          <a:xfrm flipV="1">
            <a:off x="2054219" y="4513521"/>
            <a:ext cx="1"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 name="Rectangle 9">
            <a:extLst>
              <a:ext uri="{FF2B5EF4-FFF2-40B4-BE49-F238E27FC236}">
                <a16:creationId xmlns="" xmlns:a16="http://schemas.microsoft.com/office/drawing/2014/main" id="{26BA397E-5740-263D-B08B-906451E582EA}"/>
              </a:ext>
            </a:extLst>
          </p:cNvPr>
          <p:cNvSpPr/>
          <p:nvPr/>
        </p:nvSpPr>
        <p:spPr>
          <a:xfrm>
            <a:off x="4216969" y="3429000"/>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9" name="Straight Arrow Connector 20">
            <a:extLst>
              <a:ext uri="{FF2B5EF4-FFF2-40B4-BE49-F238E27FC236}">
                <a16:creationId xmlns="" xmlns:a16="http://schemas.microsoft.com/office/drawing/2014/main" id="{C43B1F7D-195A-9A30-C98A-8808DEDB70A1}"/>
              </a:ext>
            </a:extLst>
          </p:cNvPr>
          <p:cNvCxnSpPr>
            <a:endCxn id="6" idx="1"/>
          </p:cNvCxnSpPr>
          <p:nvPr/>
        </p:nvCxnSpPr>
        <p:spPr>
          <a:xfrm>
            <a:off x="3825337" y="3971261"/>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4" name="Rectangle 7">
            <a:extLst>
              <a:ext uri="{FF2B5EF4-FFF2-40B4-BE49-F238E27FC236}">
                <a16:creationId xmlns="" xmlns:a16="http://schemas.microsoft.com/office/drawing/2014/main" id="{5367D5C5-083B-1D09-F4AB-A3D1E257E22D}"/>
              </a:ext>
            </a:extLst>
          </p:cNvPr>
          <p:cNvSpPr/>
          <p:nvPr/>
        </p:nvSpPr>
        <p:spPr>
          <a:xfrm>
            <a:off x="5013526" y="1865183"/>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Arrow Connector 10">
            <a:extLst>
              <a:ext uri="{FF2B5EF4-FFF2-40B4-BE49-F238E27FC236}">
                <a16:creationId xmlns="" xmlns:a16="http://schemas.microsoft.com/office/drawing/2014/main" id="{885B04B9-C592-171E-A0A1-B25B746EACB5}"/>
              </a:ext>
            </a:extLst>
          </p:cNvPr>
          <p:cNvCxnSpPr>
            <a:cxnSpLocks/>
            <a:endCxn id="14" idx="2"/>
          </p:cNvCxnSpPr>
          <p:nvPr/>
        </p:nvCxnSpPr>
        <p:spPr>
          <a:xfrm flipV="1">
            <a:off x="5210228" y="2949704"/>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0" name="TextBox 11">
                <a:extLst>
                  <a:ext uri="{FF2B5EF4-FFF2-40B4-BE49-F238E27FC236}">
                    <a16:creationId xmlns="" xmlns:a16="http://schemas.microsoft.com/office/drawing/2014/main" id="{180B069D-B5EE-8B0D-ED92-AF0BA5BBA75C}"/>
                  </a:ext>
                </a:extLst>
              </p:cNvPr>
              <p:cNvSpPr txBox="1"/>
              <p:nvPr/>
            </p:nvSpPr>
            <p:spPr>
              <a:xfrm>
                <a:off x="5013524" y="2216909"/>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3</m:t>
                          </m:r>
                        </m:sub>
                      </m:sSub>
                    </m:oMath>
                  </m:oMathPara>
                </a14:m>
                <a:endParaRPr lang="en-US" dirty="0"/>
              </a:p>
            </p:txBody>
          </p:sp>
        </mc:Choice>
        <mc:Fallback xmlns="">
          <p:sp>
            <p:nvSpPr>
              <p:cNvPr id="20" name="TextBox 11">
                <a:extLst>
                  <a:ext uri="{FF2B5EF4-FFF2-40B4-BE49-F238E27FC236}">
                    <a16:creationId xmlns:a16="http://schemas.microsoft.com/office/drawing/2014/main" id="{180B069D-B5EE-8B0D-ED92-AF0BA5BBA75C}"/>
                  </a:ext>
                </a:extLst>
              </p:cNvPr>
              <p:cNvSpPr txBox="1">
                <a:spLocks noRot="1" noChangeAspect="1" noMove="1" noResize="1" noEditPoints="1" noAdjustHandles="1" noChangeArrowheads="1" noChangeShapeType="1" noTextEdit="1"/>
              </p:cNvSpPr>
              <p:nvPr/>
            </p:nvSpPr>
            <p:spPr>
              <a:xfrm>
                <a:off x="5013524" y="2216909"/>
                <a:ext cx="393406" cy="369332"/>
              </a:xfrm>
              <a:prstGeom prst="rect">
                <a:avLst/>
              </a:prstGeom>
              <a:blipFill>
                <a:blip r:embed="rId9"/>
                <a:stretch>
                  <a:fillRect b="-6667"/>
                </a:stretch>
              </a:blipFill>
            </p:spPr>
            <p:txBody>
              <a:bodyPr/>
              <a:lstStyle/>
              <a:p>
                <a:r>
                  <a:rPr lang="en-US">
                    <a:noFill/>
                  </a:rPr>
                  <a:t> </a:t>
                </a:r>
              </a:p>
            </p:txBody>
          </p:sp>
        </mc:Fallback>
      </mc:AlternateContent>
      <p:sp>
        <p:nvSpPr>
          <p:cNvPr id="22" name="Rectangle 9">
            <a:extLst>
              <a:ext uri="{FF2B5EF4-FFF2-40B4-BE49-F238E27FC236}">
                <a16:creationId xmlns="" xmlns:a16="http://schemas.microsoft.com/office/drawing/2014/main" id="{E10C2FC0-915E-3754-CB58-210B42F3F1CC}"/>
              </a:ext>
            </a:extLst>
          </p:cNvPr>
          <p:cNvSpPr/>
          <p:nvPr/>
        </p:nvSpPr>
        <p:spPr>
          <a:xfrm>
            <a:off x="5012549" y="3423130"/>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24" name="Straight Arrow Connector 20">
            <a:extLst>
              <a:ext uri="{FF2B5EF4-FFF2-40B4-BE49-F238E27FC236}">
                <a16:creationId xmlns="" xmlns:a16="http://schemas.microsoft.com/office/drawing/2014/main" id="{BF33D4D8-000A-D268-E3D6-DBE55534455E}"/>
              </a:ext>
            </a:extLst>
          </p:cNvPr>
          <p:cNvCxnSpPr>
            <a:endCxn id="22" idx="1"/>
          </p:cNvCxnSpPr>
          <p:nvPr/>
        </p:nvCxnSpPr>
        <p:spPr>
          <a:xfrm>
            <a:off x="4620917" y="3965391"/>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6" name="Retângulo 25">
            <a:extLst>
              <a:ext uri="{FF2B5EF4-FFF2-40B4-BE49-F238E27FC236}">
                <a16:creationId xmlns="" xmlns:a16="http://schemas.microsoft.com/office/drawing/2014/main" id="{D7B5CC2B-59F2-0721-6F7F-1F194BA7EDF4}"/>
              </a:ext>
            </a:extLst>
          </p:cNvPr>
          <p:cNvSpPr/>
          <p:nvPr/>
        </p:nvSpPr>
        <p:spPr>
          <a:xfrm>
            <a:off x="120378" y="3305301"/>
            <a:ext cx="2219329" cy="2916389"/>
          </a:xfrm>
          <a:prstGeom prst="rect">
            <a:avLst/>
          </a:prstGeom>
          <a:noFill/>
          <a:ln>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CaixaDeTexto 28">
            <a:extLst>
              <a:ext uri="{FF2B5EF4-FFF2-40B4-BE49-F238E27FC236}">
                <a16:creationId xmlns="" xmlns:a16="http://schemas.microsoft.com/office/drawing/2014/main" id="{CDD4DB52-5878-5675-CF1D-C88AD8295959}"/>
              </a:ext>
            </a:extLst>
          </p:cNvPr>
          <p:cNvSpPr txBox="1"/>
          <p:nvPr/>
        </p:nvSpPr>
        <p:spPr>
          <a:xfrm>
            <a:off x="688821" y="6195027"/>
            <a:ext cx="956993" cy="369332"/>
          </a:xfrm>
          <a:prstGeom prst="rect">
            <a:avLst/>
          </a:prstGeom>
          <a:noFill/>
        </p:spPr>
        <p:txBody>
          <a:bodyPr wrap="none" rtlCol="0">
            <a:spAutoFit/>
          </a:bodyPr>
          <a:lstStyle/>
          <a:p>
            <a:r>
              <a:rPr lang="pt-BR" dirty="0" err="1"/>
              <a:t>encoder</a:t>
            </a:r>
            <a:endParaRPr lang="en-US" dirty="0"/>
          </a:p>
        </p:txBody>
      </p:sp>
      <p:sp>
        <p:nvSpPr>
          <p:cNvPr id="40" name="Retângulo 39">
            <a:extLst>
              <a:ext uri="{FF2B5EF4-FFF2-40B4-BE49-F238E27FC236}">
                <a16:creationId xmlns="" xmlns:a16="http://schemas.microsoft.com/office/drawing/2014/main" id="{7F7DEE5D-466F-66F4-91E6-234AF002DE61}"/>
              </a:ext>
            </a:extLst>
          </p:cNvPr>
          <p:cNvSpPr/>
          <p:nvPr/>
        </p:nvSpPr>
        <p:spPr>
          <a:xfrm>
            <a:off x="2464880" y="1734092"/>
            <a:ext cx="3112355" cy="2916389"/>
          </a:xfrm>
          <a:prstGeom prst="rect">
            <a:avLst/>
          </a:prstGeom>
          <a:noFill/>
          <a:ln>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CaixaDeTexto 40">
            <a:extLst>
              <a:ext uri="{FF2B5EF4-FFF2-40B4-BE49-F238E27FC236}">
                <a16:creationId xmlns="" xmlns:a16="http://schemas.microsoft.com/office/drawing/2014/main" id="{534B0A90-B886-D96D-37BA-01A7E49780CA}"/>
              </a:ext>
            </a:extLst>
          </p:cNvPr>
          <p:cNvSpPr txBox="1"/>
          <p:nvPr/>
        </p:nvSpPr>
        <p:spPr>
          <a:xfrm>
            <a:off x="3542560" y="4632875"/>
            <a:ext cx="956993" cy="369332"/>
          </a:xfrm>
          <a:prstGeom prst="rect">
            <a:avLst/>
          </a:prstGeom>
          <a:noFill/>
        </p:spPr>
        <p:txBody>
          <a:bodyPr wrap="none" rtlCol="0">
            <a:spAutoFit/>
          </a:bodyPr>
          <a:lstStyle/>
          <a:p>
            <a:r>
              <a:rPr lang="pt-BR" dirty="0" err="1"/>
              <a:t>decoder</a:t>
            </a:r>
            <a:endParaRPr lang="en-US" dirty="0"/>
          </a:p>
        </p:txBody>
      </p:sp>
    </p:spTree>
    <p:extLst>
      <p:ext uri="{BB962C8B-B14F-4D97-AF65-F5344CB8AC3E}">
        <p14:creationId xmlns:p14="http://schemas.microsoft.com/office/powerpoint/2010/main" val="330811313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rnn.ipynb</a:t>
            </a:r>
            <a:endParaRPr lang="en-US" dirty="0"/>
          </a:p>
          <a:p>
            <a:pPr marL="0" indent="0">
              <a:buNone/>
            </a:pPr>
            <a:endParaRPr lang="pt-BR" dirty="0"/>
          </a:p>
        </p:txBody>
      </p:sp>
      <p:grpSp>
        <p:nvGrpSpPr>
          <p:cNvPr id="18" name="Group 17">
            <a:extLst>
              <a:ext uri="{FF2B5EF4-FFF2-40B4-BE49-F238E27FC236}">
                <a16:creationId xmlns=""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05788333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E8FD0E11-3B37-4336-5BF0-C8C033354AF6}"/>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 xmlns:a16="http://schemas.microsoft.com/office/drawing/2014/main" id="{32CB14AB-72E4-05EB-962C-F8B4618D0574}"/>
              </a:ext>
            </a:extLst>
          </p:cNvPr>
          <p:cNvSpPr>
            <a:spLocks noGrp="1"/>
          </p:cNvSpPr>
          <p:nvPr>
            <p:ph idx="1"/>
          </p:nvPr>
        </p:nvSpPr>
        <p:spPr/>
        <p:txBody>
          <a:bodyPr/>
          <a:lstStyle/>
          <a:p>
            <a:pPr marL="0" indent="0">
              <a:buNone/>
            </a:pPr>
            <a:r>
              <a:rPr lang="pt-BR" dirty="0">
                <a:hlinkClick r:id="rId3"/>
              </a:rPr>
              <a:t>Lista #11 - RNN</a:t>
            </a:r>
            <a:endParaRPr lang="en-US" dirty="0"/>
          </a:p>
        </p:txBody>
      </p:sp>
    </p:spTree>
    <p:extLst>
      <p:ext uri="{BB962C8B-B14F-4D97-AF65-F5344CB8AC3E}">
        <p14:creationId xmlns:p14="http://schemas.microsoft.com/office/powerpoint/2010/main" val="343721703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9C8F1BEC-82EA-8E7D-59D1-DE7E34F4444F}"/>
            </a:ext>
          </a:extLst>
        </p:cNvPr>
        <p:cNvGrpSpPr/>
        <p:nvPr/>
      </p:nvGrpSpPr>
      <p:grpSpPr>
        <a:xfrm>
          <a:off x="0" y="0"/>
          <a:ext cx="0" cy="0"/>
          <a:chOff x="0" y="0"/>
          <a:chExt cx="0" cy="0"/>
        </a:xfrm>
      </p:grpSpPr>
      <p:sp>
        <p:nvSpPr>
          <p:cNvPr id="4" name="Título 1">
            <a:extLst>
              <a:ext uri="{FF2B5EF4-FFF2-40B4-BE49-F238E27FC236}">
                <a16:creationId xmlns="" xmlns:a16="http://schemas.microsoft.com/office/drawing/2014/main" id="{C86FB9B7-731C-2994-71E3-590F6E30894D}"/>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endParaRPr lang="pt-BR" sz="6600" b="1" i="1" dirty="0"/>
          </a:p>
        </p:txBody>
      </p:sp>
    </p:spTree>
    <p:extLst>
      <p:ext uri="{BB962C8B-B14F-4D97-AF65-F5344CB8AC3E}">
        <p14:creationId xmlns:p14="http://schemas.microsoft.com/office/powerpoint/2010/main" val="361963078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Group 25">
            <a:extLst>
              <a:ext uri="{FF2B5EF4-FFF2-40B4-BE49-F238E27FC236}">
                <a16:creationId xmlns="" xmlns:a16="http://schemas.microsoft.com/office/drawing/2014/main" id="{388A46A3-09D1-BF84-46BF-5DD0CFCB54BB}"/>
              </a:ext>
            </a:extLst>
          </p:cNvPr>
          <p:cNvGrpSpPr/>
          <p:nvPr/>
        </p:nvGrpSpPr>
        <p:grpSpPr>
          <a:xfrm>
            <a:off x="3630565" y="1067128"/>
            <a:ext cx="2259869" cy="4507363"/>
            <a:chOff x="3630565" y="1067128"/>
            <a:chExt cx="2259869" cy="4507363"/>
          </a:xfrm>
        </p:grpSpPr>
        <mc:AlternateContent xmlns:mc="http://schemas.openxmlformats.org/markup-compatibility/2006" xmlns:a14="http://schemas.microsoft.com/office/drawing/2010/main">
          <mc:Choice Requires="a14">
            <p:sp>
              <p:nvSpPr>
                <p:cNvPr id="5" name="Rectangle 4">
                  <a:extLst>
                    <a:ext uri="{FF2B5EF4-FFF2-40B4-BE49-F238E27FC236}">
                      <a16:creationId xmlns="" xmlns:a16="http://schemas.microsoft.com/office/drawing/2014/main" id="{6023DD78-A989-E94C-DAE1-B296D3C4E21C}"/>
                    </a:ext>
                  </a:extLst>
                </p:cNvPr>
                <p:cNvSpPr/>
                <p:nvPr/>
              </p:nvSpPr>
              <p:spPr>
                <a:xfrm>
                  <a:off x="3656800" y="1710993"/>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5" name="Rectangle 4">
                  <a:extLst>
                    <a:ext uri="{FF2B5EF4-FFF2-40B4-BE49-F238E27FC236}">
                      <a16:creationId xmlns:a16="http://schemas.microsoft.com/office/drawing/2014/main" id="{6023DD78-A989-E94C-DAE1-B296D3C4E21C}"/>
                    </a:ext>
                  </a:extLst>
                </p:cNvPr>
                <p:cNvSpPr>
                  <a:spLocks noRot="1" noChangeAspect="1" noMove="1" noResize="1" noEditPoints="1" noAdjustHandles="1" noChangeArrowheads="1" noChangeShapeType="1" noTextEdit="1"/>
                </p:cNvSpPr>
                <p:nvPr/>
              </p:nvSpPr>
              <p:spPr>
                <a:xfrm>
                  <a:off x="3656800" y="1710993"/>
                  <a:ext cx="468000" cy="468000"/>
                </a:xfrm>
                <a:prstGeom prst="rect">
                  <a:avLst/>
                </a:prstGeom>
                <a:blipFill>
                  <a:blip r:embed="rId2"/>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Rectangle 5">
                  <a:extLst>
                    <a:ext uri="{FF2B5EF4-FFF2-40B4-BE49-F238E27FC236}">
                      <a16:creationId xmlns="" xmlns:a16="http://schemas.microsoft.com/office/drawing/2014/main" id="{3D42FE05-5457-F925-05EF-0E3701418F8C}"/>
                    </a:ext>
                  </a:extLst>
                </p:cNvPr>
                <p:cNvSpPr/>
                <p:nvPr/>
              </p:nvSpPr>
              <p:spPr>
                <a:xfrm>
                  <a:off x="3650268" y="4478548"/>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𝑖</m:t>
                            </m:r>
                          </m:sub>
                        </m:sSub>
                      </m:oMath>
                    </m:oMathPara>
                  </a14:m>
                  <a:endParaRPr lang="en-US" dirty="0"/>
                </a:p>
              </p:txBody>
            </p:sp>
          </mc:Choice>
          <mc:Fallback xmlns="">
            <p:sp>
              <p:nvSpPr>
                <p:cNvPr id="6" name="Rectangle 5">
                  <a:extLst>
                    <a:ext uri="{FF2B5EF4-FFF2-40B4-BE49-F238E27FC236}">
                      <a16:creationId xmlns:a16="http://schemas.microsoft.com/office/drawing/2014/main" id="{3D42FE05-5457-F925-05EF-0E3701418F8C}"/>
                    </a:ext>
                  </a:extLst>
                </p:cNvPr>
                <p:cNvSpPr>
                  <a:spLocks noRot="1" noChangeAspect="1" noMove="1" noResize="1" noEditPoints="1" noAdjustHandles="1" noChangeArrowheads="1" noChangeShapeType="1" noTextEdit="1"/>
                </p:cNvSpPr>
                <p:nvPr/>
              </p:nvSpPr>
              <p:spPr>
                <a:xfrm>
                  <a:off x="3650268" y="4478548"/>
                  <a:ext cx="468000" cy="468000"/>
                </a:xfrm>
                <a:prstGeom prst="rect">
                  <a:avLst/>
                </a:prstGeom>
                <a:blipFill>
                  <a:blip r:embed="rId3"/>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Rectangle 6">
                  <a:extLst>
                    <a:ext uri="{FF2B5EF4-FFF2-40B4-BE49-F238E27FC236}">
                      <a16:creationId xmlns="" xmlns:a16="http://schemas.microsoft.com/office/drawing/2014/main" id="{28D2664B-9505-156A-4753-DDE3DEC9FD22}"/>
                    </a:ext>
                  </a:extLst>
                </p:cNvPr>
                <p:cNvSpPr/>
                <p:nvPr/>
              </p:nvSpPr>
              <p:spPr>
                <a:xfrm>
                  <a:off x="4665362" y="3198065"/>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h</m:t>
                            </m:r>
                          </m:sub>
                        </m:sSub>
                      </m:oMath>
                    </m:oMathPara>
                  </a14:m>
                  <a:endParaRPr lang="en-US" dirty="0"/>
                </a:p>
              </p:txBody>
            </p:sp>
          </mc:Choice>
          <mc:Fallback xmlns="">
            <p:sp>
              <p:nvSpPr>
                <p:cNvPr id="7" name="Rectangle 6">
                  <a:extLst>
                    <a:ext uri="{FF2B5EF4-FFF2-40B4-BE49-F238E27FC236}">
                      <a16:creationId xmlns:a16="http://schemas.microsoft.com/office/drawing/2014/main" id="{28D2664B-9505-156A-4753-DDE3DEC9FD22}"/>
                    </a:ext>
                  </a:extLst>
                </p:cNvPr>
                <p:cNvSpPr>
                  <a:spLocks noRot="1" noChangeAspect="1" noMove="1" noResize="1" noEditPoints="1" noAdjustHandles="1" noChangeArrowheads="1" noChangeShapeType="1" noTextEdit="1"/>
                </p:cNvSpPr>
                <p:nvPr/>
              </p:nvSpPr>
              <p:spPr>
                <a:xfrm>
                  <a:off x="4665362" y="3198065"/>
                  <a:ext cx="468000" cy="468000"/>
                </a:xfrm>
                <a:prstGeom prst="rect">
                  <a:avLst/>
                </a:prstGeom>
                <a:blipFill>
                  <a:blip r:embed="rId4"/>
                  <a:stretch>
                    <a:fillRect l="-8974"/>
                  </a:stretch>
                </a:blipFill>
              </p:spPr>
              <p:txBody>
                <a:bodyPr/>
                <a:lstStyle/>
                <a:p>
                  <a:r>
                    <a:rPr lang="en-US">
                      <a:noFill/>
                    </a:rPr>
                    <a:t> </a:t>
                  </a:r>
                </a:p>
              </p:txBody>
            </p:sp>
          </mc:Fallback>
        </mc:AlternateContent>
        <p:sp>
          <p:nvSpPr>
            <p:cNvPr id="8" name="Oval 7">
              <a:extLst>
                <a:ext uri="{FF2B5EF4-FFF2-40B4-BE49-F238E27FC236}">
                  <a16:creationId xmlns="" xmlns:a16="http://schemas.microsoft.com/office/drawing/2014/main" id="{BAAA4727-42FC-D852-70A3-FE7D6EFC060F}"/>
                </a:ext>
              </a:extLst>
            </p:cNvPr>
            <p:cNvSpPr/>
            <p:nvPr/>
          </p:nvSpPr>
          <p:spPr>
            <a:xfrm>
              <a:off x="3672040" y="1067128"/>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1600" b="1" dirty="0"/>
            </a:p>
          </p:txBody>
        </p:sp>
        <p:sp>
          <p:nvSpPr>
            <p:cNvPr id="9" name="Oval 8">
              <a:extLst>
                <a:ext uri="{FF2B5EF4-FFF2-40B4-BE49-F238E27FC236}">
                  <a16:creationId xmlns="" xmlns:a16="http://schemas.microsoft.com/office/drawing/2014/main" id="{4F0F4DCF-1128-7141-872A-5150C966E5B4}"/>
                </a:ext>
              </a:extLst>
            </p:cNvPr>
            <p:cNvSpPr/>
            <p:nvPr/>
          </p:nvSpPr>
          <p:spPr>
            <a:xfrm>
              <a:off x="3672040" y="3216065"/>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10" name="Oval 9">
              <a:extLst>
                <a:ext uri="{FF2B5EF4-FFF2-40B4-BE49-F238E27FC236}">
                  <a16:creationId xmlns="" xmlns:a16="http://schemas.microsoft.com/office/drawing/2014/main" id="{9B044B29-E334-B283-ECE9-172FFEED329B}"/>
                </a:ext>
              </a:extLst>
            </p:cNvPr>
            <p:cNvSpPr/>
            <p:nvPr/>
          </p:nvSpPr>
          <p:spPr>
            <a:xfrm>
              <a:off x="3672040" y="5142491"/>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11" name="Diamond 10">
                  <a:extLst>
                    <a:ext uri="{FF2B5EF4-FFF2-40B4-BE49-F238E27FC236}">
                      <a16:creationId xmlns="" xmlns:a16="http://schemas.microsoft.com/office/drawing/2014/main" id="{312629E1-FE97-AB15-90EC-002877C4697A}"/>
                    </a:ext>
                  </a:extLst>
                </p:cNvPr>
                <p:cNvSpPr/>
                <p:nvPr/>
              </p:nvSpPr>
              <p:spPr>
                <a:xfrm>
                  <a:off x="4167544" y="2511444"/>
                  <a:ext cx="546518" cy="468000"/>
                </a:xfrm>
                <a:prstGeom prst="diamond">
                  <a:avLst/>
                </a:prstGeom>
              </p:spPr>
              <p:style>
                <a:lnRef idx="2">
                  <a:schemeClr val="dk1"/>
                </a:lnRef>
                <a:fillRef idx="1">
                  <a:schemeClr val="lt1"/>
                </a:fillRef>
                <a:effectRef idx="0">
                  <a:schemeClr val="dk1"/>
                </a:effectRef>
                <a:fontRef idx="minor">
                  <a:schemeClr val="dk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a:rPr lang="pt-BR" b="0" i="1" smtClean="0">
                                <a:latin typeface="Cambria Math" panose="02040503050406030204" pitchFamily="18" charset="0"/>
                              </a:rPr>
                              <m:t>𝑧</m:t>
                            </m:r>
                          </m:e>
                          <m:sup>
                            <m:r>
                              <a:rPr lang="pt-BR" b="0" i="1" smtClean="0">
                                <a:latin typeface="Cambria Math" panose="02040503050406030204" pitchFamily="18" charset="0"/>
                              </a:rPr>
                              <m:t>−</m:t>
                            </m:r>
                            <m:r>
                              <a:rPr lang="pt-BR" b="0" i="1" smtClean="0">
                                <a:latin typeface="Cambria Math" panose="02040503050406030204" pitchFamily="18" charset="0"/>
                              </a:rPr>
                              <m:t>1</m:t>
                            </m:r>
                          </m:sup>
                        </m:sSup>
                      </m:oMath>
                    </m:oMathPara>
                  </a14:m>
                  <a:endParaRPr lang="en-US" dirty="0"/>
                </a:p>
              </p:txBody>
            </p:sp>
          </mc:Choice>
          <mc:Fallback xmlns="">
            <p:sp>
              <p:nvSpPr>
                <p:cNvPr id="11" name="Diamond 10">
                  <a:extLst>
                    <a:ext uri="{FF2B5EF4-FFF2-40B4-BE49-F238E27FC236}">
                      <a16:creationId xmlns:a16="http://schemas.microsoft.com/office/drawing/2014/main" id="{312629E1-FE97-AB15-90EC-002877C4697A}"/>
                    </a:ext>
                  </a:extLst>
                </p:cNvPr>
                <p:cNvSpPr>
                  <a:spLocks noRot="1" noChangeAspect="1" noMove="1" noResize="1" noEditPoints="1" noAdjustHandles="1" noChangeArrowheads="1" noChangeShapeType="1" noTextEdit="1"/>
                </p:cNvSpPr>
                <p:nvPr/>
              </p:nvSpPr>
              <p:spPr>
                <a:xfrm>
                  <a:off x="4167544" y="2511444"/>
                  <a:ext cx="546518" cy="468000"/>
                </a:xfrm>
                <a:prstGeom prst="diamond">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Oval 11">
                  <a:extLst>
                    <a:ext uri="{FF2B5EF4-FFF2-40B4-BE49-F238E27FC236}">
                      <a16:creationId xmlns="" xmlns:a16="http://schemas.microsoft.com/office/drawing/2014/main" id="{CA3B853E-0B5B-6325-4CC5-A2C4E5EE4A2A}"/>
                    </a:ext>
                  </a:extLst>
                </p:cNvPr>
                <p:cNvSpPr/>
                <p:nvPr/>
              </p:nvSpPr>
              <p:spPr>
                <a:xfrm>
                  <a:off x="3664496" y="3850605"/>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m:rPr>
                            <m:sty m:val="p"/>
                          </m:rPr>
                          <a:rPr lang="pt-BR" sz="1400" b="0" i="0" smtClean="0">
                            <a:latin typeface="Cambria Math" panose="02040503050406030204" pitchFamily="18" charset="0"/>
                          </a:rPr>
                          <m:t>tanh</m:t>
                        </m:r>
                      </m:oMath>
                    </m:oMathPara>
                  </a14:m>
                  <a:endParaRPr lang="en-US" sz="1400" dirty="0"/>
                </a:p>
              </p:txBody>
            </p:sp>
          </mc:Choice>
          <mc:Fallback xmlns="">
            <p:sp>
              <p:nvSpPr>
                <p:cNvPr id="12" name="Oval 11">
                  <a:extLst>
                    <a:ext uri="{FF2B5EF4-FFF2-40B4-BE49-F238E27FC236}">
                      <a16:creationId xmlns:a16="http://schemas.microsoft.com/office/drawing/2014/main" id="{CA3B853E-0B5B-6325-4CC5-A2C4E5EE4A2A}"/>
                    </a:ext>
                  </a:extLst>
                </p:cNvPr>
                <p:cNvSpPr>
                  <a:spLocks noRot="1" noChangeAspect="1" noMove="1" noResize="1" noEditPoints="1" noAdjustHandles="1" noChangeArrowheads="1" noChangeShapeType="1" noTextEdit="1"/>
                </p:cNvSpPr>
                <p:nvPr/>
              </p:nvSpPr>
              <p:spPr>
                <a:xfrm>
                  <a:off x="3664496" y="3850605"/>
                  <a:ext cx="432000" cy="432000"/>
                </a:xfrm>
                <a:prstGeom prst="ellipse">
                  <a:avLst/>
                </a:prstGeom>
                <a:blipFill>
                  <a:blip r:embed="rId6"/>
                  <a:stretch>
                    <a:fillRect l="-9722"/>
                  </a:stretch>
                </a:blipFill>
              </p:spPr>
              <p:txBody>
                <a:bodyPr/>
                <a:lstStyle/>
                <a:p>
                  <a:r>
                    <a:rPr lang="en-US">
                      <a:noFill/>
                    </a:rPr>
                    <a:t> </a:t>
                  </a:r>
                </a:p>
              </p:txBody>
            </p:sp>
          </mc:Fallback>
        </mc:AlternateContent>
        <p:cxnSp>
          <p:nvCxnSpPr>
            <p:cNvPr id="13" name="Straight Arrow Connector 12">
              <a:extLst>
                <a:ext uri="{FF2B5EF4-FFF2-40B4-BE49-F238E27FC236}">
                  <a16:creationId xmlns="" xmlns:a16="http://schemas.microsoft.com/office/drawing/2014/main" id="{43F79C63-8A97-3798-0A1A-3B97F54CBEDF}"/>
                </a:ext>
              </a:extLst>
            </p:cNvPr>
            <p:cNvCxnSpPr>
              <a:stCxn id="10" idx="0"/>
              <a:endCxn id="6" idx="2"/>
            </p:cNvCxnSpPr>
            <p:nvPr/>
          </p:nvCxnSpPr>
          <p:spPr>
            <a:xfrm flipH="1" flipV="1">
              <a:off x="3884268" y="4946548"/>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Straight Arrow Connector 13">
              <a:extLst>
                <a:ext uri="{FF2B5EF4-FFF2-40B4-BE49-F238E27FC236}">
                  <a16:creationId xmlns="" xmlns:a16="http://schemas.microsoft.com/office/drawing/2014/main" id="{1DE13DB6-EB3A-33B1-B9CD-0D058C9C2D69}"/>
                </a:ext>
              </a:extLst>
            </p:cNvPr>
            <p:cNvCxnSpPr/>
            <p:nvPr/>
          </p:nvCxnSpPr>
          <p:spPr>
            <a:xfrm flipH="1" flipV="1">
              <a:off x="3888040" y="4282605"/>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5" name="Straight Arrow Connector 14">
              <a:extLst>
                <a:ext uri="{FF2B5EF4-FFF2-40B4-BE49-F238E27FC236}">
                  <a16:creationId xmlns="" xmlns:a16="http://schemas.microsoft.com/office/drawing/2014/main" id="{E68AB800-6BC7-A115-99F7-7F9B7DBA3E4F}"/>
                </a:ext>
              </a:extLst>
            </p:cNvPr>
            <p:cNvCxnSpPr/>
            <p:nvPr/>
          </p:nvCxnSpPr>
          <p:spPr>
            <a:xfrm flipH="1" flipV="1">
              <a:off x="3884268" y="3654662"/>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6" name="Straight Arrow Connector 15">
              <a:extLst>
                <a:ext uri="{FF2B5EF4-FFF2-40B4-BE49-F238E27FC236}">
                  <a16:creationId xmlns="" xmlns:a16="http://schemas.microsoft.com/office/drawing/2014/main" id="{19812C75-10B2-9725-A4FB-608050339CDD}"/>
                </a:ext>
              </a:extLst>
            </p:cNvPr>
            <p:cNvCxnSpPr>
              <a:stCxn id="9" idx="0"/>
              <a:endCxn id="5" idx="2"/>
            </p:cNvCxnSpPr>
            <p:nvPr/>
          </p:nvCxnSpPr>
          <p:spPr>
            <a:xfrm flipV="1">
              <a:off x="3888040" y="2178993"/>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7" name="Connector: Elbow 16">
              <a:extLst>
                <a:ext uri="{FF2B5EF4-FFF2-40B4-BE49-F238E27FC236}">
                  <a16:creationId xmlns="" xmlns:a16="http://schemas.microsoft.com/office/drawing/2014/main" id="{245F456D-9193-75AC-AD0C-F0AEF65F581F}"/>
                </a:ext>
              </a:extLst>
            </p:cNvPr>
            <p:cNvCxnSpPr>
              <a:stCxn id="11" idx="3"/>
              <a:endCxn id="7" idx="0"/>
            </p:cNvCxnSpPr>
            <p:nvPr/>
          </p:nvCxnSpPr>
          <p:spPr>
            <a:xfrm>
              <a:off x="4714062" y="2745444"/>
              <a:ext cx="185300" cy="452621"/>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 xmlns:a16="http://schemas.microsoft.com/office/drawing/2014/main" id="{D7679F52-FF4E-A676-77F3-69261169E611}"/>
                </a:ext>
              </a:extLst>
            </p:cNvPr>
            <p:cNvCxnSpPr>
              <a:stCxn id="11" idx="1"/>
            </p:cNvCxnSpPr>
            <p:nvPr/>
          </p:nvCxnSpPr>
          <p:spPr>
            <a:xfrm flipH="1">
              <a:off x="3900740" y="2745444"/>
              <a:ext cx="266804" cy="0"/>
            </a:xfrm>
            <a:prstGeom prst="line">
              <a:avLst/>
            </a:prstGeom>
            <a:ln>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9" name="Connector: Elbow 18">
              <a:extLst>
                <a:ext uri="{FF2B5EF4-FFF2-40B4-BE49-F238E27FC236}">
                  <a16:creationId xmlns="" xmlns:a16="http://schemas.microsoft.com/office/drawing/2014/main" id="{48139367-BD98-8B0F-B273-9E6711E213AE}"/>
                </a:ext>
              </a:extLst>
            </p:cNvPr>
            <p:cNvCxnSpPr>
              <a:cxnSpLocks/>
              <a:stCxn id="7" idx="2"/>
              <a:endCxn id="12" idx="6"/>
            </p:cNvCxnSpPr>
            <p:nvPr/>
          </p:nvCxnSpPr>
          <p:spPr>
            <a:xfrm rot="5400000">
              <a:off x="4297659" y="3464902"/>
              <a:ext cx="400540" cy="802866"/>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20" name="Straight Arrow Connector 19">
              <a:extLst>
                <a:ext uri="{FF2B5EF4-FFF2-40B4-BE49-F238E27FC236}">
                  <a16:creationId xmlns="" xmlns:a16="http://schemas.microsoft.com/office/drawing/2014/main" id="{F8353AC8-4824-D852-D532-76B054942D98}"/>
                </a:ext>
              </a:extLst>
            </p:cNvPr>
            <p:cNvCxnSpPr/>
            <p:nvPr/>
          </p:nvCxnSpPr>
          <p:spPr>
            <a:xfrm flipH="1" flipV="1">
              <a:off x="3890883" y="150845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 xmlns:a16="http://schemas.microsoft.com/office/drawing/2014/main" id="{03C120BA-79E8-ADD5-3D67-6C901D8D1494}"/>
                    </a:ext>
                  </a:extLst>
                </p:cNvPr>
                <p:cNvSpPr txBox="1"/>
                <p:nvPr/>
              </p:nvSpPr>
              <p:spPr>
                <a:xfrm>
                  <a:off x="3641198" y="1083900"/>
                  <a:ext cx="578748"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acc>
                          <m:accPr>
                            <m:chr m:val="̂"/>
                            <m:ctrlPr>
                              <a:rPr lang="en-US" sz="1800" b="1" i="1" smtClean="0">
                                <a:latin typeface="Cambria Math" panose="02040503050406030204" pitchFamily="18" charset="0"/>
                              </a:rPr>
                            </m:ctrlPr>
                          </m:accPr>
                          <m:e>
                            <m:r>
                              <a:rPr lang="pt-BR" sz="1800" b="1" i="1" smtClean="0">
                                <a:latin typeface="Cambria Math" panose="02040503050406030204" pitchFamily="18" charset="0"/>
                              </a:rPr>
                              <m:t>𝒚</m:t>
                            </m:r>
                          </m:e>
                        </m:acc>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22" name="TextBox 21">
                  <a:extLst>
                    <a:ext uri="{FF2B5EF4-FFF2-40B4-BE49-F238E27FC236}">
                      <a16:creationId xmlns:a16="http://schemas.microsoft.com/office/drawing/2014/main" id="{03C120BA-79E8-ADD5-3D67-6C901D8D1494}"/>
                    </a:ext>
                  </a:extLst>
                </p:cNvPr>
                <p:cNvSpPr txBox="1">
                  <a:spLocks noRot="1" noChangeAspect="1" noMove="1" noResize="1" noEditPoints="1" noAdjustHandles="1" noChangeArrowheads="1" noChangeShapeType="1" noTextEdit="1"/>
                </p:cNvSpPr>
                <p:nvPr/>
              </p:nvSpPr>
              <p:spPr>
                <a:xfrm>
                  <a:off x="3641198" y="1083900"/>
                  <a:ext cx="578748" cy="369332"/>
                </a:xfrm>
                <a:prstGeom prst="rect">
                  <a:avLst/>
                </a:prstGeom>
                <a:blipFill>
                  <a:blip r:embed="rId7"/>
                  <a:stretch>
                    <a:fillRect l="-3158" t="-6667"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 xmlns:a16="http://schemas.microsoft.com/office/drawing/2014/main" id="{B9898A35-5D27-3AFD-DCEC-B3870EE9A20C}"/>
                    </a:ext>
                  </a:extLst>
                </p:cNvPr>
                <p:cNvSpPr txBox="1"/>
                <p:nvPr/>
              </p:nvSpPr>
              <p:spPr>
                <a:xfrm>
                  <a:off x="3630565" y="5177044"/>
                  <a:ext cx="578748"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800" b="1" i="1" smtClean="0">
                            <a:latin typeface="Cambria Math" panose="02040503050406030204" pitchFamily="18" charset="0"/>
                          </a:rPr>
                          <m:t>𝒙</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23" name="TextBox 22">
                  <a:extLst>
                    <a:ext uri="{FF2B5EF4-FFF2-40B4-BE49-F238E27FC236}">
                      <a16:creationId xmlns:a16="http://schemas.microsoft.com/office/drawing/2014/main" id="{B9898A35-5D27-3AFD-DCEC-B3870EE9A20C}"/>
                    </a:ext>
                  </a:extLst>
                </p:cNvPr>
                <p:cNvSpPr txBox="1">
                  <a:spLocks noRot="1" noChangeAspect="1" noMove="1" noResize="1" noEditPoints="1" noAdjustHandles="1" noChangeArrowheads="1" noChangeShapeType="1" noTextEdit="1"/>
                </p:cNvSpPr>
                <p:nvPr/>
              </p:nvSpPr>
              <p:spPr>
                <a:xfrm>
                  <a:off x="3630565" y="5177044"/>
                  <a:ext cx="578748" cy="369332"/>
                </a:xfrm>
                <a:prstGeom prst="rect">
                  <a:avLst/>
                </a:prstGeom>
                <a:blipFill>
                  <a:blip r:embed="rId8"/>
                  <a:stretch>
                    <a:fillRect b="-147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 xmlns:a16="http://schemas.microsoft.com/office/drawing/2014/main" id="{2EAF4EBF-06B1-79A7-1B72-595DB550A38F}"/>
                    </a:ext>
                  </a:extLst>
                </p:cNvPr>
                <p:cNvSpPr txBox="1"/>
                <p:nvPr/>
              </p:nvSpPr>
              <p:spPr>
                <a:xfrm>
                  <a:off x="3634353" y="3236362"/>
                  <a:ext cx="578748"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24" name="TextBox 23">
                  <a:extLst>
                    <a:ext uri="{FF2B5EF4-FFF2-40B4-BE49-F238E27FC236}">
                      <a16:creationId xmlns:a16="http://schemas.microsoft.com/office/drawing/2014/main" id="{2EAF4EBF-06B1-79A7-1B72-595DB550A38F}"/>
                    </a:ext>
                  </a:extLst>
                </p:cNvPr>
                <p:cNvSpPr txBox="1">
                  <a:spLocks noRot="1" noChangeAspect="1" noMove="1" noResize="1" noEditPoints="1" noAdjustHandles="1" noChangeArrowheads="1" noChangeShapeType="1" noTextEdit="1"/>
                </p:cNvSpPr>
                <p:nvPr/>
              </p:nvSpPr>
              <p:spPr>
                <a:xfrm>
                  <a:off x="3634353" y="3236362"/>
                  <a:ext cx="578748" cy="369332"/>
                </a:xfrm>
                <a:prstGeom prst="rect">
                  <a:avLst/>
                </a:prstGeom>
                <a:blipFill>
                  <a:blip r:embed="rId9"/>
                  <a:stretch>
                    <a:fillRect l="-4211"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 xmlns:a16="http://schemas.microsoft.com/office/drawing/2014/main" id="{EF8E314D-D94B-E03E-107A-3344F9B3AAC5}"/>
                    </a:ext>
                  </a:extLst>
                </p:cNvPr>
                <p:cNvSpPr txBox="1"/>
                <p:nvPr/>
              </p:nvSpPr>
              <p:spPr>
                <a:xfrm>
                  <a:off x="4905741" y="2755189"/>
                  <a:ext cx="984693"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r>
                          <a:rPr lang="pt-BR" sz="1800" b="0" i="1" smtClean="0">
                            <a:latin typeface="Cambria Math" panose="02040503050406030204" pitchFamily="18" charset="0"/>
                          </a:rPr>
                          <m:t>1</m:t>
                        </m:r>
                        <m:r>
                          <a:rPr lang="pt-BR" sz="1800" b="0" i="1" smtClean="0">
                            <a:latin typeface="Cambria Math" panose="02040503050406030204" pitchFamily="18" charset="0"/>
                          </a:rPr>
                          <m:t>]</m:t>
                        </m:r>
                      </m:oMath>
                    </m:oMathPara>
                  </a14:m>
                  <a:endParaRPr lang="en-US" sz="1800" dirty="0"/>
                </a:p>
              </p:txBody>
            </p:sp>
          </mc:Choice>
          <mc:Fallback xmlns="">
            <p:sp>
              <p:nvSpPr>
                <p:cNvPr id="25" name="TextBox 24">
                  <a:extLst>
                    <a:ext uri="{FF2B5EF4-FFF2-40B4-BE49-F238E27FC236}">
                      <a16:creationId xmlns:a16="http://schemas.microsoft.com/office/drawing/2014/main" id="{EF8E314D-D94B-E03E-107A-3344F9B3AAC5}"/>
                    </a:ext>
                  </a:extLst>
                </p:cNvPr>
                <p:cNvSpPr txBox="1">
                  <a:spLocks noRot="1" noChangeAspect="1" noMove="1" noResize="1" noEditPoints="1" noAdjustHandles="1" noChangeArrowheads="1" noChangeShapeType="1" noTextEdit="1"/>
                </p:cNvSpPr>
                <p:nvPr/>
              </p:nvSpPr>
              <p:spPr>
                <a:xfrm>
                  <a:off x="4905741" y="2755189"/>
                  <a:ext cx="984693" cy="369332"/>
                </a:xfrm>
                <a:prstGeom prst="rect">
                  <a:avLst/>
                </a:prstGeom>
                <a:blipFill>
                  <a:blip r:embed="rId10"/>
                  <a:stretch>
                    <a:fillRect l="-2484" b="-14754"/>
                  </a:stretch>
                </a:blipFill>
              </p:spPr>
              <p:txBody>
                <a:bodyPr/>
                <a:lstStyle/>
                <a:p>
                  <a:r>
                    <a:rPr lang="en-US">
                      <a:noFill/>
                    </a:rPr>
                    <a:t> </a:t>
                  </a:r>
                </a:p>
              </p:txBody>
            </p:sp>
          </mc:Fallback>
        </mc:AlternateContent>
      </p:grpSp>
    </p:spTree>
    <p:extLst>
      <p:ext uri="{BB962C8B-B14F-4D97-AF65-F5344CB8AC3E}">
        <p14:creationId xmlns:p14="http://schemas.microsoft.com/office/powerpoint/2010/main" val="194011427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56BDBFA4-777B-82AF-1A9B-F48A28DB934A}"/>
            </a:ext>
          </a:extLst>
        </p:cNvPr>
        <p:cNvGrpSpPr/>
        <p:nvPr/>
      </p:nvGrpSpPr>
      <p:grpSpPr>
        <a:xfrm>
          <a:off x="0" y="0"/>
          <a:ext cx="0" cy="0"/>
          <a:chOff x="0" y="0"/>
          <a:chExt cx="0" cy="0"/>
        </a:xfrm>
      </p:grpSpPr>
      <p:grpSp>
        <p:nvGrpSpPr>
          <p:cNvPr id="26" name="Group 25">
            <a:extLst>
              <a:ext uri="{FF2B5EF4-FFF2-40B4-BE49-F238E27FC236}">
                <a16:creationId xmlns="" xmlns:a16="http://schemas.microsoft.com/office/drawing/2014/main" id="{382B2D82-0D27-C941-539F-498F105E3DA0}"/>
              </a:ext>
            </a:extLst>
          </p:cNvPr>
          <p:cNvGrpSpPr/>
          <p:nvPr/>
        </p:nvGrpSpPr>
        <p:grpSpPr>
          <a:xfrm>
            <a:off x="3630565" y="1067128"/>
            <a:ext cx="2259869" cy="4507363"/>
            <a:chOff x="3630565" y="1067128"/>
            <a:chExt cx="2259869" cy="4507363"/>
          </a:xfrm>
        </p:grpSpPr>
        <mc:AlternateContent xmlns:mc="http://schemas.openxmlformats.org/markup-compatibility/2006" xmlns:a14="http://schemas.microsoft.com/office/drawing/2010/main">
          <mc:Choice Requires="a14">
            <p:sp>
              <p:nvSpPr>
                <p:cNvPr id="5" name="Rectangle 4">
                  <a:extLst>
                    <a:ext uri="{FF2B5EF4-FFF2-40B4-BE49-F238E27FC236}">
                      <a16:creationId xmlns="" xmlns:a16="http://schemas.microsoft.com/office/drawing/2014/main" id="{DF055540-C990-1A9A-9C94-41EB929A64A7}"/>
                    </a:ext>
                  </a:extLst>
                </p:cNvPr>
                <p:cNvSpPr/>
                <p:nvPr/>
              </p:nvSpPr>
              <p:spPr>
                <a:xfrm>
                  <a:off x="3656800" y="1710993"/>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5" name="Rectangle 4">
                  <a:extLst>
                    <a:ext uri="{FF2B5EF4-FFF2-40B4-BE49-F238E27FC236}">
                      <a16:creationId xmlns:a16="http://schemas.microsoft.com/office/drawing/2014/main" id="{6023DD78-A989-E94C-DAE1-B296D3C4E21C}"/>
                    </a:ext>
                  </a:extLst>
                </p:cNvPr>
                <p:cNvSpPr>
                  <a:spLocks noRot="1" noChangeAspect="1" noMove="1" noResize="1" noEditPoints="1" noAdjustHandles="1" noChangeArrowheads="1" noChangeShapeType="1" noTextEdit="1"/>
                </p:cNvSpPr>
                <p:nvPr/>
              </p:nvSpPr>
              <p:spPr>
                <a:xfrm>
                  <a:off x="3656800" y="1710993"/>
                  <a:ext cx="468000" cy="468000"/>
                </a:xfrm>
                <a:prstGeom prst="rect">
                  <a:avLst/>
                </a:prstGeom>
                <a:blipFill>
                  <a:blip r:embed="rId2"/>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Rectangle 5">
                  <a:extLst>
                    <a:ext uri="{FF2B5EF4-FFF2-40B4-BE49-F238E27FC236}">
                      <a16:creationId xmlns="" xmlns:a16="http://schemas.microsoft.com/office/drawing/2014/main" id="{042FA5CD-9CE3-87BD-4B6D-3A2AA78339A7}"/>
                    </a:ext>
                  </a:extLst>
                </p:cNvPr>
                <p:cNvSpPr/>
                <p:nvPr/>
              </p:nvSpPr>
              <p:spPr>
                <a:xfrm>
                  <a:off x="3650268" y="4478548"/>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𝑖</m:t>
                            </m:r>
                          </m:sub>
                        </m:sSub>
                      </m:oMath>
                    </m:oMathPara>
                  </a14:m>
                  <a:endParaRPr lang="en-US" dirty="0"/>
                </a:p>
              </p:txBody>
            </p:sp>
          </mc:Choice>
          <mc:Fallback xmlns="">
            <p:sp>
              <p:nvSpPr>
                <p:cNvPr id="6" name="Rectangle 5">
                  <a:extLst>
                    <a:ext uri="{FF2B5EF4-FFF2-40B4-BE49-F238E27FC236}">
                      <a16:creationId xmlns:a16="http://schemas.microsoft.com/office/drawing/2014/main" id="{3D42FE05-5457-F925-05EF-0E3701418F8C}"/>
                    </a:ext>
                  </a:extLst>
                </p:cNvPr>
                <p:cNvSpPr>
                  <a:spLocks noRot="1" noChangeAspect="1" noMove="1" noResize="1" noEditPoints="1" noAdjustHandles="1" noChangeArrowheads="1" noChangeShapeType="1" noTextEdit="1"/>
                </p:cNvSpPr>
                <p:nvPr/>
              </p:nvSpPr>
              <p:spPr>
                <a:xfrm>
                  <a:off x="3650268" y="4478548"/>
                  <a:ext cx="468000" cy="468000"/>
                </a:xfrm>
                <a:prstGeom prst="rect">
                  <a:avLst/>
                </a:prstGeom>
                <a:blipFill>
                  <a:blip r:embed="rId3"/>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Rectangle 6">
                  <a:extLst>
                    <a:ext uri="{FF2B5EF4-FFF2-40B4-BE49-F238E27FC236}">
                      <a16:creationId xmlns="" xmlns:a16="http://schemas.microsoft.com/office/drawing/2014/main" id="{2F14954C-7EC0-B9F4-6F9E-53AC300DD5FF}"/>
                    </a:ext>
                  </a:extLst>
                </p:cNvPr>
                <p:cNvSpPr/>
                <p:nvPr/>
              </p:nvSpPr>
              <p:spPr>
                <a:xfrm>
                  <a:off x="4665362" y="3198065"/>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h</m:t>
                            </m:r>
                          </m:sub>
                        </m:sSub>
                      </m:oMath>
                    </m:oMathPara>
                  </a14:m>
                  <a:endParaRPr lang="en-US" dirty="0"/>
                </a:p>
              </p:txBody>
            </p:sp>
          </mc:Choice>
          <mc:Fallback xmlns="">
            <p:sp>
              <p:nvSpPr>
                <p:cNvPr id="7" name="Rectangle 6">
                  <a:extLst>
                    <a:ext uri="{FF2B5EF4-FFF2-40B4-BE49-F238E27FC236}">
                      <a16:creationId xmlns:a16="http://schemas.microsoft.com/office/drawing/2014/main" id="{28D2664B-9505-156A-4753-DDE3DEC9FD22}"/>
                    </a:ext>
                  </a:extLst>
                </p:cNvPr>
                <p:cNvSpPr>
                  <a:spLocks noRot="1" noChangeAspect="1" noMove="1" noResize="1" noEditPoints="1" noAdjustHandles="1" noChangeArrowheads="1" noChangeShapeType="1" noTextEdit="1"/>
                </p:cNvSpPr>
                <p:nvPr/>
              </p:nvSpPr>
              <p:spPr>
                <a:xfrm>
                  <a:off x="4665362" y="3198065"/>
                  <a:ext cx="468000" cy="468000"/>
                </a:xfrm>
                <a:prstGeom prst="rect">
                  <a:avLst/>
                </a:prstGeom>
                <a:blipFill>
                  <a:blip r:embed="rId4"/>
                  <a:stretch>
                    <a:fillRect l="-8974"/>
                  </a:stretch>
                </a:blipFill>
              </p:spPr>
              <p:txBody>
                <a:bodyPr/>
                <a:lstStyle/>
                <a:p>
                  <a:r>
                    <a:rPr lang="en-US">
                      <a:noFill/>
                    </a:rPr>
                    <a:t> </a:t>
                  </a:r>
                </a:p>
              </p:txBody>
            </p:sp>
          </mc:Fallback>
        </mc:AlternateContent>
        <p:sp>
          <p:nvSpPr>
            <p:cNvPr id="8" name="Oval 7">
              <a:extLst>
                <a:ext uri="{FF2B5EF4-FFF2-40B4-BE49-F238E27FC236}">
                  <a16:creationId xmlns="" xmlns:a16="http://schemas.microsoft.com/office/drawing/2014/main" id="{7DA2C43F-1B49-FEC7-FAE7-A0ACA4D4234B}"/>
                </a:ext>
              </a:extLst>
            </p:cNvPr>
            <p:cNvSpPr/>
            <p:nvPr/>
          </p:nvSpPr>
          <p:spPr>
            <a:xfrm>
              <a:off x="3672040" y="1067128"/>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1600" b="1" dirty="0"/>
            </a:p>
          </p:txBody>
        </p:sp>
        <p:sp>
          <p:nvSpPr>
            <p:cNvPr id="9" name="Oval 8">
              <a:extLst>
                <a:ext uri="{FF2B5EF4-FFF2-40B4-BE49-F238E27FC236}">
                  <a16:creationId xmlns="" xmlns:a16="http://schemas.microsoft.com/office/drawing/2014/main" id="{2029031C-EE39-DC4A-38B6-6AB3AA7D2240}"/>
                </a:ext>
              </a:extLst>
            </p:cNvPr>
            <p:cNvSpPr/>
            <p:nvPr/>
          </p:nvSpPr>
          <p:spPr>
            <a:xfrm>
              <a:off x="3672040" y="3216065"/>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10" name="Oval 9">
              <a:extLst>
                <a:ext uri="{FF2B5EF4-FFF2-40B4-BE49-F238E27FC236}">
                  <a16:creationId xmlns="" xmlns:a16="http://schemas.microsoft.com/office/drawing/2014/main" id="{9C4F7EB3-D0C6-9F8D-7706-7CD68BAC8D89}"/>
                </a:ext>
              </a:extLst>
            </p:cNvPr>
            <p:cNvSpPr/>
            <p:nvPr/>
          </p:nvSpPr>
          <p:spPr>
            <a:xfrm>
              <a:off x="3672040" y="5142491"/>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11" name="Diamond 10">
                  <a:extLst>
                    <a:ext uri="{FF2B5EF4-FFF2-40B4-BE49-F238E27FC236}">
                      <a16:creationId xmlns="" xmlns:a16="http://schemas.microsoft.com/office/drawing/2014/main" id="{D5082C2A-8327-CEDD-4900-C2D931D47946}"/>
                    </a:ext>
                  </a:extLst>
                </p:cNvPr>
                <p:cNvSpPr/>
                <p:nvPr/>
              </p:nvSpPr>
              <p:spPr>
                <a:xfrm>
                  <a:off x="4167544" y="2511444"/>
                  <a:ext cx="546518" cy="468000"/>
                </a:xfrm>
                <a:prstGeom prst="diamond">
                  <a:avLst/>
                </a:prstGeom>
              </p:spPr>
              <p:style>
                <a:lnRef idx="2">
                  <a:schemeClr val="dk1"/>
                </a:lnRef>
                <a:fillRef idx="1">
                  <a:schemeClr val="lt1"/>
                </a:fillRef>
                <a:effectRef idx="0">
                  <a:schemeClr val="dk1"/>
                </a:effectRef>
                <a:fontRef idx="minor">
                  <a:schemeClr val="dk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a:rPr lang="pt-BR" b="0" i="1" smtClean="0">
                                <a:latin typeface="Cambria Math" panose="02040503050406030204" pitchFamily="18" charset="0"/>
                              </a:rPr>
                              <m:t>𝑧</m:t>
                            </m:r>
                          </m:e>
                          <m:sup>
                            <m:r>
                              <a:rPr lang="pt-BR" b="0" i="1" smtClean="0">
                                <a:latin typeface="Cambria Math" panose="02040503050406030204" pitchFamily="18" charset="0"/>
                              </a:rPr>
                              <m:t>−1</m:t>
                            </m:r>
                          </m:sup>
                        </m:sSup>
                      </m:oMath>
                    </m:oMathPara>
                  </a14:m>
                  <a:endParaRPr lang="en-US" dirty="0"/>
                </a:p>
              </p:txBody>
            </p:sp>
          </mc:Choice>
          <mc:Fallback xmlns="">
            <p:sp>
              <p:nvSpPr>
                <p:cNvPr id="11" name="Diamond 10">
                  <a:extLst>
                    <a:ext uri="{FF2B5EF4-FFF2-40B4-BE49-F238E27FC236}">
                      <a16:creationId xmlns:a16="http://schemas.microsoft.com/office/drawing/2014/main" id="{312629E1-FE97-AB15-90EC-002877C4697A}"/>
                    </a:ext>
                  </a:extLst>
                </p:cNvPr>
                <p:cNvSpPr>
                  <a:spLocks noRot="1" noChangeAspect="1" noMove="1" noResize="1" noEditPoints="1" noAdjustHandles="1" noChangeArrowheads="1" noChangeShapeType="1" noTextEdit="1"/>
                </p:cNvSpPr>
                <p:nvPr/>
              </p:nvSpPr>
              <p:spPr>
                <a:xfrm>
                  <a:off x="4167544" y="2511444"/>
                  <a:ext cx="546518" cy="468000"/>
                </a:xfrm>
                <a:prstGeom prst="diamond">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Oval 11">
                  <a:extLst>
                    <a:ext uri="{FF2B5EF4-FFF2-40B4-BE49-F238E27FC236}">
                      <a16:creationId xmlns="" xmlns:a16="http://schemas.microsoft.com/office/drawing/2014/main" id="{802244E2-BFC4-2AD6-2773-81CB8869D482}"/>
                    </a:ext>
                  </a:extLst>
                </p:cNvPr>
                <p:cNvSpPr/>
                <p:nvPr/>
              </p:nvSpPr>
              <p:spPr>
                <a:xfrm>
                  <a:off x="3664496" y="3850605"/>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b="0" i="1" smtClean="0">
                            <a:latin typeface="Cambria Math" panose="02040503050406030204" pitchFamily="18" charset="0"/>
                          </a:rPr>
                          <m:t>𝑓</m:t>
                        </m:r>
                        <m:r>
                          <a:rPr lang="pt-BR" sz="1400" b="0" i="1" smtClean="0">
                            <a:latin typeface="Cambria Math" panose="02040503050406030204" pitchFamily="18" charset="0"/>
                          </a:rPr>
                          <m:t>(.)</m:t>
                        </m:r>
                      </m:oMath>
                    </m:oMathPara>
                  </a14:m>
                  <a:endParaRPr lang="en-US" sz="1400" dirty="0"/>
                </a:p>
              </p:txBody>
            </p:sp>
          </mc:Choice>
          <mc:Fallback xmlns="">
            <p:sp>
              <p:nvSpPr>
                <p:cNvPr id="12" name="Oval 11">
                  <a:extLst>
                    <a:ext uri="{FF2B5EF4-FFF2-40B4-BE49-F238E27FC236}">
                      <a16:creationId xmlns:a16="http://schemas.microsoft.com/office/drawing/2014/main" id="{802244E2-BFC4-2AD6-2773-81CB8869D482}"/>
                    </a:ext>
                  </a:extLst>
                </p:cNvPr>
                <p:cNvSpPr>
                  <a:spLocks noRot="1" noChangeAspect="1" noMove="1" noResize="1" noEditPoints="1" noAdjustHandles="1" noChangeArrowheads="1" noChangeShapeType="1" noTextEdit="1"/>
                </p:cNvSpPr>
                <p:nvPr/>
              </p:nvSpPr>
              <p:spPr>
                <a:xfrm>
                  <a:off x="3664496" y="3850605"/>
                  <a:ext cx="432000" cy="432000"/>
                </a:xfrm>
                <a:prstGeom prst="ellipse">
                  <a:avLst/>
                </a:prstGeom>
                <a:blipFill>
                  <a:blip r:embed="rId6"/>
                  <a:stretch>
                    <a:fillRect l="-1389" r="-8333"/>
                  </a:stretch>
                </a:blipFill>
              </p:spPr>
              <p:txBody>
                <a:bodyPr/>
                <a:lstStyle/>
                <a:p>
                  <a:r>
                    <a:rPr lang="en-US">
                      <a:noFill/>
                    </a:rPr>
                    <a:t> </a:t>
                  </a:r>
                </a:p>
              </p:txBody>
            </p:sp>
          </mc:Fallback>
        </mc:AlternateContent>
        <p:cxnSp>
          <p:nvCxnSpPr>
            <p:cNvPr id="13" name="Straight Arrow Connector 12">
              <a:extLst>
                <a:ext uri="{FF2B5EF4-FFF2-40B4-BE49-F238E27FC236}">
                  <a16:creationId xmlns="" xmlns:a16="http://schemas.microsoft.com/office/drawing/2014/main" id="{4A43B19B-1AF9-B52D-782E-9684B3C10C01}"/>
                </a:ext>
              </a:extLst>
            </p:cNvPr>
            <p:cNvCxnSpPr>
              <a:stCxn id="10" idx="0"/>
              <a:endCxn id="6" idx="2"/>
            </p:cNvCxnSpPr>
            <p:nvPr/>
          </p:nvCxnSpPr>
          <p:spPr>
            <a:xfrm flipH="1" flipV="1">
              <a:off x="3884268" y="4946548"/>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Straight Arrow Connector 13">
              <a:extLst>
                <a:ext uri="{FF2B5EF4-FFF2-40B4-BE49-F238E27FC236}">
                  <a16:creationId xmlns="" xmlns:a16="http://schemas.microsoft.com/office/drawing/2014/main" id="{CFEE0C87-5541-88B8-CF13-7700BB245BE2}"/>
                </a:ext>
              </a:extLst>
            </p:cNvPr>
            <p:cNvCxnSpPr/>
            <p:nvPr/>
          </p:nvCxnSpPr>
          <p:spPr>
            <a:xfrm flipH="1" flipV="1">
              <a:off x="3888040" y="4282605"/>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5" name="Straight Arrow Connector 14">
              <a:extLst>
                <a:ext uri="{FF2B5EF4-FFF2-40B4-BE49-F238E27FC236}">
                  <a16:creationId xmlns="" xmlns:a16="http://schemas.microsoft.com/office/drawing/2014/main" id="{A3B9126E-856B-A481-2BDC-2BCDB3E8C46B}"/>
                </a:ext>
              </a:extLst>
            </p:cNvPr>
            <p:cNvCxnSpPr/>
            <p:nvPr/>
          </p:nvCxnSpPr>
          <p:spPr>
            <a:xfrm flipH="1" flipV="1">
              <a:off x="3884268" y="3654662"/>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6" name="Straight Arrow Connector 15">
              <a:extLst>
                <a:ext uri="{FF2B5EF4-FFF2-40B4-BE49-F238E27FC236}">
                  <a16:creationId xmlns="" xmlns:a16="http://schemas.microsoft.com/office/drawing/2014/main" id="{4B365E45-03C9-2E0C-E041-90FBE73656A7}"/>
                </a:ext>
              </a:extLst>
            </p:cNvPr>
            <p:cNvCxnSpPr>
              <a:stCxn id="9" idx="0"/>
              <a:endCxn id="5" idx="2"/>
            </p:cNvCxnSpPr>
            <p:nvPr/>
          </p:nvCxnSpPr>
          <p:spPr>
            <a:xfrm flipV="1">
              <a:off x="3888040" y="2178993"/>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7" name="Connector: Elbow 16">
              <a:extLst>
                <a:ext uri="{FF2B5EF4-FFF2-40B4-BE49-F238E27FC236}">
                  <a16:creationId xmlns="" xmlns:a16="http://schemas.microsoft.com/office/drawing/2014/main" id="{0F1A1930-40E8-C197-F80E-372AB039654C}"/>
                </a:ext>
              </a:extLst>
            </p:cNvPr>
            <p:cNvCxnSpPr>
              <a:stCxn id="11" idx="3"/>
              <a:endCxn id="7" idx="0"/>
            </p:cNvCxnSpPr>
            <p:nvPr/>
          </p:nvCxnSpPr>
          <p:spPr>
            <a:xfrm>
              <a:off x="4714062" y="2745444"/>
              <a:ext cx="185300" cy="452621"/>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 xmlns:a16="http://schemas.microsoft.com/office/drawing/2014/main" id="{A68586CC-B615-4023-89FD-BE8617ECB8DA}"/>
                </a:ext>
              </a:extLst>
            </p:cNvPr>
            <p:cNvCxnSpPr>
              <a:stCxn id="11" idx="1"/>
            </p:cNvCxnSpPr>
            <p:nvPr/>
          </p:nvCxnSpPr>
          <p:spPr>
            <a:xfrm flipH="1">
              <a:off x="3900740" y="2745444"/>
              <a:ext cx="266804" cy="0"/>
            </a:xfrm>
            <a:prstGeom prst="line">
              <a:avLst/>
            </a:prstGeom>
            <a:ln>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9" name="Connector: Elbow 18">
              <a:extLst>
                <a:ext uri="{FF2B5EF4-FFF2-40B4-BE49-F238E27FC236}">
                  <a16:creationId xmlns="" xmlns:a16="http://schemas.microsoft.com/office/drawing/2014/main" id="{D1722F0A-10F9-92E8-89F5-5A6C1427DC3A}"/>
                </a:ext>
              </a:extLst>
            </p:cNvPr>
            <p:cNvCxnSpPr>
              <a:cxnSpLocks/>
              <a:stCxn id="7" idx="2"/>
              <a:endCxn id="12" idx="6"/>
            </p:cNvCxnSpPr>
            <p:nvPr/>
          </p:nvCxnSpPr>
          <p:spPr>
            <a:xfrm rot="5400000">
              <a:off x="4297659" y="3464902"/>
              <a:ext cx="400540" cy="802866"/>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20" name="Straight Arrow Connector 19">
              <a:extLst>
                <a:ext uri="{FF2B5EF4-FFF2-40B4-BE49-F238E27FC236}">
                  <a16:creationId xmlns="" xmlns:a16="http://schemas.microsoft.com/office/drawing/2014/main" id="{65341A0C-7341-971A-6542-8F7BD907C5F2}"/>
                </a:ext>
              </a:extLst>
            </p:cNvPr>
            <p:cNvCxnSpPr/>
            <p:nvPr/>
          </p:nvCxnSpPr>
          <p:spPr>
            <a:xfrm flipH="1" flipV="1">
              <a:off x="3890883" y="150845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 xmlns:a16="http://schemas.microsoft.com/office/drawing/2014/main" id="{1479DF22-88BC-7AF2-D47B-E7EDAA7CB1FB}"/>
                    </a:ext>
                  </a:extLst>
                </p:cNvPr>
                <p:cNvSpPr txBox="1"/>
                <p:nvPr/>
              </p:nvSpPr>
              <p:spPr>
                <a:xfrm>
                  <a:off x="3641198" y="1083900"/>
                  <a:ext cx="578748"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acc>
                          <m:accPr>
                            <m:chr m:val="̂"/>
                            <m:ctrlPr>
                              <a:rPr lang="en-US" sz="1800" b="1" i="1" smtClean="0">
                                <a:latin typeface="Cambria Math" panose="02040503050406030204" pitchFamily="18" charset="0"/>
                              </a:rPr>
                            </m:ctrlPr>
                          </m:accPr>
                          <m:e>
                            <m:r>
                              <a:rPr lang="pt-BR" sz="1800" b="1" i="1" smtClean="0">
                                <a:latin typeface="Cambria Math" panose="02040503050406030204" pitchFamily="18" charset="0"/>
                              </a:rPr>
                              <m:t>𝒚</m:t>
                            </m:r>
                          </m:e>
                        </m:acc>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22" name="TextBox 21">
                  <a:extLst>
                    <a:ext uri="{FF2B5EF4-FFF2-40B4-BE49-F238E27FC236}">
                      <a16:creationId xmlns:a16="http://schemas.microsoft.com/office/drawing/2014/main" id="{03C120BA-79E8-ADD5-3D67-6C901D8D1494}"/>
                    </a:ext>
                  </a:extLst>
                </p:cNvPr>
                <p:cNvSpPr txBox="1">
                  <a:spLocks noRot="1" noChangeAspect="1" noMove="1" noResize="1" noEditPoints="1" noAdjustHandles="1" noChangeArrowheads="1" noChangeShapeType="1" noTextEdit="1"/>
                </p:cNvSpPr>
                <p:nvPr/>
              </p:nvSpPr>
              <p:spPr>
                <a:xfrm>
                  <a:off x="3641198" y="1083900"/>
                  <a:ext cx="578748" cy="369332"/>
                </a:xfrm>
                <a:prstGeom prst="rect">
                  <a:avLst/>
                </a:prstGeom>
                <a:blipFill>
                  <a:blip r:embed="rId7"/>
                  <a:stretch>
                    <a:fillRect l="-3158" t="-6667"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 xmlns:a16="http://schemas.microsoft.com/office/drawing/2014/main" id="{29FB4D8B-3A52-D2C4-EB21-AFAB1BD12521}"/>
                    </a:ext>
                  </a:extLst>
                </p:cNvPr>
                <p:cNvSpPr txBox="1"/>
                <p:nvPr/>
              </p:nvSpPr>
              <p:spPr>
                <a:xfrm>
                  <a:off x="3630565" y="5177044"/>
                  <a:ext cx="578748"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800" b="1" i="1" smtClean="0">
                            <a:latin typeface="Cambria Math" panose="02040503050406030204" pitchFamily="18" charset="0"/>
                          </a:rPr>
                          <m:t>𝒙</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23" name="TextBox 22">
                  <a:extLst>
                    <a:ext uri="{FF2B5EF4-FFF2-40B4-BE49-F238E27FC236}">
                      <a16:creationId xmlns:a16="http://schemas.microsoft.com/office/drawing/2014/main" id="{B9898A35-5D27-3AFD-DCEC-B3870EE9A20C}"/>
                    </a:ext>
                  </a:extLst>
                </p:cNvPr>
                <p:cNvSpPr txBox="1">
                  <a:spLocks noRot="1" noChangeAspect="1" noMove="1" noResize="1" noEditPoints="1" noAdjustHandles="1" noChangeArrowheads="1" noChangeShapeType="1" noTextEdit="1"/>
                </p:cNvSpPr>
                <p:nvPr/>
              </p:nvSpPr>
              <p:spPr>
                <a:xfrm>
                  <a:off x="3630565" y="5177044"/>
                  <a:ext cx="578748" cy="369332"/>
                </a:xfrm>
                <a:prstGeom prst="rect">
                  <a:avLst/>
                </a:prstGeom>
                <a:blipFill>
                  <a:blip r:embed="rId8"/>
                  <a:stretch>
                    <a:fillRect b="-147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 xmlns:a16="http://schemas.microsoft.com/office/drawing/2014/main" id="{DE891D50-0373-CCDA-A4D1-7C229656E91C}"/>
                    </a:ext>
                  </a:extLst>
                </p:cNvPr>
                <p:cNvSpPr txBox="1"/>
                <p:nvPr/>
              </p:nvSpPr>
              <p:spPr>
                <a:xfrm>
                  <a:off x="3634353" y="3236362"/>
                  <a:ext cx="578748"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24" name="TextBox 23">
                  <a:extLst>
                    <a:ext uri="{FF2B5EF4-FFF2-40B4-BE49-F238E27FC236}">
                      <a16:creationId xmlns:a16="http://schemas.microsoft.com/office/drawing/2014/main" id="{2EAF4EBF-06B1-79A7-1B72-595DB550A38F}"/>
                    </a:ext>
                  </a:extLst>
                </p:cNvPr>
                <p:cNvSpPr txBox="1">
                  <a:spLocks noRot="1" noChangeAspect="1" noMove="1" noResize="1" noEditPoints="1" noAdjustHandles="1" noChangeArrowheads="1" noChangeShapeType="1" noTextEdit="1"/>
                </p:cNvSpPr>
                <p:nvPr/>
              </p:nvSpPr>
              <p:spPr>
                <a:xfrm>
                  <a:off x="3634353" y="3236362"/>
                  <a:ext cx="578748" cy="369332"/>
                </a:xfrm>
                <a:prstGeom prst="rect">
                  <a:avLst/>
                </a:prstGeom>
                <a:blipFill>
                  <a:blip r:embed="rId9"/>
                  <a:stretch>
                    <a:fillRect l="-4211"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 xmlns:a16="http://schemas.microsoft.com/office/drawing/2014/main" id="{45D6AF3B-B78D-5F77-466B-A91F78E4DCA6}"/>
                    </a:ext>
                  </a:extLst>
                </p:cNvPr>
                <p:cNvSpPr txBox="1"/>
                <p:nvPr/>
              </p:nvSpPr>
              <p:spPr>
                <a:xfrm>
                  <a:off x="4905741" y="2755189"/>
                  <a:ext cx="984693"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−1]</m:t>
                        </m:r>
                      </m:oMath>
                    </m:oMathPara>
                  </a14:m>
                  <a:endParaRPr lang="en-US" sz="1800" dirty="0"/>
                </a:p>
              </p:txBody>
            </p:sp>
          </mc:Choice>
          <mc:Fallback xmlns="">
            <p:sp>
              <p:nvSpPr>
                <p:cNvPr id="25" name="TextBox 24">
                  <a:extLst>
                    <a:ext uri="{FF2B5EF4-FFF2-40B4-BE49-F238E27FC236}">
                      <a16:creationId xmlns:a16="http://schemas.microsoft.com/office/drawing/2014/main" id="{EF8E314D-D94B-E03E-107A-3344F9B3AAC5}"/>
                    </a:ext>
                  </a:extLst>
                </p:cNvPr>
                <p:cNvSpPr txBox="1">
                  <a:spLocks noRot="1" noChangeAspect="1" noMove="1" noResize="1" noEditPoints="1" noAdjustHandles="1" noChangeArrowheads="1" noChangeShapeType="1" noTextEdit="1"/>
                </p:cNvSpPr>
                <p:nvPr/>
              </p:nvSpPr>
              <p:spPr>
                <a:xfrm>
                  <a:off x="4905741" y="2755189"/>
                  <a:ext cx="984693" cy="369332"/>
                </a:xfrm>
                <a:prstGeom prst="rect">
                  <a:avLst/>
                </a:prstGeom>
                <a:blipFill>
                  <a:blip r:embed="rId10"/>
                  <a:stretch>
                    <a:fillRect l="-2484" b="-14754"/>
                  </a:stretch>
                </a:blipFill>
              </p:spPr>
              <p:txBody>
                <a:bodyPr/>
                <a:lstStyle/>
                <a:p>
                  <a:r>
                    <a:rPr lang="en-US">
                      <a:noFill/>
                    </a:rPr>
                    <a:t> </a:t>
                  </a:r>
                </a:p>
              </p:txBody>
            </p:sp>
          </mc:Fallback>
        </mc:AlternateContent>
      </p:grpSp>
      <p:grpSp>
        <p:nvGrpSpPr>
          <p:cNvPr id="50" name="Agrupar 49">
            <a:extLst>
              <a:ext uri="{FF2B5EF4-FFF2-40B4-BE49-F238E27FC236}">
                <a16:creationId xmlns="" xmlns:a16="http://schemas.microsoft.com/office/drawing/2014/main" id="{68106E7F-C424-D8F9-32BD-AB1D97C0EBF4}"/>
              </a:ext>
            </a:extLst>
          </p:cNvPr>
          <p:cNvGrpSpPr/>
          <p:nvPr/>
        </p:nvGrpSpPr>
        <p:grpSpPr>
          <a:xfrm>
            <a:off x="7876500" y="320782"/>
            <a:ext cx="2259869" cy="5225594"/>
            <a:chOff x="7876500" y="320782"/>
            <a:chExt cx="2259869" cy="5225594"/>
          </a:xfrm>
        </p:grpSpPr>
        <mc:AlternateContent xmlns:mc="http://schemas.openxmlformats.org/markup-compatibility/2006" xmlns:a14="http://schemas.microsoft.com/office/drawing/2010/main">
          <mc:Choice Requires="a14">
            <p:sp>
              <p:nvSpPr>
                <p:cNvPr id="3" name="Rectangle 4">
                  <a:extLst>
                    <a:ext uri="{FF2B5EF4-FFF2-40B4-BE49-F238E27FC236}">
                      <a16:creationId xmlns="" xmlns:a16="http://schemas.microsoft.com/office/drawing/2014/main" id="{76A85B48-7380-2CCD-FF64-7ADAA61C49CD}"/>
                    </a:ext>
                  </a:extLst>
                </p:cNvPr>
                <p:cNvSpPr/>
                <p:nvPr/>
              </p:nvSpPr>
              <p:spPr>
                <a:xfrm>
                  <a:off x="7902735" y="1601766"/>
                  <a:ext cx="468000" cy="47782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3" name="Rectangle 4">
                  <a:extLst>
                    <a:ext uri="{FF2B5EF4-FFF2-40B4-BE49-F238E27FC236}">
                      <a16:creationId xmlns:a16="http://schemas.microsoft.com/office/drawing/2014/main" id="{76A85B48-7380-2CCD-FF64-7ADAA61C49CD}"/>
                    </a:ext>
                  </a:extLst>
                </p:cNvPr>
                <p:cNvSpPr>
                  <a:spLocks noRot="1" noChangeAspect="1" noMove="1" noResize="1" noEditPoints="1" noAdjustHandles="1" noChangeArrowheads="1" noChangeShapeType="1" noTextEdit="1"/>
                </p:cNvSpPr>
                <p:nvPr/>
              </p:nvSpPr>
              <p:spPr>
                <a:xfrm>
                  <a:off x="7902735" y="1601766"/>
                  <a:ext cx="468000" cy="477825"/>
                </a:xfrm>
                <a:prstGeom prst="rect">
                  <a:avLst/>
                </a:prstGeom>
                <a:blipFill>
                  <a:blip r:embed="rId11"/>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5">
                  <a:extLst>
                    <a:ext uri="{FF2B5EF4-FFF2-40B4-BE49-F238E27FC236}">
                      <a16:creationId xmlns="" xmlns:a16="http://schemas.microsoft.com/office/drawing/2014/main" id="{381AC555-FEB7-CFA8-583A-EFB748428BC7}"/>
                    </a:ext>
                  </a:extLst>
                </p:cNvPr>
                <p:cNvSpPr/>
                <p:nvPr/>
              </p:nvSpPr>
              <p:spPr>
                <a:xfrm>
                  <a:off x="7896203" y="4427424"/>
                  <a:ext cx="468000" cy="47782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𝑖</m:t>
                            </m:r>
                          </m:sub>
                        </m:sSub>
                      </m:oMath>
                    </m:oMathPara>
                  </a14:m>
                  <a:endParaRPr lang="en-US" dirty="0"/>
                </a:p>
              </p:txBody>
            </p:sp>
          </mc:Choice>
          <mc:Fallback xmlns="">
            <p:sp>
              <p:nvSpPr>
                <p:cNvPr id="4" name="Rectangle 5">
                  <a:extLst>
                    <a:ext uri="{FF2B5EF4-FFF2-40B4-BE49-F238E27FC236}">
                      <a16:creationId xmlns:a16="http://schemas.microsoft.com/office/drawing/2014/main" id="{381AC555-FEB7-CFA8-583A-EFB748428BC7}"/>
                    </a:ext>
                  </a:extLst>
                </p:cNvPr>
                <p:cNvSpPr>
                  <a:spLocks noRot="1" noChangeAspect="1" noMove="1" noResize="1" noEditPoints="1" noAdjustHandles="1" noChangeArrowheads="1" noChangeShapeType="1" noTextEdit="1"/>
                </p:cNvSpPr>
                <p:nvPr/>
              </p:nvSpPr>
              <p:spPr>
                <a:xfrm>
                  <a:off x="7896203" y="4427424"/>
                  <a:ext cx="468000" cy="477825"/>
                </a:xfrm>
                <a:prstGeom prst="rect">
                  <a:avLst/>
                </a:prstGeom>
                <a:blipFill>
                  <a:blip r:embed="rId12"/>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Rectangle 6">
                  <a:extLst>
                    <a:ext uri="{FF2B5EF4-FFF2-40B4-BE49-F238E27FC236}">
                      <a16:creationId xmlns="" xmlns:a16="http://schemas.microsoft.com/office/drawing/2014/main" id="{81A71E86-23EC-43BE-4CDC-F69180FEC82F}"/>
                    </a:ext>
                  </a:extLst>
                </p:cNvPr>
                <p:cNvSpPr/>
                <p:nvPr/>
              </p:nvSpPr>
              <p:spPr>
                <a:xfrm>
                  <a:off x="8911297" y="3120058"/>
                  <a:ext cx="468000" cy="47782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h</m:t>
                            </m:r>
                          </m:sub>
                        </m:sSub>
                      </m:oMath>
                    </m:oMathPara>
                  </a14:m>
                  <a:endParaRPr lang="en-US" dirty="0"/>
                </a:p>
              </p:txBody>
            </p:sp>
          </mc:Choice>
          <mc:Fallback xmlns="">
            <p:sp>
              <p:nvSpPr>
                <p:cNvPr id="21" name="Rectangle 6">
                  <a:extLst>
                    <a:ext uri="{FF2B5EF4-FFF2-40B4-BE49-F238E27FC236}">
                      <a16:creationId xmlns:a16="http://schemas.microsoft.com/office/drawing/2014/main" id="{81A71E86-23EC-43BE-4CDC-F69180FEC82F}"/>
                    </a:ext>
                  </a:extLst>
                </p:cNvPr>
                <p:cNvSpPr>
                  <a:spLocks noRot="1" noChangeAspect="1" noMove="1" noResize="1" noEditPoints="1" noAdjustHandles="1" noChangeArrowheads="1" noChangeShapeType="1" noTextEdit="1"/>
                </p:cNvSpPr>
                <p:nvPr/>
              </p:nvSpPr>
              <p:spPr>
                <a:xfrm>
                  <a:off x="8911297" y="3120058"/>
                  <a:ext cx="468000" cy="477825"/>
                </a:xfrm>
                <a:prstGeom prst="rect">
                  <a:avLst/>
                </a:prstGeom>
                <a:blipFill>
                  <a:blip r:embed="rId13"/>
                  <a:stretch>
                    <a:fillRect l="-10256"/>
                  </a:stretch>
                </a:blipFill>
              </p:spPr>
              <p:txBody>
                <a:bodyPr/>
                <a:lstStyle/>
                <a:p>
                  <a:r>
                    <a:rPr lang="en-US">
                      <a:noFill/>
                    </a:rPr>
                    <a:t> </a:t>
                  </a:r>
                </a:p>
              </p:txBody>
            </p:sp>
          </mc:Fallback>
        </mc:AlternateContent>
        <p:sp>
          <p:nvSpPr>
            <p:cNvPr id="27" name="Oval 7">
              <a:extLst>
                <a:ext uri="{FF2B5EF4-FFF2-40B4-BE49-F238E27FC236}">
                  <a16:creationId xmlns="" xmlns:a16="http://schemas.microsoft.com/office/drawing/2014/main" id="{CA988B7A-1B0B-82F5-9415-E8E6402D7314}"/>
                </a:ext>
              </a:extLst>
            </p:cNvPr>
            <p:cNvSpPr/>
            <p:nvPr/>
          </p:nvSpPr>
          <p:spPr>
            <a:xfrm>
              <a:off x="7925595" y="320782"/>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1600" b="1" dirty="0"/>
            </a:p>
          </p:txBody>
        </p:sp>
        <p:sp>
          <p:nvSpPr>
            <p:cNvPr id="28" name="Oval 8">
              <a:extLst>
                <a:ext uri="{FF2B5EF4-FFF2-40B4-BE49-F238E27FC236}">
                  <a16:creationId xmlns="" xmlns:a16="http://schemas.microsoft.com/office/drawing/2014/main" id="{AAE1E49D-9B08-0B79-5467-F9E05E71413E}"/>
                </a:ext>
              </a:extLst>
            </p:cNvPr>
            <p:cNvSpPr/>
            <p:nvPr/>
          </p:nvSpPr>
          <p:spPr>
            <a:xfrm>
              <a:off x="7917975" y="3138436"/>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29" name="Oval 9">
              <a:extLst>
                <a:ext uri="{FF2B5EF4-FFF2-40B4-BE49-F238E27FC236}">
                  <a16:creationId xmlns="" xmlns:a16="http://schemas.microsoft.com/office/drawing/2014/main" id="{B8BE4B74-3C6A-2E82-FCA0-6556493DD525}"/>
                </a:ext>
              </a:extLst>
            </p:cNvPr>
            <p:cNvSpPr/>
            <p:nvPr/>
          </p:nvSpPr>
          <p:spPr>
            <a:xfrm>
              <a:off x="7917975" y="5105306"/>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30" name="Diamond 10">
                  <a:extLst>
                    <a:ext uri="{FF2B5EF4-FFF2-40B4-BE49-F238E27FC236}">
                      <a16:creationId xmlns="" xmlns:a16="http://schemas.microsoft.com/office/drawing/2014/main" id="{C3D54E13-140B-5E52-0B82-E85F5AEF036A}"/>
                    </a:ext>
                  </a:extLst>
                </p:cNvPr>
                <p:cNvSpPr/>
                <p:nvPr/>
              </p:nvSpPr>
              <p:spPr>
                <a:xfrm>
                  <a:off x="8413479" y="2419022"/>
                  <a:ext cx="546518" cy="477825"/>
                </a:xfrm>
                <a:prstGeom prst="diamond">
                  <a:avLst/>
                </a:prstGeom>
              </p:spPr>
              <p:style>
                <a:lnRef idx="2">
                  <a:schemeClr val="dk1"/>
                </a:lnRef>
                <a:fillRef idx="1">
                  <a:schemeClr val="lt1"/>
                </a:fillRef>
                <a:effectRef idx="0">
                  <a:schemeClr val="dk1"/>
                </a:effectRef>
                <a:fontRef idx="minor">
                  <a:schemeClr val="dk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a:rPr lang="pt-BR" b="0" i="1" smtClean="0">
                                <a:latin typeface="Cambria Math" panose="02040503050406030204" pitchFamily="18" charset="0"/>
                              </a:rPr>
                              <m:t>𝑧</m:t>
                            </m:r>
                          </m:e>
                          <m:sup>
                            <m:r>
                              <a:rPr lang="pt-BR" b="0" i="1" smtClean="0">
                                <a:latin typeface="Cambria Math" panose="02040503050406030204" pitchFamily="18" charset="0"/>
                              </a:rPr>
                              <m:t>−1</m:t>
                            </m:r>
                          </m:sup>
                        </m:sSup>
                      </m:oMath>
                    </m:oMathPara>
                  </a14:m>
                  <a:endParaRPr lang="en-US" dirty="0"/>
                </a:p>
              </p:txBody>
            </p:sp>
          </mc:Choice>
          <mc:Fallback xmlns="">
            <p:sp>
              <p:nvSpPr>
                <p:cNvPr id="30" name="Diamond 10">
                  <a:extLst>
                    <a:ext uri="{FF2B5EF4-FFF2-40B4-BE49-F238E27FC236}">
                      <a16:creationId xmlns:a16="http://schemas.microsoft.com/office/drawing/2014/main" id="{C3D54E13-140B-5E52-0B82-E85F5AEF036A}"/>
                    </a:ext>
                  </a:extLst>
                </p:cNvPr>
                <p:cNvSpPr>
                  <a:spLocks noRot="1" noChangeAspect="1" noMove="1" noResize="1" noEditPoints="1" noAdjustHandles="1" noChangeArrowheads="1" noChangeShapeType="1" noTextEdit="1"/>
                </p:cNvSpPr>
                <p:nvPr/>
              </p:nvSpPr>
              <p:spPr>
                <a:xfrm>
                  <a:off x="8413479" y="2419022"/>
                  <a:ext cx="546518" cy="477825"/>
                </a:xfrm>
                <a:prstGeom prst="diamond">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Oval 11">
                  <a:extLst>
                    <a:ext uri="{FF2B5EF4-FFF2-40B4-BE49-F238E27FC236}">
                      <a16:creationId xmlns="" xmlns:a16="http://schemas.microsoft.com/office/drawing/2014/main" id="{3A515DFD-2273-43CA-BC90-55C35DE12AE2}"/>
                    </a:ext>
                  </a:extLst>
                </p:cNvPr>
                <p:cNvSpPr/>
                <p:nvPr/>
              </p:nvSpPr>
              <p:spPr>
                <a:xfrm>
                  <a:off x="7910431" y="3786298"/>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b="0" i="1" smtClean="0">
                            <a:latin typeface="Cambria Math" panose="02040503050406030204" pitchFamily="18" charset="0"/>
                          </a:rPr>
                          <m:t>𝑓</m:t>
                        </m:r>
                        <m:r>
                          <a:rPr lang="pt-BR" sz="1400" b="0" i="1" smtClean="0">
                            <a:latin typeface="Cambria Math" panose="02040503050406030204" pitchFamily="18" charset="0"/>
                          </a:rPr>
                          <m:t>(.)</m:t>
                        </m:r>
                      </m:oMath>
                    </m:oMathPara>
                  </a14:m>
                  <a:endParaRPr lang="en-US" sz="1400" dirty="0"/>
                </a:p>
              </p:txBody>
            </p:sp>
          </mc:Choice>
          <mc:Fallback xmlns="">
            <p:sp>
              <p:nvSpPr>
                <p:cNvPr id="31" name="Oval 11">
                  <a:extLst>
                    <a:ext uri="{FF2B5EF4-FFF2-40B4-BE49-F238E27FC236}">
                      <a16:creationId xmlns:a16="http://schemas.microsoft.com/office/drawing/2014/main" id="{3A515DFD-2273-43CA-BC90-55C35DE12AE2}"/>
                    </a:ext>
                  </a:extLst>
                </p:cNvPr>
                <p:cNvSpPr>
                  <a:spLocks noRot="1" noChangeAspect="1" noMove="1" noResize="1" noEditPoints="1" noAdjustHandles="1" noChangeArrowheads="1" noChangeShapeType="1" noTextEdit="1"/>
                </p:cNvSpPr>
                <p:nvPr/>
              </p:nvSpPr>
              <p:spPr>
                <a:xfrm>
                  <a:off x="7910431" y="3786298"/>
                  <a:ext cx="432000" cy="441070"/>
                </a:xfrm>
                <a:prstGeom prst="ellipse">
                  <a:avLst/>
                </a:prstGeom>
                <a:blipFill>
                  <a:blip r:embed="rId15"/>
                  <a:stretch>
                    <a:fillRect l="-2778" r="-8333"/>
                  </a:stretch>
                </a:blipFill>
              </p:spPr>
              <p:txBody>
                <a:bodyPr/>
                <a:lstStyle/>
                <a:p>
                  <a:r>
                    <a:rPr lang="en-US">
                      <a:noFill/>
                    </a:rPr>
                    <a:t> </a:t>
                  </a:r>
                </a:p>
              </p:txBody>
            </p:sp>
          </mc:Fallback>
        </mc:AlternateContent>
        <p:cxnSp>
          <p:nvCxnSpPr>
            <p:cNvPr id="32" name="Straight Arrow Connector 12">
              <a:extLst>
                <a:ext uri="{FF2B5EF4-FFF2-40B4-BE49-F238E27FC236}">
                  <a16:creationId xmlns="" xmlns:a16="http://schemas.microsoft.com/office/drawing/2014/main" id="{4C7F79EF-BDDD-A3E9-801D-ECB66DFEA188}"/>
                </a:ext>
              </a:extLst>
            </p:cNvPr>
            <p:cNvCxnSpPr>
              <a:stCxn id="29" idx="0"/>
              <a:endCxn id="4" idx="2"/>
            </p:cNvCxnSpPr>
            <p:nvPr/>
          </p:nvCxnSpPr>
          <p:spPr>
            <a:xfrm flipH="1" flipV="1">
              <a:off x="8130203" y="4905250"/>
              <a:ext cx="3772" cy="20005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3" name="Straight Arrow Connector 13">
              <a:extLst>
                <a:ext uri="{FF2B5EF4-FFF2-40B4-BE49-F238E27FC236}">
                  <a16:creationId xmlns="" xmlns:a16="http://schemas.microsoft.com/office/drawing/2014/main" id="{B5CF0874-65C0-A04C-D46E-1D31438CA4BA}"/>
                </a:ext>
              </a:extLst>
            </p:cNvPr>
            <p:cNvCxnSpPr/>
            <p:nvPr/>
          </p:nvCxnSpPr>
          <p:spPr>
            <a:xfrm flipH="1" flipV="1">
              <a:off x="8133975" y="4227367"/>
              <a:ext cx="3772" cy="20005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4" name="Straight Arrow Connector 14">
              <a:extLst>
                <a:ext uri="{FF2B5EF4-FFF2-40B4-BE49-F238E27FC236}">
                  <a16:creationId xmlns="" xmlns:a16="http://schemas.microsoft.com/office/drawing/2014/main" id="{B7FC0459-C9D3-5EC5-CA8E-F63D1801A265}"/>
                </a:ext>
              </a:extLst>
            </p:cNvPr>
            <p:cNvCxnSpPr/>
            <p:nvPr/>
          </p:nvCxnSpPr>
          <p:spPr>
            <a:xfrm flipH="1" flipV="1">
              <a:off x="8130203" y="3586241"/>
              <a:ext cx="3772" cy="20005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15">
              <a:extLst>
                <a:ext uri="{FF2B5EF4-FFF2-40B4-BE49-F238E27FC236}">
                  <a16:creationId xmlns="" xmlns:a16="http://schemas.microsoft.com/office/drawing/2014/main" id="{62627B63-6154-491C-CEF1-B37C66D42BAF}"/>
                </a:ext>
              </a:extLst>
            </p:cNvPr>
            <p:cNvCxnSpPr>
              <a:stCxn id="28" idx="0"/>
              <a:endCxn id="3" idx="2"/>
            </p:cNvCxnSpPr>
            <p:nvPr/>
          </p:nvCxnSpPr>
          <p:spPr>
            <a:xfrm flipV="1">
              <a:off x="8133975" y="2079591"/>
              <a:ext cx="2760" cy="105884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6" name="Connector: Elbow 16">
              <a:extLst>
                <a:ext uri="{FF2B5EF4-FFF2-40B4-BE49-F238E27FC236}">
                  <a16:creationId xmlns="" xmlns:a16="http://schemas.microsoft.com/office/drawing/2014/main" id="{3519258D-B8C1-DE2B-9AB3-D478E3C893D8}"/>
                </a:ext>
              </a:extLst>
            </p:cNvPr>
            <p:cNvCxnSpPr>
              <a:stCxn id="30" idx="3"/>
              <a:endCxn id="21" idx="0"/>
            </p:cNvCxnSpPr>
            <p:nvPr/>
          </p:nvCxnSpPr>
          <p:spPr>
            <a:xfrm>
              <a:off x="8959997" y="2657934"/>
              <a:ext cx="185300" cy="462124"/>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37" name="Straight Connector 17">
              <a:extLst>
                <a:ext uri="{FF2B5EF4-FFF2-40B4-BE49-F238E27FC236}">
                  <a16:creationId xmlns="" xmlns:a16="http://schemas.microsoft.com/office/drawing/2014/main" id="{9079B4A8-8566-C8E3-FD26-1AD2E579A563}"/>
                </a:ext>
              </a:extLst>
            </p:cNvPr>
            <p:cNvCxnSpPr>
              <a:stCxn id="30" idx="1"/>
            </p:cNvCxnSpPr>
            <p:nvPr/>
          </p:nvCxnSpPr>
          <p:spPr>
            <a:xfrm flipH="1">
              <a:off x="8146675" y="2657934"/>
              <a:ext cx="266804" cy="0"/>
            </a:xfrm>
            <a:prstGeom prst="line">
              <a:avLst/>
            </a:prstGeom>
            <a:ln>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38" name="Connector: Elbow 18">
              <a:extLst>
                <a:ext uri="{FF2B5EF4-FFF2-40B4-BE49-F238E27FC236}">
                  <a16:creationId xmlns="" xmlns:a16="http://schemas.microsoft.com/office/drawing/2014/main" id="{FB5A9D70-A6BA-5543-5036-B306037D4314}"/>
                </a:ext>
              </a:extLst>
            </p:cNvPr>
            <p:cNvCxnSpPr>
              <a:cxnSpLocks/>
              <a:stCxn id="21" idx="2"/>
              <a:endCxn id="31" idx="6"/>
            </p:cNvCxnSpPr>
            <p:nvPr/>
          </p:nvCxnSpPr>
          <p:spPr>
            <a:xfrm rot="5400000">
              <a:off x="8539389" y="3400925"/>
              <a:ext cx="408949" cy="802866"/>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39" name="Straight Arrow Connector 19">
              <a:extLst>
                <a:ext uri="{FF2B5EF4-FFF2-40B4-BE49-F238E27FC236}">
                  <a16:creationId xmlns="" xmlns:a16="http://schemas.microsoft.com/office/drawing/2014/main" id="{165E681B-13AF-F55B-80BE-0268B15154D6}"/>
                </a:ext>
              </a:extLst>
            </p:cNvPr>
            <p:cNvCxnSpPr>
              <a:cxnSpLocks/>
              <a:stCxn id="3" idx="0"/>
              <a:endCxn id="44" idx="4"/>
            </p:cNvCxnSpPr>
            <p:nvPr/>
          </p:nvCxnSpPr>
          <p:spPr>
            <a:xfrm flipV="1">
              <a:off x="8136735" y="1376596"/>
              <a:ext cx="3848" cy="22517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0" name="TextBox 21">
                  <a:extLst>
                    <a:ext uri="{FF2B5EF4-FFF2-40B4-BE49-F238E27FC236}">
                      <a16:creationId xmlns="" xmlns:a16="http://schemas.microsoft.com/office/drawing/2014/main" id="{D1348BBD-068C-A363-3005-B1289B8D89CD}"/>
                    </a:ext>
                  </a:extLst>
                </p:cNvPr>
                <p:cNvSpPr txBox="1"/>
                <p:nvPr/>
              </p:nvSpPr>
              <p:spPr>
                <a:xfrm>
                  <a:off x="7895191" y="332534"/>
                  <a:ext cx="578748" cy="37708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acc>
                          <m:accPr>
                            <m:chr m:val="̂"/>
                            <m:ctrlPr>
                              <a:rPr lang="en-US" sz="1800" b="1" i="1" smtClean="0">
                                <a:latin typeface="Cambria Math" panose="02040503050406030204" pitchFamily="18" charset="0"/>
                              </a:rPr>
                            </m:ctrlPr>
                          </m:accPr>
                          <m:e>
                            <m:r>
                              <a:rPr lang="pt-BR" sz="1800" b="1" i="1" smtClean="0">
                                <a:latin typeface="Cambria Math" panose="02040503050406030204" pitchFamily="18" charset="0"/>
                              </a:rPr>
                              <m:t>𝒚</m:t>
                            </m:r>
                          </m:e>
                        </m:acc>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40" name="TextBox 21">
                  <a:extLst>
                    <a:ext uri="{FF2B5EF4-FFF2-40B4-BE49-F238E27FC236}">
                      <a16:creationId xmlns:a16="http://schemas.microsoft.com/office/drawing/2014/main" id="{D1348BBD-068C-A363-3005-B1289B8D89CD}"/>
                    </a:ext>
                  </a:extLst>
                </p:cNvPr>
                <p:cNvSpPr txBox="1">
                  <a:spLocks noRot="1" noChangeAspect="1" noMove="1" noResize="1" noEditPoints="1" noAdjustHandles="1" noChangeArrowheads="1" noChangeShapeType="1" noTextEdit="1"/>
                </p:cNvSpPr>
                <p:nvPr/>
              </p:nvSpPr>
              <p:spPr>
                <a:xfrm>
                  <a:off x="7895191" y="332534"/>
                  <a:ext cx="578748" cy="377086"/>
                </a:xfrm>
                <a:prstGeom prst="rect">
                  <a:avLst/>
                </a:prstGeom>
                <a:blipFill>
                  <a:blip r:embed="rId16"/>
                  <a:stretch>
                    <a:fillRect l="-4211" t="-6557" b="-147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22">
                  <a:extLst>
                    <a:ext uri="{FF2B5EF4-FFF2-40B4-BE49-F238E27FC236}">
                      <a16:creationId xmlns="" xmlns:a16="http://schemas.microsoft.com/office/drawing/2014/main" id="{61AF4ACA-82A7-38B5-1AA0-CF7EA98E07ED}"/>
                    </a:ext>
                  </a:extLst>
                </p:cNvPr>
                <p:cNvSpPr txBox="1"/>
                <p:nvPr/>
              </p:nvSpPr>
              <p:spPr>
                <a:xfrm>
                  <a:off x="7876500" y="5140585"/>
                  <a:ext cx="578748" cy="37708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800" b="1" i="1" smtClean="0">
                            <a:latin typeface="Cambria Math" panose="02040503050406030204" pitchFamily="18" charset="0"/>
                          </a:rPr>
                          <m:t>𝒙</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41" name="TextBox 22">
                  <a:extLst>
                    <a:ext uri="{FF2B5EF4-FFF2-40B4-BE49-F238E27FC236}">
                      <a16:creationId xmlns:a16="http://schemas.microsoft.com/office/drawing/2014/main" id="{61AF4ACA-82A7-38B5-1AA0-CF7EA98E07ED}"/>
                    </a:ext>
                  </a:extLst>
                </p:cNvPr>
                <p:cNvSpPr txBox="1">
                  <a:spLocks noRot="1" noChangeAspect="1" noMove="1" noResize="1" noEditPoints="1" noAdjustHandles="1" noChangeArrowheads="1" noChangeShapeType="1" noTextEdit="1"/>
                </p:cNvSpPr>
                <p:nvPr/>
              </p:nvSpPr>
              <p:spPr>
                <a:xfrm>
                  <a:off x="7876500" y="5140585"/>
                  <a:ext cx="578748" cy="377086"/>
                </a:xfrm>
                <a:prstGeom prst="rect">
                  <a:avLst/>
                </a:prstGeom>
                <a:blipFill>
                  <a:blip r:embed="rId17"/>
                  <a:stretch>
                    <a:fillRect b="-129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23">
                  <a:extLst>
                    <a:ext uri="{FF2B5EF4-FFF2-40B4-BE49-F238E27FC236}">
                      <a16:creationId xmlns="" xmlns:a16="http://schemas.microsoft.com/office/drawing/2014/main" id="{566E3115-AE91-024B-A6A4-0767F86DE0D5}"/>
                    </a:ext>
                  </a:extLst>
                </p:cNvPr>
                <p:cNvSpPr txBox="1"/>
                <p:nvPr/>
              </p:nvSpPr>
              <p:spPr>
                <a:xfrm>
                  <a:off x="7880288" y="3159159"/>
                  <a:ext cx="578748" cy="37708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42" name="TextBox 23">
                  <a:extLst>
                    <a:ext uri="{FF2B5EF4-FFF2-40B4-BE49-F238E27FC236}">
                      <a16:creationId xmlns:a16="http://schemas.microsoft.com/office/drawing/2014/main" id="{566E3115-AE91-024B-A6A4-0767F86DE0D5}"/>
                    </a:ext>
                  </a:extLst>
                </p:cNvPr>
                <p:cNvSpPr txBox="1">
                  <a:spLocks noRot="1" noChangeAspect="1" noMove="1" noResize="1" noEditPoints="1" noAdjustHandles="1" noChangeArrowheads="1" noChangeShapeType="1" noTextEdit="1"/>
                </p:cNvSpPr>
                <p:nvPr/>
              </p:nvSpPr>
              <p:spPr>
                <a:xfrm>
                  <a:off x="7880288" y="3159159"/>
                  <a:ext cx="578748" cy="377086"/>
                </a:xfrm>
                <a:prstGeom prst="rect">
                  <a:avLst/>
                </a:prstGeom>
                <a:blipFill>
                  <a:blip r:embed="rId18"/>
                  <a:stretch>
                    <a:fillRect l="-4211" b="-129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24">
                  <a:extLst>
                    <a:ext uri="{FF2B5EF4-FFF2-40B4-BE49-F238E27FC236}">
                      <a16:creationId xmlns="" xmlns:a16="http://schemas.microsoft.com/office/drawing/2014/main" id="{9E370B18-E5BE-A9AC-F9B6-139BB6C7D877}"/>
                    </a:ext>
                  </a:extLst>
                </p:cNvPr>
                <p:cNvSpPr txBox="1"/>
                <p:nvPr/>
              </p:nvSpPr>
              <p:spPr>
                <a:xfrm>
                  <a:off x="9151676" y="2667884"/>
                  <a:ext cx="984693" cy="37708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−1]</m:t>
                        </m:r>
                      </m:oMath>
                    </m:oMathPara>
                  </a14:m>
                  <a:endParaRPr lang="en-US" sz="1800" dirty="0"/>
                </a:p>
              </p:txBody>
            </p:sp>
          </mc:Choice>
          <mc:Fallback xmlns="">
            <p:sp>
              <p:nvSpPr>
                <p:cNvPr id="43" name="TextBox 24">
                  <a:extLst>
                    <a:ext uri="{FF2B5EF4-FFF2-40B4-BE49-F238E27FC236}">
                      <a16:creationId xmlns:a16="http://schemas.microsoft.com/office/drawing/2014/main" id="{9E370B18-E5BE-A9AC-F9B6-139BB6C7D877}"/>
                    </a:ext>
                  </a:extLst>
                </p:cNvPr>
                <p:cNvSpPr txBox="1">
                  <a:spLocks noRot="1" noChangeAspect="1" noMove="1" noResize="1" noEditPoints="1" noAdjustHandles="1" noChangeArrowheads="1" noChangeShapeType="1" noTextEdit="1"/>
                </p:cNvSpPr>
                <p:nvPr/>
              </p:nvSpPr>
              <p:spPr>
                <a:xfrm>
                  <a:off x="9151676" y="2667884"/>
                  <a:ext cx="984693" cy="377086"/>
                </a:xfrm>
                <a:prstGeom prst="rect">
                  <a:avLst/>
                </a:prstGeom>
                <a:blipFill>
                  <a:blip r:embed="rId19"/>
                  <a:stretch>
                    <a:fillRect l="-2469" b="-129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Oval 11">
                  <a:extLst>
                    <a:ext uri="{FF2B5EF4-FFF2-40B4-BE49-F238E27FC236}">
                      <a16:creationId xmlns="" xmlns:a16="http://schemas.microsoft.com/office/drawing/2014/main" id="{7A4582A7-DB9A-8D9D-8E97-BCEC8C6FBEEA}"/>
                    </a:ext>
                  </a:extLst>
                </p:cNvPr>
                <p:cNvSpPr/>
                <p:nvPr/>
              </p:nvSpPr>
              <p:spPr>
                <a:xfrm>
                  <a:off x="7924583" y="935526"/>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b="0" i="1" smtClean="0">
                            <a:latin typeface="Cambria Math" panose="02040503050406030204" pitchFamily="18" charset="0"/>
                          </a:rPr>
                          <m:t>𝑓</m:t>
                        </m:r>
                        <m:r>
                          <a:rPr lang="pt-BR" sz="1400" b="0" i="1" smtClean="0">
                            <a:latin typeface="Cambria Math" panose="02040503050406030204" pitchFamily="18" charset="0"/>
                          </a:rPr>
                          <m:t>(.)</m:t>
                        </m:r>
                      </m:oMath>
                    </m:oMathPara>
                  </a14:m>
                  <a:endParaRPr lang="en-US" sz="1400" dirty="0"/>
                </a:p>
              </p:txBody>
            </p:sp>
          </mc:Choice>
          <mc:Fallback xmlns="">
            <p:sp>
              <p:nvSpPr>
                <p:cNvPr id="44" name="Oval 11">
                  <a:extLst>
                    <a:ext uri="{FF2B5EF4-FFF2-40B4-BE49-F238E27FC236}">
                      <a16:creationId xmlns:a16="http://schemas.microsoft.com/office/drawing/2014/main" id="{7A4582A7-DB9A-8D9D-8E97-BCEC8C6FBEEA}"/>
                    </a:ext>
                  </a:extLst>
                </p:cNvPr>
                <p:cNvSpPr>
                  <a:spLocks noRot="1" noChangeAspect="1" noMove="1" noResize="1" noEditPoints="1" noAdjustHandles="1" noChangeArrowheads="1" noChangeShapeType="1" noTextEdit="1"/>
                </p:cNvSpPr>
                <p:nvPr/>
              </p:nvSpPr>
              <p:spPr>
                <a:xfrm>
                  <a:off x="7924583" y="935526"/>
                  <a:ext cx="432000" cy="441070"/>
                </a:xfrm>
                <a:prstGeom prst="ellipse">
                  <a:avLst/>
                </a:prstGeom>
                <a:blipFill>
                  <a:blip r:embed="rId20"/>
                  <a:stretch>
                    <a:fillRect l="-1389" r="-8333"/>
                  </a:stretch>
                </a:blipFill>
              </p:spPr>
              <p:txBody>
                <a:bodyPr/>
                <a:lstStyle/>
                <a:p>
                  <a:r>
                    <a:rPr lang="en-US">
                      <a:noFill/>
                    </a:rPr>
                    <a:t> </a:t>
                  </a:r>
                </a:p>
              </p:txBody>
            </p:sp>
          </mc:Fallback>
        </mc:AlternateContent>
        <p:cxnSp>
          <p:nvCxnSpPr>
            <p:cNvPr id="47" name="Straight Arrow Connector 19">
              <a:extLst>
                <a:ext uri="{FF2B5EF4-FFF2-40B4-BE49-F238E27FC236}">
                  <a16:creationId xmlns="" xmlns:a16="http://schemas.microsoft.com/office/drawing/2014/main" id="{08F3B26B-77C0-F7A6-9D1B-EFA91EC5706D}"/>
                </a:ext>
              </a:extLst>
            </p:cNvPr>
            <p:cNvCxnSpPr>
              <a:cxnSpLocks/>
              <a:stCxn id="44" idx="0"/>
              <a:endCxn id="27" idx="4"/>
            </p:cNvCxnSpPr>
            <p:nvPr/>
          </p:nvCxnSpPr>
          <p:spPr>
            <a:xfrm flipV="1">
              <a:off x="8140583" y="761852"/>
              <a:ext cx="1012" cy="17367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115395537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6" name="Group 65">
            <a:extLst>
              <a:ext uri="{FF2B5EF4-FFF2-40B4-BE49-F238E27FC236}">
                <a16:creationId xmlns="" xmlns:a16="http://schemas.microsoft.com/office/drawing/2014/main" id="{22ECFCAF-AE04-0921-2229-1CAFB376C6C4}"/>
              </a:ext>
            </a:extLst>
          </p:cNvPr>
          <p:cNvGrpSpPr/>
          <p:nvPr/>
        </p:nvGrpSpPr>
        <p:grpSpPr>
          <a:xfrm>
            <a:off x="776817" y="1394981"/>
            <a:ext cx="7495804" cy="4521741"/>
            <a:chOff x="776817" y="1394981"/>
            <a:chExt cx="7495804" cy="4521741"/>
          </a:xfrm>
        </p:grpSpPr>
        <mc:AlternateContent xmlns:mc="http://schemas.openxmlformats.org/markup-compatibility/2006" xmlns:a14="http://schemas.microsoft.com/office/drawing/2010/main">
          <mc:Choice Requires="a14">
            <p:sp>
              <p:nvSpPr>
                <p:cNvPr id="5" name="Rectangle 4">
                  <a:extLst>
                    <a:ext uri="{FF2B5EF4-FFF2-40B4-BE49-F238E27FC236}">
                      <a16:creationId xmlns="" xmlns:a16="http://schemas.microsoft.com/office/drawing/2014/main" id="{D50E87A4-4DE1-5096-E2D7-2696ABAE4BD9}"/>
                    </a:ext>
                  </a:extLst>
                </p:cNvPr>
                <p:cNvSpPr/>
                <p:nvPr/>
              </p:nvSpPr>
              <p:spPr>
                <a:xfrm>
                  <a:off x="783349" y="2053224"/>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𝑾</m:t>
                            </m:r>
                          </m:e>
                          <m:sub>
                            <m:r>
                              <a:rPr lang="pt-BR" b="0" i="1" smtClean="0">
                                <a:latin typeface="Cambria Math" panose="02040503050406030204" pitchFamily="18" charset="0"/>
                              </a:rPr>
                              <m:t>𝑜</m:t>
                            </m:r>
                          </m:sub>
                        </m:sSub>
                      </m:oMath>
                    </m:oMathPara>
                  </a14:m>
                  <a:endParaRPr lang="en-US" dirty="0"/>
                </a:p>
              </p:txBody>
            </p:sp>
          </mc:Choice>
          <mc:Fallback xmlns="">
            <p:sp>
              <p:nvSpPr>
                <p:cNvPr id="5" name="Rectangle 4">
                  <a:extLst>
                    <a:ext uri="{FF2B5EF4-FFF2-40B4-BE49-F238E27FC236}">
                      <a16:creationId xmlns:a16="http://schemas.microsoft.com/office/drawing/2014/main" id="{D50E87A4-4DE1-5096-E2D7-2696ABAE4BD9}"/>
                    </a:ext>
                  </a:extLst>
                </p:cNvPr>
                <p:cNvSpPr>
                  <a:spLocks noRot="1" noChangeAspect="1" noMove="1" noResize="1" noEditPoints="1" noAdjustHandles="1" noChangeArrowheads="1" noChangeShapeType="1" noTextEdit="1"/>
                </p:cNvSpPr>
                <p:nvPr/>
              </p:nvSpPr>
              <p:spPr>
                <a:xfrm>
                  <a:off x="783349" y="2053224"/>
                  <a:ext cx="468000" cy="468000"/>
                </a:xfrm>
                <a:prstGeom prst="rect">
                  <a:avLst/>
                </a:prstGeom>
                <a:blipFill>
                  <a:blip r:embed="rId2"/>
                  <a:stretch>
                    <a:fillRect l="-103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Rectangle 5">
                  <a:extLst>
                    <a:ext uri="{FF2B5EF4-FFF2-40B4-BE49-F238E27FC236}">
                      <a16:creationId xmlns="" xmlns:a16="http://schemas.microsoft.com/office/drawing/2014/main" id="{5A8CCC43-1D42-7F2F-E428-E85BBDA67D37}"/>
                    </a:ext>
                  </a:extLst>
                </p:cNvPr>
                <p:cNvSpPr/>
                <p:nvPr/>
              </p:nvSpPr>
              <p:spPr>
                <a:xfrm>
                  <a:off x="776817" y="4820779"/>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𝑖</m:t>
                            </m:r>
                          </m:sub>
                        </m:sSub>
                      </m:oMath>
                    </m:oMathPara>
                  </a14:m>
                  <a:endParaRPr lang="en-US" dirty="0"/>
                </a:p>
              </p:txBody>
            </p:sp>
          </mc:Choice>
          <mc:Fallback xmlns="">
            <p:sp>
              <p:nvSpPr>
                <p:cNvPr id="6" name="Rectangle 5">
                  <a:extLst>
                    <a:ext uri="{FF2B5EF4-FFF2-40B4-BE49-F238E27FC236}">
                      <a16:creationId xmlns:a16="http://schemas.microsoft.com/office/drawing/2014/main" id="{5A8CCC43-1D42-7F2F-E428-E85BBDA67D37}"/>
                    </a:ext>
                  </a:extLst>
                </p:cNvPr>
                <p:cNvSpPr>
                  <a:spLocks noRot="1" noChangeAspect="1" noMove="1" noResize="1" noEditPoints="1" noAdjustHandles="1" noChangeArrowheads="1" noChangeShapeType="1" noTextEdit="1"/>
                </p:cNvSpPr>
                <p:nvPr/>
              </p:nvSpPr>
              <p:spPr>
                <a:xfrm>
                  <a:off x="776817" y="4820779"/>
                  <a:ext cx="468000" cy="468000"/>
                </a:xfrm>
                <a:prstGeom prst="rect">
                  <a:avLst/>
                </a:prstGeom>
                <a:blipFill>
                  <a:blip r:embed="rId3"/>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Rectangle 6">
                  <a:extLst>
                    <a:ext uri="{FF2B5EF4-FFF2-40B4-BE49-F238E27FC236}">
                      <a16:creationId xmlns="" xmlns:a16="http://schemas.microsoft.com/office/drawing/2014/main" id="{60C4F936-CDC1-6A01-F955-FDED61DA084A}"/>
                    </a:ext>
                  </a:extLst>
                </p:cNvPr>
                <p:cNvSpPr/>
                <p:nvPr/>
              </p:nvSpPr>
              <p:spPr>
                <a:xfrm>
                  <a:off x="1791911" y="3540296"/>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h</m:t>
                            </m:r>
                          </m:sub>
                        </m:sSub>
                      </m:oMath>
                    </m:oMathPara>
                  </a14:m>
                  <a:endParaRPr lang="en-US" dirty="0"/>
                </a:p>
              </p:txBody>
            </p:sp>
          </mc:Choice>
          <mc:Fallback xmlns="">
            <p:sp>
              <p:nvSpPr>
                <p:cNvPr id="7" name="Rectangle 6">
                  <a:extLst>
                    <a:ext uri="{FF2B5EF4-FFF2-40B4-BE49-F238E27FC236}">
                      <a16:creationId xmlns:a16="http://schemas.microsoft.com/office/drawing/2014/main" id="{60C4F936-CDC1-6A01-F955-FDED61DA084A}"/>
                    </a:ext>
                  </a:extLst>
                </p:cNvPr>
                <p:cNvSpPr>
                  <a:spLocks noRot="1" noChangeAspect="1" noMove="1" noResize="1" noEditPoints="1" noAdjustHandles="1" noChangeArrowheads="1" noChangeShapeType="1" noTextEdit="1"/>
                </p:cNvSpPr>
                <p:nvPr/>
              </p:nvSpPr>
              <p:spPr>
                <a:xfrm>
                  <a:off x="1791911" y="3540296"/>
                  <a:ext cx="468000" cy="468000"/>
                </a:xfrm>
                <a:prstGeom prst="rect">
                  <a:avLst/>
                </a:prstGeom>
                <a:blipFill>
                  <a:blip r:embed="rId4"/>
                  <a:stretch>
                    <a:fillRect l="-102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Oval 7">
                  <a:extLst>
                    <a:ext uri="{FF2B5EF4-FFF2-40B4-BE49-F238E27FC236}">
                      <a16:creationId xmlns="" xmlns:a16="http://schemas.microsoft.com/office/drawing/2014/main" id="{410E7DC3-8E48-A5D7-D205-DC7611FFE8EE}"/>
                    </a:ext>
                  </a:extLst>
                </p:cNvPr>
                <p:cNvSpPr/>
                <p:nvPr/>
              </p:nvSpPr>
              <p:spPr>
                <a:xfrm>
                  <a:off x="798589" y="1409359"/>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acc>
                          <m:accPr>
                            <m:chr m:val="̂"/>
                            <m:ctrlPr>
                              <a:rPr lang="pt-BR" sz="1600" b="1" i="1" smtClean="0">
                                <a:latin typeface="Cambria Math" panose="02040503050406030204" pitchFamily="18" charset="0"/>
                              </a:rPr>
                            </m:ctrlPr>
                          </m:accPr>
                          <m:e>
                            <m:r>
                              <a:rPr lang="pt-BR" sz="1600" b="1" i="1" smtClean="0">
                                <a:latin typeface="Cambria Math" panose="02040503050406030204" pitchFamily="18" charset="0"/>
                              </a:rPr>
                              <m:t>𝒚</m:t>
                            </m:r>
                          </m:e>
                        </m:acc>
                        <m:r>
                          <a:rPr lang="pt-BR" sz="1600" i="1">
                            <a:latin typeface="Cambria Math" panose="02040503050406030204" pitchFamily="18" charset="0"/>
                          </a:rPr>
                          <m:t>[</m:t>
                        </m:r>
                        <m:r>
                          <a:rPr lang="pt-BR" sz="1600" i="1">
                            <a:latin typeface="Cambria Math" panose="02040503050406030204" pitchFamily="18" charset="0"/>
                          </a:rPr>
                          <m:t>𝑡</m:t>
                        </m:r>
                        <m:r>
                          <a:rPr lang="pt-BR" sz="1600" i="1">
                            <a:latin typeface="Cambria Math" panose="02040503050406030204" pitchFamily="18" charset="0"/>
                          </a:rPr>
                          <m:t>]</m:t>
                        </m:r>
                      </m:oMath>
                    </m:oMathPara>
                  </a14:m>
                  <a:endParaRPr lang="en-US" sz="1600" b="1" dirty="0"/>
                </a:p>
              </p:txBody>
            </p:sp>
          </mc:Choice>
          <mc:Fallback xmlns="">
            <p:sp>
              <p:nvSpPr>
                <p:cNvPr id="8" name="Oval 7">
                  <a:extLst>
                    <a:ext uri="{FF2B5EF4-FFF2-40B4-BE49-F238E27FC236}">
                      <a16:creationId xmlns:a16="http://schemas.microsoft.com/office/drawing/2014/main" id="{410E7DC3-8E48-A5D7-D205-DC7611FFE8EE}"/>
                    </a:ext>
                  </a:extLst>
                </p:cNvPr>
                <p:cNvSpPr>
                  <a:spLocks noRot="1" noChangeAspect="1" noMove="1" noResize="1" noEditPoints="1" noAdjustHandles="1" noChangeArrowheads="1" noChangeShapeType="1" noTextEdit="1"/>
                </p:cNvSpPr>
                <p:nvPr/>
              </p:nvSpPr>
              <p:spPr>
                <a:xfrm>
                  <a:off x="798589" y="1409359"/>
                  <a:ext cx="432000" cy="432000"/>
                </a:xfrm>
                <a:prstGeom prst="ellipse">
                  <a:avLst/>
                </a:prstGeom>
                <a:blipFill>
                  <a:blip r:embed="rId5"/>
                  <a:stretch>
                    <a:fillRect l="-12500" r="-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Oval 8">
                  <a:extLst>
                    <a:ext uri="{FF2B5EF4-FFF2-40B4-BE49-F238E27FC236}">
                      <a16:creationId xmlns="" xmlns:a16="http://schemas.microsoft.com/office/drawing/2014/main" id="{967F25C8-3A9B-7637-C6F3-B9857C012763}"/>
                    </a:ext>
                  </a:extLst>
                </p:cNvPr>
                <p:cNvSpPr/>
                <p:nvPr/>
              </p:nvSpPr>
              <p:spPr>
                <a:xfrm>
                  <a:off x="798589" y="355829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600" b="1" i="1" smtClean="0">
                            <a:latin typeface="Cambria Math" panose="02040503050406030204" pitchFamily="18" charset="0"/>
                          </a:rPr>
                          <m:t>𝒉</m:t>
                        </m:r>
                        <m:r>
                          <a:rPr lang="pt-BR" sz="1600" i="1">
                            <a:latin typeface="Cambria Math" panose="02040503050406030204" pitchFamily="18" charset="0"/>
                          </a:rPr>
                          <m:t>[</m:t>
                        </m:r>
                        <m:r>
                          <a:rPr lang="pt-BR" sz="1600" i="1">
                            <a:latin typeface="Cambria Math" panose="02040503050406030204" pitchFamily="18" charset="0"/>
                          </a:rPr>
                          <m:t>𝑡</m:t>
                        </m:r>
                        <m:r>
                          <a:rPr lang="pt-BR" sz="1600" i="1">
                            <a:latin typeface="Cambria Math" panose="02040503050406030204" pitchFamily="18" charset="0"/>
                          </a:rPr>
                          <m:t>]</m:t>
                        </m:r>
                      </m:oMath>
                    </m:oMathPara>
                  </a14:m>
                  <a:endParaRPr lang="en-US" sz="1600" b="1" dirty="0"/>
                </a:p>
              </p:txBody>
            </p:sp>
          </mc:Choice>
          <mc:Fallback xmlns="">
            <p:sp>
              <p:nvSpPr>
                <p:cNvPr id="9" name="Oval 8">
                  <a:extLst>
                    <a:ext uri="{FF2B5EF4-FFF2-40B4-BE49-F238E27FC236}">
                      <a16:creationId xmlns:a16="http://schemas.microsoft.com/office/drawing/2014/main" id="{967F25C8-3A9B-7637-C6F3-B9857C012763}"/>
                    </a:ext>
                  </a:extLst>
                </p:cNvPr>
                <p:cNvSpPr>
                  <a:spLocks noRot="1" noChangeAspect="1" noMove="1" noResize="1" noEditPoints="1" noAdjustHandles="1" noChangeArrowheads="1" noChangeShapeType="1" noTextEdit="1"/>
                </p:cNvSpPr>
                <p:nvPr/>
              </p:nvSpPr>
              <p:spPr>
                <a:xfrm>
                  <a:off x="798589" y="3558296"/>
                  <a:ext cx="432000" cy="432000"/>
                </a:xfrm>
                <a:prstGeom prst="ellipse">
                  <a:avLst/>
                </a:prstGeom>
                <a:blipFill>
                  <a:blip r:embed="rId6"/>
                  <a:stretch>
                    <a:fillRect l="-13889" r="-69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Oval 9">
                  <a:extLst>
                    <a:ext uri="{FF2B5EF4-FFF2-40B4-BE49-F238E27FC236}">
                      <a16:creationId xmlns="" xmlns:a16="http://schemas.microsoft.com/office/drawing/2014/main" id="{CC6B1917-7E5F-F008-0FC7-4FE6D71A2353}"/>
                    </a:ext>
                  </a:extLst>
                </p:cNvPr>
                <p:cNvSpPr/>
                <p:nvPr/>
              </p:nvSpPr>
              <p:spPr>
                <a:xfrm>
                  <a:off x="798589" y="5484722"/>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600" b="1" i="1" smtClean="0">
                            <a:latin typeface="Cambria Math" panose="02040503050406030204" pitchFamily="18" charset="0"/>
                          </a:rPr>
                          <m:t>𝒙</m:t>
                        </m:r>
                        <m:r>
                          <a:rPr lang="pt-BR" sz="1600" b="0" i="1" smtClean="0">
                            <a:latin typeface="Cambria Math" panose="02040503050406030204" pitchFamily="18" charset="0"/>
                          </a:rPr>
                          <m:t>[</m:t>
                        </m:r>
                        <m:r>
                          <a:rPr lang="pt-BR" sz="1600" b="0" i="1" smtClean="0">
                            <a:latin typeface="Cambria Math" panose="02040503050406030204" pitchFamily="18" charset="0"/>
                          </a:rPr>
                          <m:t>𝑡</m:t>
                        </m:r>
                        <m:r>
                          <a:rPr lang="pt-BR" sz="1600" b="0" i="1" smtClean="0">
                            <a:latin typeface="Cambria Math" panose="02040503050406030204" pitchFamily="18" charset="0"/>
                          </a:rPr>
                          <m:t>]</m:t>
                        </m:r>
                      </m:oMath>
                    </m:oMathPara>
                  </a14:m>
                  <a:endParaRPr lang="en-US" sz="1600" dirty="0"/>
                </a:p>
              </p:txBody>
            </p:sp>
          </mc:Choice>
          <mc:Fallback xmlns="">
            <p:sp>
              <p:nvSpPr>
                <p:cNvPr id="10" name="Oval 9">
                  <a:extLst>
                    <a:ext uri="{FF2B5EF4-FFF2-40B4-BE49-F238E27FC236}">
                      <a16:creationId xmlns:a16="http://schemas.microsoft.com/office/drawing/2014/main" id="{CC6B1917-7E5F-F008-0FC7-4FE6D71A2353}"/>
                    </a:ext>
                  </a:extLst>
                </p:cNvPr>
                <p:cNvSpPr>
                  <a:spLocks noRot="1" noChangeAspect="1" noMove="1" noResize="1" noEditPoints="1" noAdjustHandles="1" noChangeArrowheads="1" noChangeShapeType="1" noTextEdit="1"/>
                </p:cNvSpPr>
                <p:nvPr/>
              </p:nvSpPr>
              <p:spPr>
                <a:xfrm>
                  <a:off x="798589" y="5484722"/>
                  <a:ext cx="432000" cy="432000"/>
                </a:xfrm>
                <a:prstGeom prst="ellipse">
                  <a:avLst/>
                </a:prstGeom>
                <a:blipFill>
                  <a:blip r:embed="rId7"/>
                  <a:stretch>
                    <a:fillRect l="-6944" r="-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Diamond 10">
                  <a:extLst>
                    <a:ext uri="{FF2B5EF4-FFF2-40B4-BE49-F238E27FC236}">
                      <a16:creationId xmlns="" xmlns:a16="http://schemas.microsoft.com/office/drawing/2014/main" id="{60284885-263A-F227-A49B-F9CB80C834EB}"/>
                    </a:ext>
                  </a:extLst>
                </p:cNvPr>
                <p:cNvSpPr/>
                <p:nvPr/>
              </p:nvSpPr>
              <p:spPr>
                <a:xfrm>
                  <a:off x="1294093" y="2853675"/>
                  <a:ext cx="546518" cy="468000"/>
                </a:xfrm>
                <a:prstGeom prst="diamond">
                  <a:avLst/>
                </a:prstGeom>
              </p:spPr>
              <p:style>
                <a:lnRef idx="2">
                  <a:schemeClr val="dk1"/>
                </a:lnRef>
                <a:fillRef idx="1">
                  <a:schemeClr val="lt1"/>
                </a:fillRef>
                <a:effectRef idx="0">
                  <a:schemeClr val="dk1"/>
                </a:effectRef>
                <a:fontRef idx="minor">
                  <a:schemeClr val="dk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a:rPr lang="pt-BR" b="0" i="1" smtClean="0">
                                <a:latin typeface="Cambria Math" panose="02040503050406030204" pitchFamily="18" charset="0"/>
                              </a:rPr>
                              <m:t>𝑧</m:t>
                            </m:r>
                          </m:e>
                          <m:sup>
                            <m:r>
                              <a:rPr lang="pt-BR" b="0" i="1" smtClean="0">
                                <a:latin typeface="Cambria Math" panose="02040503050406030204" pitchFamily="18" charset="0"/>
                              </a:rPr>
                              <m:t>−1</m:t>
                            </m:r>
                          </m:sup>
                        </m:sSup>
                      </m:oMath>
                    </m:oMathPara>
                  </a14:m>
                  <a:endParaRPr lang="en-US" dirty="0"/>
                </a:p>
              </p:txBody>
            </p:sp>
          </mc:Choice>
          <mc:Fallback xmlns="">
            <p:sp>
              <p:nvSpPr>
                <p:cNvPr id="11" name="Diamond 10">
                  <a:extLst>
                    <a:ext uri="{FF2B5EF4-FFF2-40B4-BE49-F238E27FC236}">
                      <a16:creationId xmlns:a16="http://schemas.microsoft.com/office/drawing/2014/main" id="{60284885-263A-F227-A49B-F9CB80C834EB}"/>
                    </a:ext>
                  </a:extLst>
                </p:cNvPr>
                <p:cNvSpPr>
                  <a:spLocks noRot="1" noChangeAspect="1" noMove="1" noResize="1" noEditPoints="1" noAdjustHandles="1" noChangeArrowheads="1" noChangeShapeType="1" noTextEdit="1"/>
                </p:cNvSpPr>
                <p:nvPr/>
              </p:nvSpPr>
              <p:spPr>
                <a:xfrm>
                  <a:off x="1294093" y="2853675"/>
                  <a:ext cx="546518" cy="468000"/>
                </a:xfrm>
                <a:prstGeom prst="diamond">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Oval 11">
                  <a:extLst>
                    <a:ext uri="{FF2B5EF4-FFF2-40B4-BE49-F238E27FC236}">
                      <a16:creationId xmlns="" xmlns:a16="http://schemas.microsoft.com/office/drawing/2014/main" id="{079DA998-9F52-469B-DD25-D55FBEE92922}"/>
                    </a:ext>
                  </a:extLst>
                </p:cNvPr>
                <p:cNvSpPr/>
                <p:nvPr/>
              </p:nvSpPr>
              <p:spPr>
                <a:xfrm>
                  <a:off x="791045" y="419283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b="0" i="1" smtClean="0">
                            <a:latin typeface="Cambria Math" panose="02040503050406030204" pitchFamily="18" charset="0"/>
                          </a:rPr>
                          <m:t>𝑓</m:t>
                        </m:r>
                        <m:r>
                          <a:rPr lang="pt-BR" sz="1400" b="0" i="1" smtClean="0">
                            <a:latin typeface="Cambria Math" panose="02040503050406030204" pitchFamily="18" charset="0"/>
                          </a:rPr>
                          <m:t>(.)</m:t>
                        </m:r>
                      </m:oMath>
                    </m:oMathPara>
                  </a14:m>
                  <a:endParaRPr lang="en-US" sz="1400" dirty="0"/>
                </a:p>
              </p:txBody>
            </p:sp>
          </mc:Choice>
          <mc:Fallback xmlns="">
            <p:sp>
              <p:nvSpPr>
                <p:cNvPr id="12" name="Oval 11">
                  <a:extLst>
                    <a:ext uri="{FF2B5EF4-FFF2-40B4-BE49-F238E27FC236}">
                      <a16:creationId xmlns:a16="http://schemas.microsoft.com/office/drawing/2014/main" id="{079DA998-9F52-469B-DD25-D55FBEE92922}"/>
                    </a:ext>
                  </a:extLst>
                </p:cNvPr>
                <p:cNvSpPr>
                  <a:spLocks noRot="1" noChangeAspect="1" noMove="1" noResize="1" noEditPoints="1" noAdjustHandles="1" noChangeArrowheads="1" noChangeShapeType="1" noTextEdit="1"/>
                </p:cNvSpPr>
                <p:nvPr/>
              </p:nvSpPr>
              <p:spPr>
                <a:xfrm>
                  <a:off x="791045" y="4192836"/>
                  <a:ext cx="432000" cy="432000"/>
                </a:xfrm>
                <a:prstGeom prst="ellipse">
                  <a:avLst/>
                </a:prstGeom>
                <a:blipFill>
                  <a:blip r:embed="rId9"/>
                  <a:stretch>
                    <a:fillRect l="-5556" r="-2778"/>
                  </a:stretch>
                </a:blipFill>
              </p:spPr>
              <p:txBody>
                <a:bodyPr/>
                <a:lstStyle/>
                <a:p>
                  <a:r>
                    <a:rPr lang="en-US">
                      <a:noFill/>
                    </a:rPr>
                    <a:t> </a:t>
                  </a:r>
                </a:p>
              </p:txBody>
            </p:sp>
          </mc:Fallback>
        </mc:AlternateContent>
        <p:cxnSp>
          <p:nvCxnSpPr>
            <p:cNvPr id="13" name="Straight Arrow Connector 12">
              <a:extLst>
                <a:ext uri="{FF2B5EF4-FFF2-40B4-BE49-F238E27FC236}">
                  <a16:creationId xmlns="" xmlns:a16="http://schemas.microsoft.com/office/drawing/2014/main" id="{6E1ADF88-3F46-3F6C-D44A-25CFCFF58380}"/>
                </a:ext>
              </a:extLst>
            </p:cNvPr>
            <p:cNvCxnSpPr>
              <a:stCxn id="10" idx="0"/>
              <a:endCxn id="6" idx="2"/>
            </p:cNvCxnSpPr>
            <p:nvPr/>
          </p:nvCxnSpPr>
          <p:spPr>
            <a:xfrm flipH="1" flipV="1">
              <a:off x="1010817" y="5288779"/>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Straight Arrow Connector 13">
              <a:extLst>
                <a:ext uri="{FF2B5EF4-FFF2-40B4-BE49-F238E27FC236}">
                  <a16:creationId xmlns="" xmlns:a16="http://schemas.microsoft.com/office/drawing/2014/main" id="{4213198D-DC17-2470-5AB4-FBACBBC41374}"/>
                </a:ext>
              </a:extLst>
            </p:cNvPr>
            <p:cNvCxnSpPr/>
            <p:nvPr/>
          </p:nvCxnSpPr>
          <p:spPr>
            <a:xfrm flipH="1" flipV="1">
              <a:off x="1014589" y="4624836"/>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5" name="Straight Arrow Connector 14">
              <a:extLst>
                <a:ext uri="{FF2B5EF4-FFF2-40B4-BE49-F238E27FC236}">
                  <a16:creationId xmlns="" xmlns:a16="http://schemas.microsoft.com/office/drawing/2014/main" id="{E2EEB733-16FD-5318-5CC4-8001B20FED06}"/>
                </a:ext>
              </a:extLst>
            </p:cNvPr>
            <p:cNvCxnSpPr/>
            <p:nvPr/>
          </p:nvCxnSpPr>
          <p:spPr>
            <a:xfrm flipH="1" flipV="1">
              <a:off x="1010817" y="399689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6" name="Straight Arrow Connector 15">
              <a:extLst>
                <a:ext uri="{FF2B5EF4-FFF2-40B4-BE49-F238E27FC236}">
                  <a16:creationId xmlns="" xmlns:a16="http://schemas.microsoft.com/office/drawing/2014/main" id="{134D4DC2-A277-FD4E-40F5-DE2014B8CF64}"/>
                </a:ext>
              </a:extLst>
            </p:cNvPr>
            <p:cNvCxnSpPr>
              <a:stCxn id="9" idx="0"/>
              <a:endCxn id="5" idx="2"/>
            </p:cNvCxnSpPr>
            <p:nvPr/>
          </p:nvCxnSpPr>
          <p:spPr>
            <a:xfrm flipV="1">
              <a:off x="1014589" y="2521224"/>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7" name="Connector: Elbow 16">
              <a:extLst>
                <a:ext uri="{FF2B5EF4-FFF2-40B4-BE49-F238E27FC236}">
                  <a16:creationId xmlns="" xmlns:a16="http://schemas.microsoft.com/office/drawing/2014/main" id="{80866249-EC15-EB3A-E296-1474E5364721}"/>
                </a:ext>
              </a:extLst>
            </p:cNvPr>
            <p:cNvCxnSpPr>
              <a:stCxn id="11" idx="3"/>
              <a:endCxn id="7" idx="0"/>
            </p:cNvCxnSpPr>
            <p:nvPr/>
          </p:nvCxnSpPr>
          <p:spPr>
            <a:xfrm>
              <a:off x="1840611" y="3087675"/>
              <a:ext cx="185300" cy="452621"/>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 xmlns:a16="http://schemas.microsoft.com/office/drawing/2014/main" id="{2DC952F7-2D10-9433-7DE4-21443557DCB2}"/>
                </a:ext>
              </a:extLst>
            </p:cNvPr>
            <p:cNvCxnSpPr>
              <a:stCxn id="11" idx="1"/>
            </p:cNvCxnSpPr>
            <p:nvPr/>
          </p:nvCxnSpPr>
          <p:spPr>
            <a:xfrm flipH="1">
              <a:off x="1027289" y="3087675"/>
              <a:ext cx="266804" cy="0"/>
            </a:xfrm>
            <a:prstGeom prst="line">
              <a:avLst/>
            </a:prstGeom>
            <a:ln>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9" name="Connector: Elbow 18">
              <a:extLst>
                <a:ext uri="{FF2B5EF4-FFF2-40B4-BE49-F238E27FC236}">
                  <a16:creationId xmlns="" xmlns:a16="http://schemas.microsoft.com/office/drawing/2014/main" id="{CA1FB7FE-64DA-AD96-0437-50FF891D4C76}"/>
                </a:ext>
              </a:extLst>
            </p:cNvPr>
            <p:cNvCxnSpPr>
              <a:cxnSpLocks/>
              <a:stCxn id="7" idx="2"/>
              <a:endCxn id="12" idx="6"/>
            </p:cNvCxnSpPr>
            <p:nvPr/>
          </p:nvCxnSpPr>
          <p:spPr>
            <a:xfrm rot="5400000">
              <a:off x="1424208" y="3807133"/>
              <a:ext cx="400540" cy="802866"/>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20" name="Straight Arrow Connector 19">
              <a:extLst>
                <a:ext uri="{FF2B5EF4-FFF2-40B4-BE49-F238E27FC236}">
                  <a16:creationId xmlns="" xmlns:a16="http://schemas.microsoft.com/office/drawing/2014/main" id="{0D7B5B44-7EE7-8F6D-8655-20CC522D805D}"/>
                </a:ext>
              </a:extLst>
            </p:cNvPr>
            <p:cNvCxnSpPr/>
            <p:nvPr/>
          </p:nvCxnSpPr>
          <p:spPr>
            <a:xfrm flipH="1" flipV="1">
              <a:off x="1017432" y="1850684"/>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2" name="Rectangle 21">
                  <a:extLst>
                    <a:ext uri="{FF2B5EF4-FFF2-40B4-BE49-F238E27FC236}">
                      <a16:creationId xmlns="" xmlns:a16="http://schemas.microsoft.com/office/drawing/2014/main" id="{3F732168-587A-F518-C9A0-C396F786016E}"/>
                    </a:ext>
                  </a:extLst>
                </p:cNvPr>
                <p:cNvSpPr/>
                <p:nvPr/>
              </p:nvSpPr>
              <p:spPr>
                <a:xfrm>
                  <a:off x="3830878" y="2053224"/>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22" name="Rectangle 21">
                  <a:extLst>
                    <a:ext uri="{FF2B5EF4-FFF2-40B4-BE49-F238E27FC236}">
                      <a16:creationId xmlns:a16="http://schemas.microsoft.com/office/drawing/2014/main" id="{3F732168-587A-F518-C9A0-C396F786016E}"/>
                    </a:ext>
                  </a:extLst>
                </p:cNvPr>
                <p:cNvSpPr>
                  <a:spLocks noRot="1" noChangeAspect="1" noMove="1" noResize="1" noEditPoints="1" noAdjustHandles="1" noChangeArrowheads="1" noChangeShapeType="1" noTextEdit="1"/>
                </p:cNvSpPr>
                <p:nvPr/>
              </p:nvSpPr>
              <p:spPr>
                <a:xfrm>
                  <a:off x="3830878" y="2053224"/>
                  <a:ext cx="468000" cy="468000"/>
                </a:xfrm>
                <a:prstGeom prst="rect">
                  <a:avLst/>
                </a:prstGeom>
                <a:blipFill>
                  <a:blip r:embed="rId10"/>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Rectangle 22">
                  <a:extLst>
                    <a:ext uri="{FF2B5EF4-FFF2-40B4-BE49-F238E27FC236}">
                      <a16:creationId xmlns="" xmlns:a16="http://schemas.microsoft.com/office/drawing/2014/main" id="{DF8C03E3-8716-2E6D-369B-AC1813574A57}"/>
                    </a:ext>
                  </a:extLst>
                </p:cNvPr>
                <p:cNvSpPr/>
                <p:nvPr/>
              </p:nvSpPr>
              <p:spPr>
                <a:xfrm>
                  <a:off x="3824346" y="4820779"/>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𝑖</m:t>
                            </m:r>
                          </m:sub>
                        </m:sSub>
                      </m:oMath>
                    </m:oMathPara>
                  </a14:m>
                  <a:endParaRPr lang="en-US" dirty="0"/>
                </a:p>
              </p:txBody>
            </p:sp>
          </mc:Choice>
          <mc:Fallback xmlns="">
            <p:sp>
              <p:nvSpPr>
                <p:cNvPr id="23" name="Rectangle 22">
                  <a:extLst>
                    <a:ext uri="{FF2B5EF4-FFF2-40B4-BE49-F238E27FC236}">
                      <a16:creationId xmlns:a16="http://schemas.microsoft.com/office/drawing/2014/main" id="{DF8C03E3-8716-2E6D-369B-AC1813574A57}"/>
                    </a:ext>
                  </a:extLst>
                </p:cNvPr>
                <p:cNvSpPr>
                  <a:spLocks noRot="1" noChangeAspect="1" noMove="1" noResize="1" noEditPoints="1" noAdjustHandles="1" noChangeArrowheads="1" noChangeShapeType="1" noTextEdit="1"/>
                </p:cNvSpPr>
                <p:nvPr/>
              </p:nvSpPr>
              <p:spPr>
                <a:xfrm>
                  <a:off x="3824346" y="4820779"/>
                  <a:ext cx="468000" cy="468000"/>
                </a:xfrm>
                <a:prstGeom prst="rect">
                  <a:avLst/>
                </a:prstGeom>
                <a:blipFill>
                  <a:blip r:embed="rId11"/>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Rectangle 23">
                  <a:extLst>
                    <a:ext uri="{FF2B5EF4-FFF2-40B4-BE49-F238E27FC236}">
                      <a16:creationId xmlns="" xmlns:a16="http://schemas.microsoft.com/office/drawing/2014/main" id="{E2D972F1-922C-BE5B-4DE2-1F83A9F1643F}"/>
                    </a:ext>
                  </a:extLst>
                </p:cNvPr>
                <p:cNvSpPr/>
                <p:nvPr/>
              </p:nvSpPr>
              <p:spPr>
                <a:xfrm>
                  <a:off x="4550964" y="3540296"/>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h</m:t>
                            </m:r>
                          </m:sub>
                        </m:sSub>
                      </m:oMath>
                    </m:oMathPara>
                  </a14:m>
                  <a:endParaRPr lang="en-US" dirty="0"/>
                </a:p>
              </p:txBody>
            </p:sp>
          </mc:Choice>
          <mc:Fallback xmlns="">
            <p:sp>
              <p:nvSpPr>
                <p:cNvPr id="24" name="Rectangle 23">
                  <a:extLst>
                    <a:ext uri="{FF2B5EF4-FFF2-40B4-BE49-F238E27FC236}">
                      <a16:creationId xmlns:a16="http://schemas.microsoft.com/office/drawing/2014/main" id="{E2D972F1-922C-BE5B-4DE2-1F83A9F1643F}"/>
                    </a:ext>
                  </a:extLst>
                </p:cNvPr>
                <p:cNvSpPr>
                  <a:spLocks noRot="1" noChangeAspect="1" noMove="1" noResize="1" noEditPoints="1" noAdjustHandles="1" noChangeArrowheads="1" noChangeShapeType="1" noTextEdit="1"/>
                </p:cNvSpPr>
                <p:nvPr/>
              </p:nvSpPr>
              <p:spPr>
                <a:xfrm>
                  <a:off x="4550964" y="3540296"/>
                  <a:ext cx="468000" cy="468000"/>
                </a:xfrm>
                <a:prstGeom prst="rect">
                  <a:avLst/>
                </a:prstGeom>
                <a:blipFill>
                  <a:blip r:embed="rId12"/>
                  <a:stretch>
                    <a:fillRect l="-10390"/>
                  </a:stretch>
                </a:blipFill>
              </p:spPr>
              <p:txBody>
                <a:bodyPr/>
                <a:lstStyle/>
                <a:p>
                  <a:r>
                    <a:rPr lang="en-US">
                      <a:noFill/>
                    </a:rPr>
                    <a:t> </a:t>
                  </a:r>
                </a:p>
              </p:txBody>
            </p:sp>
          </mc:Fallback>
        </mc:AlternateContent>
        <p:sp>
          <p:nvSpPr>
            <p:cNvPr id="25" name="Oval 24">
              <a:extLst>
                <a:ext uri="{FF2B5EF4-FFF2-40B4-BE49-F238E27FC236}">
                  <a16:creationId xmlns="" xmlns:a16="http://schemas.microsoft.com/office/drawing/2014/main" id="{AD295B7E-C267-873F-E0E0-6F754810CBE3}"/>
                </a:ext>
              </a:extLst>
            </p:cNvPr>
            <p:cNvSpPr/>
            <p:nvPr/>
          </p:nvSpPr>
          <p:spPr>
            <a:xfrm>
              <a:off x="3846118" y="1409359"/>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26" name="Oval 25">
              <a:extLst>
                <a:ext uri="{FF2B5EF4-FFF2-40B4-BE49-F238E27FC236}">
                  <a16:creationId xmlns="" xmlns:a16="http://schemas.microsoft.com/office/drawing/2014/main" id="{48BC489B-02C6-E486-E972-34A1CF1476C7}"/>
                </a:ext>
              </a:extLst>
            </p:cNvPr>
            <p:cNvSpPr/>
            <p:nvPr/>
          </p:nvSpPr>
          <p:spPr>
            <a:xfrm>
              <a:off x="3846118" y="355829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27" name="Oval 26">
              <a:extLst>
                <a:ext uri="{FF2B5EF4-FFF2-40B4-BE49-F238E27FC236}">
                  <a16:creationId xmlns="" xmlns:a16="http://schemas.microsoft.com/office/drawing/2014/main" id="{22F39AD1-94B7-7A64-F11A-A209AC4FBCED}"/>
                </a:ext>
              </a:extLst>
            </p:cNvPr>
            <p:cNvSpPr/>
            <p:nvPr/>
          </p:nvSpPr>
          <p:spPr>
            <a:xfrm>
              <a:off x="3846118" y="5484722"/>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1050" b="1" dirty="0"/>
            </a:p>
          </p:txBody>
        </p:sp>
        <mc:AlternateContent xmlns:mc="http://schemas.openxmlformats.org/markup-compatibility/2006" xmlns:a14="http://schemas.microsoft.com/office/drawing/2010/main">
          <mc:Choice Requires="a14">
            <p:sp>
              <p:nvSpPr>
                <p:cNvPr id="29" name="Oval 28">
                  <a:extLst>
                    <a:ext uri="{FF2B5EF4-FFF2-40B4-BE49-F238E27FC236}">
                      <a16:creationId xmlns="" xmlns:a16="http://schemas.microsoft.com/office/drawing/2014/main" id="{9ADE25A5-BE1D-ABA0-A628-A6BB52EC7BCB}"/>
                    </a:ext>
                  </a:extLst>
                </p:cNvPr>
                <p:cNvSpPr/>
                <p:nvPr/>
              </p:nvSpPr>
              <p:spPr>
                <a:xfrm>
                  <a:off x="3838574" y="419283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i="1">
                            <a:latin typeface="Cambria Math" panose="02040503050406030204" pitchFamily="18" charset="0"/>
                          </a:rPr>
                          <m:t>𝑓</m:t>
                        </m:r>
                        <m:r>
                          <a:rPr lang="pt-BR" sz="1400" i="1">
                            <a:latin typeface="Cambria Math" panose="02040503050406030204" pitchFamily="18" charset="0"/>
                          </a:rPr>
                          <m:t>(.)</m:t>
                        </m:r>
                      </m:oMath>
                    </m:oMathPara>
                  </a14:m>
                  <a:endParaRPr lang="en-US" sz="1400" dirty="0"/>
                </a:p>
              </p:txBody>
            </p:sp>
          </mc:Choice>
          <mc:Fallback xmlns="">
            <p:sp>
              <p:nvSpPr>
                <p:cNvPr id="29" name="Oval 28">
                  <a:extLst>
                    <a:ext uri="{FF2B5EF4-FFF2-40B4-BE49-F238E27FC236}">
                      <a16:creationId xmlns:a16="http://schemas.microsoft.com/office/drawing/2014/main" id="{9ADE25A5-BE1D-ABA0-A628-A6BB52EC7BCB}"/>
                    </a:ext>
                  </a:extLst>
                </p:cNvPr>
                <p:cNvSpPr>
                  <a:spLocks noRot="1" noChangeAspect="1" noMove="1" noResize="1" noEditPoints="1" noAdjustHandles="1" noChangeArrowheads="1" noChangeShapeType="1" noTextEdit="1"/>
                </p:cNvSpPr>
                <p:nvPr/>
              </p:nvSpPr>
              <p:spPr>
                <a:xfrm>
                  <a:off x="3838574" y="4192836"/>
                  <a:ext cx="432000" cy="432000"/>
                </a:xfrm>
                <a:prstGeom prst="ellipse">
                  <a:avLst/>
                </a:prstGeom>
                <a:blipFill>
                  <a:blip r:embed="rId13"/>
                  <a:stretch>
                    <a:fillRect l="-2778" r="-8333"/>
                  </a:stretch>
                </a:blipFill>
              </p:spPr>
              <p:txBody>
                <a:bodyPr/>
                <a:lstStyle/>
                <a:p>
                  <a:r>
                    <a:rPr lang="en-US">
                      <a:noFill/>
                    </a:rPr>
                    <a:t> </a:t>
                  </a:r>
                </a:p>
              </p:txBody>
            </p:sp>
          </mc:Fallback>
        </mc:AlternateContent>
        <p:cxnSp>
          <p:nvCxnSpPr>
            <p:cNvPr id="30" name="Straight Arrow Connector 29">
              <a:extLst>
                <a:ext uri="{FF2B5EF4-FFF2-40B4-BE49-F238E27FC236}">
                  <a16:creationId xmlns="" xmlns:a16="http://schemas.microsoft.com/office/drawing/2014/main" id="{A265BF78-156E-E80F-64A8-219A58A58CD7}"/>
                </a:ext>
              </a:extLst>
            </p:cNvPr>
            <p:cNvCxnSpPr>
              <a:cxnSpLocks/>
              <a:stCxn id="27" idx="0"/>
              <a:endCxn id="23" idx="2"/>
            </p:cNvCxnSpPr>
            <p:nvPr/>
          </p:nvCxnSpPr>
          <p:spPr>
            <a:xfrm flipH="1" flipV="1">
              <a:off x="4058346" y="5288779"/>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1" name="Straight Arrow Connector 30">
              <a:extLst>
                <a:ext uri="{FF2B5EF4-FFF2-40B4-BE49-F238E27FC236}">
                  <a16:creationId xmlns="" xmlns:a16="http://schemas.microsoft.com/office/drawing/2014/main" id="{DBAA1E31-4ACF-4A4A-4878-2FDC1544D4AC}"/>
                </a:ext>
              </a:extLst>
            </p:cNvPr>
            <p:cNvCxnSpPr/>
            <p:nvPr/>
          </p:nvCxnSpPr>
          <p:spPr>
            <a:xfrm flipH="1" flipV="1">
              <a:off x="4062118" y="4624836"/>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 xmlns:a16="http://schemas.microsoft.com/office/drawing/2014/main" id="{556BC459-E07F-8B38-40B7-C40DE6F65CCC}"/>
                </a:ext>
              </a:extLst>
            </p:cNvPr>
            <p:cNvCxnSpPr/>
            <p:nvPr/>
          </p:nvCxnSpPr>
          <p:spPr>
            <a:xfrm flipH="1" flipV="1">
              <a:off x="4058346" y="399689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3" name="Straight Arrow Connector 32">
              <a:extLst>
                <a:ext uri="{FF2B5EF4-FFF2-40B4-BE49-F238E27FC236}">
                  <a16:creationId xmlns="" xmlns:a16="http://schemas.microsoft.com/office/drawing/2014/main" id="{C1BDF5E7-1B84-C21C-89E8-5BBB07E38580}"/>
                </a:ext>
              </a:extLst>
            </p:cNvPr>
            <p:cNvCxnSpPr>
              <a:stCxn id="26" idx="0"/>
              <a:endCxn id="22" idx="2"/>
            </p:cNvCxnSpPr>
            <p:nvPr/>
          </p:nvCxnSpPr>
          <p:spPr>
            <a:xfrm flipV="1">
              <a:off x="4062118" y="2521224"/>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4" name="Connector: Elbow 33">
              <a:extLst>
                <a:ext uri="{FF2B5EF4-FFF2-40B4-BE49-F238E27FC236}">
                  <a16:creationId xmlns="" xmlns:a16="http://schemas.microsoft.com/office/drawing/2014/main" id="{8712AE4D-2FE9-5832-6870-304083EF637F}"/>
                </a:ext>
              </a:extLst>
            </p:cNvPr>
            <p:cNvCxnSpPr>
              <a:cxnSpLocks/>
              <a:endCxn id="24" idx="0"/>
            </p:cNvCxnSpPr>
            <p:nvPr/>
          </p:nvCxnSpPr>
          <p:spPr>
            <a:xfrm>
              <a:off x="4062118" y="3066699"/>
              <a:ext cx="722846" cy="473597"/>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37" name="Straight Arrow Connector 36">
              <a:extLst>
                <a:ext uri="{FF2B5EF4-FFF2-40B4-BE49-F238E27FC236}">
                  <a16:creationId xmlns="" xmlns:a16="http://schemas.microsoft.com/office/drawing/2014/main" id="{2B4E3A99-2587-3850-4484-D40AF1A376B3}"/>
                </a:ext>
              </a:extLst>
            </p:cNvPr>
            <p:cNvCxnSpPr/>
            <p:nvPr/>
          </p:nvCxnSpPr>
          <p:spPr>
            <a:xfrm flipH="1" flipV="1">
              <a:off x="4064961" y="1850684"/>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9" name="Connector: Elbow 38">
              <a:extLst>
                <a:ext uri="{FF2B5EF4-FFF2-40B4-BE49-F238E27FC236}">
                  <a16:creationId xmlns="" xmlns:a16="http://schemas.microsoft.com/office/drawing/2014/main" id="{5EE8A078-E420-65CE-F198-2ACDE8F319E7}"/>
                </a:ext>
              </a:extLst>
            </p:cNvPr>
            <p:cNvCxnSpPr>
              <a:cxnSpLocks/>
              <a:endCxn id="29" idx="2"/>
            </p:cNvCxnSpPr>
            <p:nvPr/>
          </p:nvCxnSpPr>
          <p:spPr>
            <a:xfrm rot="16200000" flipH="1">
              <a:off x="3512189" y="4082450"/>
              <a:ext cx="273167" cy="379603"/>
            </a:xfrm>
            <a:prstGeom prst="bentConnector2">
              <a:avLst/>
            </a:prstGeom>
            <a:ln>
              <a:prstDash val="dash"/>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4" name="Rectangle 43">
                  <a:extLst>
                    <a:ext uri="{FF2B5EF4-FFF2-40B4-BE49-F238E27FC236}">
                      <a16:creationId xmlns="" xmlns:a16="http://schemas.microsoft.com/office/drawing/2014/main" id="{B64B2562-9B66-F9DC-AC17-84E794F0C2A4}"/>
                    </a:ext>
                  </a:extLst>
                </p:cNvPr>
                <p:cNvSpPr/>
                <p:nvPr/>
              </p:nvSpPr>
              <p:spPr>
                <a:xfrm>
                  <a:off x="5273850" y="2053224"/>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44" name="Rectangle 43">
                  <a:extLst>
                    <a:ext uri="{FF2B5EF4-FFF2-40B4-BE49-F238E27FC236}">
                      <a16:creationId xmlns:a16="http://schemas.microsoft.com/office/drawing/2014/main" id="{B64B2562-9B66-F9DC-AC17-84E794F0C2A4}"/>
                    </a:ext>
                  </a:extLst>
                </p:cNvPr>
                <p:cNvSpPr>
                  <a:spLocks noRot="1" noChangeAspect="1" noMove="1" noResize="1" noEditPoints="1" noAdjustHandles="1" noChangeArrowheads="1" noChangeShapeType="1" noTextEdit="1"/>
                </p:cNvSpPr>
                <p:nvPr/>
              </p:nvSpPr>
              <p:spPr>
                <a:xfrm>
                  <a:off x="5273850" y="2053224"/>
                  <a:ext cx="468000" cy="468000"/>
                </a:xfrm>
                <a:prstGeom prst="rect">
                  <a:avLst/>
                </a:prstGeom>
                <a:blipFill>
                  <a:blip r:embed="rId14"/>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Rectangle 44">
                  <a:extLst>
                    <a:ext uri="{FF2B5EF4-FFF2-40B4-BE49-F238E27FC236}">
                      <a16:creationId xmlns="" xmlns:a16="http://schemas.microsoft.com/office/drawing/2014/main" id="{C935B77A-2A90-8654-7AA4-487ED72D18B7}"/>
                    </a:ext>
                  </a:extLst>
                </p:cNvPr>
                <p:cNvSpPr/>
                <p:nvPr/>
              </p:nvSpPr>
              <p:spPr>
                <a:xfrm>
                  <a:off x="5267318" y="4820779"/>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𝑖</m:t>
                            </m:r>
                          </m:sub>
                        </m:sSub>
                      </m:oMath>
                    </m:oMathPara>
                  </a14:m>
                  <a:endParaRPr lang="en-US" dirty="0"/>
                </a:p>
              </p:txBody>
            </p:sp>
          </mc:Choice>
          <mc:Fallback xmlns="">
            <p:sp>
              <p:nvSpPr>
                <p:cNvPr id="45" name="Rectangle 44">
                  <a:extLst>
                    <a:ext uri="{FF2B5EF4-FFF2-40B4-BE49-F238E27FC236}">
                      <a16:creationId xmlns:a16="http://schemas.microsoft.com/office/drawing/2014/main" id="{C935B77A-2A90-8654-7AA4-487ED72D18B7}"/>
                    </a:ext>
                  </a:extLst>
                </p:cNvPr>
                <p:cNvSpPr>
                  <a:spLocks noRot="1" noChangeAspect="1" noMove="1" noResize="1" noEditPoints="1" noAdjustHandles="1" noChangeArrowheads="1" noChangeShapeType="1" noTextEdit="1"/>
                </p:cNvSpPr>
                <p:nvPr/>
              </p:nvSpPr>
              <p:spPr>
                <a:xfrm>
                  <a:off x="5267318" y="4820779"/>
                  <a:ext cx="468000" cy="468000"/>
                </a:xfrm>
                <a:prstGeom prst="rect">
                  <a:avLst/>
                </a:prstGeom>
                <a:blipFill>
                  <a:blip r:embed="rId15"/>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Rectangle 45">
                  <a:extLst>
                    <a:ext uri="{FF2B5EF4-FFF2-40B4-BE49-F238E27FC236}">
                      <a16:creationId xmlns="" xmlns:a16="http://schemas.microsoft.com/office/drawing/2014/main" id="{CD41D7EC-FEBE-0970-5028-78102734AEDB}"/>
                    </a:ext>
                  </a:extLst>
                </p:cNvPr>
                <p:cNvSpPr/>
                <p:nvPr/>
              </p:nvSpPr>
              <p:spPr>
                <a:xfrm>
                  <a:off x="6022511" y="3540296"/>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h</m:t>
                            </m:r>
                          </m:sub>
                        </m:sSub>
                      </m:oMath>
                    </m:oMathPara>
                  </a14:m>
                  <a:endParaRPr lang="en-US" dirty="0"/>
                </a:p>
              </p:txBody>
            </p:sp>
          </mc:Choice>
          <mc:Fallback xmlns="">
            <p:sp>
              <p:nvSpPr>
                <p:cNvPr id="46" name="Rectangle 45">
                  <a:extLst>
                    <a:ext uri="{FF2B5EF4-FFF2-40B4-BE49-F238E27FC236}">
                      <a16:creationId xmlns:a16="http://schemas.microsoft.com/office/drawing/2014/main" id="{CD41D7EC-FEBE-0970-5028-78102734AEDB}"/>
                    </a:ext>
                  </a:extLst>
                </p:cNvPr>
                <p:cNvSpPr>
                  <a:spLocks noRot="1" noChangeAspect="1" noMove="1" noResize="1" noEditPoints="1" noAdjustHandles="1" noChangeArrowheads="1" noChangeShapeType="1" noTextEdit="1"/>
                </p:cNvSpPr>
                <p:nvPr/>
              </p:nvSpPr>
              <p:spPr>
                <a:xfrm>
                  <a:off x="6022511" y="3540296"/>
                  <a:ext cx="468000" cy="468000"/>
                </a:xfrm>
                <a:prstGeom prst="rect">
                  <a:avLst/>
                </a:prstGeom>
                <a:blipFill>
                  <a:blip r:embed="rId16"/>
                  <a:stretch>
                    <a:fillRect l="-10256"/>
                  </a:stretch>
                </a:blipFill>
              </p:spPr>
              <p:txBody>
                <a:bodyPr/>
                <a:lstStyle/>
                <a:p>
                  <a:r>
                    <a:rPr lang="en-US">
                      <a:noFill/>
                    </a:rPr>
                    <a:t> </a:t>
                  </a:r>
                </a:p>
              </p:txBody>
            </p:sp>
          </mc:Fallback>
        </mc:AlternateContent>
        <p:sp>
          <p:nvSpPr>
            <p:cNvPr id="47" name="Oval 46">
              <a:extLst>
                <a:ext uri="{FF2B5EF4-FFF2-40B4-BE49-F238E27FC236}">
                  <a16:creationId xmlns="" xmlns:a16="http://schemas.microsoft.com/office/drawing/2014/main" id="{08C12D3D-1458-CB06-00FF-813305E88984}"/>
                </a:ext>
              </a:extLst>
            </p:cNvPr>
            <p:cNvSpPr/>
            <p:nvPr/>
          </p:nvSpPr>
          <p:spPr>
            <a:xfrm>
              <a:off x="5289090" y="1409359"/>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48" name="Oval 47">
              <a:extLst>
                <a:ext uri="{FF2B5EF4-FFF2-40B4-BE49-F238E27FC236}">
                  <a16:creationId xmlns="" xmlns:a16="http://schemas.microsoft.com/office/drawing/2014/main" id="{2AC7B9B4-2A7C-64AA-026F-7DB52BAED14B}"/>
                </a:ext>
              </a:extLst>
            </p:cNvPr>
            <p:cNvSpPr/>
            <p:nvPr/>
          </p:nvSpPr>
          <p:spPr>
            <a:xfrm>
              <a:off x="5289090" y="355829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49" name="Oval 48">
              <a:extLst>
                <a:ext uri="{FF2B5EF4-FFF2-40B4-BE49-F238E27FC236}">
                  <a16:creationId xmlns="" xmlns:a16="http://schemas.microsoft.com/office/drawing/2014/main" id="{033A37FD-3D2D-1C32-A21B-3476BA69473A}"/>
                </a:ext>
              </a:extLst>
            </p:cNvPr>
            <p:cNvSpPr/>
            <p:nvPr/>
          </p:nvSpPr>
          <p:spPr>
            <a:xfrm>
              <a:off x="5289090" y="5484722"/>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51" name="Oval 50">
                  <a:extLst>
                    <a:ext uri="{FF2B5EF4-FFF2-40B4-BE49-F238E27FC236}">
                      <a16:creationId xmlns="" xmlns:a16="http://schemas.microsoft.com/office/drawing/2014/main" id="{39CDF73B-805C-E8B7-7546-C55D8F1C08F4}"/>
                    </a:ext>
                  </a:extLst>
                </p:cNvPr>
                <p:cNvSpPr/>
                <p:nvPr/>
              </p:nvSpPr>
              <p:spPr>
                <a:xfrm>
                  <a:off x="5281546" y="419283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i="1">
                            <a:latin typeface="Cambria Math" panose="02040503050406030204" pitchFamily="18" charset="0"/>
                          </a:rPr>
                          <m:t>𝑓</m:t>
                        </m:r>
                        <m:r>
                          <a:rPr lang="pt-BR" sz="1400" i="1">
                            <a:latin typeface="Cambria Math" panose="02040503050406030204" pitchFamily="18" charset="0"/>
                          </a:rPr>
                          <m:t>(.)</m:t>
                        </m:r>
                      </m:oMath>
                    </m:oMathPara>
                  </a14:m>
                  <a:endParaRPr lang="en-US" sz="1400" dirty="0"/>
                </a:p>
              </p:txBody>
            </p:sp>
          </mc:Choice>
          <mc:Fallback xmlns="">
            <p:sp>
              <p:nvSpPr>
                <p:cNvPr id="51" name="Oval 50">
                  <a:extLst>
                    <a:ext uri="{FF2B5EF4-FFF2-40B4-BE49-F238E27FC236}">
                      <a16:creationId xmlns:a16="http://schemas.microsoft.com/office/drawing/2014/main" id="{39CDF73B-805C-E8B7-7546-C55D8F1C08F4}"/>
                    </a:ext>
                  </a:extLst>
                </p:cNvPr>
                <p:cNvSpPr>
                  <a:spLocks noRot="1" noChangeAspect="1" noMove="1" noResize="1" noEditPoints="1" noAdjustHandles="1" noChangeArrowheads="1" noChangeShapeType="1" noTextEdit="1"/>
                </p:cNvSpPr>
                <p:nvPr/>
              </p:nvSpPr>
              <p:spPr>
                <a:xfrm>
                  <a:off x="5281546" y="4192836"/>
                  <a:ext cx="432000" cy="432000"/>
                </a:xfrm>
                <a:prstGeom prst="ellipse">
                  <a:avLst/>
                </a:prstGeom>
                <a:blipFill>
                  <a:blip r:embed="rId17"/>
                  <a:stretch>
                    <a:fillRect l="-1389" r="-9722"/>
                  </a:stretch>
                </a:blipFill>
              </p:spPr>
              <p:txBody>
                <a:bodyPr/>
                <a:lstStyle/>
                <a:p>
                  <a:r>
                    <a:rPr lang="en-US">
                      <a:noFill/>
                    </a:rPr>
                    <a:t> </a:t>
                  </a:r>
                </a:p>
              </p:txBody>
            </p:sp>
          </mc:Fallback>
        </mc:AlternateContent>
        <p:cxnSp>
          <p:nvCxnSpPr>
            <p:cNvPr id="52" name="Straight Arrow Connector 51">
              <a:extLst>
                <a:ext uri="{FF2B5EF4-FFF2-40B4-BE49-F238E27FC236}">
                  <a16:creationId xmlns="" xmlns:a16="http://schemas.microsoft.com/office/drawing/2014/main" id="{D03D73B0-F40C-EA41-E76B-E7EB0E170398}"/>
                </a:ext>
              </a:extLst>
            </p:cNvPr>
            <p:cNvCxnSpPr>
              <a:stCxn id="49" idx="0"/>
              <a:endCxn id="45" idx="2"/>
            </p:cNvCxnSpPr>
            <p:nvPr/>
          </p:nvCxnSpPr>
          <p:spPr>
            <a:xfrm flipH="1" flipV="1">
              <a:off x="5501318" y="5288779"/>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 xmlns:a16="http://schemas.microsoft.com/office/drawing/2014/main" id="{001566B3-ACB2-0F70-F410-8B26149B92AA}"/>
                </a:ext>
              </a:extLst>
            </p:cNvPr>
            <p:cNvCxnSpPr/>
            <p:nvPr/>
          </p:nvCxnSpPr>
          <p:spPr>
            <a:xfrm flipH="1" flipV="1">
              <a:off x="5505090" y="4624836"/>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 xmlns:a16="http://schemas.microsoft.com/office/drawing/2014/main" id="{A2E71A66-C086-B192-CBF8-A6ADCDE67B96}"/>
                </a:ext>
              </a:extLst>
            </p:cNvPr>
            <p:cNvCxnSpPr/>
            <p:nvPr/>
          </p:nvCxnSpPr>
          <p:spPr>
            <a:xfrm flipH="1" flipV="1">
              <a:off x="5501318" y="399689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a:extLst>
                <a:ext uri="{FF2B5EF4-FFF2-40B4-BE49-F238E27FC236}">
                  <a16:creationId xmlns="" xmlns:a16="http://schemas.microsoft.com/office/drawing/2014/main" id="{44DBF132-C67B-43B1-8396-02C753C33482}"/>
                </a:ext>
              </a:extLst>
            </p:cNvPr>
            <p:cNvCxnSpPr>
              <a:stCxn id="48" idx="0"/>
              <a:endCxn id="44" idx="2"/>
            </p:cNvCxnSpPr>
            <p:nvPr/>
          </p:nvCxnSpPr>
          <p:spPr>
            <a:xfrm flipV="1">
              <a:off x="5505090" y="2521224"/>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6" name="Connector: Elbow 55">
              <a:extLst>
                <a:ext uri="{FF2B5EF4-FFF2-40B4-BE49-F238E27FC236}">
                  <a16:creationId xmlns="" xmlns:a16="http://schemas.microsoft.com/office/drawing/2014/main" id="{06DC19FF-C6CB-E2FF-D08F-2EED992C1F16}"/>
                </a:ext>
              </a:extLst>
            </p:cNvPr>
            <p:cNvCxnSpPr>
              <a:cxnSpLocks/>
              <a:endCxn id="46" idx="0"/>
            </p:cNvCxnSpPr>
            <p:nvPr/>
          </p:nvCxnSpPr>
          <p:spPr>
            <a:xfrm>
              <a:off x="5509819" y="3066699"/>
              <a:ext cx="746692" cy="473597"/>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59" name="Straight Arrow Connector 58">
              <a:extLst>
                <a:ext uri="{FF2B5EF4-FFF2-40B4-BE49-F238E27FC236}">
                  <a16:creationId xmlns="" xmlns:a16="http://schemas.microsoft.com/office/drawing/2014/main" id="{81526F28-5C26-E6E7-DB90-96E6E4383D7E}"/>
                </a:ext>
              </a:extLst>
            </p:cNvPr>
            <p:cNvCxnSpPr/>
            <p:nvPr/>
          </p:nvCxnSpPr>
          <p:spPr>
            <a:xfrm flipH="1" flipV="1">
              <a:off x="5507933" y="1850684"/>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62" name="Connector: Elbow 61">
              <a:extLst>
                <a:ext uri="{FF2B5EF4-FFF2-40B4-BE49-F238E27FC236}">
                  <a16:creationId xmlns="" xmlns:a16="http://schemas.microsoft.com/office/drawing/2014/main" id="{47D4ECCA-1B5E-7F2C-A9FC-B18B5CB0BADE}"/>
                </a:ext>
              </a:extLst>
            </p:cNvPr>
            <p:cNvCxnSpPr>
              <a:stCxn id="24" idx="2"/>
              <a:endCxn id="51" idx="2"/>
            </p:cNvCxnSpPr>
            <p:nvPr/>
          </p:nvCxnSpPr>
          <p:spPr>
            <a:xfrm rot="16200000" flipH="1">
              <a:off x="4832985" y="3960275"/>
              <a:ext cx="400540" cy="496582"/>
            </a:xfrm>
            <a:prstGeom prst="bentConnector2">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68" name="Rectangle 67">
                  <a:extLst>
                    <a:ext uri="{FF2B5EF4-FFF2-40B4-BE49-F238E27FC236}">
                      <a16:creationId xmlns="" xmlns:a16="http://schemas.microsoft.com/office/drawing/2014/main" id="{6F8EB797-5698-E042-FF57-E65BBC096EB6}"/>
                    </a:ext>
                  </a:extLst>
                </p:cNvPr>
                <p:cNvSpPr/>
                <p:nvPr/>
              </p:nvSpPr>
              <p:spPr>
                <a:xfrm>
                  <a:off x="6813706" y="2038846"/>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68" name="Rectangle 67">
                  <a:extLst>
                    <a:ext uri="{FF2B5EF4-FFF2-40B4-BE49-F238E27FC236}">
                      <a16:creationId xmlns:a16="http://schemas.microsoft.com/office/drawing/2014/main" id="{6F8EB797-5698-E042-FF57-E65BBC096EB6}"/>
                    </a:ext>
                  </a:extLst>
                </p:cNvPr>
                <p:cNvSpPr>
                  <a:spLocks noRot="1" noChangeAspect="1" noMove="1" noResize="1" noEditPoints="1" noAdjustHandles="1" noChangeArrowheads="1" noChangeShapeType="1" noTextEdit="1"/>
                </p:cNvSpPr>
                <p:nvPr/>
              </p:nvSpPr>
              <p:spPr>
                <a:xfrm>
                  <a:off x="6813706" y="2038846"/>
                  <a:ext cx="468000" cy="468000"/>
                </a:xfrm>
                <a:prstGeom prst="rect">
                  <a:avLst/>
                </a:prstGeom>
                <a:blipFill>
                  <a:blip r:embed="rId18"/>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Rectangle 68">
                  <a:extLst>
                    <a:ext uri="{FF2B5EF4-FFF2-40B4-BE49-F238E27FC236}">
                      <a16:creationId xmlns="" xmlns:a16="http://schemas.microsoft.com/office/drawing/2014/main" id="{41D8D43E-E48E-C188-72E9-121AEB1D37C4}"/>
                    </a:ext>
                  </a:extLst>
                </p:cNvPr>
                <p:cNvSpPr/>
                <p:nvPr/>
              </p:nvSpPr>
              <p:spPr>
                <a:xfrm>
                  <a:off x="6807174" y="4806401"/>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𝑖</m:t>
                            </m:r>
                          </m:sub>
                        </m:sSub>
                      </m:oMath>
                    </m:oMathPara>
                  </a14:m>
                  <a:endParaRPr lang="en-US" dirty="0"/>
                </a:p>
              </p:txBody>
            </p:sp>
          </mc:Choice>
          <mc:Fallback xmlns="">
            <p:sp>
              <p:nvSpPr>
                <p:cNvPr id="69" name="Rectangle 68">
                  <a:extLst>
                    <a:ext uri="{FF2B5EF4-FFF2-40B4-BE49-F238E27FC236}">
                      <a16:creationId xmlns:a16="http://schemas.microsoft.com/office/drawing/2014/main" id="{41D8D43E-E48E-C188-72E9-121AEB1D37C4}"/>
                    </a:ext>
                  </a:extLst>
                </p:cNvPr>
                <p:cNvSpPr>
                  <a:spLocks noRot="1" noChangeAspect="1" noMove="1" noResize="1" noEditPoints="1" noAdjustHandles="1" noChangeArrowheads="1" noChangeShapeType="1" noTextEdit="1"/>
                </p:cNvSpPr>
                <p:nvPr/>
              </p:nvSpPr>
              <p:spPr>
                <a:xfrm>
                  <a:off x="6807174" y="4806401"/>
                  <a:ext cx="468000" cy="468000"/>
                </a:xfrm>
                <a:prstGeom prst="rect">
                  <a:avLst/>
                </a:prstGeom>
                <a:blipFill>
                  <a:blip r:embed="rId19"/>
                  <a:stretch>
                    <a:fillRect l="-519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Rectangle 69">
                  <a:extLst>
                    <a:ext uri="{FF2B5EF4-FFF2-40B4-BE49-F238E27FC236}">
                      <a16:creationId xmlns="" xmlns:a16="http://schemas.microsoft.com/office/drawing/2014/main" id="{473AF7E6-4193-2A83-11DB-56A80EAC8C6E}"/>
                    </a:ext>
                  </a:extLst>
                </p:cNvPr>
                <p:cNvSpPr/>
                <p:nvPr/>
              </p:nvSpPr>
              <p:spPr>
                <a:xfrm>
                  <a:off x="7584143" y="3525918"/>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h</m:t>
                            </m:r>
                          </m:sub>
                        </m:sSub>
                      </m:oMath>
                    </m:oMathPara>
                  </a14:m>
                  <a:endParaRPr lang="en-US" dirty="0"/>
                </a:p>
              </p:txBody>
            </p:sp>
          </mc:Choice>
          <mc:Fallback xmlns="">
            <p:sp>
              <p:nvSpPr>
                <p:cNvPr id="70" name="Rectangle 69">
                  <a:extLst>
                    <a:ext uri="{FF2B5EF4-FFF2-40B4-BE49-F238E27FC236}">
                      <a16:creationId xmlns:a16="http://schemas.microsoft.com/office/drawing/2014/main" id="{473AF7E6-4193-2A83-11DB-56A80EAC8C6E}"/>
                    </a:ext>
                  </a:extLst>
                </p:cNvPr>
                <p:cNvSpPr>
                  <a:spLocks noRot="1" noChangeAspect="1" noMove="1" noResize="1" noEditPoints="1" noAdjustHandles="1" noChangeArrowheads="1" noChangeShapeType="1" noTextEdit="1"/>
                </p:cNvSpPr>
                <p:nvPr/>
              </p:nvSpPr>
              <p:spPr>
                <a:xfrm>
                  <a:off x="7584143" y="3525918"/>
                  <a:ext cx="468000" cy="468000"/>
                </a:xfrm>
                <a:prstGeom prst="rect">
                  <a:avLst/>
                </a:prstGeom>
                <a:blipFill>
                  <a:blip r:embed="rId20"/>
                  <a:stretch>
                    <a:fillRect l="-8974"/>
                  </a:stretch>
                </a:blipFill>
              </p:spPr>
              <p:txBody>
                <a:bodyPr/>
                <a:lstStyle/>
                <a:p>
                  <a:r>
                    <a:rPr lang="en-US">
                      <a:noFill/>
                    </a:rPr>
                    <a:t> </a:t>
                  </a:r>
                </a:p>
              </p:txBody>
            </p:sp>
          </mc:Fallback>
        </mc:AlternateContent>
        <p:sp>
          <p:nvSpPr>
            <p:cNvPr id="71" name="Oval 70">
              <a:extLst>
                <a:ext uri="{FF2B5EF4-FFF2-40B4-BE49-F238E27FC236}">
                  <a16:creationId xmlns="" xmlns:a16="http://schemas.microsoft.com/office/drawing/2014/main" id="{4CE11F32-F73C-593D-2BB1-23924A5693E0}"/>
                </a:ext>
              </a:extLst>
            </p:cNvPr>
            <p:cNvSpPr/>
            <p:nvPr/>
          </p:nvSpPr>
          <p:spPr>
            <a:xfrm>
              <a:off x="6828946" y="1394981"/>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72" name="Oval 71">
              <a:extLst>
                <a:ext uri="{FF2B5EF4-FFF2-40B4-BE49-F238E27FC236}">
                  <a16:creationId xmlns="" xmlns:a16="http://schemas.microsoft.com/office/drawing/2014/main" id="{795687D3-C897-50E8-7FD2-2C5BAA88152E}"/>
                </a:ext>
              </a:extLst>
            </p:cNvPr>
            <p:cNvSpPr/>
            <p:nvPr/>
          </p:nvSpPr>
          <p:spPr>
            <a:xfrm>
              <a:off x="6828946" y="3543918"/>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73" name="Oval 72">
              <a:extLst>
                <a:ext uri="{FF2B5EF4-FFF2-40B4-BE49-F238E27FC236}">
                  <a16:creationId xmlns="" xmlns:a16="http://schemas.microsoft.com/office/drawing/2014/main" id="{62CE4D63-E952-565F-A041-5FE4F250C5CE}"/>
                </a:ext>
              </a:extLst>
            </p:cNvPr>
            <p:cNvSpPr/>
            <p:nvPr/>
          </p:nvSpPr>
          <p:spPr>
            <a:xfrm>
              <a:off x="6828946" y="5470344"/>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74" name="Oval 73">
                  <a:extLst>
                    <a:ext uri="{FF2B5EF4-FFF2-40B4-BE49-F238E27FC236}">
                      <a16:creationId xmlns="" xmlns:a16="http://schemas.microsoft.com/office/drawing/2014/main" id="{86EEAEB3-B546-95C8-F54D-9562C3C46A5C}"/>
                    </a:ext>
                  </a:extLst>
                </p:cNvPr>
                <p:cNvSpPr/>
                <p:nvPr/>
              </p:nvSpPr>
              <p:spPr>
                <a:xfrm>
                  <a:off x="6821402" y="4178458"/>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i="1">
                            <a:latin typeface="Cambria Math" panose="02040503050406030204" pitchFamily="18" charset="0"/>
                          </a:rPr>
                          <m:t>𝑓</m:t>
                        </m:r>
                        <m:r>
                          <a:rPr lang="pt-BR" sz="1400" i="1">
                            <a:latin typeface="Cambria Math" panose="02040503050406030204" pitchFamily="18" charset="0"/>
                          </a:rPr>
                          <m:t>(.)</m:t>
                        </m:r>
                      </m:oMath>
                    </m:oMathPara>
                  </a14:m>
                  <a:endParaRPr lang="en-US" sz="1400" dirty="0"/>
                </a:p>
              </p:txBody>
            </p:sp>
          </mc:Choice>
          <mc:Fallback xmlns="">
            <p:sp>
              <p:nvSpPr>
                <p:cNvPr id="74" name="Oval 73">
                  <a:extLst>
                    <a:ext uri="{FF2B5EF4-FFF2-40B4-BE49-F238E27FC236}">
                      <a16:creationId xmlns:a16="http://schemas.microsoft.com/office/drawing/2014/main" id="{86EEAEB3-B546-95C8-F54D-9562C3C46A5C}"/>
                    </a:ext>
                  </a:extLst>
                </p:cNvPr>
                <p:cNvSpPr>
                  <a:spLocks noRot="1" noChangeAspect="1" noMove="1" noResize="1" noEditPoints="1" noAdjustHandles="1" noChangeArrowheads="1" noChangeShapeType="1" noTextEdit="1"/>
                </p:cNvSpPr>
                <p:nvPr/>
              </p:nvSpPr>
              <p:spPr>
                <a:xfrm>
                  <a:off x="6821402" y="4178458"/>
                  <a:ext cx="432000" cy="432000"/>
                </a:xfrm>
                <a:prstGeom prst="ellipse">
                  <a:avLst/>
                </a:prstGeom>
                <a:blipFill>
                  <a:blip r:embed="rId21"/>
                  <a:stretch>
                    <a:fillRect l="-1389" r="-8333"/>
                  </a:stretch>
                </a:blipFill>
              </p:spPr>
              <p:txBody>
                <a:bodyPr/>
                <a:lstStyle/>
                <a:p>
                  <a:r>
                    <a:rPr lang="en-US">
                      <a:noFill/>
                    </a:rPr>
                    <a:t> </a:t>
                  </a:r>
                </a:p>
              </p:txBody>
            </p:sp>
          </mc:Fallback>
        </mc:AlternateContent>
        <p:cxnSp>
          <p:nvCxnSpPr>
            <p:cNvPr id="75" name="Straight Arrow Connector 74">
              <a:extLst>
                <a:ext uri="{FF2B5EF4-FFF2-40B4-BE49-F238E27FC236}">
                  <a16:creationId xmlns="" xmlns:a16="http://schemas.microsoft.com/office/drawing/2014/main" id="{3080287C-8306-9C65-7A6F-2D218C99C919}"/>
                </a:ext>
              </a:extLst>
            </p:cNvPr>
            <p:cNvCxnSpPr>
              <a:stCxn id="73" idx="0"/>
              <a:endCxn id="69" idx="2"/>
            </p:cNvCxnSpPr>
            <p:nvPr/>
          </p:nvCxnSpPr>
          <p:spPr>
            <a:xfrm flipH="1" flipV="1">
              <a:off x="7041174" y="5274401"/>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6" name="Straight Arrow Connector 75">
              <a:extLst>
                <a:ext uri="{FF2B5EF4-FFF2-40B4-BE49-F238E27FC236}">
                  <a16:creationId xmlns="" xmlns:a16="http://schemas.microsoft.com/office/drawing/2014/main" id="{554A301A-E6EA-C46C-78E5-5942556E42DF}"/>
                </a:ext>
              </a:extLst>
            </p:cNvPr>
            <p:cNvCxnSpPr/>
            <p:nvPr/>
          </p:nvCxnSpPr>
          <p:spPr>
            <a:xfrm flipH="1" flipV="1">
              <a:off x="7044946" y="4610458"/>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7" name="Straight Arrow Connector 76">
              <a:extLst>
                <a:ext uri="{FF2B5EF4-FFF2-40B4-BE49-F238E27FC236}">
                  <a16:creationId xmlns="" xmlns:a16="http://schemas.microsoft.com/office/drawing/2014/main" id="{F1FBB8CC-7B58-3828-8D59-845FC6145CD3}"/>
                </a:ext>
              </a:extLst>
            </p:cNvPr>
            <p:cNvCxnSpPr/>
            <p:nvPr/>
          </p:nvCxnSpPr>
          <p:spPr>
            <a:xfrm flipH="1" flipV="1">
              <a:off x="7041174" y="3982515"/>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8" name="Straight Arrow Connector 77">
              <a:extLst>
                <a:ext uri="{FF2B5EF4-FFF2-40B4-BE49-F238E27FC236}">
                  <a16:creationId xmlns="" xmlns:a16="http://schemas.microsoft.com/office/drawing/2014/main" id="{112EE4C8-C51C-8DBB-3C89-672F8D8D53B5}"/>
                </a:ext>
              </a:extLst>
            </p:cNvPr>
            <p:cNvCxnSpPr>
              <a:stCxn id="72" idx="0"/>
              <a:endCxn id="68" idx="2"/>
            </p:cNvCxnSpPr>
            <p:nvPr/>
          </p:nvCxnSpPr>
          <p:spPr>
            <a:xfrm flipV="1">
              <a:off x="7044946" y="2506846"/>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9" name="Connector: Elbow 78">
              <a:extLst>
                <a:ext uri="{FF2B5EF4-FFF2-40B4-BE49-F238E27FC236}">
                  <a16:creationId xmlns="" xmlns:a16="http://schemas.microsoft.com/office/drawing/2014/main" id="{CBB9CBD8-9F5B-3611-67FF-D958304DF83A}"/>
                </a:ext>
              </a:extLst>
            </p:cNvPr>
            <p:cNvCxnSpPr>
              <a:cxnSpLocks/>
              <a:endCxn id="70" idx="0"/>
            </p:cNvCxnSpPr>
            <p:nvPr/>
          </p:nvCxnSpPr>
          <p:spPr>
            <a:xfrm>
              <a:off x="7044946" y="3039760"/>
              <a:ext cx="773197" cy="486158"/>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80" name="Straight Arrow Connector 79">
              <a:extLst>
                <a:ext uri="{FF2B5EF4-FFF2-40B4-BE49-F238E27FC236}">
                  <a16:creationId xmlns="" xmlns:a16="http://schemas.microsoft.com/office/drawing/2014/main" id="{729D2BFC-99F1-AA14-B4EB-0843932843B9}"/>
                </a:ext>
              </a:extLst>
            </p:cNvPr>
            <p:cNvCxnSpPr/>
            <p:nvPr/>
          </p:nvCxnSpPr>
          <p:spPr>
            <a:xfrm flipH="1" flipV="1">
              <a:off x="7047789" y="1836306"/>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82" name="Connector: Elbow 81">
              <a:extLst>
                <a:ext uri="{FF2B5EF4-FFF2-40B4-BE49-F238E27FC236}">
                  <a16:creationId xmlns="" xmlns:a16="http://schemas.microsoft.com/office/drawing/2014/main" id="{45188B31-976F-6366-AAD8-A63C479F343F}"/>
                </a:ext>
              </a:extLst>
            </p:cNvPr>
            <p:cNvCxnSpPr>
              <a:stCxn id="46" idx="2"/>
              <a:endCxn id="74" idx="2"/>
            </p:cNvCxnSpPr>
            <p:nvPr/>
          </p:nvCxnSpPr>
          <p:spPr>
            <a:xfrm rot="16200000" flipH="1">
              <a:off x="6345875" y="3918931"/>
              <a:ext cx="386162" cy="564891"/>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85" name="Connector: Elbow 84">
              <a:extLst>
                <a:ext uri="{FF2B5EF4-FFF2-40B4-BE49-F238E27FC236}">
                  <a16:creationId xmlns="" xmlns:a16="http://schemas.microsoft.com/office/drawing/2014/main" id="{693E3011-495E-7E76-8871-F30E1F5C8088}"/>
                </a:ext>
              </a:extLst>
            </p:cNvPr>
            <p:cNvCxnSpPr>
              <a:cxnSpLocks/>
              <a:stCxn id="70" idx="2"/>
            </p:cNvCxnSpPr>
            <p:nvPr/>
          </p:nvCxnSpPr>
          <p:spPr>
            <a:xfrm rot="16200000" flipH="1">
              <a:off x="7833653" y="3978408"/>
              <a:ext cx="423458" cy="454478"/>
            </a:xfrm>
            <a:prstGeom prst="bentConnector2">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86" name="Arrow: Right 85">
              <a:extLst>
                <a:ext uri="{FF2B5EF4-FFF2-40B4-BE49-F238E27FC236}">
                  <a16:creationId xmlns="" xmlns:a16="http://schemas.microsoft.com/office/drawing/2014/main" id="{19912397-A908-9D98-7A8E-1257E21D0881}"/>
                </a:ext>
              </a:extLst>
            </p:cNvPr>
            <p:cNvSpPr/>
            <p:nvPr/>
          </p:nvSpPr>
          <p:spPr>
            <a:xfrm>
              <a:off x="2672771" y="3651918"/>
              <a:ext cx="447018" cy="216000"/>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87" name="TextBox 86">
              <a:extLst>
                <a:ext uri="{FF2B5EF4-FFF2-40B4-BE49-F238E27FC236}">
                  <a16:creationId xmlns="" xmlns:a16="http://schemas.microsoft.com/office/drawing/2014/main" id="{7038FDD0-F92D-0792-1189-9D15218C870B}"/>
                </a:ext>
              </a:extLst>
            </p:cNvPr>
            <p:cNvSpPr txBox="1"/>
            <p:nvPr/>
          </p:nvSpPr>
          <p:spPr>
            <a:xfrm>
              <a:off x="2259911" y="3843004"/>
              <a:ext cx="1218063" cy="307777"/>
            </a:xfrm>
            <a:prstGeom prst="rect">
              <a:avLst/>
            </a:prstGeom>
            <a:noFill/>
          </p:spPr>
          <p:txBody>
            <a:bodyPr wrap="square" rtlCol="0">
              <a:spAutoFit/>
            </a:bodyPr>
            <a:lstStyle/>
            <a:p>
              <a:pPr algn="ctr"/>
              <a:r>
                <a:rPr lang="pt-BR" sz="1400" dirty="0"/>
                <a:t>desenrolando</a:t>
              </a:r>
              <a:endParaRPr lang="en-US" sz="1400" dirty="0"/>
            </a:p>
          </p:txBody>
        </p:sp>
        <mc:AlternateContent xmlns:mc="http://schemas.openxmlformats.org/markup-compatibility/2006" xmlns:a14="http://schemas.microsoft.com/office/drawing/2010/main">
          <mc:Choice Requires="a14">
            <p:sp>
              <p:nvSpPr>
                <p:cNvPr id="28" name="TextBox 27">
                  <a:extLst>
                    <a:ext uri="{FF2B5EF4-FFF2-40B4-BE49-F238E27FC236}">
                      <a16:creationId xmlns="" xmlns:a16="http://schemas.microsoft.com/office/drawing/2014/main" id="{377E887F-EDBB-0313-5CE7-0FFA5FC4E09D}"/>
                    </a:ext>
                  </a:extLst>
                </p:cNvPr>
                <p:cNvSpPr txBox="1"/>
                <p:nvPr/>
              </p:nvSpPr>
              <p:spPr>
                <a:xfrm>
                  <a:off x="3573467" y="5569917"/>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𝒙</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b="1" dirty="0"/>
                </a:p>
              </p:txBody>
            </p:sp>
          </mc:Choice>
          <mc:Fallback xmlns="">
            <p:sp>
              <p:nvSpPr>
                <p:cNvPr id="28" name="TextBox 27">
                  <a:extLst>
                    <a:ext uri="{FF2B5EF4-FFF2-40B4-BE49-F238E27FC236}">
                      <a16:creationId xmlns:a16="http://schemas.microsoft.com/office/drawing/2014/main" id="{377E887F-EDBB-0313-5CE7-0FFA5FC4E09D}"/>
                    </a:ext>
                  </a:extLst>
                </p:cNvPr>
                <p:cNvSpPr txBox="1">
                  <a:spLocks noRot="1" noChangeAspect="1" noMove="1" noResize="1" noEditPoints="1" noAdjustHandles="1" noChangeArrowheads="1" noChangeShapeType="1" noTextEdit="1"/>
                </p:cNvSpPr>
                <p:nvPr/>
              </p:nvSpPr>
              <p:spPr>
                <a:xfrm>
                  <a:off x="3573467" y="5569917"/>
                  <a:ext cx="1004707" cy="246221"/>
                </a:xfrm>
                <a:prstGeom prst="rect">
                  <a:avLst/>
                </a:prstGeom>
                <a:blipFill>
                  <a:blip r:embed="rId22"/>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 xmlns:a16="http://schemas.microsoft.com/office/drawing/2014/main" id="{E4EC7983-6440-106E-40A4-B9271A9AD72F}"/>
                    </a:ext>
                  </a:extLst>
                </p:cNvPr>
                <p:cNvSpPr txBox="1"/>
                <p:nvPr/>
              </p:nvSpPr>
              <p:spPr>
                <a:xfrm>
                  <a:off x="5018964" y="5577611"/>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𝒙</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oMath>
                    </m:oMathPara>
                  </a14:m>
                  <a:endParaRPr lang="en-US" sz="1000" b="1" dirty="0"/>
                </a:p>
              </p:txBody>
            </p:sp>
          </mc:Choice>
          <mc:Fallback xmlns="">
            <p:sp>
              <p:nvSpPr>
                <p:cNvPr id="36" name="TextBox 35">
                  <a:extLst>
                    <a:ext uri="{FF2B5EF4-FFF2-40B4-BE49-F238E27FC236}">
                      <a16:creationId xmlns:a16="http://schemas.microsoft.com/office/drawing/2014/main" id="{E4EC7983-6440-106E-40A4-B9271A9AD72F}"/>
                    </a:ext>
                  </a:extLst>
                </p:cNvPr>
                <p:cNvSpPr txBox="1">
                  <a:spLocks noRot="1" noChangeAspect="1" noMove="1" noResize="1" noEditPoints="1" noAdjustHandles="1" noChangeArrowheads="1" noChangeShapeType="1" noTextEdit="1"/>
                </p:cNvSpPr>
                <p:nvPr/>
              </p:nvSpPr>
              <p:spPr>
                <a:xfrm>
                  <a:off x="5018964" y="5577611"/>
                  <a:ext cx="1004707" cy="246221"/>
                </a:xfrm>
                <a:prstGeom prst="rect">
                  <a:avLst/>
                </a:prstGeom>
                <a:blipFill>
                  <a:blip r:embed="rId23"/>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 xmlns:a16="http://schemas.microsoft.com/office/drawing/2014/main" id="{DD5EA899-4635-3E2A-C4DF-7472C47377E5}"/>
                    </a:ext>
                  </a:extLst>
                </p:cNvPr>
                <p:cNvSpPr txBox="1"/>
                <p:nvPr/>
              </p:nvSpPr>
              <p:spPr>
                <a:xfrm>
                  <a:off x="6560093" y="5566725"/>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𝒙</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b="1" dirty="0"/>
                </a:p>
              </p:txBody>
            </p:sp>
          </mc:Choice>
          <mc:Fallback xmlns="">
            <p:sp>
              <p:nvSpPr>
                <p:cNvPr id="38" name="TextBox 37">
                  <a:extLst>
                    <a:ext uri="{FF2B5EF4-FFF2-40B4-BE49-F238E27FC236}">
                      <a16:creationId xmlns:a16="http://schemas.microsoft.com/office/drawing/2014/main" id="{DD5EA899-4635-3E2A-C4DF-7472C47377E5}"/>
                    </a:ext>
                  </a:extLst>
                </p:cNvPr>
                <p:cNvSpPr txBox="1">
                  <a:spLocks noRot="1" noChangeAspect="1" noMove="1" noResize="1" noEditPoints="1" noAdjustHandles="1" noChangeArrowheads="1" noChangeShapeType="1" noTextEdit="1"/>
                </p:cNvSpPr>
                <p:nvPr/>
              </p:nvSpPr>
              <p:spPr>
                <a:xfrm>
                  <a:off x="6560093" y="5566725"/>
                  <a:ext cx="1004707" cy="246221"/>
                </a:xfrm>
                <a:prstGeom prst="rect">
                  <a:avLst/>
                </a:prstGeom>
                <a:blipFill>
                  <a:blip r:embed="rId24"/>
                  <a:stretch>
                    <a:fillRect b="-48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 xmlns:a16="http://schemas.microsoft.com/office/drawing/2014/main" id="{4F88E0E9-05F4-B69C-9592-D8DDF331EB10}"/>
                    </a:ext>
                  </a:extLst>
                </p:cNvPr>
                <p:cNvSpPr txBox="1"/>
                <p:nvPr/>
              </p:nvSpPr>
              <p:spPr>
                <a:xfrm>
                  <a:off x="3584650" y="3645334"/>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𝒉</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b="1" dirty="0"/>
                </a:p>
              </p:txBody>
            </p:sp>
          </mc:Choice>
          <mc:Fallback xmlns="">
            <p:sp>
              <p:nvSpPr>
                <p:cNvPr id="40" name="TextBox 39">
                  <a:extLst>
                    <a:ext uri="{FF2B5EF4-FFF2-40B4-BE49-F238E27FC236}">
                      <a16:creationId xmlns:a16="http://schemas.microsoft.com/office/drawing/2014/main" id="{4F88E0E9-05F4-B69C-9592-D8DDF331EB10}"/>
                    </a:ext>
                  </a:extLst>
                </p:cNvPr>
                <p:cNvSpPr txBox="1">
                  <a:spLocks noRot="1" noChangeAspect="1" noMove="1" noResize="1" noEditPoints="1" noAdjustHandles="1" noChangeArrowheads="1" noChangeShapeType="1" noTextEdit="1"/>
                </p:cNvSpPr>
                <p:nvPr/>
              </p:nvSpPr>
              <p:spPr>
                <a:xfrm>
                  <a:off x="3584650" y="3645334"/>
                  <a:ext cx="1004707" cy="246221"/>
                </a:xfrm>
                <a:prstGeom prst="rect">
                  <a:avLst/>
                </a:prstGeom>
                <a:blipFill>
                  <a:blip r:embed="rId25"/>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 xmlns:a16="http://schemas.microsoft.com/office/drawing/2014/main" id="{86F263A7-30BD-E91C-D8BD-5BF37E71E050}"/>
                    </a:ext>
                  </a:extLst>
                </p:cNvPr>
                <p:cNvSpPr txBox="1"/>
                <p:nvPr/>
              </p:nvSpPr>
              <p:spPr>
                <a:xfrm>
                  <a:off x="5024626" y="3637725"/>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𝒉</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oMath>
                    </m:oMathPara>
                  </a14:m>
                  <a:endParaRPr lang="en-US" sz="1000" b="1" dirty="0"/>
                </a:p>
              </p:txBody>
            </p:sp>
          </mc:Choice>
          <mc:Fallback xmlns="">
            <p:sp>
              <p:nvSpPr>
                <p:cNvPr id="41" name="TextBox 40">
                  <a:extLst>
                    <a:ext uri="{FF2B5EF4-FFF2-40B4-BE49-F238E27FC236}">
                      <a16:creationId xmlns:a16="http://schemas.microsoft.com/office/drawing/2014/main" id="{86F263A7-30BD-E91C-D8BD-5BF37E71E050}"/>
                    </a:ext>
                  </a:extLst>
                </p:cNvPr>
                <p:cNvSpPr txBox="1">
                  <a:spLocks noRot="1" noChangeAspect="1" noMove="1" noResize="1" noEditPoints="1" noAdjustHandles="1" noChangeArrowheads="1" noChangeShapeType="1" noTextEdit="1"/>
                </p:cNvSpPr>
                <p:nvPr/>
              </p:nvSpPr>
              <p:spPr>
                <a:xfrm>
                  <a:off x="5024626" y="3637725"/>
                  <a:ext cx="1004707" cy="246221"/>
                </a:xfrm>
                <a:prstGeom prst="rect">
                  <a:avLst/>
                </a:prstGeom>
                <a:blipFill>
                  <a:blip r:embed="rId26"/>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 xmlns:a16="http://schemas.microsoft.com/office/drawing/2014/main" id="{EEA3AB4B-4256-3B9E-5840-580E6B1EDB73}"/>
                    </a:ext>
                  </a:extLst>
                </p:cNvPr>
                <p:cNvSpPr txBox="1"/>
                <p:nvPr/>
              </p:nvSpPr>
              <p:spPr>
                <a:xfrm>
                  <a:off x="6560092" y="3621567"/>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𝒉</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b="1" dirty="0"/>
                </a:p>
              </p:txBody>
            </p:sp>
          </mc:Choice>
          <mc:Fallback xmlns="">
            <p:sp>
              <p:nvSpPr>
                <p:cNvPr id="42" name="TextBox 41">
                  <a:extLst>
                    <a:ext uri="{FF2B5EF4-FFF2-40B4-BE49-F238E27FC236}">
                      <a16:creationId xmlns:a16="http://schemas.microsoft.com/office/drawing/2014/main" id="{EEA3AB4B-4256-3B9E-5840-580E6B1EDB73}"/>
                    </a:ext>
                  </a:extLst>
                </p:cNvPr>
                <p:cNvSpPr txBox="1">
                  <a:spLocks noRot="1" noChangeAspect="1" noMove="1" noResize="1" noEditPoints="1" noAdjustHandles="1" noChangeArrowheads="1" noChangeShapeType="1" noTextEdit="1"/>
                </p:cNvSpPr>
                <p:nvPr/>
              </p:nvSpPr>
              <p:spPr>
                <a:xfrm>
                  <a:off x="6560092" y="3621567"/>
                  <a:ext cx="1004707" cy="246221"/>
                </a:xfrm>
                <a:prstGeom prst="rect">
                  <a:avLst/>
                </a:prstGeom>
                <a:blipFill>
                  <a:blip r:embed="rId27"/>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 xmlns:a16="http://schemas.microsoft.com/office/drawing/2014/main" id="{DB33A7FE-46D7-DEBB-AF6F-0E2BF6B23F69}"/>
                    </a:ext>
                  </a:extLst>
                </p:cNvPr>
                <p:cNvSpPr txBox="1"/>
                <p:nvPr/>
              </p:nvSpPr>
              <p:spPr>
                <a:xfrm>
                  <a:off x="3582991" y="1493574"/>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acc>
                          <m:accPr>
                            <m:chr m:val="̂"/>
                            <m:ctrlPr>
                              <a:rPr lang="pt-BR" sz="1000" b="1" i="1">
                                <a:latin typeface="Cambria Math" panose="02040503050406030204" pitchFamily="18" charset="0"/>
                              </a:rPr>
                            </m:ctrlPr>
                          </m:accPr>
                          <m:e>
                            <m:r>
                              <a:rPr lang="pt-BR" sz="1000" b="1" i="1" smtClean="0">
                                <a:latin typeface="Cambria Math" panose="02040503050406030204" pitchFamily="18" charset="0"/>
                              </a:rPr>
                              <m:t>𝒚</m:t>
                            </m:r>
                          </m:e>
                        </m:acc>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b="1" dirty="0"/>
                </a:p>
              </p:txBody>
            </p:sp>
          </mc:Choice>
          <mc:Fallback xmlns="">
            <p:sp>
              <p:nvSpPr>
                <p:cNvPr id="43" name="TextBox 42">
                  <a:extLst>
                    <a:ext uri="{FF2B5EF4-FFF2-40B4-BE49-F238E27FC236}">
                      <a16:creationId xmlns:a16="http://schemas.microsoft.com/office/drawing/2014/main" id="{DB33A7FE-46D7-DEBB-AF6F-0E2BF6B23F69}"/>
                    </a:ext>
                  </a:extLst>
                </p:cNvPr>
                <p:cNvSpPr txBox="1">
                  <a:spLocks noRot="1" noChangeAspect="1" noMove="1" noResize="1" noEditPoints="1" noAdjustHandles="1" noChangeArrowheads="1" noChangeShapeType="1" noTextEdit="1"/>
                </p:cNvSpPr>
                <p:nvPr/>
              </p:nvSpPr>
              <p:spPr>
                <a:xfrm>
                  <a:off x="3582991" y="1493574"/>
                  <a:ext cx="1004707" cy="246221"/>
                </a:xfrm>
                <a:prstGeom prst="rect">
                  <a:avLst/>
                </a:prstGeom>
                <a:blipFill>
                  <a:blip r:embed="rId28"/>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 xmlns:a16="http://schemas.microsoft.com/office/drawing/2014/main" id="{EF26E3FE-6209-F4AA-637B-22DC9834FEA1}"/>
                    </a:ext>
                  </a:extLst>
                </p:cNvPr>
                <p:cNvSpPr txBox="1"/>
                <p:nvPr/>
              </p:nvSpPr>
              <p:spPr>
                <a:xfrm>
                  <a:off x="5033255" y="1486992"/>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acc>
                          <m:accPr>
                            <m:chr m:val="̂"/>
                            <m:ctrlPr>
                              <a:rPr lang="pt-BR" sz="1000" b="1" i="1">
                                <a:latin typeface="Cambria Math" panose="02040503050406030204" pitchFamily="18" charset="0"/>
                              </a:rPr>
                            </m:ctrlPr>
                          </m:accPr>
                          <m:e>
                            <m:r>
                              <a:rPr lang="pt-BR" sz="1000" b="1" i="1">
                                <a:latin typeface="Cambria Math" panose="02040503050406030204" pitchFamily="18" charset="0"/>
                              </a:rPr>
                              <m:t>𝒚</m:t>
                            </m:r>
                          </m:e>
                        </m:acc>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oMath>
                    </m:oMathPara>
                  </a14:m>
                  <a:endParaRPr lang="en-US" sz="1000" b="1" dirty="0"/>
                </a:p>
              </p:txBody>
            </p:sp>
          </mc:Choice>
          <mc:Fallback xmlns="">
            <p:sp>
              <p:nvSpPr>
                <p:cNvPr id="50" name="TextBox 49">
                  <a:extLst>
                    <a:ext uri="{FF2B5EF4-FFF2-40B4-BE49-F238E27FC236}">
                      <a16:creationId xmlns:a16="http://schemas.microsoft.com/office/drawing/2014/main" id="{EF26E3FE-6209-F4AA-637B-22DC9834FEA1}"/>
                    </a:ext>
                  </a:extLst>
                </p:cNvPr>
                <p:cNvSpPr txBox="1">
                  <a:spLocks noRot="1" noChangeAspect="1" noMove="1" noResize="1" noEditPoints="1" noAdjustHandles="1" noChangeArrowheads="1" noChangeShapeType="1" noTextEdit="1"/>
                </p:cNvSpPr>
                <p:nvPr/>
              </p:nvSpPr>
              <p:spPr>
                <a:xfrm>
                  <a:off x="5033255" y="1486992"/>
                  <a:ext cx="1004707" cy="246221"/>
                </a:xfrm>
                <a:prstGeom prst="rect">
                  <a:avLst/>
                </a:prstGeom>
                <a:blipFill>
                  <a:blip r:embed="rId29"/>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 xmlns:a16="http://schemas.microsoft.com/office/drawing/2014/main" id="{C00EA537-BE98-DE0B-50F5-FFC11DA371D0}"/>
                    </a:ext>
                  </a:extLst>
                </p:cNvPr>
                <p:cNvSpPr txBox="1"/>
                <p:nvPr/>
              </p:nvSpPr>
              <p:spPr>
                <a:xfrm>
                  <a:off x="6567235" y="1481955"/>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acc>
                          <m:accPr>
                            <m:chr m:val="̂"/>
                            <m:ctrlPr>
                              <a:rPr lang="pt-BR" sz="1000" b="1" i="1">
                                <a:latin typeface="Cambria Math" panose="02040503050406030204" pitchFamily="18" charset="0"/>
                              </a:rPr>
                            </m:ctrlPr>
                          </m:accPr>
                          <m:e>
                            <m:r>
                              <a:rPr lang="pt-BR" sz="1000" b="1" i="1">
                                <a:latin typeface="Cambria Math" panose="02040503050406030204" pitchFamily="18" charset="0"/>
                              </a:rPr>
                              <m:t>𝒚</m:t>
                            </m:r>
                          </m:e>
                        </m:acc>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b="1" dirty="0"/>
                </a:p>
              </p:txBody>
            </p:sp>
          </mc:Choice>
          <mc:Fallback xmlns="">
            <p:sp>
              <p:nvSpPr>
                <p:cNvPr id="60" name="TextBox 59">
                  <a:extLst>
                    <a:ext uri="{FF2B5EF4-FFF2-40B4-BE49-F238E27FC236}">
                      <a16:creationId xmlns:a16="http://schemas.microsoft.com/office/drawing/2014/main" id="{C00EA537-BE98-DE0B-50F5-FFC11DA371D0}"/>
                    </a:ext>
                  </a:extLst>
                </p:cNvPr>
                <p:cNvSpPr txBox="1">
                  <a:spLocks noRot="1" noChangeAspect="1" noMove="1" noResize="1" noEditPoints="1" noAdjustHandles="1" noChangeArrowheads="1" noChangeShapeType="1" noTextEdit="1"/>
                </p:cNvSpPr>
                <p:nvPr/>
              </p:nvSpPr>
              <p:spPr>
                <a:xfrm>
                  <a:off x="6567235" y="1481955"/>
                  <a:ext cx="1004707" cy="246221"/>
                </a:xfrm>
                <a:prstGeom prst="rect">
                  <a:avLst/>
                </a:prstGeom>
                <a:blipFill>
                  <a:blip r:embed="rId30"/>
                  <a:stretch>
                    <a:fillRect b="-7500"/>
                  </a:stretch>
                </a:blipFill>
              </p:spPr>
              <p:txBody>
                <a:bodyPr/>
                <a:lstStyle/>
                <a:p>
                  <a:r>
                    <a:rPr lang="en-US">
                      <a:noFill/>
                    </a:rPr>
                    <a:t> </a:t>
                  </a:r>
                </a:p>
              </p:txBody>
            </p:sp>
          </mc:Fallback>
        </mc:AlternateContent>
      </p:grpSp>
    </p:spTree>
    <p:extLst>
      <p:ext uri="{BB962C8B-B14F-4D97-AF65-F5344CB8AC3E}">
        <p14:creationId xmlns:p14="http://schemas.microsoft.com/office/powerpoint/2010/main" val="74207752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65FD3EB3-5EBF-59B6-185F-3A08307686C5}"/>
            </a:ext>
          </a:extLst>
        </p:cNvPr>
        <p:cNvGrpSpPr/>
        <p:nvPr/>
      </p:nvGrpSpPr>
      <p:grpSpPr>
        <a:xfrm>
          <a:off x="0" y="0"/>
          <a:ext cx="0" cy="0"/>
          <a:chOff x="0" y="0"/>
          <a:chExt cx="0" cy="0"/>
        </a:xfrm>
      </p:grpSpPr>
      <p:grpSp>
        <p:nvGrpSpPr>
          <p:cNvPr id="2" name="Group 1">
            <a:extLst>
              <a:ext uri="{FF2B5EF4-FFF2-40B4-BE49-F238E27FC236}">
                <a16:creationId xmlns="" xmlns:a16="http://schemas.microsoft.com/office/drawing/2014/main" id="{CE6F6907-3D96-B227-166E-896DA60436B6}"/>
              </a:ext>
            </a:extLst>
          </p:cNvPr>
          <p:cNvGrpSpPr/>
          <p:nvPr/>
        </p:nvGrpSpPr>
        <p:grpSpPr>
          <a:xfrm>
            <a:off x="3458971" y="1394981"/>
            <a:ext cx="4813650" cy="4521741"/>
            <a:chOff x="3458971" y="1394981"/>
            <a:chExt cx="4813650" cy="4521741"/>
          </a:xfrm>
        </p:grpSpPr>
        <mc:AlternateContent xmlns:mc="http://schemas.openxmlformats.org/markup-compatibility/2006" xmlns:a14="http://schemas.microsoft.com/office/drawing/2010/main">
          <mc:Choice Requires="a14">
            <p:sp>
              <p:nvSpPr>
                <p:cNvPr id="22" name="Rectangle 21">
                  <a:extLst>
                    <a:ext uri="{FF2B5EF4-FFF2-40B4-BE49-F238E27FC236}">
                      <a16:creationId xmlns="" xmlns:a16="http://schemas.microsoft.com/office/drawing/2014/main" id="{9037E731-6093-52C9-FF64-477D5D5902E5}"/>
                    </a:ext>
                  </a:extLst>
                </p:cNvPr>
                <p:cNvSpPr/>
                <p:nvPr/>
              </p:nvSpPr>
              <p:spPr>
                <a:xfrm>
                  <a:off x="3830878" y="2053224"/>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22" name="Rectangle 21">
                  <a:extLst>
                    <a:ext uri="{FF2B5EF4-FFF2-40B4-BE49-F238E27FC236}">
                      <a16:creationId xmlns:a16="http://schemas.microsoft.com/office/drawing/2014/main" id="{9037E731-6093-52C9-FF64-477D5D5902E5}"/>
                    </a:ext>
                  </a:extLst>
                </p:cNvPr>
                <p:cNvSpPr>
                  <a:spLocks noRot="1" noChangeAspect="1" noMove="1" noResize="1" noEditPoints="1" noAdjustHandles="1" noChangeArrowheads="1" noChangeShapeType="1" noTextEdit="1"/>
                </p:cNvSpPr>
                <p:nvPr/>
              </p:nvSpPr>
              <p:spPr>
                <a:xfrm>
                  <a:off x="3830878" y="2053224"/>
                  <a:ext cx="468000" cy="468000"/>
                </a:xfrm>
                <a:prstGeom prst="rect">
                  <a:avLst/>
                </a:prstGeom>
                <a:blipFill>
                  <a:blip r:embed="rId2"/>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Rectangle 22">
                  <a:extLst>
                    <a:ext uri="{FF2B5EF4-FFF2-40B4-BE49-F238E27FC236}">
                      <a16:creationId xmlns="" xmlns:a16="http://schemas.microsoft.com/office/drawing/2014/main" id="{DF0C5B7A-BCE3-F052-50EC-9B88A67812E2}"/>
                    </a:ext>
                  </a:extLst>
                </p:cNvPr>
                <p:cNvSpPr/>
                <p:nvPr/>
              </p:nvSpPr>
              <p:spPr>
                <a:xfrm>
                  <a:off x="3824346" y="4820779"/>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𝑖</m:t>
                            </m:r>
                          </m:sub>
                        </m:sSub>
                      </m:oMath>
                    </m:oMathPara>
                  </a14:m>
                  <a:endParaRPr lang="en-US" dirty="0"/>
                </a:p>
              </p:txBody>
            </p:sp>
          </mc:Choice>
          <mc:Fallback xmlns="">
            <p:sp>
              <p:nvSpPr>
                <p:cNvPr id="23" name="Rectangle 22">
                  <a:extLst>
                    <a:ext uri="{FF2B5EF4-FFF2-40B4-BE49-F238E27FC236}">
                      <a16:creationId xmlns:a16="http://schemas.microsoft.com/office/drawing/2014/main" id="{DF0C5B7A-BCE3-F052-50EC-9B88A67812E2}"/>
                    </a:ext>
                  </a:extLst>
                </p:cNvPr>
                <p:cNvSpPr>
                  <a:spLocks noRot="1" noChangeAspect="1" noMove="1" noResize="1" noEditPoints="1" noAdjustHandles="1" noChangeArrowheads="1" noChangeShapeType="1" noTextEdit="1"/>
                </p:cNvSpPr>
                <p:nvPr/>
              </p:nvSpPr>
              <p:spPr>
                <a:xfrm>
                  <a:off x="3824346" y="4820779"/>
                  <a:ext cx="468000" cy="468000"/>
                </a:xfrm>
                <a:prstGeom prst="rect">
                  <a:avLst/>
                </a:prstGeom>
                <a:blipFill>
                  <a:blip r:embed="rId3"/>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Rectangle 23">
                  <a:extLst>
                    <a:ext uri="{FF2B5EF4-FFF2-40B4-BE49-F238E27FC236}">
                      <a16:creationId xmlns="" xmlns:a16="http://schemas.microsoft.com/office/drawing/2014/main" id="{58741BD0-606E-9F1C-3E99-578839912D3F}"/>
                    </a:ext>
                  </a:extLst>
                </p:cNvPr>
                <p:cNvSpPr/>
                <p:nvPr/>
              </p:nvSpPr>
              <p:spPr>
                <a:xfrm>
                  <a:off x="4550964" y="3540296"/>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h</m:t>
                            </m:r>
                          </m:sub>
                        </m:sSub>
                      </m:oMath>
                    </m:oMathPara>
                  </a14:m>
                  <a:endParaRPr lang="en-US" dirty="0"/>
                </a:p>
              </p:txBody>
            </p:sp>
          </mc:Choice>
          <mc:Fallback xmlns="">
            <p:sp>
              <p:nvSpPr>
                <p:cNvPr id="24" name="Rectangle 23">
                  <a:extLst>
                    <a:ext uri="{FF2B5EF4-FFF2-40B4-BE49-F238E27FC236}">
                      <a16:creationId xmlns:a16="http://schemas.microsoft.com/office/drawing/2014/main" id="{58741BD0-606E-9F1C-3E99-578839912D3F}"/>
                    </a:ext>
                  </a:extLst>
                </p:cNvPr>
                <p:cNvSpPr>
                  <a:spLocks noRot="1" noChangeAspect="1" noMove="1" noResize="1" noEditPoints="1" noAdjustHandles="1" noChangeArrowheads="1" noChangeShapeType="1" noTextEdit="1"/>
                </p:cNvSpPr>
                <p:nvPr/>
              </p:nvSpPr>
              <p:spPr>
                <a:xfrm>
                  <a:off x="4550964" y="3540296"/>
                  <a:ext cx="468000" cy="468000"/>
                </a:xfrm>
                <a:prstGeom prst="rect">
                  <a:avLst/>
                </a:prstGeom>
                <a:blipFill>
                  <a:blip r:embed="rId4"/>
                  <a:stretch>
                    <a:fillRect l="-10390"/>
                  </a:stretch>
                </a:blipFill>
              </p:spPr>
              <p:txBody>
                <a:bodyPr/>
                <a:lstStyle/>
                <a:p>
                  <a:r>
                    <a:rPr lang="en-US">
                      <a:noFill/>
                    </a:rPr>
                    <a:t> </a:t>
                  </a:r>
                </a:p>
              </p:txBody>
            </p:sp>
          </mc:Fallback>
        </mc:AlternateContent>
        <p:sp>
          <p:nvSpPr>
            <p:cNvPr id="25" name="Oval 24">
              <a:extLst>
                <a:ext uri="{FF2B5EF4-FFF2-40B4-BE49-F238E27FC236}">
                  <a16:creationId xmlns="" xmlns:a16="http://schemas.microsoft.com/office/drawing/2014/main" id="{B46C2697-6BEA-7C20-191A-6BD4799A3BDB}"/>
                </a:ext>
              </a:extLst>
            </p:cNvPr>
            <p:cNvSpPr/>
            <p:nvPr/>
          </p:nvSpPr>
          <p:spPr>
            <a:xfrm>
              <a:off x="3846118" y="1409359"/>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26" name="Oval 25">
              <a:extLst>
                <a:ext uri="{FF2B5EF4-FFF2-40B4-BE49-F238E27FC236}">
                  <a16:creationId xmlns="" xmlns:a16="http://schemas.microsoft.com/office/drawing/2014/main" id="{18FB23CC-D060-A350-089A-54E8CB7ADFEE}"/>
                </a:ext>
              </a:extLst>
            </p:cNvPr>
            <p:cNvSpPr/>
            <p:nvPr/>
          </p:nvSpPr>
          <p:spPr>
            <a:xfrm>
              <a:off x="3846118" y="355829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27" name="Oval 26">
              <a:extLst>
                <a:ext uri="{FF2B5EF4-FFF2-40B4-BE49-F238E27FC236}">
                  <a16:creationId xmlns="" xmlns:a16="http://schemas.microsoft.com/office/drawing/2014/main" id="{F2369338-A44F-7A99-25FB-2434D64DDD85}"/>
                </a:ext>
              </a:extLst>
            </p:cNvPr>
            <p:cNvSpPr/>
            <p:nvPr/>
          </p:nvSpPr>
          <p:spPr>
            <a:xfrm>
              <a:off x="3846118" y="5484722"/>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1050" b="1" dirty="0"/>
            </a:p>
          </p:txBody>
        </p:sp>
        <mc:AlternateContent xmlns:mc="http://schemas.openxmlformats.org/markup-compatibility/2006" xmlns:a14="http://schemas.microsoft.com/office/drawing/2010/main">
          <mc:Choice Requires="a14">
            <p:sp>
              <p:nvSpPr>
                <p:cNvPr id="29" name="Oval 28">
                  <a:extLst>
                    <a:ext uri="{FF2B5EF4-FFF2-40B4-BE49-F238E27FC236}">
                      <a16:creationId xmlns="" xmlns:a16="http://schemas.microsoft.com/office/drawing/2014/main" id="{E6544A4A-65E5-3677-5B6F-90CE14CBC247}"/>
                    </a:ext>
                  </a:extLst>
                </p:cNvPr>
                <p:cNvSpPr/>
                <p:nvPr/>
              </p:nvSpPr>
              <p:spPr>
                <a:xfrm>
                  <a:off x="3838574" y="419283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i="1" smtClean="0">
                            <a:latin typeface="Cambria Math" panose="02040503050406030204" pitchFamily="18" charset="0"/>
                          </a:rPr>
                          <m:t> </m:t>
                        </m:r>
                        <m:r>
                          <a:rPr lang="pt-BR" sz="1400" b="0" i="1" smtClean="0">
                            <a:latin typeface="Cambria Math" panose="02040503050406030204" pitchFamily="18" charset="0"/>
                          </a:rPr>
                          <m:t> </m:t>
                        </m:r>
                        <m:r>
                          <a:rPr lang="pt-BR" sz="1400" i="1">
                            <a:latin typeface="Cambria Math" panose="02040503050406030204" pitchFamily="18" charset="0"/>
                          </a:rPr>
                          <m:t>𝑓</m:t>
                        </m:r>
                        <m:r>
                          <a:rPr lang="pt-BR" sz="1400" i="1">
                            <a:latin typeface="Cambria Math" panose="02040503050406030204" pitchFamily="18" charset="0"/>
                          </a:rPr>
                          <m:t>(.)</m:t>
                        </m:r>
                      </m:oMath>
                    </m:oMathPara>
                  </a14:m>
                  <a:endParaRPr lang="en-US" sz="1400" dirty="0"/>
                </a:p>
              </p:txBody>
            </p:sp>
          </mc:Choice>
          <mc:Fallback xmlns="">
            <p:sp>
              <p:nvSpPr>
                <p:cNvPr id="29" name="Oval 28">
                  <a:extLst>
                    <a:ext uri="{FF2B5EF4-FFF2-40B4-BE49-F238E27FC236}">
                      <a16:creationId xmlns:a16="http://schemas.microsoft.com/office/drawing/2014/main" id="{E6544A4A-65E5-3677-5B6F-90CE14CBC247}"/>
                    </a:ext>
                  </a:extLst>
                </p:cNvPr>
                <p:cNvSpPr>
                  <a:spLocks noRot="1" noChangeAspect="1" noMove="1" noResize="1" noEditPoints="1" noAdjustHandles="1" noChangeArrowheads="1" noChangeShapeType="1" noTextEdit="1"/>
                </p:cNvSpPr>
                <p:nvPr/>
              </p:nvSpPr>
              <p:spPr>
                <a:xfrm>
                  <a:off x="3838574" y="4192836"/>
                  <a:ext cx="432000" cy="432000"/>
                </a:xfrm>
                <a:prstGeom prst="ellipse">
                  <a:avLst/>
                </a:prstGeom>
                <a:blipFill>
                  <a:blip r:embed="rId5"/>
                  <a:stretch>
                    <a:fillRect l="-2778" r="-8333"/>
                  </a:stretch>
                </a:blipFill>
              </p:spPr>
              <p:txBody>
                <a:bodyPr/>
                <a:lstStyle/>
                <a:p>
                  <a:r>
                    <a:rPr lang="en-US">
                      <a:noFill/>
                    </a:rPr>
                    <a:t> </a:t>
                  </a:r>
                </a:p>
              </p:txBody>
            </p:sp>
          </mc:Fallback>
        </mc:AlternateContent>
        <p:cxnSp>
          <p:nvCxnSpPr>
            <p:cNvPr id="30" name="Straight Arrow Connector 29">
              <a:extLst>
                <a:ext uri="{FF2B5EF4-FFF2-40B4-BE49-F238E27FC236}">
                  <a16:creationId xmlns="" xmlns:a16="http://schemas.microsoft.com/office/drawing/2014/main" id="{ED20FD6C-87CA-F9A4-BF29-4A9DDE387B47}"/>
                </a:ext>
              </a:extLst>
            </p:cNvPr>
            <p:cNvCxnSpPr>
              <a:cxnSpLocks/>
              <a:stCxn id="27" idx="0"/>
              <a:endCxn id="23" idx="2"/>
            </p:cNvCxnSpPr>
            <p:nvPr/>
          </p:nvCxnSpPr>
          <p:spPr>
            <a:xfrm flipH="1" flipV="1">
              <a:off x="4058346" y="5288779"/>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1" name="Straight Arrow Connector 30">
              <a:extLst>
                <a:ext uri="{FF2B5EF4-FFF2-40B4-BE49-F238E27FC236}">
                  <a16:creationId xmlns="" xmlns:a16="http://schemas.microsoft.com/office/drawing/2014/main" id="{33BBAECB-E07B-3C9A-CF9F-4D33D251BB64}"/>
                </a:ext>
              </a:extLst>
            </p:cNvPr>
            <p:cNvCxnSpPr/>
            <p:nvPr/>
          </p:nvCxnSpPr>
          <p:spPr>
            <a:xfrm flipH="1" flipV="1">
              <a:off x="4062118" y="4624836"/>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 xmlns:a16="http://schemas.microsoft.com/office/drawing/2014/main" id="{3613390A-F0EF-6DC1-FE10-D768AD8F70A2}"/>
                </a:ext>
              </a:extLst>
            </p:cNvPr>
            <p:cNvCxnSpPr/>
            <p:nvPr/>
          </p:nvCxnSpPr>
          <p:spPr>
            <a:xfrm flipH="1" flipV="1">
              <a:off x="4058346" y="399689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3" name="Straight Arrow Connector 32">
              <a:extLst>
                <a:ext uri="{FF2B5EF4-FFF2-40B4-BE49-F238E27FC236}">
                  <a16:creationId xmlns="" xmlns:a16="http://schemas.microsoft.com/office/drawing/2014/main" id="{CFF5E1B4-9351-9FFE-87AA-72B9EDEF149C}"/>
                </a:ext>
              </a:extLst>
            </p:cNvPr>
            <p:cNvCxnSpPr>
              <a:stCxn id="26" idx="0"/>
              <a:endCxn id="22" idx="2"/>
            </p:cNvCxnSpPr>
            <p:nvPr/>
          </p:nvCxnSpPr>
          <p:spPr>
            <a:xfrm flipV="1">
              <a:off x="4062118" y="2521224"/>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4" name="Connector: Elbow 33">
              <a:extLst>
                <a:ext uri="{FF2B5EF4-FFF2-40B4-BE49-F238E27FC236}">
                  <a16:creationId xmlns="" xmlns:a16="http://schemas.microsoft.com/office/drawing/2014/main" id="{F5B52639-55A0-BC72-2057-1160DF41D5A9}"/>
                </a:ext>
              </a:extLst>
            </p:cNvPr>
            <p:cNvCxnSpPr>
              <a:cxnSpLocks/>
              <a:endCxn id="24" idx="0"/>
            </p:cNvCxnSpPr>
            <p:nvPr/>
          </p:nvCxnSpPr>
          <p:spPr>
            <a:xfrm>
              <a:off x="4062118" y="3066699"/>
              <a:ext cx="722846" cy="473597"/>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37" name="Straight Arrow Connector 36">
              <a:extLst>
                <a:ext uri="{FF2B5EF4-FFF2-40B4-BE49-F238E27FC236}">
                  <a16:creationId xmlns="" xmlns:a16="http://schemas.microsoft.com/office/drawing/2014/main" id="{5B7DEA0A-FC6B-AA97-CF60-3AD7C50CACAF}"/>
                </a:ext>
              </a:extLst>
            </p:cNvPr>
            <p:cNvCxnSpPr/>
            <p:nvPr/>
          </p:nvCxnSpPr>
          <p:spPr>
            <a:xfrm flipH="1" flipV="1">
              <a:off x="4064961" y="1850684"/>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9" name="Connector: Elbow 38">
              <a:extLst>
                <a:ext uri="{FF2B5EF4-FFF2-40B4-BE49-F238E27FC236}">
                  <a16:creationId xmlns="" xmlns:a16="http://schemas.microsoft.com/office/drawing/2014/main" id="{2F4252DA-9D7D-1337-D118-43C1F1ED2820}"/>
                </a:ext>
              </a:extLst>
            </p:cNvPr>
            <p:cNvCxnSpPr>
              <a:cxnSpLocks/>
              <a:endCxn id="29" idx="2"/>
            </p:cNvCxnSpPr>
            <p:nvPr/>
          </p:nvCxnSpPr>
          <p:spPr>
            <a:xfrm rot="16200000" flipH="1">
              <a:off x="3512189" y="4082450"/>
              <a:ext cx="273167" cy="379603"/>
            </a:xfrm>
            <a:prstGeom prst="bentConnector2">
              <a:avLst/>
            </a:prstGeom>
            <a:ln>
              <a:prstDash val="dash"/>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4" name="Rectangle 43">
                  <a:extLst>
                    <a:ext uri="{FF2B5EF4-FFF2-40B4-BE49-F238E27FC236}">
                      <a16:creationId xmlns="" xmlns:a16="http://schemas.microsoft.com/office/drawing/2014/main" id="{95E93986-12E0-00EE-A36A-3CCFDB7284C9}"/>
                    </a:ext>
                  </a:extLst>
                </p:cNvPr>
                <p:cNvSpPr/>
                <p:nvPr/>
              </p:nvSpPr>
              <p:spPr>
                <a:xfrm>
                  <a:off x="5273850" y="2053224"/>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44" name="Rectangle 43">
                  <a:extLst>
                    <a:ext uri="{FF2B5EF4-FFF2-40B4-BE49-F238E27FC236}">
                      <a16:creationId xmlns:a16="http://schemas.microsoft.com/office/drawing/2014/main" id="{95E93986-12E0-00EE-A36A-3CCFDB7284C9}"/>
                    </a:ext>
                  </a:extLst>
                </p:cNvPr>
                <p:cNvSpPr>
                  <a:spLocks noRot="1" noChangeAspect="1" noMove="1" noResize="1" noEditPoints="1" noAdjustHandles="1" noChangeArrowheads="1" noChangeShapeType="1" noTextEdit="1"/>
                </p:cNvSpPr>
                <p:nvPr/>
              </p:nvSpPr>
              <p:spPr>
                <a:xfrm>
                  <a:off x="5273850" y="2053224"/>
                  <a:ext cx="468000" cy="468000"/>
                </a:xfrm>
                <a:prstGeom prst="rect">
                  <a:avLst/>
                </a:prstGeom>
                <a:blipFill>
                  <a:blip r:embed="rId6"/>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Rectangle 44">
                  <a:extLst>
                    <a:ext uri="{FF2B5EF4-FFF2-40B4-BE49-F238E27FC236}">
                      <a16:creationId xmlns="" xmlns:a16="http://schemas.microsoft.com/office/drawing/2014/main" id="{7CDFC847-46C3-2DA1-011C-F5DCADB42DCC}"/>
                    </a:ext>
                  </a:extLst>
                </p:cNvPr>
                <p:cNvSpPr/>
                <p:nvPr/>
              </p:nvSpPr>
              <p:spPr>
                <a:xfrm>
                  <a:off x="5267318" y="4820779"/>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𝑖</m:t>
                            </m:r>
                          </m:sub>
                        </m:sSub>
                      </m:oMath>
                    </m:oMathPara>
                  </a14:m>
                  <a:endParaRPr lang="en-US" dirty="0"/>
                </a:p>
              </p:txBody>
            </p:sp>
          </mc:Choice>
          <mc:Fallback xmlns="">
            <p:sp>
              <p:nvSpPr>
                <p:cNvPr id="45" name="Rectangle 44">
                  <a:extLst>
                    <a:ext uri="{FF2B5EF4-FFF2-40B4-BE49-F238E27FC236}">
                      <a16:creationId xmlns:a16="http://schemas.microsoft.com/office/drawing/2014/main" id="{7CDFC847-46C3-2DA1-011C-F5DCADB42DCC}"/>
                    </a:ext>
                  </a:extLst>
                </p:cNvPr>
                <p:cNvSpPr>
                  <a:spLocks noRot="1" noChangeAspect="1" noMove="1" noResize="1" noEditPoints="1" noAdjustHandles="1" noChangeArrowheads="1" noChangeShapeType="1" noTextEdit="1"/>
                </p:cNvSpPr>
                <p:nvPr/>
              </p:nvSpPr>
              <p:spPr>
                <a:xfrm>
                  <a:off x="5267318" y="4820779"/>
                  <a:ext cx="468000" cy="468000"/>
                </a:xfrm>
                <a:prstGeom prst="rect">
                  <a:avLst/>
                </a:prstGeom>
                <a:blipFill>
                  <a:blip r:embed="rId7"/>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Rectangle 45">
                  <a:extLst>
                    <a:ext uri="{FF2B5EF4-FFF2-40B4-BE49-F238E27FC236}">
                      <a16:creationId xmlns="" xmlns:a16="http://schemas.microsoft.com/office/drawing/2014/main" id="{C9003F32-FF22-F8C7-D909-D98E50A379E8}"/>
                    </a:ext>
                  </a:extLst>
                </p:cNvPr>
                <p:cNvSpPr/>
                <p:nvPr/>
              </p:nvSpPr>
              <p:spPr>
                <a:xfrm>
                  <a:off x="6022511" y="3540296"/>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h</m:t>
                            </m:r>
                          </m:sub>
                        </m:sSub>
                      </m:oMath>
                    </m:oMathPara>
                  </a14:m>
                  <a:endParaRPr lang="en-US" dirty="0"/>
                </a:p>
              </p:txBody>
            </p:sp>
          </mc:Choice>
          <mc:Fallback xmlns="">
            <p:sp>
              <p:nvSpPr>
                <p:cNvPr id="46" name="Rectangle 45">
                  <a:extLst>
                    <a:ext uri="{FF2B5EF4-FFF2-40B4-BE49-F238E27FC236}">
                      <a16:creationId xmlns:a16="http://schemas.microsoft.com/office/drawing/2014/main" id="{C9003F32-FF22-F8C7-D909-D98E50A379E8}"/>
                    </a:ext>
                  </a:extLst>
                </p:cNvPr>
                <p:cNvSpPr>
                  <a:spLocks noRot="1" noChangeAspect="1" noMove="1" noResize="1" noEditPoints="1" noAdjustHandles="1" noChangeArrowheads="1" noChangeShapeType="1" noTextEdit="1"/>
                </p:cNvSpPr>
                <p:nvPr/>
              </p:nvSpPr>
              <p:spPr>
                <a:xfrm>
                  <a:off x="6022511" y="3540296"/>
                  <a:ext cx="468000" cy="468000"/>
                </a:xfrm>
                <a:prstGeom prst="rect">
                  <a:avLst/>
                </a:prstGeom>
                <a:blipFill>
                  <a:blip r:embed="rId8"/>
                  <a:stretch>
                    <a:fillRect l="-10256"/>
                  </a:stretch>
                </a:blipFill>
              </p:spPr>
              <p:txBody>
                <a:bodyPr/>
                <a:lstStyle/>
                <a:p>
                  <a:r>
                    <a:rPr lang="en-US">
                      <a:noFill/>
                    </a:rPr>
                    <a:t> </a:t>
                  </a:r>
                </a:p>
              </p:txBody>
            </p:sp>
          </mc:Fallback>
        </mc:AlternateContent>
        <p:sp>
          <p:nvSpPr>
            <p:cNvPr id="47" name="Oval 46">
              <a:extLst>
                <a:ext uri="{FF2B5EF4-FFF2-40B4-BE49-F238E27FC236}">
                  <a16:creationId xmlns="" xmlns:a16="http://schemas.microsoft.com/office/drawing/2014/main" id="{CDFD11FA-B131-9D81-4E0A-363A3400B3AF}"/>
                </a:ext>
              </a:extLst>
            </p:cNvPr>
            <p:cNvSpPr/>
            <p:nvPr/>
          </p:nvSpPr>
          <p:spPr>
            <a:xfrm>
              <a:off x="5289090" y="1409359"/>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48" name="Oval 47">
              <a:extLst>
                <a:ext uri="{FF2B5EF4-FFF2-40B4-BE49-F238E27FC236}">
                  <a16:creationId xmlns="" xmlns:a16="http://schemas.microsoft.com/office/drawing/2014/main" id="{5A71F691-F9B4-DBCD-5A2F-F4FE6ED218F1}"/>
                </a:ext>
              </a:extLst>
            </p:cNvPr>
            <p:cNvSpPr/>
            <p:nvPr/>
          </p:nvSpPr>
          <p:spPr>
            <a:xfrm>
              <a:off x="5289090" y="355829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49" name="Oval 48">
              <a:extLst>
                <a:ext uri="{FF2B5EF4-FFF2-40B4-BE49-F238E27FC236}">
                  <a16:creationId xmlns="" xmlns:a16="http://schemas.microsoft.com/office/drawing/2014/main" id="{C4236D7E-FDB3-350E-288B-59C66F3B92DE}"/>
                </a:ext>
              </a:extLst>
            </p:cNvPr>
            <p:cNvSpPr/>
            <p:nvPr/>
          </p:nvSpPr>
          <p:spPr>
            <a:xfrm>
              <a:off x="5289090" y="5484722"/>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51" name="Oval 50">
                  <a:extLst>
                    <a:ext uri="{FF2B5EF4-FFF2-40B4-BE49-F238E27FC236}">
                      <a16:creationId xmlns="" xmlns:a16="http://schemas.microsoft.com/office/drawing/2014/main" id="{2D680CE4-4C2C-EAB2-8166-DAA2E76F1D54}"/>
                    </a:ext>
                  </a:extLst>
                </p:cNvPr>
                <p:cNvSpPr/>
                <p:nvPr/>
              </p:nvSpPr>
              <p:spPr>
                <a:xfrm>
                  <a:off x="5281546" y="419283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i="1">
                            <a:latin typeface="Cambria Math" panose="02040503050406030204" pitchFamily="18" charset="0"/>
                          </a:rPr>
                          <m:t>𝑓</m:t>
                        </m:r>
                        <m:r>
                          <a:rPr lang="pt-BR" sz="1400" i="1">
                            <a:latin typeface="Cambria Math" panose="02040503050406030204" pitchFamily="18" charset="0"/>
                          </a:rPr>
                          <m:t>(.)</m:t>
                        </m:r>
                      </m:oMath>
                    </m:oMathPara>
                  </a14:m>
                  <a:endParaRPr lang="en-US" sz="1400" dirty="0"/>
                </a:p>
              </p:txBody>
            </p:sp>
          </mc:Choice>
          <mc:Fallback xmlns="">
            <p:sp>
              <p:nvSpPr>
                <p:cNvPr id="51" name="Oval 50">
                  <a:extLst>
                    <a:ext uri="{FF2B5EF4-FFF2-40B4-BE49-F238E27FC236}">
                      <a16:creationId xmlns:a16="http://schemas.microsoft.com/office/drawing/2014/main" id="{2D680CE4-4C2C-EAB2-8166-DAA2E76F1D54}"/>
                    </a:ext>
                  </a:extLst>
                </p:cNvPr>
                <p:cNvSpPr>
                  <a:spLocks noRot="1" noChangeAspect="1" noMove="1" noResize="1" noEditPoints="1" noAdjustHandles="1" noChangeArrowheads="1" noChangeShapeType="1" noTextEdit="1"/>
                </p:cNvSpPr>
                <p:nvPr/>
              </p:nvSpPr>
              <p:spPr>
                <a:xfrm>
                  <a:off x="5281546" y="4192836"/>
                  <a:ext cx="432000" cy="432000"/>
                </a:xfrm>
                <a:prstGeom prst="ellipse">
                  <a:avLst/>
                </a:prstGeom>
                <a:blipFill>
                  <a:blip r:embed="rId9"/>
                  <a:stretch>
                    <a:fillRect l="-1389" r="-9722"/>
                  </a:stretch>
                </a:blipFill>
              </p:spPr>
              <p:txBody>
                <a:bodyPr/>
                <a:lstStyle/>
                <a:p>
                  <a:r>
                    <a:rPr lang="en-US">
                      <a:noFill/>
                    </a:rPr>
                    <a:t> </a:t>
                  </a:r>
                </a:p>
              </p:txBody>
            </p:sp>
          </mc:Fallback>
        </mc:AlternateContent>
        <p:cxnSp>
          <p:nvCxnSpPr>
            <p:cNvPr id="52" name="Straight Arrow Connector 51">
              <a:extLst>
                <a:ext uri="{FF2B5EF4-FFF2-40B4-BE49-F238E27FC236}">
                  <a16:creationId xmlns="" xmlns:a16="http://schemas.microsoft.com/office/drawing/2014/main" id="{267136A0-6D98-74F4-BC06-E399AA2C8CA1}"/>
                </a:ext>
              </a:extLst>
            </p:cNvPr>
            <p:cNvCxnSpPr>
              <a:stCxn id="49" idx="0"/>
              <a:endCxn id="45" idx="2"/>
            </p:cNvCxnSpPr>
            <p:nvPr/>
          </p:nvCxnSpPr>
          <p:spPr>
            <a:xfrm flipH="1" flipV="1">
              <a:off x="5501318" y="5288779"/>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 xmlns:a16="http://schemas.microsoft.com/office/drawing/2014/main" id="{C17629BF-E3F8-1CFE-9840-ACD35AE829D2}"/>
                </a:ext>
              </a:extLst>
            </p:cNvPr>
            <p:cNvCxnSpPr/>
            <p:nvPr/>
          </p:nvCxnSpPr>
          <p:spPr>
            <a:xfrm flipH="1" flipV="1">
              <a:off x="5505090" y="4624836"/>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 xmlns:a16="http://schemas.microsoft.com/office/drawing/2014/main" id="{4F6C6731-5C72-4F8C-3D3F-D0A75C98A7AF}"/>
                </a:ext>
              </a:extLst>
            </p:cNvPr>
            <p:cNvCxnSpPr/>
            <p:nvPr/>
          </p:nvCxnSpPr>
          <p:spPr>
            <a:xfrm flipH="1" flipV="1">
              <a:off x="5501318" y="399689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a:extLst>
                <a:ext uri="{FF2B5EF4-FFF2-40B4-BE49-F238E27FC236}">
                  <a16:creationId xmlns="" xmlns:a16="http://schemas.microsoft.com/office/drawing/2014/main" id="{49EC2415-5780-09A1-6E95-25715135C6AF}"/>
                </a:ext>
              </a:extLst>
            </p:cNvPr>
            <p:cNvCxnSpPr>
              <a:stCxn id="48" idx="0"/>
              <a:endCxn id="44" idx="2"/>
            </p:cNvCxnSpPr>
            <p:nvPr/>
          </p:nvCxnSpPr>
          <p:spPr>
            <a:xfrm flipV="1">
              <a:off x="5505090" y="2521224"/>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6" name="Connector: Elbow 55">
              <a:extLst>
                <a:ext uri="{FF2B5EF4-FFF2-40B4-BE49-F238E27FC236}">
                  <a16:creationId xmlns="" xmlns:a16="http://schemas.microsoft.com/office/drawing/2014/main" id="{285042DD-1CE7-8819-4A4D-023EA751F111}"/>
                </a:ext>
              </a:extLst>
            </p:cNvPr>
            <p:cNvCxnSpPr>
              <a:cxnSpLocks/>
              <a:endCxn id="46" idx="0"/>
            </p:cNvCxnSpPr>
            <p:nvPr/>
          </p:nvCxnSpPr>
          <p:spPr>
            <a:xfrm>
              <a:off x="5509819" y="3066699"/>
              <a:ext cx="746692" cy="473597"/>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59" name="Straight Arrow Connector 58">
              <a:extLst>
                <a:ext uri="{FF2B5EF4-FFF2-40B4-BE49-F238E27FC236}">
                  <a16:creationId xmlns="" xmlns:a16="http://schemas.microsoft.com/office/drawing/2014/main" id="{9556B928-D372-CFDD-293D-ACBEEC241F4C}"/>
                </a:ext>
              </a:extLst>
            </p:cNvPr>
            <p:cNvCxnSpPr/>
            <p:nvPr/>
          </p:nvCxnSpPr>
          <p:spPr>
            <a:xfrm flipH="1" flipV="1">
              <a:off x="5507933" y="1850684"/>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62" name="Connector: Elbow 61">
              <a:extLst>
                <a:ext uri="{FF2B5EF4-FFF2-40B4-BE49-F238E27FC236}">
                  <a16:creationId xmlns="" xmlns:a16="http://schemas.microsoft.com/office/drawing/2014/main" id="{312DFA69-9ADD-E60D-49A2-C5E09A907A21}"/>
                </a:ext>
              </a:extLst>
            </p:cNvPr>
            <p:cNvCxnSpPr>
              <a:stCxn id="24" idx="2"/>
              <a:endCxn id="51" idx="2"/>
            </p:cNvCxnSpPr>
            <p:nvPr/>
          </p:nvCxnSpPr>
          <p:spPr>
            <a:xfrm rot="16200000" flipH="1">
              <a:off x="4832985" y="3960275"/>
              <a:ext cx="400540" cy="496582"/>
            </a:xfrm>
            <a:prstGeom prst="bentConnector2">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68" name="Rectangle 67">
                  <a:extLst>
                    <a:ext uri="{FF2B5EF4-FFF2-40B4-BE49-F238E27FC236}">
                      <a16:creationId xmlns="" xmlns:a16="http://schemas.microsoft.com/office/drawing/2014/main" id="{FB57FCA5-4AE7-F1D4-5313-E7C61D1521CC}"/>
                    </a:ext>
                  </a:extLst>
                </p:cNvPr>
                <p:cNvSpPr/>
                <p:nvPr/>
              </p:nvSpPr>
              <p:spPr>
                <a:xfrm>
                  <a:off x="6813706" y="2038846"/>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68" name="Rectangle 67">
                  <a:extLst>
                    <a:ext uri="{FF2B5EF4-FFF2-40B4-BE49-F238E27FC236}">
                      <a16:creationId xmlns:a16="http://schemas.microsoft.com/office/drawing/2014/main" id="{FB57FCA5-4AE7-F1D4-5313-E7C61D1521CC}"/>
                    </a:ext>
                  </a:extLst>
                </p:cNvPr>
                <p:cNvSpPr>
                  <a:spLocks noRot="1" noChangeAspect="1" noMove="1" noResize="1" noEditPoints="1" noAdjustHandles="1" noChangeArrowheads="1" noChangeShapeType="1" noTextEdit="1"/>
                </p:cNvSpPr>
                <p:nvPr/>
              </p:nvSpPr>
              <p:spPr>
                <a:xfrm>
                  <a:off x="6813706" y="2038846"/>
                  <a:ext cx="468000" cy="468000"/>
                </a:xfrm>
                <a:prstGeom prst="rect">
                  <a:avLst/>
                </a:prstGeom>
                <a:blipFill>
                  <a:blip r:embed="rId10"/>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Rectangle 68">
                  <a:extLst>
                    <a:ext uri="{FF2B5EF4-FFF2-40B4-BE49-F238E27FC236}">
                      <a16:creationId xmlns="" xmlns:a16="http://schemas.microsoft.com/office/drawing/2014/main" id="{7D97202F-5367-82C3-A597-F264450888D6}"/>
                    </a:ext>
                  </a:extLst>
                </p:cNvPr>
                <p:cNvSpPr/>
                <p:nvPr/>
              </p:nvSpPr>
              <p:spPr>
                <a:xfrm>
                  <a:off x="6807174" y="4806401"/>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𝑖</m:t>
                            </m:r>
                          </m:sub>
                        </m:sSub>
                      </m:oMath>
                    </m:oMathPara>
                  </a14:m>
                  <a:endParaRPr lang="en-US" dirty="0"/>
                </a:p>
              </p:txBody>
            </p:sp>
          </mc:Choice>
          <mc:Fallback xmlns="">
            <p:sp>
              <p:nvSpPr>
                <p:cNvPr id="69" name="Rectangle 68">
                  <a:extLst>
                    <a:ext uri="{FF2B5EF4-FFF2-40B4-BE49-F238E27FC236}">
                      <a16:creationId xmlns:a16="http://schemas.microsoft.com/office/drawing/2014/main" id="{7D97202F-5367-82C3-A597-F264450888D6}"/>
                    </a:ext>
                  </a:extLst>
                </p:cNvPr>
                <p:cNvSpPr>
                  <a:spLocks noRot="1" noChangeAspect="1" noMove="1" noResize="1" noEditPoints="1" noAdjustHandles="1" noChangeArrowheads="1" noChangeShapeType="1" noTextEdit="1"/>
                </p:cNvSpPr>
                <p:nvPr/>
              </p:nvSpPr>
              <p:spPr>
                <a:xfrm>
                  <a:off x="6807174" y="4806401"/>
                  <a:ext cx="468000" cy="468000"/>
                </a:xfrm>
                <a:prstGeom prst="rect">
                  <a:avLst/>
                </a:prstGeom>
                <a:blipFill>
                  <a:blip r:embed="rId11"/>
                  <a:stretch>
                    <a:fillRect l="-519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Rectangle 69">
                  <a:extLst>
                    <a:ext uri="{FF2B5EF4-FFF2-40B4-BE49-F238E27FC236}">
                      <a16:creationId xmlns="" xmlns:a16="http://schemas.microsoft.com/office/drawing/2014/main" id="{616304BC-E218-7F40-A5FE-AF61796A5FF8}"/>
                    </a:ext>
                  </a:extLst>
                </p:cNvPr>
                <p:cNvSpPr/>
                <p:nvPr/>
              </p:nvSpPr>
              <p:spPr>
                <a:xfrm>
                  <a:off x="7584143" y="3525918"/>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h</m:t>
                            </m:r>
                          </m:sub>
                        </m:sSub>
                      </m:oMath>
                    </m:oMathPara>
                  </a14:m>
                  <a:endParaRPr lang="en-US" dirty="0"/>
                </a:p>
              </p:txBody>
            </p:sp>
          </mc:Choice>
          <mc:Fallback xmlns="">
            <p:sp>
              <p:nvSpPr>
                <p:cNvPr id="70" name="Rectangle 69">
                  <a:extLst>
                    <a:ext uri="{FF2B5EF4-FFF2-40B4-BE49-F238E27FC236}">
                      <a16:creationId xmlns:a16="http://schemas.microsoft.com/office/drawing/2014/main" id="{616304BC-E218-7F40-A5FE-AF61796A5FF8}"/>
                    </a:ext>
                  </a:extLst>
                </p:cNvPr>
                <p:cNvSpPr>
                  <a:spLocks noRot="1" noChangeAspect="1" noMove="1" noResize="1" noEditPoints="1" noAdjustHandles="1" noChangeArrowheads="1" noChangeShapeType="1" noTextEdit="1"/>
                </p:cNvSpPr>
                <p:nvPr/>
              </p:nvSpPr>
              <p:spPr>
                <a:xfrm>
                  <a:off x="7584143" y="3525918"/>
                  <a:ext cx="468000" cy="468000"/>
                </a:xfrm>
                <a:prstGeom prst="rect">
                  <a:avLst/>
                </a:prstGeom>
                <a:blipFill>
                  <a:blip r:embed="rId12"/>
                  <a:stretch>
                    <a:fillRect l="-8974"/>
                  </a:stretch>
                </a:blipFill>
              </p:spPr>
              <p:txBody>
                <a:bodyPr/>
                <a:lstStyle/>
                <a:p>
                  <a:r>
                    <a:rPr lang="en-US">
                      <a:noFill/>
                    </a:rPr>
                    <a:t> </a:t>
                  </a:r>
                </a:p>
              </p:txBody>
            </p:sp>
          </mc:Fallback>
        </mc:AlternateContent>
        <p:sp>
          <p:nvSpPr>
            <p:cNvPr id="71" name="Oval 70">
              <a:extLst>
                <a:ext uri="{FF2B5EF4-FFF2-40B4-BE49-F238E27FC236}">
                  <a16:creationId xmlns="" xmlns:a16="http://schemas.microsoft.com/office/drawing/2014/main" id="{09273FA2-4059-259C-EA18-EB97F916DE67}"/>
                </a:ext>
              </a:extLst>
            </p:cNvPr>
            <p:cNvSpPr/>
            <p:nvPr/>
          </p:nvSpPr>
          <p:spPr>
            <a:xfrm>
              <a:off x="6828946" y="1394981"/>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72" name="Oval 71">
              <a:extLst>
                <a:ext uri="{FF2B5EF4-FFF2-40B4-BE49-F238E27FC236}">
                  <a16:creationId xmlns="" xmlns:a16="http://schemas.microsoft.com/office/drawing/2014/main" id="{DFF6184A-A6ED-0D56-4E38-4F6CDA7A0E2B}"/>
                </a:ext>
              </a:extLst>
            </p:cNvPr>
            <p:cNvSpPr/>
            <p:nvPr/>
          </p:nvSpPr>
          <p:spPr>
            <a:xfrm>
              <a:off x="6828946" y="3543918"/>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73" name="Oval 72">
              <a:extLst>
                <a:ext uri="{FF2B5EF4-FFF2-40B4-BE49-F238E27FC236}">
                  <a16:creationId xmlns="" xmlns:a16="http://schemas.microsoft.com/office/drawing/2014/main" id="{2121102B-C918-3940-6CF1-E75935317C81}"/>
                </a:ext>
              </a:extLst>
            </p:cNvPr>
            <p:cNvSpPr/>
            <p:nvPr/>
          </p:nvSpPr>
          <p:spPr>
            <a:xfrm>
              <a:off x="6828946" y="5470344"/>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74" name="Oval 73">
                  <a:extLst>
                    <a:ext uri="{FF2B5EF4-FFF2-40B4-BE49-F238E27FC236}">
                      <a16:creationId xmlns="" xmlns:a16="http://schemas.microsoft.com/office/drawing/2014/main" id="{64F9467F-B7FB-69CB-D6EF-0437402FB82C}"/>
                    </a:ext>
                  </a:extLst>
                </p:cNvPr>
                <p:cNvSpPr/>
                <p:nvPr/>
              </p:nvSpPr>
              <p:spPr>
                <a:xfrm>
                  <a:off x="6821402" y="4178458"/>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i="1">
                            <a:latin typeface="Cambria Math" panose="02040503050406030204" pitchFamily="18" charset="0"/>
                          </a:rPr>
                          <m:t>𝑓</m:t>
                        </m:r>
                        <m:r>
                          <a:rPr lang="pt-BR" sz="1400" i="1">
                            <a:latin typeface="Cambria Math" panose="02040503050406030204" pitchFamily="18" charset="0"/>
                          </a:rPr>
                          <m:t>(.)</m:t>
                        </m:r>
                      </m:oMath>
                    </m:oMathPara>
                  </a14:m>
                  <a:endParaRPr lang="en-US" sz="1400" dirty="0"/>
                </a:p>
              </p:txBody>
            </p:sp>
          </mc:Choice>
          <mc:Fallback xmlns="">
            <p:sp>
              <p:nvSpPr>
                <p:cNvPr id="74" name="Oval 73">
                  <a:extLst>
                    <a:ext uri="{FF2B5EF4-FFF2-40B4-BE49-F238E27FC236}">
                      <a16:creationId xmlns:a16="http://schemas.microsoft.com/office/drawing/2014/main" id="{64F9467F-B7FB-69CB-D6EF-0437402FB82C}"/>
                    </a:ext>
                  </a:extLst>
                </p:cNvPr>
                <p:cNvSpPr>
                  <a:spLocks noRot="1" noChangeAspect="1" noMove="1" noResize="1" noEditPoints="1" noAdjustHandles="1" noChangeArrowheads="1" noChangeShapeType="1" noTextEdit="1"/>
                </p:cNvSpPr>
                <p:nvPr/>
              </p:nvSpPr>
              <p:spPr>
                <a:xfrm>
                  <a:off x="6821402" y="4178458"/>
                  <a:ext cx="432000" cy="432000"/>
                </a:xfrm>
                <a:prstGeom prst="ellipse">
                  <a:avLst/>
                </a:prstGeom>
                <a:blipFill>
                  <a:blip r:embed="rId13"/>
                  <a:stretch>
                    <a:fillRect l="-1389" r="-8333"/>
                  </a:stretch>
                </a:blipFill>
              </p:spPr>
              <p:txBody>
                <a:bodyPr/>
                <a:lstStyle/>
                <a:p>
                  <a:r>
                    <a:rPr lang="en-US">
                      <a:noFill/>
                    </a:rPr>
                    <a:t> </a:t>
                  </a:r>
                </a:p>
              </p:txBody>
            </p:sp>
          </mc:Fallback>
        </mc:AlternateContent>
        <p:cxnSp>
          <p:nvCxnSpPr>
            <p:cNvPr id="75" name="Straight Arrow Connector 74">
              <a:extLst>
                <a:ext uri="{FF2B5EF4-FFF2-40B4-BE49-F238E27FC236}">
                  <a16:creationId xmlns="" xmlns:a16="http://schemas.microsoft.com/office/drawing/2014/main" id="{722BA7B2-AE96-181C-AD84-36105B49ABE7}"/>
                </a:ext>
              </a:extLst>
            </p:cNvPr>
            <p:cNvCxnSpPr>
              <a:stCxn id="73" idx="0"/>
              <a:endCxn id="69" idx="2"/>
            </p:cNvCxnSpPr>
            <p:nvPr/>
          </p:nvCxnSpPr>
          <p:spPr>
            <a:xfrm flipH="1" flipV="1">
              <a:off x="7041174" y="5274401"/>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6" name="Straight Arrow Connector 75">
              <a:extLst>
                <a:ext uri="{FF2B5EF4-FFF2-40B4-BE49-F238E27FC236}">
                  <a16:creationId xmlns="" xmlns:a16="http://schemas.microsoft.com/office/drawing/2014/main" id="{6C64B0C0-12C6-3252-D13D-AA422EA7C3B0}"/>
                </a:ext>
              </a:extLst>
            </p:cNvPr>
            <p:cNvCxnSpPr/>
            <p:nvPr/>
          </p:nvCxnSpPr>
          <p:spPr>
            <a:xfrm flipH="1" flipV="1">
              <a:off x="7044946" y="4610458"/>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7" name="Straight Arrow Connector 76">
              <a:extLst>
                <a:ext uri="{FF2B5EF4-FFF2-40B4-BE49-F238E27FC236}">
                  <a16:creationId xmlns="" xmlns:a16="http://schemas.microsoft.com/office/drawing/2014/main" id="{E4CA3838-A40C-8B9E-1D6B-F85B59667588}"/>
                </a:ext>
              </a:extLst>
            </p:cNvPr>
            <p:cNvCxnSpPr/>
            <p:nvPr/>
          </p:nvCxnSpPr>
          <p:spPr>
            <a:xfrm flipH="1" flipV="1">
              <a:off x="7041174" y="3982515"/>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8" name="Straight Arrow Connector 77">
              <a:extLst>
                <a:ext uri="{FF2B5EF4-FFF2-40B4-BE49-F238E27FC236}">
                  <a16:creationId xmlns="" xmlns:a16="http://schemas.microsoft.com/office/drawing/2014/main" id="{39487332-3618-8A01-F0BB-84D13D9712FF}"/>
                </a:ext>
              </a:extLst>
            </p:cNvPr>
            <p:cNvCxnSpPr>
              <a:stCxn id="72" idx="0"/>
              <a:endCxn id="68" idx="2"/>
            </p:cNvCxnSpPr>
            <p:nvPr/>
          </p:nvCxnSpPr>
          <p:spPr>
            <a:xfrm flipV="1">
              <a:off x="7044946" y="2506846"/>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9" name="Connector: Elbow 78">
              <a:extLst>
                <a:ext uri="{FF2B5EF4-FFF2-40B4-BE49-F238E27FC236}">
                  <a16:creationId xmlns="" xmlns:a16="http://schemas.microsoft.com/office/drawing/2014/main" id="{71DB84C7-7B11-1862-C76C-54F0E7671AAD}"/>
                </a:ext>
              </a:extLst>
            </p:cNvPr>
            <p:cNvCxnSpPr>
              <a:cxnSpLocks/>
              <a:endCxn id="70" idx="0"/>
            </p:cNvCxnSpPr>
            <p:nvPr/>
          </p:nvCxnSpPr>
          <p:spPr>
            <a:xfrm>
              <a:off x="7044946" y="3039760"/>
              <a:ext cx="773197" cy="486158"/>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80" name="Straight Arrow Connector 79">
              <a:extLst>
                <a:ext uri="{FF2B5EF4-FFF2-40B4-BE49-F238E27FC236}">
                  <a16:creationId xmlns="" xmlns:a16="http://schemas.microsoft.com/office/drawing/2014/main" id="{D5054840-0F89-8CAA-CC7A-84281836C332}"/>
                </a:ext>
              </a:extLst>
            </p:cNvPr>
            <p:cNvCxnSpPr/>
            <p:nvPr/>
          </p:nvCxnSpPr>
          <p:spPr>
            <a:xfrm flipH="1" flipV="1">
              <a:off x="7047789" y="1836306"/>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82" name="Connector: Elbow 81">
              <a:extLst>
                <a:ext uri="{FF2B5EF4-FFF2-40B4-BE49-F238E27FC236}">
                  <a16:creationId xmlns="" xmlns:a16="http://schemas.microsoft.com/office/drawing/2014/main" id="{169FFFE1-DA65-0934-D4DB-A1388A72A745}"/>
                </a:ext>
              </a:extLst>
            </p:cNvPr>
            <p:cNvCxnSpPr>
              <a:stCxn id="46" idx="2"/>
              <a:endCxn id="74" idx="2"/>
            </p:cNvCxnSpPr>
            <p:nvPr/>
          </p:nvCxnSpPr>
          <p:spPr>
            <a:xfrm rot="16200000" flipH="1">
              <a:off x="6345875" y="3918931"/>
              <a:ext cx="386162" cy="564891"/>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85" name="Connector: Elbow 84">
              <a:extLst>
                <a:ext uri="{FF2B5EF4-FFF2-40B4-BE49-F238E27FC236}">
                  <a16:creationId xmlns="" xmlns:a16="http://schemas.microsoft.com/office/drawing/2014/main" id="{5317DB74-CA78-5EF6-06B9-38C66CF38F67}"/>
                </a:ext>
              </a:extLst>
            </p:cNvPr>
            <p:cNvCxnSpPr>
              <a:cxnSpLocks/>
              <a:stCxn id="70" idx="2"/>
            </p:cNvCxnSpPr>
            <p:nvPr/>
          </p:nvCxnSpPr>
          <p:spPr>
            <a:xfrm rot="16200000" flipH="1">
              <a:off x="7833653" y="3978408"/>
              <a:ext cx="423458" cy="454478"/>
            </a:xfrm>
            <a:prstGeom prst="bentConnector2">
              <a:avLst/>
            </a:prstGeom>
            <a:ln>
              <a:prstDash val="dash"/>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8" name="TextBox 27">
                  <a:extLst>
                    <a:ext uri="{FF2B5EF4-FFF2-40B4-BE49-F238E27FC236}">
                      <a16:creationId xmlns="" xmlns:a16="http://schemas.microsoft.com/office/drawing/2014/main" id="{77F60FEF-A404-8FB2-5EE7-81C000751BF6}"/>
                    </a:ext>
                  </a:extLst>
                </p:cNvPr>
                <p:cNvSpPr txBox="1"/>
                <p:nvPr/>
              </p:nvSpPr>
              <p:spPr>
                <a:xfrm>
                  <a:off x="3573467" y="5569917"/>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𝒙</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r>
                          <a:rPr lang="pt-BR" sz="1000" b="0" i="1" smtClean="0">
                            <a:latin typeface="Cambria Math" panose="02040503050406030204" pitchFamily="18" charset="0"/>
                          </a:rPr>
                          <m:t>1</m:t>
                        </m:r>
                        <m:r>
                          <a:rPr lang="pt-BR" sz="1000" b="0" i="1" smtClean="0">
                            <a:latin typeface="Cambria Math" panose="02040503050406030204" pitchFamily="18" charset="0"/>
                          </a:rPr>
                          <m:t>]</m:t>
                        </m:r>
                      </m:oMath>
                    </m:oMathPara>
                  </a14:m>
                  <a:endParaRPr lang="en-US" sz="1000" b="1" dirty="0"/>
                </a:p>
              </p:txBody>
            </p:sp>
          </mc:Choice>
          <mc:Fallback xmlns="">
            <p:sp>
              <p:nvSpPr>
                <p:cNvPr id="28" name="TextBox 27">
                  <a:extLst>
                    <a:ext uri="{FF2B5EF4-FFF2-40B4-BE49-F238E27FC236}">
                      <a16:creationId xmlns:a16="http://schemas.microsoft.com/office/drawing/2014/main" id="{77F60FEF-A404-8FB2-5EE7-81C000751BF6}"/>
                    </a:ext>
                  </a:extLst>
                </p:cNvPr>
                <p:cNvSpPr txBox="1">
                  <a:spLocks noRot="1" noChangeAspect="1" noMove="1" noResize="1" noEditPoints="1" noAdjustHandles="1" noChangeArrowheads="1" noChangeShapeType="1" noTextEdit="1"/>
                </p:cNvSpPr>
                <p:nvPr/>
              </p:nvSpPr>
              <p:spPr>
                <a:xfrm>
                  <a:off x="3573467" y="5569917"/>
                  <a:ext cx="1004707" cy="246221"/>
                </a:xfrm>
                <a:prstGeom prst="rect">
                  <a:avLst/>
                </a:prstGeom>
                <a:blipFill>
                  <a:blip r:embed="rId14"/>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 xmlns:a16="http://schemas.microsoft.com/office/drawing/2014/main" id="{4E37C70B-1CCE-C852-EA6E-B0EA32D80266}"/>
                    </a:ext>
                  </a:extLst>
                </p:cNvPr>
                <p:cNvSpPr txBox="1"/>
                <p:nvPr/>
              </p:nvSpPr>
              <p:spPr>
                <a:xfrm>
                  <a:off x="5018964" y="5577611"/>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𝒙</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oMath>
                    </m:oMathPara>
                  </a14:m>
                  <a:endParaRPr lang="en-US" sz="1000" b="1" dirty="0"/>
                </a:p>
              </p:txBody>
            </p:sp>
          </mc:Choice>
          <mc:Fallback xmlns="">
            <p:sp>
              <p:nvSpPr>
                <p:cNvPr id="36" name="TextBox 35">
                  <a:extLst>
                    <a:ext uri="{FF2B5EF4-FFF2-40B4-BE49-F238E27FC236}">
                      <a16:creationId xmlns:a16="http://schemas.microsoft.com/office/drawing/2014/main" id="{4E37C70B-1CCE-C852-EA6E-B0EA32D80266}"/>
                    </a:ext>
                  </a:extLst>
                </p:cNvPr>
                <p:cNvSpPr txBox="1">
                  <a:spLocks noRot="1" noChangeAspect="1" noMove="1" noResize="1" noEditPoints="1" noAdjustHandles="1" noChangeArrowheads="1" noChangeShapeType="1" noTextEdit="1"/>
                </p:cNvSpPr>
                <p:nvPr/>
              </p:nvSpPr>
              <p:spPr>
                <a:xfrm>
                  <a:off x="5018964" y="5577611"/>
                  <a:ext cx="1004707" cy="246221"/>
                </a:xfrm>
                <a:prstGeom prst="rect">
                  <a:avLst/>
                </a:prstGeom>
                <a:blipFill>
                  <a:blip r:embed="rId15"/>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 xmlns:a16="http://schemas.microsoft.com/office/drawing/2014/main" id="{C7DCB563-40B7-B6A4-D465-0D1BADFA0CCF}"/>
                    </a:ext>
                  </a:extLst>
                </p:cNvPr>
                <p:cNvSpPr txBox="1"/>
                <p:nvPr/>
              </p:nvSpPr>
              <p:spPr>
                <a:xfrm>
                  <a:off x="6560093" y="5566725"/>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𝒙</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r>
                          <a:rPr lang="pt-BR" sz="1000" b="0" i="1" smtClean="0">
                            <a:latin typeface="Cambria Math" panose="02040503050406030204" pitchFamily="18" charset="0"/>
                          </a:rPr>
                          <m:t>1</m:t>
                        </m:r>
                        <m:r>
                          <a:rPr lang="pt-BR" sz="1000" b="0" i="1" smtClean="0">
                            <a:latin typeface="Cambria Math" panose="02040503050406030204" pitchFamily="18" charset="0"/>
                          </a:rPr>
                          <m:t>]</m:t>
                        </m:r>
                      </m:oMath>
                    </m:oMathPara>
                  </a14:m>
                  <a:endParaRPr lang="en-US" sz="1000" b="1" dirty="0"/>
                </a:p>
              </p:txBody>
            </p:sp>
          </mc:Choice>
          <mc:Fallback xmlns="">
            <p:sp>
              <p:nvSpPr>
                <p:cNvPr id="38" name="TextBox 37">
                  <a:extLst>
                    <a:ext uri="{FF2B5EF4-FFF2-40B4-BE49-F238E27FC236}">
                      <a16:creationId xmlns:a16="http://schemas.microsoft.com/office/drawing/2014/main" id="{C7DCB563-40B7-B6A4-D465-0D1BADFA0CCF}"/>
                    </a:ext>
                  </a:extLst>
                </p:cNvPr>
                <p:cNvSpPr txBox="1">
                  <a:spLocks noRot="1" noChangeAspect="1" noMove="1" noResize="1" noEditPoints="1" noAdjustHandles="1" noChangeArrowheads="1" noChangeShapeType="1" noTextEdit="1"/>
                </p:cNvSpPr>
                <p:nvPr/>
              </p:nvSpPr>
              <p:spPr>
                <a:xfrm>
                  <a:off x="6560093" y="5566725"/>
                  <a:ext cx="1004707" cy="246221"/>
                </a:xfrm>
                <a:prstGeom prst="rect">
                  <a:avLst/>
                </a:prstGeom>
                <a:blipFill>
                  <a:blip r:embed="rId16"/>
                  <a:stretch>
                    <a:fillRect b="-48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 xmlns:a16="http://schemas.microsoft.com/office/drawing/2014/main" id="{5A0C2E9F-587C-97B2-5025-2264937181F7}"/>
                    </a:ext>
                  </a:extLst>
                </p:cNvPr>
                <p:cNvSpPr txBox="1"/>
                <p:nvPr/>
              </p:nvSpPr>
              <p:spPr>
                <a:xfrm>
                  <a:off x="3584650" y="3645334"/>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𝒉</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r>
                          <a:rPr lang="pt-BR" sz="1000" b="0" i="1" smtClean="0">
                            <a:latin typeface="Cambria Math" panose="02040503050406030204" pitchFamily="18" charset="0"/>
                          </a:rPr>
                          <m:t>1</m:t>
                        </m:r>
                        <m:r>
                          <a:rPr lang="pt-BR" sz="1000" b="0" i="1" smtClean="0">
                            <a:latin typeface="Cambria Math" panose="02040503050406030204" pitchFamily="18" charset="0"/>
                          </a:rPr>
                          <m:t>]</m:t>
                        </m:r>
                      </m:oMath>
                    </m:oMathPara>
                  </a14:m>
                  <a:endParaRPr lang="en-US" sz="1000" b="1" dirty="0"/>
                </a:p>
              </p:txBody>
            </p:sp>
          </mc:Choice>
          <mc:Fallback xmlns="">
            <p:sp>
              <p:nvSpPr>
                <p:cNvPr id="40" name="TextBox 39">
                  <a:extLst>
                    <a:ext uri="{FF2B5EF4-FFF2-40B4-BE49-F238E27FC236}">
                      <a16:creationId xmlns:a16="http://schemas.microsoft.com/office/drawing/2014/main" id="{5A0C2E9F-587C-97B2-5025-2264937181F7}"/>
                    </a:ext>
                  </a:extLst>
                </p:cNvPr>
                <p:cNvSpPr txBox="1">
                  <a:spLocks noRot="1" noChangeAspect="1" noMove="1" noResize="1" noEditPoints="1" noAdjustHandles="1" noChangeArrowheads="1" noChangeShapeType="1" noTextEdit="1"/>
                </p:cNvSpPr>
                <p:nvPr/>
              </p:nvSpPr>
              <p:spPr>
                <a:xfrm>
                  <a:off x="3584650" y="3645334"/>
                  <a:ext cx="1004707" cy="246221"/>
                </a:xfrm>
                <a:prstGeom prst="rect">
                  <a:avLst/>
                </a:prstGeom>
                <a:blipFill>
                  <a:blip r:embed="rId17"/>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 xmlns:a16="http://schemas.microsoft.com/office/drawing/2014/main" id="{17395D95-79E5-D78E-09A6-D0FADC418687}"/>
                    </a:ext>
                  </a:extLst>
                </p:cNvPr>
                <p:cNvSpPr txBox="1"/>
                <p:nvPr/>
              </p:nvSpPr>
              <p:spPr>
                <a:xfrm>
                  <a:off x="5024626" y="3637725"/>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𝒉</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oMath>
                    </m:oMathPara>
                  </a14:m>
                  <a:endParaRPr lang="en-US" sz="1000" b="1" dirty="0"/>
                </a:p>
              </p:txBody>
            </p:sp>
          </mc:Choice>
          <mc:Fallback xmlns="">
            <p:sp>
              <p:nvSpPr>
                <p:cNvPr id="41" name="TextBox 40">
                  <a:extLst>
                    <a:ext uri="{FF2B5EF4-FFF2-40B4-BE49-F238E27FC236}">
                      <a16:creationId xmlns:a16="http://schemas.microsoft.com/office/drawing/2014/main" id="{17395D95-79E5-D78E-09A6-D0FADC418687}"/>
                    </a:ext>
                  </a:extLst>
                </p:cNvPr>
                <p:cNvSpPr txBox="1">
                  <a:spLocks noRot="1" noChangeAspect="1" noMove="1" noResize="1" noEditPoints="1" noAdjustHandles="1" noChangeArrowheads="1" noChangeShapeType="1" noTextEdit="1"/>
                </p:cNvSpPr>
                <p:nvPr/>
              </p:nvSpPr>
              <p:spPr>
                <a:xfrm>
                  <a:off x="5024626" y="3637725"/>
                  <a:ext cx="1004707" cy="246221"/>
                </a:xfrm>
                <a:prstGeom prst="rect">
                  <a:avLst/>
                </a:prstGeom>
                <a:blipFill>
                  <a:blip r:embed="rId18"/>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 xmlns:a16="http://schemas.microsoft.com/office/drawing/2014/main" id="{E06A6EBF-4AE5-6650-6BFA-221AD79ED5F5}"/>
                    </a:ext>
                  </a:extLst>
                </p:cNvPr>
                <p:cNvSpPr txBox="1"/>
                <p:nvPr/>
              </p:nvSpPr>
              <p:spPr>
                <a:xfrm>
                  <a:off x="6560092" y="3621567"/>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𝒉</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r>
                          <a:rPr lang="pt-BR" sz="1000" b="0" i="1" smtClean="0">
                            <a:latin typeface="Cambria Math" panose="02040503050406030204" pitchFamily="18" charset="0"/>
                          </a:rPr>
                          <m:t>1</m:t>
                        </m:r>
                        <m:r>
                          <a:rPr lang="pt-BR" sz="1000" b="0" i="1" smtClean="0">
                            <a:latin typeface="Cambria Math" panose="02040503050406030204" pitchFamily="18" charset="0"/>
                          </a:rPr>
                          <m:t>]</m:t>
                        </m:r>
                      </m:oMath>
                    </m:oMathPara>
                  </a14:m>
                  <a:endParaRPr lang="en-US" sz="1000" b="1" dirty="0"/>
                </a:p>
              </p:txBody>
            </p:sp>
          </mc:Choice>
          <mc:Fallback xmlns="">
            <p:sp>
              <p:nvSpPr>
                <p:cNvPr id="42" name="TextBox 41">
                  <a:extLst>
                    <a:ext uri="{FF2B5EF4-FFF2-40B4-BE49-F238E27FC236}">
                      <a16:creationId xmlns:a16="http://schemas.microsoft.com/office/drawing/2014/main" id="{E06A6EBF-4AE5-6650-6BFA-221AD79ED5F5}"/>
                    </a:ext>
                  </a:extLst>
                </p:cNvPr>
                <p:cNvSpPr txBox="1">
                  <a:spLocks noRot="1" noChangeAspect="1" noMove="1" noResize="1" noEditPoints="1" noAdjustHandles="1" noChangeArrowheads="1" noChangeShapeType="1" noTextEdit="1"/>
                </p:cNvSpPr>
                <p:nvPr/>
              </p:nvSpPr>
              <p:spPr>
                <a:xfrm>
                  <a:off x="6560092" y="3621567"/>
                  <a:ext cx="1004707" cy="246221"/>
                </a:xfrm>
                <a:prstGeom prst="rect">
                  <a:avLst/>
                </a:prstGeom>
                <a:blipFill>
                  <a:blip r:embed="rId19"/>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 xmlns:a16="http://schemas.microsoft.com/office/drawing/2014/main" id="{65384143-FEF8-7CF0-F802-2CC38B7C25D8}"/>
                    </a:ext>
                  </a:extLst>
                </p:cNvPr>
                <p:cNvSpPr txBox="1"/>
                <p:nvPr/>
              </p:nvSpPr>
              <p:spPr>
                <a:xfrm>
                  <a:off x="3582991" y="1493574"/>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acc>
                          <m:accPr>
                            <m:chr m:val="̂"/>
                            <m:ctrlPr>
                              <a:rPr lang="pt-BR" sz="1000" b="1" i="1">
                                <a:latin typeface="Cambria Math" panose="02040503050406030204" pitchFamily="18" charset="0"/>
                              </a:rPr>
                            </m:ctrlPr>
                          </m:accPr>
                          <m:e>
                            <m:r>
                              <a:rPr lang="pt-BR" sz="1000" b="1" i="1">
                                <a:latin typeface="Cambria Math" panose="02040503050406030204" pitchFamily="18" charset="0"/>
                              </a:rPr>
                              <m:t>𝒚</m:t>
                            </m:r>
                          </m:e>
                        </m:acc>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r>
                          <a:rPr lang="pt-BR" sz="1000" b="0" i="1" smtClean="0">
                            <a:latin typeface="Cambria Math" panose="02040503050406030204" pitchFamily="18" charset="0"/>
                          </a:rPr>
                          <m:t>1</m:t>
                        </m:r>
                        <m:r>
                          <a:rPr lang="pt-BR" sz="1000" b="0" i="1" smtClean="0">
                            <a:latin typeface="Cambria Math" panose="02040503050406030204" pitchFamily="18" charset="0"/>
                          </a:rPr>
                          <m:t>]</m:t>
                        </m:r>
                      </m:oMath>
                    </m:oMathPara>
                  </a14:m>
                  <a:endParaRPr lang="en-US" sz="1000" b="1" dirty="0"/>
                </a:p>
              </p:txBody>
            </p:sp>
          </mc:Choice>
          <mc:Fallback xmlns="">
            <p:sp>
              <p:nvSpPr>
                <p:cNvPr id="43" name="TextBox 42">
                  <a:extLst>
                    <a:ext uri="{FF2B5EF4-FFF2-40B4-BE49-F238E27FC236}">
                      <a16:creationId xmlns:a16="http://schemas.microsoft.com/office/drawing/2014/main" id="{65384143-FEF8-7CF0-F802-2CC38B7C25D8}"/>
                    </a:ext>
                  </a:extLst>
                </p:cNvPr>
                <p:cNvSpPr txBox="1">
                  <a:spLocks noRot="1" noChangeAspect="1" noMove="1" noResize="1" noEditPoints="1" noAdjustHandles="1" noChangeArrowheads="1" noChangeShapeType="1" noTextEdit="1"/>
                </p:cNvSpPr>
                <p:nvPr/>
              </p:nvSpPr>
              <p:spPr>
                <a:xfrm>
                  <a:off x="3582991" y="1493574"/>
                  <a:ext cx="1004707" cy="246221"/>
                </a:xfrm>
                <a:prstGeom prst="rect">
                  <a:avLst/>
                </a:prstGeom>
                <a:blipFill>
                  <a:blip r:embed="rId20"/>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 xmlns:a16="http://schemas.microsoft.com/office/drawing/2014/main" id="{E3AD042C-4051-B4C6-A8B2-8015CF873920}"/>
                    </a:ext>
                  </a:extLst>
                </p:cNvPr>
                <p:cNvSpPr txBox="1"/>
                <p:nvPr/>
              </p:nvSpPr>
              <p:spPr>
                <a:xfrm>
                  <a:off x="5033255" y="1486992"/>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acc>
                          <m:accPr>
                            <m:chr m:val="̂"/>
                            <m:ctrlPr>
                              <a:rPr lang="pt-BR" sz="1000" b="1" i="1">
                                <a:latin typeface="Cambria Math" panose="02040503050406030204" pitchFamily="18" charset="0"/>
                              </a:rPr>
                            </m:ctrlPr>
                          </m:accPr>
                          <m:e>
                            <m:r>
                              <a:rPr lang="pt-BR" sz="1000" b="1" i="1">
                                <a:latin typeface="Cambria Math" panose="02040503050406030204" pitchFamily="18" charset="0"/>
                              </a:rPr>
                              <m:t>𝒚</m:t>
                            </m:r>
                          </m:e>
                        </m:acc>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oMath>
                    </m:oMathPara>
                  </a14:m>
                  <a:endParaRPr lang="en-US" sz="1000" b="1" dirty="0"/>
                </a:p>
              </p:txBody>
            </p:sp>
          </mc:Choice>
          <mc:Fallback xmlns="">
            <p:sp>
              <p:nvSpPr>
                <p:cNvPr id="50" name="TextBox 49">
                  <a:extLst>
                    <a:ext uri="{FF2B5EF4-FFF2-40B4-BE49-F238E27FC236}">
                      <a16:creationId xmlns:a16="http://schemas.microsoft.com/office/drawing/2014/main" id="{E3AD042C-4051-B4C6-A8B2-8015CF873920}"/>
                    </a:ext>
                  </a:extLst>
                </p:cNvPr>
                <p:cNvSpPr txBox="1">
                  <a:spLocks noRot="1" noChangeAspect="1" noMove="1" noResize="1" noEditPoints="1" noAdjustHandles="1" noChangeArrowheads="1" noChangeShapeType="1" noTextEdit="1"/>
                </p:cNvSpPr>
                <p:nvPr/>
              </p:nvSpPr>
              <p:spPr>
                <a:xfrm>
                  <a:off x="5033255" y="1486992"/>
                  <a:ext cx="1004707" cy="246221"/>
                </a:xfrm>
                <a:prstGeom prst="rect">
                  <a:avLst/>
                </a:prstGeom>
                <a:blipFill>
                  <a:blip r:embed="rId21"/>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 xmlns:a16="http://schemas.microsoft.com/office/drawing/2014/main" id="{8312CF0C-65D9-B808-C295-661A2F44742D}"/>
                    </a:ext>
                  </a:extLst>
                </p:cNvPr>
                <p:cNvSpPr txBox="1"/>
                <p:nvPr/>
              </p:nvSpPr>
              <p:spPr>
                <a:xfrm>
                  <a:off x="6567235" y="1481955"/>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acc>
                          <m:accPr>
                            <m:chr m:val="̂"/>
                            <m:ctrlPr>
                              <a:rPr lang="pt-BR" sz="1000" b="1" i="1">
                                <a:latin typeface="Cambria Math" panose="02040503050406030204" pitchFamily="18" charset="0"/>
                              </a:rPr>
                            </m:ctrlPr>
                          </m:accPr>
                          <m:e>
                            <m:r>
                              <a:rPr lang="pt-BR" sz="1000" b="1" i="1">
                                <a:latin typeface="Cambria Math" panose="02040503050406030204" pitchFamily="18" charset="0"/>
                              </a:rPr>
                              <m:t>𝒚</m:t>
                            </m:r>
                          </m:e>
                        </m:acc>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r>
                          <a:rPr lang="pt-BR" sz="1000" b="0" i="1" smtClean="0">
                            <a:latin typeface="Cambria Math" panose="02040503050406030204" pitchFamily="18" charset="0"/>
                          </a:rPr>
                          <m:t>1</m:t>
                        </m:r>
                        <m:r>
                          <a:rPr lang="pt-BR" sz="1000" b="0" i="1" smtClean="0">
                            <a:latin typeface="Cambria Math" panose="02040503050406030204" pitchFamily="18" charset="0"/>
                          </a:rPr>
                          <m:t>]</m:t>
                        </m:r>
                      </m:oMath>
                    </m:oMathPara>
                  </a14:m>
                  <a:endParaRPr lang="en-US" sz="1000" b="1" dirty="0"/>
                </a:p>
              </p:txBody>
            </p:sp>
          </mc:Choice>
          <mc:Fallback xmlns="">
            <p:sp>
              <p:nvSpPr>
                <p:cNvPr id="60" name="TextBox 59">
                  <a:extLst>
                    <a:ext uri="{FF2B5EF4-FFF2-40B4-BE49-F238E27FC236}">
                      <a16:creationId xmlns:a16="http://schemas.microsoft.com/office/drawing/2014/main" id="{8312CF0C-65D9-B808-C295-661A2F44742D}"/>
                    </a:ext>
                  </a:extLst>
                </p:cNvPr>
                <p:cNvSpPr txBox="1">
                  <a:spLocks noRot="1" noChangeAspect="1" noMove="1" noResize="1" noEditPoints="1" noAdjustHandles="1" noChangeArrowheads="1" noChangeShapeType="1" noTextEdit="1"/>
                </p:cNvSpPr>
                <p:nvPr/>
              </p:nvSpPr>
              <p:spPr>
                <a:xfrm>
                  <a:off x="6567235" y="1481955"/>
                  <a:ext cx="1004707" cy="246221"/>
                </a:xfrm>
                <a:prstGeom prst="rect">
                  <a:avLst/>
                </a:prstGeom>
                <a:blipFill>
                  <a:blip r:embed="rId22"/>
                  <a:stretch>
                    <a:fillRect b="-7500"/>
                  </a:stretch>
                </a:blipFill>
              </p:spPr>
              <p:txBody>
                <a:bodyPr/>
                <a:lstStyle/>
                <a:p>
                  <a:r>
                    <a:rPr lang="en-US">
                      <a:noFill/>
                    </a:rPr>
                    <a:t> </a:t>
                  </a:r>
                </a:p>
              </p:txBody>
            </p:sp>
          </mc:Fallback>
        </mc:AlternateContent>
      </p:grpSp>
    </p:spTree>
    <p:extLst>
      <p:ext uri="{BB962C8B-B14F-4D97-AF65-F5344CB8AC3E}">
        <p14:creationId xmlns:p14="http://schemas.microsoft.com/office/powerpoint/2010/main" val="10142946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6AFC46F5-9D39-3200-9315-7E41F8A21564}"/>
            </a:ext>
          </a:extLst>
        </p:cNvPr>
        <p:cNvGrpSpPr/>
        <p:nvPr/>
      </p:nvGrpSpPr>
      <p:grpSpPr>
        <a:xfrm>
          <a:off x="0" y="0"/>
          <a:ext cx="0" cy="0"/>
          <a:chOff x="0" y="0"/>
          <a:chExt cx="0" cy="0"/>
        </a:xfrm>
      </p:grpSpPr>
      <p:grpSp>
        <p:nvGrpSpPr>
          <p:cNvPr id="100" name="Group 99">
            <a:extLst>
              <a:ext uri="{FF2B5EF4-FFF2-40B4-BE49-F238E27FC236}">
                <a16:creationId xmlns="" xmlns:a16="http://schemas.microsoft.com/office/drawing/2014/main" id="{5848EDA5-D183-93CF-2EA4-41FF8DEF531E}"/>
              </a:ext>
            </a:extLst>
          </p:cNvPr>
          <p:cNvGrpSpPr/>
          <p:nvPr/>
        </p:nvGrpSpPr>
        <p:grpSpPr>
          <a:xfrm>
            <a:off x="3532909" y="1911927"/>
            <a:ext cx="3090150" cy="2613440"/>
            <a:chOff x="3532909" y="1911927"/>
            <a:chExt cx="3090150" cy="2613440"/>
          </a:xfrm>
        </p:grpSpPr>
        <p:sp>
          <p:nvSpPr>
            <p:cNvPr id="3" name="Rectangle 2">
              <a:extLst>
                <a:ext uri="{FF2B5EF4-FFF2-40B4-BE49-F238E27FC236}">
                  <a16:creationId xmlns="" xmlns:a16="http://schemas.microsoft.com/office/drawing/2014/main" id="{C0534D28-CEEB-F347-7428-695FCFDD6FD0}"/>
                </a:ext>
              </a:extLst>
            </p:cNvPr>
            <p:cNvSpPr/>
            <p:nvPr/>
          </p:nvSpPr>
          <p:spPr>
            <a:xfrm>
              <a:off x="3532909" y="3034145"/>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sp>
          <p:nvSpPr>
            <p:cNvPr id="5" name="Rectangle 4">
              <a:extLst>
                <a:ext uri="{FF2B5EF4-FFF2-40B4-BE49-F238E27FC236}">
                  <a16:creationId xmlns="" xmlns:a16="http://schemas.microsoft.com/office/drawing/2014/main" id="{026D259C-2F42-013A-4513-8545895EBC0A}"/>
                </a:ext>
              </a:extLst>
            </p:cNvPr>
            <p:cNvSpPr/>
            <p:nvPr/>
          </p:nvSpPr>
          <p:spPr>
            <a:xfrm>
              <a:off x="4371108" y="3039176"/>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sp>
          <p:nvSpPr>
            <p:cNvPr id="6" name="Rectangle 5">
              <a:extLst>
                <a:ext uri="{FF2B5EF4-FFF2-40B4-BE49-F238E27FC236}">
                  <a16:creationId xmlns="" xmlns:a16="http://schemas.microsoft.com/office/drawing/2014/main" id="{22DC3002-17E7-8F70-DAB0-4CE49CBA033A}"/>
                </a:ext>
              </a:extLst>
            </p:cNvPr>
            <p:cNvSpPr/>
            <p:nvPr/>
          </p:nvSpPr>
          <p:spPr>
            <a:xfrm>
              <a:off x="5209307" y="3034145"/>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sp>
          <p:nvSpPr>
            <p:cNvPr id="7" name="Rectangle 6">
              <a:extLst>
                <a:ext uri="{FF2B5EF4-FFF2-40B4-BE49-F238E27FC236}">
                  <a16:creationId xmlns="" xmlns:a16="http://schemas.microsoft.com/office/drawing/2014/main" id="{8EF0ACA0-1266-E99E-2733-10E832A0C15D}"/>
                </a:ext>
              </a:extLst>
            </p:cNvPr>
            <p:cNvSpPr/>
            <p:nvPr/>
          </p:nvSpPr>
          <p:spPr>
            <a:xfrm>
              <a:off x="6047506" y="3039504"/>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cxnSp>
          <p:nvCxnSpPr>
            <p:cNvPr id="9" name="Straight Arrow Connector 8">
              <a:extLst>
                <a:ext uri="{FF2B5EF4-FFF2-40B4-BE49-F238E27FC236}">
                  <a16:creationId xmlns="" xmlns:a16="http://schemas.microsoft.com/office/drawing/2014/main" id="{F7F6D4AE-C331-40DD-5100-DC5C7B3F44A9}"/>
                </a:ext>
              </a:extLst>
            </p:cNvPr>
            <p:cNvCxnSpPr>
              <a:stCxn id="3" idx="3"/>
              <a:endCxn id="5" idx="1"/>
            </p:cNvCxnSpPr>
            <p:nvPr/>
          </p:nvCxnSpPr>
          <p:spPr>
            <a:xfrm>
              <a:off x="4072909" y="3236604"/>
              <a:ext cx="298199" cy="503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 xmlns:a16="http://schemas.microsoft.com/office/drawing/2014/main" id="{386C2C92-0CC5-ADC3-4EEC-0177DFD60A37}"/>
                </a:ext>
              </a:extLst>
            </p:cNvPr>
            <p:cNvCxnSpPr>
              <a:stCxn id="5" idx="3"/>
              <a:endCxn id="6" idx="1"/>
            </p:cNvCxnSpPr>
            <p:nvPr/>
          </p:nvCxnSpPr>
          <p:spPr>
            <a:xfrm flipV="1">
              <a:off x="4911108" y="3236604"/>
              <a:ext cx="298199" cy="503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3" name="Straight Arrow Connector 12">
              <a:extLst>
                <a:ext uri="{FF2B5EF4-FFF2-40B4-BE49-F238E27FC236}">
                  <a16:creationId xmlns="" xmlns:a16="http://schemas.microsoft.com/office/drawing/2014/main" id="{EFF6839D-CACE-9E2F-A029-736CE3391E11}"/>
                </a:ext>
              </a:extLst>
            </p:cNvPr>
            <p:cNvCxnSpPr>
              <a:stCxn id="6" idx="3"/>
              <a:endCxn id="7" idx="1"/>
            </p:cNvCxnSpPr>
            <p:nvPr/>
          </p:nvCxnSpPr>
          <p:spPr>
            <a:xfrm>
              <a:off x="5749307" y="3236604"/>
              <a:ext cx="298199" cy="53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 name="Oval 13">
                  <a:extLst>
                    <a:ext uri="{FF2B5EF4-FFF2-40B4-BE49-F238E27FC236}">
                      <a16:creationId xmlns="" xmlns:a16="http://schemas.microsoft.com/office/drawing/2014/main" id="{8A25C4F4-BDDD-1357-5894-BBBEAB136FDF}"/>
                    </a:ext>
                  </a:extLst>
                </p:cNvPr>
                <p:cNvSpPr/>
                <p:nvPr/>
              </p:nvSpPr>
              <p:spPr>
                <a:xfrm>
                  <a:off x="3595091" y="3751117"/>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𝒙</m:t>
                        </m:r>
                        <m:r>
                          <a:rPr lang="pt-BR" sz="1400" b="0" i="1" smtClean="0">
                            <a:latin typeface="Cambria Math" panose="02040503050406030204" pitchFamily="18" charset="0"/>
                          </a:rPr>
                          <m:t>[0]</m:t>
                        </m:r>
                      </m:oMath>
                    </m:oMathPara>
                  </a14:m>
                  <a:endParaRPr lang="en-US" sz="1400" dirty="0"/>
                </a:p>
              </p:txBody>
            </p:sp>
          </mc:Choice>
          <mc:Fallback xmlns="">
            <p:sp>
              <p:nvSpPr>
                <p:cNvPr id="14" name="Oval 13">
                  <a:extLst>
                    <a:ext uri="{FF2B5EF4-FFF2-40B4-BE49-F238E27FC236}">
                      <a16:creationId xmlns:a16="http://schemas.microsoft.com/office/drawing/2014/main" id="{8A25C4F4-BDDD-1357-5894-BBBEAB136FDF}"/>
                    </a:ext>
                  </a:extLst>
                </p:cNvPr>
                <p:cNvSpPr>
                  <a:spLocks noRot="1" noChangeAspect="1" noMove="1" noResize="1" noEditPoints="1" noAdjustHandles="1" noChangeArrowheads="1" noChangeShapeType="1" noTextEdit="1"/>
                </p:cNvSpPr>
                <p:nvPr/>
              </p:nvSpPr>
              <p:spPr>
                <a:xfrm>
                  <a:off x="3595091" y="3751117"/>
                  <a:ext cx="415636" cy="404918"/>
                </a:xfrm>
                <a:prstGeom prst="ellipse">
                  <a:avLst/>
                </a:prstGeom>
                <a:blipFill>
                  <a:blip r:embed="rId2"/>
                  <a:stretch>
                    <a:fillRect l="-5797" r="-2899"/>
                  </a:stretch>
                </a:blipFill>
              </p:spPr>
              <p:txBody>
                <a:bodyPr/>
                <a:lstStyle/>
                <a:p>
                  <a:r>
                    <a:rPr lang="en-US">
                      <a:noFill/>
                    </a:rPr>
                    <a:t> </a:t>
                  </a:r>
                </a:p>
              </p:txBody>
            </p:sp>
          </mc:Fallback>
        </mc:AlternateContent>
        <p:cxnSp>
          <p:nvCxnSpPr>
            <p:cNvPr id="16" name="Straight Arrow Connector 15">
              <a:extLst>
                <a:ext uri="{FF2B5EF4-FFF2-40B4-BE49-F238E27FC236}">
                  <a16:creationId xmlns="" xmlns:a16="http://schemas.microsoft.com/office/drawing/2014/main" id="{2FDBCC82-BD5A-68A7-87A4-4A651886FB80}"/>
                </a:ext>
              </a:extLst>
            </p:cNvPr>
            <p:cNvCxnSpPr>
              <a:stCxn id="14" idx="0"/>
              <a:endCxn id="3" idx="2"/>
            </p:cNvCxnSpPr>
            <p:nvPr/>
          </p:nvCxnSpPr>
          <p:spPr>
            <a:xfrm flipV="1">
              <a:off x="3802909" y="3439063"/>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7" name="Oval 16">
                  <a:extLst>
                    <a:ext uri="{FF2B5EF4-FFF2-40B4-BE49-F238E27FC236}">
                      <a16:creationId xmlns="" xmlns:a16="http://schemas.microsoft.com/office/drawing/2014/main" id="{52722EC4-648E-315C-70C6-C19E306B6E14}"/>
                    </a:ext>
                  </a:extLst>
                </p:cNvPr>
                <p:cNvSpPr/>
                <p:nvPr/>
              </p:nvSpPr>
              <p:spPr>
                <a:xfrm>
                  <a:off x="4432962" y="3751117"/>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𝒙</m:t>
                        </m:r>
                        <m:r>
                          <a:rPr lang="pt-BR" sz="1400" b="0" i="1" smtClean="0">
                            <a:latin typeface="Cambria Math" panose="02040503050406030204" pitchFamily="18" charset="0"/>
                          </a:rPr>
                          <m:t>[1]</m:t>
                        </m:r>
                      </m:oMath>
                    </m:oMathPara>
                  </a14:m>
                  <a:endParaRPr lang="en-US" sz="1400" dirty="0"/>
                </a:p>
              </p:txBody>
            </p:sp>
          </mc:Choice>
          <mc:Fallback xmlns="">
            <p:sp>
              <p:nvSpPr>
                <p:cNvPr id="17" name="Oval 16">
                  <a:extLst>
                    <a:ext uri="{FF2B5EF4-FFF2-40B4-BE49-F238E27FC236}">
                      <a16:creationId xmlns:a16="http://schemas.microsoft.com/office/drawing/2014/main" id="{52722EC4-648E-315C-70C6-C19E306B6E14}"/>
                    </a:ext>
                  </a:extLst>
                </p:cNvPr>
                <p:cNvSpPr>
                  <a:spLocks noRot="1" noChangeAspect="1" noMove="1" noResize="1" noEditPoints="1" noAdjustHandles="1" noChangeArrowheads="1" noChangeShapeType="1" noTextEdit="1"/>
                </p:cNvSpPr>
                <p:nvPr/>
              </p:nvSpPr>
              <p:spPr>
                <a:xfrm>
                  <a:off x="4432962" y="3751117"/>
                  <a:ext cx="415636" cy="404918"/>
                </a:xfrm>
                <a:prstGeom prst="ellipse">
                  <a:avLst/>
                </a:prstGeom>
                <a:blipFill>
                  <a:blip r:embed="rId3"/>
                  <a:stretch>
                    <a:fillRect l="-4348" r="-2899"/>
                  </a:stretch>
                </a:blipFill>
              </p:spPr>
              <p:txBody>
                <a:bodyPr/>
                <a:lstStyle/>
                <a:p>
                  <a:r>
                    <a:rPr lang="en-US">
                      <a:noFill/>
                    </a:rPr>
                    <a:t> </a:t>
                  </a:r>
                </a:p>
              </p:txBody>
            </p:sp>
          </mc:Fallback>
        </mc:AlternateContent>
        <p:cxnSp>
          <p:nvCxnSpPr>
            <p:cNvPr id="18" name="Straight Arrow Connector 17">
              <a:extLst>
                <a:ext uri="{FF2B5EF4-FFF2-40B4-BE49-F238E27FC236}">
                  <a16:creationId xmlns="" xmlns:a16="http://schemas.microsoft.com/office/drawing/2014/main" id="{B83D5045-507C-09DE-9249-D35934725844}"/>
                </a:ext>
              </a:extLst>
            </p:cNvPr>
            <p:cNvCxnSpPr>
              <a:stCxn id="17" idx="0"/>
            </p:cNvCxnSpPr>
            <p:nvPr/>
          </p:nvCxnSpPr>
          <p:spPr>
            <a:xfrm flipV="1">
              <a:off x="4640780" y="3439063"/>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9" name="Oval 18">
                  <a:extLst>
                    <a:ext uri="{FF2B5EF4-FFF2-40B4-BE49-F238E27FC236}">
                      <a16:creationId xmlns="" xmlns:a16="http://schemas.microsoft.com/office/drawing/2014/main" id="{C5E5668A-3613-7850-70F3-C9B8E4A52FF1}"/>
                    </a:ext>
                  </a:extLst>
                </p:cNvPr>
                <p:cNvSpPr/>
                <p:nvPr/>
              </p:nvSpPr>
              <p:spPr>
                <a:xfrm>
                  <a:off x="5270834" y="3751117"/>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𝒙</m:t>
                        </m:r>
                        <m:r>
                          <a:rPr lang="pt-BR" sz="1400" b="0" i="1" smtClean="0">
                            <a:latin typeface="Cambria Math" panose="02040503050406030204" pitchFamily="18" charset="0"/>
                          </a:rPr>
                          <m:t>[2]</m:t>
                        </m:r>
                      </m:oMath>
                    </m:oMathPara>
                  </a14:m>
                  <a:endParaRPr lang="en-US" sz="1400" dirty="0"/>
                </a:p>
              </p:txBody>
            </p:sp>
          </mc:Choice>
          <mc:Fallback xmlns="">
            <p:sp>
              <p:nvSpPr>
                <p:cNvPr id="19" name="Oval 18">
                  <a:extLst>
                    <a:ext uri="{FF2B5EF4-FFF2-40B4-BE49-F238E27FC236}">
                      <a16:creationId xmlns:a16="http://schemas.microsoft.com/office/drawing/2014/main" id="{C5E5668A-3613-7850-70F3-C9B8E4A52FF1}"/>
                    </a:ext>
                  </a:extLst>
                </p:cNvPr>
                <p:cNvSpPr>
                  <a:spLocks noRot="1" noChangeAspect="1" noMove="1" noResize="1" noEditPoints="1" noAdjustHandles="1" noChangeArrowheads="1" noChangeShapeType="1" noTextEdit="1"/>
                </p:cNvSpPr>
                <p:nvPr/>
              </p:nvSpPr>
              <p:spPr>
                <a:xfrm>
                  <a:off x="5270834" y="3751117"/>
                  <a:ext cx="415636" cy="404918"/>
                </a:xfrm>
                <a:prstGeom prst="ellipse">
                  <a:avLst/>
                </a:prstGeom>
                <a:blipFill>
                  <a:blip r:embed="rId4"/>
                  <a:stretch>
                    <a:fillRect l="-5797" r="-2899"/>
                  </a:stretch>
                </a:blipFill>
              </p:spPr>
              <p:txBody>
                <a:bodyPr/>
                <a:lstStyle/>
                <a:p>
                  <a:r>
                    <a:rPr lang="en-US">
                      <a:noFill/>
                    </a:rPr>
                    <a:t> </a:t>
                  </a:r>
                </a:p>
              </p:txBody>
            </p:sp>
          </mc:Fallback>
        </mc:AlternateContent>
        <p:cxnSp>
          <p:nvCxnSpPr>
            <p:cNvPr id="20" name="Straight Arrow Connector 19">
              <a:extLst>
                <a:ext uri="{FF2B5EF4-FFF2-40B4-BE49-F238E27FC236}">
                  <a16:creationId xmlns="" xmlns:a16="http://schemas.microsoft.com/office/drawing/2014/main" id="{F7E15D01-6FDB-794A-E003-736262810557}"/>
                </a:ext>
              </a:extLst>
            </p:cNvPr>
            <p:cNvCxnSpPr>
              <a:stCxn id="19" idx="0"/>
            </p:cNvCxnSpPr>
            <p:nvPr/>
          </p:nvCxnSpPr>
          <p:spPr>
            <a:xfrm flipV="1">
              <a:off x="5478652" y="3439063"/>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1" name="Oval 20">
                  <a:extLst>
                    <a:ext uri="{FF2B5EF4-FFF2-40B4-BE49-F238E27FC236}">
                      <a16:creationId xmlns="" xmlns:a16="http://schemas.microsoft.com/office/drawing/2014/main" id="{0031823E-FE60-1D2D-F19F-55B0E209D968}"/>
                    </a:ext>
                  </a:extLst>
                </p:cNvPr>
                <p:cNvSpPr/>
                <p:nvPr/>
              </p:nvSpPr>
              <p:spPr>
                <a:xfrm>
                  <a:off x="6129160" y="3751117"/>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𝒙</m:t>
                        </m:r>
                        <m:r>
                          <a:rPr lang="pt-BR" sz="1400" b="0" i="1" smtClean="0">
                            <a:latin typeface="Cambria Math" panose="02040503050406030204" pitchFamily="18" charset="0"/>
                          </a:rPr>
                          <m:t>[3]</m:t>
                        </m:r>
                      </m:oMath>
                    </m:oMathPara>
                  </a14:m>
                  <a:endParaRPr lang="en-US" sz="1400" dirty="0"/>
                </a:p>
              </p:txBody>
            </p:sp>
          </mc:Choice>
          <mc:Fallback xmlns="">
            <p:sp>
              <p:nvSpPr>
                <p:cNvPr id="21" name="Oval 20">
                  <a:extLst>
                    <a:ext uri="{FF2B5EF4-FFF2-40B4-BE49-F238E27FC236}">
                      <a16:creationId xmlns:a16="http://schemas.microsoft.com/office/drawing/2014/main" id="{0031823E-FE60-1D2D-F19F-55B0E209D968}"/>
                    </a:ext>
                  </a:extLst>
                </p:cNvPr>
                <p:cNvSpPr>
                  <a:spLocks noRot="1" noChangeAspect="1" noMove="1" noResize="1" noEditPoints="1" noAdjustHandles="1" noChangeArrowheads="1" noChangeShapeType="1" noTextEdit="1"/>
                </p:cNvSpPr>
                <p:nvPr/>
              </p:nvSpPr>
              <p:spPr>
                <a:xfrm>
                  <a:off x="6129160" y="3751117"/>
                  <a:ext cx="415636" cy="404918"/>
                </a:xfrm>
                <a:prstGeom prst="ellipse">
                  <a:avLst/>
                </a:prstGeom>
                <a:blipFill>
                  <a:blip r:embed="rId5"/>
                  <a:stretch>
                    <a:fillRect l="-4286" r="-2857"/>
                  </a:stretch>
                </a:blipFill>
              </p:spPr>
              <p:txBody>
                <a:bodyPr/>
                <a:lstStyle/>
                <a:p>
                  <a:r>
                    <a:rPr lang="en-US">
                      <a:noFill/>
                    </a:rPr>
                    <a:t> </a:t>
                  </a:r>
                </a:p>
              </p:txBody>
            </p:sp>
          </mc:Fallback>
        </mc:AlternateContent>
        <p:cxnSp>
          <p:nvCxnSpPr>
            <p:cNvPr id="35" name="Straight Arrow Connector 34">
              <a:extLst>
                <a:ext uri="{FF2B5EF4-FFF2-40B4-BE49-F238E27FC236}">
                  <a16:creationId xmlns="" xmlns:a16="http://schemas.microsoft.com/office/drawing/2014/main" id="{4F964C84-B656-9E27-A3FA-BB652F5F18AF}"/>
                </a:ext>
              </a:extLst>
            </p:cNvPr>
            <p:cNvCxnSpPr>
              <a:stCxn id="21" idx="0"/>
            </p:cNvCxnSpPr>
            <p:nvPr/>
          </p:nvCxnSpPr>
          <p:spPr>
            <a:xfrm flipV="1">
              <a:off x="6336978" y="3439063"/>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7" name="TextBox 56">
              <a:extLst>
                <a:ext uri="{FF2B5EF4-FFF2-40B4-BE49-F238E27FC236}">
                  <a16:creationId xmlns="" xmlns:a16="http://schemas.microsoft.com/office/drawing/2014/main" id="{D3E890DB-71EF-713A-14D8-3C24E4337EE1}"/>
                </a:ext>
              </a:extLst>
            </p:cNvPr>
            <p:cNvSpPr txBox="1"/>
            <p:nvPr/>
          </p:nvSpPr>
          <p:spPr>
            <a:xfrm>
              <a:off x="3634433" y="4156035"/>
              <a:ext cx="336952" cy="369332"/>
            </a:xfrm>
            <a:prstGeom prst="rect">
              <a:avLst/>
            </a:prstGeom>
            <a:noFill/>
          </p:spPr>
          <p:txBody>
            <a:bodyPr wrap="none" rtlCol="0">
              <a:spAutoFit/>
            </a:bodyPr>
            <a:lstStyle/>
            <a:p>
              <a:r>
                <a:rPr lang="pt-BR" dirty="0"/>
                <a:t>O</a:t>
              </a:r>
              <a:endParaRPr lang="en-US" dirty="0"/>
            </a:p>
          </p:txBody>
        </p:sp>
        <p:sp>
          <p:nvSpPr>
            <p:cNvPr id="58" name="TextBox 57">
              <a:extLst>
                <a:ext uri="{FF2B5EF4-FFF2-40B4-BE49-F238E27FC236}">
                  <a16:creationId xmlns="" xmlns:a16="http://schemas.microsoft.com/office/drawing/2014/main" id="{57B34361-3900-1266-3D58-C3384D25DB7D}"/>
                </a:ext>
              </a:extLst>
            </p:cNvPr>
            <p:cNvSpPr txBox="1"/>
            <p:nvPr/>
          </p:nvSpPr>
          <p:spPr>
            <a:xfrm>
              <a:off x="4391414" y="4151004"/>
              <a:ext cx="519694" cy="369332"/>
            </a:xfrm>
            <a:prstGeom prst="rect">
              <a:avLst/>
            </a:prstGeom>
            <a:noFill/>
          </p:spPr>
          <p:txBody>
            <a:bodyPr wrap="none" rtlCol="0">
              <a:spAutoFit/>
            </a:bodyPr>
            <a:lstStyle/>
            <a:p>
              <a:r>
                <a:rPr lang="pt-BR" dirty="0"/>
                <a:t>céu</a:t>
              </a:r>
              <a:endParaRPr lang="en-US" dirty="0"/>
            </a:p>
          </p:txBody>
        </p:sp>
        <p:sp>
          <p:nvSpPr>
            <p:cNvPr id="61" name="TextBox 60">
              <a:extLst>
                <a:ext uri="{FF2B5EF4-FFF2-40B4-BE49-F238E27FC236}">
                  <a16:creationId xmlns="" xmlns:a16="http://schemas.microsoft.com/office/drawing/2014/main" id="{D8BB3D9F-5B39-1045-1636-9A97CDA0FC7A}"/>
                </a:ext>
              </a:extLst>
            </p:cNvPr>
            <p:cNvSpPr txBox="1"/>
            <p:nvPr/>
          </p:nvSpPr>
          <p:spPr>
            <a:xfrm>
              <a:off x="5310176" y="4151004"/>
              <a:ext cx="300082" cy="369332"/>
            </a:xfrm>
            <a:prstGeom prst="rect">
              <a:avLst/>
            </a:prstGeom>
            <a:noFill/>
          </p:spPr>
          <p:txBody>
            <a:bodyPr wrap="none" rtlCol="0">
              <a:spAutoFit/>
            </a:bodyPr>
            <a:lstStyle/>
            <a:p>
              <a:r>
                <a:rPr lang="pt-BR" dirty="0"/>
                <a:t>é</a:t>
              </a:r>
              <a:endParaRPr lang="en-US" dirty="0"/>
            </a:p>
          </p:txBody>
        </p:sp>
        <p:sp>
          <p:nvSpPr>
            <p:cNvPr id="63" name="TextBox 62">
              <a:extLst>
                <a:ext uri="{FF2B5EF4-FFF2-40B4-BE49-F238E27FC236}">
                  <a16:creationId xmlns="" xmlns:a16="http://schemas.microsoft.com/office/drawing/2014/main" id="{73D30054-6A82-5512-0EE4-37AF61A11200}"/>
                </a:ext>
              </a:extLst>
            </p:cNvPr>
            <p:cNvSpPr txBox="1"/>
            <p:nvPr/>
          </p:nvSpPr>
          <p:spPr>
            <a:xfrm>
              <a:off x="6062841" y="4150676"/>
              <a:ext cx="560218" cy="369332"/>
            </a:xfrm>
            <a:prstGeom prst="rect">
              <a:avLst/>
            </a:prstGeom>
            <a:noFill/>
          </p:spPr>
          <p:txBody>
            <a:bodyPr wrap="none" rtlCol="0">
              <a:spAutoFit/>
            </a:bodyPr>
            <a:lstStyle/>
            <a:p>
              <a:r>
                <a:rPr lang="pt-BR" dirty="0"/>
                <a:t>azul</a:t>
              </a:r>
              <a:endParaRPr lang="en-US" dirty="0"/>
            </a:p>
          </p:txBody>
        </p:sp>
        <mc:AlternateContent xmlns:mc="http://schemas.openxmlformats.org/markup-compatibility/2006" xmlns:a14="http://schemas.microsoft.com/office/drawing/2010/main">
          <mc:Choice Requires="a14">
            <p:sp>
              <p:nvSpPr>
                <p:cNvPr id="64" name="Oval 63">
                  <a:extLst>
                    <a:ext uri="{FF2B5EF4-FFF2-40B4-BE49-F238E27FC236}">
                      <a16:creationId xmlns="" xmlns:a16="http://schemas.microsoft.com/office/drawing/2014/main" id="{F87D58A6-2B88-2E5E-90B2-E06F40638232}"/>
                    </a:ext>
                  </a:extLst>
                </p:cNvPr>
                <p:cNvSpPr/>
                <p:nvPr/>
              </p:nvSpPr>
              <p:spPr>
                <a:xfrm>
                  <a:off x="3596985" y="2317173"/>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𝒉</m:t>
                        </m:r>
                        <m:r>
                          <a:rPr lang="pt-BR" sz="1400" b="0" i="1" smtClean="0">
                            <a:latin typeface="Cambria Math" panose="02040503050406030204" pitchFamily="18" charset="0"/>
                          </a:rPr>
                          <m:t>[0]</m:t>
                        </m:r>
                      </m:oMath>
                    </m:oMathPara>
                  </a14:m>
                  <a:endParaRPr lang="en-US" sz="1400" dirty="0"/>
                </a:p>
              </p:txBody>
            </p:sp>
          </mc:Choice>
          <mc:Fallback xmlns="">
            <p:sp>
              <p:nvSpPr>
                <p:cNvPr id="64" name="Oval 63">
                  <a:extLst>
                    <a:ext uri="{FF2B5EF4-FFF2-40B4-BE49-F238E27FC236}">
                      <a16:creationId xmlns:a16="http://schemas.microsoft.com/office/drawing/2014/main" id="{F87D58A6-2B88-2E5E-90B2-E06F40638232}"/>
                    </a:ext>
                  </a:extLst>
                </p:cNvPr>
                <p:cNvSpPr>
                  <a:spLocks noRot="1" noChangeAspect="1" noMove="1" noResize="1" noEditPoints="1" noAdjustHandles="1" noChangeArrowheads="1" noChangeShapeType="1" noTextEdit="1"/>
                </p:cNvSpPr>
                <p:nvPr/>
              </p:nvSpPr>
              <p:spPr>
                <a:xfrm>
                  <a:off x="3596985" y="2317173"/>
                  <a:ext cx="415636" cy="404918"/>
                </a:xfrm>
                <a:prstGeom prst="ellipse">
                  <a:avLst/>
                </a:prstGeom>
                <a:blipFill>
                  <a:blip r:embed="rId6"/>
                  <a:stretch>
                    <a:fillRect l="-11594" r="-4348"/>
                  </a:stretch>
                </a:blipFill>
              </p:spPr>
              <p:txBody>
                <a:bodyPr/>
                <a:lstStyle/>
                <a:p>
                  <a:r>
                    <a:rPr lang="en-US">
                      <a:noFill/>
                    </a:rPr>
                    <a:t> </a:t>
                  </a:r>
                </a:p>
              </p:txBody>
            </p:sp>
          </mc:Fallback>
        </mc:AlternateContent>
        <p:cxnSp>
          <p:nvCxnSpPr>
            <p:cNvPr id="66" name="Straight Arrow Connector 65">
              <a:extLst>
                <a:ext uri="{FF2B5EF4-FFF2-40B4-BE49-F238E27FC236}">
                  <a16:creationId xmlns="" xmlns:a16="http://schemas.microsoft.com/office/drawing/2014/main" id="{6439B11B-0286-EBCA-49E0-335FE5EBE8FA}"/>
                </a:ext>
              </a:extLst>
            </p:cNvPr>
            <p:cNvCxnSpPr>
              <a:stCxn id="3" idx="0"/>
              <a:endCxn id="64" idx="4"/>
            </p:cNvCxnSpPr>
            <p:nvPr/>
          </p:nvCxnSpPr>
          <p:spPr>
            <a:xfrm flipV="1">
              <a:off x="3802909" y="2722091"/>
              <a:ext cx="1894" cy="3120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7" name="Oval 66">
                  <a:extLst>
                    <a:ext uri="{FF2B5EF4-FFF2-40B4-BE49-F238E27FC236}">
                      <a16:creationId xmlns="" xmlns:a16="http://schemas.microsoft.com/office/drawing/2014/main" id="{E08AEBD1-432B-3013-BE2F-DF9CF8403889}"/>
                    </a:ext>
                  </a:extLst>
                </p:cNvPr>
                <p:cNvSpPr/>
                <p:nvPr/>
              </p:nvSpPr>
              <p:spPr>
                <a:xfrm>
                  <a:off x="4433052" y="2317173"/>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𝒉</m:t>
                        </m:r>
                        <m:r>
                          <a:rPr lang="pt-BR" sz="1400" b="0" i="1" smtClean="0">
                            <a:latin typeface="Cambria Math" panose="02040503050406030204" pitchFamily="18" charset="0"/>
                          </a:rPr>
                          <m:t>[1]</m:t>
                        </m:r>
                      </m:oMath>
                    </m:oMathPara>
                  </a14:m>
                  <a:endParaRPr lang="en-US" sz="1400" dirty="0"/>
                </a:p>
              </p:txBody>
            </p:sp>
          </mc:Choice>
          <mc:Fallback xmlns="">
            <p:sp>
              <p:nvSpPr>
                <p:cNvPr id="67" name="Oval 66">
                  <a:extLst>
                    <a:ext uri="{FF2B5EF4-FFF2-40B4-BE49-F238E27FC236}">
                      <a16:creationId xmlns:a16="http://schemas.microsoft.com/office/drawing/2014/main" id="{E08AEBD1-432B-3013-BE2F-DF9CF8403889}"/>
                    </a:ext>
                  </a:extLst>
                </p:cNvPr>
                <p:cNvSpPr>
                  <a:spLocks noRot="1" noChangeAspect="1" noMove="1" noResize="1" noEditPoints="1" noAdjustHandles="1" noChangeArrowheads="1" noChangeShapeType="1" noTextEdit="1"/>
                </p:cNvSpPr>
                <p:nvPr/>
              </p:nvSpPr>
              <p:spPr>
                <a:xfrm>
                  <a:off x="4433052" y="2317173"/>
                  <a:ext cx="415636" cy="404918"/>
                </a:xfrm>
                <a:prstGeom prst="ellipse">
                  <a:avLst/>
                </a:prstGeom>
                <a:blipFill>
                  <a:blip r:embed="rId7"/>
                  <a:stretch>
                    <a:fillRect l="-10145" r="-579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Oval 80">
                  <a:extLst>
                    <a:ext uri="{FF2B5EF4-FFF2-40B4-BE49-F238E27FC236}">
                      <a16:creationId xmlns="" xmlns:a16="http://schemas.microsoft.com/office/drawing/2014/main" id="{28850714-0B6D-B080-5A71-750BA6C67D95}"/>
                    </a:ext>
                  </a:extLst>
                </p:cNvPr>
                <p:cNvSpPr/>
                <p:nvPr/>
              </p:nvSpPr>
              <p:spPr>
                <a:xfrm>
                  <a:off x="5273181" y="2317173"/>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𝒉</m:t>
                        </m:r>
                        <m:r>
                          <a:rPr lang="pt-BR" sz="1400" b="0" i="1" smtClean="0">
                            <a:latin typeface="Cambria Math" panose="02040503050406030204" pitchFamily="18" charset="0"/>
                          </a:rPr>
                          <m:t>[2]</m:t>
                        </m:r>
                      </m:oMath>
                    </m:oMathPara>
                  </a14:m>
                  <a:endParaRPr lang="en-US" sz="1400" dirty="0"/>
                </a:p>
              </p:txBody>
            </p:sp>
          </mc:Choice>
          <mc:Fallback xmlns="">
            <p:sp>
              <p:nvSpPr>
                <p:cNvPr id="81" name="Oval 80">
                  <a:extLst>
                    <a:ext uri="{FF2B5EF4-FFF2-40B4-BE49-F238E27FC236}">
                      <a16:creationId xmlns:a16="http://schemas.microsoft.com/office/drawing/2014/main" id="{28850714-0B6D-B080-5A71-750BA6C67D95}"/>
                    </a:ext>
                  </a:extLst>
                </p:cNvPr>
                <p:cNvSpPr>
                  <a:spLocks noRot="1" noChangeAspect="1" noMove="1" noResize="1" noEditPoints="1" noAdjustHandles="1" noChangeArrowheads="1" noChangeShapeType="1" noTextEdit="1"/>
                </p:cNvSpPr>
                <p:nvPr/>
              </p:nvSpPr>
              <p:spPr>
                <a:xfrm>
                  <a:off x="5273181" y="2317173"/>
                  <a:ext cx="415636" cy="404918"/>
                </a:xfrm>
                <a:prstGeom prst="ellipse">
                  <a:avLst/>
                </a:prstGeom>
                <a:blipFill>
                  <a:blip r:embed="rId8"/>
                  <a:stretch>
                    <a:fillRect l="-11594" r="-434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3" name="Oval 82">
                  <a:extLst>
                    <a:ext uri="{FF2B5EF4-FFF2-40B4-BE49-F238E27FC236}">
                      <a16:creationId xmlns="" xmlns:a16="http://schemas.microsoft.com/office/drawing/2014/main" id="{DF32C4FF-E000-6153-5A85-CFD8746E3222}"/>
                    </a:ext>
                  </a:extLst>
                </p:cNvPr>
                <p:cNvSpPr/>
                <p:nvPr/>
              </p:nvSpPr>
              <p:spPr>
                <a:xfrm>
                  <a:off x="6108331" y="2317173"/>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𝒉</m:t>
                        </m:r>
                        <m:r>
                          <a:rPr lang="pt-BR" sz="1400" b="0" i="1" smtClean="0">
                            <a:latin typeface="Cambria Math" panose="02040503050406030204" pitchFamily="18" charset="0"/>
                          </a:rPr>
                          <m:t>[3]</m:t>
                        </m:r>
                      </m:oMath>
                    </m:oMathPara>
                  </a14:m>
                  <a:endParaRPr lang="en-US" sz="1400" dirty="0"/>
                </a:p>
              </p:txBody>
            </p:sp>
          </mc:Choice>
          <mc:Fallback xmlns="">
            <p:sp>
              <p:nvSpPr>
                <p:cNvPr id="83" name="Oval 82">
                  <a:extLst>
                    <a:ext uri="{FF2B5EF4-FFF2-40B4-BE49-F238E27FC236}">
                      <a16:creationId xmlns:a16="http://schemas.microsoft.com/office/drawing/2014/main" id="{DF32C4FF-E000-6153-5A85-CFD8746E3222}"/>
                    </a:ext>
                  </a:extLst>
                </p:cNvPr>
                <p:cNvSpPr>
                  <a:spLocks noRot="1" noChangeAspect="1" noMove="1" noResize="1" noEditPoints="1" noAdjustHandles="1" noChangeArrowheads="1" noChangeShapeType="1" noTextEdit="1"/>
                </p:cNvSpPr>
                <p:nvPr/>
              </p:nvSpPr>
              <p:spPr>
                <a:xfrm>
                  <a:off x="6108331" y="2317173"/>
                  <a:ext cx="415636" cy="404918"/>
                </a:xfrm>
                <a:prstGeom prst="ellipse">
                  <a:avLst/>
                </a:prstGeom>
                <a:blipFill>
                  <a:blip r:embed="rId9"/>
                  <a:stretch>
                    <a:fillRect l="-11594" r="-4348"/>
                  </a:stretch>
                </a:blipFill>
              </p:spPr>
              <p:txBody>
                <a:bodyPr/>
                <a:lstStyle/>
                <a:p>
                  <a:r>
                    <a:rPr lang="en-US">
                      <a:noFill/>
                    </a:rPr>
                    <a:t> </a:t>
                  </a:r>
                </a:p>
              </p:txBody>
            </p:sp>
          </mc:Fallback>
        </mc:AlternateContent>
        <p:sp>
          <p:nvSpPr>
            <p:cNvPr id="86" name="TextBox 85">
              <a:extLst>
                <a:ext uri="{FF2B5EF4-FFF2-40B4-BE49-F238E27FC236}">
                  <a16:creationId xmlns="" xmlns:a16="http://schemas.microsoft.com/office/drawing/2014/main" id="{F40667E5-8E58-C310-CBFB-57422FB0D492}"/>
                </a:ext>
              </a:extLst>
            </p:cNvPr>
            <p:cNvSpPr txBox="1"/>
            <p:nvPr/>
          </p:nvSpPr>
          <p:spPr>
            <a:xfrm>
              <a:off x="3553215" y="1912255"/>
              <a:ext cx="519694" cy="369332"/>
            </a:xfrm>
            <a:prstGeom prst="rect">
              <a:avLst/>
            </a:prstGeom>
            <a:noFill/>
          </p:spPr>
          <p:txBody>
            <a:bodyPr wrap="none" rtlCol="0">
              <a:spAutoFit/>
            </a:bodyPr>
            <a:lstStyle/>
            <a:p>
              <a:r>
                <a:rPr lang="pt-BR" dirty="0"/>
                <a:t>céu</a:t>
              </a:r>
              <a:endParaRPr lang="en-US" dirty="0"/>
            </a:p>
          </p:txBody>
        </p:sp>
        <p:sp>
          <p:nvSpPr>
            <p:cNvPr id="87" name="TextBox 86">
              <a:extLst>
                <a:ext uri="{FF2B5EF4-FFF2-40B4-BE49-F238E27FC236}">
                  <a16:creationId xmlns="" xmlns:a16="http://schemas.microsoft.com/office/drawing/2014/main" id="{65A7BAD0-E22A-00A7-79D3-E281691F9BFA}"/>
                </a:ext>
              </a:extLst>
            </p:cNvPr>
            <p:cNvSpPr txBox="1"/>
            <p:nvPr/>
          </p:nvSpPr>
          <p:spPr>
            <a:xfrm>
              <a:off x="4513541" y="1912255"/>
              <a:ext cx="300082" cy="369332"/>
            </a:xfrm>
            <a:prstGeom prst="rect">
              <a:avLst/>
            </a:prstGeom>
            <a:noFill/>
          </p:spPr>
          <p:txBody>
            <a:bodyPr wrap="none" rtlCol="0">
              <a:spAutoFit/>
            </a:bodyPr>
            <a:lstStyle/>
            <a:p>
              <a:r>
                <a:rPr lang="pt-BR" dirty="0"/>
                <a:t>é</a:t>
              </a:r>
              <a:endParaRPr lang="en-US" dirty="0"/>
            </a:p>
          </p:txBody>
        </p:sp>
        <p:sp>
          <p:nvSpPr>
            <p:cNvPr id="88" name="TextBox 87">
              <a:extLst>
                <a:ext uri="{FF2B5EF4-FFF2-40B4-BE49-F238E27FC236}">
                  <a16:creationId xmlns="" xmlns:a16="http://schemas.microsoft.com/office/drawing/2014/main" id="{0347D807-1FF8-98CB-58CE-4939C4B01C91}"/>
                </a:ext>
              </a:extLst>
            </p:cNvPr>
            <p:cNvSpPr txBox="1"/>
            <p:nvPr/>
          </p:nvSpPr>
          <p:spPr>
            <a:xfrm>
              <a:off x="5183078" y="1911927"/>
              <a:ext cx="560218" cy="369332"/>
            </a:xfrm>
            <a:prstGeom prst="rect">
              <a:avLst/>
            </a:prstGeom>
            <a:noFill/>
          </p:spPr>
          <p:txBody>
            <a:bodyPr wrap="none" rtlCol="0">
              <a:spAutoFit/>
            </a:bodyPr>
            <a:lstStyle/>
            <a:p>
              <a:r>
                <a:rPr lang="pt-BR" dirty="0"/>
                <a:t>azul</a:t>
              </a:r>
              <a:endParaRPr lang="en-US" dirty="0"/>
            </a:p>
          </p:txBody>
        </p:sp>
        <p:sp>
          <p:nvSpPr>
            <p:cNvPr id="89" name="TextBox 88">
              <a:extLst>
                <a:ext uri="{FF2B5EF4-FFF2-40B4-BE49-F238E27FC236}">
                  <a16:creationId xmlns="" xmlns:a16="http://schemas.microsoft.com/office/drawing/2014/main" id="{7159E20A-C910-CA52-1ABE-5C094C505360}"/>
                </a:ext>
              </a:extLst>
            </p:cNvPr>
            <p:cNvSpPr txBox="1"/>
            <p:nvPr/>
          </p:nvSpPr>
          <p:spPr>
            <a:xfrm>
              <a:off x="6148539" y="1911927"/>
              <a:ext cx="357790" cy="369332"/>
            </a:xfrm>
            <a:prstGeom prst="rect">
              <a:avLst/>
            </a:prstGeom>
            <a:noFill/>
          </p:spPr>
          <p:txBody>
            <a:bodyPr wrap="none" rtlCol="0">
              <a:spAutoFit/>
            </a:bodyPr>
            <a:lstStyle/>
            <a:p>
              <a:r>
                <a:rPr lang="pt-BR" dirty="0"/>
                <a:t>...</a:t>
              </a:r>
              <a:endParaRPr lang="en-US" dirty="0"/>
            </a:p>
          </p:txBody>
        </p:sp>
        <p:cxnSp>
          <p:nvCxnSpPr>
            <p:cNvPr id="92" name="Straight Arrow Connector 91">
              <a:extLst>
                <a:ext uri="{FF2B5EF4-FFF2-40B4-BE49-F238E27FC236}">
                  <a16:creationId xmlns="" xmlns:a16="http://schemas.microsoft.com/office/drawing/2014/main" id="{4D2EEB39-53FF-4D7F-6AAD-272D9A605970}"/>
                </a:ext>
              </a:extLst>
            </p:cNvPr>
            <p:cNvCxnSpPr>
              <a:stCxn id="5" idx="0"/>
              <a:endCxn id="67" idx="4"/>
            </p:cNvCxnSpPr>
            <p:nvPr/>
          </p:nvCxnSpPr>
          <p:spPr>
            <a:xfrm flipH="1" flipV="1">
              <a:off x="4640870" y="2722091"/>
              <a:ext cx="238" cy="31708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 xmlns:a16="http://schemas.microsoft.com/office/drawing/2014/main" id="{7925EE7B-7FE6-D157-299F-C4532C92625C}"/>
                </a:ext>
              </a:extLst>
            </p:cNvPr>
            <p:cNvCxnSpPr>
              <a:stCxn id="6" idx="0"/>
              <a:endCxn id="81" idx="4"/>
            </p:cNvCxnSpPr>
            <p:nvPr/>
          </p:nvCxnSpPr>
          <p:spPr>
            <a:xfrm flipV="1">
              <a:off x="5479307" y="2722091"/>
              <a:ext cx="1692" cy="3120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8" name="Straight Arrow Connector 97">
              <a:extLst>
                <a:ext uri="{FF2B5EF4-FFF2-40B4-BE49-F238E27FC236}">
                  <a16:creationId xmlns="" xmlns:a16="http://schemas.microsoft.com/office/drawing/2014/main" id="{1A59467C-A62E-94C1-6003-D3BD8B84751F}"/>
                </a:ext>
              </a:extLst>
            </p:cNvPr>
            <p:cNvCxnSpPr>
              <a:stCxn id="7" idx="0"/>
              <a:endCxn id="83" idx="4"/>
            </p:cNvCxnSpPr>
            <p:nvPr/>
          </p:nvCxnSpPr>
          <p:spPr>
            <a:xfrm flipH="1" flipV="1">
              <a:off x="6316149" y="2722091"/>
              <a:ext cx="1357" cy="31741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30113389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B5573694-5604-5578-962F-15A2E6C1A543}"/>
            </a:ext>
          </a:extLst>
        </p:cNvPr>
        <p:cNvGrpSpPr/>
        <p:nvPr/>
      </p:nvGrpSpPr>
      <p:grpSpPr>
        <a:xfrm>
          <a:off x="0" y="0"/>
          <a:ext cx="0" cy="0"/>
          <a:chOff x="0" y="0"/>
          <a:chExt cx="0" cy="0"/>
        </a:xfrm>
      </p:grpSpPr>
      <p:grpSp>
        <p:nvGrpSpPr>
          <p:cNvPr id="38" name="Group 37">
            <a:extLst>
              <a:ext uri="{FF2B5EF4-FFF2-40B4-BE49-F238E27FC236}">
                <a16:creationId xmlns="" xmlns:a16="http://schemas.microsoft.com/office/drawing/2014/main" id="{2E164ADA-3029-B0E6-C546-EC28E23B01A5}"/>
              </a:ext>
            </a:extLst>
          </p:cNvPr>
          <p:cNvGrpSpPr/>
          <p:nvPr/>
        </p:nvGrpSpPr>
        <p:grpSpPr>
          <a:xfrm>
            <a:off x="3470087" y="1912255"/>
            <a:ext cx="5837554" cy="2626162"/>
            <a:chOff x="3470087" y="1912255"/>
            <a:chExt cx="5837554" cy="2626162"/>
          </a:xfrm>
        </p:grpSpPr>
        <p:sp>
          <p:nvSpPr>
            <p:cNvPr id="3" name="Rectangle 2">
              <a:extLst>
                <a:ext uri="{FF2B5EF4-FFF2-40B4-BE49-F238E27FC236}">
                  <a16:creationId xmlns="" xmlns:a16="http://schemas.microsoft.com/office/drawing/2014/main" id="{2CA71C07-A927-7553-9A53-EA7C1F0FD54D}"/>
                </a:ext>
              </a:extLst>
            </p:cNvPr>
            <p:cNvSpPr/>
            <p:nvPr/>
          </p:nvSpPr>
          <p:spPr>
            <a:xfrm>
              <a:off x="3532909" y="3034145"/>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sp>
          <p:nvSpPr>
            <p:cNvPr id="5" name="Rectangle 4">
              <a:extLst>
                <a:ext uri="{FF2B5EF4-FFF2-40B4-BE49-F238E27FC236}">
                  <a16:creationId xmlns="" xmlns:a16="http://schemas.microsoft.com/office/drawing/2014/main" id="{D5756A99-BCC4-DB10-974D-9BC155740184}"/>
                </a:ext>
              </a:extLst>
            </p:cNvPr>
            <p:cNvSpPr/>
            <p:nvPr/>
          </p:nvSpPr>
          <p:spPr>
            <a:xfrm>
              <a:off x="4371108" y="3039176"/>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sp>
          <p:nvSpPr>
            <p:cNvPr id="6" name="Rectangle 5">
              <a:extLst>
                <a:ext uri="{FF2B5EF4-FFF2-40B4-BE49-F238E27FC236}">
                  <a16:creationId xmlns="" xmlns:a16="http://schemas.microsoft.com/office/drawing/2014/main" id="{0F4C5972-08B6-39F9-5752-5DEFC6E9A590}"/>
                </a:ext>
              </a:extLst>
            </p:cNvPr>
            <p:cNvSpPr/>
            <p:nvPr/>
          </p:nvSpPr>
          <p:spPr>
            <a:xfrm>
              <a:off x="5209307" y="3044536"/>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sp>
          <p:nvSpPr>
            <p:cNvPr id="7" name="Rectangle 6">
              <a:extLst>
                <a:ext uri="{FF2B5EF4-FFF2-40B4-BE49-F238E27FC236}">
                  <a16:creationId xmlns="" xmlns:a16="http://schemas.microsoft.com/office/drawing/2014/main" id="{20920392-DFDC-1C8D-8962-1C191C9B874E}"/>
                </a:ext>
              </a:extLst>
            </p:cNvPr>
            <p:cNvSpPr/>
            <p:nvPr/>
          </p:nvSpPr>
          <p:spPr>
            <a:xfrm>
              <a:off x="6805709" y="3057913"/>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cxnSp>
          <p:nvCxnSpPr>
            <p:cNvPr id="9" name="Straight Arrow Connector 8">
              <a:extLst>
                <a:ext uri="{FF2B5EF4-FFF2-40B4-BE49-F238E27FC236}">
                  <a16:creationId xmlns="" xmlns:a16="http://schemas.microsoft.com/office/drawing/2014/main" id="{CC4000C8-59B4-CB55-CF73-071EADD1E13A}"/>
                </a:ext>
              </a:extLst>
            </p:cNvPr>
            <p:cNvCxnSpPr>
              <a:stCxn id="3" idx="3"/>
              <a:endCxn id="5" idx="1"/>
            </p:cNvCxnSpPr>
            <p:nvPr/>
          </p:nvCxnSpPr>
          <p:spPr>
            <a:xfrm>
              <a:off x="4072909" y="3236604"/>
              <a:ext cx="298199" cy="503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 xmlns:a16="http://schemas.microsoft.com/office/drawing/2014/main" id="{816E4A48-D71F-43E1-A17C-7346F79DEE88}"/>
                </a:ext>
              </a:extLst>
            </p:cNvPr>
            <p:cNvCxnSpPr>
              <a:stCxn id="5" idx="3"/>
              <a:endCxn id="6" idx="1"/>
            </p:cNvCxnSpPr>
            <p:nvPr/>
          </p:nvCxnSpPr>
          <p:spPr>
            <a:xfrm>
              <a:off x="4911108" y="3241635"/>
              <a:ext cx="298199" cy="536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3" name="Straight Arrow Connector 12">
              <a:extLst>
                <a:ext uri="{FF2B5EF4-FFF2-40B4-BE49-F238E27FC236}">
                  <a16:creationId xmlns="" xmlns:a16="http://schemas.microsoft.com/office/drawing/2014/main" id="{1E77AE6D-1F96-FB35-1187-485D66AD36CD}"/>
                </a:ext>
              </a:extLst>
            </p:cNvPr>
            <p:cNvCxnSpPr>
              <a:cxnSpLocks/>
              <a:endCxn id="7" idx="1"/>
            </p:cNvCxnSpPr>
            <p:nvPr/>
          </p:nvCxnSpPr>
          <p:spPr>
            <a:xfrm>
              <a:off x="6507510" y="3255013"/>
              <a:ext cx="298199" cy="53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 name="Oval 13">
                  <a:extLst>
                    <a:ext uri="{FF2B5EF4-FFF2-40B4-BE49-F238E27FC236}">
                      <a16:creationId xmlns="" xmlns:a16="http://schemas.microsoft.com/office/drawing/2014/main" id="{BEF50F89-3F9C-B7A0-D32B-766398AF529D}"/>
                    </a:ext>
                  </a:extLst>
                </p:cNvPr>
                <p:cNvSpPr/>
                <p:nvPr/>
              </p:nvSpPr>
              <p:spPr>
                <a:xfrm>
                  <a:off x="3595091" y="3751117"/>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𝒙</m:t>
                        </m:r>
                        <m:r>
                          <a:rPr lang="pt-BR" sz="1400" b="0" i="1" smtClean="0">
                            <a:latin typeface="Cambria Math" panose="02040503050406030204" pitchFamily="18" charset="0"/>
                          </a:rPr>
                          <m:t>[0]</m:t>
                        </m:r>
                      </m:oMath>
                    </m:oMathPara>
                  </a14:m>
                  <a:endParaRPr lang="en-US" sz="1400" dirty="0"/>
                </a:p>
              </p:txBody>
            </p:sp>
          </mc:Choice>
          <mc:Fallback xmlns="">
            <p:sp>
              <p:nvSpPr>
                <p:cNvPr id="14" name="Oval 13">
                  <a:extLst>
                    <a:ext uri="{FF2B5EF4-FFF2-40B4-BE49-F238E27FC236}">
                      <a16:creationId xmlns:a16="http://schemas.microsoft.com/office/drawing/2014/main" id="{BEF50F89-3F9C-B7A0-D32B-766398AF529D}"/>
                    </a:ext>
                  </a:extLst>
                </p:cNvPr>
                <p:cNvSpPr>
                  <a:spLocks noRot="1" noChangeAspect="1" noMove="1" noResize="1" noEditPoints="1" noAdjustHandles="1" noChangeArrowheads="1" noChangeShapeType="1" noTextEdit="1"/>
                </p:cNvSpPr>
                <p:nvPr/>
              </p:nvSpPr>
              <p:spPr>
                <a:xfrm>
                  <a:off x="3595091" y="3751117"/>
                  <a:ext cx="415636" cy="404918"/>
                </a:xfrm>
                <a:prstGeom prst="ellipse">
                  <a:avLst/>
                </a:prstGeom>
                <a:blipFill>
                  <a:blip r:embed="rId2"/>
                  <a:stretch>
                    <a:fillRect l="-5797" r="-2899"/>
                  </a:stretch>
                </a:blipFill>
              </p:spPr>
              <p:txBody>
                <a:bodyPr/>
                <a:lstStyle/>
                <a:p>
                  <a:r>
                    <a:rPr lang="en-US">
                      <a:noFill/>
                    </a:rPr>
                    <a:t> </a:t>
                  </a:r>
                </a:p>
              </p:txBody>
            </p:sp>
          </mc:Fallback>
        </mc:AlternateContent>
        <p:cxnSp>
          <p:nvCxnSpPr>
            <p:cNvPr id="16" name="Straight Arrow Connector 15">
              <a:extLst>
                <a:ext uri="{FF2B5EF4-FFF2-40B4-BE49-F238E27FC236}">
                  <a16:creationId xmlns="" xmlns:a16="http://schemas.microsoft.com/office/drawing/2014/main" id="{5536ECC4-8EDC-BF81-A381-67C4AA33FE42}"/>
                </a:ext>
              </a:extLst>
            </p:cNvPr>
            <p:cNvCxnSpPr>
              <a:stCxn id="14" idx="0"/>
              <a:endCxn id="3" idx="2"/>
            </p:cNvCxnSpPr>
            <p:nvPr/>
          </p:nvCxnSpPr>
          <p:spPr>
            <a:xfrm flipV="1">
              <a:off x="3802909" y="3439063"/>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7" name="Oval 16">
                  <a:extLst>
                    <a:ext uri="{FF2B5EF4-FFF2-40B4-BE49-F238E27FC236}">
                      <a16:creationId xmlns="" xmlns:a16="http://schemas.microsoft.com/office/drawing/2014/main" id="{EA1B6128-BF0B-0502-7C92-F80DC5E8DF84}"/>
                    </a:ext>
                  </a:extLst>
                </p:cNvPr>
                <p:cNvSpPr/>
                <p:nvPr/>
              </p:nvSpPr>
              <p:spPr>
                <a:xfrm>
                  <a:off x="4432962" y="3751117"/>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𝒙</m:t>
                        </m:r>
                        <m:r>
                          <a:rPr lang="pt-BR" sz="1400" b="0" i="1" smtClean="0">
                            <a:latin typeface="Cambria Math" panose="02040503050406030204" pitchFamily="18" charset="0"/>
                          </a:rPr>
                          <m:t>[1]</m:t>
                        </m:r>
                      </m:oMath>
                    </m:oMathPara>
                  </a14:m>
                  <a:endParaRPr lang="en-US" sz="1400" dirty="0"/>
                </a:p>
              </p:txBody>
            </p:sp>
          </mc:Choice>
          <mc:Fallback xmlns="">
            <p:sp>
              <p:nvSpPr>
                <p:cNvPr id="17" name="Oval 16">
                  <a:extLst>
                    <a:ext uri="{FF2B5EF4-FFF2-40B4-BE49-F238E27FC236}">
                      <a16:creationId xmlns:a16="http://schemas.microsoft.com/office/drawing/2014/main" id="{EA1B6128-BF0B-0502-7C92-F80DC5E8DF84}"/>
                    </a:ext>
                  </a:extLst>
                </p:cNvPr>
                <p:cNvSpPr>
                  <a:spLocks noRot="1" noChangeAspect="1" noMove="1" noResize="1" noEditPoints="1" noAdjustHandles="1" noChangeArrowheads="1" noChangeShapeType="1" noTextEdit="1"/>
                </p:cNvSpPr>
                <p:nvPr/>
              </p:nvSpPr>
              <p:spPr>
                <a:xfrm>
                  <a:off x="4432962" y="3751117"/>
                  <a:ext cx="415636" cy="404918"/>
                </a:xfrm>
                <a:prstGeom prst="ellipse">
                  <a:avLst/>
                </a:prstGeom>
                <a:blipFill>
                  <a:blip r:embed="rId3"/>
                  <a:stretch>
                    <a:fillRect l="-4348" r="-2899"/>
                  </a:stretch>
                </a:blipFill>
              </p:spPr>
              <p:txBody>
                <a:bodyPr/>
                <a:lstStyle/>
                <a:p>
                  <a:r>
                    <a:rPr lang="en-US">
                      <a:noFill/>
                    </a:rPr>
                    <a:t> </a:t>
                  </a:r>
                </a:p>
              </p:txBody>
            </p:sp>
          </mc:Fallback>
        </mc:AlternateContent>
        <p:cxnSp>
          <p:nvCxnSpPr>
            <p:cNvPr id="18" name="Straight Arrow Connector 17">
              <a:extLst>
                <a:ext uri="{FF2B5EF4-FFF2-40B4-BE49-F238E27FC236}">
                  <a16:creationId xmlns="" xmlns:a16="http://schemas.microsoft.com/office/drawing/2014/main" id="{4832C06D-CF74-766F-FFC2-610ACF8FC042}"/>
                </a:ext>
              </a:extLst>
            </p:cNvPr>
            <p:cNvCxnSpPr>
              <a:stCxn id="17" idx="0"/>
            </p:cNvCxnSpPr>
            <p:nvPr/>
          </p:nvCxnSpPr>
          <p:spPr>
            <a:xfrm flipV="1">
              <a:off x="4640780" y="3439063"/>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9" name="Oval 18">
                  <a:extLst>
                    <a:ext uri="{FF2B5EF4-FFF2-40B4-BE49-F238E27FC236}">
                      <a16:creationId xmlns="" xmlns:a16="http://schemas.microsoft.com/office/drawing/2014/main" id="{E5CA2E1F-C39D-CBA3-A6E1-D4C1F4AF373C}"/>
                    </a:ext>
                  </a:extLst>
                </p:cNvPr>
                <p:cNvSpPr/>
                <p:nvPr/>
              </p:nvSpPr>
              <p:spPr>
                <a:xfrm>
                  <a:off x="5270834" y="3761508"/>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𝒙</m:t>
                        </m:r>
                        <m:r>
                          <a:rPr lang="pt-BR" sz="1400" b="0" i="1" smtClean="0">
                            <a:latin typeface="Cambria Math" panose="02040503050406030204" pitchFamily="18" charset="0"/>
                          </a:rPr>
                          <m:t>[2]</m:t>
                        </m:r>
                      </m:oMath>
                    </m:oMathPara>
                  </a14:m>
                  <a:endParaRPr lang="en-US" sz="1400" dirty="0"/>
                </a:p>
              </p:txBody>
            </p:sp>
          </mc:Choice>
          <mc:Fallback xmlns="">
            <p:sp>
              <p:nvSpPr>
                <p:cNvPr id="19" name="Oval 18">
                  <a:extLst>
                    <a:ext uri="{FF2B5EF4-FFF2-40B4-BE49-F238E27FC236}">
                      <a16:creationId xmlns:a16="http://schemas.microsoft.com/office/drawing/2014/main" id="{E5CA2E1F-C39D-CBA3-A6E1-D4C1F4AF373C}"/>
                    </a:ext>
                  </a:extLst>
                </p:cNvPr>
                <p:cNvSpPr>
                  <a:spLocks noRot="1" noChangeAspect="1" noMove="1" noResize="1" noEditPoints="1" noAdjustHandles="1" noChangeArrowheads="1" noChangeShapeType="1" noTextEdit="1"/>
                </p:cNvSpPr>
                <p:nvPr/>
              </p:nvSpPr>
              <p:spPr>
                <a:xfrm>
                  <a:off x="5270834" y="3761508"/>
                  <a:ext cx="415636" cy="404918"/>
                </a:xfrm>
                <a:prstGeom prst="ellipse">
                  <a:avLst/>
                </a:prstGeom>
                <a:blipFill>
                  <a:blip r:embed="rId4"/>
                  <a:stretch>
                    <a:fillRect l="-5797" r="-2899"/>
                  </a:stretch>
                </a:blipFill>
              </p:spPr>
              <p:txBody>
                <a:bodyPr/>
                <a:lstStyle/>
                <a:p>
                  <a:r>
                    <a:rPr lang="en-US">
                      <a:noFill/>
                    </a:rPr>
                    <a:t> </a:t>
                  </a:r>
                </a:p>
              </p:txBody>
            </p:sp>
          </mc:Fallback>
        </mc:AlternateContent>
        <p:cxnSp>
          <p:nvCxnSpPr>
            <p:cNvPr id="20" name="Straight Arrow Connector 19">
              <a:extLst>
                <a:ext uri="{FF2B5EF4-FFF2-40B4-BE49-F238E27FC236}">
                  <a16:creationId xmlns="" xmlns:a16="http://schemas.microsoft.com/office/drawing/2014/main" id="{90D394B9-6B7A-EE4E-A95D-801F9C111BDA}"/>
                </a:ext>
              </a:extLst>
            </p:cNvPr>
            <p:cNvCxnSpPr>
              <a:stCxn id="19" idx="0"/>
            </p:cNvCxnSpPr>
            <p:nvPr/>
          </p:nvCxnSpPr>
          <p:spPr>
            <a:xfrm flipV="1">
              <a:off x="5478652" y="3449454"/>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1" name="Oval 20">
                  <a:extLst>
                    <a:ext uri="{FF2B5EF4-FFF2-40B4-BE49-F238E27FC236}">
                      <a16:creationId xmlns="" xmlns:a16="http://schemas.microsoft.com/office/drawing/2014/main" id="{278B2A68-FDF3-D539-0397-EB5939ABFA5D}"/>
                    </a:ext>
                  </a:extLst>
                </p:cNvPr>
                <p:cNvSpPr/>
                <p:nvPr/>
              </p:nvSpPr>
              <p:spPr>
                <a:xfrm>
                  <a:off x="6887363" y="3769526"/>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𝒙</m:t>
                        </m:r>
                        <m:r>
                          <a:rPr lang="pt-BR" sz="1400" b="0" i="1" smtClean="0">
                            <a:latin typeface="Cambria Math" panose="02040503050406030204" pitchFamily="18" charset="0"/>
                          </a:rPr>
                          <m:t>[</m:t>
                        </m:r>
                        <m:r>
                          <a:rPr lang="pt-BR" sz="1400" b="0" i="1" smtClean="0">
                            <a:latin typeface="Cambria Math" panose="02040503050406030204" pitchFamily="18" charset="0"/>
                          </a:rPr>
                          <m:t>𝑡</m:t>
                        </m:r>
                        <m:r>
                          <a:rPr lang="pt-BR" sz="1400" b="0" i="1" smtClean="0">
                            <a:latin typeface="Cambria Math" panose="02040503050406030204" pitchFamily="18" charset="0"/>
                          </a:rPr>
                          <m:t>]</m:t>
                        </m:r>
                      </m:oMath>
                    </m:oMathPara>
                  </a14:m>
                  <a:endParaRPr lang="en-US" sz="1400" dirty="0"/>
                </a:p>
              </p:txBody>
            </p:sp>
          </mc:Choice>
          <mc:Fallback xmlns="">
            <p:sp>
              <p:nvSpPr>
                <p:cNvPr id="21" name="Oval 20">
                  <a:extLst>
                    <a:ext uri="{FF2B5EF4-FFF2-40B4-BE49-F238E27FC236}">
                      <a16:creationId xmlns:a16="http://schemas.microsoft.com/office/drawing/2014/main" id="{278B2A68-FDF3-D539-0397-EB5939ABFA5D}"/>
                    </a:ext>
                  </a:extLst>
                </p:cNvPr>
                <p:cNvSpPr>
                  <a:spLocks noRot="1" noChangeAspect="1" noMove="1" noResize="1" noEditPoints="1" noAdjustHandles="1" noChangeArrowheads="1" noChangeShapeType="1" noTextEdit="1"/>
                </p:cNvSpPr>
                <p:nvPr/>
              </p:nvSpPr>
              <p:spPr>
                <a:xfrm>
                  <a:off x="6887363" y="3769526"/>
                  <a:ext cx="415636" cy="404918"/>
                </a:xfrm>
                <a:prstGeom prst="ellipse">
                  <a:avLst/>
                </a:prstGeom>
                <a:blipFill>
                  <a:blip r:embed="rId5"/>
                  <a:stretch>
                    <a:fillRect l="-2899"/>
                  </a:stretch>
                </a:blipFill>
              </p:spPr>
              <p:txBody>
                <a:bodyPr/>
                <a:lstStyle/>
                <a:p>
                  <a:r>
                    <a:rPr lang="en-US">
                      <a:noFill/>
                    </a:rPr>
                    <a:t> </a:t>
                  </a:r>
                </a:p>
              </p:txBody>
            </p:sp>
          </mc:Fallback>
        </mc:AlternateContent>
        <p:cxnSp>
          <p:nvCxnSpPr>
            <p:cNvPr id="35" name="Straight Arrow Connector 34">
              <a:extLst>
                <a:ext uri="{FF2B5EF4-FFF2-40B4-BE49-F238E27FC236}">
                  <a16:creationId xmlns="" xmlns:a16="http://schemas.microsoft.com/office/drawing/2014/main" id="{0E40F23A-D8D4-25F6-DDDB-17B95E9C8E39}"/>
                </a:ext>
              </a:extLst>
            </p:cNvPr>
            <p:cNvCxnSpPr>
              <a:stCxn id="21" idx="0"/>
            </p:cNvCxnSpPr>
            <p:nvPr/>
          </p:nvCxnSpPr>
          <p:spPr>
            <a:xfrm flipV="1">
              <a:off x="7095181" y="3457472"/>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7" name="TextBox 56">
              <a:extLst>
                <a:ext uri="{FF2B5EF4-FFF2-40B4-BE49-F238E27FC236}">
                  <a16:creationId xmlns="" xmlns:a16="http://schemas.microsoft.com/office/drawing/2014/main" id="{EB19DA87-A58F-46A6-EDE2-943BC4C3D386}"/>
                </a:ext>
              </a:extLst>
            </p:cNvPr>
            <p:cNvSpPr txBox="1"/>
            <p:nvPr/>
          </p:nvSpPr>
          <p:spPr>
            <a:xfrm>
              <a:off x="3609879" y="4161395"/>
              <a:ext cx="421910" cy="369332"/>
            </a:xfrm>
            <a:prstGeom prst="rect">
              <a:avLst/>
            </a:prstGeom>
            <a:noFill/>
          </p:spPr>
          <p:txBody>
            <a:bodyPr wrap="none" rtlCol="0">
              <a:spAutoFit/>
            </a:bodyPr>
            <a:lstStyle/>
            <a:p>
              <a:r>
                <a:rPr lang="pt-BR" dirty="0"/>
                <a:t>de</a:t>
              </a:r>
              <a:endParaRPr lang="en-US" dirty="0"/>
            </a:p>
          </p:txBody>
        </p:sp>
        <p:sp>
          <p:nvSpPr>
            <p:cNvPr id="58" name="TextBox 57">
              <a:extLst>
                <a:ext uri="{FF2B5EF4-FFF2-40B4-BE49-F238E27FC236}">
                  <a16:creationId xmlns="" xmlns:a16="http://schemas.microsoft.com/office/drawing/2014/main" id="{C6D6550D-0169-2E65-9876-AB1FF91B3C6B}"/>
                </a:ext>
              </a:extLst>
            </p:cNvPr>
            <p:cNvSpPr txBox="1"/>
            <p:nvPr/>
          </p:nvSpPr>
          <p:spPr>
            <a:xfrm>
              <a:off x="4328259" y="4161395"/>
              <a:ext cx="721736" cy="369332"/>
            </a:xfrm>
            <a:prstGeom prst="rect">
              <a:avLst/>
            </a:prstGeom>
            <a:noFill/>
          </p:spPr>
          <p:txBody>
            <a:bodyPr wrap="none" rtlCol="0">
              <a:spAutoFit/>
            </a:bodyPr>
            <a:lstStyle/>
            <a:p>
              <a:r>
                <a:rPr lang="pt-BR" dirty="0"/>
                <a:t>Roma</a:t>
              </a:r>
              <a:endParaRPr lang="en-US" dirty="0"/>
            </a:p>
          </p:txBody>
        </p:sp>
        <p:sp>
          <p:nvSpPr>
            <p:cNvPr id="61" name="TextBox 60">
              <a:extLst>
                <a:ext uri="{FF2B5EF4-FFF2-40B4-BE49-F238E27FC236}">
                  <a16:creationId xmlns="" xmlns:a16="http://schemas.microsoft.com/office/drawing/2014/main" id="{B1F4A0A2-8071-5489-B1DC-AE37EE9B6CC4}"/>
                </a:ext>
              </a:extLst>
            </p:cNvPr>
            <p:cNvSpPr txBox="1"/>
            <p:nvPr/>
          </p:nvSpPr>
          <p:spPr>
            <a:xfrm>
              <a:off x="5373693" y="4161395"/>
              <a:ext cx="242374" cy="369332"/>
            </a:xfrm>
            <a:prstGeom prst="rect">
              <a:avLst/>
            </a:prstGeom>
            <a:noFill/>
          </p:spPr>
          <p:txBody>
            <a:bodyPr wrap="none" rtlCol="0">
              <a:spAutoFit/>
            </a:bodyPr>
            <a:lstStyle/>
            <a:p>
              <a:r>
                <a:rPr lang="pt-BR" dirty="0"/>
                <a:t>.</a:t>
              </a:r>
              <a:endParaRPr lang="en-US" dirty="0"/>
            </a:p>
          </p:txBody>
        </p:sp>
        <p:sp>
          <p:nvSpPr>
            <p:cNvPr id="63" name="TextBox 62">
              <a:extLst>
                <a:ext uri="{FF2B5EF4-FFF2-40B4-BE49-F238E27FC236}">
                  <a16:creationId xmlns="" xmlns:a16="http://schemas.microsoft.com/office/drawing/2014/main" id="{233D19E0-8BC8-DCF3-25F7-112FD8019AAF}"/>
                </a:ext>
              </a:extLst>
            </p:cNvPr>
            <p:cNvSpPr txBox="1"/>
            <p:nvPr/>
          </p:nvSpPr>
          <p:spPr>
            <a:xfrm>
              <a:off x="6966518" y="4169085"/>
              <a:ext cx="300082" cy="369332"/>
            </a:xfrm>
            <a:prstGeom prst="rect">
              <a:avLst/>
            </a:prstGeom>
            <a:noFill/>
          </p:spPr>
          <p:txBody>
            <a:bodyPr wrap="none" rtlCol="0">
              <a:spAutoFit/>
            </a:bodyPr>
            <a:lstStyle/>
            <a:p>
              <a:r>
                <a:rPr lang="pt-BR" dirty="0"/>
                <a:t>é</a:t>
              </a:r>
              <a:endParaRPr lang="en-US" dirty="0"/>
            </a:p>
          </p:txBody>
        </p:sp>
        <mc:AlternateContent xmlns:mc="http://schemas.openxmlformats.org/markup-compatibility/2006" xmlns:a14="http://schemas.microsoft.com/office/drawing/2010/main">
          <mc:Choice Requires="a14">
            <p:sp>
              <p:nvSpPr>
                <p:cNvPr id="64" name="Oval 63">
                  <a:extLst>
                    <a:ext uri="{FF2B5EF4-FFF2-40B4-BE49-F238E27FC236}">
                      <a16:creationId xmlns="" xmlns:a16="http://schemas.microsoft.com/office/drawing/2014/main" id="{F36D6E33-7BC5-5E4C-56CB-E03DF0F68ED7}"/>
                    </a:ext>
                  </a:extLst>
                </p:cNvPr>
                <p:cNvSpPr/>
                <p:nvPr/>
              </p:nvSpPr>
              <p:spPr>
                <a:xfrm>
                  <a:off x="3596985" y="2317173"/>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𝒉</m:t>
                        </m:r>
                        <m:r>
                          <a:rPr lang="pt-BR" sz="1400" b="0" i="1" smtClean="0">
                            <a:latin typeface="Cambria Math" panose="02040503050406030204" pitchFamily="18" charset="0"/>
                          </a:rPr>
                          <m:t>[0]</m:t>
                        </m:r>
                      </m:oMath>
                    </m:oMathPara>
                  </a14:m>
                  <a:endParaRPr lang="en-US" sz="1400" dirty="0"/>
                </a:p>
              </p:txBody>
            </p:sp>
          </mc:Choice>
          <mc:Fallback xmlns="">
            <p:sp>
              <p:nvSpPr>
                <p:cNvPr id="64" name="Oval 63">
                  <a:extLst>
                    <a:ext uri="{FF2B5EF4-FFF2-40B4-BE49-F238E27FC236}">
                      <a16:creationId xmlns:a16="http://schemas.microsoft.com/office/drawing/2014/main" id="{F36D6E33-7BC5-5E4C-56CB-E03DF0F68ED7}"/>
                    </a:ext>
                  </a:extLst>
                </p:cNvPr>
                <p:cNvSpPr>
                  <a:spLocks noRot="1" noChangeAspect="1" noMove="1" noResize="1" noEditPoints="1" noAdjustHandles="1" noChangeArrowheads="1" noChangeShapeType="1" noTextEdit="1"/>
                </p:cNvSpPr>
                <p:nvPr/>
              </p:nvSpPr>
              <p:spPr>
                <a:xfrm>
                  <a:off x="3596985" y="2317173"/>
                  <a:ext cx="415636" cy="404918"/>
                </a:xfrm>
                <a:prstGeom prst="ellipse">
                  <a:avLst/>
                </a:prstGeom>
                <a:blipFill>
                  <a:blip r:embed="rId6"/>
                  <a:stretch>
                    <a:fillRect l="-11594" r="-4348"/>
                  </a:stretch>
                </a:blipFill>
              </p:spPr>
              <p:txBody>
                <a:bodyPr/>
                <a:lstStyle/>
                <a:p>
                  <a:r>
                    <a:rPr lang="en-US">
                      <a:noFill/>
                    </a:rPr>
                    <a:t> </a:t>
                  </a:r>
                </a:p>
              </p:txBody>
            </p:sp>
          </mc:Fallback>
        </mc:AlternateContent>
        <p:cxnSp>
          <p:nvCxnSpPr>
            <p:cNvPr id="66" name="Straight Arrow Connector 65">
              <a:extLst>
                <a:ext uri="{FF2B5EF4-FFF2-40B4-BE49-F238E27FC236}">
                  <a16:creationId xmlns="" xmlns:a16="http://schemas.microsoft.com/office/drawing/2014/main" id="{DEE5256F-F5BF-0D94-50CE-460735EE0070}"/>
                </a:ext>
              </a:extLst>
            </p:cNvPr>
            <p:cNvCxnSpPr>
              <a:stCxn id="3" idx="0"/>
              <a:endCxn id="64" idx="4"/>
            </p:cNvCxnSpPr>
            <p:nvPr/>
          </p:nvCxnSpPr>
          <p:spPr>
            <a:xfrm flipV="1">
              <a:off x="3802909" y="2722091"/>
              <a:ext cx="1894" cy="3120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7" name="Oval 66">
                  <a:extLst>
                    <a:ext uri="{FF2B5EF4-FFF2-40B4-BE49-F238E27FC236}">
                      <a16:creationId xmlns="" xmlns:a16="http://schemas.microsoft.com/office/drawing/2014/main" id="{D5CB3226-5F82-6A5B-41B1-CC0280509CB6}"/>
                    </a:ext>
                  </a:extLst>
                </p:cNvPr>
                <p:cNvSpPr/>
                <p:nvPr/>
              </p:nvSpPr>
              <p:spPr>
                <a:xfrm>
                  <a:off x="4433052" y="2317173"/>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𝒉</m:t>
                        </m:r>
                        <m:r>
                          <a:rPr lang="pt-BR" sz="1400" b="0" i="1" smtClean="0">
                            <a:latin typeface="Cambria Math" panose="02040503050406030204" pitchFamily="18" charset="0"/>
                          </a:rPr>
                          <m:t>[1]</m:t>
                        </m:r>
                      </m:oMath>
                    </m:oMathPara>
                  </a14:m>
                  <a:endParaRPr lang="en-US" sz="1400" dirty="0"/>
                </a:p>
              </p:txBody>
            </p:sp>
          </mc:Choice>
          <mc:Fallback xmlns="">
            <p:sp>
              <p:nvSpPr>
                <p:cNvPr id="67" name="Oval 66">
                  <a:extLst>
                    <a:ext uri="{FF2B5EF4-FFF2-40B4-BE49-F238E27FC236}">
                      <a16:creationId xmlns:a16="http://schemas.microsoft.com/office/drawing/2014/main" id="{D5CB3226-5F82-6A5B-41B1-CC0280509CB6}"/>
                    </a:ext>
                  </a:extLst>
                </p:cNvPr>
                <p:cNvSpPr>
                  <a:spLocks noRot="1" noChangeAspect="1" noMove="1" noResize="1" noEditPoints="1" noAdjustHandles="1" noChangeArrowheads="1" noChangeShapeType="1" noTextEdit="1"/>
                </p:cNvSpPr>
                <p:nvPr/>
              </p:nvSpPr>
              <p:spPr>
                <a:xfrm>
                  <a:off x="4433052" y="2317173"/>
                  <a:ext cx="415636" cy="404918"/>
                </a:xfrm>
                <a:prstGeom prst="ellipse">
                  <a:avLst/>
                </a:prstGeom>
                <a:blipFill>
                  <a:blip r:embed="rId7"/>
                  <a:stretch>
                    <a:fillRect l="-10145" r="-579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Oval 80">
                  <a:extLst>
                    <a:ext uri="{FF2B5EF4-FFF2-40B4-BE49-F238E27FC236}">
                      <a16:creationId xmlns="" xmlns:a16="http://schemas.microsoft.com/office/drawing/2014/main" id="{A4595E6A-8A12-4BE5-B8A9-4620252A3DF7}"/>
                    </a:ext>
                  </a:extLst>
                </p:cNvPr>
                <p:cNvSpPr/>
                <p:nvPr/>
              </p:nvSpPr>
              <p:spPr>
                <a:xfrm>
                  <a:off x="5273181" y="2327564"/>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𝒉</m:t>
                        </m:r>
                        <m:r>
                          <a:rPr lang="pt-BR" sz="1400" b="0" i="1" smtClean="0">
                            <a:latin typeface="Cambria Math" panose="02040503050406030204" pitchFamily="18" charset="0"/>
                          </a:rPr>
                          <m:t>[2]</m:t>
                        </m:r>
                      </m:oMath>
                    </m:oMathPara>
                  </a14:m>
                  <a:endParaRPr lang="en-US" sz="1400" dirty="0"/>
                </a:p>
              </p:txBody>
            </p:sp>
          </mc:Choice>
          <mc:Fallback xmlns="">
            <p:sp>
              <p:nvSpPr>
                <p:cNvPr id="81" name="Oval 80">
                  <a:extLst>
                    <a:ext uri="{FF2B5EF4-FFF2-40B4-BE49-F238E27FC236}">
                      <a16:creationId xmlns:a16="http://schemas.microsoft.com/office/drawing/2014/main" id="{A4595E6A-8A12-4BE5-B8A9-4620252A3DF7}"/>
                    </a:ext>
                  </a:extLst>
                </p:cNvPr>
                <p:cNvSpPr>
                  <a:spLocks noRot="1" noChangeAspect="1" noMove="1" noResize="1" noEditPoints="1" noAdjustHandles="1" noChangeArrowheads="1" noChangeShapeType="1" noTextEdit="1"/>
                </p:cNvSpPr>
                <p:nvPr/>
              </p:nvSpPr>
              <p:spPr>
                <a:xfrm>
                  <a:off x="5273181" y="2327564"/>
                  <a:ext cx="415636" cy="404918"/>
                </a:xfrm>
                <a:prstGeom prst="ellipse">
                  <a:avLst/>
                </a:prstGeom>
                <a:blipFill>
                  <a:blip r:embed="rId8"/>
                  <a:stretch>
                    <a:fillRect l="-11594" r="-434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3" name="Oval 82">
                  <a:extLst>
                    <a:ext uri="{FF2B5EF4-FFF2-40B4-BE49-F238E27FC236}">
                      <a16:creationId xmlns="" xmlns:a16="http://schemas.microsoft.com/office/drawing/2014/main" id="{DB641876-7756-4556-5D5B-3FF6052D5D67}"/>
                    </a:ext>
                  </a:extLst>
                </p:cNvPr>
                <p:cNvSpPr/>
                <p:nvPr/>
              </p:nvSpPr>
              <p:spPr>
                <a:xfrm>
                  <a:off x="6866534" y="2335582"/>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𝒉</m:t>
                        </m:r>
                        <m:r>
                          <a:rPr lang="pt-BR" sz="1400" b="0" i="1" smtClean="0">
                            <a:latin typeface="Cambria Math" panose="02040503050406030204" pitchFamily="18" charset="0"/>
                          </a:rPr>
                          <m:t>[3]</m:t>
                        </m:r>
                      </m:oMath>
                    </m:oMathPara>
                  </a14:m>
                  <a:endParaRPr lang="en-US" sz="1400" dirty="0"/>
                </a:p>
              </p:txBody>
            </p:sp>
          </mc:Choice>
          <mc:Fallback xmlns="">
            <p:sp>
              <p:nvSpPr>
                <p:cNvPr id="83" name="Oval 82">
                  <a:extLst>
                    <a:ext uri="{FF2B5EF4-FFF2-40B4-BE49-F238E27FC236}">
                      <a16:creationId xmlns:a16="http://schemas.microsoft.com/office/drawing/2014/main" id="{DB641876-7756-4556-5D5B-3FF6052D5D67}"/>
                    </a:ext>
                  </a:extLst>
                </p:cNvPr>
                <p:cNvSpPr>
                  <a:spLocks noRot="1" noChangeAspect="1" noMove="1" noResize="1" noEditPoints="1" noAdjustHandles="1" noChangeArrowheads="1" noChangeShapeType="1" noTextEdit="1"/>
                </p:cNvSpPr>
                <p:nvPr/>
              </p:nvSpPr>
              <p:spPr>
                <a:xfrm>
                  <a:off x="6866534" y="2335582"/>
                  <a:ext cx="415636" cy="404918"/>
                </a:xfrm>
                <a:prstGeom prst="ellipse">
                  <a:avLst/>
                </a:prstGeom>
                <a:blipFill>
                  <a:blip r:embed="rId9"/>
                  <a:stretch>
                    <a:fillRect l="-10000" r="-4286"/>
                  </a:stretch>
                </a:blipFill>
              </p:spPr>
              <p:txBody>
                <a:bodyPr/>
                <a:lstStyle/>
                <a:p>
                  <a:r>
                    <a:rPr lang="en-US">
                      <a:noFill/>
                    </a:rPr>
                    <a:t> </a:t>
                  </a:r>
                </a:p>
              </p:txBody>
            </p:sp>
          </mc:Fallback>
        </mc:AlternateContent>
        <p:sp>
          <p:nvSpPr>
            <p:cNvPr id="86" name="TextBox 85">
              <a:extLst>
                <a:ext uri="{FF2B5EF4-FFF2-40B4-BE49-F238E27FC236}">
                  <a16:creationId xmlns="" xmlns:a16="http://schemas.microsoft.com/office/drawing/2014/main" id="{6F325E6A-0D08-A66B-C255-CB42FFF9995F}"/>
                </a:ext>
              </a:extLst>
            </p:cNvPr>
            <p:cNvSpPr txBox="1"/>
            <p:nvPr/>
          </p:nvSpPr>
          <p:spPr>
            <a:xfrm>
              <a:off x="3470087" y="1912255"/>
              <a:ext cx="721736" cy="369332"/>
            </a:xfrm>
            <a:prstGeom prst="rect">
              <a:avLst/>
            </a:prstGeom>
            <a:noFill/>
          </p:spPr>
          <p:txBody>
            <a:bodyPr wrap="none" rtlCol="0">
              <a:spAutoFit/>
            </a:bodyPr>
            <a:lstStyle/>
            <a:p>
              <a:r>
                <a:rPr lang="pt-BR" dirty="0"/>
                <a:t>Roma</a:t>
              </a:r>
              <a:endParaRPr lang="en-US" dirty="0"/>
            </a:p>
          </p:txBody>
        </p:sp>
        <p:sp>
          <p:nvSpPr>
            <p:cNvPr id="87" name="TextBox 86">
              <a:extLst>
                <a:ext uri="{FF2B5EF4-FFF2-40B4-BE49-F238E27FC236}">
                  <a16:creationId xmlns="" xmlns:a16="http://schemas.microsoft.com/office/drawing/2014/main" id="{9AF428C7-99F7-79EE-905C-5BFFD1D6B794}"/>
                </a:ext>
              </a:extLst>
            </p:cNvPr>
            <p:cNvSpPr txBox="1"/>
            <p:nvPr/>
          </p:nvSpPr>
          <p:spPr>
            <a:xfrm>
              <a:off x="4513541" y="1912255"/>
              <a:ext cx="242374" cy="369332"/>
            </a:xfrm>
            <a:prstGeom prst="rect">
              <a:avLst/>
            </a:prstGeom>
            <a:noFill/>
          </p:spPr>
          <p:txBody>
            <a:bodyPr wrap="none" rtlCol="0">
              <a:spAutoFit/>
            </a:bodyPr>
            <a:lstStyle/>
            <a:p>
              <a:r>
                <a:rPr lang="pt-BR" dirty="0"/>
                <a:t>.</a:t>
              </a:r>
              <a:endParaRPr lang="en-US" dirty="0"/>
            </a:p>
          </p:txBody>
        </p:sp>
        <p:sp>
          <p:nvSpPr>
            <p:cNvPr id="88" name="TextBox 87">
              <a:extLst>
                <a:ext uri="{FF2B5EF4-FFF2-40B4-BE49-F238E27FC236}">
                  <a16:creationId xmlns="" xmlns:a16="http://schemas.microsoft.com/office/drawing/2014/main" id="{DD2D0EBE-EFA3-2C35-531F-42E1FB1848CF}"/>
                </a:ext>
              </a:extLst>
            </p:cNvPr>
            <p:cNvSpPr txBox="1"/>
            <p:nvPr/>
          </p:nvSpPr>
          <p:spPr>
            <a:xfrm>
              <a:off x="5151905" y="1922318"/>
              <a:ext cx="684803" cy="369332"/>
            </a:xfrm>
            <a:prstGeom prst="rect">
              <a:avLst/>
            </a:prstGeom>
            <a:noFill/>
          </p:spPr>
          <p:txBody>
            <a:bodyPr wrap="none" rtlCol="0">
              <a:spAutoFit/>
            </a:bodyPr>
            <a:lstStyle/>
            <a:p>
              <a:r>
                <a:rPr lang="pt-BR" dirty="0"/>
                <a:t>Nasci</a:t>
              </a:r>
              <a:endParaRPr lang="en-US" dirty="0"/>
            </a:p>
          </p:txBody>
        </p:sp>
        <p:sp>
          <p:nvSpPr>
            <p:cNvPr id="89" name="TextBox 88">
              <a:extLst>
                <a:ext uri="{FF2B5EF4-FFF2-40B4-BE49-F238E27FC236}">
                  <a16:creationId xmlns="" xmlns:a16="http://schemas.microsoft.com/office/drawing/2014/main" id="{D18C53F0-5275-B2B1-41F3-3E7649629DDA}"/>
                </a:ext>
              </a:extLst>
            </p:cNvPr>
            <p:cNvSpPr txBox="1"/>
            <p:nvPr/>
          </p:nvSpPr>
          <p:spPr>
            <a:xfrm>
              <a:off x="6906742" y="1930336"/>
              <a:ext cx="306494" cy="369332"/>
            </a:xfrm>
            <a:prstGeom prst="rect">
              <a:avLst/>
            </a:prstGeom>
            <a:noFill/>
          </p:spPr>
          <p:txBody>
            <a:bodyPr wrap="none" rtlCol="0">
              <a:spAutoFit/>
            </a:bodyPr>
            <a:lstStyle/>
            <a:p>
              <a:r>
                <a:rPr lang="pt-BR" dirty="0"/>
                <a:t>o</a:t>
              </a:r>
              <a:endParaRPr lang="en-US" dirty="0"/>
            </a:p>
          </p:txBody>
        </p:sp>
        <p:cxnSp>
          <p:nvCxnSpPr>
            <p:cNvPr id="92" name="Straight Arrow Connector 91">
              <a:extLst>
                <a:ext uri="{FF2B5EF4-FFF2-40B4-BE49-F238E27FC236}">
                  <a16:creationId xmlns="" xmlns:a16="http://schemas.microsoft.com/office/drawing/2014/main" id="{DE520B99-8262-A48A-55C7-26AE0E413875}"/>
                </a:ext>
              </a:extLst>
            </p:cNvPr>
            <p:cNvCxnSpPr>
              <a:stCxn id="5" idx="0"/>
              <a:endCxn id="67" idx="4"/>
            </p:cNvCxnSpPr>
            <p:nvPr/>
          </p:nvCxnSpPr>
          <p:spPr>
            <a:xfrm flipH="1" flipV="1">
              <a:off x="4640870" y="2722091"/>
              <a:ext cx="238" cy="31708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 xmlns:a16="http://schemas.microsoft.com/office/drawing/2014/main" id="{2C8AC8EA-926E-E9E1-49ED-DCA004E88087}"/>
                </a:ext>
              </a:extLst>
            </p:cNvPr>
            <p:cNvCxnSpPr>
              <a:stCxn id="6" idx="0"/>
              <a:endCxn id="81" idx="4"/>
            </p:cNvCxnSpPr>
            <p:nvPr/>
          </p:nvCxnSpPr>
          <p:spPr>
            <a:xfrm flipV="1">
              <a:off x="5479307" y="2732482"/>
              <a:ext cx="1692" cy="3120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8" name="Straight Arrow Connector 97">
              <a:extLst>
                <a:ext uri="{FF2B5EF4-FFF2-40B4-BE49-F238E27FC236}">
                  <a16:creationId xmlns="" xmlns:a16="http://schemas.microsoft.com/office/drawing/2014/main" id="{871252BB-9DB8-A8D2-D42B-16B83AE1A7C8}"/>
                </a:ext>
              </a:extLst>
            </p:cNvPr>
            <p:cNvCxnSpPr>
              <a:stCxn id="7" idx="0"/>
              <a:endCxn id="83" idx="4"/>
            </p:cNvCxnSpPr>
            <p:nvPr/>
          </p:nvCxnSpPr>
          <p:spPr>
            <a:xfrm flipH="1" flipV="1">
              <a:off x="7074352" y="2740500"/>
              <a:ext cx="1357" cy="31741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 xmlns:a16="http://schemas.microsoft.com/office/drawing/2014/main" id="{42C90E03-64F0-F10B-EC25-ED11EC008951}"/>
                </a:ext>
              </a:extLst>
            </p:cNvPr>
            <p:cNvSpPr/>
            <p:nvPr/>
          </p:nvSpPr>
          <p:spPr>
            <a:xfrm>
              <a:off x="7654226" y="3052554"/>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cxnSp>
          <p:nvCxnSpPr>
            <p:cNvPr id="4" name="Straight Arrow Connector 3">
              <a:extLst>
                <a:ext uri="{FF2B5EF4-FFF2-40B4-BE49-F238E27FC236}">
                  <a16:creationId xmlns="" xmlns:a16="http://schemas.microsoft.com/office/drawing/2014/main" id="{022EED10-87AA-5C00-4822-C3520E39F05F}"/>
                </a:ext>
              </a:extLst>
            </p:cNvPr>
            <p:cNvCxnSpPr>
              <a:cxnSpLocks/>
              <a:endCxn id="2" idx="1"/>
            </p:cNvCxnSpPr>
            <p:nvPr/>
          </p:nvCxnSpPr>
          <p:spPr>
            <a:xfrm>
              <a:off x="7356027" y="3249654"/>
              <a:ext cx="298199" cy="53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 name="Oval 7">
              <a:extLst>
                <a:ext uri="{FF2B5EF4-FFF2-40B4-BE49-F238E27FC236}">
                  <a16:creationId xmlns="" xmlns:a16="http://schemas.microsoft.com/office/drawing/2014/main" id="{96C5BE88-049C-7EB4-1781-EEA2A0A41860}"/>
                </a:ext>
              </a:extLst>
            </p:cNvPr>
            <p:cNvSpPr/>
            <p:nvPr/>
          </p:nvSpPr>
          <p:spPr>
            <a:xfrm>
              <a:off x="7735880" y="3764167"/>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sz="1400" dirty="0"/>
            </a:p>
          </p:txBody>
        </p:sp>
        <p:cxnSp>
          <p:nvCxnSpPr>
            <p:cNvPr id="10" name="Straight Arrow Connector 9">
              <a:extLst>
                <a:ext uri="{FF2B5EF4-FFF2-40B4-BE49-F238E27FC236}">
                  <a16:creationId xmlns="" xmlns:a16="http://schemas.microsoft.com/office/drawing/2014/main" id="{083CB2E8-EF82-839D-F96B-B6727E29EFA5}"/>
                </a:ext>
              </a:extLst>
            </p:cNvPr>
            <p:cNvCxnSpPr>
              <a:stCxn id="8" idx="0"/>
            </p:cNvCxnSpPr>
            <p:nvPr/>
          </p:nvCxnSpPr>
          <p:spPr>
            <a:xfrm flipV="1">
              <a:off x="7943698" y="3452113"/>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2" name="TextBox 11">
              <a:extLst>
                <a:ext uri="{FF2B5EF4-FFF2-40B4-BE49-F238E27FC236}">
                  <a16:creationId xmlns="" xmlns:a16="http://schemas.microsoft.com/office/drawing/2014/main" id="{DFE4C0D3-DCC2-D3B6-B855-67D6DC13EFF3}"/>
                </a:ext>
              </a:extLst>
            </p:cNvPr>
            <p:cNvSpPr txBox="1"/>
            <p:nvPr/>
          </p:nvSpPr>
          <p:spPr>
            <a:xfrm>
              <a:off x="7823504" y="4163726"/>
              <a:ext cx="306494" cy="369332"/>
            </a:xfrm>
            <a:prstGeom prst="rect">
              <a:avLst/>
            </a:prstGeom>
            <a:noFill/>
          </p:spPr>
          <p:txBody>
            <a:bodyPr wrap="none" rtlCol="0">
              <a:spAutoFit/>
            </a:bodyPr>
            <a:lstStyle/>
            <a:p>
              <a:r>
                <a:rPr lang="pt-BR" dirty="0"/>
                <a:t>o</a:t>
              </a:r>
              <a:endParaRPr lang="en-US" dirty="0"/>
            </a:p>
          </p:txBody>
        </p:sp>
        <mc:AlternateContent xmlns:mc="http://schemas.openxmlformats.org/markup-compatibility/2006" xmlns:a14="http://schemas.microsoft.com/office/drawing/2010/main">
          <mc:Choice Requires="a14">
            <p:sp>
              <p:nvSpPr>
                <p:cNvPr id="15" name="Oval 14">
                  <a:extLst>
                    <a:ext uri="{FF2B5EF4-FFF2-40B4-BE49-F238E27FC236}">
                      <a16:creationId xmlns="" xmlns:a16="http://schemas.microsoft.com/office/drawing/2014/main" id="{23F9A3F4-2E58-124C-03D9-237E2903604B}"/>
                    </a:ext>
                  </a:extLst>
                </p:cNvPr>
                <p:cNvSpPr/>
                <p:nvPr/>
              </p:nvSpPr>
              <p:spPr>
                <a:xfrm>
                  <a:off x="7715051" y="2330223"/>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𝒉</m:t>
                        </m:r>
                        <m:r>
                          <a:rPr lang="pt-BR" sz="1400" b="0" i="1" smtClean="0">
                            <a:latin typeface="Cambria Math" panose="02040503050406030204" pitchFamily="18" charset="0"/>
                          </a:rPr>
                          <m:t>[3]</m:t>
                        </m:r>
                      </m:oMath>
                    </m:oMathPara>
                  </a14:m>
                  <a:endParaRPr lang="en-US" sz="1400" dirty="0"/>
                </a:p>
              </p:txBody>
            </p:sp>
          </mc:Choice>
          <mc:Fallback xmlns="">
            <p:sp>
              <p:nvSpPr>
                <p:cNvPr id="15" name="Oval 14">
                  <a:extLst>
                    <a:ext uri="{FF2B5EF4-FFF2-40B4-BE49-F238E27FC236}">
                      <a16:creationId xmlns:a16="http://schemas.microsoft.com/office/drawing/2014/main" id="{23F9A3F4-2E58-124C-03D9-237E2903604B}"/>
                    </a:ext>
                  </a:extLst>
                </p:cNvPr>
                <p:cNvSpPr>
                  <a:spLocks noRot="1" noChangeAspect="1" noMove="1" noResize="1" noEditPoints="1" noAdjustHandles="1" noChangeArrowheads="1" noChangeShapeType="1" noTextEdit="1"/>
                </p:cNvSpPr>
                <p:nvPr/>
              </p:nvSpPr>
              <p:spPr>
                <a:xfrm>
                  <a:off x="7715051" y="2330223"/>
                  <a:ext cx="415636" cy="404918"/>
                </a:xfrm>
                <a:prstGeom prst="ellipse">
                  <a:avLst/>
                </a:prstGeom>
                <a:blipFill>
                  <a:blip r:embed="rId10"/>
                  <a:stretch>
                    <a:fillRect l="-11594" r="-4348"/>
                  </a:stretch>
                </a:blipFill>
              </p:spPr>
              <p:txBody>
                <a:bodyPr/>
                <a:lstStyle/>
                <a:p>
                  <a:r>
                    <a:rPr lang="en-US">
                      <a:noFill/>
                    </a:rPr>
                    <a:t> </a:t>
                  </a:r>
                </a:p>
              </p:txBody>
            </p:sp>
          </mc:Fallback>
        </mc:AlternateContent>
        <p:sp>
          <p:nvSpPr>
            <p:cNvPr id="22" name="TextBox 21">
              <a:extLst>
                <a:ext uri="{FF2B5EF4-FFF2-40B4-BE49-F238E27FC236}">
                  <a16:creationId xmlns="" xmlns:a16="http://schemas.microsoft.com/office/drawing/2014/main" id="{E9C8EE0E-F481-3EAF-0B16-38FF89D122F2}"/>
                </a:ext>
              </a:extLst>
            </p:cNvPr>
            <p:cNvSpPr txBox="1"/>
            <p:nvPr/>
          </p:nvSpPr>
          <p:spPr>
            <a:xfrm>
              <a:off x="7500115" y="1953491"/>
              <a:ext cx="882357" cy="369332"/>
            </a:xfrm>
            <a:prstGeom prst="rect">
              <a:avLst/>
            </a:prstGeom>
            <a:noFill/>
          </p:spPr>
          <p:txBody>
            <a:bodyPr wrap="none" rtlCol="0">
              <a:spAutoFit/>
            </a:bodyPr>
            <a:lstStyle/>
            <a:p>
              <a:r>
                <a:rPr lang="pt-BR" dirty="0"/>
                <a:t>italiano</a:t>
              </a:r>
              <a:endParaRPr lang="en-US" dirty="0"/>
            </a:p>
          </p:txBody>
        </p:sp>
        <p:cxnSp>
          <p:nvCxnSpPr>
            <p:cNvPr id="23" name="Straight Arrow Connector 22">
              <a:extLst>
                <a:ext uri="{FF2B5EF4-FFF2-40B4-BE49-F238E27FC236}">
                  <a16:creationId xmlns="" xmlns:a16="http://schemas.microsoft.com/office/drawing/2014/main" id="{777CB690-B844-9432-D277-3DAEF181FA47}"/>
                </a:ext>
              </a:extLst>
            </p:cNvPr>
            <p:cNvCxnSpPr>
              <a:stCxn id="2" idx="0"/>
              <a:endCxn id="15" idx="4"/>
            </p:cNvCxnSpPr>
            <p:nvPr/>
          </p:nvCxnSpPr>
          <p:spPr>
            <a:xfrm flipH="1" flipV="1">
              <a:off x="7922869" y="2735141"/>
              <a:ext cx="1357" cy="31741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 xmlns:a16="http://schemas.microsoft.com/office/drawing/2014/main" id="{B342B593-E0A1-FA17-862E-41D6D0D679FC}"/>
                </a:ext>
              </a:extLst>
            </p:cNvPr>
            <p:cNvCxnSpPr>
              <a:cxnSpLocks/>
            </p:cNvCxnSpPr>
            <p:nvPr/>
          </p:nvCxnSpPr>
          <p:spPr>
            <a:xfrm>
              <a:off x="5749307" y="3252027"/>
              <a:ext cx="298199" cy="53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5" name="TextBox 24">
              <a:extLst>
                <a:ext uri="{FF2B5EF4-FFF2-40B4-BE49-F238E27FC236}">
                  <a16:creationId xmlns="" xmlns:a16="http://schemas.microsoft.com/office/drawing/2014/main" id="{781F298F-67A3-70DF-C0A7-49BE483D54BE}"/>
                </a:ext>
              </a:extLst>
            </p:cNvPr>
            <p:cNvSpPr txBox="1"/>
            <p:nvPr/>
          </p:nvSpPr>
          <p:spPr>
            <a:xfrm>
              <a:off x="6096000" y="3018393"/>
              <a:ext cx="363351" cy="369332"/>
            </a:xfrm>
            <a:prstGeom prst="rect">
              <a:avLst/>
            </a:prstGeom>
            <a:noFill/>
          </p:spPr>
          <p:txBody>
            <a:bodyPr wrap="square" rtlCol="0">
              <a:spAutoFit/>
            </a:bodyPr>
            <a:lstStyle/>
            <a:p>
              <a:r>
                <a:rPr lang="pt-BR" dirty="0"/>
                <a:t>...</a:t>
              </a:r>
              <a:endParaRPr lang="en-US" dirty="0"/>
            </a:p>
          </p:txBody>
        </p:sp>
        <p:sp>
          <p:nvSpPr>
            <p:cNvPr id="26" name="Rectangle 25">
              <a:extLst>
                <a:ext uri="{FF2B5EF4-FFF2-40B4-BE49-F238E27FC236}">
                  <a16:creationId xmlns="" xmlns:a16="http://schemas.microsoft.com/office/drawing/2014/main" id="{804F6421-1237-F1A2-5E79-FE7BCA610A48}"/>
                </a:ext>
              </a:extLst>
            </p:cNvPr>
            <p:cNvSpPr/>
            <p:nvPr/>
          </p:nvSpPr>
          <p:spPr>
            <a:xfrm>
              <a:off x="8501386" y="3047195"/>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cxnSp>
          <p:nvCxnSpPr>
            <p:cNvPr id="27" name="Straight Arrow Connector 26">
              <a:extLst>
                <a:ext uri="{FF2B5EF4-FFF2-40B4-BE49-F238E27FC236}">
                  <a16:creationId xmlns="" xmlns:a16="http://schemas.microsoft.com/office/drawing/2014/main" id="{BF98A6BA-A4C3-1228-F3C0-DD2836B87CD4}"/>
                </a:ext>
              </a:extLst>
            </p:cNvPr>
            <p:cNvCxnSpPr>
              <a:cxnSpLocks/>
              <a:endCxn id="26" idx="1"/>
            </p:cNvCxnSpPr>
            <p:nvPr/>
          </p:nvCxnSpPr>
          <p:spPr>
            <a:xfrm>
              <a:off x="8203187" y="3244295"/>
              <a:ext cx="298199" cy="53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8" name="Oval 27">
              <a:extLst>
                <a:ext uri="{FF2B5EF4-FFF2-40B4-BE49-F238E27FC236}">
                  <a16:creationId xmlns="" xmlns:a16="http://schemas.microsoft.com/office/drawing/2014/main" id="{592DE97E-7082-B851-330D-322A2228597A}"/>
                </a:ext>
              </a:extLst>
            </p:cNvPr>
            <p:cNvSpPr/>
            <p:nvPr/>
          </p:nvSpPr>
          <p:spPr>
            <a:xfrm>
              <a:off x="8583040" y="3758808"/>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sz="900" dirty="0"/>
            </a:p>
          </p:txBody>
        </p:sp>
        <p:cxnSp>
          <p:nvCxnSpPr>
            <p:cNvPr id="29" name="Straight Arrow Connector 28">
              <a:extLst>
                <a:ext uri="{FF2B5EF4-FFF2-40B4-BE49-F238E27FC236}">
                  <a16:creationId xmlns="" xmlns:a16="http://schemas.microsoft.com/office/drawing/2014/main" id="{0EAB2269-9766-9629-F24D-AD449A7D529B}"/>
                </a:ext>
              </a:extLst>
            </p:cNvPr>
            <p:cNvCxnSpPr>
              <a:stCxn id="28" idx="0"/>
            </p:cNvCxnSpPr>
            <p:nvPr/>
          </p:nvCxnSpPr>
          <p:spPr>
            <a:xfrm flipV="1">
              <a:off x="8790858" y="3446754"/>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0" name="TextBox 29">
              <a:extLst>
                <a:ext uri="{FF2B5EF4-FFF2-40B4-BE49-F238E27FC236}">
                  <a16:creationId xmlns="" xmlns:a16="http://schemas.microsoft.com/office/drawing/2014/main" id="{8D037400-C2BB-9BDD-2FCF-C6DD77FA2016}"/>
                </a:ext>
              </a:extLst>
            </p:cNvPr>
            <p:cNvSpPr txBox="1"/>
            <p:nvPr/>
          </p:nvSpPr>
          <p:spPr>
            <a:xfrm>
              <a:off x="8368747" y="4152971"/>
              <a:ext cx="882357" cy="369332"/>
            </a:xfrm>
            <a:prstGeom prst="rect">
              <a:avLst/>
            </a:prstGeom>
            <a:noFill/>
          </p:spPr>
          <p:txBody>
            <a:bodyPr wrap="none" rtlCol="0">
              <a:spAutoFit/>
            </a:bodyPr>
            <a:lstStyle/>
            <a:p>
              <a:r>
                <a:rPr lang="pt-BR" dirty="0"/>
                <a:t>italiano</a:t>
              </a:r>
              <a:endParaRPr lang="en-US" dirty="0"/>
            </a:p>
          </p:txBody>
        </p:sp>
        <mc:AlternateContent xmlns:mc="http://schemas.openxmlformats.org/markup-compatibility/2006" xmlns:a14="http://schemas.microsoft.com/office/drawing/2010/main">
          <mc:Choice Requires="a14">
            <p:sp>
              <p:nvSpPr>
                <p:cNvPr id="31" name="Oval 30">
                  <a:extLst>
                    <a:ext uri="{FF2B5EF4-FFF2-40B4-BE49-F238E27FC236}">
                      <a16:creationId xmlns="" xmlns:a16="http://schemas.microsoft.com/office/drawing/2014/main" id="{4991E1B3-322B-85B2-8F5E-1AA5F8458D09}"/>
                    </a:ext>
                  </a:extLst>
                </p:cNvPr>
                <p:cNvSpPr/>
                <p:nvPr/>
              </p:nvSpPr>
              <p:spPr>
                <a:xfrm>
                  <a:off x="8562211" y="2324864"/>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𝒉</m:t>
                        </m:r>
                        <m:r>
                          <a:rPr lang="pt-BR" sz="1400" b="0" i="1" smtClean="0">
                            <a:latin typeface="Cambria Math" panose="02040503050406030204" pitchFamily="18" charset="0"/>
                          </a:rPr>
                          <m:t>[3]</m:t>
                        </m:r>
                      </m:oMath>
                    </m:oMathPara>
                  </a14:m>
                  <a:endParaRPr lang="en-US" sz="1400" dirty="0"/>
                </a:p>
              </p:txBody>
            </p:sp>
          </mc:Choice>
          <mc:Fallback xmlns="">
            <p:sp>
              <p:nvSpPr>
                <p:cNvPr id="31" name="Oval 30">
                  <a:extLst>
                    <a:ext uri="{FF2B5EF4-FFF2-40B4-BE49-F238E27FC236}">
                      <a16:creationId xmlns:a16="http://schemas.microsoft.com/office/drawing/2014/main" id="{4991E1B3-322B-85B2-8F5E-1AA5F8458D09}"/>
                    </a:ext>
                  </a:extLst>
                </p:cNvPr>
                <p:cNvSpPr>
                  <a:spLocks noRot="1" noChangeAspect="1" noMove="1" noResize="1" noEditPoints="1" noAdjustHandles="1" noChangeArrowheads="1" noChangeShapeType="1" noTextEdit="1"/>
                </p:cNvSpPr>
                <p:nvPr/>
              </p:nvSpPr>
              <p:spPr>
                <a:xfrm>
                  <a:off x="8562211" y="2324864"/>
                  <a:ext cx="415636" cy="404918"/>
                </a:xfrm>
                <a:prstGeom prst="ellipse">
                  <a:avLst/>
                </a:prstGeom>
                <a:blipFill>
                  <a:blip r:embed="rId10"/>
                  <a:stretch>
                    <a:fillRect l="-11594" r="-4348"/>
                  </a:stretch>
                </a:blipFill>
              </p:spPr>
              <p:txBody>
                <a:bodyPr/>
                <a:lstStyle/>
                <a:p>
                  <a:r>
                    <a:rPr lang="en-US">
                      <a:noFill/>
                    </a:rPr>
                    <a:t> </a:t>
                  </a:r>
                </a:p>
              </p:txBody>
            </p:sp>
          </mc:Fallback>
        </mc:AlternateContent>
        <p:cxnSp>
          <p:nvCxnSpPr>
            <p:cNvPr id="32" name="Straight Arrow Connector 31">
              <a:extLst>
                <a:ext uri="{FF2B5EF4-FFF2-40B4-BE49-F238E27FC236}">
                  <a16:creationId xmlns="" xmlns:a16="http://schemas.microsoft.com/office/drawing/2014/main" id="{2A561BD5-0CAE-FB6F-CB1A-2A227C613163}"/>
                </a:ext>
              </a:extLst>
            </p:cNvPr>
            <p:cNvCxnSpPr>
              <a:stCxn id="26" idx="0"/>
              <a:endCxn id="31" idx="4"/>
            </p:cNvCxnSpPr>
            <p:nvPr/>
          </p:nvCxnSpPr>
          <p:spPr>
            <a:xfrm flipH="1" flipV="1">
              <a:off x="8770029" y="2729782"/>
              <a:ext cx="1357" cy="31741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 xmlns:a16="http://schemas.microsoft.com/office/drawing/2014/main" id="{B150E44D-343B-AC49-B71A-0BE368DAD0F9}"/>
                    </a:ext>
                  </a:extLst>
                </p:cNvPr>
                <p:cNvSpPr txBox="1"/>
                <p:nvPr/>
              </p:nvSpPr>
              <p:spPr>
                <a:xfrm>
                  <a:off x="7459294" y="3840668"/>
                  <a:ext cx="1011404"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𝒙</m:t>
                        </m:r>
                        <m:r>
                          <a:rPr lang="pt-BR" sz="1000" b="0" i="1" smtClean="0">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dirty="0"/>
                </a:p>
              </p:txBody>
            </p:sp>
          </mc:Choice>
          <mc:Fallback xmlns="">
            <p:sp>
              <p:nvSpPr>
                <p:cNvPr id="34" name="TextBox 33">
                  <a:extLst>
                    <a:ext uri="{FF2B5EF4-FFF2-40B4-BE49-F238E27FC236}">
                      <a16:creationId xmlns:a16="http://schemas.microsoft.com/office/drawing/2014/main" id="{B150E44D-343B-AC49-B71A-0BE368DAD0F9}"/>
                    </a:ext>
                  </a:extLst>
                </p:cNvPr>
                <p:cNvSpPr txBox="1">
                  <a:spLocks noRot="1" noChangeAspect="1" noMove="1" noResize="1" noEditPoints="1" noAdjustHandles="1" noChangeArrowheads="1" noChangeShapeType="1" noTextEdit="1"/>
                </p:cNvSpPr>
                <p:nvPr/>
              </p:nvSpPr>
              <p:spPr>
                <a:xfrm>
                  <a:off x="7459294" y="3840668"/>
                  <a:ext cx="1011404" cy="246221"/>
                </a:xfrm>
                <a:prstGeom prst="rect">
                  <a:avLst/>
                </a:prstGeom>
                <a:blipFill>
                  <a:blip r:embed="rId11"/>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 xmlns:a16="http://schemas.microsoft.com/office/drawing/2014/main" id="{208D4C2E-77B0-7513-CAC1-139708606D42}"/>
                    </a:ext>
                  </a:extLst>
                </p:cNvPr>
                <p:cNvSpPr txBox="1"/>
                <p:nvPr/>
              </p:nvSpPr>
              <p:spPr>
                <a:xfrm>
                  <a:off x="8296237" y="3851672"/>
                  <a:ext cx="1011404"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𝒙</m:t>
                        </m:r>
                        <m:r>
                          <a:rPr lang="pt-BR" sz="1000" b="0" i="1" smtClean="0">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+2]</m:t>
                        </m:r>
                      </m:oMath>
                    </m:oMathPara>
                  </a14:m>
                  <a:endParaRPr lang="en-US" sz="1000" dirty="0"/>
                </a:p>
              </p:txBody>
            </p:sp>
          </mc:Choice>
          <mc:Fallback xmlns="">
            <p:sp>
              <p:nvSpPr>
                <p:cNvPr id="36" name="TextBox 35">
                  <a:extLst>
                    <a:ext uri="{FF2B5EF4-FFF2-40B4-BE49-F238E27FC236}">
                      <a16:creationId xmlns:a16="http://schemas.microsoft.com/office/drawing/2014/main" id="{208D4C2E-77B0-7513-CAC1-139708606D42}"/>
                    </a:ext>
                  </a:extLst>
                </p:cNvPr>
                <p:cNvSpPr txBox="1">
                  <a:spLocks noRot="1" noChangeAspect="1" noMove="1" noResize="1" noEditPoints="1" noAdjustHandles="1" noChangeArrowheads="1" noChangeShapeType="1" noTextEdit="1"/>
                </p:cNvSpPr>
                <p:nvPr/>
              </p:nvSpPr>
              <p:spPr>
                <a:xfrm>
                  <a:off x="8296237" y="3851672"/>
                  <a:ext cx="1011404" cy="246221"/>
                </a:xfrm>
                <a:prstGeom prst="rect">
                  <a:avLst/>
                </a:prstGeom>
                <a:blipFill>
                  <a:blip r:embed="rId12"/>
                  <a:stretch>
                    <a:fillRect b="-7500"/>
                  </a:stretch>
                </a:blipFill>
              </p:spPr>
              <p:txBody>
                <a:bodyPr/>
                <a:lstStyle/>
                <a:p>
                  <a:r>
                    <a:rPr lang="en-US">
                      <a:noFill/>
                    </a:rPr>
                    <a:t> </a:t>
                  </a:r>
                </a:p>
              </p:txBody>
            </p:sp>
          </mc:Fallback>
        </mc:AlternateContent>
        <p:sp>
          <p:nvSpPr>
            <p:cNvPr id="37" name="TextBox 36">
              <a:extLst>
                <a:ext uri="{FF2B5EF4-FFF2-40B4-BE49-F238E27FC236}">
                  <a16:creationId xmlns="" xmlns:a16="http://schemas.microsoft.com/office/drawing/2014/main" id="{48B2946E-9ED7-EB8C-9669-04C9C3EA8A23}"/>
                </a:ext>
              </a:extLst>
            </p:cNvPr>
            <p:cNvSpPr txBox="1"/>
            <p:nvPr/>
          </p:nvSpPr>
          <p:spPr>
            <a:xfrm>
              <a:off x="8648842" y="1930336"/>
              <a:ext cx="242374" cy="369332"/>
            </a:xfrm>
            <a:prstGeom prst="rect">
              <a:avLst/>
            </a:prstGeom>
            <a:noFill/>
          </p:spPr>
          <p:txBody>
            <a:bodyPr wrap="none" rtlCol="0">
              <a:spAutoFit/>
            </a:bodyPr>
            <a:lstStyle/>
            <a:p>
              <a:r>
                <a:rPr lang="pt-BR" dirty="0"/>
                <a:t>.</a:t>
              </a:r>
              <a:endParaRPr lang="en-US" dirty="0"/>
            </a:p>
          </p:txBody>
        </p:sp>
      </p:grpSp>
    </p:spTree>
    <p:extLst>
      <p:ext uri="{BB962C8B-B14F-4D97-AF65-F5344CB8AC3E}">
        <p14:creationId xmlns:p14="http://schemas.microsoft.com/office/powerpoint/2010/main" val="96419297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5861A8E6-4B10-4A75-B9D7-6D57BC91BB93}"/>
            </a:ext>
          </a:extLst>
        </p:cNvPr>
        <p:cNvGrpSpPr/>
        <p:nvPr/>
      </p:nvGrpSpPr>
      <p:grpSpPr>
        <a:xfrm>
          <a:off x="0" y="0"/>
          <a:ext cx="0" cy="0"/>
          <a:chOff x="0" y="0"/>
          <a:chExt cx="0" cy="0"/>
        </a:xfrm>
      </p:grpSpPr>
      <p:grpSp>
        <p:nvGrpSpPr>
          <p:cNvPr id="4" name="Group 3">
            <a:extLst>
              <a:ext uri="{FF2B5EF4-FFF2-40B4-BE49-F238E27FC236}">
                <a16:creationId xmlns="" xmlns:a16="http://schemas.microsoft.com/office/drawing/2014/main" id="{C80F7944-C56A-4918-32CC-D4E7982F8ACD}"/>
              </a:ext>
            </a:extLst>
          </p:cNvPr>
          <p:cNvGrpSpPr/>
          <p:nvPr/>
        </p:nvGrpSpPr>
        <p:grpSpPr>
          <a:xfrm>
            <a:off x="7045381" y="2909386"/>
            <a:ext cx="5001376" cy="2479740"/>
            <a:chOff x="7045381" y="2909386"/>
            <a:chExt cx="5001376" cy="2479740"/>
          </a:xfrm>
        </p:grpSpPr>
        <mc:AlternateContent xmlns:mc="http://schemas.openxmlformats.org/markup-compatibility/2006" xmlns:a14="http://schemas.microsoft.com/office/drawing/2010/main">
          <mc:Choice Requires="a14">
            <p:sp>
              <p:nvSpPr>
                <p:cNvPr id="27" name="TextBox 26">
                  <a:extLst>
                    <a:ext uri="{FF2B5EF4-FFF2-40B4-BE49-F238E27FC236}">
                      <a16:creationId xmlns="" xmlns:a16="http://schemas.microsoft.com/office/drawing/2014/main" id="{6952C40A-6BC1-7D50-9FEA-BBFC70E1732F}"/>
                    </a:ext>
                  </a:extLst>
                </p:cNvPr>
                <p:cNvSpPr txBox="1"/>
                <p:nvPr/>
              </p:nvSpPr>
              <p:spPr>
                <a:xfrm>
                  <a:off x="11429537" y="3038594"/>
                  <a:ext cx="61722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a16="http://schemas.microsoft.com/office/drawing/2014/main" id="{6952C40A-6BC1-7D50-9FEA-BBFC70E1732F}"/>
                    </a:ext>
                  </a:extLst>
                </p:cNvPr>
                <p:cNvSpPr txBox="1">
                  <a:spLocks noRot="1" noChangeAspect="1" noMove="1" noResize="1" noEditPoints="1" noAdjustHandles="1" noChangeArrowheads="1" noChangeShapeType="1" noTextEdit="1"/>
                </p:cNvSpPr>
                <p:nvPr/>
              </p:nvSpPr>
              <p:spPr>
                <a:xfrm>
                  <a:off x="11429537" y="3038594"/>
                  <a:ext cx="617220" cy="369332"/>
                </a:xfrm>
                <a:prstGeom prst="rect">
                  <a:avLst/>
                </a:prstGeom>
                <a:blipFill>
                  <a:blip r:embed="rId4"/>
                  <a:stretch>
                    <a:fillRect/>
                  </a:stretch>
                </a:blipFill>
              </p:spPr>
              <p:txBody>
                <a:bodyPr/>
                <a:lstStyle/>
                <a:p>
                  <a:r>
                    <a:rPr lang="en-US">
                      <a:noFill/>
                    </a:rPr>
                    <a:t> </a:t>
                  </a:r>
                </a:p>
              </p:txBody>
            </p:sp>
          </mc:Fallback>
        </mc:AlternateContent>
        <p:sp>
          <p:nvSpPr>
            <p:cNvPr id="2" name="Rectangle: Rounded Corners 1">
              <a:extLst>
                <a:ext uri="{FF2B5EF4-FFF2-40B4-BE49-F238E27FC236}">
                  <a16:creationId xmlns="" xmlns:a16="http://schemas.microsoft.com/office/drawing/2014/main" id="{E389E7D6-0E03-C09E-A5BD-EF4F78F47BED}"/>
                </a:ext>
              </a:extLst>
            </p:cNvPr>
            <p:cNvSpPr/>
            <p:nvPr/>
          </p:nvSpPr>
          <p:spPr>
            <a:xfrm>
              <a:off x="8042034" y="2909386"/>
              <a:ext cx="3069771" cy="1981200"/>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 name="Rectangle 2">
              <a:extLst>
                <a:ext uri="{FF2B5EF4-FFF2-40B4-BE49-F238E27FC236}">
                  <a16:creationId xmlns="" xmlns:a16="http://schemas.microsoft.com/office/drawing/2014/main" id="{4B906B69-397B-E0FA-9BAF-87CDB2217708}"/>
                </a:ext>
              </a:extLst>
            </p:cNvPr>
            <p:cNvSpPr/>
            <p:nvPr/>
          </p:nvSpPr>
          <p:spPr>
            <a:xfrm>
              <a:off x="9263573" y="3050897"/>
              <a:ext cx="674915" cy="359229"/>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err="1">
                  <a:solidFill>
                    <a:schemeClr val="tx1"/>
                  </a:solidFill>
                </a:rPr>
                <a:t>tanh</a:t>
              </a:r>
              <a:endParaRPr lang="en-US" dirty="0">
                <a:solidFill>
                  <a:schemeClr val="tx1"/>
                </a:solidFill>
              </a:endParaRPr>
            </a:p>
          </p:txBody>
        </p:sp>
        <p:cxnSp>
          <p:nvCxnSpPr>
            <p:cNvPr id="16" name="Straight Connector 15">
              <a:extLst>
                <a:ext uri="{FF2B5EF4-FFF2-40B4-BE49-F238E27FC236}">
                  <a16:creationId xmlns="" xmlns:a16="http://schemas.microsoft.com/office/drawing/2014/main" id="{86885ED8-AB22-72C4-5CEA-3CE25FC19B23}"/>
                </a:ext>
              </a:extLst>
            </p:cNvPr>
            <p:cNvCxnSpPr>
              <a:endCxn id="3" idx="1"/>
            </p:cNvCxnSpPr>
            <p:nvPr/>
          </p:nvCxnSpPr>
          <p:spPr>
            <a:xfrm>
              <a:off x="7559040" y="3223260"/>
              <a:ext cx="1704533" cy="7252"/>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 xmlns:a16="http://schemas.microsoft.com/office/drawing/2014/main" id="{22EBD8D7-1711-1660-5F56-EBD07F649D6E}"/>
                </a:ext>
              </a:extLst>
            </p:cNvPr>
            <p:cNvCxnSpPr>
              <a:cxnSpLocks/>
            </p:cNvCxnSpPr>
            <p:nvPr/>
          </p:nvCxnSpPr>
          <p:spPr>
            <a:xfrm flipV="1">
              <a:off x="8668376" y="3230511"/>
              <a:ext cx="3184" cy="1832438"/>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4" name="TextBox 23">
                  <a:extLst>
                    <a:ext uri="{FF2B5EF4-FFF2-40B4-BE49-F238E27FC236}">
                      <a16:creationId xmlns="" xmlns:a16="http://schemas.microsoft.com/office/drawing/2014/main" id="{D658E785-464A-A8FA-4EBA-DADD72D51FEB}"/>
                    </a:ext>
                  </a:extLst>
                </p:cNvPr>
                <p:cNvSpPr txBox="1"/>
                <p:nvPr/>
              </p:nvSpPr>
              <p:spPr>
                <a:xfrm>
                  <a:off x="8359766" y="5019794"/>
                  <a:ext cx="61722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24" name="TextBox 23">
                  <a:extLst>
                    <a:ext uri="{FF2B5EF4-FFF2-40B4-BE49-F238E27FC236}">
                      <a16:creationId xmlns:a16="http://schemas.microsoft.com/office/drawing/2014/main" id="{D658E785-464A-A8FA-4EBA-DADD72D51FEB}"/>
                    </a:ext>
                  </a:extLst>
                </p:cNvPr>
                <p:cNvSpPr txBox="1">
                  <a:spLocks noRot="1" noChangeAspect="1" noMove="1" noResize="1" noEditPoints="1" noAdjustHandles="1" noChangeArrowheads="1" noChangeShapeType="1" noTextEdit="1"/>
                </p:cNvSpPr>
                <p:nvPr/>
              </p:nvSpPr>
              <p:spPr>
                <a:xfrm>
                  <a:off x="8359766" y="5019794"/>
                  <a:ext cx="617220" cy="369332"/>
                </a:xfrm>
                <a:prstGeom prst="rect">
                  <a:avLst/>
                </a:prstGeom>
                <a:blipFill>
                  <a:blip r:embed="rId5"/>
                  <a:stretch>
                    <a:fillRect/>
                  </a:stretch>
                </a:blipFill>
              </p:spPr>
              <p:txBody>
                <a:bodyPr/>
                <a:lstStyle/>
                <a:p>
                  <a:r>
                    <a:rPr lang="en-US">
                      <a:noFill/>
                    </a:rPr>
                    <a:t> </a:t>
                  </a:r>
                </a:p>
              </p:txBody>
            </p:sp>
          </mc:Fallback>
        </mc:AlternateContent>
        <p:cxnSp>
          <p:nvCxnSpPr>
            <p:cNvPr id="26" name="Straight Arrow Connector 25">
              <a:extLst>
                <a:ext uri="{FF2B5EF4-FFF2-40B4-BE49-F238E27FC236}">
                  <a16:creationId xmlns="" xmlns:a16="http://schemas.microsoft.com/office/drawing/2014/main" id="{489BFDFC-AB2B-933B-5EF7-48728379F3B2}"/>
                </a:ext>
              </a:extLst>
            </p:cNvPr>
            <p:cNvCxnSpPr/>
            <p:nvPr/>
          </p:nvCxnSpPr>
          <p:spPr>
            <a:xfrm>
              <a:off x="9938488" y="3230511"/>
              <a:ext cx="16058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8" name="TextBox 27">
                  <a:extLst>
                    <a:ext uri="{FF2B5EF4-FFF2-40B4-BE49-F238E27FC236}">
                      <a16:creationId xmlns="" xmlns:a16="http://schemas.microsoft.com/office/drawing/2014/main" id="{89A2981D-B8A0-3122-77FD-ECBC0C46E0E6}"/>
                    </a:ext>
                  </a:extLst>
                </p:cNvPr>
                <p:cNvSpPr txBox="1"/>
                <p:nvPr/>
              </p:nvSpPr>
              <p:spPr>
                <a:xfrm>
                  <a:off x="7045381" y="3045845"/>
                  <a:ext cx="61722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89A2981D-B8A0-3122-77FD-ECBC0C46E0E6}"/>
                    </a:ext>
                  </a:extLst>
                </p:cNvPr>
                <p:cNvSpPr txBox="1">
                  <a:spLocks noRot="1" noChangeAspect="1" noMove="1" noResize="1" noEditPoints="1" noAdjustHandles="1" noChangeArrowheads="1" noChangeShapeType="1" noTextEdit="1"/>
                </p:cNvSpPr>
                <p:nvPr/>
              </p:nvSpPr>
              <p:spPr>
                <a:xfrm>
                  <a:off x="7045381" y="3045845"/>
                  <a:ext cx="617220" cy="369332"/>
                </a:xfrm>
                <a:prstGeom prst="rect">
                  <a:avLst/>
                </a:prstGeom>
                <a:blipFill>
                  <a:blip r:embed="rId6"/>
                  <a:stretch>
                    <a:fillRect/>
                  </a:stretch>
                </a:blipFill>
              </p:spPr>
              <p:txBody>
                <a:bodyPr/>
                <a:lstStyle/>
                <a:p>
                  <a:r>
                    <a:rPr lang="en-US">
                      <a:noFill/>
                    </a:rPr>
                    <a:t> </a:t>
                  </a:r>
                </a:p>
              </p:txBody>
            </p:sp>
          </mc:Fallback>
        </mc:AlternateContent>
      </p:grpSp>
      <p:grpSp>
        <p:nvGrpSpPr>
          <p:cNvPr id="30" name="Agrupar 29">
            <a:extLst>
              <a:ext uri="{FF2B5EF4-FFF2-40B4-BE49-F238E27FC236}">
                <a16:creationId xmlns="" xmlns:a16="http://schemas.microsoft.com/office/drawing/2014/main" id="{A0125BEA-E856-3203-44A2-4CB6E4673641}"/>
              </a:ext>
            </a:extLst>
          </p:cNvPr>
          <p:cNvGrpSpPr/>
          <p:nvPr/>
        </p:nvGrpSpPr>
        <p:grpSpPr>
          <a:xfrm>
            <a:off x="260912" y="1662798"/>
            <a:ext cx="4435239" cy="2809250"/>
            <a:chOff x="260912" y="1662798"/>
            <a:chExt cx="4435239" cy="2809250"/>
          </a:xfrm>
        </p:grpSpPr>
        <p:sp>
          <p:nvSpPr>
            <p:cNvPr id="39" name="Rectangle: Rounded Corners 38">
              <a:extLst>
                <a:ext uri="{FF2B5EF4-FFF2-40B4-BE49-F238E27FC236}">
                  <a16:creationId xmlns="" xmlns:a16="http://schemas.microsoft.com/office/drawing/2014/main" id="{F843DECB-C956-D955-D499-DD22189CE5D6}"/>
                </a:ext>
              </a:extLst>
            </p:cNvPr>
            <p:cNvSpPr/>
            <p:nvPr/>
          </p:nvSpPr>
          <p:spPr>
            <a:xfrm>
              <a:off x="948207" y="2169156"/>
              <a:ext cx="3069771" cy="1981200"/>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dirty="0"/>
            </a:p>
          </p:txBody>
        </p:sp>
        <p:sp>
          <p:nvSpPr>
            <p:cNvPr id="40" name="Rectangle 39">
              <a:extLst>
                <a:ext uri="{FF2B5EF4-FFF2-40B4-BE49-F238E27FC236}">
                  <a16:creationId xmlns="" xmlns:a16="http://schemas.microsoft.com/office/drawing/2014/main" id="{7C21CDDD-60F4-254E-D0B1-DD9880058CAE}"/>
                </a:ext>
              </a:extLst>
            </p:cNvPr>
            <p:cNvSpPr/>
            <p:nvPr/>
          </p:nvSpPr>
          <p:spPr>
            <a:xfrm>
              <a:off x="2095472" y="2872797"/>
              <a:ext cx="674915" cy="359229"/>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err="1">
                  <a:solidFill>
                    <a:schemeClr val="tx1"/>
                  </a:solidFill>
                </a:rPr>
                <a:t>tanh</a:t>
              </a:r>
              <a:endParaRPr lang="en-US" dirty="0">
                <a:solidFill>
                  <a:schemeClr val="tx1"/>
                </a:solidFill>
              </a:endParaRPr>
            </a:p>
          </p:txBody>
        </p:sp>
        <p:cxnSp>
          <p:nvCxnSpPr>
            <p:cNvPr id="42" name="Connector: Elbow 41">
              <a:extLst>
                <a:ext uri="{FF2B5EF4-FFF2-40B4-BE49-F238E27FC236}">
                  <a16:creationId xmlns="" xmlns:a16="http://schemas.microsoft.com/office/drawing/2014/main" id="{E01C2A5B-A164-6913-FA94-CA99DB0244FA}"/>
                </a:ext>
              </a:extLst>
            </p:cNvPr>
            <p:cNvCxnSpPr>
              <a:cxnSpLocks/>
              <a:endCxn id="40" idx="2"/>
            </p:cNvCxnSpPr>
            <p:nvPr/>
          </p:nvCxnSpPr>
          <p:spPr>
            <a:xfrm rot="5400000" flipH="1" flipV="1">
              <a:off x="1289550" y="3229045"/>
              <a:ext cx="1140399" cy="1146362"/>
            </a:xfrm>
            <a:prstGeom prst="bentConnector3">
              <a:avLst>
                <a:gd name="adj1" fmla="val 50000"/>
              </a:avLst>
            </a:prstGeom>
            <a:ln>
              <a:tailEnd type="triangle"/>
            </a:ln>
          </p:spPr>
          <p:style>
            <a:lnRef idx="1">
              <a:schemeClr val="dk1"/>
            </a:lnRef>
            <a:fillRef idx="0">
              <a:schemeClr val="dk1"/>
            </a:fillRef>
            <a:effectRef idx="0">
              <a:schemeClr val="dk1"/>
            </a:effectRef>
            <a:fontRef idx="minor">
              <a:schemeClr val="tx1"/>
            </a:fontRef>
          </p:style>
        </p:cxnSp>
        <p:cxnSp>
          <p:nvCxnSpPr>
            <p:cNvPr id="43" name="Connector: Elbow 42">
              <a:extLst>
                <a:ext uri="{FF2B5EF4-FFF2-40B4-BE49-F238E27FC236}">
                  <a16:creationId xmlns="" xmlns:a16="http://schemas.microsoft.com/office/drawing/2014/main" id="{396F9498-A53F-5856-A31E-72DF09B3702B}"/>
                </a:ext>
              </a:extLst>
            </p:cNvPr>
            <p:cNvCxnSpPr>
              <a:cxnSpLocks/>
              <a:stCxn id="40" idx="0"/>
            </p:cNvCxnSpPr>
            <p:nvPr/>
          </p:nvCxnSpPr>
          <p:spPr>
            <a:xfrm rot="5400000" flipH="1" flipV="1">
              <a:off x="3275955" y="1600184"/>
              <a:ext cx="429588" cy="2115638"/>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 xmlns:a16="http://schemas.microsoft.com/office/drawing/2014/main" id="{466E2E6D-A249-7CAB-4045-844CE9311DCA}"/>
                </a:ext>
              </a:extLst>
            </p:cNvPr>
            <p:cNvCxnSpPr>
              <a:cxnSpLocks/>
            </p:cNvCxnSpPr>
            <p:nvPr/>
          </p:nvCxnSpPr>
          <p:spPr>
            <a:xfrm flipV="1">
              <a:off x="3585978" y="1773736"/>
              <a:ext cx="0" cy="66947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6" name="Connector: Elbow 45">
              <a:extLst>
                <a:ext uri="{FF2B5EF4-FFF2-40B4-BE49-F238E27FC236}">
                  <a16:creationId xmlns="" xmlns:a16="http://schemas.microsoft.com/office/drawing/2014/main" id="{B4EFE449-B504-6CD4-C0C2-B0B6CF080A10}"/>
                </a:ext>
              </a:extLst>
            </p:cNvPr>
            <p:cNvCxnSpPr>
              <a:cxnSpLocks/>
            </p:cNvCxnSpPr>
            <p:nvPr/>
          </p:nvCxnSpPr>
          <p:spPr>
            <a:xfrm>
              <a:off x="578644" y="2434828"/>
              <a:ext cx="1199096" cy="1368028"/>
            </a:xfrm>
            <a:prstGeom prst="bentConnector2">
              <a:avLst/>
            </a:prstGeom>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8" name="TextBox 27">
                  <a:extLst>
                    <a:ext uri="{FF2B5EF4-FFF2-40B4-BE49-F238E27FC236}">
                      <a16:creationId xmlns="" xmlns:a16="http://schemas.microsoft.com/office/drawing/2014/main" id="{864BEB98-D0A6-8E21-632A-DA567336A9C4}"/>
                    </a:ext>
                  </a:extLst>
                </p:cNvPr>
                <p:cNvSpPr txBox="1"/>
                <p:nvPr/>
              </p:nvSpPr>
              <p:spPr>
                <a:xfrm>
                  <a:off x="260912" y="2073875"/>
                  <a:ext cx="61722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18" name="TextBox 27">
                  <a:extLst>
                    <a:ext uri="{FF2B5EF4-FFF2-40B4-BE49-F238E27FC236}">
                      <a16:creationId xmlns:a16="http://schemas.microsoft.com/office/drawing/2014/main" id="{864BEB98-D0A6-8E21-632A-DA567336A9C4}"/>
                    </a:ext>
                  </a:extLst>
                </p:cNvPr>
                <p:cNvSpPr txBox="1">
                  <a:spLocks noRot="1" noChangeAspect="1" noMove="1" noResize="1" noEditPoints="1" noAdjustHandles="1" noChangeArrowheads="1" noChangeShapeType="1" noTextEdit="1"/>
                </p:cNvSpPr>
                <p:nvPr/>
              </p:nvSpPr>
              <p:spPr>
                <a:xfrm>
                  <a:off x="260912" y="2073875"/>
                  <a:ext cx="617220"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26">
                  <a:extLst>
                    <a:ext uri="{FF2B5EF4-FFF2-40B4-BE49-F238E27FC236}">
                      <a16:creationId xmlns="" xmlns:a16="http://schemas.microsoft.com/office/drawing/2014/main" id="{23C0A7C0-E234-D21C-25F8-B0FE9763391F}"/>
                    </a:ext>
                  </a:extLst>
                </p:cNvPr>
                <p:cNvSpPr txBox="1"/>
                <p:nvPr/>
              </p:nvSpPr>
              <p:spPr>
                <a:xfrm>
                  <a:off x="4078931" y="2065496"/>
                  <a:ext cx="61722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19" name="TextBox 26">
                  <a:extLst>
                    <a:ext uri="{FF2B5EF4-FFF2-40B4-BE49-F238E27FC236}">
                      <a16:creationId xmlns:a16="http://schemas.microsoft.com/office/drawing/2014/main" id="{23C0A7C0-E234-D21C-25F8-B0FE9763391F}"/>
                    </a:ext>
                  </a:extLst>
                </p:cNvPr>
                <p:cNvSpPr txBox="1">
                  <a:spLocks noRot="1" noChangeAspect="1" noMove="1" noResize="1" noEditPoints="1" noAdjustHandles="1" noChangeArrowheads="1" noChangeShapeType="1" noTextEdit="1"/>
                </p:cNvSpPr>
                <p:nvPr/>
              </p:nvSpPr>
              <p:spPr>
                <a:xfrm>
                  <a:off x="4078931" y="2065496"/>
                  <a:ext cx="617220"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26">
                  <a:extLst>
                    <a:ext uri="{FF2B5EF4-FFF2-40B4-BE49-F238E27FC236}">
                      <a16:creationId xmlns="" xmlns:a16="http://schemas.microsoft.com/office/drawing/2014/main" id="{5B72E209-48BF-DCE5-F02F-5A30F57B54CA}"/>
                    </a:ext>
                  </a:extLst>
                </p:cNvPr>
                <p:cNvSpPr txBox="1"/>
                <p:nvPr/>
              </p:nvSpPr>
              <p:spPr>
                <a:xfrm>
                  <a:off x="3486809" y="1662798"/>
                  <a:ext cx="61722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acc>
                              <m:accPr>
                                <m:chr m:val="̂"/>
                                <m:ctrlPr>
                                  <a:rPr lang="en-US" i="1" smtClean="0">
                                    <a:latin typeface="Cambria Math" panose="02040503050406030204" pitchFamily="18" charset="0"/>
                                  </a:rPr>
                                </m:ctrlPr>
                              </m:accPr>
                              <m:e>
                                <m:r>
                                  <a:rPr lang="pt-BR" b="1" i="1" smtClean="0">
                                    <a:latin typeface="Cambria Math" panose="02040503050406030204" pitchFamily="18" charset="0"/>
                                  </a:rPr>
                                  <m:t>𝒚</m:t>
                                </m:r>
                              </m:e>
                            </m:acc>
                          </m:e>
                          <m:sub>
                            <m:r>
                              <a:rPr lang="pt-BR" b="0" i="1" smtClean="0">
                                <a:latin typeface="Cambria Math" panose="02040503050406030204" pitchFamily="18" charset="0"/>
                              </a:rPr>
                              <m:t>𝑡</m:t>
                            </m:r>
                          </m:sub>
                        </m:sSub>
                      </m:oMath>
                    </m:oMathPara>
                  </a14:m>
                  <a:endParaRPr lang="en-US" dirty="0"/>
                </a:p>
              </p:txBody>
            </p:sp>
          </mc:Choice>
          <mc:Fallback xmlns="">
            <p:sp>
              <p:nvSpPr>
                <p:cNvPr id="20" name="TextBox 26">
                  <a:extLst>
                    <a:ext uri="{FF2B5EF4-FFF2-40B4-BE49-F238E27FC236}">
                      <a16:creationId xmlns:a16="http://schemas.microsoft.com/office/drawing/2014/main" id="{5B72E209-48BF-DCE5-F02F-5A30F57B54CA}"/>
                    </a:ext>
                  </a:extLst>
                </p:cNvPr>
                <p:cNvSpPr txBox="1">
                  <a:spLocks noRot="1" noChangeAspect="1" noMove="1" noResize="1" noEditPoints="1" noAdjustHandles="1" noChangeArrowheads="1" noChangeShapeType="1" noTextEdit="1"/>
                </p:cNvSpPr>
                <p:nvPr/>
              </p:nvSpPr>
              <p:spPr>
                <a:xfrm>
                  <a:off x="3486809" y="1662798"/>
                  <a:ext cx="617220" cy="369332"/>
                </a:xfrm>
                <a:prstGeom prst="rect">
                  <a:avLst/>
                </a:prstGeom>
                <a:blipFill>
                  <a:blip r:embed="rId9"/>
                  <a:stretch>
                    <a:fillRect t="-6667" r="-15842"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3">
                  <a:extLst>
                    <a:ext uri="{FF2B5EF4-FFF2-40B4-BE49-F238E27FC236}">
                      <a16:creationId xmlns="" xmlns:a16="http://schemas.microsoft.com/office/drawing/2014/main" id="{0E57B151-E333-76CA-A791-FC163B5574D4}"/>
                    </a:ext>
                  </a:extLst>
                </p:cNvPr>
                <p:cNvSpPr txBox="1"/>
                <p:nvPr/>
              </p:nvSpPr>
              <p:spPr>
                <a:xfrm>
                  <a:off x="824364" y="4102716"/>
                  <a:ext cx="61722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22" name="TextBox 23">
                  <a:extLst>
                    <a:ext uri="{FF2B5EF4-FFF2-40B4-BE49-F238E27FC236}">
                      <a16:creationId xmlns:a16="http://schemas.microsoft.com/office/drawing/2014/main" id="{0E57B151-E333-76CA-A791-FC163B5574D4}"/>
                    </a:ext>
                  </a:extLst>
                </p:cNvPr>
                <p:cNvSpPr txBox="1">
                  <a:spLocks noRot="1" noChangeAspect="1" noMove="1" noResize="1" noEditPoints="1" noAdjustHandles="1" noChangeArrowheads="1" noChangeShapeType="1" noTextEdit="1"/>
                </p:cNvSpPr>
                <p:nvPr/>
              </p:nvSpPr>
              <p:spPr>
                <a:xfrm>
                  <a:off x="824364" y="4102716"/>
                  <a:ext cx="617220" cy="369332"/>
                </a:xfrm>
                <a:prstGeom prst="rect">
                  <a:avLst/>
                </a:prstGeom>
                <a:blipFill>
                  <a:blip r:embed="rId10"/>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1345030898"/>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080909C4-DA03-1F5F-0403-1DEE60B89849}"/>
            </a:ext>
          </a:extLst>
        </p:cNvPr>
        <p:cNvGrpSpPr/>
        <p:nvPr/>
      </p:nvGrpSpPr>
      <p:grpSpPr>
        <a:xfrm>
          <a:off x="0" y="0"/>
          <a:ext cx="0" cy="0"/>
          <a:chOff x="0" y="0"/>
          <a:chExt cx="0" cy="0"/>
        </a:xfrm>
      </p:grpSpPr>
      <p:sp>
        <p:nvSpPr>
          <p:cNvPr id="39" name="Rectangle: Rounded Corners 38">
            <a:extLst>
              <a:ext uri="{FF2B5EF4-FFF2-40B4-BE49-F238E27FC236}">
                <a16:creationId xmlns="" xmlns:a16="http://schemas.microsoft.com/office/drawing/2014/main" id="{348B5B75-FB28-2E80-145D-B7B4D142BE9D}"/>
              </a:ext>
            </a:extLst>
          </p:cNvPr>
          <p:cNvSpPr/>
          <p:nvPr/>
        </p:nvSpPr>
        <p:spPr>
          <a:xfrm>
            <a:off x="4301176" y="2438400"/>
            <a:ext cx="3522024" cy="1981200"/>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8" name="Rectangle 7">
                <a:extLst>
                  <a:ext uri="{FF2B5EF4-FFF2-40B4-BE49-F238E27FC236}">
                    <a16:creationId xmlns="" xmlns:a16="http://schemas.microsoft.com/office/drawing/2014/main" id="{84CE6692-2FDA-8E8D-AB8D-4C22F39EF85B}"/>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xmlns:a14="http://schemas.microsoft.com/office/drawing/2010/main" xmlns="" id="{84CE6692-2FDA-8E8D-AB8D-4C22F39EF85B}"/>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rotWithShape="0">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Rectangle 9">
                <a:extLst>
                  <a:ext uri="{FF2B5EF4-FFF2-40B4-BE49-F238E27FC236}">
                    <a16:creationId xmlns="" xmlns:a16="http://schemas.microsoft.com/office/drawing/2014/main" id="{6ACD58FC-A360-C11A-7C44-B9487691833B}"/>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xmlns:a14="http://schemas.microsoft.com/office/drawing/2010/main" xmlns="" id="{6ACD58FC-A360-C11A-7C44-B9487691833B}"/>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rotWithShape="0">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Rectangle 10">
                <a:extLst>
                  <a:ext uri="{FF2B5EF4-FFF2-40B4-BE49-F238E27FC236}">
                    <a16:creationId xmlns="" xmlns:a16="http://schemas.microsoft.com/office/drawing/2014/main" id="{BE5C8D3A-0A6E-2136-613E-58C2566A481B}"/>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xmlns:a14="http://schemas.microsoft.com/office/drawing/2010/main" xmlns="" id="{BE5C8D3A-0A6E-2136-613E-58C2566A481B}"/>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rotWithShape="0">
                <a:blip r:embed="rId5"/>
                <a:stretch>
                  <a:fillRect/>
                </a:stretch>
              </a:blipFill>
            </p:spPr>
            <p:txBody>
              <a:bodyPr/>
              <a:lstStyle/>
              <a:p>
                <a:r>
                  <a:rPr lang="pt-BR">
                    <a:noFill/>
                  </a:rPr>
                  <a:t> </a:t>
                </a:r>
              </a:p>
            </p:txBody>
          </p:sp>
        </mc:Fallback>
      </mc:AlternateContent>
      <p:sp>
        <p:nvSpPr>
          <p:cNvPr id="12" name="Rectangle 11">
            <a:extLst>
              <a:ext uri="{FF2B5EF4-FFF2-40B4-BE49-F238E27FC236}">
                <a16:creationId xmlns="" xmlns:a16="http://schemas.microsoft.com/office/drawing/2014/main" id="{44C478EC-B109-7888-038E-8DBF57461B91}"/>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err="1">
                <a:solidFill>
                  <a:schemeClr val="tx1"/>
                </a:solidFill>
              </a:rPr>
              <a:t>tanh</a:t>
            </a:r>
            <a:endParaRPr lang="en-US" dirty="0">
              <a:solidFill>
                <a:schemeClr val="tx1"/>
              </a:solidFill>
            </a:endParaRPr>
          </a:p>
        </p:txBody>
      </p:sp>
      <p:grpSp>
        <p:nvGrpSpPr>
          <p:cNvPr id="16" name="Group 15">
            <a:extLst>
              <a:ext uri="{FF2B5EF4-FFF2-40B4-BE49-F238E27FC236}">
                <a16:creationId xmlns="" xmlns:a16="http://schemas.microsoft.com/office/drawing/2014/main" id="{FFC53C9F-10FB-711C-2512-7250BF72FAA1}"/>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 xmlns:a16="http://schemas.microsoft.com/office/drawing/2014/main" id="{CE50EACA-BDC6-7C2A-E8C3-F5699FD5BCD0}"/>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 xmlns:a16="http://schemas.microsoft.com/office/drawing/2014/main" id="{37990D6E-A5C5-CDF4-C0D9-387966509DC6}"/>
                </a:ext>
              </a:extLst>
            </p:cNvPr>
            <p:cNvSpPr txBox="1"/>
            <p:nvPr/>
          </p:nvSpPr>
          <p:spPr>
            <a:xfrm>
              <a:off x="6108701" y="2910505"/>
              <a:ext cx="627148" cy="369332"/>
            </a:xfrm>
            <a:prstGeom prst="rect">
              <a:avLst/>
            </a:prstGeom>
            <a:noFill/>
          </p:spPr>
          <p:txBody>
            <a:bodyPr wrap="square">
              <a:spAutoFit/>
            </a:bodyPr>
            <a:lstStyle/>
            <a:p>
              <a:pPr algn="ctr"/>
              <a:r>
                <a:rPr lang="pt-BR" dirty="0" err="1">
                  <a:solidFill>
                    <a:schemeClr val="tx1"/>
                  </a:solidFill>
                </a:rPr>
                <a:t>tanh</a:t>
              </a:r>
              <a:endParaRPr lang="en-US" dirty="0">
                <a:solidFill>
                  <a:schemeClr val="tx1"/>
                </a:solidFill>
              </a:endParaRPr>
            </a:p>
          </p:txBody>
        </p:sp>
      </p:grpSp>
      <p:sp>
        <p:nvSpPr>
          <p:cNvPr id="17" name="Oval 16">
            <a:extLst>
              <a:ext uri="{FF2B5EF4-FFF2-40B4-BE49-F238E27FC236}">
                <a16:creationId xmlns="" xmlns:a16="http://schemas.microsoft.com/office/drawing/2014/main" id="{74B85D8D-87CD-87BC-E833-CE9988D869DD}"/>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20" name="Straight Arrow Connector 19">
            <a:extLst>
              <a:ext uri="{FF2B5EF4-FFF2-40B4-BE49-F238E27FC236}">
                <a16:creationId xmlns="" xmlns:a16="http://schemas.microsoft.com/office/drawing/2014/main" id="{A878B83A-9006-D2B3-60B8-E2D14A5914D1}"/>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0" name="Connector: Elbow 29">
            <a:extLst>
              <a:ext uri="{FF2B5EF4-FFF2-40B4-BE49-F238E27FC236}">
                <a16:creationId xmlns="" xmlns:a16="http://schemas.microsoft.com/office/drawing/2014/main" id="{43F4CC40-6B8A-C2D7-30F9-5E2A663458EB}"/>
              </a:ext>
            </a:extLst>
          </p:cNvPr>
          <p:cNvCxnSpPr>
            <a:cxnSpLocks/>
            <a:endCxn id="11" idx="2"/>
          </p:cNvCxnSpPr>
          <p:nvPr/>
        </p:nvCxnSpPr>
        <p:spPr>
          <a:xfrm rot="5400000" flipH="1" flipV="1">
            <a:off x="5288165" y="3260341"/>
            <a:ext cx="641827" cy="2194687"/>
          </a:xfrm>
          <a:prstGeom prst="bentConnector3">
            <a:avLst>
              <a:gd name="adj1" fmla="val 67289"/>
            </a:avLst>
          </a:prstGeom>
          <a:ln w="19050"/>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 xmlns:a16="http://schemas.microsoft.com/office/drawing/2014/main" id="{584D7DD5-AF06-660E-B8AB-56FEBD03D05B}"/>
              </a:ext>
            </a:extLst>
          </p:cNvPr>
          <p:cNvCxnSpPr>
            <a:cxnSpLocks/>
          </p:cNvCxnSpPr>
          <p:nvPr/>
        </p:nvCxnSpPr>
        <p:spPr>
          <a:xfrm>
            <a:off x="47244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5" name="Straight Connector 34">
            <a:extLst>
              <a:ext uri="{FF2B5EF4-FFF2-40B4-BE49-F238E27FC236}">
                <a16:creationId xmlns="" xmlns:a16="http://schemas.microsoft.com/office/drawing/2014/main" id="{76F3A98F-48B9-9CD1-B9F1-E75DD2E8FE3C}"/>
              </a:ext>
            </a:extLst>
          </p:cNvPr>
          <p:cNvCxnSpPr>
            <a:cxnSpLocks/>
          </p:cNvCxnSpPr>
          <p:nvPr/>
        </p:nvCxnSpPr>
        <p:spPr>
          <a:xfrm>
            <a:off x="52832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 xmlns:a16="http://schemas.microsoft.com/office/drawing/2014/main" id="{72E979E6-DCC4-331B-D941-6882D88766DC}"/>
              </a:ext>
            </a:extLst>
          </p:cNvPr>
          <p:cNvCxnSpPr>
            <a:cxnSpLocks/>
          </p:cNvCxnSpPr>
          <p:nvPr/>
        </p:nvCxnSpPr>
        <p:spPr>
          <a:xfrm>
            <a:off x="5988110" y="4033974"/>
            <a:ext cx="0" cy="211613"/>
          </a:xfrm>
          <a:prstGeom prst="line">
            <a:avLst/>
          </a:prstGeom>
          <a:ln w="19050"/>
        </p:spPr>
        <p:style>
          <a:lnRef idx="1">
            <a:schemeClr val="dk1"/>
          </a:lnRef>
          <a:fillRef idx="0">
            <a:schemeClr val="dk1"/>
          </a:fillRef>
          <a:effectRef idx="0">
            <a:schemeClr val="dk1"/>
          </a:effectRef>
          <a:fontRef idx="minor">
            <a:schemeClr val="tx1"/>
          </a:fontRef>
        </p:style>
      </p:cxnSp>
      <p:sp>
        <p:nvSpPr>
          <p:cNvPr id="37" name="Oval 36">
            <a:extLst>
              <a:ext uri="{FF2B5EF4-FFF2-40B4-BE49-F238E27FC236}">
                <a16:creationId xmlns="" xmlns:a16="http://schemas.microsoft.com/office/drawing/2014/main" id="{BCF5E98C-CA06-9023-8D8F-DC58885C84A8}"/>
              </a:ext>
            </a:extLst>
          </p:cNvPr>
          <p:cNvSpPr/>
          <p:nvPr/>
        </p:nvSpPr>
        <p:spPr>
          <a:xfrm>
            <a:off x="5856481"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47" name="Straight Arrow Connector 46">
            <a:extLst>
              <a:ext uri="{FF2B5EF4-FFF2-40B4-BE49-F238E27FC236}">
                <a16:creationId xmlns="" xmlns:a16="http://schemas.microsoft.com/office/drawing/2014/main" id="{6EAF062E-2592-CB45-36A5-2A33D358D8BF}"/>
              </a:ext>
            </a:extLst>
          </p:cNvPr>
          <p:cNvCxnSpPr>
            <a:cxnSpLocks/>
            <a:stCxn id="12" idx="0"/>
            <a:endCxn id="37" idx="4"/>
          </p:cNvCxnSpPr>
          <p:nvPr/>
        </p:nvCxnSpPr>
        <p:spPr>
          <a:xfrm flipH="1" flipV="1">
            <a:off x="5993006" y="3602002"/>
            <a:ext cx="868" cy="134100"/>
          </a:xfrm>
          <a:prstGeom prst="straightConnector1">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48" name="Oval 47">
            <a:extLst>
              <a:ext uri="{FF2B5EF4-FFF2-40B4-BE49-F238E27FC236}">
                <a16:creationId xmlns="" xmlns:a16="http://schemas.microsoft.com/office/drawing/2014/main" id="{52EAE681-2114-E3E3-C3A4-320425997F09}"/>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49" name="Straight Arrow Connector 48">
            <a:extLst>
              <a:ext uri="{FF2B5EF4-FFF2-40B4-BE49-F238E27FC236}">
                <a16:creationId xmlns="" xmlns:a16="http://schemas.microsoft.com/office/drawing/2014/main" id="{D1D65BD3-E604-D135-F107-EC4CC81E93DD}"/>
              </a:ext>
            </a:extLst>
          </p:cNvPr>
          <p:cNvCxnSpPr>
            <a:cxnSpLocks/>
            <a:stCxn id="37" idx="0"/>
            <a:endCxn id="48" idx="4"/>
          </p:cNvCxnSpPr>
          <p:nvPr/>
        </p:nvCxnSpPr>
        <p:spPr>
          <a:xfrm flipH="1" flipV="1">
            <a:off x="5989666" y="2853476"/>
            <a:ext cx="3340" cy="4754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 xmlns:a16="http://schemas.microsoft.com/office/drawing/2014/main" id="{C9DC9C7A-C05F-76B8-966F-44753826D4BF}"/>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 xmlns:a16="http://schemas.microsoft.com/office/drawing/2014/main" id="{A822FBB9-C029-EAAD-530F-8A6805EE47F8}"/>
              </a:ext>
            </a:extLst>
          </p:cNvPr>
          <p:cNvCxnSpPr>
            <a:cxnSpLocks/>
          </p:cNvCxnSpPr>
          <p:nvPr/>
        </p:nvCxnSpPr>
        <p:spPr>
          <a:xfrm flipH="1" flipV="1">
            <a:off x="7236075" y="3192538"/>
            <a:ext cx="625" cy="144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4" name="Straight Connector 63">
            <a:extLst>
              <a:ext uri="{FF2B5EF4-FFF2-40B4-BE49-F238E27FC236}">
                <a16:creationId xmlns="" xmlns:a16="http://schemas.microsoft.com/office/drawing/2014/main" id="{6BFA24E6-0E52-669D-D3F8-9864EDC5552B}"/>
              </a:ext>
            </a:extLst>
          </p:cNvPr>
          <p:cNvCxnSpPr>
            <a:cxnSpLocks/>
            <a:endCxn id="17" idx="2"/>
          </p:cNvCxnSpPr>
          <p:nvPr/>
        </p:nvCxnSpPr>
        <p:spPr>
          <a:xfrm flipV="1">
            <a:off x="4012696" y="2715788"/>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 xmlns:a16="http://schemas.microsoft.com/office/drawing/2014/main" id="{0BF0A013-C46F-87B6-A913-AB6006AD99D3}"/>
              </a:ext>
            </a:extLst>
          </p:cNvPr>
          <p:cNvCxnSpPr>
            <a:cxnSpLocks/>
            <a:stCxn id="17" idx="6"/>
            <a:endCxn id="48" idx="2"/>
          </p:cNvCxnSpPr>
          <p:nvPr/>
        </p:nvCxnSpPr>
        <p:spPr>
          <a:xfrm>
            <a:off x="4860985" y="2715788"/>
            <a:ext cx="992156" cy="1163"/>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1" name="Straight Connector 70">
            <a:extLst>
              <a:ext uri="{FF2B5EF4-FFF2-40B4-BE49-F238E27FC236}">
                <a16:creationId xmlns="" xmlns:a16="http://schemas.microsoft.com/office/drawing/2014/main" id="{BBA55220-0A3C-FB05-7E36-C68DDF50F072}"/>
              </a:ext>
            </a:extLst>
          </p:cNvPr>
          <p:cNvCxnSpPr>
            <a:cxnSpLocks/>
          </p:cNvCxnSpPr>
          <p:nvPr/>
        </p:nvCxnSpPr>
        <p:spPr>
          <a:xfrm>
            <a:off x="6126191" y="2715788"/>
            <a:ext cx="1980000"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 xmlns:a16="http://schemas.microsoft.com/office/drawing/2014/main" id="{CF73AECF-36D3-CBDF-5806-CA480B4C4499}"/>
              </a:ext>
            </a:extLst>
          </p:cNvPr>
          <p:cNvCxnSpPr>
            <a:cxnSpLocks/>
          </p:cNvCxnSpPr>
          <p:nvPr/>
        </p:nvCxnSpPr>
        <p:spPr>
          <a:xfrm flipH="1" flipV="1">
            <a:off x="7232357" y="2715838"/>
            <a:ext cx="625" cy="180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8" name="Connector: Elbow 77">
            <a:extLst>
              <a:ext uri="{FF2B5EF4-FFF2-40B4-BE49-F238E27FC236}">
                <a16:creationId xmlns="" xmlns:a16="http://schemas.microsoft.com/office/drawing/2014/main" id="{A0680E3E-2512-6A1A-E3EA-44839A3E0D64}"/>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 xmlns:a16="http://schemas.microsoft.com/office/drawing/2014/main" id="{A4015C41-4587-E1BF-7A8F-3DF236C02ABD}"/>
              </a:ext>
            </a:extLst>
          </p:cNvPr>
          <p:cNvCxnSpPr>
            <a:stCxn id="10" idx="0"/>
            <a:endCxn id="37" idx="2"/>
          </p:cNvCxnSpPr>
          <p:nvPr/>
        </p:nvCxnSpPr>
        <p:spPr>
          <a:xfrm rot="5400000" flipH="1" flipV="1">
            <a:off x="5437228" y="3316849"/>
            <a:ext cx="2706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 xmlns:a16="http://schemas.microsoft.com/office/drawing/2014/main" id="{089EBFBE-86AF-DCA0-9896-A6D5E6FBA8F6}"/>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 xmlns:a16="http://schemas.microsoft.com/office/drawing/2014/main" id="{10EF1A2A-AF97-E7D2-178C-FFE80B3251D1}"/>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3" name="Straight Arrow Connector 92">
            <a:extLst>
              <a:ext uri="{FF2B5EF4-FFF2-40B4-BE49-F238E27FC236}">
                <a16:creationId xmlns="" xmlns:a16="http://schemas.microsoft.com/office/drawing/2014/main" id="{C0636B7D-2A5C-4392-28D4-DBDF85E54A2A}"/>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 xmlns:a16="http://schemas.microsoft.com/office/drawing/2014/main" id="{F7CB8566-5FA8-4AE1-E1A3-37AA355FE51D}"/>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97" name="Rectangle: Rounded Corners 96">
            <a:extLst>
              <a:ext uri="{FF2B5EF4-FFF2-40B4-BE49-F238E27FC236}">
                <a16:creationId xmlns="" xmlns:a16="http://schemas.microsoft.com/office/drawing/2014/main" id="{A6D9F0B4-913F-1EED-8A29-810518E05463}"/>
              </a:ext>
            </a:extLst>
          </p:cNvPr>
          <p:cNvSpPr/>
          <p:nvPr/>
        </p:nvSpPr>
        <p:spPr>
          <a:xfrm>
            <a:off x="492094" y="2438176"/>
            <a:ext cx="3522024" cy="1981200"/>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sz="6000" dirty="0"/>
              <a:t>A</a:t>
            </a:r>
            <a:endParaRPr lang="en-US" dirty="0"/>
          </a:p>
        </p:txBody>
      </p:sp>
      <p:cxnSp>
        <p:nvCxnSpPr>
          <p:cNvPr id="98" name="Straight Connector 97">
            <a:extLst>
              <a:ext uri="{FF2B5EF4-FFF2-40B4-BE49-F238E27FC236}">
                <a16:creationId xmlns="" xmlns:a16="http://schemas.microsoft.com/office/drawing/2014/main" id="{092FA1F5-FD24-F58C-C0EA-B1FA15F86729}"/>
              </a:ext>
            </a:extLst>
          </p:cNvPr>
          <p:cNvCxnSpPr>
            <a:cxnSpLocks/>
          </p:cNvCxnSpPr>
          <p:nvPr/>
        </p:nvCxnSpPr>
        <p:spPr>
          <a:xfrm>
            <a:off x="4012696" y="2715788"/>
            <a:ext cx="212435"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01" name="Straight Connector 100">
            <a:extLst>
              <a:ext uri="{FF2B5EF4-FFF2-40B4-BE49-F238E27FC236}">
                <a16:creationId xmlns="" xmlns:a16="http://schemas.microsoft.com/office/drawing/2014/main" id="{C2AF8E87-6151-A661-474A-AD4443F2A4DC}"/>
              </a:ext>
            </a:extLst>
          </p:cNvPr>
          <p:cNvCxnSpPr>
            <a:cxnSpLocks/>
          </p:cNvCxnSpPr>
          <p:nvPr/>
        </p:nvCxnSpPr>
        <p:spPr>
          <a:xfrm flipV="1">
            <a:off x="3971971" y="4234824"/>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02" name="Straight Connector 101">
            <a:extLst>
              <a:ext uri="{FF2B5EF4-FFF2-40B4-BE49-F238E27FC236}">
                <a16:creationId xmlns="" xmlns:a16="http://schemas.microsoft.com/office/drawing/2014/main" id="{E38F9929-0D9E-7BAE-3976-F3AACAC47318}"/>
              </a:ext>
            </a:extLst>
          </p:cNvPr>
          <p:cNvCxnSpPr>
            <a:cxnSpLocks/>
          </p:cNvCxnSpPr>
          <p:nvPr/>
        </p:nvCxnSpPr>
        <p:spPr>
          <a:xfrm>
            <a:off x="3971971" y="4238634"/>
            <a:ext cx="212435"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03" name="Rectangle: Rounded Corners 102">
            <a:extLst>
              <a:ext uri="{FF2B5EF4-FFF2-40B4-BE49-F238E27FC236}">
                <a16:creationId xmlns="" xmlns:a16="http://schemas.microsoft.com/office/drawing/2014/main" id="{0549E296-9BF6-1073-36A7-44A6BC84E646}"/>
              </a:ext>
            </a:extLst>
          </p:cNvPr>
          <p:cNvSpPr/>
          <p:nvPr/>
        </p:nvSpPr>
        <p:spPr>
          <a:xfrm>
            <a:off x="8083166" y="2438176"/>
            <a:ext cx="3522024" cy="1981200"/>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sz="6000" dirty="0"/>
              <a:t>A</a:t>
            </a:r>
            <a:endParaRPr lang="en-US" dirty="0"/>
          </a:p>
        </p:txBody>
      </p:sp>
      <p:cxnSp>
        <p:nvCxnSpPr>
          <p:cNvPr id="104" name="Straight Connector 103">
            <a:extLst>
              <a:ext uri="{FF2B5EF4-FFF2-40B4-BE49-F238E27FC236}">
                <a16:creationId xmlns="" xmlns:a16="http://schemas.microsoft.com/office/drawing/2014/main" id="{3F4FFE22-901A-5ECB-8DD0-DE274D49C1CE}"/>
              </a:ext>
            </a:extLst>
          </p:cNvPr>
          <p:cNvCxnSpPr>
            <a:cxnSpLocks/>
          </p:cNvCxnSpPr>
          <p:nvPr/>
        </p:nvCxnSpPr>
        <p:spPr>
          <a:xfrm>
            <a:off x="11572921" y="4241954"/>
            <a:ext cx="212435"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05" name="Straight Connector 104">
            <a:extLst>
              <a:ext uri="{FF2B5EF4-FFF2-40B4-BE49-F238E27FC236}">
                <a16:creationId xmlns="" xmlns:a16="http://schemas.microsoft.com/office/drawing/2014/main" id="{63C39462-6C16-B627-F0AA-034DBCEEAFBA}"/>
              </a:ext>
            </a:extLst>
          </p:cNvPr>
          <p:cNvCxnSpPr>
            <a:cxnSpLocks/>
          </p:cNvCxnSpPr>
          <p:nvPr/>
        </p:nvCxnSpPr>
        <p:spPr>
          <a:xfrm>
            <a:off x="11606773" y="2715942"/>
            <a:ext cx="212435"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08" name="TextBox 107">
                <a:extLst>
                  <a:ext uri="{FF2B5EF4-FFF2-40B4-BE49-F238E27FC236}">
                    <a16:creationId xmlns="" xmlns:a16="http://schemas.microsoft.com/office/drawing/2014/main" id="{74B7AA29-1794-6E8C-61F5-28A8A04CC1A1}"/>
                  </a:ext>
                </a:extLst>
              </p:cNvPr>
              <p:cNvSpPr txBox="1"/>
              <p:nvPr/>
            </p:nvSpPr>
            <p:spPr>
              <a:xfrm>
                <a:off x="234415" y="4579126"/>
                <a:ext cx="1024570"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108" name="TextBox 107">
                <a:extLst>
                  <a:ext uri="{FF2B5EF4-FFF2-40B4-BE49-F238E27FC236}">
                    <a16:creationId xmlns:a16="http://schemas.microsoft.com/office/drawing/2014/main" xmlns:a14="http://schemas.microsoft.com/office/drawing/2010/main" xmlns="" id="{74B7AA29-1794-6E8C-61F5-28A8A04CC1A1}"/>
                  </a:ext>
                </a:extLst>
              </p:cNvPr>
              <p:cNvSpPr txBox="1">
                <a:spLocks noRot="1" noChangeAspect="1" noMove="1" noResize="1" noEditPoints="1" noAdjustHandles="1" noChangeArrowheads="1" noChangeShapeType="1" noTextEdit="1"/>
              </p:cNvSpPr>
              <p:nvPr/>
            </p:nvSpPr>
            <p:spPr>
              <a:xfrm>
                <a:off x="234415" y="4579126"/>
                <a:ext cx="1024570" cy="369332"/>
              </a:xfrm>
              <a:prstGeom prst="rect">
                <a:avLst/>
              </a:prstGeom>
              <a:blipFill rotWithShape="0">
                <a:blip r:embed="rId6"/>
                <a:stretch>
                  <a:fillRect/>
                </a:stretch>
              </a:blipFill>
            </p:spPr>
            <p:txBody>
              <a:bodyPr/>
              <a:lstStyle/>
              <a:p>
                <a:r>
                  <a:rPr lang="pt-BR">
                    <a:noFill/>
                  </a:rPr>
                  <a:t> </a:t>
                </a:r>
              </a:p>
            </p:txBody>
          </p:sp>
        </mc:Fallback>
      </mc:AlternateContent>
      <p:cxnSp>
        <p:nvCxnSpPr>
          <p:cNvPr id="110" name="Straight Connector 109">
            <a:extLst>
              <a:ext uri="{FF2B5EF4-FFF2-40B4-BE49-F238E27FC236}">
                <a16:creationId xmlns="" xmlns:a16="http://schemas.microsoft.com/office/drawing/2014/main" id="{922EF61C-EF99-D374-EA91-A8D137ADC993}"/>
              </a:ext>
            </a:extLst>
          </p:cNvPr>
          <p:cNvCxnSpPr>
            <a:cxnSpLocks/>
          </p:cNvCxnSpPr>
          <p:nvPr/>
        </p:nvCxnSpPr>
        <p:spPr>
          <a:xfrm flipV="1">
            <a:off x="702412" y="4392609"/>
            <a:ext cx="0" cy="288000"/>
          </a:xfrm>
          <a:prstGeom prst="line">
            <a:avLst/>
          </a:prstGeom>
          <a:ln w="19050"/>
        </p:spPr>
        <p:style>
          <a:lnRef idx="1">
            <a:schemeClr val="dk1"/>
          </a:lnRef>
          <a:fillRef idx="0">
            <a:schemeClr val="dk1"/>
          </a:fillRef>
          <a:effectRef idx="0">
            <a:schemeClr val="dk1"/>
          </a:effectRef>
          <a:fontRef idx="minor">
            <a:schemeClr val="tx1"/>
          </a:fontRef>
        </p:style>
      </p:cxnSp>
      <p:cxnSp>
        <p:nvCxnSpPr>
          <p:cNvPr id="114" name="Straight Connector 113">
            <a:extLst>
              <a:ext uri="{FF2B5EF4-FFF2-40B4-BE49-F238E27FC236}">
                <a16:creationId xmlns="" xmlns:a16="http://schemas.microsoft.com/office/drawing/2014/main" id="{A2DA2877-36E8-DE52-7D68-11E5A3DA45FF}"/>
              </a:ext>
            </a:extLst>
          </p:cNvPr>
          <p:cNvCxnSpPr>
            <a:cxnSpLocks/>
          </p:cNvCxnSpPr>
          <p:nvPr/>
        </p:nvCxnSpPr>
        <p:spPr>
          <a:xfrm flipV="1">
            <a:off x="8276770" y="4392609"/>
            <a:ext cx="0" cy="288000"/>
          </a:xfrm>
          <a:prstGeom prst="line">
            <a:avLst/>
          </a:prstGeom>
          <a:ln w="19050"/>
        </p:spPr>
        <p:style>
          <a:lnRef idx="1">
            <a:schemeClr val="dk1"/>
          </a:lnRef>
          <a:fillRef idx="0">
            <a:schemeClr val="dk1"/>
          </a:fillRef>
          <a:effectRef idx="0">
            <a:schemeClr val="dk1"/>
          </a:effectRef>
          <a:fontRef idx="minor">
            <a:schemeClr val="tx1"/>
          </a:fontRef>
        </p:style>
      </p:cxnSp>
      <p:cxnSp>
        <p:nvCxnSpPr>
          <p:cNvPr id="121" name="Straight Arrow Connector 120">
            <a:extLst>
              <a:ext uri="{FF2B5EF4-FFF2-40B4-BE49-F238E27FC236}">
                <a16:creationId xmlns="" xmlns:a16="http://schemas.microsoft.com/office/drawing/2014/main" id="{E7D096F0-65EF-76A1-E864-DEFDD7B1DF2E}"/>
              </a:ext>
            </a:extLst>
          </p:cNvPr>
          <p:cNvCxnSpPr>
            <a:cxnSpLocks/>
          </p:cNvCxnSpPr>
          <p:nvPr/>
        </p:nvCxnSpPr>
        <p:spPr>
          <a:xfrm flipV="1">
            <a:off x="11404780" y="2212072"/>
            <a:ext cx="0" cy="273953"/>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24" name="Straight Arrow Connector 123">
            <a:extLst>
              <a:ext uri="{FF2B5EF4-FFF2-40B4-BE49-F238E27FC236}">
                <a16:creationId xmlns="" xmlns:a16="http://schemas.microsoft.com/office/drawing/2014/main" id="{43419660-66CC-40DA-03A8-9CA6E7C0AF37}"/>
              </a:ext>
            </a:extLst>
          </p:cNvPr>
          <p:cNvCxnSpPr>
            <a:cxnSpLocks/>
          </p:cNvCxnSpPr>
          <p:nvPr/>
        </p:nvCxnSpPr>
        <p:spPr>
          <a:xfrm flipV="1">
            <a:off x="3693922" y="2204176"/>
            <a:ext cx="0" cy="234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 name="Rectangle 1">
                <a:extLst>
                  <a:ext uri="{FF2B5EF4-FFF2-40B4-BE49-F238E27FC236}">
                    <a16:creationId xmlns="" xmlns:a16="http://schemas.microsoft.com/office/drawing/2014/main" id="{67B8102E-31B3-C3A9-13A3-0364FF9802EB}"/>
                  </a:ext>
                </a:extLst>
              </p:cNvPr>
              <p:cNvSpPr/>
              <p:nvPr/>
            </p:nvSpPr>
            <p:spPr>
              <a:xfrm>
                <a:off x="2646845" y="5294767"/>
                <a:ext cx="375794"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2" name="Rectangle 1">
                <a:extLst>
                  <a:ext uri="{FF2B5EF4-FFF2-40B4-BE49-F238E27FC236}">
                    <a16:creationId xmlns:a16="http://schemas.microsoft.com/office/drawing/2014/main" xmlns:a14="http://schemas.microsoft.com/office/drawing/2010/main" xmlns="" id="{67B8102E-31B3-C3A9-13A3-0364FF9802EB}"/>
                  </a:ext>
                </a:extLst>
              </p:cNvPr>
              <p:cNvSpPr>
                <a:spLocks noRot="1" noChangeAspect="1" noMove="1" noResize="1" noEditPoints="1" noAdjustHandles="1" noChangeArrowheads="1" noChangeShapeType="1" noTextEdit="1"/>
              </p:cNvSpPr>
              <p:nvPr/>
            </p:nvSpPr>
            <p:spPr>
              <a:xfrm>
                <a:off x="2646845" y="5294767"/>
                <a:ext cx="375794" cy="297872"/>
              </a:xfrm>
              <a:prstGeom prst="rect">
                <a:avLst/>
              </a:prstGeom>
              <a:blipFill rotWithShape="0">
                <a:blip r:embed="rId7"/>
                <a:stretch>
                  <a:fillRect/>
                </a:stretch>
              </a:blipFill>
            </p:spPr>
            <p:txBody>
              <a:bodyPr/>
              <a:lstStyle/>
              <a:p>
                <a:r>
                  <a:rPr lang="pt-BR">
                    <a:noFill/>
                  </a:rPr>
                  <a:t> </a:t>
                </a:r>
              </a:p>
            </p:txBody>
          </p:sp>
        </mc:Fallback>
      </mc:AlternateContent>
      <p:sp>
        <p:nvSpPr>
          <p:cNvPr id="3" name="TextBox 2">
            <a:extLst>
              <a:ext uri="{FF2B5EF4-FFF2-40B4-BE49-F238E27FC236}">
                <a16:creationId xmlns="" xmlns:a16="http://schemas.microsoft.com/office/drawing/2014/main" id="{94483E7F-A937-DCD5-593D-9BF0A521317D}"/>
              </a:ext>
            </a:extLst>
          </p:cNvPr>
          <p:cNvSpPr txBox="1"/>
          <p:nvPr/>
        </p:nvSpPr>
        <p:spPr>
          <a:xfrm>
            <a:off x="1991126" y="5592639"/>
            <a:ext cx="1705021" cy="523220"/>
          </a:xfrm>
          <a:prstGeom prst="rect">
            <a:avLst/>
          </a:prstGeom>
          <a:noFill/>
        </p:spPr>
        <p:txBody>
          <a:bodyPr wrap="square" rtlCol="0">
            <a:spAutoFit/>
          </a:bodyPr>
          <a:lstStyle/>
          <a:p>
            <a:pPr algn="ctr"/>
            <a:r>
              <a:rPr lang="pt-BR" sz="1400" dirty="0"/>
              <a:t>Camada densa com ativação sigmoide</a:t>
            </a:r>
            <a:endParaRPr lang="en-US" sz="1400" dirty="0"/>
          </a:p>
        </p:txBody>
      </p:sp>
      <p:sp>
        <p:nvSpPr>
          <p:cNvPr id="4" name="Oval 3">
            <a:extLst>
              <a:ext uri="{FF2B5EF4-FFF2-40B4-BE49-F238E27FC236}">
                <a16:creationId xmlns="" xmlns:a16="http://schemas.microsoft.com/office/drawing/2014/main" id="{A10A206D-DE0F-FE1C-4415-C2DFE8541DE1}"/>
              </a:ext>
            </a:extLst>
          </p:cNvPr>
          <p:cNvSpPr/>
          <p:nvPr/>
        </p:nvSpPr>
        <p:spPr>
          <a:xfrm>
            <a:off x="5608613" y="528852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6" name="TextBox 5">
            <a:extLst>
              <a:ext uri="{FF2B5EF4-FFF2-40B4-BE49-F238E27FC236}">
                <a16:creationId xmlns="" xmlns:a16="http://schemas.microsoft.com/office/drawing/2014/main" id="{E601EEF9-98B3-9F64-F85F-07641BA1F0E3}"/>
              </a:ext>
            </a:extLst>
          </p:cNvPr>
          <p:cNvSpPr txBox="1"/>
          <p:nvPr/>
        </p:nvSpPr>
        <p:spPr>
          <a:xfrm>
            <a:off x="5139666" y="5533393"/>
            <a:ext cx="1210943" cy="523220"/>
          </a:xfrm>
          <a:prstGeom prst="rect">
            <a:avLst/>
          </a:prstGeom>
          <a:noFill/>
        </p:spPr>
        <p:txBody>
          <a:bodyPr wrap="square">
            <a:spAutoFit/>
          </a:bodyPr>
          <a:lstStyle/>
          <a:p>
            <a:pPr algn="ctr"/>
            <a:r>
              <a:rPr lang="en-US" sz="1400" dirty="0" err="1"/>
              <a:t>operação</a:t>
            </a:r>
            <a:r>
              <a:rPr lang="en-US" sz="1400" dirty="0"/>
              <a:t> </a:t>
            </a:r>
            <a:r>
              <a:rPr lang="en-US" sz="1400" dirty="0" err="1"/>
              <a:t>pontual</a:t>
            </a:r>
            <a:endParaRPr lang="en-US" sz="1400" dirty="0"/>
          </a:p>
        </p:txBody>
      </p:sp>
      <p:cxnSp>
        <p:nvCxnSpPr>
          <p:cNvPr id="9" name="Straight Connector 8">
            <a:extLst>
              <a:ext uri="{FF2B5EF4-FFF2-40B4-BE49-F238E27FC236}">
                <a16:creationId xmlns="" xmlns:a16="http://schemas.microsoft.com/office/drawing/2014/main" id="{4CCF47AF-2D48-1D6C-D27B-0CC557A4D3BC}"/>
              </a:ext>
            </a:extLst>
          </p:cNvPr>
          <p:cNvCxnSpPr>
            <a:cxnSpLocks/>
          </p:cNvCxnSpPr>
          <p:nvPr/>
        </p:nvCxnSpPr>
        <p:spPr>
          <a:xfrm>
            <a:off x="6637778" y="5441203"/>
            <a:ext cx="576000"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4" name="TextBox 13">
            <a:extLst>
              <a:ext uri="{FF2B5EF4-FFF2-40B4-BE49-F238E27FC236}">
                <a16:creationId xmlns="" xmlns:a16="http://schemas.microsoft.com/office/drawing/2014/main" id="{D4D46D6C-FBD0-36BF-A4A0-F0AA4C62BC59}"/>
              </a:ext>
            </a:extLst>
          </p:cNvPr>
          <p:cNvSpPr txBox="1"/>
          <p:nvPr/>
        </p:nvSpPr>
        <p:spPr>
          <a:xfrm>
            <a:off x="6275192" y="5531005"/>
            <a:ext cx="1210943" cy="523220"/>
          </a:xfrm>
          <a:prstGeom prst="rect">
            <a:avLst/>
          </a:prstGeom>
          <a:noFill/>
        </p:spPr>
        <p:txBody>
          <a:bodyPr wrap="square">
            <a:spAutoFit/>
          </a:bodyPr>
          <a:lstStyle/>
          <a:p>
            <a:pPr algn="ctr"/>
            <a:r>
              <a:rPr lang="en-US" sz="1400" dirty="0" err="1"/>
              <a:t>transferência</a:t>
            </a:r>
            <a:r>
              <a:rPr lang="en-US" sz="1400" dirty="0"/>
              <a:t> de </a:t>
            </a:r>
            <a:r>
              <a:rPr lang="en-US" sz="1400" dirty="0" err="1"/>
              <a:t>vetor</a:t>
            </a:r>
            <a:endParaRPr lang="en-US" sz="1400" dirty="0"/>
          </a:p>
        </p:txBody>
      </p:sp>
      <p:cxnSp>
        <p:nvCxnSpPr>
          <p:cNvPr id="18" name="Straight Connector 17">
            <a:extLst>
              <a:ext uri="{FF2B5EF4-FFF2-40B4-BE49-F238E27FC236}">
                <a16:creationId xmlns="" xmlns:a16="http://schemas.microsoft.com/office/drawing/2014/main" id="{87FE6DA6-5752-4BD9-4B22-C5A902BD5C6B}"/>
              </a:ext>
            </a:extLst>
          </p:cNvPr>
          <p:cNvCxnSpPr>
            <a:cxnSpLocks/>
          </p:cNvCxnSpPr>
          <p:nvPr/>
        </p:nvCxnSpPr>
        <p:spPr>
          <a:xfrm>
            <a:off x="7871574" y="5441203"/>
            <a:ext cx="576000"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 xmlns:a16="http://schemas.microsoft.com/office/drawing/2014/main" id="{4AA379DA-FDF4-4C2E-212F-301E5D1A6625}"/>
              </a:ext>
            </a:extLst>
          </p:cNvPr>
          <p:cNvCxnSpPr/>
          <p:nvPr/>
        </p:nvCxnSpPr>
        <p:spPr>
          <a:xfrm>
            <a:off x="8134689" y="5434573"/>
            <a:ext cx="0" cy="29041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 xmlns:a16="http://schemas.microsoft.com/office/drawing/2014/main" id="{F2C1639E-62C8-EF4F-BC59-06D35F047F64}"/>
              </a:ext>
            </a:extLst>
          </p:cNvPr>
          <p:cNvSpPr txBox="1"/>
          <p:nvPr/>
        </p:nvSpPr>
        <p:spPr>
          <a:xfrm>
            <a:off x="7538311" y="5690289"/>
            <a:ext cx="1210943" cy="307777"/>
          </a:xfrm>
          <a:prstGeom prst="rect">
            <a:avLst/>
          </a:prstGeom>
          <a:noFill/>
        </p:spPr>
        <p:txBody>
          <a:bodyPr wrap="square">
            <a:spAutoFit/>
          </a:bodyPr>
          <a:lstStyle/>
          <a:p>
            <a:pPr algn="ctr"/>
            <a:r>
              <a:rPr lang="en-US" sz="1400" dirty="0" err="1"/>
              <a:t>concatenação</a:t>
            </a:r>
            <a:endParaRPr lang="en-US" sz="1400" dirty="0"/>
          </a:p>
        </p:txBody>
      </p:sp>
      <p:cxnSp>
        <p:nvCxnSpPr>
          <p:cNvPr id="23" name="Straight Connector 22">
            <a:extLst>
              <a:ext uri="{FF2B5EF4-FFF2-40B4-BE49-F238E27FC236}">
                <a16:creationId xmlns="" xmlns:a16="http://schemas.microsoft.com/office/drawing/2014/main" id="{456BE94A-7B45-0DB7-05F1-86A17C409BD0}"/>
              </a:ext>
            </a:extLst>
          </p:cNvPr>
          <p:cNvCxnSpPr>
            <a:cxnSpLocks/>
          </p:cNvCxnSpPr>
          <p:nvPr/>
        </p:nvCxnSpPr>
        <p:spPr>
          <a:xfrm>
            <a:off x="9030310" y="5689985"/>
            <a:ext cx="576000"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4" name="Straight Connector 23">
            <a:extLst>
              <a:ext uri="{FF2B5EF4-FFF2-40B4-BE49-F238E27FC236}">
                <a16:creationId xmlns="" xmlns:a16="http://schemas.microsoft.com/office/drawing/2014/main" id="{0868D48C-258F-30A1-C079-D3E227346BD5}"/>
              </a:ext>
            </a:extLst>
          </p:cNvPr>
          <p:cNvCxnSpPr/>
          <p:nvPr/>
        </p:nvCxnSpPr>
        <p:spPr>
          <a:xfrm>
            <a:off x="9293364" y="5385798"/>
            <a:ext cx="0" cy="290413"/>
          </a:xfrm>
          <a:prstGeom prst="line">
            <a:avLst/>
          </a:prstGeom>
          <a:ln w="1905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 xmlns:a16="http://schemas.microsoft.com/office/drawing/2014/main" id="{82CB8A93-557A-5259-EB5A-85D7D4D96AD1}"/>
              </a:ext>
            </a:extLst>
          </p:cNvPr>
          <p:cNvSpPr txBox="1"/>
          <p:nvPr/>
        </p:nvSpPr>
        <p:spPr>
          <a:xfrm>
            <a:off x="8664743" y="5681618"/>
            <a:ext cx="1210943" cy="307777"/>
          </a:xfrm>
          <a:prstGeom prst="rect">
            <a:avLst/>
          </a:prstGeom>
          <a:noFill/>
        </p:spPr>
        <p:txBody>
          <a:bodyPr wrap="square">
            <a:spAutoFit/>
          </a:bodyPr>
          <a:lstStyle/>
          <a:p>
            <a:pPr algn="ctr"/>
            <a:r>
              <a:rPr lang="en-US" sz="1400" dirty="0" err="1"/>
              <a:t>cópia</a:t>
            </a:r>
            <a:endParaRPr lang="en-US" sz="1400" dirty="0"/>
          </a:p>
        </p:txBody>
      </p:sp>
      <mc:AlternateContent xmlns:mc="http://schemas.openxmlformats.org/markup-compatibility/2006" xmlns:a14="http://schemas.microsoft.com/office/drawing/2010/main">
        <mc:Choice Requires="a14">
          <p:sp>
            <p:nvSpPr>
              <p:cNvPr id="7" name="TextBox 6">
                <a:extLst>
                  <a:ext uri="{FF2B5EF4-FFF2-40B4-BE49-F238E27FC236}">
                    <a16:creationId xmlns="" xmlns:a16="http://schemas.microsoft.com/office/drawing/2014/main" id="{2246AAD0-1376-49ED-6106-0413203680D6}"/>
                  </a:ext>
                </a:extLst>
              </p:cNvPr>
              <p:cNvSpPr txBox="1"/>
              <p:nvPr/>
            </p:nvSpPr>
            <p:spPr>
              <a:xfrm>
                <a:off x="4285614" y="4613929"/>
                <a:ext cx="432000"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7" name="TextBox 6">
                <a:extLst>
                  <a:ext uri="{FF2B5EF4-FFF2-40B4-BE49-F238E27FC236}">
                    <a16:creationId xmlns:a16="http://schemas.microsoft.com/office/drawing/2014/main" xmlns:a14="http://schemas.microsoft.com/office/drawing/2010/main" xmlns="" id="{2246AAD0-1376-49ED-6106-0413203680D6}"/>
                  </a:ext>
                </a:extLst>
              </p:cNvPr>
              <p:cNvSpPr txBox="1">
                <a:spLocks noRot="1" noChangeAspect="1" noMove="1" noResize="1" noEditPoints="1" noAdjustHandles="1" noChangeArrowheads="1" noChangeShapeType="1" noTextEdit="1"/>
              </p:cNvSpPr>
              <p:nvPr/>
            </p:nvSpPr>
            <p:spPr>
              <a:xfrm>
                <a:off x="4285614" y="4613929"/>
                <a:ext cx="432000" cy="369332"/>
              </a:xfrm>
              <a:prstGeom prst="rect">
                <a:avLst/>
              </a:prstGeom>
              <a:blipFill rotWithShape="0">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 xmlns:a16="http://schemas.microsoft.com/office/drawing/2014/main" id="{679AA4D9-0CBE-CBE0-7232-D2B675E04931}"/>
                  </a:ext>
                </a:extLst>
              </p:cNvPr>
              <p:cNvSpPr txBox="1"/>
              <p:nvPr/>
            </p:nvSpPr>
            <p:spPr>
              <a:xfrm>
                <a:off x="7870263" y="4592155"/>
                <a:ext cx="885222"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27" name="TextBox 26">
                <a:extLst>
                  <a:ext uri="{FF2B5EF4-FFF2-40B4-BE49-F238E27FC236}">
                    <a16:creationId xmlns:a16="http://schemas.microsoft.com/office/drawing/2014/main" xmlns:a14="http://schemas.microsoft.com/office/drawing/2010/main" xmlns="" id="{679AA4D9-0CBE-CBE0-7232-D2B675E04931}"/>
                  </a:ext>
                </a:extLst>
              </p:cNvPr>
              <p:cNvSpPr txBox="1">
                <a:spLocks noRot="1" noChangeAspect="1" noMove="1" noResize="1" noEditPoints="1" noAdjustHandles="1" noChangeArrowheads="1" noChangeShapeType="1" noTextEdit="1"/>
              </p:cNvSpPr>
              <p:nvPr/>
            </p:nvSpPr>
            <p:spPr>
              <a:xfrm>
                <a:off x="7870263" y="4592155"/>
                <a:ext cx="885222" cy="369332"/>
              </a:xfrm>
              <a:prstGeom prst="rect">
                <a:avLst/>
              </a:prstGeom>
              <a:blipFill rotWithShape="0">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 xmlns:a16="http://schemas.microsoft.com/office/drawing/2014/main" id="{96FA6F2C-8E33-655A-EAEF-0D0E286BD191}"/>
                  </a:ext>
                </a:extLst>
              </p:cNvPr>
              <p:cNvSpPr txBox="1"/>
              <p:nvPr/>
            </p:nvSpPr>
            <p:spPr>
              <a:xfrm>
                <a:off x="10900134" y="1834844"/>
                <a:ext cx="885222"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xmlns:a14="http://schemas.microsoft.com/office/drawing/2010/main" xmlns="" id="{96FA6F2C-8E33-655A-EAEF-0D0E286BD191}"/>
                  </a:ext>
                </a:extLst>
              </p:cNvPr>
              <p:cNvSpPr txBox="1">
                <a:spLocks noRot="1" noChangeAspect="1" noMove="1" noResize="1" noEditPoints="1" noAdjustHandles="1" noChangeArrowheads="1" noChangeShapeType="1" noTextEdit="1"/>
              </p:cNvSpPr>
              <p:nvPr/>
            </p:nvSpPr>
            <p:spPr>
              <a:xfrm>
                <a:off x="10900134" y="1834844"/>
                <a:ext cx="885222" cy="369332"/>
              </a:xfrm>
              <a:prstGeom prst="rect">
                <a:avLst/>
              </a:prstGeom>
              <a:blipFill rotWithShape="0">
                <a:blip r:embed="rId10"/>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 xmlns:a16="http://schemas.microsoft.com/office/drawing/2014/main" id="{2E911784-46DC-FD4B-8F99-C5D6064602E6}"/>
                  </a:ext>
                </a:extLst>
              </p:cNvPr>
              <p:cNvSpPr txBox="1"/>
              <p:nvPr/>
            </p:nvSpPr>
            <p:spPr>
              <a:xfrm>
                <a:off x="7229557" y="1834844"/>
                <a:ext cx="885222"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29" name="TextBox 28">
                <a:extLst>
                  <a:ext uri="{FF2B5EF4-FFF2-40B4-BE49-F238E27FC236}">
                    <a16:creationId xmlns:a16="http://schemas.microsoft.com/office/drawing/2014/main" xmlns:a14="http://schemas.microsoft.com/office/drawing/2010/main" xmlns="" id="{2E911784-46DC-FD4B-8F99-C5D6064602E6}"/>
                  </a:ext>
                </a:extLst>
              </p:cNvPr>
              <p:cNvSpPr txBox="1">
                <a:spLocks noRot="1" noChangeAspect="1" noMove="1" noResize="1" noEditPoints="1" noAdjustHandles="1" noChangeArrowheads="1" noChangeShapeType="1" noTextEdit="1"/>
              </p:cNvSpPr>
              <p:nvPr/>
            </p:nvSpPr>
            <p:spPr>
              <a:xfrm>
                <a:off x="7229557" y="1834844"/>
                <a:ext cx="885222" cy="369332"/>
              </a:xfrm>
              <a:prstGeom prst="rect">
                <a:avLst/>
              </a:prstGeom>
              <a:blipFill rotWithShape="0">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 xmlns:a16="http://schemas.microsoft.com/office/drawing/2014/main" id="{5276B13D-7144-BE36-299F-CE78D79813D4}"/>
                  </a:ext>
                </a:extLst>
              </p:cNvPr>
              <p:cNvSpPr txBox="1"/>
              <p:nvPr/>
            </p:nvSpPr>
            <p:spPr>
              <a:xfrm>
                <a:off x="3237173" y="1834844"/>
                <a:ext cx="885222"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31" name="TextBox 30">
                <a:extLst>
                  <a:ext uri="{FF2B5EF4-FFF2-40B4-BE49-F238E27FC236}">
                    <a16:creationId xmlns:a16="http://schemas.microsoft.com/office/drawing/2014/main" xmlns:a14="http://schemas.microsoft.com/office/drawing/2010/main" xmlns="" id="{5276B13D-7144-BE36-299F-CE78D79813D4}"/>
                  </a:ext>
                </a:extLst>
              </p:cNvPr>
              <p:cNvSpPr txBox="1">
                <a:spLocks noRot="1" noChangeAspect="1" noMove="1" noResize="1" noEditPoints="1" noAdjustHandles="1" noChangeArrowheads="1" noChangeShapeType="1" noTextEdit="1"/>
              </p:cNvSpPr>
              <p:nvPr/>
            </p:nvSpPr>
            <p:spPr>
              <a:xfrm>
                <a:off x="3237173" y="1834844"/>
                <a:ext cx="885222" cy="369332"/>
              </a:xfrm>
              <a:prstGeom prst="rect">
                <a:avLst/>
              </a:prstGeom>
              <a:blipFill rotWithShape="0">
                <a:blip r:embed="rId12"/>
                <a:stretch>
                  <a:fillRect/>
                </a:stretch>
              </a:blipFill>
            </p:spPr>
            <p:txBody>
              <a:bodyPr/>
              <a:lstStyle/>
              <a:p>
                <a:r>
                  <a:rPr lang="pt-BR">
                    <a:noFill/>
                  </a:rPr>
                  <a:t> </a:t>
                </a:r>
              </a:p>
            </p:txBody>
          </p:sp>
        </mc:Fallback>
      </mc:AlternateContent>
      <p:sp>
        <p:nvSpPr>
          <p:cNvPr id="38" name="Rectangle 37">
            <a:extLst>
              <a:ext uri="{FF2B5EF4-FFF2-40B4-BE49-F238E27FC236}">
                <a16:creationId xmlns="" xmlns:a16="http://schemas.microsoft.com/office/drawing/2014/main" id="{8A9D5604-42D8-94B0-F0FA-40F8A5FE0687}"/>
              </a:ext>
            </a:extLst>
          </p:cNvPr>
          <p:cNvSpPr/>
          <p:nvPr/>
        </p:nvSpPr>
        <p:spPr>
          <a:xfrm>
            <a:off x="4263911" y="5283385"/>
            <a:ext cx="588587"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sz="1600" dirty="0" err="1">
                <a:solidFill>
                  <a:schemeClr val="tx1"/>
                </a:solidFill>
              </a:rPr>
              <a:t>tanh</a:t>
            </a:r>
            <a:endParaRPr lang="en-US" sz="1000" dirty="0">
              <a:solidFill>
                <a:schemeClr val="tx1"/>
              </a:solidFill>
            </a:endParaRPr>
          </a:p>
        </p:txBody>
      </p:sp>
      <p:sp>
        <p:nvSpPr>
          <p:cNvPr id="40" name="TextBox 39">
            <a:extLst>
              <a:ext uri="{FF2B5EF4-FFF2-40B4-BE49-F238E27FC236}">
                <a16:creationId xmlns="" xmlns:a16="http://schemas.microsoft.com/office/drawing/2014/main" id="{36895CF3-782C-C5FB-0D92-D28EF588D039}"/>
              </a:ext>
            </a:extLst>
          </p:cNvPr>
          <p:cNvSpPr txBox="1"/>
          <p:nvPr/>
        </p:nvSpPr>
        <p:spPr>
          <a:xfrm>
            <a:off x="3608193" y="5581257"/>
            <a:ext cx="1705021" cy="523220"/>
          </a:xfrm>
          <a:prstGeom prst="rect">
            <a:avLst/>
          </a:prstGeom>
          <a:noFill/>
        </p:spPr>
        <p:txBody>
          <a:bodyPr wrap="square" rtlCol="0">
            <a:spAutoFit/>
          </a:bodyPr>
          <a:lstStyle/>
          <a:p>
            <a:pPr algn="ctr"/>
            <a:r>
              <a:rPr lang="pt-BR" sz="1400" dirty="0"/>
              <a:t>Camada densa com ativação </a:t>
            </a:r>
            <a:r>
              <a:rPr lang="pt-BR" sz="1400" dirty="0" err="1"/>
              <a:t>tanh</a:t>
            </a:r>
            <a:endParaRPr lang="en-US" sz="1400" dirty="0"/>
          </a:p>
        </p:txBody>
      </p:sp>
    </p:spTree>
    <p:extLst>
      <p:ext uri="{BB962C8B-B14F-4D97-AF65-F5344CB8AC3E}">
        <p14:creationId xmlns:p14="http://schemas.microsoft.com/office/powerpoint/2010/main" val="294756579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8D4EC042-7CB7-B389-4F07-73C2D81EF70E}"/>
            </a:ext>
          </a:extLst>
        </p:cNvPr>
        <p:cNvGrpSpPr/>
        <p:nvPr/>
      </p:nvGrpSpPr>
      <p:grpSpPr>
        <a:xfrm>
          <a:off x="0" y="0"/>
          <a:ext cx="0" cy="0"/>
          <a:chOff x="0" y="0"/>
          <a:chExt cx="0" cy="0"/>
        </a:xfrm>
      </p:grpSpPr>
      <p:grpSp>
        <p:nvGrpSpPr>
          <p:cNvPr id="2" name="Grupo 1"/>
          <p:cNvGrpSpPr/>
          <p:nvPr/>
        </p:nvGrpSpPr>
        <p:grpSpPr>
          <a:xfrm>
            <a:off x="1975628" y="1834844"/>
            <a:ext cx="7884560" cy="4250019"/>
            <a:chOff x="1975628" y="1834844"/>
            <a:chExt cx="7884560" cy="4250019"/>
          </a:xfrm>
        </p:grpSpPr>
        <p:grpSp>
          <p:nvGrpSpPr>
            <p:cNvPr id="43" name="Group 42">
              <a:extLst>
                <a:ext uri="{FF2B5EF4-FFF2-40B4-BE49-F238E27FC236}">
                  <a16:creationId xmlns="" xmlns:a16="http://schemas.microsoft.com/office/drawing/2014/main" id="{62617247-07D2-6657-99D1-398FE3BE06C0}"/>
                </a:ext>
              </a:extLst>
            </p:cNvPr>
            <p:cNvGrpSpPr/>
            <p:nvPr/>
          </p:nvGrpSpPr>
          <p:grpSpPr>
            <a:xfrm>
              <a:off x="3489806" y="1834844"/>
              <a:ext cx="5319746" cy="3227138"/>
              <a:chOff x="3489806" y="1834844"/>
              <a:chExt cx="5319746" cy="3227138"/>
            </a:xfrm>
          </p:grpSpPr>
          <p:sp>
            <p:nvSpPr>
              <p:cNvPr id="39" name="Rectangle: Rounded Corners 38">
                <a:extLst>
                  <a:ext uri="{FF2B5EF4-FFF2-40B4-BE49-F238E27FC236}">
                    <a16:creationId xmlns="" xmlns:a16="http://schemas.microsoft.com/office/drawing/2014/main" id="{F9B84FA2-83D7-7AD8-9610-5A415E5EE1A1}"/>
                  </a:ext>
                </a:extLst>
              </p:cNvPr>
              <p:cNvSpPr/>
              <p:nvPr/>
            </p:nvSpPr>
            <p:spPr>
              <a:xfrm>
                <a:off x="4301176" y="2438400"/>
                <a:ext cx="3522024" cy="1981200"/>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8" name="Rectangle 7">
                    <a:extLst>
                      <a:ext uri="{FF2B5EF4-FFF2-40B4-BE49-F238E27FC236}">
                        <a16:creationId xmlns="" xmlns:a16="http://schemas.microsoft.com/office/drawing/2014/main" id="{62E9A632-1F8F-BB2C-9A7A-07DEA62B46A1}"/>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62E9A632-1F8F-BB2C-9A7A-07DEA62B46A1}"/>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Rectangle 9">
                    <a:extLst>
                      <a:ext uri="{FF2B5EF4-FFF2-40B4-BE49-F238E27FC236}">
                        <a16:creationId xmlns="" xmlns:a16="http://schemas.microsoft.com/office/drawing/2014/main" id="{9B13C382-E365-0604-E2B1-4396795DE5DD}"/>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9B13C382-E365-0604-E2B1-4396795DE5DD}"/>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Rectangle 10">
                    <a:extLst>
                      <a:ext uri="{FF2B5EF4-FFF2-40B4-BE49-F238E27FC236}">
                        <a16:creationId xmlns="" xmlns:a16="http://schemas.microsoft.com/office/drawing/2014/main" id="{28298EA5-A736-9895-9469-3658052D65D0}"/>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28298EA5-A736-9895-9469-3658052D65D0}"/>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5"/>
                    <a:stretch>
                      <a:fillRect/>
                    </a:stretch>
                  </a:blipFill>
                </p:spPr>
                <p:txBody>
                  <a:bodyPr/>
                  <a:lstStyle/>
                  <a:p>
                    <a:r>
                      <a:rPr lang="en-US">
                        <a:noFill/>
                      </a:rPr>
                      <a:t> </a:t>
                    </a:r>
                  </a:p>
                </p:txBody>
              </p:sp>
            </mc:Fallback>
          </mc:AlternateContent>
          <p:sp>
            <p:nvSpPr>
              <p:cNvPr id="12" name="Rectangle 11">
                <a:extLst>
                  <a:ext uri="{FF2B5EF4-FFF2-40B4-BE49-F238E27FC236}">
                    <a16:creationId xmlns="" xmlns:a16="http://schemas.microsoft.com/office/drawing/2014/main" id="{FE2E3973-7BB3-5423-9E41-4A439D4AD2FA}"/>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err="1">
                    <a:solidFill>
                      <a:schemeClr val="tx1"/>
                    </a:solidFill>
                  </a:rPr>
                  <a:t>tanh</a:t>
                </a:r>
                <a:endParaRPr lang="en-US" dirty="0">
                  <a:solidFill>
                    <a:schemeClr val="tx1"/>
                  </a:solidFill>
                </a:endParaRPr>
              </a:p>
            </p:txBody>
          </p:sp>
          <p:grpSp>
            <p:nvGrpSpPr>
              <p:cNvPr id="16" name="Group 15">
                <a:extLst>
                  <a:ext uri="{FF2B5EF4-FFF2-40B4-BE49-F238E27FC236}">
                    <a16:creationId xmlns="" xmlns:a16="http://schemas.microsoft.com/office/drawing/2014/main" id="{357EC369-9B76-A27D-EDC3-890F0716751F}"/>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 xmlns:a16="http://schemas.microsoft.com/office/drawing/2014/main" id="{1105FA2D-CACC-93FD-8147-BCE771CE8357}"/>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 xmlns:a16="http://schemas.microsoft.com/office/drawing/2014/main" id="{007EE48F-7B86-5BD2-1F8C-469594A636F0}"/>
                    </a:ext>
                  </a:extLst>
                </p:cNvPr>
                <p:cNvSpPr txBox="1"/>
                <p:nvPr/>
              </p:nvSpPr>
              <p:spPr>
                <a:xfrm>
                  <a:off x="6108701" y="2910505"/>
                  <a:ext cx="627148" cy="369332"/>
                </a:xfrm>
                <a:prstGeom prst="rect">
                  <a:avLst/>
                </a:prstGeom>
                <a:noFill/>
              </p:spPr>
              <p:txBody>
                <a:bodyPr wrap="square">
                  <a:spAutoFit/>
                </a:bodyPr>
                <a:lstStyle/>
                <a:p>
                  <a:pPr algn="ctr"/>
                  <a:r>
                    <a:rPr lang="pt-BR" dirty="0" err="1">
                      <a:solidFill>
                        <a:schemeClr val="tx1"/>
                      </a:solidFill>
                    </a:rPr>
                    <a:t>tanh</a:t>
                  </a:r>
                  <a:endParaRPr lang="en-US" dirty="0">
                    <a:solidFill>
                      <a:schemeClr val="tx1"/>
                    </a:solidFill>
                  </a:endParaRPr>
                </a:p>
              </p:txBody>
            </p:sp>
          </p:grpSp>
          <p:sp>
            <p:nvSpPr>
              <p:cNvPr id="17" name="Oval 16">
                <a:extLst>
                  <a:ext uri="{FF2B5EF4-FFF2-40B4-BE49-F238E27FC236}">
                    <a16:creationId xmlns="" xmlns:a16="http://schemas.microsoft.com/office/drawing/2014/main" id="{734FE972-9F06-C11C-3F53-9D4666EC5095}"/>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20" name="Straight Arrow Connector 19">
                <a:extLst>
                  <a:ext uri="{FF2B5EF4-FFF2-40B4-BE49-F238E27FC236}">
                    <a16:creationId xmlns="" xmlns:a16="http://schemas.microsoft.com/office/drawing/2014/main" id="{EA318A7D-6AD1-A164-9144-BD5F28A4E7B7}"/>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0" name="Connector: Elbow 29">
                <a:extLst>
                  <a:ext uri="{FF2B5EF4-FFF2-40B4-BE49-F238E27FC236}">
                    <a16:creationId xmlns="" xmlns:a16="http://schemas.microsoft.com/office/drawing/2014/main" id="{AE5B4441-DF89-25A1-3560-8E5404670E96}"/>
                  </a:ext>
                </a:extLst>
              </p:cNvPr>
              <p:cNvCxnSpPr>
                <a:cxnSpLocks/>
                <a:endCxn id="11" idx="2"/>
              </p:cNvCxnSpPr>
              <p:nvPr/>
            </p:nvCxnSpPr>
            <p:spPr>
              <a:xfrm flipV="1">
                <a:off x="4031369" y="4036770"/>
                <a:ext cx="2675053" cy="214575"/>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 xmlns:a16="http://schemas.microsoft.com/office/drawing/2014/main" id="{0093E439-25EF-02C4-D9C2-A1FE29C3AD6E}"/>
                  </a:ext>
                </a:extLst>
              </p:cNvPr>
              <p:cNvCxnSpPr>
                <a:cxnSpLocks/>
              </p:cNvCxnSpPr>
              <p:nvPr/>
            </p:nvCxnSpPr>
            <p:spPr>
              <a:xfrm>
                <a:off x="4724460" y="4033974"/>
                <a:ext cx="0" cy="211613"/>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35" name="Straight Connector 34">
                <a:extLst>
                  <a:ext uri="{FF2B5EF4-FFF2-40B4-BE49-F238E27FC236}">
                    <a16:creationId xmlns="" xmlns:a16="http://schemas.microsoft.com/office/drawing/2014/main" id="{A60E907D-7CA5-2C6C-E31F-2F003AE9D096}"/>
                  </a:ext>
                </a:extLst>
              </p:cNvPr>
              <p:cNvCxnSpPr>
                <a:cxnSpLocks/>
              </p:cNvCxnSpPr>
              <p:nvPr/>
            </p:nvCxnSpPr>
            <p:spPr>
              <a:xfrm>
                <a:off x="5283260" y="4033974"/>
                <a:ext cx="0" cy="211613"/>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 xmlns:a16="http://schemas.microsoft.com/office/drawing/2014/main" id="{137E1A15-7B2A-4277-FFA1-74355E9235EA}"/>
                  </a:ext>
                </a:extLst>
              </p:cNvPr>
              <p:cNvCxnSpPr>
                <a:cxnSpLocks/>
              </p:cNvCxnSpPr>
              <p:nvPr/>
            </p:nvCxnSpPr>
            <p:spPr>
              <a:xfrm>
                <a:off x="5988110" y="4033974"/>
                <a:ext cx="0" cy="211613"/>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sp>
            <p:nvSpPr>
              <p:cNvPr id="37" name="Oval 36">
                <a:extLst>
                  <a:ext uri="{FF2B5EF4-FFF2-40B4-BE49-F238E27FC236}">
                    <a16:creationId xmlns="" xmlns:a16="http://schemas.microsoft.com/office/drawing/2014/main" id="{D93AEA26-EC0B-1E3E-D68C-6CE9227A173D}"/>
                  </a:ext>
                </a:extLst>
              </p:cNvPr>
              <p:cNvSpPr/>
              <p:nvPr/>
            </p:nvSpPr>
            <p:spPr>
              <a:xfrm>
                <a:off x="5856481"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47" name="Straight Arrow Connector 46">
                <a:extLst>
                  <a:ext uri="{FF2B5EF4-FFF2-40B4-BE49-F238E27FC236}">
                    <a16:creationId xmlns="" xmlns:a16="http://schemas.microsoft.com/office/drawing/2014/main" id="{461F8C01-4628-007D-8EE8-08D26131E8B9}"/>
                  </a:ext>
                </a:extLst>
              </p:cNvPr>
              <p:cNvCxnSpPr>
                <a:cxnSpLocks/>
                <a:stCxn id="12" idx="0"/>
                <a:endCxn id="37" idx="4"/>
              </p:cNvCxnSpPr>
              <p:nvPr/>
            </p:nvCxnSpPr>
            <p:spPr>
              <a:xfrm flipH="1" flipV="1">
                <a:off x="5993006" y="3602002"/>
                <a:ext cx="868" cy="1341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48" name="Oval 47">
                <a:extLst>
                  <a:ext uri="{FF2B5EF4-FFF2-40B4-BE49-F238E27FC236}">
                    <a16:creationId xmlns="" xmlns:a16="http://schemas.microsoft.com/office/drawing/2014/main" id="{F5D0673A-6CCA-67DE-BB0A-0EAB5B641853}"/>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49" name="Straight Arrow Connector 48">
                <a:extLst>
                  <a:ext uri="{FF2B5EF4-FFF2-40B4-BE49-F238E27FC236}">
                    <a16:creationId xmlns="" xmlns:a16="http://schemas.microsoft.com/office/drawing/2014/main" id="{34707AEE-8AB6-332F-D775-5D47B6EAB570}"/>
                  </a:ext>
                </a:extLst>
              </p:cNvPr>
              <p:cNvCxnSpPr>
                <a:cxnSpLocks/>
                <a:stCxn id="37" idx="0"/>
                <a:endCxn id="48" idx="4"/>
              </p:cNvCxnSpPr>
              <p:nvPr/>
            </p:nvCxnSpPr>
            <p:spPr>
              <a:xfrm flipH="1" flipV="1">
                <a:off x="5989666" y="2853476"/>
                <a:ext cx="3340" cy="4754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 xmlns:a16="http://schemas.microsoft.com/office/drawing/2014/main" id="{E3FDEDCE-1E3B-8147-4D13-A242E9C2B33E}"/>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 xmlns:a16="http://schemas.microsoft.com/office/drawing/2014/main" id="{06E60737-7998-C245-9FB1-6B1755A8F205}"/>
                  </a:ext>
                </a:extLst>
              </p:cNvPr>
              <p:cNvCxnSpPr>
                <a:cxnSpLocks/>
              </p:cNvCxnSpPr>
              <p:nvPr/>
            </p:nvCxnSpPr>
            <p:spPr>
              <a:xfrm flipH="1" flipV="1">
                <a:off x="7236075" y="3192538"/>
                <a:ext cx="625" cy="144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64" name="Straight Connector 63">
                <a:extLst>
                  <a:ext uri="{FF2B5EF4-FFF2-40B4-BE49-F238E27FC236}">
                    <a16:creationId xmlns="" xmlns:a16="http://schemas.microsoft.com/office/drawing/2014/main" id="{FE690B6A-0885-819C-6118-6C7D093B193B}"/>
                  </a:ext>
                </a:extLst>
              </p:cNvPr>
              <p:cNvCxnSpPr>
                <a:cxnSpLocks/>
                <a:endCxn id="17" idx="2"/>
              </p:cNvCxnSpPr>
              <p:nvPr/>
            </p:nvCxnSpPr>
            <p:spPr>
              <a:xfrm flipV="1">
                <a:off x="4012696" y="2715788"/>
                <a:ext cx="575239" cy="168"/>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 xmlns:a16="http://schemas.microsoft.com/office/drawing/2014/main" id="{4E0DA3A1-C433-12FD-E043-1BB3EB5D0076}"/>
                  </a:ext>
                </a:extLst>
              </p:cNvPr>
              <p:cNvCxnSpPr>
                <a:cxnSpLocks/>
                <a:stCxn id="17" idx="6"/>
                <a:endCxn id="48" idx="2"/>
              </p:cNvCxnSpPr>
              <p:nvPr/>
            </p:nvCxnSpPr>
            <p:spPr>
              <a:xfrm>
                <a:off x="4860985" y="2715788"/>
                <a:ext cx="992156"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1" name="Straight Connector 70">
                <a:extLst>
                  <a:ext uri="{FF2B5EF4-FFF2-40B4-BE49-F238E27FC236}">
                    <a16:creationId xmlns="" xmlns:a16="http://schemas.microsoft.com/office/drawing/2014/main" id="{A63A645C-4CC1-5896-32E8-305EA54E21C7}"/>
                  </a:ext>
                </a:extLst>
              </p:cNvPr>
              <p:cNvCxnSpPr>
                <a:cxnSpLocks/>
              </p:cNvCxnSpPr>
              <p:nvPr/>
            </p:nvCxnSpPr>
            <p:spPr>
              <a:xfrm>
                <a:off x="6126191" y="2715788"/>
                <a:ext cx="1980000"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 xmlns:a16="http://schemas.microsoft.com/office/drawing/2014/main" id="{C7FF5E71-FB7D-9609-3FC5-AD13B5F1C319}"/>
                  </a:ext>
                </a:extLst>
              </p:cNvPr>
              <p:cNvCxnSpPr>
                <a:cxnSpLocks/>
              </p:cNvCxnSpPr>
              <p:nvPr/>
            </p:nvCxnSpPr>
            <p:spPr>
              <a:xfrm flipH="1" flipV="1">
                <a:off x="7232357" y="2715838"/>
                <a:ext cx="625" cy="180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78" name="Connector: Elbow 77">
                <a:extLst>
                  <a:ext uri="{FF2B5EF4-FFF2-40B4-BE49-F238E27FC236}">
                    <a16:creationId xmlns="" xmlns:a16="http://schemas.microsoft.com/office/drawing/2014/main" id="{942AD4B1-3DFB-E8BA-0218-D9E850190EBC}"/>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 xmlns:a16="http://schemas.microsoft.com/office/drawing/2014/main" id="{4D8692E4-6CA5-D2CA-A76D-73771408476E}"/>
                  </a:ext>
                </a:extLst>
              </p:cNvPr>
              <p:cNvCxnSpPr>
                <a:stCxn id="10" idx="0"/>
                <a:endCxn id="37" idx="2"/>
              </p:cNvCxnSpPr>
              <p:nvPr/>
            </p:nvCxnSpPr>
            <p:spPr>
              <a:xfrm rot="5400000" flipH="1" flipV="1">
                <a:off x="5437228" y="3316849"/>
                <a:ext cx="2706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 xmlns:a16="http://schemas.microsoft.com/office/drawing/2014/main" id="{9FE0230A-FA48-1674-EE72-563556A3AD37}"/>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 xmlns:a16="http://schemas.microsoft.com/office/drawing/2014/main" id="{DD806146-5F28-31BB-C91D-206A9C7C1949}"/>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3" name="Straight Arrow Connector 92">
                <a:extLst>
                  <a:ext uri="{FF2B5EF4-FFF2-40B4-BE49-F238E27FC236}">
                    <a16:creationId xmlns="" xmlns:a16="http://schemas.microsoft.com/office/drawing/2014/main" id="{97AFC188-C5E0-E364-C3F7-EF901703C4F5}"/>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 xmlns:a16="http://schemas.microsoft.com/office/drawing/2014/main" id="{5C32825B-E0C6-9CDA-AFFC-FEF61AC5A16D}"/>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 xmlns:a16="http://schemas.microsoft.com/office/drawing/2014/main" id="{CE32A260-F120-9DD1-2C21-2F72B830F80E}"/>
                      </a:ext>
                    </a:extLst>
                  </p:cNvPr>
                  <p:cNvSpPr txBox="1"/>
                  <p:nvPr/>
                </p:nvSpPr>
                <p:spPr>
                  <a:xfrm>
                    <a:off x="3582865" y="4033974"/>
                    <a:ext cx="432000"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7" name="TextBox 6">
                    <a:extLst>
                      <a:ext uri="{FF2B5EF4-FFF2-40B4-BE49-F238E27FC236}">
                        <a16:creationId xmlns:a16="http://schemas.microsoft.com/office/drawing/2014/main" id="{CE32A260-F120-9DD1-2C21-2F72B830F80E}"/>
                      </a:ext>
                    </a:extLst>
                  </p:cNvPr>
                  <p:cNvSpPr txBox="1">
                    <a:spLocks noRot="1" noChangeAspect="1" noMove="1" noResize="1" noEditPoints="1" noAdjustHandles="1" noChangeArrowheads="1" noChangeShapeType="1" noTextEdit="1"/>
                  </p:cNvSpPr>
                  <p:nvPr/>
                </p:nvSpPr>
                <p:spPr>
                  <a:xfrm>
                    <a:off x="3582865" y="4033974"/>
                    <a:ext cx="432000" cy="369332"/>
                  </a:xfrm>
                  <a:prstGeom prst="rect">
                    <a:avLst/>
                  </a:prstGeom>
                  <a:blipFill>
                    <a:blip r:embed="rId6"/>
                    <a:stretch>
                      <a:fillRect l="-28169" r="-563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 xmlns:a16="http://schemas.microsoft.com/office/drawing/2014/main" id="{CB757A62-58FF-F46D-A7A5-BC95B2F299AF}"/>
                      </a:ext>
                    </a:extLst>
                  </p:cNvPr>
                  <p:cNvSpPr txBox="1"/>
                  <p:nvPr/>
                </p:nvSpPr>
                <p:spPr>
                  <a:xfrm>
                    <a:off x="8030169" y="2525610"/>
                    <a:ext cx="589341"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a16="http://schemas.microsoft.com/office/drawing/2014/main" id="{CB757A62-58FF-F46D-A7A5-BC95B2F299AF}"/>
                      </a:ext>
                    </a:extLst>
                  </p:cNvPr>
                  <p:cNvSpPr txBox="1">
                    <a:spLocks noRot="1" noChangeAspect="1" noMove="1" noResize="1" noEditPoints="1" noAdjustHandles="1" noChangeArrowheads="1" noChangeShapeType="1" noTextEdit="1"/>
                  </p:cNvSpPr>
                  <p:nvPr/>
                </p:nvSpPr>
                <p:spPr>
                  <a:xfrm>
                    <a:off x="8030169" y="2525610"/>
                    <a:ext cx="589341"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 xmlns:a16="http://schemas.microsoft.com/office/drawing/2014/main" id="{B53DAB36-7F1E-A38E-607F-E5656744709C}"/>
                      </a:ext>
                    </a:extLst>
                  </p:cNvPr>
                  <p:cNvSpPr txBox="1"/>
                  <p:nvPr/>
                </p:nvSpPr>
                <p:spPr>
                  <a:xfrm>
                    <a:off x="7229557" y="1834844"/>
                    <a:ext cx="885222"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29" name="TextBox 28">
                    <a:extLst>
                      <a:ext uri="{FF2B5EF4-FFF2-40B4-BE49-F238E27FC236}">
                        <a16:creationId xmlns:a16="http://schemas.microsoft.com/office/drawing/2014/main" id="{B53DAB36-7F1E-A38E-607F-E5656744709C}"/>
                      </a:ext>
                    </a:extLst>
                  </p:cNvPr>
                  <p:cNvSpPr txBox="1">
                    <a:spLocks noRot="1" noChangeAspect="1" noMove="1" noResize="1" noEditPoints="1" noAdjustHandles="1" noChangeArrowheads="1" noChangeShapeType="1" noTextEdit="1"/>
                  </p:cNvSpPr>
                  <p:nvPr/>
                </p:nvSpPr>
                <p:spPr>
                  <a:xfrm>
                    <a:off x="7229557" y="1834844"/>
                    <a:ext cx="88522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 xmlns:a16="http://schemas.microsoft.com/office/drawing/2014/main" id="{D5B871EC-42BA-BC5E-43FA-B2D29508EEFD}"/>
                      </a:ext>
                    </a:extLst>
                  </p:cNvPr>
                  <p:cNvSpPr txBox="1"/>
                  <p:nvPr/>
                </p:nvSpPr>
                <p:spPr>
                  <a:xfrm>
                    <a:off x="3489806" y="2511465"/>
                    <a:ext cx="591877"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31" name="TextBox 30">
                    <a:extLst>
                      <a:ext uri="{FF2B5EF4-FFF2-40B4-BE49-F238E27FC236}">
                        <a16:creationId xmlns:a16="http://schemas.microsoft.com/office/drawing/2014/main" id="{D5B871EC-42BA-BC5E-43FA-B2D29508EEFD}"/>
                      </a:ext>
                    </a:extLst>
                  </p:cNvPr>
                  <p:cNvSpPr txBox="1">
                    <a:spLocks noRot="1" noChangeAspect="1" noMove="1" noResize="1" noEditPoints="1" noAdjustHandles="1" noChangeArrowheads="1" noChangeShapeType="1" noTextEdit="1"/>
                  </p:cNvSpPr>
                  <p:nvPr/>
                </p:nvSpPr>
                <p:spPr>
                  <a:xfrm>
                    <a:off x="3489806" y="2511465"/>
                    <a:ext cx="591877"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 xmlns:a16="http://schemas.microsoft.com/office/drawing/2014/main" id="{B05700EA-ADF6-1501-A886-A487A7F4F0DF}"/>
                      </a:ext>
                    </a:extLst>
                  </p:cNvPr>
                  <p:cNvSpPr txBox="1"/>
                  <p:nvPr/>
                </p:nvSpPr>
                <p:spPr>
                  <a:xfrm>
                    <a:off x="7924330" y="4057288"/>
                    <a:ext cx="885222"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26" name="TextBox 25">
                    <a:extLst>
                      <a:ext uri="{FF2B5EF4-FFF2-40B4-BE49-F238E27FC236}">
                        <a16:creationId xmlns:a16="http://schemas.microsoft.com/office/drawing/2014/main" id="{B05700EA-ADF6-1501-A886-A487A7F4F0DF}"/>
                      </a:ext>
                    </a:extLst>
                  </p:cNvPr>
                  <p:cNvSpPr txBox="1">
                    <a:spLocks noRot="1" noChangeAspect="1" noMove="1" noResize="1" noEditPoints="1" noAdjustHandles="1" noChangeArrowheads="1" noChangeShapeType="1" noTextEdit="1"/>
                  </p:cNvSpPr>
                  <p:nvPr/>
                </p:nvSpPr>
                <p:spPr>
                  <a:xfrm>
                    <a:off x="7924330" y="4057288"/>
                    <a:ext cx="885222" cy="369332"/>
                  </a:xfrm>
                  <a:prstGeom prst="rect">
                    <a:avLst/>
                  </a:prstGeom>
                  <a:blipFill>
                    <a:blip r:embed="rId10"/>
                    <a:stretch>
                      <a:fillRect/>
                    </a:stretch>
                  </a:blipFill>
                </p:spPr>
                <p:txBody>
                  <a:bodyPr/>
                  <a:lstStyle/>
                  <a:p>
                    <a:r>
                      <a:rPr lang="en-US">
                        <a:noFill/>
                      </a:rPr>
                      <a:t> </a:t>
                    </a:r>
                  </a:p>
                </p:txBody>
              </p:sp>
            </mc:Fallback>
          </mc:AlternateContent>
          <p:cxnSp>
            <p:nvCxnSpPr>
              <p:cNvPr id="34" name="Straight Connector 33">
                <a:extLst>
                  <a:ext uri="{FF2B5EF4-FFF2-40B4-BE49-F238E27FC236}">
                    <a16:creationId xmlns="" xmlns:a16="http://schemas.microsoft.com/office/drawing/2014/main" id="{174094E0-AD46-6D7F-26FE-DF8481A5AC18}"/>
                  </a:ext>
                </a:extLst>
              </p:cNvPr>
              <p:cNvCxnSpPr/>
              <p:nvPr/>
            </p:nvCxnSpPr>
            <p:spPr>
              <a:xfrm>
                <a:off x="4558205" y="4251345"/>
                <a:ext cx="0" cy="492105"/>
              </a:xfrm>
              <a:prstGeom prst="line">
                <a:avLst/>
              </a:prstGeom>
              <a:ln w="1905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1" name="TextBox 40">
                    <a:extLst>
                      <a:ext uri="{FF2B5EF4-FFF2-40B4-BE49-F238E27FC236}">
                        <a16:creationId xmlns="" xmlns:a16="http://schemas.microsoft.com/office/drawing/2014/main" id="{BABCE601-1CC7-DA51-8E3E-DB40B8174F54}"/>
                      </a:ext>
                    </a:extLst>
                  </p:cNvPr>
                  <p:cNvSpPr txBox="1"/>
                  <p:nvPr/>
                </p:nvSpPr>
                <p:spPr>
                  <a:xfrm>
                    <a:off x="4371935" y="4692650"/>
                    <a:ext cx="432000"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41" name="TextBox 40">
                    <a:extLst>
                      <a:ext uri="{FF2B5EF4-FFF2-40B4-BE49-F238E27FC236}">
                        <a16:creationId xmlns:a16="http://schemas.microsoft.com/office/drawing/2014/main" id="{BABCE601-1CC7-DA51-8E3E-DB40B8174F54}"/>
                      </a:ext>
                    </a:extLst>
                  </p:cNvPr>
                  <p:cNvSpPr txBox="1">
                    <a:spLocks noRot="1" noChangeAspect="1" noMove="1" noResize="1" noEditPoints="1" noAdjustHandles="1" noChangeArrowheads="1" noChangeShapeType="1" noTextEdit="1"/>
                  </p:cNvSpPr>
                  <p:nvPr/>
                </p:nvSpPr>
                <p:spPr>
                  <a:xfrm>
                    <a:off x="4371935" y="4692650"/>
                    <a:ext cx="432000" cy="369332"/>
                  </a:xfrm>
                  <a:prstGeom prst="rect">
                    <a:avLst/>
                  </a:prstGeom>
                  <a:blipFill>
                    <a:blip r:embed="rId11"/>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40" name="Rectangle 1">
                  <a:extLst>
                    <a:ext uri="{FF2B5EF4-FFF2-40B4-BE49-F238E27FC236}">
                      <a16:creationId xmlns="" xmlns:a16="http://schemas.microsoft.com/office/drawing/2014/main" id="{67B8102E-31B3-C3A9-13A3-0364FF9802EB}"/>
                    </a:ext>
                  </a:extLst>
                </p:cNvPr>
                <p:cNvSpPr/>
                <p:nvPr/>
              </p:nvSpPr>
              <p:spPr>
                <a:xfrm>
                  <a:off x="2631347" y="5263771"/>
                  <a:ext cx="375794"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40" name="Rectangle 1">
                  <a:extLst>
                    <a:ext uri="{FF2B5EF4-FFF2-40B4-BE49-F238E27FC236}">
                      <a16:creationId xmlns:a16="http://schemas.microsoft.com/office/drawing/2014/main" xmlns:a14="http://schemas.microsoft.com/office/drawing/2010/main" xmlns="" id="{67B8102E-31B3-C3A9-13A3-0364FF9802EB}"/>
                    </a:ext>
                  </a:extLst>
                </p:cNvPr>
                <p:cNvSpPr>
                  <a:spLocks noRot="1" noChangeAspect="1" noMove="1" noResize="1" noEditPoints="1" noAdjustHandles="1" noChangeArrowheads="1" noChangeShapeType="1" noTextEdit="1"/>
                </p:cNvSpPr>
                <p:nvPr/>
              </p:nvSpPr>
              <p:spPr>
                <a:xfrm>
                  <a:off x="2631347" y="5263771"/>
                  <a:ext cx="375794" cy="297872"/>
                </a:xfrm>
                <a:prstGeom prst="rect">
                  <a:avLst/>
                </a:prstGeom>
                <a:blipFill rotWithShape="0">
                  <a:blip r:embed="rId12"/>
                  <a:stretch>
                    <a:fillRect/>
                  </a:stretch>
                </a:blipFill>
              </p:spPr>
              <p:txBody>
                <a:bodyPr/>
                <a:lstStyle/>
                <a:p>
                  <a:r>
                    <a:rPr lang="pt-BR">
                      <a:noFill/>
                    </a:rPr>
                    <a:t> </a:t>
                  </a:r>
                </a:p>
              </p:txBody>
            </p:sp>
          </mc:Fallback>
        </mc:AlternateContent>
        <p:sp>
          <p:nvSpPr>
            <p:cNvPr id="42" name="TextBox 2">
              <a:extLst>
                <a:ext uri="{FF2B5EF4-FFF2-40B4-BE49-F238E27FC236}">
                  <a16:creationId xmlns="" xmlns:a16="http://schemas.microsoft.com/office/drawing/2014/main" id="{94483E7F-A937-DCD5-593D-9BF0A521317D}"/>
                </a:ext>
              </a:extLst>
            </p:cNvPr>
            <p:cNvSpPr txBox="1"/>
            <p:nvPr/>
          </p:nvSpPr>
          <p:spPr>
            <a:xfrm>
              <a:off x="1975628" y="5561643"/>
              <a:ext cx="1705021" cy="523220"/>
            </a:xfrm>
            <a:prstGeom prst="rect">
              <a:avLst/>
            </a:prstGeom>
            <a:noFill/>
          </p:spPr>
          <p:txBody>
            <a:bodyPr wrap="square" rtlCol="0">
              <a:spAutoFit/>
            </a:bodyPr>
            <a:lstStyle/>
            <a:p>
              <a:pPr algn="ctr"/>
              <a:r>
                <a:rPr lang="pt-BR" sz="1400" dirty="0"/>
                <a:t>Camada densa com ativação sigmoide</a:t>
              </a:r>
              <a:endParaRPr lang="en-US" sz="1400" dirty="0"/>
            </a:p>
          </p:txBody>
        </p:sp>
        <p:sp>
          <p:nvSpPr>
            <p:cNvPr id="44" name="Oval 3">
              <a:extLst>
                <a:ext uri="{FF2B5EF4-FFF2-40B4-BE49-F238E27FC236}">
                  <a16:creationId xmlns="" xmlns:a16="http://schemas.microsoft.com/office/drawing/2014/main" id="{A10A206D-DE0F-FE1C-4415-C2DFE8541DE1}"/>
                </a:ext>
              </a:extLst>
            </p:cNvPr>
            <p:cNvSpPr/>
            <p:nvPr/>
          </p:nvSpPr>
          <p:spPr>
            <a:xfrm>
              <a:off x="5593115" y="52575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45" name="TextBox 5">
              <a:extLst>
                <a:ext uri="{FF2B5EF4-FFF2-40B4-BE49-F238E27FC236}">
                  <a16:creationId xmlns="" xmlns:a16="http://schemas.microsoft.com/office/drawing/2014/main" id="{E601EEF9-98B3-9F64-F85F-07641BA1F0E3}"/>
                </a:ext>
              </a:extLst>
            </p:cNvPr>
            <p:cNvSpPr txBox="1"/>
            <p:nvPr/>
          </p:nvSpPr>
          <p:spPr>
            <a:xfrm>
              <a:off x="5124168" y="5502397"/>
              <a:ext cx="1210943" cy="523220"/>
            </a:xfrm>
            <a:prstGeom prst="rect">
              <a:avLst/>
            </a:prstGeom>
            <a:noFill/>
          </p:spPr>
          <p:txBody>
            <a:bodyPr wrap="square">
              <a:spAutoFit/>
            </a:bodyPr>
            <a:lstStyle/>
            <a:p>
              <a:pPr algn="ctr"/>
              <a:r>
                <a:rPr lang="en-US" sz="1400" dirty="0" err="1"/>
                <a:t>operação</a:t>
              </a:r>
              <a:r>
                <a:rPr lang="en-US" sz="1400" dirty="0"/>
                <a:t> </a:t>
              </a:r>
              <a:r>
                <a:rPr lang="en-US" sz="1400" dirty="0" err="1"/>
                <a:t>pontual</a:t>
              </a:r>
              <a:endParaRPr lang="en-US" sz="1400" dirty="0"/>
            </a:p>
          </p:txBody>
        </p:sp>
        <p:cxnSp>
          <p:nvCxnSpPr>
            <p:cNvPr id="46" name="Straight Connector 8">
              <a:extLst>
                <a:ext uri="{FF2B5EF4-FFF2-40B4-BE49-F238E27FC236}">
                  <a16:creationId xmlns="" xmlns:a16="http://schemas.microsoft.com/office/drawing/2014/main" id="{4CCF47AF-2D48-1D6C-D27B-0CC557A4D3BC}"/>
                </a:ext>
              </a:extLst>
            </p:cNvPr>
            <p:cNvCxnSpPr>
              <a:cxnSpLocks/>
            </p:cNvCxnSpPr>
            <p:nvPr/>
          </p:nvCxnSpPr>
          <p:spPr>
            <a:xfrm>
              <a:off x="6622280" y="5410207"/>
              <a:ext cx="576000"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0" name="TextBox 13">
              <a:extLst>
                <a:ext uri="{FF2B5EF4-FFF2-40B4-BE49-F238E27FC236}">
                  <a16:creationId xmlns="" xmlns:a16="http://schemas.microsoft.com/office/drawing/2014/main" id="{D4D46D6C-FBD0-36BF-A4A0-F0AA4C62BC59}"/>
                </a:ext>
              </a:extLst>
            </p:cNvPr>
            <p:cNvSpPr txBox="1"/>
            <p:nvPr/>
          </p:nvSpPr>
          <p:spPr>
            <a:xfrm>
              <a:off x="6259694" y="5500009"/>
              <a:ext cx="1210943" cy="523220"/>
            </a:xfrm>
            <a:prstGeom prst="rect">
              <a:avLst/>
            </a:prstGeom>
            <a:noFill/>
          </p:spPr>
          <p:txBody>
            <a:bodyPr wrap="square">
              <a:spAutoFit/>
            </a:bodyPr>
            <a:lstStyle/>
            <a:p>
              <a:pPr algn="ctr"/>
              <a:r>
                <a:rPr lang="en-US" sz="1400" dirty="0" err="1"/>
                <a:t>transferência</a:t>
              </a:r>
              <a:r>
                <a:rPr lang="en-US" sz="1400" dirty="0"/>
                <a:t> de </a:t>
              </a:r>
              <a:r>
                <a:rPr lang="en-US" sz="1400" dirty="0" err="1"/>
                <a:t>vetor</a:t>
              </a:r>
              <a:endParaRPr lang="en-US" sz="1400" dirty="0"/>
            </a:p>
          </p:txBody>
        </p:sp>
        <p:cxnSp>
          <p:nvCxnSpPr>
            <p:cNvPr id="51" name="Straight Connector 17">
              <a:extLst>
                <a:ext uri="{FF2B5EF4-FFF2-40B4-BE49-F238E27FC236}">
                  <a16:creationId xmlns="" xmlns:a16="http://schemas.microsoft.com/office/drawing/2014/main" id="{87FE6DA6-5752-4BD9-4B22-C5A902BD5C6B}"/>
                </a:ext>
              </a:extLst>
            </p:cNvPr>
            <p:cNvCxnSpPr>
              <a:cxnSpLocks/>
            </p:cNvCxnSpPr>
            <p:nvPr/>
          </p:nvCxnSpPr>
          <p:spPr>
            <a:xfrm>
              <a:off x="7856076" y="5410207"/>
              <a:ext cx="576000"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53" name="Straight Connector 20">
              <a:extLst>
                <a:ext uri="{FF2B5EF4-FFF2-40B4-BE49-F238E27FC236}">
                  <a16:creationId xmlns="" xmlns:a16="http://schemas.microsoft.com/office/drawing/2014/main" id="{4AA379DA-FDF4-4C2E-212F-301E5D1A6625}"/>
                </a:ext>
              </a:extLst>
            </p:cNvPr>
            <p:cNvCxnSpPr/>
            <p:nvPr/>
          </p:nvCxnSpPr>
          <p:spPr>
            <a:xfrm>
              <a:off x="8119191" y="5403577"/>
              <a:ext cx="0" cy="29041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21">
              <a:extLst>
                <a:ext uri="{FF2B5EF4-FFF2-40B4-BE49-F238E27FC236}">
                  <a16:creationId xmlns="" xmlns:a16="http://schemas.microsoft.com/office/drawing/2014/main" id="{F2C1639E-62C8-EF4F-BC59-06D35F047F64}"/>
                </a:ext>
              </a:extLst>
            </p:cNvPr>
            <p:cNvSpPr txBox="1"/>
            <p:nvPr/>
          </p:nvSpPr>
          <p:spPr>
            <a:xfrm>
              <a:off x="7522813" y="5659293"/>
              <a:ext cx="1210943" cy="307777"/>
            </a:xfrm>
            <a:prstGeom prst="rect">
              <a:avLst/>
            </a:prstGeom>
            <a:noFill/>
          </p:spPr>
          <p:txBody>
            <a:bodyPr wrap="square">
              <a:spAutoFit/>
            </a:bodyPr>
            <a:lstStyle/>
            <a:p>
              <a:pPr algn="ctr"/>
              <a:r>
                <a:rPr lang="en-US" sz="1400" dirty="0" err="1"/>
                <a:t>concatenação</a:t>
              </a:r>
              <a:endParaRPr lang="en-US" sz="1400" dirty="0"/>
            </a:p>
          </p:txBody>
        </p:sp>
        <p:cxnSp>
          <p:nvCxnSpPr>
            <p:cNvPr id="55" name="Straight Connector 22">
              <a:extLst>
                <a:ext uri="{FF2B5EF4-FFF2-40B4-BE49-F238E27FC236}">
                  <a16:creationId xmlns="" xmlns:a16="http://schemas.microsoft.com/office/drawing/2014/main" id="{456BE94A-7B45-0DB7-05F1-86A17C409BD0}"/>
                </a:ext>
              </a:extLst>
            </p:cNvPr>
            <p:cNvCxnSpPr>
              <a:cxnSpLocks/>
            </p:cNvCxnSpPr>
            <p:nvPr/>
          </p:nvCxnSpPr>
          <p:spPr>
            <a:xfrm>
              <a:off x="9014812" y="5658989"/>
              <a:ext cx="576000"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56" name="Straight Connector 23">
              <a:extLst>
                <a:ext uri="{FF2B5EF4-FFF2-40B4-BE49-F238E27FC236}">
                  <a16:creationId xmlns="" xmlns:a16="http://schemas.microsoft.com/office/drawing/2014/main" id="{0868D48C-258F-30A1-C079-D3E227346BD5}"/>
                </a:ext>
              </a:extLst>
            </p:cNvPr>
            <p:cNvCxnSpPr/>
            <p:nvPr/>
          </p:nvCxnSpPr>
          <p:spPr>
            <a:xfrm>
              <a:off x="9277866" y="5354802"/>
              <a:ext cx="0" cy="290413"/>
            </a:xfrm>
            <a:prstGeom prst="line">
              <a:avLst/>
            </a:prstGeom>
            <a:ln w="1905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58" name="TextBox 24">
              <a:extLst>
                <a:ext uri="{FF2B5EF4-FFF2-40B4-BE49-F238E27FC236}">
                  <a16:creationId xmlns="" xmlns:a16="http://schemas.microsoft.com/office/drawing/2014/main" id="{82CB8A93-557A-5259-EB5A-85D7D4D96AD1}"/>
                </a:ext>
              </a:extLst>
            </p:cNvPr>
            <p:cNvSpPr txBox="1"/>
            <p:nvPr/>
          </p:nvSpPr>
          <p:spPr>
            <a:xfrm>
              <a:off x="8649245" y="5650622"/>
              <a:ext cx="1210943" cy="307777"/>
            </a:xfrm>
            <a:prstGeom prst="rect">
              <a:avLst/>
            </a:prstGeom>
            <a:noFill/>
          </p:spPr>
          <p:txBody>
            <a:bodyPr wrap="square">
              <a:spAutoFit/>
            </a:bodyPr>
            <a:lstStyle/>
            <a:p>
              <a:pPr algn="ctr"/>
              <a:r>
                <a:rPr lang="en-US" sz="1400" dirty="0" err="1"/>
                <a:t>cópia</a:t>
              </a:r>
              <a:endParaRPr lang="en-US" sz="1400" dirty="0"/>
            </a:p>
          </p:txBody>
        </p:sp>
        <p:sp>
          <p:nvSpPr>
            <p:cNvPr id="59" name="Rectangle 37">
              <a:extLst>
                <a:ext uri="{FF2B5EF4-FFF2-40B4-BE49-F238E27FC236}">
                  <a16:creationId xmlns="" xmlns:a16="http://schemas.microsoft.com/office/drawing/2014/main" id="{8A9D5604-42D8-94B0-F0FA-40F8A5FE0687}"/>
                </a:ext>
              </a:extLst>
            </p:cNvPr>
            <p:cNvSpPr/>
            <p:nvPr/>
          </p:nvSpPr>
          <p:spPr>
            <a:xfrm>
              <a:off x="4248413" y="5252389"/>
              <a:ext cx="588587"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sz="1600" dirty="0" err="1">
                  <a:solidFill>
                    <a:schemeClr val="tx1"/>
                  </a:solidFill>
                </a:rPr>
                <a:t>tanh</a:t>
              </a:r>
              <a:endParaRPr lang="en-US" sz="1000" dirty="0">
                <a:solidFill>
                  <a:schemeClr val="tx1"/>
                </a:solidFill>
              </a:endParaRPr>
            </a:p>
          </p:txBody>
        </p:sp>
        <p:sp>
          <p:nvSpPr>
            <p:cNvPr id="60" name="TextBox 39">
              <a:extLst>
                <a:ext uri="{FF2B5EF4-FFF2-40B4-BE49-F238E27FC236}">
                  <a16:creationId xmlns="" xmlns:a16="http://schemas.microsoft.com/office/drawing/2014/main" id="{36895CF3-782C-C5FB-0D92-D28EF588D039}"/>
                </a:ext>
              </a:extLst>
            </p:cNvPr>
            <p:cNvSpPr txBox="1"/>
            <p:nvPr/>
          </p:nvSpPr>
          <p:spPr>
            <a:xfrm>
              <a:off x="3592695" y="5550261"/>
              <a:ext cx="1705021" cy="523220"/>
            </a:xfrm>
            <a:prstGeom prst="rect">
              <a:avLst/>
            </a:prstGeom>
            <a:noFill/>
          </p:spPr>
          <p:txBody>
            <a:bodyPr wrap="square" rtlCol="0">
              <a:spAutoFit/>
            </a:bodyPr>
            <a:lstStyle/>
            <a:p>
              <a:pPr algn="ctr"/>
              <a:r>
                <a:rPr lang="pt-BR" sz="1400" dirty="0"/>
                <a:t>Camada densa com ativação </a:t>
              </a:r>
              <a:r>
                <a:rPr lang="pt-BR" sz="1400" dirty="0" err="1"/>
                <a:t>tanh</a:t>
              </a:r>
              <a:endParaRPr lang="en-US" sz="1400" dirty="0"/>
            </a:p>
          </p:txBody>
        </p:sp>
      </p:grpSp>
    </p:spTree>
    <p:extLst>
      <p:ext uri="{BB962C8B-B14F-4D97-AF65-F5344CB8AC3E}">
        <p14:creationId xmlns:p14="http://schemas.microsoft.com/office/powerpoint/2010/main" val="241436747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8D4EC042-7CB7-B389-4F07-73C2D81EF70E}"/>
            </a:ext>
          </a:extLst>
        </p:cNvPr>
        <p:cNvGrpSpPr/>
        <p:nvPr/>
      </p:nvGrpSpPr>
      <p:grpSpPr>
        <a:xfrm>
          <a:off x="0" y="0"/>
          <a:ext cx="0" cy="0"/>
          <a:chOff x="0" y="0"/>
          <a:chExt cx="0" cy="0"/>
        </a:xfrm>
      </p:grpSpPr>
      <p:grpSp>
        <p:nvGrpSpPr>
          <p:cNvPr id="43" name="Group 42">
            <a:extLst>
              <a:ext uri="{FF2B5EF4-FFF2-40B4-BE49-F238E27FC236}">
                <a16:creationId xmlns="" xmlns:a16="http://schemas.microsoft.com/office/drawing/2014/main" id="{62617247-07D2-6657-99D1-398FE3BE06C0}"/>
              </a:ext>
            </a:extLst>
          </p:cNvPr>
          <p:cNvGrpSpPr/>
          <p:nvPr/>
        </p:nvGrpSpPr>
        <p:grpSpPr>
          <a:xfrm>
            <a:off x="3489806" y="1834844"/>
            <a:ext cx="5319746" cy="3227138"/>
            <a:chOff x="3489806" y="1834844"/>
            <a:chExt cx="5319746" cy="3227138"/>
          </a:xfrm>
        </p:grpSpPr>
        <p:sp>
          <p:nvSpPr>
            <p:cNvPr id="39" name="Rectangle: Rounded Corners 38">
              <a:extLst>
                <a:ext uri="{FF2B5EF4-FFF2-40B4-BE49-F238E27FC236}">
                  <a16:creationId xmlns="" xmlns:a16="http://schemas.microsoft.com/office/drawing/2014/main" id="{F9B84FA2-83D7-7AD8-9610-5A415E5EE1A1}"/>
                </a:ext>
              </a:extLst>
            </p:cNvPr>
            <p:cNvSpPr/>
            <p:nvPr/>
          </p:nvSpPr>
          <p:spPr>
            <a:xfrm>
              <a:off x="4301176" y="2438400"/>
              <a:ext cx="3522024" cy="1981200"/>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8" name="Rectangle 7">
                  <a:extLst>
                    <a:ext uri="{FF2B5EF4-FFF2-40B4-BE49-F238E27FC236}">
                      <a16:creationId xmlns="" xmlns:a16="http://schemas.microsoft.com/office/drawing/2014/main" id="{62E9A632-1F8F-BB2C-9A7A-07DEA62B46A1}"/>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62E9A632-1F8F-BB2C-9A7A-07DEA62B46A1}"/>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Rectangle 9">
                  <a:extLst>
                    <a:ext uri="{FF2B5EF4-FFF2-40B4-BE49-F238E27FC236}">
                      <a16:creationId xmlns="" xmlns:a16="http://schemas.microsoft.com/office/drawing/2014/main" id="{9B13C382-E365-0604-E2B1-4396795DE5DD}"/>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9B13C382-E365-0604-E2B1-4396795DE5DD}"/>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Rectangle 10">
                  <a:extLst>
                    <a:ext uri="{FF2B5EF4-FFF2-40B4-BE49-F238E27FC236}">
                      <a16:creationId xmlns="" xmlns:a16="http://schemas.microsoft.com/office/drawing/2014/main" id="{28298EA5-A736-9895-9469-3658052D65D0}"/>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28298EA5-A736-9895-9469-3658052D65D0}"/>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5"/>
                  <a:stretch>
                    <a:fillRect/>
                  </a:stretch>
                </a:blipFill>
              </p:spPr>
              <p:txBody>
                <a:bodyPr/>
                <a:lstStyle/>
                <a:p>
                  <a:r>
                    <a:rPr lang="en-US">
                      <a:noFill/>
                    </a:rPr>
                    <a:t> </a:t>
                  </a:r>
                </a:p>
              </p:txBody>
            </p:sp>
          </mc:Fallback>
        </mc:AlternateContent>
        <p:sp>
          <p:nvSpPr>
            <p:cNvPr id="12" name="Rectangle 11">
              <a:extLst>
                <a:ext uri="{FF2B5EF4-FFF2-40B4-BE49-F238E27FC236}">
                  <a16:creationId xmlns="" xmlns:a16="http://schemas.microsoft.com/office/drawing/2014/main" id="{FE2E3973-7BB3-5423-9E41-4A439D4AD2FA}"/>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err="1">
                  <a:solidFill>
                    <a:schemeClr val="tx1"/>
                  </a:solidFill>
                </a:rPr>
                <a:t>tanh</a:t>
              </a:r>
              <a:endParaRPr lang="en-US" dirty="0">
                <a:solidFill>
                  <a:schemeClr val="tx1"/>
                </a:solidFill>
              </a:endParaRPr>
            </a:p>
          </p:txBody>
        </p:sp>
        <p:grpSp>
          <p:nvGrpSpPr>
            <p:cNvPr id="16" name="Group 15">
              <a:extLst>
                <a:ext uri="{FF2B5EF4-FFF2-40B4-BE49-F238E27FC236}">
                  <a16:creationId xmlns="" xmlns:a16="http://schemas.microsoft.com/office/drawing/2014/main" id="{357EC369-9B76-A27D-EDC3-890F0716751F}"/>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 xmlns:a16="http://schemas.microsoft.com/office/drawing/2014/main" id="{1105FA2D-CACC-93FD-8147-BCE771CE8357}"/>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 xmlns:a16="http://schemas.microsoft.com/office/drawing/2014/main" id="{007EE48F-7B86-5BD2-1F8C-469594A636F0}"/>
                  </a:ext>
                </a:extLst>
              </p:cNvPr>
              <p:cNvSpPr txBox="1"/>
              <p:nvPr/>
            </p:nvSpPr>
            <p:spPr>
              <a:xfrm>
                <a:off x="6108701" y="2910505"/>
                <a:ext cx="627148" cy="369332"/>
              </a:xfrm>
              <a:prstGeom prst="rect">
                <a:avLst/>
              </a:prstGeom>
              <a:noFill/>
            </p:spPr>
            <p:txBody>
              <a:bodyPr wrap="square">
                <a:spAutoFit/>
              </a:bodyPr>
              <a:lstStyle/>
              <a:p>
                <a:pPr algn="ctr"/>
                <a:r>
                  <a:rPr lang="pt-BR" dirty="0" err="1">
                    <a:solidFill>
                      <a:schemeClr val="tx1"/>
                    </a:solidFill>
                  </a:rPr>
                  <a:t>tanh</a:t>
                </a:r>
                <a:endParaRPr lang="en-US" dirty="0">
                  <a:solidFill>
                    <a:schemeClr val="tx1"/>
                  </a:solidFill>
                </a:endParaRPr>
              </a:p>
            </p:txBody>
          </p:sp>
        </p:grpSp>
        <p:sp>
          <p:nvSpPr>
            <p:cNvPr id="17" name="Oval 16">
              <a:extLst>
                <a:ext uri="{FF2B5EF4-FFF2-40B4-BE49-F238E27FC236}">
                  <a16:creationId xmlns="" xmlns:a16="http://schemas.microsoft.com/office/drawing/2014/main" id="{734FE972-9F06-C11C-3F53-9D4666EC5095}"/>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20" name="Straight Arrow Connector 19">
              <a:extLst>
                <a:ext uri="{FF2B5EF4-FFF2-40B4-BE49-F238E27FC236}">
                  <a16:creationId xmlns="" xmlns:a16="http://schemas.microsoft.com/office/drawing/2014/main" id="{EA318A7D-6AD1-A164-9144-BD5F28A4E7B7}"/>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0" name="Connector: Elbow 29">
              <a:extLst>
                <a:ext uri="{FF2B5EF4-FFF2-40B4-BE49-F238E27FC236}">
                  <a16:creationId xmlns="" xmlns:a16="http://schemas.microsoft.com/office/drawing/2014/main" id="{AE5B4441-DF89-25A1-3560-8E5404670E96}"/>
                </a:ext>
              </a:extLst>
            </p:cNvPr>
            <p:cNvCxnSpPr>
              <a:cxnSpLocks/>
              <a:endCxn id="11" idx="2"/>
            </p:cNvCxnSpPr>
            <p:nvPr/>
          </p:nvCxnSpPr>
          <p:spPr>
            <a:xfrm flipV="1">
              <a:off x="4031369" y="4036770"/>
              <a:ext cx="2675053" cy="214575"/>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 xmlns:a16="http://schemas.microsoft.com/office/drawing/2014/main" id="{0093E439-25EF-02C4-D9C2-A1FE29C3AD6E}"/>
                </a:ext>
              </a:extLst>
            </p:cNvPr>
            <p:cNvCxnSpPr>
              <a:cxnSpLocks/>
            </p:cNvCxnSpPr>
            <p:nvPr/>
          </p:nvCxnSpPr>
          <p:spPr>
            <a:xfrm>
              <a:off x="4724460" y="4033974"/>
              <a:ext cx="0" cy="211613"/>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35" name="Straight Connector 34">
              <a:extLst>
                <a:ext uri="{FF2B5EF4-FFF2-40B4-BE49-F238E27FC236}">
                  <a16:creationId xmlns="" xmlns:a16="http://schemas.microsoft.com/office/drawing/2014/main" id="{A60E907D-7CA5-2C6C-E31F-2F003AE9D096}"/>
                </a:ext>
              </a:extLst>
            </p:cNvPr>
            <p:cNvCxnSpPr>
              <a:cxnSpLocks/>
            </p:cNvCxnSpPr>
            <p:nvPr/>
          </p:nvCxnSpPr>
          <p:spPr>
            <a:xfrm>
              <a:off x="5283260" y="4033974"/>
              <a:ext cx="0" cy="211613"/>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 xmlns:a16="http://schemas.microsoft.com/office/drawing/2014/main" id="{137E1A15-7B2A-4277-FFA1-74355E9235EA}"/>
                </a:ext>
              </a:extLst>
            </p:cNvPr>
            <p:cNvCxnSpPr>
              <a:cxnSpLocks/>
            </p:cNvCxnSpPr>
            <p:nvPr/>
          </p:nvCxnSpPr>
          <p:spPr>
            <a:xfrm>
              <a:off x="5988110" y="4033974"/>
              <a:ext cx="0" cy="211613"/>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sp>
          <p:nvSpPr>
            <p:cNvPr id="37" name="Oval 36">
              <a:extLst>
                <a:ext uri="{FF2B5EF4-FFF2-40B4-BE49-F238E27FC236}">
                  <a16:creationId xmlns="" xmlns:a16="http://schemas.microsoft.com/office/drawing/2014/main" id="{D93AEA26-EC0B-1E3E-D68C-6CE9227A173D}"/>
                </a:ext>
              </a:extLst>
            </p:cNvPr>
            <p:cNvSpPr/>
            <p:nvPr/>
          </p:nvSpPr>
          <p:spPr>
            <a:xfrm>
              <a:off x="5856481"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47" name="Straight Arrow Connector 46">
              <a:extLst>
                <a:ext uri="{FF2B5EF4-FFF2-40B4-BE49-F238E27FC236}">
                  <a16:creationId xmlns="" xmlns:a16="http://schemas.microsoft.com/office/drawing/2014/main" id="{461F8C01-4628-007D-8EE8-08D26131E8B9}"/>
                </a:ext>
              </a:extLst>
            </p:cNvPr>
            <p:cNvCxnSpPr>
              <a:cxnSpLocks/>
              <a:stCxn id="12" idx="0"/>
              <a:endCxn id="37" idx="4"/>
            </p:cNvCxnSpPr>
            <p:nvPr/>
          </p:nvCxnSpPr>
          <p:spPr>
            <a:xfrm flipH="1" flipV="1">
              <a:off x="5993006" y="3602002"/>
              <a:ext cx="868" cy="1341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48" name="Oval 47">
              <a:extLst>
                <a:ext uri="{FF2B5EF4-FFF2-40B4-BE49-F238E27FC236}">
                  <a16:creationId xmlns="" xmlns:a16="http://schemas.microsoft.com/office/drawing/2014/main" id="{F5D0673A-6CCA-67DE-BB0A-0EAB5B641853}"/>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49" name="Straight Arrow Connector 48">
              <a:extLst>
                <a:ext uri="{FF2B5EF4-FFF2-40B4-BE49-F238E27FC236}">
                  <a16:creationId xmlns="" xmlns:a16="http://schemas.microsoft.com/office/drawing/2014/main" id="{34707AEE-8AB6-332F-D775-5D47B6EAB570}"/>
                </a:ext>
              </a:extLst>
            </p:cNvPr>
            <p:cNvCxnSpPr>
              <a:cxnSpLocks/>
              <a:stCxn id="37" idx="0"/>
              <a:endCxn id="48" idx="4"/>
            </p:cNvCxnSpPr>
            <p:nvPr/>
          </p:nvCxnSpPr>
          <p:spPr>
            <a:xfrm flipH="1" flipV="1">
              <a:off x="5989666" y="2853476"/>
              <a:ext cx="3340" cy="4754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 xmlns:a16="http://schemas.microsoft.com/office/drawing/2014/main" id="{E3FDEDCE-1E3B-8147-4D13-A242E9C2B33E}"/>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 xmlns:a16="http://schemas.microsoft.com/office/drawing/2014/main" id="{06E60737-7998-C245-9FB1-6B1755A8F205}"/>
                </a:ext>
              </a:extLst>
            </p:cNvPr>
            <p:cNvCxnSpPr>
              <a:cxnSpLocks/>
            </p:cNvCxnSpPr>
            <p:nvPr/>
          </p:nvCxnSpPr>
          <p:spPr>
            <a:xfrm flipH="1" flipV="1">
              <a:off x="7236075" y="3192538"/>
              <a:ext cx="625" cy="144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64" name="Straight Connector 63">
              <a:extLst>
                <a:ext uri="{FF2B5EF4-FFF2-40B4-BE49-F238E27FC236}">
                  <a16:creationId xmlns="" xmlns:a16="http://schemas.microsoft.com/office/drawing/2014/main" id="{FE690B6A-0885-819C-6118-6C7D093B193B}"/>
                </a:ext>
              </a:extLst>
            </p:cNvPr>
            <p:cNvCxnSpPr>
              <a:cxnSpLocks/>
              <a:endCxn id="17" idx="2"/>
            </p:cNvCxnSpPr>
            <p:nvPr/>
          </p:nvCxnSpPr>
          <p:spPr>
            <a:xfrm flipV="1">
              <a:off x="4012696" y="2715788"/>
              <a:ext cx="575239" cy="168"/>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 xmlns:a16="http://schemas.microsoft.com/office/drawing/2014/main" id="{4E0DA3A1-C433-12FD-E043-1BB3EB5D0076}"/>
                </a:ext>
              </a:extLst>
            </p:cNvPr>
            <p:cNvCxnSpPr>
              <a:cxnSpLocks/>
              <a:stCxn id="17" idx="6"/>
              <a:endCxn id="48" idx="2"/>
            </p:cNvCxnSpPr>
            <p:nvPr/>
          </p:nvCxnSpPr>
          <p:spPr>
            <a:xfrm>
              <a:off x="4860985" y="2715788"/>
              <a:ext cx="992156"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1" name="Straight Connector 70">
              <a:extLst>
                <a:ext uri="{FF2B5EF4-FFF2-40B4-BE49-F238E27FC236}">
                  <a16:creationId xmlns="" xmlns:a16="http://schemas.microsoft.com/office/drawing/2014/main" id="{A63A645C-4CC1-5896-32E8-305EA54E21C7}"/>
                </a:ext>
              </a:extLst>
            </p:cNvPr>
            <p:cNvCxnSpPr>
              <a:cxnSpLocks/>
            </p:cNvCxnSpPr>
            <p:nvPr/>
          </p:nvCxnSpPr>
          <p:spPr>
            <a:xfrm>
              <a:off x="6126191" y="2715788"/>
              <a:ext cx="1980000"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 xmlns:a16="http://schemas.microsoft.com/office/drawing/2014/main" id="{C7FF5E71-FB7D-9609-3FC5-AD13B5F1C319}"/>
                </a:ext>
              </a:extLst>
            </p:cNvPr>
            <p:cNvCxnSpPr>
              <a:cxnSpLocks/>
            </p:cNvCxnSpPr>
            <p:nvPr/>
          </p:nvCxnSpPr>
          <p:spPr>
            <a:xfrm flipH="1" flipV="1">
              <a:off x="7232357" y="2715838"/>
              <a:ext cx="625" cy="180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78" name="Connector: Elbow 77">
              <a:extLst>
                <a:ext uri="{FF2B5EF4-FFF2-40B4-BE49-F238E27FC236}">
                  <a16:creationId xmlns="" xmlns:a16="http://schemas.microsoft.com/office/drawing/2014/main" id="{942AD4B1-3DFB-E8BA-0218-D9E850190EBC}"/>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 xmlns:a16="http://schemas.microsoft.com/office/drawing/2014/main" id="{4D8692E4-6CA5-D2CA-A76D-73771408476E}"/>
                </a:ext>
              </a:extLst>
            </p:cNvPr>
            <p:cNvCxnSpPr>
              <a:stCxn id="10" idx="0"/>
              <a:endCxn id="37" idx="2"/>
            </p:cNvCxnSpPr>
            <p:nvPr/>
          </p:nvCxnSpPr>
          <p:spPr>
            <a:xfrm rot="5400000" flipH="1" flipV="1">
              <a:off x="5437228" y="3316849"/>
              <a:ext cx="2706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 xmlns:a16="http://schemas.microsoft.com/office/drawing/2014/main" id="{9FE0230A-FA48-1674-EE72-563556A3AD37}"/>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 xmlns:a16="http://schemas.microsoft.com/office/drawing/2014/main" id="{DD806146-5F28-31BB-C91D-206A9C7C1949}"/>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3" name="Straight Arrow Connector 92">
              <a:extLst>
                <a:ext uri="{FF2B5EF4-FFF2-40B4-BE49-F238E27FC236}">
                  <a16:creationId xmlns="" xmlns:a16="http://schemas.microsoft.com/office/drawing/2014/main" id="{97AFC188-C5E0-E364-C3F7-EF901703C4F5}"/>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 xmlns:a16="http://schemas.microsoft.com/office/drawing/2014/main" id="{5C32825B-E0C6-9CDA-AFFC-FEF61AC5A16D}"/>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 xmlns:a16="http://schemas.microsoft.com/office/drawing/2014/main" id="{CE32A260-F120-9DD1-2C21-2F72B830F80E}"/>
                    </a:ext>
                  </a:extLst>
                </p:cNvPr>
                <p:cNvSpPr txBox="1"/>
                <p:nvPr/>
              </p:nvSpPr>
              <p:spPr>
                <a:xfrm>
                  <a:off x="3582865" y="4033974"/>
                  <a:ext cx="432000"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7" name="TextBox 6">
                  <a:extLst>
                    <a:ext uri="{FF2B5EF4-FFF2-40B4-BE49-F238E27FC236}">
                      <a16:creationId xmlns:a16="http://schemas.microsoft.com/office/drawing/2014/main" id="{CE32A260-F120-9DD1-2C21-2F72B830F80E}"/>
                    </a:ext>
                  </a:extLst>
                </p:cNvPr>
                <p:cNvSpPr txBox="1">
                  <a:spLocks noRot="1" noChangeAspect="1" noMove="1" noResize="1" noEditPoints="1" noAdjustHandles="1" noChangeArrowheads="1" noChangeShapeType="1" noTextEdit="1"/>
                </p:cNvSpPr>
                <p:nvPr/>
              </p:nvSpPr>
              <p:spPr>
                <a:xfrm>
                  <a:off x="3582865" y="4033974"/>
                  <a:ext cx="432000" cy="369332"/>
                </a:xfrm>
                <a:prstGeom prst="rect">
                  <a:avLst/>
                </a:prstGeom>
                <a:blipFill>
                  <a:blip r:embed="rId6"/>
                  <a:stretch>
                    <a:fillRect l="-28169" r="-563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 xmlns:a16="http://schemas.microsoft.com/office/drawing/2014/main" id="{CB757A62-58FF-F46D-A7A5-BC95B2F299AF}"/>
                    </a:ext>
                  </a:extLst>
                </p:cNvPr>
                <p:cNvSpPr txBox="1"/>
                <p:nvPr/>
              </p:nvSpPr>
              <p:spPr>
                <a:xfrm>
                  <a:off x="8030169" y="2525610"/>
                  <a:ext cx="589341"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a16="http://schemas.microsoft.com/office/drawing/2014/main" id="{CB757A62-58FF-F46D-A7A5-BC95B2F299AF}"/>
                    </a:ext>
                  </a:extLst>
                </p:cNvPr>
                <p:cNvSpPr txBox="1">
                  <a:spLocks noRot="1" noChangeAspect="1" noMove="1" noResize="1" noEditPoints="1" noAdjustHandles="1" noChangeArrowheads="1" noChangeShapeType="1" noTextEdit="1"/>
                </p:cNvSpPr>
                <p:nvPr/>
              </p:nvSpPr>
              <p:spPr>
                <a:xfrm>
                  <a:off x="8030169" y="2525610"/>
                  <a:ext cx="589341"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 xmlns:a16="http://schemas.microsoft.com/office/drawing/2014/main" id="{B53DAB36-7F1E-A38E-607F-E5656744709C}"/>
                    </a:ext>
                  </a:extLst>
                </p:cNvPr>
                <p:cNvSpPr txBox="1"/>
                <p:nvPr/>
              </p:nvSpPr>
              <p:spPr>
                <a:xfrm>
                  <a:off x="7229557" y="1834844"/>
                  <a:ext cx="885222"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29" name="TextBox 28">
                  <a:extLst>
                    <a:ext uri="{FF2B5EF4-FFF2-40B4-BE49-F238E27FC236}">
                      <a16:creationId xmlns:a16="http://schemas.microsoft.com/office/drawing/2014/main" id="{B53DAB36-7F1E-A38E-607F-E5656744709C}"/>
                    </a:ext>
                  </a:extLst>
                </p:cNvPr>
                <p:cNvSpPr txBox="1">
                  <a:spLocks noRot="1" noChangeAspect="1" noMove="1" noResize="1" noEditPoints="1" noAdjustHandles="1" noChangeArrowheads="1" noChangeShapeType="1" noTextEdit="1"/>
                </p:cNvSpPr>
                <p:nvPr/>
              </p:nvSpPr>
              <p:spPr>
                <a:xfrm>
                  <a:off x="7229557" y="1834844"/>
                  <a:ext cx="88522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 xmlns:a16="http://schemas.microsoft.com/office/drawing/2014/main" id="{D5B871EC-42BA-BC5E-43FA-B2D29508EEFD}"/>
                    </a:ext>
                  </a:extLst>
                </p:cNvPr>
                <p:cNvSpPr txBox="1"/>
                <p:nvPr/>
              </p:nvSpPr>
              <p:spPr>
                <a:xfrm>
                  <a:off x="3489806" y="2511465"/>
                  <a:ext cx="591877"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31" name="TextBox 30">
                  <a:extLst>
                    <a:ext uri="{FF2B5EF4-FFF2-40B4-BE49-F238E27FC236}">
                      <a16:creationId xmlns:a16="http://schemas.microsoft.com/office/drawing/2014/main" id="{D5B871EC-42BA-BC5E-43FA-B2D29508EEFD}"/>
                    </a:ext>
                  </a:extLst>
                </p:cNvPr>
                <p:cNvSpPr txBox="1">
                  <a:spLocks noRot="1" noChangeAspect="1" noMove="1" noResize="1" noEditPoints="1" noAdjustHandles="1" noChangeArrowheads="1" noChangeShapeType="1" noTextEdit="1"/>
                </p:cNvSpPr>
                <p:nvPr/>
              </p:nvSpPr>
              <p:spPr>
                <a:xfrm>
                  <a:off x="3489806" y="2511465"/>
                  <a:ext cx="591877"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 xmlns:a16="http://schemas.microsoft.com/office/drawing/2014/main" id="{B05700EA-ADF6-1501-A886-A487A7F4F0DF}"/>
                    </a:ext>
                  </a:extLst>
                </p:cNvPr>
                <p:cNvSpPr txBox="1"/>
                <p:nvPr/>
              </p:nvSpPr>
              <p:spPr>
                <a:xfrm>
                  <a:off x="7924330" y="4057288"/>
                  <a:ext cx="885222"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26" name="TextBox 25">
                  <a:extLst>
                    <a:ext uri="{FF2B5EF4-FFF2-40B4-BE49-F238E27FC236}">
                      <a16:creationId xmlns:a16="http://schemas.microsoft.com/office/drawing/2014/main" id="{B05700EA-ADF6-1501-A886-A487A7F4F0DF}"/>
                    </a:ext>
                  </a:extLst>
                </p:cNvPr>
                <p:cNvSpPr txBox="1">
                  <a:spLocks noRot="1" noChangeAspect="1" noMove="1" noResize="1" noEditPoints="1" noAdjustHandles="1" noChangeArrowheads="1" noChangeShapeType="1" noTextEdit="1"/>
                </p:cNvSpPr>
                <p:nvPr/>
              </p:nvSpPr>
              <p:spPr>
                <a:xfrm>
                  <a:off x="7924330" y="4057288"/>
                  <a:ext cx="885222" cy="369332"/>
                </a:xfrm>
                <a:prstGeom prst="rect">
                  <a:avLst/>
                </a:prstGeom>
                <a:blipFill>
                  <a:blip r:embed="rId10"/>
                  <a:stretch>
                    <a:fillRect/>
                  </a:stretch>
                </a:blipFill>
              </p:spPr>
              <p:txBody>
                <a:bodyPr/>
                <a:lstStyle/>
                <a:p>
                  <a:r>
                    <a:rPr lang="en-US">
                      <a:noFill/>
                    </a:rPr>
                    <a:t> </a:t>
                  </a:r>
                </a:p>
              </p:txBody>
            </p:sp>
          </mc:Fallback>
        </mc:AlternateContent>
        <p:cxnSp>
          <p:nvCxnSpPr>
            <p:cNvPr id="34" name="Straight Connector 33">
              <a:extLst>
                <a:ext uri="{FF2B5EF4-FFF2-40B4-BE49-F238E27FC236}">
                  <a16:creationId xmlns="" xmlns:a16="http://schemas.microsoft.com/office/drawing/2014/main" id="{174094E0-AD46-6D7F-26FE-DF8481A5AC18}"/>
                </a:ext>
              </a:extLst>
            </p:cNvPr>
            <p:cNvCxnSpPr/>
            <p:nvPr/>
          </p:nvCxnSpPr>
          <p:spPr>
            <a:xfrm>
              <a:off x="4558205" y="4251345"/>
              <a:ext cx="0" cy="492105"/>
            </a:xfrm>
            <a:prstGeom prst="line">
              <a:avLst/>
            </a:prstGeom>
            <a:ln w="1905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1" name="TextBox 40">
                  <a:extLst>
                    <a:ext uri="{FF2B5EF4-FFF2-40B4-BE49-F238E27FC236}">
                      <a16:creationId xmlns="" xmlns:a16="http://schemas.microsoft.com/office/drawing/2014/main" id="{BABCE601-1CC7-DA51-8E3E-DB40B8174F54}"/>
                    </a:ext>
                  </a:extLst>
                </p:cNvPr>
                <p:cNvSpPr txBox="1"/>
                <p:nvPr/>
              </p:nvSpPr>
              <p:spPr>
                <a:xfrm>
                  <a:off x="4371935" y="4692650"/>
                  <a:ext cx="432000"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41" name="TextBox 40">
                  <a:extLst>
                    <a:ext uri="{FF2B5EF4-FFF2-40B4-BE49-F238E27FC236}">
                      <a16:creationId xmlns:a16="http://schemas.microsoft.com/office/drawing/2014/main" id="{BABCE601-1CC7-DA51-8E3E-DB40B8174F54}"/>
                    </a:ext>
                  </a:extLst>
                </p:cNvPr>
                <p:cNvSpPr txBox="1">
                  <a:spLocks noRot="1" noChangeAspect="1" noMove="1" noResize="1" noEditPoints="1" noAdjustHandles="1" noChangeArrowheads="1" noChangeShapeType="1" noTextEdit="1"/>
                </p:cNvSpPr>
                <p:nvPr/>
              </p:nvSpPr>
              <p:spPr>
                <a:xfrm>
                  <a:off x="4371935" y="4692650"/>
                  <a:ext cx="432000" cy="369332"/>
                </a:xfrm>
                <a:prstGeom prst="rect">
                  <a:avLst/>
                </a:prstGeom>
                <a:blipFill>
                  <a:blip r:embed="rId11"/>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1231970327"/>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6CEF7BC4-3994-CEE8-677F-0741A6B1A05B}"/>
            </a:ext>
          </a:extLst>
        </p:cNvPr>
        <p:cNvGrpSpPr/>
        <p:nvPr/>
      </p:nvGrpSpPr>
      <p:grpSpPr>
        <a:xfrm>
          <a:off x="0" y="0"/>
          <a:ext cx="0" cy="0"/>
          <a:chOff x="0" y="0"/>
          <a:chExt cx="0" cy="0"/>
        </a:xfrm>
      </p:grpSpPr>
      <p:grpSp>
        <p:nvGrpSpPr>
          <p:cNvPr id="91" name="Group 90">
            <a:extLst>
              <a:ext uri="{FF2B5EF4-FFF2-40B4-BE49-F238E27FC236}">
                <a16:creationId xmlns="" xmlns:a16="http://schemas.microsoft.com/office/drawing/2014/main" id="{259B7582-66CD-ED15-2ABE-5F4548CFEC4D}"/>
              </a:ext>
            </a:extLst>
          </p:cNvPr>
          <p:cNvGrpSpPr/>
          <p:nvPr/>
        </p:nvGrpSpPr>
        <p:grpSpPr>
          <a:xfrm>
            <a:off x="3387954" y="1841814"/>
            <a:ext cx="5133274" cy="3158904"/>
            <a:chOff x="3387954" y="1841814"/>
            <a:chExt cx="5133274" cy="3158904"/>
          </a:xfrm>
        </p:grpSpPr>
        <mc:AlternateContent xmlns:mc="http://schemas.openxmlformats.org/markup-compatibility/2006" xmlns:a14="http://schemas.microsoft.com/office/drawing/2010/main">
          <mc:Choice Requires="a14">
            <p:sp>
              <p:nvSpPr>
                <p:cNvPr id="41" name="TextBox 40">
                  <a:extLst>
                    <a:ext uri="{FF2B5EF4-FFF2-40B4-BE49-F238E27FC236}">
                      <a16:creationId xmlns="" xmlns:a16="http://schemas.microsoft.com/office/drawing/2014/main" id="{A3C354A2-1F93-E0BA-7BEB-1E8BB1A4752E}"/>
                    </a:ext>
                  </a:extLst>
                </p:cNvPr>
                <p:cNvSpPr txBox="1"/>
                <p:nvPr/>
              </p:nvSpPr>
              <p:spPr>
                <a:xfrm>
                  <a:off x="4348602" y="3074247"/>
                  <a:ext cx="41594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𝑓</m:t>
                            </m:r>
                          </m:e>
                          <m:sub>
                            <m:r>
                              <a:rPr lang="pt-BR" b="0" i="1" smtClean="0">
                                <a:latin typeface="Cambria Math" panose="02040503050406030204" pitchFamily="18" charset="0"/>
                              </a:rPr>
                              <m:t>𝑡</m:t>
                            </m:r>
                          </m:sub>
                        </m:sSub>
                      </m:oMath>
                    </m:oMathPara>
                  </a14:m>
                  <a:endParaRPr lang="en-US" dirty="0"/>
                </a:p>
              </p:txBody>
            </p:sp>
          </mc:Choice>
          <mc:Fallback xmlns="">
            <p:sp>
              <p:nvSpPr>
                <p:cNvPr id="41" name="TextBox 40">
                  <a:extLst>
                    <a:ext uri="{FF2B5EF4-FFF2-40B4-BE49-F238E27FC236}">
                      <a16:creationId xmlns:a16="http://schemas.microsoft.com/office/drawing/2014/main" id="{A3C354A2-1F93-E0BA-7BEB-1E8BB1A4752E}"/>
                    </a:ext>
                  </a:extLst>
                </p:cNvPr>
                <p:cNvSpPr txBox="1">
                  <a:spLocks noRot="1" noChangeAspect="1" noMove="1" noResize="1" noEditPoints="1" noAdjustHandles="1" noChangeArrowheads="1" noChangeShapeType="1" noTextEdit="1"/>
                </p:cNvSpPr>
                <p:nvPr/>
              </p:nvSpPr>
              <p:spPr>
                <a:xfrm>
                  <a:off x="4348602" y="3074247"/>
                  <a:ext cx="415947" cy="369332"/>
                </a:xfrm>
                <a:prstGeom prst="rect">
                  <a:avLst/>
                </a:prstGeom>
                <a:blipFill>
                  <a:blip r:embed="rId4"/>
                  <a:stretch>
                    <a:fillRect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8" name="TextBox 87">
                  <a:extLst>
                    <a:ext uri="{FF2B5EF4-FFF2-40B4-BE49-F238E27FC236}">
                      <a16:creationId xmlns="" xmlns:a16="http://schemas.microsoft.com/office/drawing/2014/main" id="{A1951F4B-38D3-1319-7B2A-ECDDFF348DBB}"/>
                    </a:ext>
                  </a:extLst>
                </p:cNvPr>
                <p:cNvSpPr txBox="1"/>
                <p:nvPr/>
              </p:nvSpPr>
              <p:spPr>
                <a:xfrm>
                  <a:off x="5341440" y="3053867"/>
                  <a:ext cx="39908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𝑖</m:t>
                            </m:r>
                          </m:e>
                          <m:sub>
                            <m:r>
                              <a:rPr lang="pt-BR" b="0" i="1" smtClean="0">
                                <a:latin typeface="Cambria Math" panose="02040503050406030204" pitchFamily="18" charset="0"/>
                              </a:rPr>
                              <m:t>𝑡</m:t>
                            </m:r>
                          </m:sub>
                        </m:sSub>
                      </m:oMath>
                    </m:oMathPara>
                  </a14:m>
                  <a:endParaRPr lang="en-US" dirty="0"/>
                </a:p>
              </p:txBody>
            </p:sp>
          </mc:Choice>
          <mc:Fallback xmlns="">
            <p:sp>
              <p:nvSpPr>
                <p:cNvPr id="88" name="TextBox 87">
                  <a:extLst>
                    <a:ext uri="{FF2B5EF4-FFF2-40B4-BE49-F238E27FC236}">
                      <a16:creationId xmlns:a16="http://schemas.microsoft.com/office/drawing/2014/main" id="{A1951F4B-38D3-1319-7B2A-ECDDFF348DBB}"/>
                    </a:ext>
                  </a:extLst>
                </p:cNvPr>
                <p:cNvSpPr txBox="1">
                  <a:spLocks noRot="1" noChangeAspect="1" noMove="1" noResize="1" noEditPoints="1" noAdjustHandles="1" noChangeArrowheads="1" noChangeShapeType="1" noTextEdit="1"/>
                </p:cNvSpPr>
                <p:nvPr/>
              </p:nvSpPr>
              <p:spPr>
                <a:xfrm>
                  <a:off x="5341440" y="3053867"/>
                  <a:ext cx="399084"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9" name="TextBox 88">
                  <a:extLst>
                    <a:ext uri="{FF2B5EF4-FFF2-40B4-BE49-F238E27FC236}">
                      <a16:creationId xmlns="" xmlns:a16="http://schemas.microsoft.com/office/drawing/2014/main" id="{106D3A33-618E-C1DA-5D91-C0E86025E614}"/>
                    </a:ext>
                  </a:extLst>
                </p:cNvPr>
                <p:cNvSpPr txBox="1"/>
                <p:nvPr/>
              </p:nvSpPr>
              <p:spPr>
                <a:xfrm>
                  <a:off x="6426038" y="3068367"/>
                  <a:ext cx="4414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𝑜</m:t>
                            </m:r>
                          </m:e>
                          <m:sub>
                            <m:r>
                              <a:rPr lang="pt-BR" b="0" i="1" smtClean="0">
                                <a:latin typeface="Cambria Math" panose="02040503050406030204" pitchFamily="18" charset="0"/>
                              </a:rPr>
                              <m:t>𝑡</m:t>
                            </m:r>
                          </m:sub>
                        </m:sSub>
                      </m:oMath>
                    </m:oMathPara>
                  </a14:m>
                  <a:endParaRPr lang="en-US" dirty="0"/>
                </a:p>
              </p:txBody>
            </p:sp>
          </mc:Choice>
          <mc:Fallback xmlns="">
            <p:sp>
              <p:nvSpPr>
                <p:cNvPr id="89" name="TextBox 88">
                  <a:extLst>
                    <a:ext uri="{FF2B5EF4-FFF2-40B4-BE49-F238E27FC236}">
                      <a16:creationId xmlns:a16="http://schemas.microsoft.com/office/drawing/2014/main" id="{106D3A33-618E-C1DA-5D91-C0E86025E614}"/>
                    </a:ext>
                  </a:extLst>
                </p:cNvPr>
                <p:cNvSpPr txBox="1">
                  <a:spLocks noRot="1" noChangeAspect="1" noMove="1" noResize="1" noEditPoints="1" noAdjustHandles="1" noChangeArrowheads="1" noChangeShapeType="1" noTextEdit="1"/>
                </p:cNvSpPr>
                <p:nvPr/>
              </p:nvSpPr>
              <p:spPr>
                <a:xfrm>
                  <a:off x="6426038" y="3068367"/>
                  <a:ext cx="441468"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0" name="TextBox 89">
                  <a:extLst>
                    <a:ext uri="{FF2B5EF4-FFF2-40B4-BE49-F238E27FC236}">
                      <a16:creationId xmlns="" xmlns:a16="http://schemas.microsoft.com/office/drawing/2014/main" id="{0AD91B46-B781-DC41-B1E1-4726FC1FB47E}"/>
                    </a:ext>
                  </a:extLst>
                </p:cNvPr>
                <p:cNvSpPr txBox="1"/>
                <p:nvPr/>
              </p:nvSpPr>
              <p:spPr>
                <a:xfrm>
                  <a:off x="6025977" y="3399083"/>
                  <a:ext cx="425501"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acc>
                              <m:accPr>
                                <m:chr m:val="̃"/>
                                <m:ctrlPr>
                                  <a:rPr lang="en-US" i="1">
                                    <a:latin typeface="Cambria Math" panose="02040503050406030204" pitchFamily="18" charset="0"/>
                                  </a:rPr>
                                </m:ctrlPr>
                              </m:accPr>
                              <m:e>
                                <m:r>
                                  <a:rPr lang="pt-BR" i="1">
                                    <a:latin typeface="Cambria Math" panose="02040503050406030204" pitchFamily="18" charset="0"/>
                                  </a:rPr>
                                  <m:t>𝑐</m:t>
                                </m:r>
                              </m:e>
                            </m:acc>
                          </m:e>
                          <m:sub>
                            <m:r>
                              <a:rPr lang="pt-BR" b="0" i="1" smtClean="0">
                                <a:latin typeface="Cambria Math" panose="02040503050406030204" pitchFamily="18" charset="0"/>
                              </a:rPr>
                              <m:t>𝑡</m:t>
                            </m:r>
                          </m:sub>
                        </m:sSub>
                      </m:oMath>
                    </m:oMathPara>
                  </a14:m>
                  <a:endParaRPr lang="en-US" dirty="0"/>
                </a:p>
              </p:txBody>
            </p:sp>
          </mc:Choice>
          <mc:Fallback xmlns="">
            <p:sp>
              <p:nvSpPr>
                <p:cNvPr id="90" name="TextBox 89">
                  <a:extLst>
                    <a:ext uri="{FF2B5EF4-FFF2-40B4-BE49-F238E27FC236}">
                      <a16:creationId xmlns:a16="http://schemas.microsoft.com/office/drawing/2014/main" id="{0AD91B46-B781-DC41-B1E1-4726FC1FB47E}"/>
                    </a:ext>
                  </a:extLst>
                </p:cNvPr>
                <p:cNvSpPr txBox="1">
                  <a:spLocks noRot="1" noChangeAspect="1" noMove="1" noResize="1" noEditPoints="1" noAdjustHandles="1" noChangeArrowheads="1" noChangeShapeType="1" noTextEdit="1"/>
                </p:cNvSpPr>
                <p:nvPr/>
              </p:nvSpPr>
              <p:spPr>
                <a:xfrm>
                  <a:off x="6025977" y="3399083"/>
                  <a:ext cx="425501" cy="369332"/>
                </a:xfrm>
                <a:prstGeom prst="rect">
                  <a:avLst/>
                </a:prstGeom>
                <a:blipFill>
                  <a:blip r:embed="rId7"/>
                  <a:stretch>
                    <a:fillRect r="-23188"/>
                  </a:stretch>
                </a:blipFill>
              </p:spPr>
              <p:txBody>
                <a:bodyPr/>
                <a:lstStyle/>
                <a:p>
                  <a:r>
                    <a:rPr lang="en-US">
                      <a:noFill/>
                    </a:rPr>
                    <a:t> </a:t>
                  </a:r>
                </a:p>
              </p:txBody>
            </p:sp>
          </mc:Fallback>
        </mc:AlternateContent>
        <p:cxnSp>
          <p:nvCxnSpPr>
            <p:cNvPr id="93" name="Straight Arrow Connector 92">
              <a:extLst>
                <a:ext uri="{FF2B5EF4-FFF2-40B4-BE49-F238E27FC236}">
                  <a16:creationId xmlns="" xmlns:a16="http://schemas.microsoft.com/office/drawing/2014/main" id="{23B5C879-86CF-1489-D983-F6C55915B102}"/>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 xmlns:a16="http://schemas.microsoft.com/office/drawing/2014/main" id="{59ED29A8-D33B-A9E0-6FB0-6DA35F11AA69}"/>
                </a:ext>
              </a:extLst>
            </p:cNvPr>
            <p:cNvCxnSpPr>
              <a:cxnSpLocks/>
            </p:cNvCxnSpPr>
            <p:nvPr/>
          </p:nvCxnSpPr>
          <p:spPr>
            <a:xfrm flipH="1" flipV="1">
              <a:off x="7232357" y="2715838"/>
              <a:ext cx="625" cy="180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 xmlns:a16="http://schemas.microsoft.com/office/drawing/2014/main" id="{C9ED7EA8-2248-C549-C0D3-4789E31F2198}"/>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8" name="Rectangle 7">
                  <a:extLst>
                    <a:ext uri="{FF2B5EF4-FFF2-40B4-BE49-F238E27FC236}">
                      <a16:creationId xmlns="" xmlns:a16="http://schemas.microsoft.com/office/drawing/2014/main" id="{F26C059A-6E06-5777-5754-23C200926D83}"/>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F26C059A-6E06-5777-5754-23C200926D83}"/>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Rectangle 9">
                  <a:extLst>
                    <a:ext uri="{FF2B5EF4-FFF2-40B4-BE49-F238E27FC236}">
                      <a16:creationId xmlns="" xmlns:a16="http://schemas.microsoft.com/office/drawing/2014/main" id="{D5E7D54C-7034-1BD8-63C6-5043FC65A28D}"/>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D5E7D54C-7034-1BD8-63C6-5043FC65A28D}"/>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Rectangle 10">
                  <a:extLst>
                    <a:ext uri="{FF2B5EF4-FFF2-40B4-BE49-F238E27FC236}">
                      <a16:creationId xmlns="" xmlns:a16="http://schemas.microsoft.com/office/drawing/2014/main" id="{177514C8-D2E4-86D6-AF82-FAF60A44C33A}"/>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177514C8-D2E4-86D6-AF82-FAF60A44C33A}"/>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10"/>
                  <a:stretch>
                    <a:fillRect/>
                  </a:stretch>
                </a:blipFill>
              </p:spPr>
              <p:txBody>
                <a:bodyPr/>
                <a:lstStyle/>
                <a:p>
                  <a:r>
                    <a:rPr lang="en-US">
                      <a:noFill/>
                    </a:rPr>
                    <a:t> </a:t>
                  </a:r>
                </a:p>
              </p:txBody>
            </p:sp>
          </mc:Fallback>
        </mc:AlternateContent>
        <p:sp>
          <p:nvSpPr>
            <p:cNvPr id="12" name="Rectangle 11">
              <a:extLst>
                <a:ext uri="{FF2B5EF4-FFF2-40B4-BE49-F238E27FC236}">
                  <a16:creationId xmlns="" xmlns:a16="http://schemas.microsoft.com/office/drawing/2014/main" id="{6F8531BB-5842-5BAF-1D3A-682398D284D2}"/>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err="1">
                  <a:solidFill>
                    <a:schemeClr val="tx1"/>
                  </a:solidFill>
                </a:rPr>
                <a:t>tanh</a:t>
              </a:r>
              <a:endParaRPr lang="en-US" dirty="0">
                <a:solidFill>
                  <a:schemeClr val="tx1"/>
                </a:solidFill>
              </a:endParaRPr>
            </a:p>
          </p:txBody>
        </p:sp>
        <p:grpSp>
          <p:nvGrpSpPr>
            <p:cNvPr id="16" name="Group 15">
              <a:extLst>
                <a:ext uri="{FF2B5EF4-FFF2-40B4-BE49-F238E27FC236}">
                  <a16:creationId xmlns="" xmlns:a16="http://schemas.microsoft.com/office/drawing/2014/main" id="{C7E17DBB-C7BC-494A-E992-8DE8D288F40F}"/>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 xmlns:a16="http://schemas.microsoft.com/office/drawing/2014/main" id="{9AE3C16C-5A7A-867F-EC09-5B9B011DE1C6}"/>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 xmlns:a16="http://schemas.microsoft.com/office/drawing/2014/main" id="{1D4D654B-F301-B853-EA77-8F8D3F0CAF86}"/>
                  </a:ext>
                </a:extLst>
              </p:cNvPr>
              <p:cNvSpPr txBox="1"/>
              <p:nvPr/>
            </p:nvSpPr>
            <p:spPr>
              <a:xfrm>
                <a:off x="6108701" y="2910505"/>
                <a:ext cx="627148" cy="369332"/>
              </a:xfrm>
              <a:prstGeom prst="rect">
                <a:avLst/>
              </a:prstGeom>
              <a:noFill/>
            </p:spPr>
            <p:txBody>
              <a:bodyPr wrap="square">
                <a:spAutoFit/>
              </a:bodyPr>
              <a:lstStyle/>
              <a:p>
                <a:pPr algn="ctr"/>
                <a:r>
                  <a:rPr lang="pt-BR" dirty="0" err="1">
                    <a:solidFill>
                      <a:schemeClr val="tx1"/>
                    </a:solidFill>
                  </a:rPr>
                  <a:t>tanh</a:t>
                </a:r>
                <a:endParaRPr lang="en-US" dirty="0">
                  <a:solidFill>
                    <a:schemeClr val="tx1"/>
                  </a:solidFill>
                </a:endParaRPr>
              </a:p>
            </p:txBody>
          </p:sp>
        </p:grpSp>
        <p:cxnSp>
          <p:nvCxnSpPr>
            <p:cNvPr id="20" name="Straight Arrow Connector 19">
              <a:extLst>
                <a:ext uri="{FF2B5EF4-FFF2-40B4-BE49-F238E27FC236}">
                  <a16:creationId xmlns="" xmlns:a16="http://schemas.microsoft.com/office/drawing/2014/main" id="{D2F697DC-DE68-5F5D-A5BE-F745A119CF71}"/>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0" name="Connector: Elbow 29">
              <a:extLst>
                <a:ext uri="{FF2B5EF4-FFF2-40B4-BE49-F238E27FC236}">
                  <a16:creationId xmlns="" xmlns:a16="http://schemas.microsoft.com/office/drawing/2014/main" id="{8BAC7E3D-1CA3-518E-DD58-B30975FF74A6}"/>
                </a:ext>
              </a:extLst>
            </p:cNvPr>
            <p:cNvCxnSpPr>
              <a:cxnSpLocks/>
              <a:endCxn id="11" idx="2"/>
            </p:cNvCxnSpPr>
            <p:nvPr/>
          </p:nvCxnSpPr>
          <p:spPr>
            <a:xfrm rot="5400000" flipH="1" flipV="1">
              <a:off x="5288165" y="3260341"/>
              <a:ext cx="641827" cy="2194687"/>
            </a:xfrm>
            <a:prstGeom prst="bentConnector3">
              <a:avLst>
                <a:gd name="adj1" fmla="val 67289"/>
              </a:avLst>
            </a:prstGeom>
            <a:ln w="19050"/>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 xmlns:a16="http://schemas.microsoft.com/office/drawing/2014/main" id="{B3565DE1-2C94-76FF-7E49-46F7EA406B1F}"/>
                </a:ext>
              </a:extLst>
            </p:cNvPr>
            <p:cNvCxnSpPr>
              <a:cxnSpLocks/>
            </p:cNvCxnSpPr>
            <p:nvPr/>
          </p:nvCxnSpPr>
          <p:spPr>
            <a:xfrm>
              <a:off x="47244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5" name="Straight Connector 34">
              <a:extLst>
                <a:ext uri="{FF2B5EF4-FFF2-40B4-BE49-F238E27FC236}">
                  <a16:creationId xmlns="" xmlns:a16="http://schemas.microsoft.com/office/drawing/2014/main" id="{1ABDDD09-DD98-0666-3795-306DBE0ECE9F}"/>
                </a:ext>
              </a:extLst>
            </p:cNvPr>
            <p:cNvCxnSpPr>
              <a:cxnSpLocks/>
            </p:cNvCxnSpPr>
            <p:nvPr/>
          </p:nvCxnSpPr>
          <p:spPr>
            <a:xfrm>
              <a:off x="52832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 xmlns:a16="http://schemas.microsoft.com/office/drawing/2014/main" id="{7F61B55E-723D-2358-27DC-A1C3C16D2B69}"/>
                </a:ext>
              </a:extLst>
            </p:cNvPr>
            <p:cNvCxnSpPr>
              <a:cxnSpLocks/>
            </p:cNvCxnSpPr>
            <p:nvPr/>
          </p:nvCxnSpPr>
          <p:spPr>
            <a:xfrm>
              <a:off x="5988110" y="4033974"/>
              <a:ext cx="0" cy="211613"/>
            </a:xfrm>
            <a:prstGeom prst="line">
              <a:avLst/>
            </a:prstGeom>
            <a:ln w="19050"/>
          </p:spPr>
          <p:style>
            <a:lnRef idx="1">
              <a:schemeClr val="dk1"/>
            </a:lnRef>
            <a:fillRef idx="0">
              <a:schemeClr val="dk1"/>
            </a:fillRef>
            <a:effectRef idx="0">
              <a:schemeClr val="dk1"/>
            </a:effectRef>
            <a:fontRef idx="minor">
              <a:schemeClr val="tx1"/>
            </a:fontRef>
          </p:style>
        </p:cxnSp>
        <p:sp>
          <p:nvSpPr>
            <p:cNvPr id="37" name="Oval 36">
              <a:extLst>
                <a:ext uri="{FF2B5EF4-FFF2-40B4-BE49-F238E27FC236}">
                  <a16:creationId xmlns="" xmlns:a16="http://schemas.microsoft.com/office/drawing/2014/main" id="{2A4E816D-7056-ACB4-28DE-1431775F31B9}"/>
                </a:ext>
              </a:extLst>
            </p:cNvPr>
            <p:cNvSpPr/>
            <p:nvPr/>
          </p:nvSpPr>
          <p:spPr>
            <a:xfrm>
              <a:off x="5856481"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47" name="Straight Arrow Connector 46">
              <a:extLst>
                <a:ext uri="{FF2B5EF4-FFF2-40B4-BE49-F238E27FC236}">
                  <a16:creationId xmlns="" xmlns:a16="http://schemas.microsoft.com/office/drawing/2014/main" id="{CF3F4951-741E-7175-755B-F847FABD1A53}"/>
                </a:ext>
              </a:extLst>
            </p:cNvPr>
            <p:cNvCxnSpPr>
              <a:cxnSpLocks/>
              <a:stCxn id="12" idx="0"/>
              <a:endCxn id="37" idx="4"/>
            </p:cNvCxnSpPr>
            <p:nvPr/>
          </p:nvCxnSpPr>
          <p:spPr>
            <a:xfrm flipH="1" flipV="1">
              <a:off x="5993006" y="3602002"/>
              <a:ext cx="868" cy="134100"/>
            </a:xfrm>
            <a:prstGeom prst="straightConnector1">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 xmlns:a16="http://schemas.microsoft.com/office/drawing/2014/main" id="{0C9119F5-BC18-B506-6AE3-54BED2ACDE1D}"/>
                </a:ext>
              </a:extLst>
            </p:cNvPr>
            <p:cNvCxnSpPr>
              <a:cxnSpLocks/>
              <a:stCxn id="37" idx="0"/>
              <a:endCxn id="48" idx="4"/>
            </p:cNvCxnSpPr>
            <p:nvPr/>
          </p:nvCxnSpPr>
          <p:spPr>
            <a:xfrm flipH="1" flipV="1">
              <a:off x="5989666" y="2853476"/>
              <a:ext cx="3340" cy="4754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 xmlns:a16="http://schemas.microsoft.com/office/drawing/2014/main" id="{9A90CFC2-367F-DDD0-0347-A75CC3C46DD8}"/>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 xmlns:a16="http://schemas.microsoft.com/office/drawing/2014/main" id="{742EAAEE-4BC0-0FF8-1B29-921257A94C82}"/>
                </a:ext>
              </a:extLst>
            </p:cNvPr>
            <p:cNvCxnSpPr>
              <a:cxnSpLocks/>
            </p:cNvCxnSpPr>
            <p:nvPr/>
          </p:nvCxnSpPr>
          <p:spPr>
            <a:xfrm flipH="1" flipV="1">
              <a:off x="7236075" y="3192538"/>
              <a:ext cx="625" cy="144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8" name="Connector: Elbow 77">
              <a:extLst>
                <a:ext uri="{FF2B5EF4-FFF2-40B4-BE49-F238E27FC236}">
                  <a16:creationId xmlns="" xmlns:a16="http://schemas.microsoft.com/office/drawing/2014/main" id="{6B39DB6C-853E-9EC6-5E8B-6D4F3DB4B58F}"/>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 xmlns:a16="http://schemas.microsoft.com/office/drawing/2014/main" id="{55E9DF20-2BAA-AD3A-BF01-C8B2A79EBCBF}"/>
                </a:ext>
              </a:extLst>
            </p:cNvPr>
            <p:cNvCxnSpPr>
              <a:stCxn id="10" idx="0"/>
              <a:endCxn id="37" idx="2"/>
            </p:cNvCxnSpPr>
            <p:nvPr/>
          </p:nvCxnSpPr>
          <p:spPr>
            <a:xfrm rot="5400000" flipH="1" flipV="1">
              <a:off x="5437228" y="3316849"/>
              <a:ext cx="2706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 xmlns:a16="http://schemas.microsoft.com/office/drawing/2014/main" id="{F73F4CFE-21DF-A9CF-A0E3-BE6FCD93FD2F}"/>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 xmlns:a16="http://schemas.microsoft.com/office/drawing/2014/main" id="{3B2DE638-D898-6EEE-FDE9-EF6483D3EE43}"/>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01" name="Straight Connector 100">
              <a:extLst>
                <a:ext uri="{FF2B5EF4-FFF2-40B4-BE49-F238E27FC236}">
                  <a16:creationId xmlns="" xmlns:a16="http://schemas.microsoft.com/office/drawing/2014/main" id="{B4FC16DB-E8FC-F794-ADC0-7F23CD171994}"/>
                </a:ext>
              </a:extLst>
            </p:cNvPr>
            <p:cNvCxnSpPr>
              <a:cxnSpLocks/>
            </p:cNvCxnSpPr>
            <p:nvPr/>
          </p:nvCxnSpPr>
          <p:spPr>
            <a:xfrm flipV="1">
              <a:off x="3971971" y="4247524"/>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39" name="Rectangle: Rounded Corners 38">
              <a:extLst>
                <a:ext uri="{FF2B5EF4-FFF2-40B4-BE49-F238E27FC236}">
                  <a16:creationId xmlns="" xmlns:a16="http://schemas.microsoft.com/office/drawing/2014/main" id="{842C10F0-6ADD-9912-2061-FB7E19CE2DD3}"/>
                </a:ext>
              </a:extLst>
            </p:cNvPr>
            <p:cNvSpPr/>
            <p:nvPr/>
          </p:nvSpPr>
          <p:spPr>
            <a:xfrm>
              <a:off x="4301176" y="243840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7" name="Oval 16">
              <a:extLst>
                <a:ext uri="{FF2B5EF4-FFF2-40B4-BE49-F238E27FC236}">
                  <a16:creationId xmlns="" xmlns:a16="http://schemas.microsoft.com/office/drawing/2014/main" id="{290DB68F-D678-91AC-FDAB-0432895FD9FC}"/>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48" name="Oval 47">
              <a:extLst>
                <a:ext uri="{FF2B5EF4-FFF2-40B4-BE49-F238E27FC236}">
                  <a16:creationId xmlns="" xmlns:a16="http://schemas.microsoft.com/office/drawing/2014/main" id="{2189D1DB-4B5F-E20F-5E70-0649D2A09125}"/>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64" name="Straight Connector 63">
              <a:extLst>
                <a:ext uri="{FF2B5EF4-FFF2-40B4-BE49-F238E27FC236}">
                  <a16:creationId xmlns="" xmlns:a16="http://schemas.microsoft.com/office/drawing/2014/main" id="{2F17F637-CDA3-BC2F-CEC0-EDA23BDF1793}"/>
                </a:ext>
              </a:extLst>
            </p:cNvPr>
            <p:cNvCxnSpPr>
              <a:cxnSpLocks/>
              <a:endCxn id="17" idx="2"/>
            </p:cNvCxnSpPr>
            <p:nvPr/>
          </p:nvCxnSpPr>
          <p:spPr>
            <a:xfrm flipV="1">
              <a:off x="4012696" y="2715788"/>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 xmlns:a16="http://schemas.microsoft.com/office/drawing/2014/main" id="{B7F0BCAC-2A6C-C3FC-BFC1-52890A7CFAFB}"/>
                </a:ext>
              </a:extLst>
            </p:cNvPr>
            <p:cNvCxnSpPr>
              <a:cxnSpLocks/>
              <a:stCxn id="17" idx="6"/>
              <a:endCxn id="48" idx="2"/>
            </p:cNvCxnSpPr>
            <p:nvPr/>
          </p:nvCxnSpPr>
          <p:spPr>
            <a:xfrm>
              <a:off x="4860985" y="2715788"/>
              <a:ext cx="992156" cy="1163"/>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1" name="Straight Connector 70">
              <a:extLst>
                <a:ext uri="{FF2B5EF4-FFF2-40B4-BE49-F238E27FC236}">
                  <a16:creationId xmlns="" xmlns:a16="http://schemas.microsoft.com/office/drawing/2014/main" id="{DB10787B-CA55-FACA-097A-B384CCF2FC57}"/>
                </a:ext>
              </a:extLst>
            </p:cNvPr>
            <p:cNvCxnSpPr>
              <a:cxnSpLocks/>
            </p:cNvCxnSpPr>
            <p:nvPr/>
          </p:nvCxnSpPr>
          <p:spPr>
            <a:xfrm>
              <a:off x="6126191" y="2715788"/>
              <a:ext cx="1980000"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 xmlns:a16="http://schemas.microsoft.com/office/drawing/2014/main" id="{C4A866C9-4A28-7252-015B-A2E419706176}"/>
                    </a:ext>
                  </a:extLst>
                </p:cNvPr>
                <p:cNvSpPr txBox="1"/>
                <p:nvPr/>
              </p:nvSpPr>
              <p:spPr>
                <a:xfrm>
                  <a:off x="3399976" y="2480066"/>
                  <a:ext cx="66197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5" name="TextBox 4">
                  <a:extLst>
                    <a:ext uri="{FF2B5EF4-FFF2-40B4-BE49-F238E27FC236}">
                      <a16:creationId xmlns:a16="http://schemas.microsoft.com/office/drawing/2014/main" id="{C4A866C9-4A28-7252-015B-A2E419706176}"/>
                    </a:ext>
                  </a:extLst>
                </p:cNvPr>
                <p:cNvSpPr txBox="1">
                  <a:spLocks noRot="1" noChangeAspect="1" noMove="1" noResize="1" noEditPoints="1" noAdjustHandles="1" noChangeArrowheads="1" noChangeShapeType="1" noTextEdit="1"/>
                </p:cNvSpPr>
                <p:nvPr/>
              </p:nvSpPr>
              <p:spPr>
                <a:xfrm>
                  <a:off x="3399976" y="2480066"/>
                  <a:ext cx="661976"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 xmlns:a16="http://schemas.microsoft.com/office/drawing/2014/main" id="{426498C2-0A02-0FDF-4FCF-947527EBD09A}"/>
                    </a:ext>
                  </a:extLst>
                </p:cNvPr>
                <p:cNvSpPr txBox="1"/>
                <p:nvPr/>
              </p:nvSpPr>
              <p:spPr>
                <a:xfrm>
                  <a:off x="8039200" y="2529630"/>
                  <a:ext cx="44236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7" name="TextBox 6">
                  <a:extLst>
                    <a:ext uri="{FF2B5EF4-FFF2-40B4-BE49-F238E27FC236}">
                      <a16:creationId xmlns:a16="http://schemas.microsoft.com/office/drawing/2014/main" id="{426498C2-0A02-0FDF-4FCF-947527EBD09A}"/>
                    </a:ext>
                  </a:extLst>
                </p:cNvPr>
                <p:cNvSpPr txBox="1">
                  <a:spLocks noRot="1" noChangeAspect="1" noMove="1" noResize="1" noEditPoints="1" noAdjustHandles="1" noChangeArrowheads="1" noChangeShapeType="1" noTextEdit="1"/>
                </p:cNvSpPr>
                <p:nvPr/>
              </p:nvSpPr>
              <p:spPr>
                <a:xfrm>
                  <a:off x="8039200" y="2529630"/>
                  <a:ext cx="442365"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 xmlns:a16="http://schemas.microsoft.com/office/drawing/2014/main" id="{12B529DB-2BE0-6E9C-4EBB-DBD7BFF2CD32}"/>
                    </a:ext>
                  </a:extLst>
                </p:cNvPr>
                <p:cNvSpPr txBox="1"/>
                <p:nvPr/>
              </p:nvSpPr>
              <p:spPr>
                <a:xfrm>
                  <a:off x="3387954" y="4062549"/>
                  <a:ext cx="69083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50" name="TextBox 49">
                  <a:extLst>
                    <a:ext uri="{FF2B5EF4-FFF2-40B4-BE49-F238E27FC236}">
                      <a16:creationId xmlns:a16="http://schemas.microsoft.com/office/drawing/2014/main" id="{12B529DB-2BE0-6E9C-4EBB-DBD7BFF2CD32}"/>
                    </a:ext>
                  </a:extLst>
                </p:cNvPr>
                <p:cNvSpPr txBox="1">
                  <a:spLocks noRot="1" noChangeAspect="1" noMove="1" noResize="1" noEditPoints="1" noAdjustHandles="1" noChangeArrowheads="1" noChangeShapeType="1" noTextEdit="1"/>
                </p:cNvSpPr>
                <p:nvPr/>
              </p:nvSpPr>
              <p:spPr>
                <a:xfrm>
                  <a:off x="3387954" y="4062549"/>
                  <a:ext cx="690830"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 xmlns:a16="http://schemas.microsoft.com/office/drawing/2014/main" id="{EB1DAE0C-E746-36F2-7A7D-C331502D001C}"/>
                    </a:ext>
                  </a:extLst>
                </p:cNvPr>
                <p:cNvSpPr txBox="1"/>
                <p:nvPr/>
              </p:nvSpPr>
              <p:spPr>
                <a:xfrm>
                  <a:off x="8050010" y="4070439"/>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1" name="TextBox 50">
                  <a:extLst>
                    <a:ext uri="{FF2B5EF4-FFF2-40B4-BE49-F238E27FC236}">
                      <a16:creationId xmlns:a16="http://schemas.microsoft.com/office/drawing/2014/main" id="{EB1DAE0C-E746-36F2-7A7D-C331502D001C}"/>
                    </a:ext>
                  </a:extLst>
                </p:cNvPr>
                <p:cNvSpPr txBox="1">
                  <a:spLocks noRot="1" noChangeAspect="1" noMove="1" noResize="1" noEditPoints="1" noAdjustHandles="1" noChangeArrowheads="1" noChangeShapeType="1" noTextEdit="1"/>
                </p:cNvSpPr>
                <p:nvPr/>
              </p:nvSpPr>
              <p:spPr>
                <a:xfrm>
                  <a:off x="8050010" y="4070439"/>
                  <a:ext cx="471218" cy="369332"/>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 xmlns:a16="http://schemas.microsoft.com/office/drawing/2014/main" id="{CE10D406-319D-3BE3-1B60-7827B12CBF7C}"/>
                    </a:ext>
                  </a:extLst>
                </p:cNvPr>
                <p:cNvSpPr txBox="1"/>
                <p:nvPr/>
              </p:nvSpPr>
              <p:spPr>
                <a:xfrm>
                  <a:off x="7423392" y="1841814"/>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3" name="TextBox 52">
                  <a:extLst>
                    <a:ext uri="{FF2B5EF4-FFF2-40B4-BE49-F238E27FC236}">
                      <a16:creationId xmlns:a16="http://schemas.microsoft.com/office/drawing/2014/main" id="{CE10D406-319D-3BE3-1B60-7827B12CBF7C}"/>
                    </a:ext>
                  </a:extLst>
                </p:cNvPr>
                <p:cNvSpPr txBox="1">
                  <a:spLocks noRot="1" noChangeAspect="1" noMove="1" noResize="1" noEditPoints="1" noAdjustHandles="1" noChangeArrowheads="1" noChangeShapeType="1" noTextEdit="1"/>
                </p:cNvSpPr>
                <p:nvPr/>
              </p:nvSpPr>
              <p:spPr>
                <a:xfrm>
                  <a:off x="7423392" y="1841814"/>
                  <a:ext cx="471218"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 xmlns:a16="http://schemas.microsoft.com/office/drawing/2014/main" id="{35F8E290-BD3E-780B-C51B-6AB841AA0F43}"/>
                    </a:ext>
                  </a:extLst>
                </p:cNvPr>
                <p:cNvSpPr txBox="1"/>
                <p:nvPr/>
              </p:nvSpPr>
              <p:spPr>
                <a:xfrm>
                  <a:off x="4288133" y="4631386"/>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55" name="TextBox 54">
                  <a:extLst>
                    <a:ext uri="{FF2B5EF4-FFF2-40B4-BE49-F238E27FC236}">
                      <a16:creationId xmlns:a16="http://schemas.microsoft.com/office/drawing/2014/main" id="{35F8E290-BD3E-780B-C51B-6AB841AA0F43}"/>
                    </a:ext>
                  </a:extLst>
                </p:cNvPr>
                <p:cNvSpPr txBox="1">
                  <a:spLocks noRot="1" noChangeAspect="1" noMove="1" noResize="1" noEditPoints="1" noAdjustHandles="1" noChangeArrowheads="1" noChangeShapeType="1" noTextEdit="1"/>
                </p:cNvSpPr>
                <p:nvPr/>
              </p:nvSpPr>
              <p:spPr>
                <a:xfrm>
                  <a:off x="4288133" y="4631386"/>
                  <a:ext cx="458394" cy="369332"/>
                </a:xfrm>
                <a:prstGeom prst="rect">
                  <a:avLst/>
                </a:prstGeom>
                <a:blipFill>
                  <a:blip r:embed="rId16"/>
                  <a:stretch>
                    <a:fillRect/>
                  </a:stretch>
                </a:blipFill>
              </p:spPr>
              <p:txBody>
                <a:bodyPr/>
                <a:lstStyle/>
                <a:p>
                  <a:r>
                    <a:rPr lang="en-US">
                      <a:noFill/>
                    </a:rPr>
                    <a:t> </a:t>
                  </a:r>
                </a:p>
              </p:txBody>
            </p:sp>
          </mc:Fallback>
        </mc:AlternateContent>
      </p:grpSp>
      <p:grpSp>
        <p:nvGrpSpPr>
          <p:cNvPr id="6" name="Group 5">
            <a:extLst>
              <a:ext uri="{FF2B5EF4-FFF2-40B4-BE49-F238E27FC236}">
                <a16:creationId xmlns="" xmlns:a16="http://schemas.microsoft.com/office/drawing/2014/main" id="{45231D62-9346-C19A-B2D8-2171CAAC4060}"/>
              </a:ext>
            </a:extLst>
          </p:cNvPr>
          <p:cNvGrpSpPr/>
          <p:nvPr/>
        </p:nvGrpSpPr>
        <p:grpSpPr>
          <a:xfrm>
            <a:off x="510827" y="2688275"/>
            <a:ext cx="1832394" cy="1751496"/>
            <a:chOff x="510827" y="2688275"/>
            <a:chExt cx="1832394" cy="1751496"/>
          </a:xfrm>
        </p:grpSpPr>
        <p:cxnSp>
          <p:nvCxnSpPr>
            <p:cNvPr id="42" name="Straight Connector 41">
              <a:extLst>
                <a:ext uri="{FF2B5EF4-FFF2-40B4-BE49-F238E27FC236}">
                  <a16:creationId xmlns="" xmlns:a16="http://schemas.microsoft.com/office/drawing/2014/main" id="{61EA366A-638B-19A2-FADF-869CD901FD65}"/>
                </a:ext>
              </a:extLst>
            </p:cNvPr>
            <p:cNvCxnSpPr>
              <a:cxnSpLocks/>
            </p:cNvCxnSpPr>
            <p:nvPr/>
          </p:nvCxnSpPr>
          <p:spPr>
            <a:xfrm flipV="1">
              <a:off x="928898" y="2934602"/>
              <a:ext cx="1008000"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31" name="Rectangle 30">
                  <a:extLst>
                    <a:ext uri="{FF2B5EF4-FFF2-40B4-BE49-F238E27FC236}">
                      <a16:creationId xmlns="" xmlns:a16="http://schemas.microsoft.com/office/drawing/2014/main" id="{EBC88C9A-7E93-26B5-43AD-0D21BC813E6A}"/>
                    </a:ext>
                  </a:extLst>
                </p:cNvPr>
                <p:cNvSpPr/>
                <p:nvPr/>
              </p:nvSpPr>
              <p:spPr>
                <a:xfrm>
                  <a:off x="1240764" y="3348906"/>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31" name="Rectangle 30">
                  <a:extLst>
                    <a:ext uri="{FF2B5EF4-FFF2-40B4-BE49-F238E27FC236}">
                      <a16:creationId xmlns:a16="http://schemas.microsoft.com/office/drawing/2014/main" id="{EBC88C9A-7E93-26B5-43AD-0D21BC813E6A}"/>
                    </a:ext>
                  </a:extLst>
                </p:cNvPr>
                <p:cNvSpPr>
                  <a:spLocks noRot="1" noChangeAspect="1" noMove="1" noResize="1" noEditPoints="1" noAdjustHandles="1" noChangeArrowheads="1" noChangeShapeType="1" noTextEdit="1"/>
                </p:cNvSpPr>
                <p:nvPr/>
              </p:nvSpPr>
              <p:spPr>
                <a:xfrm>
                  <a:off x="1240764" y="3348906"/>
                  <a:ext cx="332510" cy="297872"/>
                </a:xfrm>
                <a:prstGeom prst="rect">
                  <a:avLst/>
                </a:prstGeom>
                <a:blipFill>
                  <a:blip r:embed="rId17"/>
                  <a:stretch>
                    <a:fillRect/>
                  </a:stretch>
                </a:blipFill>
              </p:spPr>
              <p:txBody>
                <a:bodyPr/>
                <a:lstStyle/>
                <a:p>
                  <a:r>
                    <a:rPr lang="en-US">
                      <a:noFill/>
                    </a:rPr>
                    <a:t> </a:t>
                  </a:r>
                </a:p>
              </p:txBody>
            </p:sp>
          </mc:Fallback>
        </mc:AlternateContent>
        <p:sp>
          <p:nvSpPr>
            <p:cNvPr id="32" name="Oval 31">
              <a:extLst>
                <a:ext uri="{FF2B5EF4-FFF2-40B4-BE49-F238E27FC236}">
                  <a16:creationId xmlns="" xmlns:a16="http://schemas.microsoft.com/office/drawing/2014/main" id="{1A354AC7-6F14-F502-309B-B6DF3115DCEC}"/>
                </a:ext>
              </a:extLst>
            </p:cNvPr>
            <p:cNvSpPr/>
            <p:nvPr/>
          </p:nvSpPr>
          <p:spPr>
            <a:xfrm>
              <a:off x="1270494" y="2795317"/>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34" name="Straight Arrow Connector 33">
              <a:extLst>
                <a:ext uri="{FF2B5EF4-FFF2-40B4-BE49-F238E27FC236}">
                  <a16:creationId xmlns="" xmlns:a16="http://schemas.microsoft.com/office/drawing/2014/main" id="{4155F256-7522-763D-F307-222BEC825F1D}"/>
                </a:ext>
              </a:extLst>
            </p:cNvPr>
            <p:cNvCxnSpPr>
              <a:stCxn id="31" idx="0"/>
              <a:endCxn id="32" idx="4"/>
            </p:cNvCxnSpPr>
            <p:nvPr/>
          </p:nvCxnSpPr>
          <p:spPr>
            <a:xfrm flipV="1">
              <a:off x="1407019" y="3068367"/>
              <a:ext cx="0" cy="28053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40" name="Straight Arrow Connector 39">
              <a:extLst>
                <a:ext uri="{FF2B5EF4-FFF2-40B4-BE49-F238E27FC236}">
                  <a16:creationId xmlns="" xmlns:a16="http://schemas.microsoft.com/office/drawing/2014/main" id="{B515080E-515E-F684-8C15-0D9EE9C6B308}"/>
                </a:ext>
              </a:extLst>
            </p:cNvPr>
            <p:cNvCxnSpPr/>
            <p:nvPr/>
          </p:nvCxnSpPr>
          <p:spPr>
            <a:xfrm flipV="1">
              <a:off x="1407019" y="3646778"/>
              <a:ext cx="0" cy="28053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43" name="Right Brace 42">
              <a:extLst>
                <a:ext uri="{FF2B5EF4-FFF2-40B4-BE49-F238E27FC236}">
                  <a16:creationId xmlns="" xmlns:a16="http://schemas.microsoft.com/office/drawing/2014/main" id="{7FDD430D-62DC-C54E-5726-B5316B0CD7AC}"/>
                </a:ext>
              </a:extLst>
            </p:cNvPr>
            <p:cNvSpPr/>
            <p:nvPr/>
          </p:nvSpPr>
          <p:spPr>
            <a:xfrm rot="5400000">
              <a:off x="1304308" y="3414477"/>
              <a:ext cx="205421" cy="123899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5" name="TextBox 44">
              <a:extLst>
                <a:ext uri="{FF2B5EF4-FFF2-40B4-BE49-F238E27FC236}">
                  <a16:creationId xmlns="" xmlns:a16="http://schemas.microsoft.com/office/drawing/2014/main" id="{EC283BF4-C291-0D01-D34B-CCB67EF0B6CC}"/>
                </a:ext>
              </a:extLst>
            </p:cNvPr>
            <p:cNvSpPr txBox="1"/>
            <p:nvPr/>
          </p:nvSpPr>
          <p:spPr>
            <a:xfrm>
              <a:off x="1047098" y="4070439"/>
              <a:ext cx="693203" cy="369332"/>
            </a:xfrm>
            <a:prstGeom prst="rect">
              <a:avLst/>
            </a:prstGeom>
            <a:noFill/>
          </p:spPr>
          <p:txBody>
            <a:bodyPr wrap="none" rtlCol="0">
              <a:spAutoFit/>
            </a:bodyPr>
            <a:lstStyle/>
            <a:p>
              <a:r>
                <a:rPr lang="pt-BR" dirty="0"/>
                <a:t>porta</a:t>
              </a:r>
              <a:endParaRPr lang="en-US" dirty="0"/>
            </a:p>
          </p:txBody>
        </p:sp>
        <mc:AlternateContent xmlns:mc="http://schemas.openxmlformats.org/markup-compatibility/2006" xmlns:a14="http://schemas.microsoft.com/office/drawing/2010/main">
          <mc:Choice Requires="a14">
            <p:sp>
              <p:nvSpPr>
                <p:cNvPr id="2" name="TextBox 1">
                  <a:extLst>
                    <a:ext uri="{FF2B5EF4-FFF2-40B4-BE49-F238E27FC236}">
                      <a16:creationId xmlns="" xmlns:a16="http://schemas.microsoft.com/office/drawing/2014/main" id="{F288BC0B-701F-DD40-E539-EE9ACBCA5489}"/>
                    </a:ext>
                  </a:extLst>
                </p:cNvPr>
                <p:cNvSpPr txBox="1"/>
                <p:nvPr/>
              </p:nvSpPr>
              <p:spPr>
                <a:xfrm>
                  <a:off x="510827" y="2688275"/>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2" name="TextBox 1">
                  <a:extLst>
                    <a:ext uri="{FF2B5EF4-FFF2-40B4-BE49-F238E27FC236}">
                      <a16:creationId xmlns:a16="http://schemas.microsoft.com/office/drawing/2014/main" id="{F288BC0B-701F-DD40-E539-EE9ACBCA5489}"/>
                    </a:ext>
                  </a:extLst>
                </p:cNvPr>
                <p:cNvSpPr txBox="1">
                  <a:spLocks noRot="1" noChangeAspect="1" noMove="1" noResize="1" noEditPoints="1" noAdjustHandles="1" noChangeArrowheads="1" noChangeShapeType="1" noTextEdit="1"/>
                </p:cNvSpPr>
                <p:nvPr/>
              </p:nvSpPr>
              <p:spPr>
                <a:xfrm>
                  <a:off x="510827" y="2688275"/>
                  <a:ext cx="458394"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 xmlns:a16="http://schemas.microsoft.com/office/drawing/2014/main" id="{EEDC5D6C-3289-0D8E-9DDB-6C9470087026}"/>
                    </a:ext>
                  </a:extLst>
                </p:cNvPr>
                <p:cNvSpPr txBox="1"/>
                <p:nvPr/>
              </p:nvSpPr>
              <p:spPr>
                <a:xfrm>
                  <a:off x="1439043" y="2978310"/>
                  <a:ext cx="48083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𝒈</m:t>
                            </m:r>
                          </m:e>
                          <m:sub>
                            <m:r>
                              <a:rPr lang="pt-BR" b="0" i="1" smtClean="0">
                                <a:latin typeface="Cambria Math" panose="02040503050406030204" pitchFamily="18" charset="0"/>
                              </a:rPr>
                              <m:t>𝑡</m:t>
                            </m:r>
                          </m:sub>
                        </m:sSub>
                      </m:oMath>
                    </m:oMathPara>
                  </a14:m>
                  <a:endParaRPr lang="en-US" dirty="0"/>
                </a:p>
              </p:txBody>
            </p:sp>
          </mc:Choice>
          <mc:Fallback xmlns="">
            <p:sp>
              <p:nvSpPr>
                <p:cNvPr id="3" name="TextBox 2">
                  <a:extLst>
                    <a:ext uri="{FF2B5EF4-FFF2-40B4-BE49-F238E27FC236}">
                      <a16:creationId xmlns:a16="http://schemas.microsoft.com/office/drawing/2014/main" id="{EEDC5D6C-3289-0D8E-9DDB-6C9470087026}"/>
                    </a:ext>
                  </a:extLst>
                </p:cNvPr>
                <p:cNvSpPr txBox="1">
                  <a:spLocks noRot="1" noChangeAspect="1" noMove="1" noResize="1" noEditPoints="1" noAdjustHandles="1" noChangeArrowheads="1" noChangeShapeType="1" noTextEdit="1"/>
                </p:cNvSpPr>
                <p:nvPr/>
              </p:nvSpPr>
              <p:spPr>
                <a:xfrm>
                  <a:off x="1439043" y="2978310"/>
                  <a:ext cx="480836" cy="369332"/>
                </a:xfrm>
                <a:prstGeom prst="rect">
                  <a:avLst/>
                </a:prstGeom>
                <a:blipFill>
                  <a:blip r:embed="rId19"/>
                  <a:stretch>
                    <a:fillRect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 xmlns:a16="http://schemas.microsoft.com/office/drawing/2014/main" id="{4D40272D-BABB-2719-28B7-93A8B8650926}"/>
                    </a:ext>
                  </a:extLst>
                </p:cNvPr>
                <p:cNvSpPr txBox="1"/>
                <p:nvPr/>
              </p:nvSpPr>
              <p:spPr>
                <a:xfrm>
                  <a:off x="1880017" y="2709477"/>
                  <a:ext cx="46320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𝑡</m:t>
                            </m:r>
                          </m:sub>
                        </m:sSub>
                      </m:oMath>
                    </m:oMathPara>
                  </a14:m>
                  <a:endParaRPr lang="en-US" dirty="0"/>
                </a:p>
              </p:txBody>
            </p:sp>
          </mc:Choice>
          <mc:Fallback xmlns="">
            <p:sp>
              <p:nvSpPr>
                <p:cNvPr id="4" name="TextBox 3">
                  <a:extLst>
                    <a:ext uri="{FF2B5EF4-FFF2-40B4-BE49-F238E27FC236}">
                      <a16:creationId xmlns:a16="http://schemas.microsoft.com/office/drawing/2014/main" id="{4D40272D-BABB-2719-28B7-93A8B8650926}"/>
                    </a:ext>
                  </a:extLst>
                </p:cNvPr>
                <p:cNvSpPr txBox="1">
                  <a:spLocks noRot="1" noChangeAspect="1" noMove="1" noResize="1" noEditPoints="1" noAdjustHandles="1" noChangeArrowheads="1" noChangeShapeType="1" noTextEdit="1"/>
                </p:cNvSpPr>
                <p:nvPr/>
              </p:nvSpPr>
              <p:spPr>
                <a:xfrm>
                  <a:off x="1880017" y="2709477"/>
                  <a:ext cx="463204" cy="369332"/>
                </a:xfrm>
                <a:prstGeom prst="rect">
                  <a:avLst/>
                </a:prstGeom>
                <a:blipFill>
                  <a:blip r:embed="rId20"/>
                  <a:stretch>
                    <a:fillRect b="-6557"/>
                  </a:stretch>
                </a:blipFill>
              </p:spPr>
              <p:txBody>
                <a:bodyPr/>
                <a:lstStyle/>
                <a:p>
                  <a:r>
                    <a:rPr lang="en-US">
                      <a:noFill/>
                    </a:rPr>
                    <a:t> </a:t>
                  </a:r>
                </a:p>
              </p:txBody>
            </p:sp>
          </mc:Fallback>
        </mc:AlternateContent>
      </p:grpSp>
    </p:spTree>
    <p:extLst>
      <p:ext uri="{BB962C8B-B14F-4D97-AF65-F5344CB8AC3E}">
        <p14:creationId xmlns:p14="http://schemas.microsoft.com/office/powerpoint/2010/main" val="548362086"/>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E681C906-BA12-06E8-B408-AC00764492DE}"/>
            </a:ext>
          </a:extLst>
        </p:cNvPr>
        <p:cNvGrpSpPr/>
        <p:nvPr/>
      </p:nvGrpSpPr>
      <p:grpSpPr>
        <a:xfrm>
          <a:off x="0" y="0"/>
          <a:ext cx="0" cy="0"/>
          <a:chOff x="0" y="0"/>
          <a:chExt cx="0" cy="0"/>
        </a:xfrm>
      </p:grpSpPr>
      <p:grpSp>
        <p:nvGrpSpPr>
          <p:cNvPr id="18" name="Group 17">
            <a:extLst>
              <a:ext uri="{FF2B5EF4-FFF2-40B4-BE49-F238E27FC236}">
                <a16:creationId xmlns="" xmlns:a16="http://schemas.microsoft.com/office/drawing/2014/main" id="{FCF6190C-3568-243C-A1F8-FA1F0809E3B8}"/>
              </a:ext>
            </a:extLst>
          </p:cNvPr>
          <p:cNvGrpSpPr/>
          <p:nvPr/>
        </p:nvGrpSpPr>
        <p:grpSpPr>
          <a:xfrm>
            <a:off x="3387954" y="1841814"/>
            <a:ext cx="5133274" cy="3158904"/>
            <a:chOff x="3387954" y="1841814"/>
            <a:chExt cx="5133274" cy="3158904"/>
          </a:xfrm>
        </p:grpSpPr>
        <p:cxnSp>
          <p:nvCxnSpPr>
            <p:cNvPr id="93" name="Straight Arrow Connector 92">
              <a:extLst>
                <a:ext uri="{FF2B5EF4-FFF2-40B4-BE49-F238E27FC236}">
                  <a16:creationId xmlns="" xmlns:a16="http://schemas.microsoft.com/office/drawing/2014/main" id="{39A730AB-F009-09B7-7FB0-EE9AFB00CBC4}"/>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 xmlns:a16="http://schemas.microsoft.com/office/drawing/2014/main" id="{E5CFBB8F-7F83-05F4-5991-D9B2A3C177C2}"/>
                </a:ext>
              </a:extLst>
            </p:cNvPr>
            <p:cNvCxnSpPr>
              <a:cxnSpLocks/>
              <a:stCxn id="17" idx="6"/>
              <a:endCxn id="48" idx="2"/>
            </p:cNvCxnSpPr>
            <p:nvPr/>
          </p:nvCxnSpPr>
          <p:spPr>
            <a:xfrm>
              <a:off x="4860985" y="2715788"/>
              <a:ext cx="992156" cy="1163"/>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30" name="Connector: Elbow 29">
              <a:extLst>
                <a:ext uri="{FF2B5EF4-FFF2-40B4-BE49-F238E27FC236}">
                  <a16:creationId xmlns="" xmlns:a16="http://schemas.microsoft.com/office/drawing/2014/main" id="{4329F69A-78DB-87D6-4B31-68E94E84869A}"/>
                </a:ext>
              </a:extLst>
            </p:cNvPr>
            <p:cNvCxnSpPr>
              <a:cxnSpLocks/>
              <a:endCxn id="11" idx="2"/>
            </p:cNvCxnSpPr>
            <p:nvPr/>
          </p:nvCxnSpPr>
          <p:spPr>
            <a:xfrm rot="5400000" flipH="1" flipV="1">
              <a:off x="5288165" y="3260341"/>
              <a:ext cx="641827" cy="2194687"/>
            </a:xfrm>
            <a:prstGeom prst="bentConnector3">
              <a:avLst>
                <a:gd name="adj1" fmla="val 67289"/>
              </a:avLst>
            </a:prstGeom>
            <a:ln w="19050"/>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 xmlns:a16="http://schemas.microsoft.com/office/drawing/2014/main" id="{9309C712-EF05-B2E0-6A0E-9B6B6D832FB2}"/>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37" name="Oval 36">
              <a:extLst>
                <a:ext uri="{FF2B5EF4-FFF2-40B4-BE49-F238E27FC236}">
                  <a16:creationId xmlns="" xmlns:a16="http://schemas.microsoft.com/office/drawing/2014/main" id="{55605F55-30EA-A9AD-82E9-A71DA52E29E0}"/>
                </a:ext>
              </a:extLst>
            </p:cNvPr>
            <p:cNvSpPr/>
            <p:nvPr/>
          </p:nvSpPr>
          <p:spPr>
            <a:xfrm>
              <a:off x="5856481"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52" name="Oval 51">
              <a:extLst>
                <a:ext uri="{FF2B5EF4-FFF2-40B4-BE49-F238E27FC236}">
                  <a16:creationId xmlns="" xmlns:a16="http://schemas.microsoft.com/office/drawing/2014/main" id="{0AFE4F1F-C8AF-2071-1411-B9B18B7B0704}"/>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 xmlns:a16="http://schemas.microsoft.com/office/drawing/2014/main" id="{4BF2B54E-88E4-6623-837A-40C288275AF1}"/>
                </a:ext>
              </a:extLst>
            </p:cNvPr>
            <p:cNvCxnSpPr>
              <a:cxnSpLocks/>
            </p:cNvCxnSpPr>
            <p:nvPr/>
          </p:nvCxnSpPr>
          <p:spPr>
            <a:xfrm flipH="1" flipV="1">
              <a:off x="7236075" y="3192538"/>
              <a:ext cx="625" cy="144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0" name="Rectangle 9">
                  <a:extLst>
                    <a:ext uri="{FF2B5EF4-FFF2-40B4-BE49-F238E27FC236}">
                      <a16:creationId xmlns="" xmlns:a16="http://schemas.microsoft.com/office/drawing/2014/main" id="{D05F7E73-ADBE-A779-2E49-69EE3D2EF593}"/>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D05F7E73-ADBE-A779-2E49-69EE3D2EF593}"/>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Rectangle 10">
                  <a:extLst>
                    <a:ext uri="{FF2B5EF4-FFF2-40B4-BE49-F238E27FC236}">
                      <a16:creationId xmlns="" xmlns:a16="http://schemas.microsoft.com/office/drawing/2014/main" id="{6AFE5021-0A6E-22A6-DF4A-B232EDC28847}"/>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6AFE5021-0A6E-22A6-DF4A-B232EDC28847}"/>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4"/>
                  <a:stretch>
                    <a:fillRect/>
                  </a:stretch>
                </a:blipFill>
              </p:spPr>
              <p:txBody>
                <a:bodyPr/>
                <a:lstStyle/>
                <a:p>
                  <a:r>
                    <a:rPr lang="en-US">
                      <a:noFill/>
                    </a:rPr>
                    <a:t> </a:t>
                  </a:r>
                </a:p>
              </p:txBody>
            </p:sp>
          </mc:Fallback>
        </mc:AlternateContent>
        <p:sp>
          <p:nvSpPr>
            <p:cNvPr id="12" name="Rectangle 11">
              <a:extLst>
                <a:ext uri="{FF2B5EF4-FFF2-40B4-BE49-F238E27FC236}">
                  <a16:creationId xmlns="" xmlns:a16="http://schemas.microsoft.com/office/drawing/2014/main" id="{62691682-17D1-2759-4AEA-95CB4A2AC442}"/>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err="1">
                  <a:solidFill>
                    <a:schemeClr val="tx1"/>
                  </a:solidFill>
                </a:rPr>
                <a:t>tanh</a:t>
              </a:r>
              <a:endParaRPr lang="en-US" dirty="0">
                <a:solidFill>
                  <a:schemeClr val="tx1"/>
                </a:solidFill>
              </a:endParaRPr>
            </a:p>
          </p:txBody>
        </p:sp>
        <p:cxnSp>
          <p:nvCxnSpPr>
            <p:cNvPr id="35" name="Straight Connector 34">
              <a:extLst>
                <a:ext uri="{FF2B5EF4-FFF2-40B4-BE49-F238E27FC236}">
                  <a16:creationId xmlns="" xmlns:a16="http://schemas.microsoft.com/office/drawing/2014/main" id="{1E1B6485-D533-DFBA-CFB6-2D9F4A32B5BC}"/>
                </a:ext>
              </a:extLst>
            </p:cNvPr>
            <p:cNvCxnSpPr>
              <a:cxnSpLocks/>
            </p:cNvCxnSpPr>
            <p:nvPr/>
          </p:nvCxnSpPr>
          <p:spPr>
            <a:xfrm>
              <a:off x="52832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 xmlns:a16="http://schemas.microsoft.com/office/drawing/2014/main" id="{7920B390-AA70-127C-665E-BCD4AFAB2692}"/>
                </a:ext>
              </a:extLst>
            </p:cNvPr>
            <p:cNvCxnSpPr>
              <a:cxnSpLocks/>
            </p:cNvCxnSpPr>
            <p:nvPr/>
          </p:nvCxnSpPr>
          <p:spPr>
            <a:xfrm>
              <a:off x="598811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47" name="Straight Arrow Connector 46">
              <a:extLst>
                <a:ext uri="{FF2B5EF4-FFF2-40B4-BE49-F238E27FC236}">
                  <a16:creationId xmlns="" xmlns:a16="http://schemas.microsoft.com/office/drawing/2014/main" id="{8347C514-5C0A-87D8-490F-8BE6DE17F058}"/>
                </a:ext>
              </a:extLst>
            </p:cNvPr>
            <p:cNvCxnSpPr>
              <a:cxnSpLocks/>
              <a:stCxn id="12" idx="0"/>
              <a:endCxn id="37" idx="4"/>
            </p:cNvCxnSpPr>
            <p:nvPr/>
          </p:nvCxnSpPr>
          <p:spPr>
            <a:xfrm flipH="1" flipV="1">
              <a:off x="5993006" y="3602002"/>
              <a:ext cx="868" cy="134100"/>
            </a:xfrm>
            <a:prstGeom prst="straightConnector1">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8" name="Connector: Elbow 77">
              <a:extLst>
                <a:ext uri="{FF2B5EF4-FFF2-40B4-BE49-F238E27FC236}">
                  <a16:creationId xmlns="" xmlns:a16="http://schemas.microsoft.com/office/drawing/2014/main" id="{D209583F-0F66-13DA-E8B1-65163BB76534}"/>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 xmlns:a16="http://schemas.microsoft.com/office/drawing/2014/main" id="{9FFD6D3A-4074-C913-6F99-8172D8284BB8}"/>
                </a:ext>
              </a:extLst>
            </p:cNvPr>
            <p:cNvCxnSpPr>
              <a:stCxn id="10" idx="0"/>
              <a:endCxn id="37" idx="2"/>
            </p:cNvCxnSpPr>
            <p:nvPr/>
          </p:nvCxnSpPr>
          <p:spPr>
            <a:xfrm rot="5400000" flipH="1" flipV="1">
              <a:off x="5437228" y="3316849"/>
              <a:ext cx="2706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 xmlns:a16="http://schemas.microsoft.com/office/drawing/2014/main" id="{C6132C55-7CE0-B243-9524-22263E32A9FD}"/>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 xmlns:a16="http://schemas.microsoft.com/office/drawing/2014/main" id="{FF5609EE-16ED-D9C9-C8B6-08BF97D17108}"/>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 xmlns:a16="http://schemas.microsoft.com/office/drawing/2014/main" id="{BBCF3E7F-5361-B4DC-E106-88F2D362536D}"/>
                    </a:ext>
                  </a:extLst>
                </p:cNvPr>
                <p:cNvSpPr txBox="1"/>
                <p:nvPr/>
              </p:nvSpPr>
              <p:spPr>
                <a:xfrm>
                  <a:off x="8050010" y="4070439"/>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1" name="TextBox 50">
                  <a:extLst>
                    <a:ext uri="{FF2B5EF4-FFF2-40B4-BE49-F238E27FC236}">
                      <a16:creationId xmlns:a16="http://schemas.microsoft.com/office/drawing/2014/main" id="{BBCF3E7F-5361-B4DC-E106-88F2D362536D}"/>
                    </a:ext>
                  </a:extLst>
                </p:cNvPr>
                <p:cNvSpPr txBox="1">
                  <a:spLocks noRot="1" noChangeAspect="1" noMove="1" noResize="1" noEditPoints="1" noAdjustHandles="1" noChangeArrowheads="1" noChangeShapeType="1" noTextEdit="1"/>
                </p:cNvSpPr>
                <p:nvPr/>
              </p:nvSpPr>
              <p:spPr>
                <a:xfrm>
                  <a:off x="8050010" y="4070439"/>
                  <a:ext cx="471218" cy="369332"/>
                </a:xfrm>
                <a:prstGeom prst="rect">
                  <a:avLst/>
                </a:prstGeom>
                <a:blipFill>
                  <a:blip r:embed="rId5"/>
                  <a:stretch>
                    <a:fillRect/>
                  </a:stretch>
                </a:blipFill>
              </p:spPr>
              <p:txBody>
                <a:bodyPr/>
                <a:lstStyle/>
                <a:p>
                  <a:r>
                    <a:rPr lang="en-US">
                      <a:noFill/>
                    </a:rPr>
                    <a:t> </a:t>
                  </a:r>
                </a:p>
              </p:txBody>
            </p:sp>
          </mc:Fallback>
        </mc:AlternateContent>
        <p:sp>
          <p:nvSpPr>
            <p:cNvPr id="48" name="Oval 47">
              <a:extLst>
                <a:ext uri="{FF2B5EF4-FFF2-40B4-BE49-F238E27FC236}">
                  <a16:creationId xmlns="" xmlns:a16="http://schemas.microsoft.com/office/drawing/2014/main" id="{F8D1C230-9AD6-9DC7-AED1-35225D1F83CD}"/>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71" name="Straight Connector 70">
              <a:extLst>
                <a:ext uri="{FF2B5EF4-FFF2-40B4-BE49-F238E27FC236}">
                  <a16:creationId xmlns="" xmlns:a16="http://schemas.microsoft.com/office/drawing/2014/main" id="{DC5D7F9A-1009-06DB-C683-3F0A389F7B42}"/>
                </a:ext>
              </a:extLst>
            </p:cNvPr>
            <p:cNvCxnSpPr>
              <a:cxnSpLocks/>
            </p:cNvCxnSpPr>
            <p:nvPr/>
          </p:nvCxnSpPr>
          <p:spPr>
            <a:xfrm>
              <a:off x="6126191" y="2715788"/>
              <a:ext cx="1980000"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 xmlns:a16="http://schemas.microsoft.com/office/drawing/2014/main" id="{4F12F6A6-D554-126C-3ECA-862ED1EAA5B1}"/>
                </a:ext>
              </a:extLst>
            </p:cNvPr>
            <p:cNvCxnSpPr>
              <a:cxnSpLocks/>
            </p:cNvCxnSpPr>
            <p:nvPr/>
          </p:nvCxnSpPr>
          <p:spPr>
            <a:xfrm flipH="1" flipV="1">
              <a:off x="7232357" y="2715838"/>
              <a:ext cx="625" cy="180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grpSp>
          <p:nvGrpSpPr>
            <p:cNvPr id="16" name="Group 15">
              <a:extLst>
                <a:ext uri="{FF2B5EF4-FFF2-40B4-BE49-F238E27FC236}">
                  <a16:creationId xmlns="" xmlns:a16="http://schemas.microsoft.com/office/drawing/2014/main" id="{1CC77F96-16FB-3864-7DB1-07277106DE8B}"/>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 xmlns:a16="http://schemas.microsoft.com/office/drawing/2014/main" id="{822B40A6-CAB4-62EA-370C-1357CAED5D30}"/>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 xmlns:a16="http://schemas.microsoft.com/office/drawing/2014/main" id="{2AE3BC04-7F37-C331-64C8-47928CB17AE3}"/>
                  </a:ext>
                </a:extLst>
              </p:cNvPr>
              <p:cNvSpPr txBox="1"/>
              <p:nvPr/>
            </p:nvSpPr>
            <p:spPr>
              <a:xfrm>
                <a:off x="6108701" y="2910505"/>
                <a:ext cx="627148" cy="369332"/>
              </a:xfrm>
              <a:prstGeom prst="rect">
                <a:avLst/>
              </a:prstGeom>
              <a:noFill/>
            </p:spPr>
            <p:txBody>
              <a:bodyPr wrap="square">
                <a:spAutoFit/>
              </a:bodyPr>
              <a:lstStyle/>
              <a:p>
                <a:pPr algn="ctr"/>
                <a:r>
                  <a:rPr lang="pt-BR" dirty="0" err="1">
                    <a:solidFill>
                      <a:schemeClr val="tx1"/>
                    </a:solidFill>
                  </a:rPr>
                  <a:t>tanh</a:t>
                </a:r>
                <a:endParaRPr lang="en-US" dirty="0">
                  <a:solidFill>
                    <a:schemeClr val="tx1"/>
                  </a:solidFill>
                </a:endParaRPr>
              </a:p>
            </p:txBody>
          </p:sp>
        </p:grpSp>
        <p:cxnSp>
          <p:nvCxnSpPr>
            <p:cNvPr id="49" name="Straight Arrow Connector 48">
              <a:extLst>
                <a:ext uri="{FF2B5EF4-FFF2-40B4-BE49-F238E27FC236}">
                  <a16:creationId xmlns="" xmlns:a16="http://schemas.microsoft.com/office/drawing/2014/main" id="{2C216754-64A0-2413-BC8A-9899491730A4}"/>
                </a:ext>
              </a:extLst>
            </p:cNvPr>
            <p:cNvCxnSpPr>
              <a:cxnSpLocks/>
              <a:stCxn id="37" idx="0"/>
              <a:endCxn id="48" idx="4"/>
            </p:cNvCxnSpPr>
            <p:nvPr/>
          </p:nvCxnSpPr>
          <p:spPr>
            <a:xfrm flipH="1" flipV="1">
              <a:off x="5989666" y="2853476"/>
              <a:ext cx="3340" cy="4754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 xmlns:a16="http://schemas.microsoft.com/office/drawing/2014/main" id="{A6114FA9-48A9-7AB5-089D-28FB8F3DD455}"/>
                    </a:ext>
                  </a:extLst>
                </p:cNvPr>
                <p:cNvSpPr txBox="1"/>
                <p:nvPr/>
              </p:nvSpPr>
              <p:spPr>
                <a:xfrm>
                  <a:off x="8039200" y="2529630"/>
                  <a:ext cx="44236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7" name="TextBox 6">
                  <a:extLst>
                    <a:ext uri="{FF2B5EF4-FFF2-40B4-BE49-F238E27FC236}">
                      <a16:creationId xmlns:a16="http://schemas.microsoft.com/office/drawing/2014/main" id="{A6114FA9-48A9-7AB5-089D-28FB8F3DD455}"/>
                    </a:ext>
                  </a:extLst>
                </p:cNvPr>
                <p:cNvSpPr txBox="1">
                  <a:spLocks noRot="1" noChangeAspect="1" noMove="1" noResize="1" noEditPoints="1" noAdjustHandles="1" noChangeArrowheads="1" noChangeShapeType="1" noTextEdit="1"/>
                </p:cNvSpPr>
                <p:nvPr/>
              </p:nvSpPr>
              <p:spPr>
                <a:xfrm>
                  <a:off x="8039200" y="2529630"/>
                  <a:ext cx="442364" cy="369332"/>
                </a:xfrm>
                <a:prstGeom prst="rect">
                  <a:avLst/>
                </a:prstGeom>
                <a:blipFill>
                  <a:blip r:embed="rId6"/>
                  <a:stretch>
                    <a:fillRect/>
                  </a:stretch>
                </a:blipFill>
              </p:spPr>
              <p:txBody>
                <a:bodyPr/>
                <a:lstStyle/>
                <a:p>
                  <a:r>
                    <a:rPr lang="en-US">
                      <a:noFill/>
                    </a:rPr>
                    <a:t> </a:t>
                  </a:r>
                </a:p>
              </p:txBody>
            </p:sp>
          </mc:Fallback>
        </mc:AlternateContent>
        <p:sp>
          <p:nvSpPr>
            <p:cNvPr id="39" name="Rectangle: Rounded Corners 38">
              <a:extLst>
                <a:ext uri="{FF2B5EF4-FFF2-40B4-BE49-F238E27FC236}">
                  <a16:creationId xmlns="" xmlns:a16="http://schemas.microsoft.com/office/drawing/2014/main" id="{2BBC2FE9-36F7-2933-C887-72273FF6AA32}"/>
                </a:ext>
              </a:extLst>
            </p:cNvPr>
            <p:cNvSpPr/>
            <p:nvPr/>
          </p:nvSpPr>
          <p:spPr>
            <a:xfrm>
              <a:off x="4301176" y="243840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cxnSp>
          <p:nvCxnSpPr>
            <p:cNvPr id="64" name="Straight Connector 63">
              <a:extLst>
                <a:ext uri="{FF2B5EF4-FFF2-40B4-BE49-F238E27FC236}">
                  <a16:creationId xmlns="" xmlns:a16="http://schemas.microsoft.com/office/drawing/2014/main" id="{7ACF06C9-EDD8-B72E-3A6F-2D9C18CE4477}"/>
                </a:ext>
              </a:extLst>
            </p:cNvPr>
            <p:cNvCxnSpPr>
              <a:cxnSpLocks/>
              <a:endCxn id="17" idx="2"/>
            </p:cNvCxnSpPr>
            <p:nvPr/>
          </p:nvCxnSpPr>
          <p:spPr>
            <a:xfrm flipV="1">
              <a:off x="4012696" y="2715788"/>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17" name="Oval 16">
              <a:extLst>
                <a:ext uri="{FF2B5EF4-FFF2-40B4-BE49-F238E27FC236}">
                  <a16:creationId xmlns="" xmlns:a16="http://schemas.microsoft.com/office/drawing/2014/main" id="{FA172608-B764-39AB-FC65-DD74524231B1}"/>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8" name="Rectangle 7">
                  <a:extLst>
                    <a:ext uri="{FF2B5EF4-FFF2-40B4-BE49-F238E27FC236}">
                      <a16:creationId xmlns="" xmlns:a16="http://schemas.microsoft.com/office/drawing/2014/main" id="{7D1E7939-B085-04A7-417C-F8FF5441903B}"/>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7D1E7939-B085-04A7-417C-F8FF5441903B}"/>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7"/>
                  <a:stretch>
                    <a:fillRect/>
                  </a:stretch>
                </a:blipFill>
              </p:spPr>
              <p:txBody>
                <a:bodyPr/>
                <a:lstStyle/>
                <a:p>
                  <a:r>
                    <a:rPr lang="en-US">
                      <a:noFill/>
                    </a:rPr>
                    <a:t> </a:t>
                  </a:r>
                </a:p>
              </p:txBody>
            </p:sp>
          </mc:Fallback>
        </mc:AlternateContent>
        <p:cxnSp>
          <p:nvCxnSpPr>
            <p:cNvPr id="20" name="Straight Arrow Connector 19">
              <a:extLst>
                <a:ext uri="{FF2B5EF4-FFF2-40B4-BE49-F238E27FC236}">
                  <a16:creationId xmlns="" xmlns:a16="http://schemas.microsoft.com/office/drawing/2014/main" id="{BCBA5E58-1A30-E919-16E9-05C7BCBA30AA}"/>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 xmlns:a16="http://schemas.microsoft.com/office/drawing/2014/main" id="{449F04FB-A11C-6CDA-54CF-327E7BE7D9EA}"/>
                </a:ext>
              </a:extLst>
            </p:cNvPr>
            <p:cNvCxnSpPr>
              <a:cxnSpLocks/>
            </p:cNvCxnSpPr>
            <p:nvPr/>
          </p:nvCxnSpPr>
          <p:spPr>
            <a:xfrm>
              <a:off x="47244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101" name="Straight Connector 100">
              <a:extLst>
                <a:ext uri="{FF2B5EF4-FFF2-40B4-BE49-F238E27FC236}">
                  <a16:creationId xmlns="" xmlns:a16="http://schemas.microsoft.com/office/drawing/2014/main" id="{D866472C-9411-1D10-EBFC-6CE069E407B5}"/>
                </a:ext>
              </a:extLst>
            </p:cNvPr>
            <p:cNvCxnSpPr>
              <a:cxnSpLocks/>
            </p:cNvCxnSpPr>
            <p:nvPr/>
          </p:nvCxnSpPr>
          <p:spPr>
            <a:xfrm>
              <a:off x="3971971" y="4237301"/>
              <a:ext cx="762694" cy="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 xmlns:a16="http://schemas.microsoft.com/office/drawing/2014/main" id="{E4140CD2-4809-10E5-1F86-BDC4132DD5F5}"/>
                    </a:ext>
                  </a:extLst>
                </p:cNvPr>
                <p:cNvSpPr txBox="1"/>
                <p:nvPr/>
              </p:nvSpPr>
              <p:spPr>
                <a:xfrm>
                  <a:off x="3399976" y="2480066"/>
                  <a:ext cx="66197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5" name="TextBox 4">
                  <a:extLst>
                    <a:ext uri="{FF2B5EF4-FFF2-40B4-BE49-F238E27FC236}">
                      <a16:creationId xmlns:a16="http://schemas.microsoft.com/office/drawing/2014/main" id="{E4140CD2-4809-10E5-1F86-BDC4132DD5F5}"/>
                    </a:ext>
                  </a:extLst>
                </p:cNvPr>
                <p:cNvSpPr txBox="1">
                  <a:spLocks noRot="1" noChangeAspect="1" noMove="1" noResize="1" noEditPoints="1" noAdjustHandles="1" noChangeArrowheads="1" noChangeShapeType="1" noTextEdit="1"/>
                </p:cNvSpPr>
                <p:nvPr/>
              </p:nvSpPr>
              <p:spPr>
                <a:xfrm>
                  <a:off x="3399976" y="2480066"/>
                  <a:ext cx="661976"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 xmlns:a16="http://schemas.microsoft.com/office/drawing/2014/main" id="{C92B0883-35DE-44C7-12D4-5B70BF0A6B1F}"/>
                    </a:ext>
                  </a:extLst>
                </p:cNvPr>
                <p:cNvSpPr txBox="1"/>
                <p:nvPr/>
              </p:nvSpPr>
              <p:spPr>
                <a:xfrm>
                  <a:off x="3387954" y="4052158"/>
                  <a:ext cx="69083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50" name="TextBox 49">
                  <a:extLst>
                    <a:ext uri="{FF2B5EF4-FFF2-40B4-BE49-F238E27FC236}">
                      <a16:creationId xmlns:a16="http://schemas.microsoft.com/office/drawing/2014/main" id="{C92B0883-35DE-44C7-12D4-5B70BF0A6B1F}"/>
                    </a:ext>
                  </a:extLst>
                </p:cNvPr>
                <p:cNvSpPr txBox="1">
                  <a:spLocks noRot="1" noChangeAspect="1" noMove="1" noResize="1" noEditPoints="1" noAdjustHandles="1" noChangeArrowheads="1" noChangeShapeType="1" noTextEdit="1"/>
                </p:cNvSpPr>
                <p:nvPr/>
              </p:nvSpPr>
              <p:spPr>
                <a:xfrm>
                  <a:off x="3387954" y="4052158"/>
                  <a:ext cx="69083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 xmlns:a16="http://schemas.microsoft.com/office/drawing/2014/main" id="{0F98C804-71F7-C250-7524-2D037AFFAAC7}"/>
                    </a:ext>
                  </a:extLst>
                </p:cNvPr>
                <p:cNvSpPr txBox="1"/>
                <p:nvPr/>
              </p:nvSpPr>
              <p:spPr>
                <a:xfrm>
                  <a:off x="7423392" y="1841814"/>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3" name="TextBox 52">
                  <a:extLst>
                    <a:ext uri="{FF2B5EF4-FFF2-40B4-BE49-F238E27FC236}">
                      <a16:creationId xmlns:a16="http://schemas.microsoft.com/office/drawing/2014/main" id="{0F98C804-71F7-C250-7524-2D037AFFAAC7}"/>
                    </a:ext>
                  </a:extLst>
                </p:cNvPr>
                <p:cNvSpPr txBox="1">
                  <a:spLocks noRot="1" noChangeAspect="1" noMove="1" noResize="1" noEditPoints="1" noAdjustHandles="1" noChangeArrowheads="1" noChangeShapeType="1" noTextEdit="1"/>
                </p:cNvSpPr>
                <p:nvPr/>
              </p:nvSpPr>
              <p:spPr>
                <a:xfrm>
                  <a:off x="7423392" y="1841814"/>
                  <a:ext cx="471218"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 xmlns:a16="http://schemas.microsoft.com/office/drawing/2014/main" id="{5EEB1DB6-D554-F46E-BF18-2EF32C38355A}"/>
                    </a:ext>
                  </a:extLst>
                </p:cNvPr>
                <p:cNvSpPr txBox="1"/>
                <p:nvPr/>
              </p:nvSpPr>
              <p:spPr>
                <a:xfrm>
                  <a:off x="4288133" y="4631386"/>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55" name="TextBox 54">
                  <a:extLst>
                    <a:ext uri="{FF2B5EF4-FFF2-40B4-BE49-F238E27FC236}">
                      <a16:creationId xmlns:a16="http://schemas.microsoft.com/office/drawing/2014/main" id="{5EEB1DB6-D554-F46E-BF18-2EF32C38355A}"/>
                    </a:ext>
                  </a:extLst>
                </p:cNvPr>
                <p:cNvSpPr txBox="1">
                  <a:spLocks noRot="1" noChangeAspect="1" noMove="1" noResize="1" noEditPoints="1" noAdjustHandles="1" noChangeArrowheads="1" noChangeShapeType="1" noTextEdit="1"/>
                </p:cNvSpPr>
                <p:nvPr/>
              </p:nvSpPr>
              <p:spPr>
                <a:xfrm>
                  <a:off x="4288133" y="4631386"/>
                  <a:ext cx="458394" cy="369332"/>
                </a:xfrm>
                <a:prstGeom prst="rect">
                  <a:avLst/>
                </a:prstGeom>
                <a:blipFill>
                  <a:blip r:embed="rId11"/>
                  <a:stretch>
                    <a:fillRect/>
                  </a:stretch>
                </a:blipFill>
              </p:spPr>
              <p:txBody>
                <a:bodyPr/>
                <a:lstStyle/>
                <a:p>
                  <a:r>
                    <a:rPr lang="en-US">
                      <a:noFill/>
                    </a:rPr>
                    <a:t> </a:t>
                  </a:r>
                </a:p>
              </p:txBody>
            </p:sp>
          </mc:Fallback>
        </mc:AlternateContent>
        <p:cxnSp>
          <p:nvCxnSpPr>
            <p:cNvPr id="3" name="Straight Connector 2">
              <a:extLst>
                <a:ext uri="{FF2B5EF4-FFF2-40B4-BE49-F238E27FC236}">
                  <a16:creationId xmlns="" xmlns:a16="http://schemas.microsoft.com/office/drawing/2014/main" id="{0E6AD43A-0C05-5B07-5C6E-D66CA2266A17}"/>
                </a:ext>
              </a:extLst>
            </p:cNvPr>
            <p:cNvCxnSpPr>
              <a:cxnSpLocks/>
              <a:stCxn id="55" idx="0"/>
            </p:cNvCxnSpPr>
            <p:nvPr/>
          </p:nvCxnSpPr>
          <p:spPr>
            <a:xfrm flipH="1" flipV="1">
              <a:off x="4511399" y="4241954"/>
              <a:ext cx="5931" cy="38943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 xmlns:a16="http://schemas.microsoft.com/office/drawing/2014/main" id="{F84839D8-1FE8-558D-F04D-CEBF12FBE230}"/>
                    </a:ext>
                  </a:extLst>
                </p:cNvPr>
                <p:cNvSpPr txBox="1"/>
                <p:nvPr/>
              </p:nvSpPr>
              <p:spPr>
                <a:xfrm>
                  <a:off x="4334939" y="3086237"/>
                  <a:ext cx="455189"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𝒇</m:t>
                            </m:r>
                          </m:e>
                          <m:sub>
                            <m:r>
                              <a:rPr lang="pt-BR" b="0" i="1" smtClean="0">
                                <a:latin typeface="Cambria Math" panose="02040503050406030204" pitchFamily="18" charset="0"/>
                              </a:rPr>
                              <m:t>𝑡</m:t>
                            </m:r>
                          </m:sub>
                        </m:sSub>
                      </m:oMath>
                    </m:oMathPara>
                  </a14:m>
                  <a:endParaRPr lang="en-US" dirty="0"/>
                </a:p>
              </p:txBody>
            </p:sp>
          </mc:Choice>
          <mc:Fallback xmlns="">
            <p:sp>
              <p:nvSpPr>
                <p:cNvPr id="9" name="TextBox 8">
                  <a:extLst>
                    <a:ext uri="{FF2B5EF4-FFF2-40B4-BE49-F238E27FC236}">
                      <a16:creationId xmlns:a16="http://schemas.microsoft.com/office/drawing/2014/main" id="{F84839D8-1FE8-558D-F04D-CEBF12FBE230}"/>
                    </a:ext>
                  </a:extLst>
                </p:cNvPr>
                <p:cNvSpPr txBox="1">
                  <a:spLocks noRot="1" noChangeAspect="1" noMove="1" noResize="1" noEditPoints="1" noAdjustHandles="1" noChangeArrowheads="1" noChangeShapeType="1" noTextEdit="1"/>
                </p:cNvSpPr>
                <p:nvPr/>
              </p:nvSpPr>
              <p:spPr>
                <a:xfrm>
                  <a:off x="4334939" y="3086237"/>
                  <a:ext cx="455189" cy="369332"/>
                </a:xfrm>
                <a:prstGeom prst="rect">
                  <a:avLst/>
                </a:prstGeom>
                <a:blipFill>
                  <a:blip r:embed="rId12"/>
                  <a:stretch>
                    <a:fillRect b="-13115"/>
                  </a:stretch>
                </a:blipFill>
              </p:spPr>
              <p:txBody>
                <a:bodyPr/>
                <a:lstStyle/>
                <a:p>
                  <a:r>
                    <a:rPr lang="en-US">
                      <a:noFill/>
                    </a:rPr>
                    <a:t> </a:t>
                  </a:r>
                </a:p>
              </p:txBody>
            </p:sp>
          </mc:Fallback>
        </mc:AlternateContent>
        <p:sp>
          <p:nvSpPr>
            <p:cNvPr id="2" name="TextBox 1">
              <a:extLst>
                <a:ext uri="{FF2B5EF4-FFF2-40B4-BE49-F238E27FC236}">
                  <a16:creationId xmlns="" xmlns:a16="http://schemas.microsoft.com/office/drawing/2014/main" id="{4748BDEF-2446-FE23-5B2C-793AF909BDCE}"/>
                </a:ext>
              </a:extLst>
            </p:cNvPr>
            <p:cNvSpPr txBox="1"/>
            <p:nvPr/>
          </p:nvSpPr>
          <p:spPr>
            <a:xfrm>
              <a:off x="4384923" y="1911844"/>
              <a:ext cx="1109948" cy="461665"/>
            </a:xfrm>
            <a:prstGeom prst="rect">
              <a:avLst/>
            </a:prstGeom>
            <a:noFill/>
          </p:spPr>
          <p:txBody>
            <a:bodyPr wrap="square" rtlCol="0">
              <a:spAutoFit/>
            </a:bodyPr>
            <a:lstStyle/>
            <a:p>
              <a:pPr algn="ctr"/>
              <a:r>
                <a:rPr lang="pt-BR" sz="1200" dirty="0"/>
                <a:t>porta de esquecimento</a:t>
              </a:r>
              <a:endParaRPr lang="en-US" sz="1200" dirty="0"/>
            </a:p>
          </p:txBody>
        </p:sp>
        <p:cxnSp>
          <p:nvCxnSpPr>
            <p:cNvPr id="6" name="Straight Arrow Connector 5">
              <a:extLst>
                <a:ext uri="{FF2B5EF4-FFF2-40B4-BE49-F238E27FC236}">
                  <a16:creationId xmlns="" xmlns:a16="http://schemas.microsoft.com/office/drawing/2014/main" id="{C85B4195-B372-E787-8F12-B08B80B3B37A}"/>
                </a:ext>
              </a:extLst>
            </p:cNvPr>
            <p:cNvCxnSpPr/>
            <p:nvPr/>
          </p:nvCxnSpPr>
          <p:spPr>
            <a:xfrm flipH="1">
              <a:off x="4782073" y="2353118"/>
              <a:ext cx="157824" cy="18354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923699259"/>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4861D64E-2469-FC63-F655-1FF1BC1DD72B}"/>
            </a:ext>
          </a:extLst>
        </p:cNvPr>
        <p:cNvGrpSpPr/>
        <p:nvPr/>
      </p:nvGrpSpPr>
      <p:grpSpPr>
        <a:xfrm>
          <a:off x="0" y="0"/>
          <a:ext cx="0" cy="0"/>
          <a:chOff x="0" y="0"/>
          <a:chExt cx="0" cy="0"/>
        </a:xfrm>
      </p:grpSpPr>
      <p:grpSp>
        <p:nvGrpSpPr>
          <p:cNvPr id="22" name="Group 21">
            <a:extLst>
              <a:ext uri="{FF2B5EF4-FFF2-40B4-BE49-F238E27FC236}">
                <a16:creationId xmlns="" xmlns:a16="http://schemas.microsoft.com/office/drawing/2014/main" id="{DDDC66B4-795D-0386-C6A6-872680ACA1CA}"/>
              </a:ext>
            </a:extLst>
          </p:cNvPr>
          <p:cNvGrpSpPr/>
          <p:nvPr/>
        </p:nvGrpSpPr>
        <p:grpSpPr>
          <a:xfrm>
            <a:off x="3387954" y="1841814"/>
            <a:ext cx="5133274" cy="3158904"/>
            <a:chOff x="3387954" y="1841814"/>
            <a:chExt cx="5133274" cy="3158904"/>
          </a:xfrm>
        </p:grpSpPr>
        <p:cxnSp>
          <p:nvCxnSpPr>
            <p:cNvPr id="93" name="Straight Arrow Connector 92">
              <a:extLst>
                <a:ext uri="{FF2B5EF4-FFF2-40B4-BE49-F238E27FC236}">
                  <a16:creationId xmlns="" xmlns:a16="http://schemas.microsoft.com/office/drawing/2014/main" id="{41D6A04D-A977-57C6-BBE4-F7117DDBB841}"/>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57" name="Straight Connector 56">
              <a:extLst>
                <a:ext uri="{FF2B5EF4-FFF2-40B4-BE49-F238E27FC236}">
                  <a16:creationId xmlns="" xmlns:a16="http://schemas.microsoft.com/office/drawing/2014/main" id="{31835FD8-8AD3-4B0A-A371-E7966EE6A42A}"/>
                </a:ext>
              </a:extLst>
            </p:cNvPr>
            <p:cNvCxnSpPr>
              <a:cxnSpLocks/>
            </p:cNvCxnSpPr>
            <p:nvPr/>
          </p:nvCxnSpPr>
          <p:spPr>
            <a:xfrm flipH="1" flipV="1">
              <a:off x="7236075" y="3192538"/>
              <a:ext cx="625" cy="144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 xmlns:a16="http://schemas.microsoft.com/office/drawing/2014/main" id="{CA7A50D6-894D-6761-436C-B653D779F630}"/>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 xmlns:a16="http://schemas.microsoft.com/office/drawing/2014/main" id="{AEF27BDE-C09D-0D68-9C79-DA7E9ED468F6}"/>
                </a:ext>
              </a:extLst>
            </p:cNvPr>
            <p:cNvCxnSpPr>
              <a:cxnSpLocks/>
            </p:cNvCxnSpPr>
            <p:nvPr/>
          </p:nvCxnSpPr>
          <p:spPr>
            <a:xfrm flipH="1" flipV="1">
              <a:off x="7232357" y="2715838"/>
              <a:ext cx="625" cy="180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 xmlns:a16="http://schemas.microsoft.com/office/drawing/2014/main" id="{060D2FD5-A69E-1D6A-534C-B7C9F72F7974}"/>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 xmlns:a16="http://schemas.microsoft.com/office/drawing/2014/main" id="{93D9F307-397C-606E-026E-047B70D57EB5}"/>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1" name="Rectangle 10">
                  <a:extLst>
                    <a:ext uri="{FF2B5EF4-FFF2-40B4-BE49-F238E27FC236}">
                      <a16:creationId xmlns="" xmlns:a16="http://schemas.microsoft.com/office/drawing/2014/main" id="{345AE2C3-FEB2-71A4-AA2C-1F8BD04F7BBA}"/>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345AE2C3-FEB2-71A4-AA2C-1F8BD04F7BBA}"/>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3"/>
                  <a:stretch>
                    <a:fillRect/>
                  </a:stretch>
                </a:blipFill>
              </p:spPr>
              <p:txBody>
                <a:bodyPr/>
                <a:lstStyle/>
                <a:p>
                  <a:r>
                    <a:rPr lang="en-US">
                      <a:noFill/>
                    </a:rPr>
                    <a:t> </a:t>
                  </a:r>
                </a:p>
              </p:txBody>
            </p:sp>
          </mc:Fallback>
        </mc:AlternateContent>
        <p:cxnSp>
          <p:nvCxnSpPr>
            <p:cNvPr id="78" name="Connector: Elbow 77">
              <a:extLst>
                <a:ext uri="{FF2B5EF4-FFF2-40B4-BE49-F238E27FC236}">
                  <a16:creationId xmlns="" xmlns:a16="http://schemas.microsoft.com/office/drawing/2014/main" id="{6AC76772-952E-8B82-1FFD-D73E6C8944FE}"/>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 xmlns:a16="http://schemas.microsoft.com/office/drawing/2014/main" id="{2993F300-F04C-CB11-8596-077DAD6C20A2}"/>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grpSp>
          <p:nvGrpSpPr>
            <p:cNvPr id="16" name="Group 15">
              <a:extLst>
                <a:ext uri="{FF2B5EF4-FFF2-40B4-BE49-F238E27FC236}">
                  <a16:creationId xmlns="" xmlns:a16="http://schemas.microsoft.com/office/drawing/2014/main" id="{30EB91E8-A109-F185-A3B3-750D3FDB2887}"/>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 xmlns:a16="http://schemas.microsoft.com/office/drawing/2014/main" id="{AABFA6D8-9AE7-2CDF-00A7-00D520C155BE}"/>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 xmlns:a16="http://schemas.microsoft.com/office/drawing/2014/main" id="{39F88B70-CD76-6EAC-06FD-9D255BF40A35}"/>
                  </a:ext>
                </a:extLst>
              </p:cNvPr>
              <p:cNvSpPr txBox="1"/>
              <p:nvPr/>
            </p:nvSpPr>
            <p:spPr>
              <a:xfrm>
                <a:off x="6108701" y="2910505"/>
                <a:ext cx="627148" cy="369332"/>
              </a:xfrm>
              <a:prstGeom prst="rect">
                <a:avLst/>
              </a:prstGeom>
              <a:noFill/>
            </p:spPr>
            <p:txBody>
              <a:bodyPr wrap="square">
                <a:spAutoFit/>
              </a:bodyPr>
              <a:lstStyle/>
              <a:p>
                <a:pPr algn="ctr"/>
                <a:r>
                  <a:rPr lang="pt-BR" dirty="0" err="1">
                    <a:solidFill>
                      <a:schemeClr val="tx1"/>
                    </a:solidFill>
                  </a:rPr>
                  <a:t>tanh</a:t>
                </a:r>
                <a:endParaRPr lang="en-US" dirty="0">
                  <a:solidFill>
                    <a:schemeClr val="tx1"/>
                  </a:solidFill>
                </a:endParaRPr>
              </a:p>
            </p:txBody>
          </p:sp>
        </p:grpSp>
        <p:cxnSp>
          <p:nvCxnSpPr>
            <p:cNvPr id="30" name="Connector: Elbow 29">
              <a:extLst>
                <a:ext uri="{FF2B5EF4-FFF2-40B4-BE49-F238E27FC236}">
                  <a16:creationId xmlns="" xmlns:a16="http://schemas.microsoft.com/office/drawing/2014/main" id="{061F6089-8AE3-02BC-8033-D7C3B58283FE}"/>
                </a:ext>
              </a:extLst>
            </p:cNvPr>
            <p:cNvCxnSpPr>
              <a:cxnSpLocks/>
              <a:endCxn id="11" idx="2"/>
            </p:cNvCxnSpPr>
            <p:nvPr/>
          </p:nvCxnSpPr>
          <p:spPr>
            <a:xfrm rot="5400000" flipH="1" flipV="1">
              <a:off x="5288165" y="3260341"/>
              <a:ext cx="641827" cy="2194687"/>
            </a:xfrm>
            <a:prstGeom prst="bentConnector3">
              <a:avLst>
                <a:gd name="adj1" fmla="val 67289"/>
              </a:avLst>
            </a:prstGeom>
            <a:ln w="19050"/>
          </p:spPr>
          <p:style>
            <a:lnRef idx="1">
              <a:schemeClr val="dk1"/>
            </a:lnRef>
            <a:fillRef idx="0">
              <a:schemeClr val="dk1"/>
            </a:fillRef>
            <a:effectRef idx="0">
              <a:schemeClr val="dk1"/>
            </a:effectRef>
            <a:fontRef idx="minor">
              <a:schemeClr val="tx1"/>
            </a:fontRef>
          </p:style>
        </p:cxnSp>
        <p:sp>
          <p:nvSpPr>
            <p:cNvPr id="39" name="Rectangle: Rounded Corners 38">
              <a:extLst>
                <a:ext uri="{FF2B5EF4-FFF2-40B4-BE49-F238E27FC236}">
                  <a16:creationId xmlns="" xmlns:a16="http://schemas.microsoft.com/office/drawing/2014/main" id="{B9E3D552-CE30-5202-A21A-832984102755}"/>
                </a:ext>
              </a:extLst>
            </p:cNvPr>
            <p:cNvSpPr/>
            <p:nvPr/>
          </p:nvSpPr>
          <p:spPr>
            <a:xfrm>
              <a:off x="4301176" y="243840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cxnSp>
          <p:nvCxnSpPr>
            <p:cNvPr id="68" name="Straight Connector 67">
              <a:extLst>
                <a:ext uri="{FF2B5EF4-FFF2-40B4-BE49-F238E27FC236}">
                  <a16:creationId xmlns="" xmlns:a16="http://schemas.microsoft.com/office/drawing/2014/main" id="{F28AF39C-2834-16CA-DBA0-AEBFF348E5C1}"/>
                </a:ext>
              </a:extLst>
            </p:cNvPr>
            <p:cNvCxnSpPr>
              <a:cxnSpLocks/>
              <a:stCxn id="17" idx="6"/>
              <a:endCxn id="48" idx="2"/>
            </p:cNvCxnSpPr>
            <p:nvPr/>
          </p:nvCxnSpPr>
          <p:spPr>
            <a:xfrm>
              <a:off x="4860985" y="2715788"/>
              <a:ext cx="992156" cy="1163"/>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37" name="Oval 36">
              <a:extLst>
                <a:ext uri="{FF2B5EF4-FFF2-40B4-BE49-F238E27FC236}">
                  <a16:creationId xmlns="" xmlns:a16="http://schemas.microsoft.com/office/drawing/2014/main" id="{6FE9D677-F8B6-B80A-64A4-6B5F9BBFF1AC}"/>
                </a:ext>
              </a:extLst>
            </p:cNvPr>
            <p:cNvSpPr/>
            <p:nvPr/>
          </p:nvSpPr>
          <p:spPr>
            <a:xfrm>
              <a:off x="5856481"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0" name="Rectangle 9">
                  <a:extLst>
                    <a:ext uri="{FF2B5EF4-FFF2-40B4-BE49-F238E27FC236}">
                      <a16:creationId xmlns="" xmlns:a16="http://schemas.microsoft.com/office/drawing/2014/main" id="{5FF9FAE6-D5F3-4F38-FD2D-96EF300B54DC}"/>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5FF9FAE6-D5F3-4F38-FD2D-96EF300B54DC}"/>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4"/>
                  <a:stretch>
                    <a:fillRect/>
                  </a:stretch>
                </a:blipFill>
              </p:spPr>
              <p:txBody>
                <a:bodyPr/>
                <a:lstStyle/>
                <a:p>
                  <a:r>
                    <a:rPr lang="en-US">
                      <a:noFill/>
                    </a:rPr>
                    <a:t> </a:t>
                  </a:r>
                </a:p>
              </p:txBody>
            </p:sp>
          </mc:Fallback>
        </mc:AlternateContent>
        <p:sp>
          <p:nvSpPr>
            <p:cNvPr id="12" name="Rectangle 11">
              <a:extLst>
                <a:ext uri="{FF2B5EF4-FFF2-40B4-BE49-F238E27FC236}">
                  <a16:creationId xmlns="" xmlns:a16="http://schemas.microsoft.com/office/drawing/2014/main" id="{DDE05879-A92C-038A-26CD-627B3B3BBC9E}"/>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err="1">
                  <a:solidFill>
                    <a:schemeClr val="tx1"/>
                  </a:solidFill>
                </a:rPr>
                <a:t>tanh</a:t>
              </a:r>
              <a:endParaRPr lang="en-US" dirty="0">
                <a:solidFill>
                  <a:schemeClr val="tx1"/>
                </a:solidFill>
              </a:endParaRPr>
            </a:p>
          </p:txBody>
        </p:sp>
        <p:cxnSp>
          <p:nvCxnSpPr>
            <p:cNvPr id="35" name="Straight Connector 34">
              <a:extLst>
                <a:ext uri="{FF2B5EF4-FFF2-40B4-BE49-F238E27FC236}">
                  <a16:creationId xmlns="" xmlns:a16="http://schemas.microsoft.com/office/drawing/2014/main" id="{B369DC99-7E45-4694-C02B-8827A4A578AB}"/>
                </a:ext>
              </a:extLst>
            </p:cNvPr>
            <p:cNvCxnSpPr>
              <a:cxnSpLocks/>
            </p:cNvCxnSpPr>
            <p:nvPr/>
          </p:nvCxnSpPr>
          <p:spPr>
            <a:xfrm>
              <a:off x="52832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 xmlns:a16="http://schemas.microsoft.com/office/drawing/2014/main" id="{904662E6-BA88-D85D-EFCC-CAA961373AEA}"/>
                </a:ext>
              </a:extLst>
            </p:cNvPr>
            <p:cNvCxnSpPr>
              <a:cxnSpLocks/>
            </p:cNvCxnSpPr>
            <p:nvPr/>
          </p:nvCxnSpPr>
          <p:spPr>
            <a:xfrm>
              <a:off x="598811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47" name="Straight Arrow Connector 46">
              <a:extLst>
                <a:ext uri="{FF2B5EF4-FFF2-40B4-BE49-F238E27FC236}">
                  <a16:creationId xmlns="" xmlns:a16="http://schemas.microsoft.com/office/drawing/2014/main" id="{2263CD92-0FD0-A7D7-9599-9C89CC8A9E39}"/>
                </a:ext>
              </a:extLst>
            </p:cNvPr>
            <p:cNvCxnSpPr>
              <a:cxnSpLocks/>
              <a:stCxn id="12" idx="0"/>
              <a:endCxn id="37" idx="4"/>
            </p:cNvCxnSpPr>
            <p:nvPr/>
          </p:nvCxnSpPr>
          <p:spPr>
            <a:xfrm flipH="1" flipV="1">
              <a:off x="5993006" y="3602002"/>
              <a:ext cx="868" cy="1341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 xmlns:a16="http://schemas.microsoft.com/office/drawing/2014/main" id="{77AFBF91-0509-83D7-B0FC-53BB614F4BD3}"/>
                </a:ext>
              </a:extLst>
            </p:cNvPr>
            <p:cNvCxnSpPr>
              <a:stCxn id="10" idx="0"/>
              <a:endCxn id="37" idx="2"/>
            </p:cNvCxnSpPr>
            <p:nvPr/>
          </p:nvCxnSpPr>
          <p:spPr>
            <a:xfrm rot="5400000" flipH="1" flipV="1">
              <a:off x="5437228" y="3316849"/>
              <a:ext cx="2706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 xmlns:a16="http://schemas.microsoft.com/office/drawing/2014/main" id="{EAC61687-6D03-CF74-F42B-08A5DC2E29D1}"/>
                    </a:ext>
                  </a:extLst>
                </p:cNvPr>
                <p:cNvSpPr txBox="1"/>
                <p:nvPr/>
              </p:nvSpPr>
              <p:spPr>
                <a:xfrm>
                  <a:off x="8050010" y="4070439"/>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1" name="TextBox 50">
                  <a:extLst>
                    <a:ext uri="{FF2B5EF4-FFF2-40B4-BE49-F238E27FC236}">
                      <a16:creationId xmlns:a16="http://schemas.microsoft.com/office/drawing/2014/main" id="{EAC61687-6D03-CF74-F42B-08A5DC2E29D1}"/>
                    </a:ext>
                  </a:extLst>
                </p:cNvPr>
                <p:cNvSpPr txBox="1">
                  <a:spLocks noRot="1" noChangeAspect="1" noMove="1" noResize="1" noEditPoints="1" noAdjustHandles="1" noChangeArrowheads="1" noChangeShapeType="1" noTextEdit="1"/>
                </p:cNvSpPr>
                <p:nvPr/>
              </p:nvSpPr>
              <p:spPr>
                <a:xfrm>
                  <a:off x="8050010" y="4070439"/>
                  <a:ext cx="471218" cy="369332"/>
                </a:xfrm>
                <a:prstGeom prst="rect">
                  <a:avLst/>
                </a:prstGeom>
                <a:blipFill>
                  <a:blip r:embed="rId5"/>
                  <a:stretch>
                    <a:fillRect/>
                  </a:stretch>
                </a:blipFill>
              </p:spPr>
              <p:txBody>
                <a:bodyPr/>
                <a:lstStyle/>
                <a:p>
                  <a:r>
                    <a:rPr lang="en-US">
                      <a:noFill/>
                    </a:rPr>
                    <a:t> </a:t>
                  </a:r>
                </a:p>
              </p:txBody>
            </p:sp>
          </mc:Fallback>
        </mc:AlternateContent>
        <p:sp>
          <p:nvSpPr>
            <p:cNvPr id="48" name="Oval 47">
              <a:extLst>
                <a:ext uri="{FF2B5EF4-FFF2-40B4-BE49-F238E27FC236}">
                  <a16:creationId xmlns="" xmlns:a16="http://schemas.microsoft.com/office/drawing/2014/main" id="{AD26CA9E-56A6-4198-D806-3A332FD6EB3F}"/>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71" name="Straight Connector 70">
              <a:extLst>
                <a:ext uri="{FF2B5EF4-FFF2-40B4-BE49-F238E27FC236}">
                  <a16:creationId xmlns="" xmlns:a16="http://schemas.microsoft.com/office/drawing/2014/main" id="{09734D40-9979-E514-4F53-502671E18AD6}"/>
                </a:ext>
              </a:extLst>
            </p:cNvPr>
            <p:cNvCxnSpPr>
              <a:cxnSpLocks/>
            </p:cNvCxnSpPr>
            <p:nvPr/>
          </p:nvCxnSpPr>
          <p:spPr>
            <a:xfrm>
              <a:off x="6126191" y="2715788"/>
              <a:ext cx="1980000"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 xmlns:a16="http://schemas.microsoft.com/office/drawing/2014/main" id="{192221E8-98B0-97BB-6D77-9137D6CE5F62}"/>
                </a:ext>
              </a:extLst>
            </p:cNvPr>
            <p:cNvCxnSpPr>
              <a:cxnSpLocks/>
              <a:stCxn id="37" idx="0"/>
              <a:endCxn id="48" idx="4"/>
            </p:cNvCxnSpPr>
            <p:nvPr/>
          </p:nvCxnSpPr>
          <p:spPr>
            <a:xfrm flipH="1" flipV="1">
              <a:off x="5989666" y="2853476"/>
              <a:ext cx="3340" cy="4754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 xmlns:a16="http://schemas.microsoft.com/office/drawing/2014/main" id="{6BE2E37D-C9CD-672F-BC9A-55D75190BBF8}"/>
                    </a:ext>
                  </a:extLst>
                </p:cNvPr>
                <p:cNvSpPr txBox="1"/>
                <p:nvPr/>
              </p:nvSpPr>
              <p:spPr>
                <a:xfrm>
                  <a:off x="8039200" y="2529630"/>
                  <a:ext cx="44236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7" name="TextBox 6">
                  <a:extLst>
                    <a:ext uri="{FF2B5EF4-FFF2-40B4-BE49-F238E27FC236}">
                      <a16:creationId xmlns:a16="http://schemas.microsoft.com/office/drawing/2014/main" id="{6BE2E37D-C9CD-672F-BC9A-55D75190BBF8}"/>
                    </a:ext>
                  </a:extLst>
                </p:cNvPr>
                <p:cNvSpPr txBox="1">
                  <a:spLocks noRot="1" noChangeAspect="1" noMove="1" noResize="1" noEditPoints="1" noAdjustHandles="1" noChangeArrowheads="1" noChangeShapeType="1" noTextEdit="1"/>
                </p:cNvSpPr>
                <p:nvPr/>
              </p:nvSpPr>
              <p:spPr>
                <a:xfrm>
                  <a:off x="8039200" y="2529630"/>
                  <a:ext cx="442364" cy="369332"/>
                </a:xfrm>
                <a:prstGeom prst="rect">
                  <a:avLst/>
                </a:prstGeom>
                <a:blipFill>
                  <a:blip r:embed="rId6"/>
                  <a:stretch>
                    <a:fillRect/>
                  </a:stretch>
                </a:blipFill>
              </p:spPr>
              <p:txBody>
                <a:bodyPr/>
                <a:lstStyle/>
                <a:p>
                  <a:r>
                    <a:rPr lang="en-US">
                      <a:noFill/>
                    </a:rPr>
                    <a:t> </a:t>
                  </a:r>
                </a:p>
              </p:txBody>
            </p:sp>
          </mc:Fallback>
        </mc:AlternateContent>
        <p:cxnSp>
          <p:nvCxnSpPr>
            <p:cNvPr id="64" name="Straight Connector 63">
              <a:extLst>
                <a:ext uri="{FF2B5EF4-FFF2-40B4-BE49-F238E27FC236}">
                  <a16:creationId xmlns="" xmlns:a16="http://schemas.microsoft.com/office/drawing/2014/main" id="{95187632-EDBE-4A9F-6F24-A0E1DC2389CF}"/>
                </a:ext>
              </a:extLst>
            </p:cNvPr>
            <p:cNvCxnSpPr>
              <a:cxnSpLocks/>
              <a:endCxn id="17" idx="2"/>
            </p:cNvCxnSpPr>
            <p:nvPr/>
          </p:nvCxnSpPr>
          <p:spPr>
            <a:xfrm flipV="1">
              <a:off x="4012696" y="2715788"/>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17" name="Oval 16">
              <a:extLst>
                <a:ext uri="{FF2B5EF4-FFF2-40B4-BE49-F238E27FC236}">
                  <a16:creationId xmlns="" xmlns:a16="http://schemas.microsoft.com/office/drawing/2014/main" id="{FB63BB8C-8CDF-507A-D3B3-AEC868E78ACB}"/>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8" name="Rectangle 7">
                  <a:extLst>
                    <a:ext uri="{FF2B5EF4-FFF2-40B4-BE49-F238E27FC236}">
                      <a16:creationId xmlns="" xmlns:a16="http://schemas.microsoft.com/office/drawing/2014/main" id="{3F479985-A1F4-6572-D403-27A06458A8E1}"/>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3F479985-A1F4-6572-D403-27A06458A8E1}"/>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7"/>
                  <a:stretch>
                    <a:fillRect/>
                  </a:stretch>
                </a:blipFill>
              </p:spPr>
              <p:txBody>
                <a:bodyPr/>
                <a:lstStyle/>
                <a:p>
                  <a:r>
                    <a:rPr lang="en-US">
                      <a:noFill/>
                    </a:rPr>
                    <a:t> </a:t>
                  </a:r>
                </a:p>
              </p:txBody>
            </p:sp>
          </mc:Fallback>
        </mc:AlternateContent>
        <p:cxnSp>
          <p:nvCxnSpPr>
            <p:cNvPr id="20" name="Straight Arrow Connector 19">
              <a:extLst>
                <a:ext uri="{FF2B5EF4-FFF2-40B4-BE49-F238E27FC236}">
                  <a16:creationId xmlns="" xmlns:a16="http://schemas.microsoft.com/office/drawing/2014/main" id="{9998E1E6-9B24-24E9-20DE-CFED16703223}"/>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 xmlns:a16="http://schemas.microsoft.com/office/drawing/2014/main" id="{169C3F89-4C87-AF8C-C0CE-A02D4E854092}"/>
                </a:ext>
              </a:extLst>
            </p:cNvPr>
            <p:cNvCxnSpPr>
              <a:cxnSpLocks/>
            </p:cNvCxnSpPr>
            <p:nvPr/>
          </p:nvCxnSpPr>
          <p:spPr>
            <a:xfrm>
              <a:off x="47244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101" name="Straight Connector 100">
              <a:extLst>
                <a:ext uri="{FF2B5EF4-FFF2-40B4-BE49-F238E27FC236}">
                  <a16:creationId xmlns="" xmlns:a16="http://schemas.microsoft.com/office/drawing/2014/main" id="{265FA536-7F65-7BCA-9097-19FF4C657AFE}"/>
                </a:ext>
              </a:extLst>
            </p:cNvPr>
            <p:cNvCxnSpPr>
              <a:cxnSpLocks/>
            </p:cNvCxnSpPr>
            <p:nvPr/>
          </p:nvCxnSpPr>
          <p:spPr>
            <a:xfrm>
              <a:off x="3971971" y="4237301"/>
              <a:ext cx="2016000" cy="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 xmlns:a16="http://schemas.microsoft.com/office/drawing/2014/main" id="{AEB3C603-8DDE-BBB3-F8E0-B4A4998EAC0C}"/>
                    </a:ext>
                  </a:extLst>
                </p:cNvPr>
                <p:cNvSpPr txBox="1"/>
                <p:nvPr/>
              </p:nvSpPr>
              <p:spPr>
                <a:xfrm>
                  <a:off x="3399976" y="2480066"/>
                  <a:ext cx="66197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5" name="TextBox 4">
                  <a:extLst>
                    <a:ext uri="{FF2B5EF4-FFF2-40B4-BE49-F238E27FC236}">
                      <a16:creationId xmlns:a16="http://schemas.microsoft.com/office/drawing/2014/main" id="{AEB3C603-8DDE-BBB3-F8E0-B4A4998EAC0C}"/>
                    </a:ext>
                  </a:extLst>
                </p:cNvPr>
                <p:cNvSpPr txBox="1">
                  <a:spLocks noRot="1" noChangeAspect="1" noMove="1" noResize="1" noEditPoints="1" noAdjustHandles="1" noChangeArrowheads="1" noChangeShapeType="1" noTextEdit="1"/>
                </p:cNvSpPr>
                <p:nvPr/>
              </p:nvSpPr>
              <p:spPr>
                <a:xfrm>
                  <a:off x="3399976" y="2480066"/>
                  <a:ext cx="661976"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 xmlns:a16="http://schemas.microsoft.com/office/drawing/2014/main" id="{8628CEEE-8E89-1C4D-2220-FE4E61FFCE88}"/>
                    </a:ext>
                  </a:extLst>
                </p:cNvPr>
                <p:cNvSpPr txBox="1"/>
                <p:nvPr/>
              </p:nvSpPr>
              <p:spPr>
                <a:xfrm>
                  <a:off x="3387954" y="4052158"/>
                  <a:ext cx="69083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50" name="TextBox 49">
                  <a:extLst>
                    <a:ext uri="{FF2B5EF4-FFF2-40B4-BE49-F238E27FC236}">
                      <a16:creationId xmlns:a16="http://schemas.microsoft.com/office/drawing/2014/main" id="{8628CEEE-8E89-1C4D-2220-FE4E61FFCE88}"/>
                    </a:ext>
                  </a:extLst>
                </p:cNvPr>
                <p:cNvSpPr txBox="1">
                  <a:spLocks noRot="1" noChangeAspect="1" noMove="1" noResize="1" noEditPoints="1" noAdjustHandles="1" noChangeArrowheads="1" noChangeShapeType="1" noTextEdit="1"/>
                </p:cNvSpPr>
                <p:nvPr/>
              </p:nvSpPr>
              <p:spPr>
                <a:xfrm>
                  <a:off x="3387954" y="4052158"/>
                  <a:ext cx="69083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 xmlns:a16="http://schemas.microsoft.com/office/drawing/2014/main" id="{1985298A-2856-ABFD-C452-1A9F3EBD0134}"/>
                    </a:ext>
                  </a:extLst>
                </p:cNvPr>
                <p:cNvSpPr txBox="1"/>
                <p:nvPr/>
              </p:nvSpPr>
              <p:spPr>
                <a:xfrm>
                  <a:off x="7423392" y="1841814"/>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3" name="TextBox 52">
                  <a:extLst>
                    <a:ext uri="{FF2B5EF4-FFF2-40B4-BE49-F238E27FC236}">
                      <a16:creationId xmlns:a16="http://schemas.microsoft.com/office/drawing/2014/main" id="{1985298A-2856-ABFD-C452-1A9F3EBD0134}"/>
                    </a:ext>
                  </a:extLst>
                </p:cNvPr>
                <p:cNvSpPr txBox="1">
                  <a:spLocks noRot="1" noChangeAspect="1" noMove="1" noResize="1" noEditPoints="1" noAdjustHandles="1" noChangeArrowheads="1" noChangeShapeType="1" noTextEdit="1"/>
                </p:cNvSpPr>
                <p:nvPr/>
              </p:nvSpPr>
              <p:spPr>
                <a:xfrm>
                  <a:off x="7423392" y="1841814"/>
                  <a:ext cx="471218"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 xmlns:a16="http://schemas.microsoft.com/office/drawing/2014/main" id="{36215880-FBAA-2090-61D8-3381AF0E06BC}"/>
                    </a:ext>
                  </a:extLst>
                </p:cNvPr>
                <p:cNvSpPr txBox="1"/>
                <p:nvPr/>
              </p:nvSpPr>
              <p:spPr>
                <a:xfrm>
                  <a:off x="4288133" y="4631386"/>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55" name="TextBox 54">
                  <a:extLst>
                    <a:ext uri="{FF2B5EF4-FFF2-40B4-BE49-F238E27FC236}">
                      <a16:creationId xmlns:a16="http://schemas.microsoft.com/office/drawing/2014/main" id="{36215880-FBAA-2090-61D8-3381AF0E06BC}"/>
                    </a:ext>
                  </a:extLst>
                </p:cNvPr>
                <p:cNvSpPr txBox="1">
                  <a:spLocks noRot="1" noChangeAspect="1" noMove="1" noResize="1" noEditPoints="1" noAdjustHandles="1" noChangeArrowheads="1" noChangeShapeType="1" noTextEdit="1"/>
                </p:cNvSpPr>
                <p:nvPr/>
              </p:nvSpPr>
              <p:spPr>
                <a:xfrm>
                  <a:off x="4288133" y="4631386"/>
                  <a:ext cx="458394" cy="369332"/>
                </a:xfrm>
                <a:prstGeom prst="rect">
                  <a:avLst/>
                </a:prstGeom>
                <a:blipFill>
                  <a:blip r:embed="rId11"/>
                  <a:stretch>
                    <a:fillRect/>
                  </a:stretch>
                </a:blipFill>
              </p:spPr>
              <p:txBody>
                <a:bodyPr/>
                <a:lstStyle/>
                <a:p>
                  <a:r>
                    <a:rPr lang="en-US">
                      <a:noFill/>
                    </a:rPr>
                    <a:t> </a:t>
                  </a:r>
                </a:p>
              </p:txBody>
            </p:sp>
          </mc:Fallback>
        </mc:AlternateContent>
        <p:cxnSp>
          <p:nvCxnSpPr>
            <p:cNvPr id="3" name="Straight Connector 2">
              <a:extLst>
                <a:ext uri="{FF2B5EF4-FFF2-40B4-BE49-F238E27FC236}">
                  <a16:creationId xmlns="" xmlns:a16="http://schemas.microsoft.com/office/drawing/2014/main" id="{7D80BECE-9ECC-B9DE-EF50-2C2B2C4AC5DB}"/>
                </a:ext>
              </a:extLst>
            </p:cNvPr>
            <p:cNvCxnSpPr>
              <a:cxnSpLocks/>
              <a:stCxn id="55" idx="0"/>
            </p:cNvCxnSpPr>
            <p:nvPr/>
          </p:nvCxnSpPr>
          <p:spPr>
            <a:xfrm flipH="1" flipV="1">
              <a:off x="4511399" y="4241954"/>
              <a:ext cx="5931" cy="38943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 xmlns:a16="http://schemas.microsoft.com/office/drawing/2014/main" id="{1CBB1F56-3EBF-2506-9BB1-48E8BF989340}"/>
                    </a:ext>
                  </a:extLst>
                </p:cNvPr>
                <p:cNvSpPr txBox="1"/>
                <p:nvPr/>
              </p:nvSpPr>
              <p:spPr>
                <a:xfrm>
                  <a:off x="4334939" y="3086237"/>
                  <a:ext cx="455189"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𝒇</m:t>
                            </m:r>
                          </m:e>
                          <m:sub>
                            <m:r>
                              <a:rPr lang="pt-BR" b="0" i="1" smtClean="0">
                                <a:latin typeface="Cambria Math" panose="02040503050406030204" pitchFamily="18" charset="0"/>
                              </a:rPr>
                              <m:t>𝑡</m:t>
                            </m:r>
                          </m:sub>
                        </m:sSub>
                      </m:oMath>
                    </m:oMathPara>
                  </a14:m>
                  <a:endParaRPr lang="en-US" dirty="0"/>
                </a:p>
              </p:txBody>
            </p:sp>
          </mc:Choice>
          <mc:Fallback xmlns="">
            <p:sp>
              <p:nvSpPr>
                <p:cNvPr id="9" name="TextBox 8">
                  <a:extLst>
                    <a:ext uri="{FF2B5EF4-FFF2-40B4-BE49-F238E27FC236}">
                      <a16:creationId xmlns:a16="http://schemas.microsoft.com/office/drawing/2014/main" id="{1CBB1F56-3EBF-2506-9BB1-48E8BF989340}"/>
                    </a:ext>
                  </a:extLst>
                </p:cNvPr>
                <p:cNvSpPr txBox="1">
                  <a:spLocks noRot="1" noChangeAspect="1" noMove="1" noResize="1" noEditPoints="1" noAdjustHandles="1" noChangeArrowheads="1" noChangeShapeType="1" noTextEdit="1"/>
                </p:cNvSpPr>
                <p:nvPr/>
              </p:nvSpPr>
              <p:spPr>
                <a:xfrm>
                  <a:off x="4334939" y="3086237"/>
                  <a:ext cx="455189" cy="369332"/>
                </a:xfrm>
                <a:prstGeom prst="rect">
                  <a:avLst/>
                </a:prstGeom>
                <a:blipFill>
                  <a:blip r:embed="rId12"/>
                  <a:stretch>
                    <a:fillRect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 xmlns:a16="http://schemas.microsoft.com/office/drawing/2014/main" id="{CA952064-AD70-94D9-E2DD-B91D4A28DC0F}"/>
                    </a:ext>
                  </a:extLst>
                </p:cNvPr>
                <p:cNvSpPr txBox="1"/>
                <p:nvPr/>
              </p:nvSpPr>
              <p:spPr>
                <a:xfrm>
                  <a:off x="5338207" y="3129437"/>
                  <a:ext cx="41030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𝒊</m:t>
                            </m:r>
                          </m:e>
                          <m:sub>
                            <m:r>
                              <a:rPr lang="pt-BR" b="0" i="1" smtClean="0">
                                <a:latin typeface="Cambria Math" panose="02040503050406030204" pitchFamily="18" charset="0"/>
                              </a:rPr>
                              <m:t>𝑡</m:t>
                            </m:r>
                          </m:sub>
                        </m:sSub>
                      </m:oMath>
                    </m:oMathPara>
                  </a14:m>
                  <a:endParaRPr lang="en-US" dirty="0"/>
                </a:p>
              </p:txBody>
            </p:sp>
          </mc:Choice>
          <mc:Fallback xmlns="">
            <p:sp>
              <p:nvSpPr>
                <p:cNvPr id="19" name="TextBox 18">
                  <a:extLst>
                    <a:ext uri="{FF2B5EF4-FFF2-40B4-BE49-F238E27FC236}">
                      <a16:creationId xmlns:a16="http://schemas.microsoft.com/office/drawing/2014/main" id="{CA952064-AD70-94D9-E2DD-B91D4A28DC0F}"/>
                    </a:ext>
                  </a:extLst>
                </p:cNvPr>
                <p:cNvSpPr txBox="1">
                  <a:spLocks noRot="1" noChangeAspect="1" noMove="1" noResize="1" noEditPoints="1" noAdjustHandles="1" noChangeArrowheads="1" noChangeShapeType="1" noTextEdit="1"/>
                </p:cNvSpPr>
                <p:nvPr/>
              </p:nvSpPr>
              <p:spPr>
                <a:xfrm>
                  <a:off x="5338207" y="3129437"/>
                  <a:ext cx="410304"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 xmlns:a16="http://schemas.microsoft.com/office/drawing/2014/main" id="{906BA239-78D0-0FC7-46DA-9E9A58FF0EA2}"/>
                    </a:ext>
                  </a:extLst>
                </p:cNvPr>
                <p:cNvSpPr txBox="1"/>
                <p:nvPr/>
              </p:nvSpPr>
              <p:spPr>
                <a:xfrm>
                  <a:off x="6012344" y="3390696"/>
                  <a:ext cx="44236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acc>
                              <m:accPr>
                                <m:chr m:val="̃"/>
                                <m:ctrlPr>
                                  <a:rPr lang="en-US" i="1">
                                    <a:latin typeface="Cambria Math" panose="02040503050406030204" pitchFamily="18" charset="0"/>
                                  </a:rPr>
                                </m:ctrlPr>
                              </m:accPr>
                              <m:e>
                                <m:r>
                                  <a:rPr lang="pt-BR" b="1" i="1">
                                    <a:latin typeface="Cambria Math" panose="02040503050406030204" pitchFamily="18" charset="0"/>
                                  </a:rPr>
                                  <m:t>𝒄</m:t>
                                </m:r>
                              </m:e>
                            </m:acc>
                          </m:e>
                          <m:sub>
                            <m:r>
                              <a:rPr lang="pt-BR" b="0" i="1" smtClean="0">
                                <a:latin typeface="Cambria Math" panose="02040503050406030204" pitchFamily="18" charset="0"/>
                              </a:rPr>
                              <m:t>𝑡</m:t>
                            </m:r>
                          </m:sub>
                        </m:sSub>
                      </m:oMath>
                    </m:oMathPara>
                  </a14:m>
                  <a:endParaRPr lang="en-US" dirty="0"/>
                </a:p>
              </p:txBody>
            </p:sp>
          </mc:Choice>
          <mc:Fallback xmlns="">
            <p:sp>
              <p:nvSpPr>
                <p:cNvPr id="21" name="TextBox 20">
                  <a:extLst>
                    <a:ext uri="{FF2B5EF4-FFF2-40B4-BE49-F238E27FC236}">
                      <a16:creationId xmlns:a16="http://schemas.microsoft.com/office/drawing/2014/main" id="{906BA239-78D0-0FC7-46DA-9E9A58FF0EA2}"/>
                    </a:ext>
                  </a:extLst>
                </p:cNvPr>
                <p:cNvSpPr txBox="1">
                  <a:spLocks noRot="1" noChangeAspect="1" noMove="1" noResize="1" noEditPoints="1" noAdjustHandles="1" noChangeArrowheads="1" noChangeShapeType="1" noTextEdit="1"/>
                </p:cNvSpPr>
                <p:nvPr/>
              </p:nvSpPr>
              <p:spPr>
                <a:xfrm>
                  <a:off x="6012344" y="3390696"/>
                  <a:ext cx="442364" cy="369332"/>
                </a:xfrm>
                <a:prstGeom prst="rect">
                  <a:avLst/>
                </a:prstGeom>
                <a:blipFill>
                  <a:blip r:embed="rId14"/>
                  <a:stretch>
                    <a:fillRect r="-2740"/>
                  </a:stretch>
                </a:blipFill>
              </p:spPr>
              <p:txBody>
                <a:bodyPr/>
                <a:lstStyle/>
                <a:p>
                  <a:r>
                    <a:rPr lang="en-US">
                      <a:noFill/>
                    </a:rPr>
                    <a:t> </a:t>
                  </a:r>
                </a:p>
              </p:txBody>
            </p:sp>
          </mc:Fallback>
        </mc:AlternateContent>
      </p:grpSp>
    </p:spTree>
    <p:extLst>
      <p:ext uri="{BB962C8B-B14F-4D97-AF65-F5344CB8AC3E}">
        <p14:creationId xmlns:p14="http://schemas.microsoft.com/office/powerpoint/2010/main" val="2755455647"/>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AA234DB3-EF34-ECEA-612A-5AF4DB057051}"/>
            </a:ext>
          </a:extLst>
        </p:cNvPr>
        <p:cNvGrpSpPr/>
        <p:nvPr/>
      </p:nvGrpSpPr>
      <p:grpSpPr>
        <a:xfrm>
          <a:off x="0" y="0"/>
          <a:ext cx="0" cy="0"/>
          <a:chOff x="0" y="0"/>
          <a:chExt cx="0" cy="0"/>
        </a:xfrm>
      </p:grpSpPr>
      <p:grpSp>
        <p:nvGrpSpPr>
          <p:cNvPr id="29" name="Group 28">
            <a:extLst>
              <a:ext uri="{FF2B5EF4-FFF2-40B4-BE49-F238E27FC236}">
                <a16:creationId xmlns="" xmlns:a16="http://schemas.microsoft.com/office/drawing/2014/main" id="{F9BBD2FD-CF73-528D-5800-EBFA500E45CD}"/>
              </a:ext>
            </a:extLst>
          </p:cNvPr>
          <p:cNvGrpSpPr/>
          <p:nvPr/>
        </p:nvGrpSpPr>
        <p:grpSpPr>
          <a:xfrm>
            <a:off x="3387954" y="1841814"/>
            <a:ext cx="5133274" cy="3158904"/>
            <a:chOff x="3387954" y="1841814"/>
            <a:chExt cx="5133274" cy="3158904"/>
          </a:xfrm>
        </p:grpSpPr>
        <p:cxnSp>
          <p:nvCxnSpPr>
            <p:cNvPr id="19" name="Connector: Elbow 18">
              <a:extLst>
                <a:ext uri="{FF2B5EF4-FFF2-40B4-BE49-F238E27FC236}">
                  <a16:creationId xmlns="" xmlns:a16="http://schemas.microsoft.com/office/drawing/2014/main" id="{DF034DC8-C749-090B-EE51-94854F66C6F7}"/>
                </a:ext>
              </a:extLst>
            </p:cNvPr>
            <p:cNvCxnSpPr>
              <a:cxnSpLocks/>
            </p:cNvCxnSpPr>
            <p:nvPr/>
          </p:nvCxnSpPr>
          <p:spPr>
            <a:xfrm flipV="1">
              <a:off x="5997177" y="4033973"/>
              <a:ext cx="709244" cy="20612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93" name="Straight Arrow Connector 92">
              <a:extLst>
                <a:ext uri="{FF2B5EF4-FFF2-40B4-BE49-F238E27FC236}">
                  <a16:creationId xmlns="" xmlns:a16="http://schemas.microsoft.com/office/drawing/2014/main" id="{6FE0EB9D-21F9-4127-6D82-435A599952EE}"/>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 xmlns:a16="http://schemas.microsoft.com/office/drawing/2014/main" id="{13CBD50A-A730-8AFE-B031-D15997274FBC}"/>
                </a:ext>
              </a:extLst>
            </p:cNvPr>
            <p:cNvCxnSpPr>
              <a:cxnSpLocks/>
            </p:cNvCxnSpPr>
            <p:nvPr/>
          </p:nvCxnSpPr>
          <p:spPr>
            <a:xfrm flipH="1" flipV="1">
              <a:off x="7232357" y="2715838"/>
              <a:ext cx="625" cy="180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 xmlns:a16="http://schemas.microsoft.com/office/drawing/2014/main" id="{91D4EC76-045A-4A76-251A-E4E6ACE08988}"/>
                    </a:ext>
                  </a:extLst>
                </p:cNvPr>
                <p:cNvSpPr txBox="1"/>
                <p:nvPr/>
              </p:nvSpPr>
              <p:spPr>
                <a:xfrm>
                  <a:off x="8039200" y="2529630"/>
                  <a:ext cx="44236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7" name="TextBox 6">
                  <a:extLst>
                    <a:ext uri="{FF2B5EF4-FFF2-40B4-BE49-F238E27FC236}">
                      <a16:creationId xmlns:a16="http://schemas.microsoft.com/office/drawing/2014/main" id="{91D4EC76-045A-4A76-251A-E4E6ACE08988}"/>
                    </a:ext>
                  </a:extLst>
                </p:cNvPr>
                <p:cNvSpPr txBox="1">
                  <a:spLocks noRot="1" noChangeAspect="1" noMove="1" noResize="1" noEditPoints="1" noAdjustHandles="1" noChangeArrowheads="1" noChangeShapeType="1" noTextEdit="1"/>
                </p:cNvSpPr>
                <p:nvPr/>
              </p:nvSpPr>
              <p:spPr>
                <a:xfrm>
                  <a:off x="8039200" y="2529630"/>
                  <a:ext cx="442364"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 xmlns:a16="http://schemas.microsoft.com/office/drawing/2014/main" id="{689F7505-4009-14AF-E17D-4AAF1B48F2F2}"/>
                    </a:ext>
                  </a:extLst>
                </p:cNvPr>
                <p:cNvSpPr txBox="1"/>
                <p:nvPr/>
              </p:nvSpPr>
              <p:spPr>
                <a:xfrm>
                  <a:off x="7423392" y="1841814"/>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3" name="TextBox 52">
                  <a:extLst>
                    <a:ext uri="{FF2B5EF4-FFF2-40B4-BE49-F238E27FC236}">
                      <a16:creationId xmlns:a16="http://schemas.microsoft.com/office/drawing/2014/main" id="{689F7505-4009-14AF-E17D-4AAF1B48F2F2}"/>
                    </a:ext>
                  </a:extLst>
                </p:cNvPr>
                <p:cNvSpPr txBox="1">
                  <a:spLocks noRot="1" noChangeAspect="1" noMove="1" noResize="1" noEditPoints="1" noAdjustHandles="1" noChangeArrowheads="1" noChangeShapeType="1" noTextEdit="1"/>
                </p:cNvSpPr>
                <p:nvPr/>
              </p:nvSpPr>
              <p:spPr>
                <a:xfrm>
                  <a:off x="7423392" y="1841814"/>
                  <a:ext cx="471218" cy="369332"/>
                </a:xfrm>
                <a:prstGeom prst="rect">
                  <a:avLst/>
                </a:prstGeom>
                <a:blipFill>
                  <a:blip r:embed="rId4"/>
                  <a:stretch>
                    <a:fillRect/>
                  </a:stretch>
                </a:blipFill>
              </p:spPr>
              <p:txBody>
                <a:bodyPr/>
                <a:lstStyle/>
                <a:p>
                  <a:r>
                    <a:rPr lang="en-US">
                      <a:noFill/>
                    </a:rPr>
                    <a:t> </a:t>
                  </a:r>
                </a:p>
              </p:txBody>
            </p:sp>
          </mc:Fallback>
        </mc:AlternateContent>
        <p:cxnSp>
          <p:nvCxnSpPr>
            <p:cNvPr id="68" name="Straight Connector 67">
              <a:extLst>
                <a:ext uri="{FF2B5EF4-FFF2-40B4-BE49-F238E27FC236}">
                  <a16:creationId xmlns="" xmlns:a16="http://schemas.microsoft.com/office/drawing/2014/main" id="{E5886DE6-1077-206C-D3CA-99E74DEC9394}"/>
                </a:ext>
              </a:extLst>
            </p:cNvPr>
            <p:cNvCxnSpPr>
              <a:cxnSpLocks/>
              <a:stCxn id="17" idx="6"/>
              <a:endCxn id="48" idx="2"/>
            </p:cNvCxnSpPr>
            <p:nvPr/>
          </p:nvCxnSpPr>
          <p:spPr>
            <a:xfrm>
              <a:off x="4860985" y="2715788"/>
              <a:ext cx="992156" cy="1163"/>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48" name="Oval 47">
              <a:extLst>
                <a:ext uri="{FF2B5EF4-FFF2-40B4-BE49-F238E27FC236}">
                  <a16:creationId xmlns="" xmlns:a16="http://schemas.microsoft.com/office/drawing/2014/main" id="{CFF05A71-582D-9191-9743-99F9C78418F2}"/>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71" name="Straight Connector 70">
              <a:extLst>
                <a:ext uri="{FF2B5EF4-FFF2-40B4-BE49-F238E27FC236}">
                  <a16:creationId xmlns="" xmlns:a16="http://schemas.microsoft.com/office/drawing/2014/main" id="{654B79FE-0697-96CC-0810-CAF4594A53DB}"/>
                </a:ext>
              </a:extLst>
            </p:cNvPr>
            <p:cNvCxnSpPr>
              <a:cxnSpLocks/>
            </p:cNvCxnSpPr>
            <p:nvPr/>
          </p:nvCxnSpPr>
          <p:spPr>
            <a:xfrm>
              <a:off x="6126191" y="2715788"/>
              <a:ext cx="1980000" cy="1163"/>
            </a:xfrm>
            <a:prstGeom prst="line">
              <a:avLst/>
            </a:prstGeom>
            <a:ln w="19050">
              <a:solidFill>
                <a:schemeClr val="dk1"/>
              </a:solidFill>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 xmlns:a16="http://schemas.microsoft.com/office/drawing/2014/main" id="{C15C5B51-0C20-185B-0040-A8999AD7455E}"/>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 xmlns:a16="http://schemas.microsoft.com/office/drawing/2014/main" id="{4A337265-AB1F-6C47-6023-FD5F7C1D768B}"/>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 xmlns:a16="http://schemas.microsoft.com/office/drawing/2014/main" id="{FA8CE05B-78DD-6CF4-4CBF-4D95C037C8E1}"/>
                </a:ext>
              </a:extLst>
            </p:cNvPr>
            <p:cNvCxnSpPr>
              <a:cxnSpLocks/>
            </p:cNvCxnSpPr>
            <p:nvPr/>
          </p:nvCxnSpPr>
          <p:spPr>
            <a:xfrm flipH="1" flipV="1">
              <a:off x="7236075" y="3192538"/>
              <a:ext cx="625" cy="144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1" name="Rectangle 10">
                  <a:extLst>
                    <a:ext uri="{FF2B5EF4-FFF2-40B4-BE49-F238E27FC236}">
                      <a16:creationId xmlns="" xmlns:a16="http://schemas.microsoft.com/office/drawing/2014/main" id="{35C35CCD-5DF6-163D-A028-0291F843D86F}"/>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35C35CCD-5DF6-163D-A028-0291F843D86F}"/>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5"/>
                  <a:stretch>
                    <a:fillRect/>
                  </a:stretch>
                </a:blipFill>
              </p:spPr>
              <p:txBody>
                <a:bodyPr/>
                <a:lstStyle/>
                <a:p>
                  <a:r>
                    <a:rPr lang="en-US">
                      <a:noFill/>
                    </a:rPr>
                    <a:t> </a:t>
                  </a:r>
                </a:p>
              </p:txBody>
            </p:sp>
          </mc:Fallback>
        </mc:AlternateContent>
        <p:cxnSp>
          <p:nvCxnSpPr>
            <p:cNvPr id="78" name="Connector: Elbow 77">
              <a:extLst>
                <a:ext uri="{FF2B5EF4-FFF2-40B4-BE49-F238E27FC236}">
                  <a16:creationId xmlns="" xmlns:a16="http://schemas.microsoft.com/office/drawing/2014/main" id="{EE08F870-46C7-6BA5-D892-5DC0823B8B82}"/>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 xmlns:a16="http://schemas.microsoft.com/office/drawing/2014/main" id="{70F127C9-AC3F-6FC7-7015-EB3F874395B3}"/>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 xmlns:a16="http://schemas.microsoft.com/office/drawing/2014/main" id="{2DEFA638-D7CB-D2C1-F61C-49C9439A7FA6}"/>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 xmlns:a16="http://schemas.microsoft.com/office/drawing/2014/main" id="{80D1BF60-4C30-885A-46CD-5A06FD769BC1}"/>
                    </a:ext>
                  </a:extLst>
                </p:cNvPr>
                <p:cNvSpPr txBox="1"/>
                <p:nvPr/>
              </p:nvSpPr>
              <p:spPr>
                <a:xfrm>
                  <a:off x="8050010" y="4070439"/>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1" name="TextBox 50">
                  <a:extLst>
                    <a:ext uri="{FF2B5EF4-FFF2-40B4-BE49-F238E27FC236}">
                      <a16:creationId xmlns:a16="http://schemas.microsoft.com/office/drawing/2014/main" id="{80D1BF60-4C30-885A-46CD-5A06FD769BC1}"/>
                    </a:ext>
                  </a:extLst>
                </p:cNvPr>
                <p:cNvSpPr txBox="1">
                  <a:spLocks noRot="1" noChangeAspect="1" noMove="1" noResize="1" noEditPoints="1" noAdjustHandles="1" noChangeArrowheads="1" noChangeShapeType="1" noTextEdit="1"/>
                </p:cNvSpPr>
                <p:nvPr/>
              </p:nvSpPr>
              <p:spPr>
                <a:xfrm>
                  <a:off x="8050010" y="4070439"/>
                  <a:ext cx="471218" cy="369332"/>
                </a:xfrm>
                <a:prstGeom prst="rect">
                  <a:avLst/>
                </a:prstGeom>
                <a:blipFill>
                  <a:blip r:embed="rId6"/>
                  <a:stretch>
                    <a:fillRect/>
                  </a:stretch>
                </a:blipFill>
              </p:spPr>
              <p:txBody>
                <a:bodyPr/>
                <a:lstStyle/>
                <a:p>
                  <a:r>
                    <a:rPr lang="en-US">
                      <a:noFill/>
                    </a:rPr>
                    <a:t> </a:t>
                  </a:r>
                </a:p>
              </p:txBody>
            </p:sp>
          </mc:Fallback>
        </mc:AlternateContent>
        <p:grpSp>
          <p:nvGrpSpPr>
            <p:cNvPr id="16" name="Group 15">
              <a:extLst>
                <a:ext uri="{FF2B5EF4-FFF2-40B4-BE49-F238E27FC236}">
                  <a16:creationId xmlns="" xmlns:a16="http://schemas.microsoft.com/office/drawing/2014/main" id="{E8A0CBF4-F2C9-5D9E-588A-3326EE3EECF4}"/>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 xmlns:a16="http://schemas.microsoft.com/office/drawing/2014/main" id="{107CF738-51F4-26CF-4AAC-343FF70BC94C}"/>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 xmlns:a16="http://schemas.microsoft.com/office/drawing/2014/main" id="{4C4917B0-970A-52A6-4BF6-4C187C5F5E93}"/>
                  </a:ext>
                </a:extLst>
              </p:cNvPr>
              <p:cNvSpPr txBox="1"/>
              <p:nvPr/>
            </p:nvSpPr>
            <p:spPr>
              <a:xfrm>
                <a:off x="6108701" y="2910505"/>
                <a:ext cx="627148" cy="369332"/>
              </a:xfrm>
              <a:prstGeom prst="rect">
                <a:avLst/>
              </a:prstGeom>
              <a:noFill/>
            </p:spPr>
            <p:txBody>
              <a:bodyPr wrap="square">
                <a:spAutoFit/>
              </a:bodyPr>
              <a:lstStyle/>
              <a:p>
                <a:pPr algn="ctr"/>
                <a:r>
                  <a:rPr lang="pt-BR" dirty="0" err="1">
                    <a:solidFill>
                      <a:schemeClr val="tx1"/>
                    </a:solidFill>
                  </a:rPr>
                  <a:t>tanh</a:t>
                </a:r>
                <a:endParaRPr lang="en-US" dirty="0">
                  <a:solidFill>
                    <a:schemeClr val="tx1"/>
                  </a:solidFill>
                </a:endParaRPr>
              </a:p>
            </p:txBody>
          </p:sp>
        </p:grpSp>
        <p:cxnSp>
          <p:nvCxnSpPr>
            <p:cNvPr id="64" name="Straight Connector 63">
              <a:extLst>
                <a:ext uri="{FF2B5EF4-FFF2-40B4-BE49-F238E27FC236}">
                  <a16:creationId xmlns="" xmlns:a16="http://schemas.microsoft.com/office/drawing/2014/main" id="{F3CB2341-7DBA-D4E4-B23F-BF0D44A485D8}"/>
                </a:ext>
              </a:extLst>
            </p:cNvPr>
            <p:cNvCxnSpPr>
              <a:cxnSpLocks/>
              <a:endCxn id="17" idx="2"/>
            </p:cNvCxnSpPr>
            <p:nvPr/>
          </p:nvCxnSpPr>
          <p:spPr>
            <a:xfrm flipV="1">
              <a:off x="4012696" y="2715788"/>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17" name="Oval 16">
              <a:extLst>
                <a:ext uri="{FF2B5EF4-FFF2-40B4-BE49-F238E27FC236}">
                  <a16:creationId xmlns="" xmlns:a16="http://schemas.microsoft.com/office/drawing/2014/main" id="{AA8D110F-2064-E200-21EE-AF61992464EC}"/>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8" name="Rectangle 7">
                  <a:extLst>
                    <a:ext uri="{FF2B5EF4-FFF2-40B4-BE49-F238E27FC236}">
                      <a16:creationId xmlns="" xmlns:a16="http://schemas.microsoft.com/office/drawing/2014/main" id="{23647E35-392E-B810-6545-AEF318DFD74D}"/>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23647E35-392E-B810-6545-AEF318DFD74D}"/>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7"/>
                  <a:stretch>
                    <a:fillRect/>
                  </a:stretch>
                </a:blipFill>
              </p:spPr>
              <p:txBody>
                <a:bodyPr/>
                <a:lstStyle/>
                <a:p>
                  <a:r>
                    <a:rPr lang="en-US">
                      <a:noFill/>
                    </a:rPr>
                    <a:t> </a:t>
                  </a:r>
                </a:p>
              </p:txBody>
            </p:sp>
          </mc:Fallback>
        </mc:AlternateContent>
        <p:cxnSp>
          <p:nvCxnSpPr>
            <p:cNvPr id="20" name="Straight Arrow Connector 19">
              <a:extLst>
                <a:ext uri="{FF2B5EF4-FFF2-40B4-BE49-F238E27FC236}">
                  <a16:creationId xmlns="" xmlns:a16="http://schemas.microsoft.com/office/drawing/2014/main" id="{4CDC89E9-0430-8EEF-44E8-B1162A3894FA}"/>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 xmlns:a16="http://schemas.microsoft.com/office/drawing/2014/main" id="{CF52A80A-7364-7C4A-491B-E886D001446E}"/>
                </a:ext>
              </a:extLst>
            </p:cNvPr>
            <p:cNvCxnSpPr>
              <a:cxnSpLocks/>
            </p:cNvCxnSpPr>
            <p:nvPr/>
          </p:nvCxnSpPr>
          <p:spPr>
            <a:xfrm>
              <a:off x="4724460" y="4033974"/>
              <a:ext cx="0" cy="211613"/>
            </a:xfrm>
            <a:prstGeom prst="line">
              <a:avLst/>
            </a:prstGeom>
            <a:ln w="1905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 xmlns:a16="http://schemas.microsoft.com/office/drawing/2014/main" id="{B7E1AAE5-0DE3-43D5-FD4E-3B36E025A6DD}"/>
                    </a:ext>
                  </a:extLst>
                </p:cNvPr>
                <p:cNvSpPr txBox="1"/>
                <p:nvPr/>
              </p:nvSpPr>
              <p:spPr>
                <a:xfrm>
                  <a:off x="3399976" y="2480066"/>
                  <a:ext cx="66197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5" name="TextBox 4">
                  <a:extLst>
                    <a:ext uri="{FF2B5EF4-FFF2-40B4-BE49-F238E27FC236}">
                      <a16:creationId xmlns:a16="http://schemas.microsoft.com/office/drawing/2014/main" id="{B7E1AAE5-0DE3-43D5-FD4E-3B36E025A6DD}"/>
                    </a:ext>
                  </a:extLst>
                </p:cNvPr>
                <p:cNvSpPr txBox="1">
                  <a:spLocks noRot="1" noChangeAspect="1" noMove="1" noResize="1" noEditPoints="1" noAdjustHandles="1" noChangeArrowheads="1" noChangeShapeType="1" noTextEdit="1"/>
                </p:cNvSpPr>
                <p:nvPr/>
              </p:nvSpPr>
              <p:spPr>
                <a:xfrm>
                  <a:off x="3399976" y="2480066"/>
                  <a:ext cx="661976"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 xmlns:a16="http://schemas.microsoft.com/office/drawing/2014/main" id="{346BD185-FE16-6426-012D-3F5E5BC1B0BF}"/>
                    </a:ext>
                  </a:extLst>
                </p:cNvPr>
                <p:cNvSpPr txBox="1"/>
                <p:nvPr/>
              </p:nvSpPr>
              <p:spPr>
                <a:xfrm>
                  <a:off x="3387954" y="4052158"/>
                  <a:ext cx="69083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50" name="TextBox 49">
                  <a:extLst>
                    <a:ext uri="{FF2B5EF4-FFF2-40B4-BE49-F238E27FC236}">
                      <a16:creationId xmlns:a16="http://schemas.microsoft.com/office/drawing/2014/main" id="{346BD185-FE16-6426-012D-3F5E5BC1B0BF}"/>
                    </a:ext>
                  </a:extLst>
                </p:cNvPr>
                <p:cNvSpPr txBox="1">
                  <a:spLocks noRot="1" noChangeAspect="1" noMove="1" noResize="1" noEditPoints="1" noAdjustHandles="1" noChangeArrowheads="1" noChangeShapeType="1" noTextEdit="1"/>
                </p:cNvSpPr>
                <p:nvPr/>
              </p:nvSpPr>
              <p:spPr>
                <a:xfrm>
                  <a:off x="3387954" y="4052158"/>
                  <a:ext cx="69083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 xmlns:a16="http://schemas.microsoft.com/office/drawing/2014/main" id="{3083DA91-C8EF-B9D3-7A03-4B16B76C739C}"/>
                    </a:ext>
                  </a:extLst>
                </p:cNvPr>
                <p:cNvSpPr txBox="1"/>
                <p:nvPr/>
              </p:nvSpPr>
              <p:spPr>
                <a:xfrm>
                  <a:off x="4288133" y="4631386"/>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55" name="TextBox 54">
                  <a:extLst>
                    <a:ext uri="{FF2B5EF4-FFF2-40B4-BE49-F238E27FC236}">
                      <a16:creationId xmlns:a16="http://schemas.microsoft.com/office/drawing/2014/main" id="{3083DA91-C8EF-B9D3-7A03-4B16B76C739C}"/>
                    </a:ext>
                  </a:extLst>
                </p:cNvPr>
                <p:cNvSpPr txBox="1">
                  <a:spLocks noRot="1" noChangeAspect="1" noMove="1" noResize="1" noEditPoints="1" noAdjustHandles="1" noChangeArrowheads="1" noChangeShapeType="1" noTextEdit="1"/>
                </p:cNvSpPr>
                <p:nvPr/>
              </p:nvSpPr>
              <p:spPr>
                <a:xfrm>
                  <a:off x="4288133" y="4631386"/>
                  <a:ext cx="458394"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 xmlns:a16="http://schemas.microsoft.com/office/drawing/2014/main" id="{466CBD43-63E2-FE59-CAE9-5B06AEA54494}"/>
                    </a:ext>
                  </a:extLst>
                </p:cNvPr>
                <p:cNvSpPr txBox="1"/>
                <p:nvPr/>
              </p:nvSpPr>
              <p:spPr>
                <a:xfrm>
                  <a:off x="4334939" y="3086237"/>
                  <a:ext cx="41594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𝑓</m:t>
                            </m:r>
                          </m:e>
                          <m:sub>
                            <m:r>
                              <a:rPr lang="pt-BR" b="0" i="1" smtClean="0">
                                <a:latin typeface="Cambria Math" panose="02040503050406030204" pitchFamily="18" charset="0"/>
                              </a:rPr>
                              <m:t>𝑡</m:t>
                            </m:r>
                          </m:sub>
                        </m:sSub>
                      </m:oMath>
                    </m:oMathPara>
                  </a14:m>
                  <a:endParaRPr lang="en-US" dirty="0"/>
                </a:p>
              </p:txBody>
            </p:sp>
          </mc:Choice>
          <mc:Fallback xmlns="">
            <p:sp>
              <p:nvSpPr>
                <p:cNvPr id="9" name="TextBox 8">
                  <a:extLst>
                    <a:ext uri="{FF2B5EF4-FFF2-40B4-BE49-F238E27FC236}">
                      <a16:creationId xmlns:a16="http://schemas.microsoft.com/office/drawing/2014/main" id="{466CBD43-63E2-FE59-CAE9-5B06AEA54494}"/>
                    </a:ext>
                  </a:extLst>
                </p:cNvPr>
                <p:cNvSpPr txBox="1">
                  <a:spLocks noRot="1" noChangeAspect="1" noMove="1" noResize="1" noEditPoints="1" noAdjustHandles="1" noChangeArrowheads="1" noChangeShapeType="1" noTextEdit="1"/>
                </p:cNvSpPr>
                <p:nvPr/>
              </p:nvSpPr>
              <p:spPr>
                <a:xfrm>
                  <a:off x="4334939" y="3086237"/>
                  <a:ext cx="415947" cy="369332"/>
                </a:xfrm>
                <a:prstGeom prst="rect">
                  <a:avLst/>
                </a:prstGeom>
                <a:blipFill>
                  <a:blip r:embed="rId11"/>
                  <a:stretch>
                    <a:fillRect b="-13115"/>
                  </a:stretch>
                </a:blipFill>
              </p:spPr>
              <p:txBody>
                <a:bodyPr/>
                <a:lstStyle/>
                <a:p>
                  <a:r>
                    <a:rPr lang="en-US">
                      <a:noFill/>
                    </a:rPr>
                    <a:t> </a:t>
                  </a:r>
                </a:p>
              </p:txBody>
            </p:sp>
          </mc:Fallback>
        </mc:AlternateContent>
        <p:sp>
          <p:nvSpPr>
            <p:cNvPr id="39" name="Rectangle: Rounded Corners 38">
              <a:extLst>
                <a:ext uri="{FF2B5EF4-FFF2-40B4-BE49-F238E27FC236}">
                  <a16:creationId xmlns="" xmlns:a16="http://schemas.microsoft.com/office/drawing/2014/main" id="{27D3300A-C524-4BB3-938B-E7ABEAA66485}"/>
                </a:ext>
              </a:extLst>
            </p:cNvPr>
            <p:cNvSpPr/>
            <p:nvPr/>
          </p:nvSpPr>
          <p:spPr>
            <a:xfrm>
              <a:off x="4301176" y="243840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7" name="Oval 36">
              <a:extLst>
                <a:ext uri="{FF2B5EF4-FFF2-40B4-BE49-F238E27FC236}">
                  <a16:creationId xmlns="" xmlns:a16="http://schemas.microsoft.com/office/drawing/2014/main" id="{05C896E5-693F-A300-F512-729F492C7D88}"/>
                </a:ext>
              </a:extLst>
            </p:cNvPr>
            <p:cNvSpPr/>
            <p:nvPr/>
          </p:nvSpPr>
          <p:spPr>
            <a:xfrm>
              <a:off x="5856481" y="32527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0" name="Rectangle 9">
                  <a:extLst>
                    <a:ext uri="{FF2B5EF4-FFF2-40B4-BE49-F238E27FC236}">
                      <a16:creationId xmlns="" xmlns:a16="http://schemas.microsoft.com/office/drawing/2014/main" id="{5D3A246B-9585-73E3-9594-FF1ACEFC8834}"/>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5D3A246B-9585-73E3-9594-FF1ACEFC8834}"/>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12"/>
                  <a:stretch>
                    <a:fillRect/>
                  </a:stretch>
                </a:blipFill>
              </p:spPr>
              <p:txBody>
                <a:bodyPr/>
                <a:lstStyle/>
                <a:p>
                  <a:r>
                    <a:rPr lang="en-US">
                      <a:noFill/>
                    </a:rPr>
                    <a:t> </a:t>
                  </a:r>
                </a:p>
              </p:txBody>
            </p:sp>
          </mc:Fallback>
        </mc:AlternateContent>
        <p:sp>
          <p:nvSpPr>
            <p:cNvPr id="12" name="Rectangle 11">
              <a:extLst>
                <a:ext uri="{FF2B5EF4-FFF2-40B4-BE49-F238E27FC236}">
                  <a16:creationId xmlns="" xmlns:a16="http://schemas.microsoft.com/office/drawing/2014/main" id="{76A4B15F-241C-8207-6750-4AC1C26C03EF}"/>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err="1">
                  <a:solidFill>
                    <a:schemeClr val="tx1"/>
                  </a:solidFill>
                </a:rPr>
                <a:t>tanh</a:t>
              </a:r>
              <a:endParaRPr lang="en-US" dirty="0">
                <a:solidFill>
                  <a:schemeClr val="tx1"/>
                </a:solidFill>
              </a:endParaRPr>
            </a:p>
          </p:txBody>
        </p:sp>
        <p:cxnSp>
          <p:nvCxnSpPr>
            <p:cNvPr id="35" name="Straight Connector 34">
              <a:extLst>
                <a:ext uri="{FF2B5EF4-FFF2-40B4-BE49-F238E27FC236}">
                  <a16:creationId xmlns="" xmlns:a16="http://schemas.microsoft.com/office/drawing/2014/main" id="{4CB04675-C1B8-179E-063A-83532350B5B6}"/>
                </a:ext>
              </a:extLst>
            </p:cNvPr>
            <p:cNvCxnSpPr>
              <a:cxnSpLocks/>
            </p:cNvCxnSpPr>
            <p:nvPr/>
          </p:nvCxnSpPr>
          <p:spPr>
            <a:xfrm>
              <a:off x="52832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 xmlns:a16="http://schemas.microsoft.com/office/drawing/2014/main" id="{17CE081A-B21A-762E-73B2-73F86C9D8550}"/>
                </a:ext>
              </a:extLst>
            </p:cNvPr>
            <p:cNvCxnSpPr>
              <a:cxnSpLocks/>
            </p:cNvCxnSpPr>
            <p:nvPr/>
          </p:nvCxnSpPr>
          <p:spPr>
            <a:xfrm>
              <a:off x="598811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47" name="Straight Arrow Connector 46">
              <a:extLst>
                <a:ext uri="{FF2B5EF4-FFF2-40B4-BE49-F238E27FC236}">
                  <a16:creationId xmlns="" xmlns:a16="http://schemas.microsoft.com/office/drawing/2014/main" id="{2C2883E7-1C60-5FCB-605F-9E00B531F42A}"/>
                </a:ext>
              </a:extLst>
            </p:cNvPr>
            <p:cNvCxnSpPr>
              <a:cxnSpLocks/>
              <a:stCxn id="12" idx="0"/>
              <a:endCxn id="37" idx="4"/>
            </p:cNvCxnSpPr>
            <p:nvPr/>
          </p:nvCxnSpPr>
          <p:spPr>
            <a:xfrm flipH="1" flipV="1">
              <a:off x="5993006" y="3525802"/>
              <a:ext cx="868" cy="210300"/>
            </a:xfrm>
            <a:prstGeom prst="straightConnector1">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 xmlns:a16="http://schemas.microsoft.com/office/drawing/2014/main" id="{8C799CC9-8CDC-AC46-4D9C-14D8CB6E28DC}"/>
                </a:ext>
              </a:extLst>
            </p:cNvPr>
            <p:cNvCxnSpPr>
              <a:stCxn id="10" idx="0"/>
              <a:endCxn id="37" idx="2"/>
            </p:cNvCxnSpPr>
            <p:nvPr/>
          </p:nvCxnSpPr>
          <p:spPr>
            <a:xfrm rot="5400000" flipH="1" flipV="1">
              <a:off x="5399128" y="3278749"/>
              <a:ext cx="3468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 xmlns:a16="http://schemas.microsoft.com/office/drawing/2014/main" id="{E2DCA249-8B08-434F-AA72-F87E61B41222}"/>
                </a:ext>
              </a:extLst>
            </p:cNvPr>
            <p:cNvCxnSpPr>
              <a:cxnSpLocks/>
              <a:stCxn id="37" idx="0"/>
              <a:endCxn id="48" idx="4"/>
            </p:cNvCxnSpPr>
            <p:nvPr/>
          </p:nvCxnSpPr>
          <p:spPr>
            <a:xfrm flipH="1" flipV="1">
              <a:off x="5989666" y="2853476"/>
              <a:ext cx="3340" cy="3992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2" name="TextBox 1">
              <a:extLst>
                <a:ext uri="{FF2B5EF4-FFF2-40B4-BE49-F238E27FC236}">
                  <a16:creationId xmlns="" xmlns:a16="http://schemas.microsoft.com/office/drawing/2014/main" id="{BDC3B73C-A49D-04B7-5662-8E7514E23CD8}"/>
                </a:ext>
              </a:extLst>
            </p:cNvPr>
            <p:cNvSpPr txBox="1"/>
            <p:nvPr/>
          </p:nvSpPr>
          <p:spPr>
            <a:xfrm>
              <a:off x="6106421" y="1896928"/>
              <a:ext cx="1109948" cy="461665"/>
            </a:xfrm>
            <a:prstGeom prst="rect">
              <a:avLst/>
            </a:prstGeom>
            <a:noFill/>
          </p:spPr>
          <p:txBody>
            <a:bodyPr wrap="square" rtlCol="0">
              <a:spAutoFit/>
            </a:bodyPr>
            <a:lstStyle/>
            <a:p>
              <a:pPr algn="ctr"/>
              <a:r>
                <a:rPr lang="pt-BR" sz="1200" dirty="0"/>
                <a:t>porta de entrada</a:t>
              </a:r>
              <a:endParaRPr lang="en-US" sz="1200" dirty="0"/>
            </a:p>
          </p:txBody>
        </p:sp>
        <p:cxnSp>
          <p:nvCxnSpPr>
            <p:cNvPr id="6" name="Straight Arrow Connector 5">
              <a:extLst>
                <a:ext uri="{FF2B5EF4-FFF2-40B4-BE49-F238E27FC236}">
                  <a16:creationId xmlns="" xmlns:a16="http://schemas.microsoft.com/office/drawing/2014/main" id="{3B80609F-3EC0-40F6-4D37-14444E24FA33}"/>
                </a:ext>
              </a:extLst>
            </p:cNvPr>
            <p:cNvCxnSpPr>
              <a:cxnSpLocks/>
            </p:cNvCxnSpPr>
            <p:nvPr/>
          </p:nvCxnSpPr>
          <p:spPr>
            <a:xfrm flipH="1">
              <a:off x="6176673" y="2356574"/>
              <a:ext cx="442406" cy="972378"/>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Connector 100">
              <a:extLst>
                <a:ext uri="{FF2B5EF4-FFF2-40B4-BE49-F238E27FC236}">
                  <a16:creationId xmlns="" xmlns:a16="http://schemas.microsoft.com/office/drawing/2014/main" id="{9077C205-DBA7-D8FC-2C97-C88478ADBE7F}"/>
                </a:ext>
              </a:extLst>
            </p:cNvPr>
            <p:cNvCxnSpPr>
              <a:cxnSpLocks/>
            </p:cNvCxnSpPr>
            <p:nvPr/>
          </p:nvCxnSpPr>
          <p:spPr>
            <a:xfrm>
              <a:off x="3971971" y="4237301"/>
              <a:ext cx="2016139" cy="4653"/>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3" name="Straight Connector 2">
              <a:extLst>
                <a:ext uri="{FF2B5EF4-FFF2-40B4-BE49-F238E27FC236}">
                  <a16:creationId xmlns="" xmlns:a16="http://schemas.microsoft.com/office/drawing/2014/main" id="{868098FF-7972-7827-660D-CE72BBD2AC48}"/>
                </a:ext>
              </a:extLst>
            </p:cNvPr>
            <p:cNvCxnSpPr>
              <a:cxnSpLocks/>
              <a:stCxn id="55" idx="0"/>
            </p:cNvCxnSpPr>
            <p:nvPr/>
          </p:nvCxnSpPr>
          <p:spPr>
            <a:xfrm flipH="1" flipV="1">
              <a:off x="4511399" y="4241954"/>
              <a:ext cx="5931" cy="38943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7" name="TextBox 26">
                  <a:extLst>
                    <a:ext uri="{FF2B5EF4-FFF2-40B4-BE49-F238E27FC236}">
                      <a16:creationId xmlns="" xmlns:a16="http://schemas.microsoft.com/office/drawing/2014/main" id="{8C33C103-F223-93E6-D020-D7253E16BE98}"/>
                    </a:ext>
                  </a:extLst>
                </p:cNvPr>
                <p:cNvSpPr txBox="1"/>
                <p:nvPr/>
              </p:nvSpPr>
              <p:spPr>
                <a:xfrm>
                  <a:off x="5307727" y="3030377"/>
                  <a:ext cx="41030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𝒊</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a16="http://schemas.microsoft.com/office/drawing/2014/main" id="{8C33C103-F223-93E6-D020-D7253E16BE98}"/>
                    </a:ext>
                  </a:extLst>
                </p:cNvPr>
                <p:cNvSpPr txBox="1">
                  <a:spLocks noRot="1" noChangeAspect="1" noMove="1" noResize="1" noEditPoints="1" noAdjustHandles="1" noChangeArrowheads="1" noChangeShapeType="1" noTextEdit="1"/>
                </p:cNvSpPr>
                <p:nvPr/>
              </p:nvSpPr>
              <p:spPr>
                <a:xfrm>
                  <a:off x="5307727" y="3030377"/>
                  <a:ext cx="410304"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 xmlns:a16="http://schemas.microsoft.com/office/drawing/2014/main" id="{79AD6FF1-1653-82A9-4E02-91F61C3D7321}"/>
                    </a:ext>
                  </a:extLst>
                </p:cNvPr>
                <p:cNvSpPr txBox="1"/>
                <p:nvPr/>
              </p:nvSpPr>
              <p:spPr>
                <a:xfrm>
                  <a:off x="5983458" y="3389277"/>
                  <a:ext cx="44236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acc>
                              <m:accPr>
                                <m:chr m:val="̃"/>
                                <m:ctrlPr>
                                  <a:rPr lang="en-US" i="1">
                                    <a:latin typeface="Cambria Math" panose="02040503050406030204" pitchFamily="18" charset="0"/>
                                  </a:rPr>
                                </m:ctrlPr>
                              </m:accPr>
                              <m:e>
                                <m:r>
                                  <a:rPr lang="pt-BR" b="1" i="1">
                                    <a:latin typeface="Cambria Math" panose="02040503050406030204" pitchFamily="18" charset="0"/>
                                  </a:rPr>
                                  <m:t>𝒄</m:t>
                                </m:r>
                              </m:e>
                            </m:acc>
                          </m:e>
                          <m:sub>
                            <m:r>
                              <a:rPr lang="pt-BR" b="0" i="1" smtClean="0">
                                <a:latin typeface="Cambria Math" panose="02040503050406030204" pitchFamily="18" charset="0"/>
                              </a:rPr>
                              <m:t>𝑡</m:t>
                            </m:r>
                          </m:sub>
                        </m:sSub>
                      </m:oMath>
                    </m:oMathPara>
                  </a14:m>
                  <a:endParaRPr lang="en-US" dirty="0"/>
                </a:p>
              </p:txBody>
            </p:sp>
          </mc:Choice>
          <mc:Fallback xmlns="">
            <p:sp>
              <p:nvSpPr>
                <p:cNvPr id="28" name="TextBox 27">
                  <a:extLst>
                    <a:ext uri="{FF2B5EF4-FFF2-40B4-BE49-F238E27FC236}">
                      <a16:creationId xmlns:a16="http://schemas.microsoft.com/office/drawing/2014/main" id="{79AD6FF1-1653-82A9-4E02-91F61C3D7321}"/>
                    </a:ext>
                  </a:extLst>
                </p:cNvPr>
                <p:cNvSpPr txBox="1">
                  <a:spLocks noRot="1" noChangeAspect="1" noMove="1" noResize="1" noEditPoints="1" noAdjustHandles="1" noChangeArrowheads="1" noChangeShapeType="1" noTextEdit="1"/>
                </p:cNvSpPr>
                <p:nvPr/>
              </p:nvSpPr>
              <p:spPr>
                <a:xfrm>
                  <a:off x="5983458" y="3389277"/>
                  <a:ext cx="442364" cy="369332"/>
                </a:xfrm>
                <a:prstGeom prst="rect">
                  <a:avLst/>
                </a:prstGeom>
                <a:blipFill>
                  <a:blip r:embed="rId14"/>
                  <a:stretch>
                    <a:fillRect r="-2778"/>
                  </a:stretch>
                </a:blipFill>
              </p:spPr>
              <p:txBody>
                <a:bodyPr/>
                <a:lstStyle/>
                <a:p>
                  <a:r>
                    <a:rPr lang="en-US">
                      <a:noFill/>
                    </a:rPr>
                    <a:t> </a:t>
                  </a:r>
                </a:p>
              </p:txBody>
            </p:sp>
          </mc:Fallback>
        </mc:AlternateContent>
      </p:grpSp>
    </p:spTree>
    <p:extLst>
      <p:ext uri="{BB962C8B-B14F-4D97-AF65-F5344CB8AC3E}">
        <p14:creationId xmlns:p14="http://schemas.microsoft.com/office/powerpoint/2010/main" val="3870514809"/>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D535DB89-0292-4C5A-F4B1-0C7B0D5D7189}"/>
            </a:ext>
          </a:extLst>
        </p:cNvPr>
        <p:cNvGrpSpPr/>
        <p:nvPr/>
      </p:nvGrpSpPr>
      <p:grpSpPr>
        <a:xfrm>
          <a:off x="0" y="0"/>
          <a:ext cx="0" cy="0"/>
          <a:chOff x="0" y="0"/>
          <a:chExt cx="0" cy="0"/>
        </a:xfrm>
      </p:grpSpPr>
      <p:grpSp>
        <p:nvGrpSpPr>
          <p:cNvPr id="32" name="Group 31">
            <a:extLst>
              <a:ext uri="{FF2B5EF4-FFF2-40B4-BE49-F238E27FC236}">
                <a16:creationId xmlns="" xmlns:a16="http://schemas.microsoft.com/office/drawing/2014/main" id="{1E6693AB-9080-966C-4D58-2EA6DBD07FBC}"/>
              </a:ext>
            </a:extLst>
          </p:cNvPr>
          <p:cNvGrpSpPr/>
          <p:nvPr/>
        </p:nvGrpSpPr>
        <p:grpSpPr>
          <a:xfrm>
            <a:off x="134391" y="1849548"/>
            <a:ext cx="5133274" cy="3158904"/>
            <a:chOff x="3387954" y="1841814"/>
            <a:chExt cx="5133274" cy="3158904"/>
          </a:xfrm>
        </p:grpSpPr>
        <p:cxnSp>
          <p:nvCxnSpPr>
            <p:cNvPr id="33" name="Straight Connector 32">
              <a:extLst>
                <a:ext uri="{FF2B5EF4-FFF2-40B4-BE49-F238E27FC236}">
                  <a16:creationId xmlns="" xmlns:a16="http://schemas.microsoft.com/office/drawing/2014/main" id="{9D484352-76E3-BDB1-D326-EDCC4E24536F}"/>
                </a:ext>
              </a:extLst>
            </p:cNvPr>
            <p:cNvCxnSpPr>
              <a:cxnSpLocks/>
            </p:cNvCxnSpPr>
            <p:nvPr/>
          </p:nvCxnSpPr>
          <p:spPr>
            <a:xfrm>
              <a:off x="47244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5" name="Straight Connector 34">
              <a:extLst>
                <a:ext uri="{FF2B5EF4-FFF2-40B4-BE49-F238E27FC236}">
                  <a16:creationId xmlns="" xmlns:a16="http://schemas.microsoft.com/office/drawing/2014/main" id="{45339A55-66C9-1111-90CF-606F78A377CF}"/>
                </a:ext>
              </a:extLst>
            </p:cNvPr>
            <p:cNvCxnSpPr>
              <a:cxnSpLocks/>
            </p:cNvCxnSpPr>
            <p:nvPr/>
          </p:nvCxnSpPr>
          <p:spPr>
            <a:xfrm>
              <a:off x="52832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 xmlns:a16="http://schemas.microsoft.com/office/drawing/2014/main" id="{B36FCAE8-5860-FC81-28DB-F1330525841E}"/>
                </a:ext>
              </a:extLst>
            </p:cNvPr>
            <p:cNvCxnSpPr>
              <a:cxnSpLocks/>
            </p:cNvCxnSpPr>
            <p:nvPr/>
          </p:nvCxnSpPr>
          <p:spPr>
            <a:xfrm>
              <a:off x="598811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71" name="Straight Connector 70">
              <a:extLst>
                <a:ext uri="{FF2B5EF4-FFF2-40B4-BE49-F238E27FC236}">
                  <a16:creationId xmlns="" xmlns:a16="http://schemas.microsoft.com/office/drawing/2014/main" id="{CDAD974B-2567-4FED-B1AF-B8BC328A9530}"/>
                </a:ext>
              </a:extLst>
            </p:cNvPr>
            <p:cNvCxnSpPr>
              <a:cxnSpLocks/>
            </p:cNvCxnSpPr>
            <p:nvPr/>
          </p:nvCxnSpPr>
          <p:spPr>
            <a:xfrm>
              <a:off x="6126191" y="2715788"/>
              <a:ext cx="1980000" cy="1163"/>
            </a:xfrm>
            <a:prstGeom prst="line">
              <a:avLst/>
            </a:prstGeom>
            <a:ln w="19050">
              <a:solidFill>
                <a:schemeClr val="dk1"/>
              </a:solidFill>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 xmlns:a16="http://schemas.microsoft.com/office/drawing/2014/main" id="{EEF54D2C-3691-135A-5D48-B7BB3D84F1E6}"/>
                </a:ext>
              </a:extLst>
            </p:cNvPr>
            <p:cNvCxnSpPr>
              <a:cxnSpLocks/>
              <a:stCxn id="17" idx="6"/>
              <a:endCxn id="48" idx="2"/>
            </p:cNvCxnSpPr>
            <p:nvPr/>
          </p:nvCxnSpPr>
          <p:spPr>
            <a:xfrm>
              <a:off x="4860985" y="2715788"/>
              <a:ext cx="992156" cy="1163"/>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48" name="Oval 47">
              <a:extLst>
                <a:ext uri="{FF2B5EF4-FFF2-40B4-BE49-F238E27FC236}">
                  <a16:creationId xmlns="" xmlns:a16="http://schemas.microsoft.com/office/drawing/2014/main" id="{6CFC43CE-312C-CC1D-0867-9CAB78D3BDC8}"/>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64" name="Straight Connector 63">
              <a:extLst>
                <a:ext uri="{FF2B5EF4-FFF2-40B4-BE49-F238E27FC236}">
                  <a16:creationId xmlns="" xmlns:a16="http://schemas.microsoft.com/office/drawing/2014/main" id="{52054C13-DF96-0311-7938-30530BBE6CA2}"/>
                </a:ext>
              </a:extLst>
            </p:cNvPr>
            <p:cNvCxnSpPr>
              <a:cxnSpLocks/>
              <a:endCxn id="17" idx="2"/>
            </p:cNvCxnSpPr>
            <p:nvPr/>
          </p:nvCxnSpPr>
          <p:spPr>
            <a:xfrm flipV="1">
              <a:off x="4012696" y="2715788"/>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17" name="Oval 16">
              <a:extLst>
                <a:ext uri="{FF2B5EF4-FFF2-40B4-BE49-F238E27FC236}">
                  <a16:creationId xmlns="" xmlns:a16="http://schemas.microsoft.com/office/drawing/2014/main" id="{6EEDC121-F607-FE73-E57A-90D5378D9C3D}"/>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8" name="Rectangle 7">
                  <a:extLst>
                    <a:ext uri="{FF2B5EF4-FFF2-40B4-BE49-F238E27FC236}">
                      <a16:creationId xmlns="" xmlns:a16="http://schemas.microsoft.com/office/drawing/2014/main" id="{9C8FF9AB-00C9-B769-9AED-2DC857398DF7}"/>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9C8FF9AB-00C9-B769-9AED-2DC857398DF7}"/>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3"/>
                  <a:stretch>
                    <a:fillRect/>
                  </a:stretch>
                </a:blipFill>
              </p:spPr>
              <p:txBody>
                <a:bodyPr/>
                <a:lstStyle/>
                <a:p>
                  <a:r>
                    <a:rPr lang="en-US">
                      <a:noFill/>
                    </a:rPr>
                    <a:t> </a:t>
                  </a:r>
                </a:p>
              </p:txBody>
            </p:sp>
          </mc:Fallback>
        </mc:AlternateContent>
        <p:cxnSp>
          <p:nvCxnSpPr>
            <p:cNvPr id="20" name="Straight Arrow Connector 19">
              <a:extLst>
                <a:ext uri="{FF2B5EF4-FFF2-40B4-BE49-F238E27FC236}">
                  <a16:creationId xmlns="" xmlns:a16="http://schemas.microsoft.com/office/drawing/2014/main" id="{254208A2-C0A3-CC7C-102B-529EF10CE5E0}"/>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 xmlns:a16="http://schemas.microsoft.com/office/drawing/2014/main" id="{67D2E9AC-D0D7-5FF8-3056-16991D60205D}"/>
                    </a:ext>
                  </a:extLst>
                </p:cNvPr>
                <p:cNvSpPr txBox="1"/>
                <p:nvPr/>
              </p:nvSpPr>
              <p:spPr>
                <a:xfrm>
                  <a:off x="3399976" y="2480066"/>
                  <a:ext cx="66197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5" name="TextBox 4">
                  <a:extLst>
                    <a:ext uri="{FF2B5EF4-FFF2-40B4-BE49-F238E27FC236}">
                      <a16:creationId xmlns:a16="http://schemas.microsoft.com/office/drawing/2014/main" id="{67D2E9AC-D0D7-5FF8-3056-16991D60205D}"/>
                    </a:ext>
                  </a:extLst>
                </p:cNvPr>
                <p:cNvSpPr txBox="1">
                  <a:spLocks noRot="1" noChangeAspect="1" noMove="1" noResize="1" noEditPoints="1" noAdjustHandles="1" noChangeArrowheads="1" noChangeShapeType="1" noTextEdit="1"/>
                </p:cNvSpPr>
                <p:nvPr/>
              </p:nvSpPr>
              <p:spPr>
                <a:xfrm>
                  <a:off x="3399976" y="2480066"/>
                  <a:ext cx="661976"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 xmlns:a16="http://schemas.microsoft.com/office/drawing/2014/main" id="{79558D3F-5963-20E5-DEAE-BB393D386DFC}"/>
                    </a:ext>
                  </a:extLst>
                </p:cNvPr>
                <p:cNvSpPr txBox="1"/>
                <p:nvPr/>
              </p:nvSpPr>
              <p:spPr>
                <a:xfrm>
                  <a:off x="4334939" y="3086237"/>
                  <a:ext cx="41594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𝑓</m:t>
                            </m:r>
                          </m:e>
                          <m:sub>
                            <m:r>
                              <a:rPr lang="pt-BR" b="0" i="1" smtClean="0">
                                <a:latin typeface="Cambria Math" panose="02040503050406030204" pitchFamily="18" charset="0"/>
                              </a:rPr>
                              <m:t>𝑡</m:t>
                            </m:r>
                          </m:sub>
                        </m:sSub>
                      </m:oMath>
                    </m:oMathPara>
                  </a14:m>
                  <a:endParaRPr lang="en-US" dirty="0"/>
                </a:p>
              </p:txBody>
            </p:sp>
          </mc:Choice>
          <mc:Fallback xmlns="">
            <p:sp>
              <p:nvSpPr>
                <p:cNvPr id="9" name="TextBox 8">
                  <a:extLst>
                    <a:ext uri="{FF2B5EF4-FFF2-40B4-BE49-F238E27FC236}">
                      <a16:creationId xmlns:a16="http://schemas.microsoft.com/office/drawing/2014/main" id="{79558D3F-5963-20E5-DEAE-BB393D386DFC}"/>
                    </a:ext>
                  </a:extLst>
                </p:cNvPr>
                <p:cNvSpPr txBox="1">
                  <a:spLocks noRot="1" noChangeAspect="1" noMove="1" noResize="1" noEditPoints="1" noAdjustHandles="1" noChangeArrowheads="1" noChangeShapeType="1" noTextEdit="1"/>
                </p:cNvSpPr>
                <p:nvPr/>
              </p:nvSpPr>
              <p:spPr>
                <a:xfrm>
                  <a:off x="4334939" y="3086237"/>
                  <a:ext cx="415947" cy="369332"/>
                </a:xfrm>
                <a:prstGeom prst="rect">
                  <a:avLst/>
                </a:prstGeom>
                <a:blipFill>
                  <a:blip r:embed="rId5"/>
                  <a:stretch>
                    <a:fillRect b="-13115"/>
                  </a:stretch>
                </a:blipFill>
              </p:spPr>
              <p:txBody>
                <a:bodyPr/>
                <a:lstStyle/>
                <a:p>
                  <a:r>
                    <a:rPr lang="en-US">
                      <a:noFill/>
                    </a:rPr>
                    <a:t> </a:t>
                  </a:r>
                </a:p>
              </p:txBody>
            </p:sp>
          </mc:Fallback>
        </mc:AlternateContent>
        <p:sp>
          <p:nvSpPr>
            <p:cNvPr id="37" name="Oval 36">
              <a:extLst>
                <a:ext uri="{FF2B5EF4-FFF2-40B4-BE49-F238E27FC236}">
                  <a16:creationId xmlns="" xmlns:a16="http://schemas.microsoft.com/office/drawing/2014/main" id="{41E5331B-7497-3EAB-612D-76B2411DE483}"/>
                </a:ext>
              </a:extLst>
            </p:cNvPr>
            <p:cNvSpPr/>
            <p:nvPr/>
          </p:nvSpPr>
          <p:spPr>
            <a:xfrm>
              <a:off x="5856481" y="32527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0" name="Rectangle 9">
                  <a:extLst>
                    <a:ext uri="{FF2B5EF4-FFF2-40B4-BE49-F238E27FC236}">
                      <a16:creationId xmlns="" xmlns:a16="http://schemas.microsoft.com/office/drawing/2014/main" id="{5F79EBCF-B49E-1CFB-4AB2-62E6C0D8D56C}"/>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5F79EBCF-B49E-1CFB-4AB2-62E6C0D8D56C}"/>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6"/>
                  <a:stretch>
                    <a:fillRect/>
                  </a:stretch>
                </a:blipFill>
              </p:spPr>
              <p:txBody>
                <a:bodyPr/>
                <a:lstStyle/>
                <a:p>
                  <a:r>
                    <a:rPr lang="en-US">
                      <a:noFill/>
                    </a:rPr>
                    <a:t> </a:t>
                  </a:r>
                </a:p>
              </p:txBody>
            </p:sp>
          </mc:Fallback>
        </mc:AlternateContent>
        <p:sp>
          <p:nvSpPr>
            <p:cNvPr id="12" name="Rectangle 11">
              <a:extLst>
                <a:ext uri="{FF2B5EF4-FFF2-40B4-BE49-F238E27FC236}">
                  <a16:creationId xmlns="" xmlns:a16="http://schemas.microsoft.com/office/drawing/2014/main" id="{574A35A4-9645-799F-CFAB-50CBB9BB146C}"/>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err="1">
                  <a:solidFill>
                    <a:schemeClr val="tx1"/>
                  </a:solidFill>
                </a:rPr>
                <a:t>tanh</a:t>
              </a:r>
              <a:endParaRPr lang="en-US" dirty="0">
                <a:solidFill>
                  <a:schemeClr val="tx1"/>
                </a:solidFill>
              </a:endParaRPr>
            </a:p>
          </p:txBody>
        </p:sp>
        <p:cxnSp>
          <p:nvCxnSpPr>
            <p:cNvPr id="47" name="Straight Arrow Connector 46">
              <a:extLst>
                <a:ext uri="{FF2B5EF4-FFF2-40B4-BE49-F238E27FC236}">
                  <a16:creationId xmlns="" xmlns:a16="http://schemas.microsoft.com/office/drawing/2014/main" id="{372D9875-E4CD-C4BF-D584-E170D8775680}"/>
                </a:ext>
              </a:extLst>
            </p:cNvPr>
            <p:cNvCxnSpPr>
              <a:cxnSpLocks/>
              <a:stCxn id="12" idx="0"/>
              <a:endCxn id="37" idx="4"/>
            </p:cNvCxnSpPr>
            <p:nvPr/>
          </p:nvCxnSpPr>
          <p:spPr>
            <a:xfrm flipH="1" flipV="1">
              <a:off x="5993006" y="3525802"/>
              <a:ext cx="868" cy="210300"/>
            </a:xfrm>
            <a:prstGeom prst="straightConnector1">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 xmlns:a16="http://schemas.microsoft.com/office/drawing/2014/main" id="{60BE383E-58A4-904C-1437-9E2DD4690B12}"/>
                </a:ext>
              </a:extLst>
            </p:cNvPr>
            <p:cNvCxnSpPr>
              <a:stCxn id="10" idx="0"/>
              <a:endCxn id="37" idx="2"/>
            </p:cNvCxnSpPr>
            <p:nvPr/>
          </p:nvCxnSpPr>
          <p:spPr>
            <a:xfrm rot="5400000" flipH="1" flipV="1">
              <a:off x="5399128" y="3278749"/>
              <a:ext cx="3468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 xmlns:a16="http://schemas.microsoft.com/office/drawing/2014/main" id="{B44B526B-5C9D-0035-BEF6-CCF89FFA0A78}"/>
                </a:ext>
              </a:extLst>
            </p:cNvPr>
            <p:cNvCxnSpPr>
              <a:cxnSpLocks/>
              <a:stCxn id="37" idx="0"/>
              <a:endCxn id="48" idx="4"/>
            </p:cNvCxnSpPr>
            <p:nvPr/>
          </p:nvCxnSpPr>
          <p:spPr>
            <a:xfrm flipH="1" flipV="1">
              <a:off x="5989666" y="2853476"/>
              <a:ext cx="3340" cy="3992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7" name="TextBox 26">
                  <a:extLst>
                    <a:ext uri="{FF2B5EF4-FFF2-40B4-BE49-F238E27FC236}">
                      <a16:creationId xmlns="" xmlns:a16="http://schemas.microsoft.com/office/drawing/2014/main" id="{3CF19B3A-11ED-BF65-8794-A33574BF5B8D}"/>
                    </a:ext>
                  </a:extLst>
                </p:cNvPr>
                <p:cNvSpPr txBox="1"/>
                <p:nvPr/>
              </p:nvSpPr>
              <p:spPr>
                <a:xfrm>
                  <a:off x="5307727" y="3030377"/>
                  <a:ext cx="39908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𝑖</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a16="http://schemas.microsoft.com/office/drawing/2014/main" id="{3CF19B3A-11ED-BF65-8794-A33574BF5B8D}"/>
                    </a:ext>
                  </a:extLst>
                </p:cNvPr>
                <p:cNvSpPr txBox="1">
                  <a:spLocks noRot="1" noChangeAspect="1" noMove="1" noResize="1" noEditPoints="1" noAdjustHandles="1" noChangeArrowheads="1" noChangeShapeType="1" noTextEdit="1"/>
                </p:cNvSpPr>
                <p:nvPr/>
              </p:nvSpPr>
              <p:spPr>
                <a:xfrm>
                  <a:off x="5307727" y="3030377"/>
                  <a:ext cx="399084"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 xmlns:a16="http://schemas.microsoft.com/office/drawing/2014/main" id="{084BF1A6-CB8D-11E0-69DF-1D0112A2A4FC}"/>
                    </a:ext>
                  </a:extLst>
                </p:cNvPr>
                <p:cNvSpPr txBox="1"/>
                <p:nvPr/>
              </p:nvSpPr>
              <p:spPr>
                <a:xfrm>
                  <a:off x="5983458" y="3389277"/>
                  <a:ext cx="425501"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acc>
                              <m:accPr>
                                <m:chr m:val="̃"/>
                                <m:ctrlPr>
                                  <a:rPr lang="en-US" i="1">
                                    <a:latin typeface="Cambria Math" panose="02040503050406030204" pitchFamily="18" charset="0"/>
                                  </a:rPr>
                                </m:ctrlPr>
                              </m:accPr>
                              <m:e>
                                <m:r>
                                  <a:rPr lang="pt-BR" i="1">
                                    <a:latin typeface="Cambria Math" panose="02040503050406030204" pitchFamily="18" charset="0"/>
                                  </a:rPr>
                                  <m:t>𝑐</m:t>
                                </m:r>
                              </m:e>
                            </m:acc>
                          </m:e>
                          <m:sub>
                            <m:r>
                              <a:rPr lang="pt-BR" b="0" i="1" smtClean="0">
                                <a:latin typeface="Cambria Math" panose="02040503050406030204" pitchFamily="18" charset="0"/>
                              </a:rPr>
                              <m:t>𝑡</m:t>
                            </m:r>
                          </m:sub>
                        </m:sSub>
                      </m:oMath>
                    </m:oMathPara>
                  </a14:m>
                  <a:endParaRPr lang="en-US" dirty="0"/>
                </a:p>
              </p:txBody>
            </p:sp>
          </mc:Choice>
          <mc:Fallback xmlns="">
            <p:sp>
              <p:nvSpPr>
                <p:cNvPr id="28" name="TextBox 27">
                  <a:extLst>
                    <a:ext uri="{FF2B5EF4-FFF2-40B4-BE49-F238E27FC236}">
                      <a16:creationId xmlns:a16="http://schemas.microsoft.com/office/drawing/2014/main" id="{084BF1A6-CB8D-11E0-69DF-1D0112A2A4FC}"/>
                    </a:ext>
                  </a:extLst>
                </p:cNvPr>
                <p:cNvSpPr txBox="1">
                  <a:spLocks noRot="1" noChangeAspect="1" noMove="1" noResize="1" noEditPoints="1" noAdjustHandles="1" noChangeArrowheads="1" noChangeShapeType="1" noTextEdit="1"/>
                </p:cNvSpPr>
                <p:nvPr/>
              </p:nvSpPr>
              <p:spPr>
                <a:xfrm>
                  <a:off x="5983458" y="3389277"/>
                  <a:ext cx="425501" cy="369332"/>
                </a:xfrm>
                <a:prstGeom prst="rect">
                  <a:avLst/>
                </a:prstGeom>
                <a:blipFill>
                  <a:blip r:embed="rId8"/>
                  <a:stretch>
                    <a:fillRect r="-23188"/>
                  </a:stretch>
                </a:blipFill>
              </p:spPr>
              <p:txBody>
                <a:bodyPr/>
                <a:lstStyle/>
                <a:p>
                  <a:r>
                    <a:rPr lang="en-US">
                      <a:noFill/>
                    </a:rPr>
                    <a:t> </a:t>
                  </a:r>
                </a:p>
              </p:txBody>
            </p:sp>
          </mc:Fallback>
        </mc:AlternateContent>
        <p:sp>
          <p:nvSpPr>
            <p:cNvPr id="39" name="Rectangle: Rounded Corners 38">
              <a:extLst>
                <a:ext uri="{FF2B5EF4-FFF2-40B4-BE49-F238E27FC236}">
                  <a16:creationId xmlns="" xmlns:a16="http://schemas.microsoft.com/office/drawing/2014/main" id="{E5E1E212-22FF-F303-C8DD-044D2FD556BD}"/>
                </a:ext>
              </a:extLst>
            </p:cNvPr>
            <p:cNvSpPr/>
            <p:nvPr/>
          </p:nvSpPr>
          <p:spPr>
            <a:xfrm>
              <a:off x="4301176" y="243840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cxnSp>
          <p:nvCxnSpPr>
            <p:cNvPr id="19" name="Connector: Elbow 18">
              <a:extLst>
                <a:ext uri="{FF2B5EF4-FFF2-40B4-BE49-F238E27FC236}">
                  <a16:creationId xmlns="" xmlns:a16="http://schemas.microsoft.com/office/drawing/2014/main" id="{FEB49339-2251-0621-3FB2-5F0777E8738C}"/>
                </a:ext>
              </a:extLst>
            </p:cNvPr>
            <p:cNvCxnSpPr>
              <a:cxnSpLocks/>
              <a:stCxn id="50" idx="3"/>
              <a:endCxn id="11" idx="2"/>
            </p:cNvCxnSpPr>
            <p:nvPr/>
          </p:nvCxnSpPr>
          <p:spPr>
            <a:xfrm flipV="1">
              <a:off x="4078784" y="4036770"/>
              <a:ext cx="2627638" cy="20005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93" name="Straight Arrow Connector 92">
              <a:extLst>
                <a:ext uri="{FF2B5EF4-FFF2-40B4-BE49-F238E27FC236}">
                  <a16:creationId xmlns="" xmlns:a16="http://schemas.microsoft.com/office/drawing/2014/main" id="{D8D54B05-5AA3-748E-C625-27B672EE4CAA}"/>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 xmlns:a16="http://schemas.microsoft.com/office/drawing/2014/main" id="{657E8D60-7374-6BC0-8074-CA18852806F3}"/>
                </a:ext>
              </a:extLst>
            </p:cNvPr>
            <p:cNvCxnSpPr>
              <a:cxnSpLocks/>
            </p:cNvCxnSpPr>
            <p:nvPr/>
          </p:nvCxnSpPr>
          <p:spPr>
            <a:xfrm flipH="1" flipV="1">
              <a:off x="7232357" y="2715838"/>
              <a:ext cx="625" cy="180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 xmlns:a16="http://schemas.microsoft.com/office/drawing/2014/main" id="{4614BDFA-040F-E6C8-3A70-82B16A049EA3}"/>
                    </a:ext>
                  </a:extLst>
                </p:cNvPr>
                <p:cNvSpPr txBox="1"/>
                <p:nvPr/>
              </p:nvSpPr>
              <p:spPr>
                <a:xfrm>
                  <a:off x="8039200" y="2529630"/>
                  <a:ext cx="44236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7" name="TextBox 6">
                  <a:extLst>
                    <a:ext uri="{FF2B5EF4-FFF2-40B4-BE49-F238E27FC236}">
                      <a16:creationId xmlns:a16="http://schemas.microsoft.com/office/drawing/2014/main" id="{4614BDFA-040F-E6C8-3A70-82B16A049EA3}"/>
                    </a:ext>
                  </a:extLst>
                </p:cNvPr>
                <p:cNvSpPr txBox="1">
                  <a:spLocks noRot="1" noChangeAspect="1" noMove="1" noResize="1" noEditPoints="1" noAdjustHandles="1" noChangeArrowheads="1" noChangeShapeType="1" noTextEdit="1"/>
                </p:cNvSpPr>
                <p:nvPr/>
              </p:nvSpPr>
              <p:spPr>
                <a:xfrm>
                  <a:off x="8039200" y="2529630"/>
                  <a:ext cx="442365"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 xmlns:a16="http://schemas.microsoft.com/office/drawing/2014/main" id="{7131B2AC-785B-6A00-6403-4173D30B3DBE}"/>
                    </a:ext>
                  </a:extLst>
                </p:cNvPr>
                <p:cNvSpPr txBox="1"/>
                <p:nvPr/>
              </p:nvSpPr>
              <p:spPr>
                <a:xfrm>
                  <a:off x="7423392" y="1841814"/>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3" name="TextBox 52">
                  <a:extLst>
                    <a:ext uri="{FF2B5EF4-FFF2-40B4-BE49-F238E27FC236}">
                      <a16:creationId xmlns:a16="http://schemas.microsoft.com/office/drawing/2014/main" id="{7131B2AC-785B-6A00-6403-4173D30B3DBE}"/>
                    </a:ext>
                  </a:extLst>
                </p:cNvPr>
                <p:cNvSpPr txBox="1">
                  <a:spLocks noRot="1" noChangeAspect="1" noMove="1" noResize="1" noEditPoints="1" noAdjustHandles="1" noChangeArrowheads="1" noChangeShapeType="1" noTextEdit="1"/>
                </p:cNvSpPr>
                <p:nvPr/>
              </p:nvSpPr>
              <p:spPr>
                <a:xfrm>
                  <a:off x="7423392" y="1841814"/>
                  <a:ext cx="471218" cy="369332"/>
                </a:xfrm>
                <a:prstGeom prst="rect">
                  <a:avLst/>
                </a:prstGeom>
                <a:blipFill>
                  <a:blip r:embed="rId10"/>
                  <a:stretch>
                    <a:fillRect/>
                  </a:stretch>
                </a:blipFill>
              </p:spPr>
              <p:txBody>
                <a:bodyPr/>
                <a:lstStyle/>
                <a:p>
                  <a:r>
                    <a:rPr lang="en-US">
                      <a:noFill/>
                    </a:rPr>
                    <a:t> </a:t>
                  </a:r>
                </a:p>
              </p:txBody>
            </p:sp>
          </mc:Fallback>
        </mc:AlternateContent>
        <p:cxnSp>
          <p:nvCxnSpPr>
            <p:cNvPr id="96" name="Straight Connector 95">
              <a:extLst>
                <a:ext uri="{FF2B5EF4-FFF2-40B4-BE49-F238E27FC236}">
                  <a16:creationId xmlns="" xmlns:a16="http://schemas.microsoft.com/office/drawing/2014/main" id="{2F1CAFE8-16C4-F79F-5ED8-5BEB2A55D30F}"/>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 xmlns:a16="http://schemas.microsoft.com/office/drawing/2014/main" id="{E3211A3E-6145-4D12-2D22-D70496F90575}"/>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 xmlns:a16="http://schemas.microsoft.com/office/drawing/2014/main" id="{19A8E8F3-38BE-87E6-D274-984A80158983}"/>
                </a:ext>
              </a:extLst>
            </p:cNvPr>
            <p:cNvCxnSpPr>
              <a:cxnSpLocks/>
            </p:cNvCxnSpPr>
            <p:nvPr/>
          </p:nvCxnSpPr>
          <p:spPr>
            <a:xfrm flipH="1" flipV="1">
              <a:off x="7236075" y="3192538"/>
              <a:ext cx="625" cy="144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1" name="Rectangle 10">
                  <a:extLst>
                    <a:ext uri="{FF2B5EF4-FFF2-40B4-BE49-F238E27FC236}">
                      <a16:creationId xmlns="" xmlns:a16="http://schemas.microsoft.com/office/drawing/2014/main" id="{7B460A71-A162-3B2F-0534-D5097B71597C}"/>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7B460A71-A162-3B2F-0534-D5097B71597C}"/>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11"/>
                  <a:stretch>
                    <a:fillRect/>
                  </a:stretch>
                </a:blipFill>
              </p:spPr>
              <p:txBody>
                <a:bodyPr/>
                <a:lstStyle/>
                <a:p>
                  <a:r>
                    <a:rPr lang="en-US">
                      <a:noFill/>
                    </a:rPr>
                    <a:t> </a:t>
                  </a:r>
                </a:p>
              </p:txBody>
            </p:sp>
          </mc:Fallback>
        </mc:AlternateContent>
        <p:cxnSp>
          <p:nvCxnSpPr>
            <p:cNvPr id="78" name="Connector: Elbow 77">
              <a:extLst>
                <a:ext uri="{FF2B5EF4-FFF2-40B4-BE49-F238E27FC236}">
                  <a16:creationId xmlns="" xmlns:a16="http://schemas.microsoft.com/office/drawing/2014/main" id="{0D1C2C55-7250-38DB-BDFD-F1FDC6C7AC0F}"/>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 xmlns:a16="http://schemas.microsoft.com/office/drawing/2014/main" id="{AA96CA20-B5D2-5828-E8D6-0B6C6EA98888}"/>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 xmlns:a16="http://schemas.microsoft.com/office/drawing/2014/main" id="{D46B60D4-017B-0910-D204-0D84EE74F3CD}"/>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 xmlns:a16="http://schemas.microsoft.com/office/drawing/2014/main" id="{AEB9BA74-F15E-4C0E-554A-8F737160BF12}"/>
                    </a:ext>
                  </a:extLst>
                </p:cNvPr>
                <p:cNvSpPr txBox="1"/>
                <p:nvPr/>
              </p:nvSpPr>
              <p:spPr>
                <a:xfrm>
                  <a:off x="8050010" y="4070439"/>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1" name="TextBox 50">
                  <a:extLst>
                    <a:ext uri="{FF2B5EF4-FFF2-40B4-BE49-F238E27FC236}">
                      <a16:creationId xmlns:a16="http://schemas.microsoft.com/office/drawing/2014/main" id="{AEB9BA74-F15E-4C0E-554A-8F737160BF12}"/>
                    </a:ext>
                  </a:extLst>
                </p:cNvPr>
                <p:cNvSpPr txBox="1">
                  <a:spLocks noRot="1" noChangeAspect="1" noMove="1" noResize="1" noEditPoints="1" noAdjustHandles="1" noChangeArrowheads="1" noChangeShapeType="1" noTextEdit="1"/>
                </p:cNvSpPr>
                <p:nvPr/>
              </p:nvSpPr>
              <p:spPr>
                <a:xfrm>
                  <a:off x="8050010" y="4070439"/>
                  <a:ext cx="471218" cy="369332"/>
                </a:xfrm>
                <a:prstGeom prst="rect">
                  <a:avLst/>
                </a:prstGeom>
                <a:blipFill>
                  <a:blip r:embed="rId12"/>
                  <a:stretch>
                    <a:fillRect/>
                  </a:stretch>
                </a:blipFill>
              </p:spPr>
              <p:txBody>
                <a:bodyPr/>
                <a:lstStyle/>
                <a:p>
                  <a:r>
                    <a:rPr lang="en-US">
                      <a:noFill/>
                    </a:rPr>
                    <a:t> </a:t>
                  </a:r>
                </a:p>
              </p:txBody>
            </p:sp>
          </mc:Fallback>
        </mc:AlternateContent>
        <p:grpSp>
          <p:nvGrpSpPr>
            <p:cNvPr id="16" name="Group 15">
              <a:extLst>
                <a:ext uri="{FF2B5EF4-FFF2-40B4-BE49-F238E27FC236}">
                  <a16:creationId xmlns="" xmlns:a16="http://schemas.microsoft.com/office/drawing/2014/main" id="{67FE728A-0062-CF04-49C7-136BF8661AD5}"/>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 xmlns:a16="http://schemas.microsoft.com/office/drawing/2014/main" id="{BC7D8FBB-5A16-AD70-891F-CF9586387C28}"/>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 xmlns:a16="http://schemas.microsoft.com/office/drawing/2014/main" id="{204CF9FF-C56F-CC88-41C7-A4068C357EFC}"/>
                  </a:ext>
                </a:extLst>
              </p:cNvPr>
              <p:cNvSpPr txBox="1"/>
              <p:nvPr/>
            </p:nvSpPr>
            <p:spPr>
              <a:xfrm>
                <a:off x="6108701" y="2910505"/>
                <a:ext cx="627148" cy="369332"/>
              </a:xfrm>
              <a:prstGeom prst="rect">
                <a:avLst/>
              </a:prstGeom>
              <a:noFill/>
            </p:spPr>
            <p:txBody>
              <a:bodyPr wrap="square">
                <a:spAutoFit/>
              </a:bodyPr>
              <a:lstStyle/>
              <a:p>
                <a:pPr algn="ctr"/>
                <a:r>
                  <a:rPr lang="pt-BR" dirty="0" err="1">
                    <a:solidFill>
                      <a:schemeClr val="tx1"/>
                    </a:solidFill>
                  </a:rPr>
                  <a:t>tanh</a:t>
                </a:r>
                <a:endParaRPr lang="en-US" dirty="0">
                  <a:solidFill>
                    <a:schemeClr val="tx1"/>
                  </a:solidFill>
                </a:endParaRPr>
              </a:p>
            </p:txBody>
          </p:sp>
        </p:grpSp>
        <mc:AlternateContent xmlns:mc="http://schemas.openxmlformats.org/markup-compatibility/2006" xmlns:a14="http://schemas.microsoft.com/office/drawing/2010/main">
          <mc:Choice Requires="a14">
            <p:sp>
              <p:nvSpPr>
                <p:cNvPr id="50" name="TextBox 49">
                  <a:extLst>
                    <a:ext uri="{FF2B5EF4-FFF2-40B4-BE49-F238E27FC236}">
                      <a16:creationId xmlns="" xmlns:a16="http://schemas.microsoft.com/office/drawing/2014/main" id="{F84BDC07-58AB-814F-9F8F-8414DD043B2C}"/>
                    </a:ext>
                  </a:extLst>
                </p:cNvPr>
                <p:cNvSpPr txBox="1"/>
                <p:nvPr/>
              </p:nvSpPr>
              <p:spPr>
                <a:xfrm>
                  <a:off x="3387954" y="4052158"/>
                  <a:ext cx="69083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50" name="TextBox 49">
                  <a:extLst>
                    <a:ext uri="{FF2B5EF4-FFF2-40B4-BE49-F238E27FC236}">
                      <a16:creationId xmlns:a16="http://schemas.microsoft.com/office/drawing/2014/main" id="{F84BDC07-58AB-814F-9F8F-8414DD043B2C}"/>
                    </a:ext>
                  </a:extLst>
                </p:cNvPr>
                <p:cNvSpPr txBox="1">
                  <a:spLocks noRot="1" noChangeAspect="1" noMove="1" noResize="1" noEditPoints="1" noAdjustHandles="1" noChangeArrowheads="1" noChangeShapeType="1" noTextEdit="1"/>
                </p:cNvSpPr>
                <p:nvPr/>
              </p:nvSpPr>
              <p:spPr>
                <a:xfrm>
                  <a:off x="3387954" y="4052158"/>
                  <a:ext cx="690830"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 xmlns:a16="http://schemas.microsoft.com/office/drawing/2014/main" id="{1F9BEE74-0585-0BF9-6739-9B6E594E5FE2}"/>
                    </a:ext>
                  </a:extLst>
                </p:cNvPr>
                <p:cNvSpPr txBox="1"/>
                <p:nvPr/>
              </p:nvSpPr>
              <p:spPr>
                <a:xfrm>
                  <a:off x="4288133" y="4631386"/>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55" name="TextBox 54">
                  <a:extLst>
                    <a:ext uri="{FF2B5EF4-FFF2-40B4-BE49-F238E27FC236}">
                      <a16:creationId xmlns:a16="http://schemas.microsoft.com/office/drawing/2014/main" id="{1F9BEE74-0585-0BF9-6739-9B6E594E5FE2}"/>
                    </a:ext>
                  </a:extLst>
                </p:cNvPr>
                <p:cNvSpPr txBox="1">
                  <a:spLocks noRot="1" noChangeAspect="1" noMove="1" noResize="1" noEditPoints="1" noAdjustHandles="1" noChangeArrowheads="1" noChangeShapeType="1" noTextEdit="1"/>
                </p:cNvSpPr>
                <p:nvPr/>
              </p:nvSpPr>
              <p:spPr>
                <a:xfrm>
                  <a:off x="4288133" y="4631386"/>
                  <a:ext cx="458394" cy="369332"/>
                </a:xfrm>
                <a:prstGeom prst="rect">
                  <a:avLst/>
                </a:prstGeom>
                <a:blipFill>
                  <a:blip r:embed="rId14"/>
                  <a:stretch>
                    <a:fillRect/>
                  </a:stretch>
                </a:blipFill>
              </p:spPr>
              <p:txBody>
                <a:bodyPr/>
                <a:lstStyle/>
                <a:p>
                  <a:r>
                    <a:rPr lang="en-US">
                      <a:noFill/>
                    </a:rPr>
                    <a:t> </a:t>
                  </a:r>
                </a:p>
              </p:txBody>
            </p:sp>
          </mc:Fallback>
        </mc:AlternateContent>
        <p:sp>
          <p:nvSpPr>
            <p:cNvPr id="2" name="TextBox 1">
              <a:extLst>
                <a:ext uri="{FF2B5EF4-FFF2-40B4-BE49-F238E27FC236}">
                  <a16:creationId xmlns="" xmlns:a16="http://schemas.microsoft.com/office/drawing/2014/main" id="{EA3F5154-2CA6-DA77-77EC-40A67ED99630}"/>
                </a:ext>
              </a:extLst>
            </p:cNvPr>
            <p:cNvSpPr txBox="1"/>
            <p:nvPr/>
          </p:nvSpPr>
          <p:spPr>
            <a:xfrm>
              <a:off x="5830072" y="1866123"/>
              <a:ext cx="732271" cy="461665"/>
            </a:xfrm>
            <a:prstGeom prst="rect">
              <a:avLst/>
            </a:prstGeom>
            <a:noFill/>
          </p:spPr>
          <p:txBody>
            <a:bodyPr wrap="square" rtlCol="0">
              <a:spAutoFit/>
            </a:bodyPr>
            <a:lstStyle/>
            <a:p>
              <a:pPr algn="ctr"/>
              <a:r>
                <a:rPr lang="pt-BR" sz="1200" dirty="0"/>
                <a:t>porta de saída</a:t>
              </a:r>
              <a:endParaRPr lang="en-US" sz="1200" dirty="0"/>
            </a:p>
          </p:txBody>
        </p:sp>
        <p:cxnSp>
          <p:nvCxnSpPr>
            <p:cNvPr id="6" name="Straight Arrow Connector 5">
              <a:extLst>
                <a:ext uri="{FF2B5EF4-FFF2-40B4-BE49-F238E27FC236}">
                  <a16:creationId xmlns="" xmlns:a16="http://schemas.microsoft.com/office/drawing/2014/main" id="{92D561B4-41EA-C30D-E56D-D9342BDCD50E}"/>
                </a:ext>
              </a:extLst>
            </p:cNvPr>
            <p:cNvCxnSpPr>
              <a:cxnSpLocks/>
              <a:stCxn id="2" idx="2"/>
            </p:cNvCxnSpPr>
            <p:nvPr/>
          </p:nvCxnSpPr>
          <p:spPr>
            <a:xfrm>
              <a:off x="6196208" y="2327788"/>
              <a:ext cx="884662" cy="105272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 name="Straight Connector 2">
              <a:extLst>
                <a:ext uri="{FF2B5EF4-FFF2-40B4-BE49-F238E27FC236}">
                  <a16:creationId xmlns="" xmlns:a16="http://schemas.microsoft.com/office/drawing/2014/main" id="{1783A325-B082-C554-B2BA-28AD9A80CD2C}"/>
                </a:ext>
              </a:extLst>
            </p:cNvPr>
            <p:cNvCxnSpPr>
              <a:cxnSpLocks/>
              <a:stCxn id="55" idx="0"/>
            </p:cNvCxnSpPr>
            <p:nvPr/>
          </p:nvCxnSpPr>
          <p:spPr>
            <a:xfrm flipH="1" flipV="1">
              <a:off x="4511399" y="4241954"/>
              <a:ext cx="5931" cy="38943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6" name="TextBox 25">
                  <a:extLst>
                    <a:ext uri="{FF2B5EF4-FFF2-40B4-BE49-F238E27FC236}">
                      <a16:creationId xmlns="" xmlns:a16="http://schemas.microsoft.com/office/drawing/2014/main" id="{9461D240-8679-EED9-2C4E-0B5228660B56}"/>
                    </a:ext>
                  </a:extLst>
                </p:cNvPr>
                <p:cNvSpPr txBox="1"/>
                <p:nvPr/>
              </p:nvSpPr>
              <p:spPr>
                <a:xfrm>
                  <a:off x="6367806" y="3192172"/>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𝒐</m:t>
                            </m:r>
                          </m:e>
                          <m:sub>
                            <m:r>
                              <a:rPr lang="pt-BR" b="0" i="1" smtClean="0">
                                <a:latin typeface="Cambria Math" panose="02040503050406030204" pitchFamily="18" charset="0"/>
                              </a:rPr>
                              <m:t>𝑡</m:t>
                            </m:r>
                          </m:sub>
                        </m:sSub>
                      </m:oMath>
                    </m:oMathPara>
                  </a14:m>
                  <a:endParaRPr lang="en-US" dirty="0"/>
                </a:p>
              </p:txBody>
            </p:sp>
          </mc:Choice>
          <mc:Fallback xmlns="">
            <p:sp>
              <p:nvSpPr>
                <p:cNvPr id="26" name="TextBox 25">
                  <a:extLst>
                    <a:ext uri="{FF2B5EF4-FFF2-40B4-BE49-F238E27FC236}">
                      <a16:creationId xmlns:a16="http://schemas.microsoft.com/office/drawing/2014/main" id="{9461D240-8679-EED9-2C4E-0B5228660B56}"/>
                    </a:ext>
                  </a:extLst>
                </p:cNvPr>
                <p:cNvSpPr txBox="1">
                  <a:spLocks noRot="1" noChangeAspect="1" noMove="1" noResize="1" noEditPoints="1" noAdjustHandles="1" noChangeArrowheads="1" noChangeShapeType="1" noTextEdit="1"/>
                </p:cNvSpPr>
                <p:nvPr/>
              </p:nvSpPr>
              <p:spPr>
                <a:xfrm>
                  <a:off x="6367806" y="3192172"/>
                  <a:ext cx="458394" cy="369332"/>
                </a:xfrm>
                <a:prstGeom prst="rect">
                  <a:avLst/>
                </a:prstGeom>
                <a:blipFill>
                  <a:blip r:embed="rId15"/>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2201110884"/>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D535DB89-0292-4C5A-F4B1-0C7B0D5D7189}"/>
            </a:ext>
          </a:extLst>
        </p:cNvPr>
        <p:cNvGrpSpPr/>
        <p:nvPr/>
      </p:nvGrpSpPr>
      <p:grpSpPr>
        <a:xfrm>
          <a:off x="0" y="0"/>
          <a:ext cx="0" cy="0"/>
          <a:chOff x="0" y="0"/>
          <a:chExt cx="0" cy="0"/>
        </a:xfrm>
      </p:grpSpPr>
      <p:grpSp>
        <p:nvGrpSpPr>
          <p:cNvPr id="32" name="Group 31">
            <a:extLst>
              <a:ext uri="{FF2B5EF4-FFF2-40B4-BE49-F238E27FC236}">
                <a16:creationId xmlns="" xmlns:a16="http://schemas.microsoft.com/office/drawing/2014/main" id="{1E6693AB-9080-966C-4D58-2EA6DBD07FBC}"/>
              </a:ext>
            </a:extLst>
          </p:cNvPr>
          <p:cNvGrpSpPr/>
          <p:nvPr/>
        </p:nvGrpSpPr>
        <p:grpSpPr>
          <a:xfrm>
            <a:off x="506345" y="1849548"/>
            <a:ext cx="5133274" cy="3158904"/>
            <a:chOff x="3387954" y="1841814"/>
            <a:chExt cx="5133274" cy="3158904"/>
          </a:xfrm>
        </p:grpSpPr>
        <p:sp>
          <p:nvSpPr>
            <p:cNvPr id="39" name="Rectangle: Rounded Corners 38">
              <a:extLst>
                <a:ext uri="{FF2B5EF4-FFF2-40B4-BE49-F238E27FC236}">
                  <a16:creationId xmlns="" xmlns:a16="http://schemas.microsoft.com/office/drawing/2014/main" id="{E5E1E212-22FF-F303-C8DD-044D2FD556BD}"/>
                </a:ext>
              </a:extLst>
            </p:cNvPr>
            <p:cNvSpPr/>
            <p:nvPr/>
          </p:nvSpPr>
          <p:spPr>
            <a:xfrm>
              <a:off x="4301176" y="243840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cxnSp>
          <p:nvCxnSpPr>
            <p:cNvPr id="33" name="Straight Connector 32">
              <a:extLst>
                <a:ext uri="{FF2B5EF4-FFF2-40B4-BE49-F238E27FC236}">
                  <a16:creationId xmlns="" xmlns:a16="http://schemas.microsoft.com/office/drawing/2014/main" id="{9D484352-76E3-BDB1-D326-EDCC4E24536F}"/>
                </a:ext>
              </a:extLst>
            </p:cNvPr>
            <p:cNvCxnSpPr>
              <a:cxnSpLocks/>
            </p:cNvCxnSpPr>
            <p:nvPr/>
          </p:nvCxnSpPr>
          <p:spPr>
            <a:xfrm>
              <a:off x="47244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5" name="Straight Connector 34">
              <a:extLst>
                <a:ext uri="{FF2B5EF4-FFF2-40B4-BE49-F238E27FC236}">
                  <a16:creationId xmlns="" xmlns:a16="http://schemas.microsoft.com/office/drawing/2014/main" id="{45339A55-66C9-1111-90CF-606F78A377CF}"/>
                </a:ext>
              </a:extLst>
            </p:cNvPr>
            <p:cNvCxnSpPr>
              <a:cxnSpLocks/>
            </p:cNvCxnSpPr>
            <p:nvPr/>
          </p:nvCxnSpPr>
          <p:spPr>
            <a:xfrm>
              <a:off x="52832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 xmlns:a16="http://schemas.microsoft.com/office/drawing/2014/main" id="{B36FCAE8-5860-FC81-28DB-F1330525841E}"/>
                </a:ext>
              </a:extLst>
            </p:cNvPr>
            <p:cNvCxnSpPr>
              <a:cxnSpLocks/>
            </p:cNvCxnSpPr>
            <p:nvPr/>
          </p:nvCxnSpPr>
          <p:spPr>
            <a:xfrm>
              <a:off x="598811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71" name="Straight Connector 70">
              <a:extLst>
                <a:ext uri="{FF2B5EF4-FFF2-40B4-BE49-F238E27FC236}">
                  <a16:creationId xmlns="" xmlns:a16="http://schemas.microsoft.com/office/drawing/2014/main" id="{CDAD974B-2567-4FED-B1AF-B8BC328A9530}"/>
                </a:ext>
              </a:extLst>
            </p:cNvPr>
            <p:cNvCxnSpPr>
              <a:cxnSpLocks/>
            </p:cNvCxnSpPr>
            <p:nvPr/>
          </p:nvCxnSpPr>
          <p:spPr>
            <a:xfrm>
              <a:off x="6126191" y="2715788"/>
              <a:ext cx="1980000" cy="1163"/>
            </a:xfrm>
            <a:prstGeom prst="line">
              <a:avLst/>
            </a:prstGeom>
            <a:ln w="19050">
              <a:solidFill>
                <a:schemeClr val="dk1"/>
              </a:solidFill>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 xmlns:a16="http://schemas.microsoft.com/office/drawing/2014/main" id="{EEF54D2C-3691-135A-5D48-B7BB3D84F1E6}"/>
                </a:ext>
              </a:extLst>
            </p:cNvPr>
            <p:cNvCxnSpPr>
              <a:cxnSpLocks/>
              <a:stCxn id="17" idx="6"/>
              <a:endCxn id="48" idx="2"/>
            </p:cNvCxnSpPr>
            <p:nvPr/>
          </p:nvCxnSpPr>
          <p:spPr>
            <a:xfrm>
              <a:off x="4860985" y="2715788"/>
              <a:ext cx="992156" cy="1163"/>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48" name="Oval 47">
              <a:extLst>
                <a:ext uri="{FF2B5EF4-FFF2-40B4-BE49-F238E27FC236}">
                  <a16:creationId xmlns="" xmlns:a16="http://schemas.microsoft.com/office/drawing/2014/main" id="{6CFC43CE-312C-CC1D-0867-9CAB78D3BDC8}"/>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64" name="Straight Connector 63">
              <a:extLst>
                <a:ext uri="{FF2B5EF4-FFF2-40B4-BE49-F238E27FC236}">
                  <a16:creationId xmlns="" xmlns:a16="http://schemas.microsoft.com/office/drawing/2014/main" id="{52054C13-DF96-0311-7938-30530BBE6CA2}"/>
                </a:ext>
              </a:extLst>
            </p:cNvPr>
            <p:cNvCxnSpPr>
              <a:cxnSpLocks/>
              <a:endCxn id="17" idx="2"/>
            </p:cNvCxnSpPr>
            <p:nvPr/>
          </p:nvCxnSpPr>
          <p:spPr>
            <a:xfrm flipV="1">
              <a:off x="4012696" y="2715788"/>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17" name="Oval 16">
              <a:extLst>
                <a:ext uri="{FF2B5EF4-FFF2-40B4-BE49-F238E27FC236}">
                  <a16:creationId xmlns="" xmlns:a16="http://schemas.microsoft.com/office/drawing/2014/main" id="{6EEDC121-F607-FE73-E57A-90D5378D9C3D}"/>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8" name="Rectangle 7">
                  <a:extLst>
                    <a:ext uri="{FF2B5EF4-FFF2-40B4-BE49-F238E27FC236}">
                      <a16:creationId xmlns="" xmlns:a16="http://schemas.microsoft.com/office/drawing/2014/main" id="{9C8FF9AB-00C9-B769-9AED-2DC857398DF7}"/>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9C8FF9AB-00C9-B769-9AED-2DC857398DF7}"/>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3"/>
                  <a:stretch>
                    <a:fillRect/>
                  </a:stretch>
                </a:blipFill>
              </p:spPr>
              <p:txBody>
                <a:bodyPr/>
                <a:lstStyle/>
                <a:p>
                  <a:r>
                    <a:rPr lang="en-US">
                      <a:noFill/>
                    </a:rPr>
                    <a:t> </a:t>
                  </a:r>
                </a:p>
              </p:txBody>
            </p:sp>
          </mc:Fallback>
        </mc:AlternateContent>
        <p:cxnSp>
          <p:nvCxnSpPr>
            <p:cNvPr id="20" name="Straight Arrow Connector 19">
              <a:extLst>
                <a:ext uri="{FF2B5EF4-FFF2-40B4-BE49-F238E27FC236}">
                  <a16:creationId xmlns="" xmlns:a16="http://schemas.microsoft.com/office/drawing/2014/main" id="{254208A2-C0A3-CC7C-102B-529EF10CE5E0}"/>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 xmlns:a16="http://schemas.microsoft.com/office/drawing/2014/main" id="{67D2E9AC-D0D7-5FF8-3056-16991D60205D}"/>
                    </a:ext>
                  </a:extLst>
                </p:cNvPr>
                <p:cNvSpPr txBox="1"/>
                <p:nvPr/>
              </p:nvSpPr>
              <p:spPr>
                <a:xfrm>
                  <a:off x="3399976" y="2480066"/>
                  <a:ext cx="66197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5" name="TextBox 4">
                  <a:extLst>
                    <a:ext uri="{FF2B5EF4-FFF2-40B4-BE49-F238E27FC236}">
                      <a16:creationId xmlns:a16="http://schemas.microsoft.com/office/drawing/2014/main" id="{67D2E9AC-D0D7-5FF8-3056-16991D60205D}"/>
                    </a:ext>
                  </a:extLst>
                </p:cNvPr>
                <p:cNvSpPr txBox="1">
                  <a:spLocks noRot="1" noChangeAspect="1" noMove="1" noResize="1" noEditPoints="1" noAdjustHandles="1" noChangeArrowheads="1" noChangeShapeType="1" noTextEdit="1"/>
                </p:cNvSpPr>
                <p:nvPr/>
              </p:nvSpPr>
              <p:spPr>
                <a:xfrm>
                  <a:off x="3399976" y="2480066"/>
                  <a:ext cx="661976"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 name="TextBox 8">
                  <a:extLst>
                    <a:ext uri="{FF2B5EF4-FFF2-40B4-BE49-F238E27FC236}">
                      <a16:creationId xmlns="" xmlns:a16="http://schemas.microsoft.com/office/drawing/2014/main" id="{79558D3F-5963-20E5-DEAE-BB393D386DFC}"/>
                    </a:ext>
                  </a:extLst>
                </p:cNvPr>
                <p:cNvSpPr txBox="1"/>
                <p:nvPr/>
              </p:nvSpPr>
              <p:spPr>
                <a:xfrm>
                  <a:off x="4334939" y="3086237"/>
                  <a:ext cx="455189"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𝒇</m:t>
                            </m:r>
                          </m:e>
                          <m:sub>
                            <m:r>
                              <a:rPr lang="pt-BR" b="0" i="1" smtClean="0">
                                <a:latin typeface="Cambria Math" panose="02040503050406030204" pitchFamily="18" charset="0"/>
                              </a:rPr>
                              <m:t>𝑡</m:t>
                            </m:r>
                          </m:sub>
                        </m:sSub>
                      </m:oMath>
                    </m:oMathPara>
                  </a14:m>
                  <a:endParaRPr lang="en-US" dirty="0"/>
                </a:p>
              </p:txBody>
            </p:sp>
          </mc:Choice>
          <mc:Fallback>
            <p:sp>
              <p:nvSpPr>
                <p:cNvPr id="9" name="TextBox 8">
                  <a:extLst>
                    <a:ext uri="{FF2B5EF4-FFF2-40B4-BE49-F238E27FC236}">
                      <a16:creationId xmlns="" xmlns:a16="http://schemas.microsoft.com/office/drawing/2014/main" xmlns:a14="http://schemas.microsoft.com/office/drawing/2010/main" id="{79558D3F-5963-20E5-DEAE-BB393D386DFC}"/>
                    </a:ext>
                  </a:extLst>
                </p:cNvPr>
                <p:cNvSpPr txBox="1">
                  <a:spLocks noRot="1" noChangeAspect="1" noMove="1" noResize="1" noEditPoints="1" noAdjustHandles="1" noChangeArrowheads="1" noChangeShapeType="1" noTextEdit="1"/>
                </p:cNvSpPr>
                <p:nvPr/>
              </p:nvSpPr>
              <p:spPr>
                <a:xfrm>
                  <a:off x="4334939" y="3086237"/>
                  <a:ext cx="455189" cy="369332"/>
                </a:xfrm>
                <a:prstGeom prst="rect">
                  <a:avLst/>
                </a:prstGeom>
                <a:blipFill rotWithShape="0">
                  <a:blip r:embed="rId5"/>
                  <a:stretch>
                    <a:fillRect b="-13333"/>
                  </a:stretch>
                </a:blipFill>
              </p:spPr>
              <p:txBody>
                <a:bodyPr/>
                <a:lstStyle/>
                <a:p>
                  <a:r>
                    <a:rPr lang="pt-BR">
                      <a:noFill/>
                    </a:rPr>
                    <a:t> </a:t>
                  </a:r>
                </a:p>
              </p:txBody>
            </p:sp>
          </mc:Fallback>
        </mc:AlternateContent>
        <p:sp>
          <p:nvSpPr>
            <p:cNvPr id="37" name="Oval 36">
              <a:extLst>
                <a:ext uri="{FF2B5EF4-FFF2-40B4-BE49-F238E27FC236}">
                  <a16:creationId xmlns="" xmlns:a16="http://schemas.microsoft.com/office/drawing/2014/main" id="{41E5331B-7497-3EAB-612D-76B2411DE483}"/>
                </a:ext>
              </a:extLst>
            </p:cNvPr>
            <p:cNvSpPr/>
            <p:nvPr/>
          </p:nvSpPr>
          <p:spPr>
            <a:xfrm>
              <a:off x="5856481" y="32527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0" name="Rectangle 9">
                  <a:extLst>
                    <a:ext uri="{FF2B5EF4-FFF2-40B4-BE49-F238E27FC236}">
                      <a16:creationId xmlns="" xmlns:a16="http://schemas.microsoft.com/office/drawing/2014/main" id="{5F79EBCF-B49E-1CFB-4AB2-62E6C0D8D56C}"/>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5F79EBCF-B49E-1CFB-4AB2-62E6C0D8D56C}"/>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6"/>
                  <a:stretch>
                    <a:fillRect/>
                  </a:stretch>
                </a:blipFill>
              </p:spPr>
              <p:txBody>
                <a:bodyPr/>
                <a:lstStyle/>
                <a:p>
                  <a:r>
                    <a:rPr lang="en-US">
                      <a:noFill/>
                    </a:rPr>
                    <a:t> </a:t>
                  </a:r>
                </a:p>
              </p:txBody>
            </p:sp>
          </mc:Fallback>
        </mc:AlternateContent>
        <p:sp>
          <p:nvSpPr>
            <p:cNvPr id="12" name="Rectangle 11">
              <a:extLst>
                <a:ext uri="{FF2B5EF4-FFF2-40B4-BE49-F238E27FC236}">
                  <a16:creationId xmlns="" xmlns:a16="http://schemas.microsoft.com/office/drawing/2014/main" id="{574A35A4-9645-799F-CFAB-50CBB9BB146C}"/>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err="1">
                  <a:solidFill>
                    <a:schemeClr val="tx1"/>
                  </a:solidFill>
                </a:rPr>
                <a:t>tanh</a:t>
              </a:r>
              <a:endParaRPr lang="en-US" dirty="0">
                <a:solidFill>
                  <a:schemeClr val="tx1"/>
                </a:solidFill>
              </a:endParaRPr>
            </a:p>
          </p:txBody>
        </p:sp>
        <p:cxnSp>
          <p:nvCxnSpPr>
            <p:cNvPr id="47" name="Straight Arrow Connector 46">
              <a:extLst>
                <a:ext uri="{FF2B5EF4-FFF2-40B4-BE49-F238E27FC236}">
                  <a16:creationId xmlns="" xmlns:a16="http://schemas.microsoft.com/office/drawing/2014/main" id="{372D9875-E4CD-C4BF-D584-E170D8775680}"/>
                </a:ext>
              </a:extLst>
            </p:cNvPr>
            <p:cNvCxnSpPr>
              <a:cxnSpLocks/>
              <a:stCxn id="12" idx="0"/>
              <a:endCxn id="37" idx="4"/>
            </p:cNvCxnSpPr>
            <p:nvPr/>
          </p:nvCxnSpPr>
          <p:spPr>
            <a:xfrm flipH="1" flipV="1">
              <a:off x="5993006" y="3525802"/>
              <a:ext cx="868" cy="210300"/>
            </a:xfrm>
            <a:prstGeom prst="straightConnector1">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 xmlns:a16="http://schemas.microsoft.com/office/drawing/2014/main" id="{60BE383E-58A4-904C-1437-9E2DD4690B12}"/>
                </a:ext>
              </a:extLst>
            </p:cNvPr>
            <p:cNvCxnSpPr>
              <a:stCxn id="10" idx="0"/>
              <a:endCxn id="37" idx="2"/>
            </p:cNvCxnSpPr>
            <p:nvPr/>
          </p:nvCxnSpPr>
          <p:spPr>
            <a:xfrm rot="5400000" flipH="1" flipV="1">
              <a:off x="5399128" y="3278749"/>
              <a:ext cx="3468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 xmlns:a16="http://schemas.microsoft.com/office/drawing/2014/main" id="{B44B526B-5C9D-0035-BEF6-CCF89FFA0A78}"/>
                </a:ext>
              </a:extLst>
            </p:cNvPr>
            <p:cNvCxnSpPr>
              <a:cxnSpLocks/>
              <a:stCxn id="37" idx="0"/>
              <a:endCxn id="48" idx="4"/>
            </p:cNvCxnSpPr>
            <p:nvPr/>
          </p:nvCxnSpPr>
          <p:spPr>
            <a:xfrm flipH="1" flipV="1">
              <a:off x="5989666" y="2853476"/>
              <a:ext cx="3340" cy="3992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mc:Choice xmlns:a14="http://schemas.microsoft.com/office/drawing/2010/main" Requires="a14">
            <p:sp>
              <p:nvSpPr>
                <p:cNvPr id="27" name="TextBox 26">
                  <a:extLst>
                    <a:ext uri="{FF2B5EF4-FFF2-40B4-BE49-F238E27FC236}">
                      <a16:creationId xmlns="" xmlns:a16="http://schemas.microsoft.com/office/drawing/2014/main" id="{3CF19B3A-11ED-BF65-8794-A33574BF5B8D}"/>
                    </a:ext>
                  </a:extLst>
                </p:cNvPr>
                <p:cNvSpPr txBox="1"/>
                <p:nvPr/>
              </p:nvSpPr>
              <p:spPr>
                <a:xfrm>
                  <a:off x="5307727" y="3030377"/>
                  <a:ext cx="41030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𝒊</m:t>
                            </m:r>
                          </m:e>
                          <m:sub>
                            <m:r>
                              <a:rPr lang="pt-BR" b="0" i="1" smtClean="0">
                                <a:latin typeface="Cambria Math" panose="02040503050406030204" pitchFamily="18" charset="0"/>
                              </a:rPr>
                              <m:t>𝑡</m:t>
                            </m:r>
                          </m:sub>
                        </m:sSub>
                      </m:oMath>
                    </m:oMathPara>
                  </a14:m>
                  <a:endParaRPr lang="en-US" dirty="0"/>
                </a:p>
              </p:txBody>
            </p:sp>
          </mc:Choice>
          <mc:Fallback>
            <p:sp>
              <p:nvSpPr>
                <p:cNvPr id="27" name="TextBox 26">
                  <a:extLst>
                    <a:ext uri="{FF2B5EF4-FFF2-40B4-BE49-F238E27FC236}">
                      <a16:creationId xmlns="" xmlns:a16="http://schemas.microsoft.com/office/drawing/2014/main" xmlns:a14="http://schemas.microsoft.com/office/drawing/2010/main" id="{3CF19B3A-11ED-BF65-8794-A33574BF5B8D}"/>
                    </a:ext>
                  </a:extLst>
                </p:cNvPr>
                <p:cNvSpPr txBox="1">
                  <a:spLocks noRot="1" noChangeAspect="1" noMove="1" noResize="1" noEditPoints="1" noAdjustHandles="1" noChangeArrowheads="1" noChangeShapeType="1" noTextEdit="1"/>
                </p:cNvSpPr>
                <p:nvPr/>
              </p:nvSpPr>
              <p:spPr>
                <a:xfrm>
                  <a:off x="5307727" y="3030377"/>
                  <a:ext cx="410304" cy="369332"/>
                </a:xfrm>
                <a:prstGeom prst="rect">
                  <a:avLst/>
                </a:prstGeom>
                <a:blipFill rotWithShape="0">
                  <a:blip r:embed="rId7"/>
                  <a:stretch>
                    <a:fillRect/>
                  </a:stretch>
                </a:blipFill>
              </p:spPr>
              <p:txBody>
                <a:bodyPr/>
                <a:lstStyle/>
                <a:p>
                  <a:r>
                    <a:rPr lang="pt-BR">
                      <a:noFill/>
                    </a:rPr>
                    <a:t> </a:t>
                  </a:r>
                </a:p>
              </p:txBody>
            </p:sp>
          </mc:Fallback>
        </mc:AlternateContent>
        <mc:AlternateContent xmlns:mc="http://schemas.openxmlformats.org/markup-compatibility/2006">
          <mc:Choice xmlns:a14="http://schemas.microsoft.com/office/drawing/2010/main" Requires="a14">
            <p:sp>
              <p:nvSpPr>
                <p:cNvPr id="28" name="TextBox 27">
                  <a:extLst>
                    <a:ext uri="{FF2B5EF4-FFF2-40B4-BE49-F238E27FC236}">
                      <a16:creationId xmlns="" xmlns:a16="http://schemas.microsoft.com/office/drawing/2014/main" id="{084BF1A6-CB8D-11E0-69DF-1D0112A2A4FC}"/>
                    </a:ext>
                  </a:extLst>
                </p:cNvPr>
                <p:cNvSpPr txBox="1"/>
                <p:nvPr/>
              </p:nvSpPr>
              <p:spPr>
                <a:xfrm>
                  <a:off x="5983458" y="3389277"/>
                  <a:ext cx="44236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acc>
                              <m:accPr>
                                <m:chr m:val="̃"/>
                                <m:ctrlPr>
                                  <a:rPr lang="en-US" i="1">
                                    <a:latin typeface="Cambria Math" panose="02040503050406030204" pitchFamily="18" charset="0"/>
                                  </a:rPr>
                                </m:ctrlPr>
                              </m:accPr>
                              <m:e>
                                <m:r>
                                  <a:rPr lang="pt-BR" b="1" i="1">
                                    <a:latin typeface="Cambria Math" panose="02040503050406030204" pitchFamily="18" charset="0"/>
                                  </a:rPr>
                                  <m:t>𝒄</m:t>
                                </m:r>
                              </m:e>
                            </m:acc>
                          </m:e>
                          <m:sub>
                            <m:r>
                              <a:rPr lang="pt-BR" b="0" i="1" smtClean="0">
                                <a:latin typeface="Cambria Math" panose="02040503050406030204" pitchFamily="18" charset="0"/>
                              </a:rPr>
                              <m:t>𝑡</m:t>
                            </m:r>
                          </m:sub>
                        </m:sSub>
                      </m:oMath>
                    </m:oMathPara>
                  </a14:m>
                  <a:endParaRPr lang="en-US" dirty="0"/>
                </a:p>
              </p:txBody>
            </p:sp>
          </mc:Choice>
          <mc:Fallback>
            <p:sp>
              <p:nvSpPr>
                <p:cNvPr id="28" name="TextBox 27">
                  <a:extLst>
                    <a:ext uri="{FF2B5EF4-FFF2-40B4-BE49-F238E27FC236}">
                      <a16:creationId xmlns="" xmlns:a16="http://schemas.microsoft.com/office/drawing/2014/main" xmlns:a14="http://schemas.microsoft.com/office/drawing/2010/main" id="{084BF1A6-CB8D-11E0-69DF-1D0112A2A4FC}"/>
                    </a:ext>
                  </a:extLst>
                </p:cNvPr>
                <p:cNvSpPr txBox="1">
                  <a:spLocks noRot="1" noChangeAspect="1" noMove="1" noResize="1" noEditPoints="1" noAdjustHandles="1" noChangeArrowheads="1" noChangeShapeType="1" noTextEdit="1"/>
                </p:cNvSpPr>
                <p:nvPr/>
              </p:nvSpPr>
              <p:spPr>
                <a:xfrm>
                  <a:off x="5983458" y="3389277"/>
                  <a:ext cx="442364" cy="369332"/>
                </a:xfrm>
                <a:prstGeom prst="rect">
                  <a:avLst/>
                </a:prstGeom>
                <a:blipFill rotWithShape="0">
                  <a:blip r:embed="rId8"/>
                  <a:stretch>
                    <a:fillRect r="-2778"/>
                  </a:stretch>
                </a:blipFill>
              </p:spPr>
              <p:txBody>
                <a:bodyPr/>
                <a:lstStyle/>
                <a:p>
                  <a:r>
                    <a:rPr lang="pt-BR">
                      <a:noFill/>
                    </a:rPr>
                    <a:t> </a:t>
                  </a:r>
                </a:p>
              </p:txBody>
            </p:sp>
          </mc:Fallback>
        </mc:AlternateContent>
        <p:cxnSp>
          <p:nvCxnSpPr>
            <p:cNvPr id="19" name="Connector: Elbow 18">
              <a:extLst>
                <a:ext uri="{FF2B5EF4-FFF2-40B4-BE49-F238E27FC236}">
                  <a16:creationId xmlns="" xmlns:a16="http://schemas.microsoft.com/office/drawing/2014/main" id="{FEB49339-2251-0621-3FB2-5F0777E8738C}"/>
                </a:ext>
              </a:extLst>
            </p:cNvPr>
            <p:cNvCxnSpPr>
              <a:cxnSpLocks/>
              <a:stCxn id="50" idx="3"/>
              <a:endCxn id="11" idx="2"/>
            </p:cNvCxnSpPr>
            <p:nvPr/>
          </p:nvCxnSpPr>
          <p:spPr>
            <a:xfrm flipV="1">
              <a:off x="4078784" y="4036770"/>
              <a:ext cx="2627638" cy="20005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93" name="Straight Arrow Connector 92">
              <a:extLst>
                <a:ext uri="{FF2B5EF4-FFF2-40B4-BE49-F238E27FC236}">
                  <a16:creationId xmlns="" xmlns:a16="http://schemas.microsoft.com/office/drawing/2014/main" id="{D8D54B05-5AA3-748E-C625-27B672EE4CAA}"/>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 xmlns:a16="http://schemas.microsoft.com/office/drawing/2014/main" id="{657E8D60-7374-6BC0-8074-CA18852806F3}"/>
                </a:ext>
              </a:extLst>
            </p:cNvPr>
            <p:cNvCxnSpPr>
              <a:cxnSpLocks/>
            </p:cNvCxnSpPr>
            <p:nvPr/>
          </p:nvCxnSpPr>
          <p:spPr>
            <a:xfrm flipH="1" flipV="1">
              <a:off x="7232357" y="2715838"/>
              <a:ext cx="625" cy="180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 xmlns:a16="http://schemas.microsoft.com/office/drawing/2014/main" id="{4614BDFA-040F-E6C8-3A70-82B16A049EA3}"/>
                    </a:ext>
                  </a:extLst>
                </p:cNvPr>
                <p:cNvSpPr txBox="1"/>
                <p:nvPr/>
              </p:nvSpPr>
              <p:spPr>
                <a:xfrm>
                  <a:off x="8039200" y="2529630"/>
                  <a:ext cx="44236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7" name="TextBox 6">
                  <a:extLst>
                    <a:ext uri="{FF2B5EF4-FFF2-40B4-BE49-F238E27FC236}">
                      <a16:creationId xmlns:a16="http://schemas.microsoft.com/office/drawing/2014/main" id="{4614BDFA-040F-E6C8-3A70-82B16A049EA3}"/>
                    </a:ext>
                  </a:extLst>
                </p:cNvPr>
                <p:cNvSpPr txBox="1">
                  <a:spLocks noRot="1" noChangeAspect="1" noMove="1" noResize="1" noEditPoints="1" noAdjustHandles="1" noChangeArrowheads="1" noChangeShapeType="1" noTextEdit="1"/>
                </p:cNvSpPr>
                <p:nvPr/>
              </p:nvSpPr>
              <p:spPr>
                <a:xfrm>
                  <a:off x="8039200" y="2529630"/>
                  <a:ext cx="442365"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 xmlns:a16="http://schemas.microsoft.com/office/drawing/2014/main" id="{7131B2AC-785B-6A00-6403-4173D30B3DBE}"/>
                    </a:ext>
                  </a:extLst>
                </p:cNvPr>
                <p:cNvSpPr txBox="1"/>
                <p:nvPr/>
              </p:nvSpPr>
              <p:spPr>
                <a:xfrm>
                  <a:off x="7423392" y="1841814"/>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3" name="TextBox 52">
                  <a:extLst>
                    <a:ext uri="{FF2B5EF4-FFF2-40B4-BE49-F238E27FC236}">
                      <a16:creationId xmlns:a16="http://schemas.microsoft.com/office/drawing/2014/main" id="{7131B2AC-785B-6A00-6403-4173D30B3DBE}"/>
                    </a:ext>
                  </a:extLst>
                </p:cNvPr>
                <p:cNvSpPr txBox="1">
                  <a:spLocks noRot="1" noChangeAspect="1" noMove="1" noResize="1" noEditPoints="1" noAdjustHandles="1" noChangeArrowheads="1" noChangeShapeType="1" noTextEdit="1"/>
                </p:cNvSpPr>
                <p:nvPr/>
              </p:nvSpPr>
              <p:spPr>
                <a:xfrm>
                  <a:off x="7423392" y="1841814"/>
                  <a:ext cx="471218" cy="369332"/>
                </a:xfrm>
                <a:prstGeom prst="rect">
                  <a:avLst/>
                </a:prstGeom>
                <a:blipFill>
                  <a:blip r:embed="rId10"/>
                  <a:stretch>
                    <a:fillRect/>
                  </a:stretch>
                </a:blipFill>
              </p:spPr>
              <p:txBody>
                <a:bodyPr/>
                <a:lstStyle/>
                <a:p>
                  <a:r>
                    <a:rPr lang="en-US">
                      <a:noFill/>
                    </a:rPr>
                    <a:t> </a:t>
                  </a:r>
                </a:p>
              </p:txBody>
            </p:sp>
          </mc:Fallback>
        </mc:AlternateContent>
        <p:cxnSp>
          <p:nvCxnSpPr>
            <p:cNvPr id="96" name="Straight Connector 95">
              <a:extLst>
                <a:ext uri="{FF2B5EF4-FFF2-40B4-BE49-F238E27FC236}">
                  <a16:creationId xmlns="" xmlns:a16="http://schemas.microsoft.com/office/drawing/2014/main" id="{2F1CAFE8-16C4-F79F-5ED8-5BEB2A55D30F}"/>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 xmlns:a16="http://schemas.microsoft.com/office/drawing/2014/main" id="{E3211A3E-6145-4D12-2D22-D70496F90575}"/>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 xmlns:a16="http://schemas.microsoft.com/office/drawing/2014/main" id="{19A8E8F3-38BE-87E6-D274-984A80158983}"/>
                </a:ext>
              </a:extLst>
            </p:cNvPr>
            <p:cNvCxnSpPr>
              <a:cxnSpLocks/>
            </p:cNvCxnSpPr>
            <p:nvPr/>
          </p:nvCxnSpPr>
          <p:spPr>
            <a:xfrm flipH="1" flipV="1">
              <a:off x="7236075" y="3192538"/>
              <a:ext cx="625" cy="144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1" name="Rectangle 10">
                  <a:extLst>
                    <a:ext uri="{FF2B5EF4-FFF2-40B4-BE49-F238E27FC236}">
                      <a16:creationId xmlns="" xmlns:a16="http://schemas.microsoft.com/office/drawing/2014/main" id="{7B460A71-A162-3B2F-0534-D5097B71597C}"/>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7B460A71-A162-3B2F-0534-D5097B71597C}"/>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11"/>
                  <a:stretch>
                    <a:fillRect/>
                  </a:stretch>
                </a:blipFill>
              </p:spPr>
              <p:txBody>
                <a:bodyPr/>
                <a:lstStyle/>
                <a:p>
                  <a:r>
                    <a:rPr lang="en-US">
                      <a:noFill/>
                    </a:rPr>
                    <a:t> </a:t>
                  </a:r>
                </a:p>
              </p:txBody>
            </p:sp>
          </mc:Fallback>
        </mc:AlternateContent>
        <p:cxnSp>
          <p:nvCxnSpPr>
            <p:cNvPr id="78" name="Connector: Elbow 77">
              <a:extLst>
                <a:ext uri="{FF2B5EF4-FFF2-40B4-BE49-F238E27FC236}">
                  <a16:creationId xmlns="" xmlns:a16="http://schemas.microsoft.com/office/drawing/2014/main" id="{0D1C2C55-7250-38DB-BDFD-F1FDC6C7AC0F}"/>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 xmlns:a16="http://schemas.microsoft.com/office/drawing/2014/main" id="{AA96CA20-B5D2-5828-E8D6-0B6C6EA98888}"/>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 xmlns:a16="http://schemas.microsoft.com/office/drawing/2014/main" id="{D46B60D4-017B-0910-D204-0D84EE74F3CD}"/>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 xmlns:a16="http://schemas.microsoft.com/office/drawing/2014/main" id="{AEB9BA74-F15E-4C0E-554A-8F737160BF12}"/>
                    </a:ext>
                  </a:extLst>
                </p:cNvPr>
                <p:cNvSpPr txBox="1"/>
                <p:nvPr/>
              </p:nvSpPr>
              <p:spPr>
                <a:xfrm>
                  <a:off x="8050010" y="4070439"/>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1" name="TextBox 50">
                  <a:extLst>
                    <a:ext uri="{FF2B5EF4-FFF2-40B4-BE49-F238E27FC236}">
                      <a16:creationId xmlns:a16="http://schemas.microsoft.com/office/drawing/2014/main" id="{AEB9BA74-F15E-4C0E-554A-8F737160BF12}"/>
                    </a:ext>
                  </a:extLst>
                </p:cNvPr>
                <p:cNvSpPr txBox="1">
                  <a:spLocks noRot="1" noChangeAspect="1" noMove="1" noResize="1" noEditPoints="1" noAdjustHandles="1" noChangeArrowheads="1" noChangeShapeType="1" noTextEdit="1"/>
                </p:cNvSpPr>
                <p:nvPr/>
              </p:nvSpPr>
              <p:spPr>
                <a:xfrm>
                  <a:off x="8050010" y="4070439"/>
                  <a:ext cx="471218" cy="369332"/>
                </a:xfrm>
                <a:prstGeom prst="rect">
                  <a:avLst/>
                </a:prstGeom>
                <a:blipFill>
                  <a:blip r:embed="rId12"/>
                  <a:stretch>
                    <a:fillRect/>
                  </a:stretch>
                </a:blipFill>
              </p:spPr>
              <p:txBody>
                <a:bodyPr/>
                <a:lstStyle/>
                <a:p>
                  <a:r>
                    <a:rPr lang="en-US">
                      <a:noFill/>
                    </a:rPr>
                    <a:t> </a:t>
                  </a:r>
                </a:p>
              </p:txBody>
            </p:sp>
          </mc:Fallback>
        </mc:AlternateContent>
        <p:grpSp>
          <p:nvGrpSpPr>
            <p:cNvPr id="16" name="Group 15">
              <a:extLst>
                <a:ext uri="{FF2B5EF4-FFF2-40B4-BE49-F238E27FC236}">
                  <a16:creationId xmlns="" xmlns:a16="http://schemas.microsoft.com/office/drawing/2014/main" id="{67FE728A-0062-CF04-49C7-136BF8661AD5}"/>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 xmlns:a16="http://schemas.microsoft.com/office/drawing/2014/main" id="{BC7D8FBB-5A16-AD70-891F-CF9586387C28}"/>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 xmlns:a16="http://schemas.microsoft.com/office/drawing/2014/main" id="{204CF9FF-C56F-CC88-41C7-A4068C357EFC}"/>
                  </a:ext>
                </a:extLst>
              </p:cNvPr>
              <p:cNvSpPr txBox="1"/>
              <p:nvPr/>
            </p:nvSpPr>
            <p:spPr>
              <a:xfrm>
                <a:off x="6108701" y="2910505"/>
                <a:ext cx="627148" cy="369332"/>
              </a:xfrm>
              <a:prstGeom prst="rect">
                <a:avLst/>
              </a:prstGeom>
              <a:noFill/>
            </p:spPr>
            <p:txBody>
              <a:bodyPr wrap="square">
                <a:spAutoFit/>
              </a:bodyPr>
              <a:lstStyle/>
              <a:p>
                <a:pPr algn="ctr"/>
                <a:r>
                  <a:rPr lang="pt-BR" dirty="0" err="1">
                    <a:solidFill>
                      <a:schemeClr val="tx1"/>
                    </a:solidFill>
                  </a:rPr>
                  <a:t>tanh</a:t>
                </a:r>
                <a:endParaRPr lang="en-US" dirty="0">
                  <a:solidFill>
                    <a:schemeClr val="tx1"/>
                  </a:solidFill>
                </a:endParaRPr>
              </a:p>
            </p:txBody>
          </p:sp>
        </p:grpSp>
        <mc:AlternateContent xmlns:mc="http://schemas.openxmlformats.org/markup-compatibility/2006" xmlns:a14="http://schemas.microsoft.com/office/drawing/2010/main">
          <mc:Choice Requires="a14">
            <p:sp>
              <p:nvSpPr>
                <p:cNvPr id="50" name="TextBox 49">
                  <a:extLst>
                    <a:ext uri="{FF2B5EF4-FFF2-40B4-BE49-F238E27FC236}">
                      <a16:creationId xmlns="" xmlns:a16="http://schemas.microsoft.com/office/drawing/2014/main" id="{F84BDC07-58AB-814F-9F8F-8414DD043B2C}"/>
                    </a:ext>
                  </a:extLst>
                </p:cNvPr>
                <p:cNvSpPr txBox="1"/>
                <p:nvPr/>
              </p:nvSpPr>
              <p:spPr>
                <a:xfrm>
                  <a:off x="3387954" y="4052158"/>
                  <a:ext cx="69083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50" name="TextBox 49">
                  <a:extLst>
                    <a:ext uri="{FF2B5EF4-FFF2-40B4-BE49-F238E27FC236}">
                      <a16:creationId xmlns:a16="http://schemas.microsoft.com/office/drawing/2014/main" id="{F84BDC07-58AB-814F-9F8F-8414DD043B2C}"/>
                    </a:ext>
                  </a:extLst>
                </p:cNvPr>
                <p:cNvSpPr txBox="1">
                  <a:spLocks noRot="1" noChangeAspect="1" noMove="1" noResize="1" noEditPoints="1" noAdjustHandles="1" noChangeArrowheads="1" noChangeShapeType="1" noTextEdit="1"/>
                </p:cNvSpPr>
                <p:nvPr/>
              </p:nvSpPr>
              <p:spPr>
                <a:xfrm>
                  <a:off x="3387954" y="4052158"/>
                  <a:ext cx="690830"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 xmlns:a16="http://schemas.microsoft.com/office/drawing/2014/main" id="{1F9BEE74-0585-0BF9-6739-9B6E594E5FE2}"/>
                    </a:ext>
                  </a:extLst>
                </p:cNvPr>
                <p:cNvSpPr txBox="1"/>
                <p:nvPr/>
              </p:nvSpPr>
              <p:spPr>
                <a:xfrm>
                  <a:off x="4288133" y="4631386"/>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55" name="TextBox 54">
                  <a:extLst>
                    <a:ext uri="{FF2B5EF4-FFF2-40B4-BE49-F238E27FC236}">
                      <a16:creationId xmlns:a16="http://schemas.microsoft.com/office/drawing/2014/main" id="{1F9BEE74-0585-0BF9-6739-9B6E594E5FE2}"/>
                    </a:ext>
                  </a:extLst>
                </p:cNvPr>
                <p:cNvSpPr txBox="1">
                  <a:spLocks noRot="1" noChangeAspect="1" noMove="1" noResize="1" noEditPoints="1" noAdjustHandles="1" noChangeArrowheads="1" noChangeShapeType="1" noTextEdit="1"/>
                </p:cNvSpPr>
                <p:nvPr/>
              </p:nvSpPr>
              <p:spPr>
                <a:xfrm>
                  <a:off x="4288133" y="4631386"/>
                  <a:ext cx="458394" cy="369332"/>
                </a:xfrm>
                <a:prstGeom prst="rect">
                  <a:avLst/>
                </a:prstGeom>
                <a:blipFill>
                  <a:blip r:embed="rId14"/>
                  <a:stretch>
                    <a:fillRect/>
                  </a:stretch>
                </a:blipFill>
              </p:spPr>
              <p:txBody>
                <a:bodyPr/>
                <a:lstStyle/>
                <a:p>
                  <a:r>
                    <a:rPr lang="en-US">
                      <a:noFill/>
                    </a:rPr>
                    <a:t> </a:t>
                  </a:r>
                </a:p>
              </p:txBody>
            </p:sp>
          </mc:Fallback>
        </mc:AlternateContent>
        <p:cxnSp>
          <p:nvCxnSpPr>
            <p:cNvPr id="3" name="Straight Connector 2">
              <a:extLst>
                <a:ext uri="{FF2B5EF4-FFF2-40B4-BE49-F238E27FC236}">
                  <a16:creationId xmlns="" xmlns:a16="http://schemas.microsoft.com/office/drawing/2014/main" id="{1783A325-B082-C554-B2BA-28AD9A80CD2C}"/>
                </a:ext>
              </a:extLst>
            </p:cNvPr>
            <p:cNvCxnSpPr>
              <a:cxnSpLocks/>
              <a:stCxn id="55" idx="0"/>
            </p:cNvCxnSpPr>
            <p:nvPr/>
          </p:nvCxnSpPr>
          <p:spPr>
            <a:xfrm flipH="1" flipV="1">
              <a:off x="4511399" y="4241954"/>
              <a:ext cx="5931" cy="38943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mc:Choice xmlns:a14="http://schemas.microsoft.com/office/drawing/2010/main" Requires="a14">
            <p:sp>
              <p:nvSpPr>
                <p:cNvPr id="26" name="TextBox 25">
                  <a:extLst>
                    <a:ext uri="{FF2B5EF4-FFF2-40B4-BE49-F238E27FC236}">
                      <a16:creationId xmlns="" xmlns:a16="http://schemas.microsoft.com/office/drawing/2014/main" id="{9461D240-8679-EED9-2C4E-0B5228660B56}"/>
                    </a:ext>
                  </a:extLst>
                </p:cNvPr>
                <p:cNvSpPr txBox="1"/>
                <p:nvPr/>
              </p:nvSpPr>
              <p:spPr>
                <a:xfrm>
                  <a:off x="6367806" y="3192172"/>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𝒐</m:t>
                            </m:r>
                          </m:e>
                          <m:sub>
                            <m:r>
                              <a:rPr lang="pt-BR" b="0" i="1" smtClean="0">
                                <a:latin typeface="Cambria Math" panose="02040503050406030204" pitchFamily="18" charset="0"/>
                              </a:rPr>
                              <m:t>𝑡</m:t>
                            </m:r>
                          </m:sub>
                        </m:sSub>
                      </m:oMath>
                    </m:oMathPara>
                  </a14:m>
                  <a:endParaRPr lang="en-US" dirty="0"/>
                </a:p>
              </p:txBody>
            </p:sp>
          </mc:Choice>
          <mc:Fallback>
            <p:sp>
              <p:nvSpPr>
                <p:cNvPr id="26" name="TextBox 25">
                  <a:extLst>
                    <a:ext uri="{FF2B5EF4-FFF2-40B4-BE49-F238E27FC236}">
                      <a16:creationId xmlns="" xmlns:a16="http://schemas.microsoft.com/office/drawing/2014/main" xmlns:a14="http://schemas.microsoft.com/office/drawing/2010/main" id="{9461D240-8679-EED9-2C4E-0B5228660B56}"/>
                    </a:ext>
                  </a:extLst>
                </p:cNvPr>
                <p:cNvSpPr txBox="1">
                  <a:spLocks noRot="1" noChangeAspect="1" noMove="1" noResize="1" noEditPoints="1" noAdjustHandles="1" noChangeArrowheads="1" noChangeShapeType="1" noTextEdit="1"/>
                </p:cNvSpPr>
                <p:nvPr/>
              </p:nvSpPr>
              <p:spPr>
                <a:xfrm>
                  <a:off x="6367806" y="3192172"/>
                  <a:ext cx="458394" cy="369332"/>
                </a:xfrm>
                <a:prstGeom prst="rect">
                  <a:avLst/>
                </a:prstGeom>
                <a:blipFill rotWithShape="0">
                  <a:blip r:embed="rId15"/>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650631589"/>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794AEBB-1DB3-0C45-B06E-B6487708D94E}"/>
            </a:ext>
          </a:extLst>
        </p:cNvPr>
        <p:cNvGrpSpPr/>
        <p:nvPr/>
      </p:nvGrpSpPr>
      <p:grpSpPr>
        <a:xfrm>
          <a:off x="0" y="0"/>
          <a:ext cx="0" cy="0"/>
          <a:chOff x="0" y="0"/>
          <a:chExt cx="0" cy="0"/>
        </a:xfrm>
      </p:grpSpPr>
      <p:grpSp>
        <p:nvGrpSpPr>
          <p:cNvPr id="133" name="Group 132">
            <a:extLst>
              <a:ext uri="{FF2B5EF4-FFF2-40B4-BE49-F238E27FC236}">
                <a16:creationId xmlns="" xmlns:a16="http://schemas.microsoft.com/office/drawing/2014/main" id="{F7B7D8FC-9645-4A44-7D00-F1E2AE598CBE}"/>
              </a:ext>
            </a:extLst>
          </p:cNvPr>
          <p:cNvGrpSpPr/>
          <p:nvPr/>
        </p:nvGrpSpPr>
        <p:grpSpPr>
          <a:xfrm>
            <a:off x="3581399" y="2244873"/>
            <a:ext cx="4928922" cy="2579854"/>
            <a:chOff x="3581399" y="2244873"/>
            <a:chExt cx="4928922" cy="2579854"/>
          </a:xfrm>
        </p:grpSpPr>
        <p:sp>
          <p:nvSpPr>
            <p:cNvPr id="134" name="Rectangle: Rounded Corners 133">
              <a:extLst>
                <a:ext uri="{FF2B5EF4-FFF2-40B4-BE49-F238E27FC236}">
                  <a16:creationId xmlns="" xmlns:a16="http://schemas.microsoft.com/office/drawing/2014/main" id="{90050B18-8D3F-55EF-2EB2-32D909A3DEA1}"/>
                </a:ext>
              </a:extLst>
            </p:cNvPr>
            <p:cNvSpPr/>
            <p:nvPr/>
          </p:nvSpPr>
          <p:spPr>
            <a:xfrm>
              <a:off x="4301176" y="243840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dirty="0"/>
            </a:p>
          </p:txBody>
        </p:sp>
        <p:cxnSp>
          <p:nvCxnSpPr>
            <p:cNvPr id="135" name="Straight Arrow Connector 134">
              <a:extLst>
                <a:ext uri="{FF2B5EF4-FFF2-40B4-BE49-F238E27FC236}">
                  <a16:creationId xmlns="" xmlns:a16="http://schemas.microsoft.com/office/drawing/2014/main" id="{74C5C52F-9EF8-E099-77E3-78FBC698A9E5}"/>
                </a:ext>
              </a:extLst>
            </p:cNvPr>
            <p:cNvCxnSpPr>
              <a:cxnSpLocks/>
            </p:cNvCxnSpPr>
            <p:nvPr/>
          </p:nvCxnSpPr>
          <p:spPr>
            <a:xfrm flipV="1">
              <a:off x="7924149" y="2244873"/>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36" name="Oval 135">
              <a:extLst>
                <a:ext uri="{FF2B5EF4-FFF2-40B4-BE49-F238E27FC236}">
                  <a16:creationId xmlns="" xmlns:a16="http://schemas.microsoft.com/office/drawing/2014/main" id="{10C8CDDB-6BDF-ED81-4C18-815D38FC460E}"/>
                </a:ext>
              </a:extLst>
            </p:cNvPr>
            <p:cNvSpPr/>
            <p:nvPr/>
          </p:nvSpPr>
          <p:spPr>
            <a:xfrm>
              <a:off x="4733602" y="3187865"/>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137" name="Oval 136">
              <a:extLst>
                <a:ext uri="{FF2B5EF4-FFF2-40B4-BE49-F238E27FC236}">
                  <a16:creationId xmlns="" xmlns:a16="http://schemas.microsoft.com/office/drawing/2014/main" id="{C878417F-026D-C5E4-7CD5-9AF914BD3FA8}"/>
                </a:ext>
              </a:extLst>
            </p:cNvPr>
            <p:cNvSpPr/>
            <p:nvPr/>
          </p:nvSpPr>
          <p:spPr>
            <a:xfrm>
              <a:off x="6236481" y="2576348"/>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138" name="Rectangle 137">
              <a:extLst>
                <a:ext uri="{FF2B5EF4-FFF2-40B4-BE49-F238E27FC236}">
                  <a16:creationId xmlns="" xmlns:a16="http://schemas.microsoft.com/office/drawing/2014/main" id="{3690F93B-C813-8543-60EE-FD8C453D5D34}"/>
                </a:ext>
              </a:extLst>
            </p:cNvPr>
            <p:cNvSpPr/>
            <p:nvPr/>
          </p:nvSpPr>
          <p:spPr>
            <a:xfrm>
              <a:off x="7076731" y="3612407"/>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err="1">
                  <a:solidFill>
                    <a:schemeClr val="tx1"/>
                  </a:solidFill>
                </a:rPr>
                <a:t>tanh</a:t>
              </a:r>
              <a:endParaRPr lang="en-US" dirty="0">
                <a:solidFill>
                  <a:schemeClr val="tx1"/>
                </a:solidFill>
              </a:endParaRPr>
            </a:p>
          </p:txBody>
        </p:sp>
        <p:sp>
          <p:nvSpPr>
            <p:cNvPr id="139" name="Oval 138">
              <a:extLst>
                <a:ext uri="{FF2B5EF4-FFF2-40B4-BE49-F238E27FC236}">
                  <a16:creationId xmlns="" xmlns:a16="http://schemas.microsoft.com/office/drawing/2014/main" id="{D95F8E15-9ACA-85AA-D57F-195E21823AC0}"/>
                </a:ext>
              </a:extLst>
            </p:cNvPr>
            <p:cNvSpPr/>
            <p:nvPr/>
          </p:nvSpPr>
          <p:spPr>
            <a:xfrm>
              <a:off x="7247597" y="2576348"/>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mc:AlternateContent xmlns:mc="http://schemas.openxmlformats.org/markup-compatibility/2006" xmlns:a14="http://schemas.microsoft.com/office/drawing/2010/main">
          <mc:Choice Requires="a14">
            <p:sp>
              <p:nvSpPr>
                <p:cNvPr id="140" name="TextBox 139">
                  <a:extLst>
                    <a:ext uri="{FF2B5EF4-FFF2-40B4-BE49-F238E27FC236}">
                      <a16:creationId xmlns="" xmlns:a16="http://schemas.microsoft.com/office/drawing/2014/main" id="{DAD0E2EE-D6B9-4EAA-3EA2-01FF5FF7F9A0}"/>
                    </a:ext>
                  </a:extLst>
                </p:cNvPr>
                <p:cNvSpPr txBox="1"/>
                <p:nvPr/>
              </p:nvSpPr>
              <p:spPr>
                <a:xfrm>
                  <a:off x="3581399" y="2520191"/>
                  <a:ext cx="51158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140" name="TextBox 139">
                  <a:extLst>
                    <a:ext uri="{FF2B5EF4-FFF2-40B4-BE49-F238E27FC236}">
                      <a16:creationId xmlns:a16="http://schemas.microsoft.com/office/drawing/2014/main" id="{DAD0E2EE-D6B9-4EAA-3EA2-01FF5FF7F9A0}"/>
                    </a:ext>
                  </a:extLst>
                </p:cNvPr>
                <p:cNvSpPr txBox="1">
                  <a:spLocks noRot="1" noChangeAspect="1" noMove="1" noResize="1" noEditPoints="1" noAdjustHandles="1" noChangeArrowheads="1" noChangeShapeType="1" noTextEdit="1"/>
                </p:cNvSpPr>
                <p:nvPr/>
              </p:nvSpPr>
              <p:spPr>
                <a:xfrm>
                  <a:off x="3581399" y="2520191"/>
                  <a:ext cx="511583" cy="369332"/>
                </a:xfrm>
                <a:prstGeom prst="rect">
                  <a:avLst/>
                </a:prstGeom>
                <a:blipFill>
                  <a:blip r:embed="rId3"/>
                  <a:stretch>
                    <a:fillRect r="-14286"/>
                  </a:stretch>
                </a:blipFill>
              </p:spPr>
              <p:txBody>
                <a:bodyPr/>
                <a:lstStyle/>
                <a:p>
                  <a:r>
                    <a:rPr lang="en-US">
                      <a:noFill/>
                    </a:rPr>
                    <a:t> </a:t>
                  </a:r>
                </a:p>
              </p:txBody>
            </p:sp>
          </mc:Fallback>
        </mc:AlternateContent>
        <p:sp>
          <p:nvSpPr>
            <p:cNvPr id="141" name="Oval 140">
              <a:extLst>
                <a:ext uri="{FF2B5EF4-FFF2-40B4-BE49-F238E27FC236}">
                  <a16:creationId xmlns="" xmlns:a16="http://schemas.microsoft.com/office/drawing/2014/main" id="{C6E8D3F7-3B24-BD33-C5A8-30120A16C309}"/>
                </a:ext>
              </a:extLst>
            </p:cNvPr>
            <p:cNvSpPr/>
            <p:nvPr/>
          </p:nvSpPr>
          <p:spPr>
            <a:xfrm>
              <a:off x="7247597" y="3086265"/>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42" name="Rectangle 141">
                  <a:extLst>
                    <a:ext uri="{FF2B5EF4-FFF2-40B4-BE49-F238E27FC236}">
                      <a16:creationId xmlns="" xmlns:a16="http://schemas.microsoft.com/office/drawing/2014/main" id="{BA9026C2-ACF3-B134-C819-4C9178161B1B}"/>
                    </a:ext>
                  </a:extLst>
                </p:cNvPr>
                <p:cNvSpPr/>
                <p:nvPr/>
              </p:nvSpPr>
              <p:spPr>
                <a:xfrm>
                  <a:off x="6206433" y="3607165"/>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42" name="Rectangle 141">
                  <a:extLst>
                    <a:ext uri="{FF2B5EF4-FFF2-40B4-BE49-F238E27FC236}">
                      <a16:creationId xmlns:a16="http://schemas.microsoft.com/office/drawing/2014/main" id="{BA9026C2-ACF3-B134-C819-4C9178161B1B}"/>
                    </a:ext>
                  </a:extLst>
                </p:cNvPr>
                <p:cNvSpPr>
                  <a:spLocks noRot="1" noChangeAspect="1" noMove="1" noResize="1" noEditPoints="1" noAdjustHandles="1" noChangeArrowheads="1" noChangeShapeType="1" noTextEdit="1"/>
                </p:cNvSpPr>
                <p:nvPr/>
              </p:nvSpPr>
              <p:spPr>
                <a:xfrm>
                  <a:off x="6206433" y="3607165"/>
                  <a:ext cx="332510" cy="29787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3" name="Rectangle 142">
                  <a:extLst>
                    <a:ext uri="{FF2B5EF4-FFF2-40B4-BE49-F238E27FC236}">
                      <a16:creationId xmlns="" xmlns:a16="http://schemas.microsoft.com/office/drawing/2014/main" id="{1628C659-015D-1DA5-CA6B-E8B9389E03EE}"/>
                    </a:ext>
                  </a:extLst>
                </p:cNvPr>
                <p:cNvSpPr/>
                <p:nvPr/>
              </p:nvSpPr>
              <p:spPr>
                <a:xfrm>
                  <a:off x="5326611" y="3610051"/>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43" name="Rectangle 142">
                  <a:extLst>
                    <a:ext uri="{FF2B5EF4-FFF2-40B4-BE49-F238E27FC236}">
                      <a16:creationId xmlns:a16="http://schemas.microsoft.com/office/drawing/2014/main" id="{1628C659-015D-1DA5-CA6B-E8B9389E03EE}"/>
                    </a:ext>
                  </a:extLst>
                </p:cNvPr>
                <p:cNvSpPr>
                  <a:spLocks noRot="1" noChangeAspect="1" noMove="1" noResize="1" noEditPoints="1" noAdjustHandles="1" noChangeArrowheads="1" noChangeShapeType="1" noTextEdit="1"/>
                </p:cNvSpPr>
                <p:nvPr/>
              </p:nvSpPr>
              <p:spPr>
                <a:xfrm>
                  <a:off x="5326611" y="3610051"/>
                  <a:ext cx="332510" cy="297872"/>
                </a:xfrm>
                <a:prstGeom prst="rect">
                  <a:avLst/>
                </a:prstGeom>
                <a:blipFill>
                  <a:blip r:embed="rId5"/>
                  <a:stretch>
                    <a:fillRect/>
                  </a:stretch>
                </a:blipFill>
              </p:spPr>
              <p:txBody>
                <a:bodyPr/>
                <a:lstStyle/>
                <a:p>
                  <a:r>
                    <a:rPr lang="en-US">
                      <a:noFill/>
                    </a:rPr>
                    <a:t> </a:t>
                  </a:r>
                </a:p>
              </p:txBody>
            </p:sp>
          </mc:Fallback>
        </mc:AlternateContent>
        <p:sp>
          <p:nvSpPr>
            <p:cNvPr id="144" name="Oval 143">
              <a:extLst>
                <a:ext uri="{FF2B5EF4-FFF2-40B4-BE49-F238E27FC236}">
                  <a16:creationId xmlns="" xmlns:a16="http://schemas.microsoft.com/office/drawing/2014/main" id="{A167DEAA-A4BC-3DC5-B475-EBB7590347D8}"/>
                </a:ext>
              </a:extLst>
            </p:cNvPr>
            <p:cNvSpPr/>
            <p:nvPr/>
          </p:nvSpPr>
          <p:spPr>
            <a:xfrm>
              <a:off x="6680078" y="308494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solidFill>
                  <a:schemeClr val="tx1"/>
                </a:solidFill>
              </a:endParaRPr>
            </a:p>
          </p:txBody>
        </p:sp>
        <p:cxnSp>
          <p:nvCxnSpPr>
            <p:cNvPr id="145" name="Straight Connector 144">
              <a:extLst>
                <a:ext uri="{FF2B5EF4-FFF2-40B4-BE49-F238E27FC236}">
                  <a16:creationId xmlns="" xmlns:a16="http://schemas.microsoft.com/office/drawing/2014/main" id="{117D1456-CB87-98A7-0EB1-D7D8E8F96920}"/>
                </a:ext>
              </a:extLst>
            </p:cNvPr>
            <p:cNvCxnSpPr>
              <a:cxnSpLocks/>
              <a:stCxn id="140" idx="3"/>
              <a:endCxn id="137" idx="2"/>
            </p:cNvCxnSpPr>
            <p:nvPr/>
          </p:nvCxnSpPr>
          <p:spPr>
            <a:xfrm>
              <a:off x="4092982" y="2704857"/>
              <a:ext cx="2143499" cy="8016"/>
            </a:xfrm>
            <a:prstGeom prst="line">
              <a:avLst/>
            </a:prstGeom>
            <a:ln w="19050"/>
          </p:spPr>
          <p:style>
            <a:lnRef idx="1">
              <a:schemeClr val="dk1"/>
            </a:lnRef>
            <a:fillRef idx="0">
              <a:schemeClr val="dk1"/>
            </a:fillRef>
            <a:effectRef idx="0">
              <a:schemeClr val="dk1"/>
            </a:effectRef>
            <a:fontRef idx="minor">
              <a:schemeClr val="tx1"/>
            </a:fontRef>
          </p:style>
        </p:cxnSp>
        <p:cxnSp>
          <p:nvCxnSpPr>
            <p:cNvPr id="146" name="Straight Arrow Connector 145">
              <a:extLst>
                <a:ext uri="{FF2B5EF4-FFF2-40B4-BE49-F238E27FC236}">
                  <a16:creationId xmlns="" xmlns:a16="http://schemas.microsoft.com/office/drawing/2014/main" id="{58E46E7A-E1E3-D586-BCF0-E5340AD35998}"/>
                </a:ext>
              </a:extLst>
            </p:cNvPr>
            <p:cNvCxnSpPr>
              <a:cxnSpLocks/>
              <a:stCxn id="142" idx="0"/>
              <a:endCxn id="137" idx="4"/>
            </p:cNvCxnSpPr>
            <p:nvPr/>
          </p:nvCxnSpPr>
          <p:spPr>
            <a:xfrm flipV="1">
              <a:off x="6372688" y="2849398"/>
              <a:ext cx="318" cy="75776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7" name="TextBox 146">
              <a:extLst>
                <a:ext uri="{FF2B5EF4-FFF2-40B4-BE49-F238E27FC236}">
                  <a16:creationId xmlns="" xmlns:a16="http://schemas.microsoft.com/office/drawing/2014/main" id="{2B2D2713-80F9-8691-6DD2-110DFD52B741}"/>
                </a:ext>
              </a:extLst>
            </p:cNvPr>
            <p:cNvSpPr txBox="1"/>
            <p:nvPr/>
          </p:nvSpPr>
          <p:spPr>
            <a:xfrm>
              <a:off x="6643013" y="3036802"/>
              <a:ext cx="369937" cy="369332"/>
            </a:xfrm>
            <a:prstGeom prst="rect">
              <a:avLst/>
            </a:prstGeom>
            <a:noFill/>
          </p:spPr>
          <p:txBody>
            <a:bodyPr wrap="square">
              <a:spAutoFit/>
            </a:bodyPr>
            <a:lstStyle/>
            <a:p>
              <a:pPr algn="ctr"/>
              <a:r>
                <a:rPr lang="pt-BR" dirty="0">
                  <a:solidFill>
                    <a:schemeClr val="tx1"/>
                  </a:solidFill>
                </a:rPr>
                <a:t>1-</a:t>
              </a:r>
              <a:endParaRPr lang="en-US" dirty="0">
                <a:solidFill>
                  <a:schemeClr val="tx1"/>
                </a:solidFill>
              </a:endParaRPr>
            </a:p>
          </p:txBody>
        </p:sp>
        <p:cxnSp>
          <p:nvCxnSpPr>
            <p:cNvPr id="148" name="Straight Connector 147">
              <a:extLst>
                <a:ext uri="{FF2B5EF4-FFF2-40B4-BE49-F238E27FC236}">
                  <a16:creationId xmlns="" xmlns:a16="http://schemas.microsoft.com/office/drawing/2014/main" id="{89B28A53-8903-1E7F-2167-9D4D45F09B8D}"/>
                </a:ext>
              </a:extLst>
            </p:cNvPr>
            <p:cNvCxnSpPr>
              <a:stCxn id="137" idx="6"/>
              <a:endCxn id="139" idx="2"/>
            </p:cNvCxnSpPr>
            <p:nvPr/>
          </p:nvCxnSpPr>
          <p:spPr>
            <a:xfrm>
              <a:off x="6509531" y="2712873"/>
              <a:ext cx="738066"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9" name="Straight Arrow Connector 148">
              <a:extLst>
                <a:ext uri="{FF2B5EF4-FFF2-40B4-BE49-F238E27FC236}">
                  <a16:creationId xmlns="" xmlns:a16="http://schemas.microsoft.com/office/drawing/2014/main" id="{D4E7BBA5-09C3-80E0-1CAB-039A11EDF1AE}"/>
                </a:ext>
              </a:extLst>
            </p:cNvPr>
            <p:cNvCxnSpPr>
              <a:stCxn id="141" idx="0"/>
              <a:endCxn id="139" idx="4"/>
            </p:cNvCxnSpPr>
            <p:nvPr/>
          </p:nvCxnSpPr>
          <p:spPr>
            <a:xfrm flipV="1">
              <a:off x="7384122" y="2849398"/>
              <a:ext cx="0" cy="23686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Straight Connector 149">
              <a:extLst>
                <a:ext uri="{FF2B5EF4-FFF2-40B4-BE49-F238E27FC236}">
                  <a16:creationId xmlns="" xmlns:a16="http://schemas.microsoft.com/office/drawing/2014/main" id="{92B680C6-14AA-8FD4-B377-1166A521DAE9}"/>
                </a:ext>
              </a:extLst>
            </p:cNvPr>
            <p:cNvCxnSpPr>
              <a:cxnSpLocks/>
              <a:stCxn id="138" idx="0"/>
              <a:endCxn id="141" idx="4"/>
            </p:cNvCxnSpPr>
            <p:nvPr/>
          </p:nvCxnSpPr>
          <p:spPr>
            <a:xfrm flipV="1">
              <a:off x="7384122" y="3359315"/>
              <a:ext cx="0" cy="253092"/>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51" name="Straight Arrow Connector 150">
              <a:extLst>
                <a:ext uri="{FF2B5EF4-FFF2-40B4-BE49-F238E27FC236}">
                  <a16:creationId xmlns="" xmlns:a16="http://schemas.microsoft.com/office/drawing/2014/main" id="{629C1E56-B71B-009E-0B81-04D4491F1D52}"/>
                </a:ext>
              </a:extLst>
            </p:cNvPr>
            <p:cNvCxnSpPr>
              <a:cxnSpLocks/>
              <a:stCxn id="139" idx="6"/>
            </p:cNvCxnSpPr>
            <p:nvPr/>
          </p:nvCxnSpPr>
          <p:spPr>
            <a:xfrm>
              <a:off x="7520646" y="2712873"/>
              <a:ext cx="648000" cy="3115"/>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52" name="TextBox 151">
                  <a:extLst>
                    <a:ext uri="{FF2B5EF4-FFF2-40B4-BE49-F238E27FC236}">
                      <a16:creationId xmlns="" xmlns:a16="http://schemas.microsoft.com/office/drawing/2014/main" id="{13433DA1-D8F5-0EEE-EEC8-A05EC5E55CCC}"/>
                    </a:ext>
                  </a:extLst>
                </p:cNvPr>
                <p:cNvSpPr txBox="1"/>
                <p:nvPr/>
              </p:nvSpPr>
              <p:spPr>
                <a:xfrm>
                  <a:off x="8146477" y="2520191"/>
                  <a:ext cx="363844" cy="369332"/>
                </a:xfrm>
                <a:prstGeom prst="rect">
                  <a:avLst/>
                </a:prstGeom>
                <a:noFill/>
              </p:spPr>
              <p:txBody>
                <a:bodyPr wrap="square" rtlCol="0">
                  <a:spAutoFit/>
                </a:bodyPr>
                <a:lstStyle/>
                <a:p>
                  <a:pPr algn="just"/>
                  <a14:m>
                    <m:oMathPara xmlns:m="http://schemas.openxmlformats.org/officeDocument/2006/math">
                      <m:oMathParaPr>
                        <m:jc m:val="left"/>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152" name="TextBox 151">
                  <a:extLst>
                    <a:ext uri="{FF2B5EF4-FFF2-40B4-BE49-F238E27FC236}">
                      <a16:creationId xmlns:a16="http://schemas.microsoft.com/office/drawing/2014/main" id="{13433DA1-D8F5-0EEE-EEC8-A05EC5E55CCC}"/>
                    </a:ext>
                  </a:extLst>
                </p:cNvPr>
                <p:cNvSpPr txBox="1">
                  <a:spLocks noRot="1" noChangeAspect="1" noMove="1" noResize="1" noEditPoints="1" noAdjustHandles="1" noChangeArrowheads="1" noChangeShapeType="1" noTextEdit="1"/>
                </p:cNvSpPr>
                <p:nvPr/>
              </p:nvSpPr>
              <p:spPr>
                <a:xfrm>
                  <a:off x="8146477" y="2520191"/>
                  <a:ext cx="363844" cy="369332"/>
                </a:xfrm>
                <a:prstGeom prst="rect">
                  <a:avLst/>
                </a:prstGeom>
                <a:blipFill>
                  <a:blip r:embed="rId6"/>
                  <a:stretch>
                    <a:fillRect/>
                  </a:stretch>
                </a:blipFill>
              </p:spPr>
              <p:txBody>
                <a:bodyPr/>
                <a:lstStyle/>
                <a:p>
                  <a:r>
                    <a:rPr lang="en-US">
                      <a:noFill/>
                    </a:rPr>
                    <a:t> </a:t>
                  </a:r>
                </a:p>
              </p:txBody>
            </p:sp>
          </mc:Fallback>
        </mc:AlternateContent>
        <p:cxnSp>
          <p:nvCxnSpPr>
            <p:cNvPr id="153" name="Connector: Elbow 152">
              <a:extLst>
                <a:ext uri="{FF2B5EF4-FFF2-40B4-BE49-F238E27FC236}">
                  <a16:creationId xmlns="" xmlns:a16="http://schemas.microsoft.com/office/drawing/2014/main" id="{105EEC1D-3C43-F2A9-88AE-42FA04BF1309}"/>
                </a:ext>
              </a:extLst>
            </p:cNvPr>
            <p:cNvCxnSpPr>
              <a:stCxn id="143" idx="0"/>
              <a:endCxn id="136" idx="6"/>
            </p:cNvCxnSpPr>
            <p:nvPr/>
          </p:nvCxnSpPr>
          <p:spPr>
            <a:xfrm rot="16200000" flipV="1">
              <a:off x="5106929" y="3224114"/>
              <a:ext cx="285661" cy="48621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154" name="Straight Connector 153">
              <a:extLst>
                <a:ext uri="{FF2B5EF4-FFF2-40B4-BE49-F238E27FC236}">
                  <a16:creationId xmlns="" xmlns:a16="http://schemas.microsoft.com/office/drawing/2014/main" id="{2EE7824F-8399-FB24-5842-DC6000E156F9}"/>
                </a:ext>
              </a:extLst>
            </p:cNvPr>
            <p:cNvCxnSpPr/>
            <p:nvPr/>
          </p:nvCxnSpPr>
          <p:spPr>
            <a:xfrm flipV="1">
              <a:off x="4870127" y="2712873"/>
              <a:ext cx="0" cy="474992"/>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55" name="Connector: Elbow 154">
              <a:extLst>
                <a:ext uri="{FF2B5EF4-FFF2-40B4-BE49-F238E27FC236}">
                  <a16:creationId xmlns="" xmlns:a16="http://schemas.microsoft.com/office/drawing/2014/main" id="{BB4CE004-4534-6E2D-73FA-39554F4B499D}"/>
                </a:ext>
              </a:extLst>
            </p:cNvPr>
            <p:cNvCxnSpPr>
              <a:stCxn id="136" idx="4"/>
              <a:endCxn id="138" idx="2"/>
            </p:cNvCxnSpPr>
            <p:nvPr/>
          </p:nvCxnSpPr>
          <p:spPr>
            <a:xfrm rot="16200000" flipH="1">
              <a:off x="5902442" y="2428599"/>
              <a:ext cx="449364" cy="2513995"/>
            </a:xfrm>
            <a:prstGeom prst="bentConnector3">
              <a:avLst>
                <a:gd name="adj1" fmla="val 171009"/>
              </a:avLst>
            </a:prstGeom>
            <a:ln w="1905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56" name="TextBox 155">
                  <a:extLst>
                    <a:ext uri="{FF2B5EF4-FFF2-40B4-BE49-F238E27FC236}">
                      <a16:creationId xmlns="" xmlns:a16="http://schemas.microsoft.com/office/drawing/2014/main" id="{62C37C40-4525-A06C-71DB-6F6890D83DE4}"/>
                    </a:ext>
                  </a:extLst>
                </p:cNvPr>
                <p:cNvSpPr txBox="1"/>
                <p:nvPr/>
              </p:nvSpPr>
              <p:spPr>
                <a:xfrm>
                  <a:off x="4270792" y="4455395"/>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156" name="TextBox 155">
                  <a:extLst>
                    <a:ext uri="{FF2B5EF4-FFF2-40B4-BE49-F238E27FC236}">
                      <a16:creationId xmlns:a16="http://schemas.microsoft.com/office/drawing/2014/main" id="{62C37C40-4525-A06C-71DB-6F6890D83DE4}"/>
                    </a:ext>
                  </a:extLst>
                </p:cNvPr>
                <p:cNvSpPr txBox="1">
                  <a:spLocks noRot="1" noChangeAspect="1" noMove="1" noResize="1" noEditPoints="1" noAdjustHandles="1" noChangeArrowheads="1" noChangeShapeType="1" noTextEdit="1"/>
                </p:cNvSpPr>
                <p:nvPr/>
              </p:nvSpPr>
              <p:spPr>
                <a:xfrm>
                  <a:off x="4270792" y="4455395"/>
                  <a:ext cx="458394" cy="369332"/>
                </a:xfrm>
                <a:prstGeom prst="rect">
                  <a:avLst/>
                </a:prstGeom>
                <a:blipFill>
                  <a:blip r:embed="rId7"/>
                  <a:stretch>
                    <a:fillRect/>
                  </a:stretch>
                </a:blipFill>
              </p:spPr>
              <p:txBody>
                <a:bodyPr/>
                <a:lstStyle/>
                <a:p>
                  <a:r>
                    <a:rPr lang="en-US">
                      <a:noFill/>
                    </a:rPr>
                    <a:t> </a:t>
                  </a:r>
                </a:p>
              </p:txBody>
            </p:sp>
          </mc:Fallback>
        </mc:AlternateContent>
        <p:cxnSp>
          <p:nvCxnSpPr>
            <p:cNvPr id="157" name="Connector: Elbow 156">
              <a:extLst>
                <a:ext uri="{FF2B5EF4-FFF2-40B4-BE49-F238E27FC236}">
                  <a16:creationId xmlns="" xmlns:a16="http://schemas.microsoft.com/office/drawing/2014/main" id="{F21A6FE6-B20A-D2B8-1A2A-BF0CD68E0322}"/>
                </a:ext>
              </a:extLst>
            </p:cNvPr>
            <p:cNvCxnSpPr>
              <a:cxnSpLocks/>
            </p:cNvCxnSpPr>
            <p:nvPr/>
          </p:nvCxnSpPr>
          <p:spPr>
            <a:xfrm rot="5400000">
              <a:off x="5779325" y="2625890"/>
              <a:ext cx="320409" cy="2889186"/>
            </a:xfrm>
            <a:prstGeom prst="bentConnector2">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58" name="Straight Connector 157">
              <a:extLst>
                <a:ext uri="{FF2B5EF4-FFF2-40B4-BE49-F238E27FC236}">
                  <a16:creationId xmlns="" xmlns:a16="http://schemas.microsoft.com/office/drawing/2014/main" id="{6C9CC7CA-AB4F-1D5E-EE6E-AA03D2E71EB1}"/>
                </a:ext>
              </a:extLst>
            </p:cNvPr>
            <p:cNvCxnSpPr/>
            <p:nvPr/>
          </p:nvCxnSpPr>
          <p:spPr>
            <a:xfrm flipV="1">
              <a:off x="4502150" y="2712873"/>
              <a:ext cx="0" cy="111141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9" name="Connector: Elbow 158">
              <a:extLst>
                <a:ext uri="{FF2B5EF4-FFF2-40B4-BE49-F238E27FC236}">
                  <a16:creationId xmlns="" xmlns:a16="http://schemas.microsoft.com/office/drawing/2014/main" id="{CA24E0D2-DBB3-B807-0058-DB1675A40AD5}"/>
                </a:ext>
              </a:extLst>
            </p:cNvPr>
            <p:cNvCxnSpPr>
              <a:cxnSpLocks/>
              <a:stCxn id="160" idx="2"/>
              <a:endCxn id="142" idx="2"/>
            </p:cNvCxnSpPr>
            <p:nvPr/>
          </p:nvCxnSpPr>
          <p:spPr>
            <a:xfrm flipV="1">
              <a:off x="4600574" y="3905037"/>
              <a:ext cx="1772114" cy="124675"/>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60" name="Freeform: Shape 159">
              <a:extLst>
                <a:ext uri="{FF2B5EF4-FFF2-40B4-BE49-F238E27FC236}">
                  <a16:creationId xmlns="" xmlns:a16="http://schemas.microsoft.com/office/drawing/2014/main" id="{388429B5-EC77-54D8-F1D7-DD4559DEA260}"/>
                </a:ext>
              </a:extLst>
            </p:cNvPr>
            <p:cNvSpPr/>
            <p:nvPr/>
          </p:nvSpPr>
          <p:spPr>
            <a:xfrm>
              <a:off x="4495799" y="3802856"/>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1" name="Straight Connector 160">
              <a:extLst>
                <a:ext uri="{FF2B5EF4-FFF2-40B4-BE49-F238E27FC236}">
                  <a16:creationId xmlns="" xmlns:a16="http://schemas.microsoft.com/office/drawing/2014/main" id="{EB9F10BE-C0D9-DCE6-20B3-0600C34F7790}"/>
                </a:ext>
              </a:extLst>
            </p:cNvPr>
            <p:cNvCxnSpPr/>
            <p:nvPr/>
          </p:nvCxnSpPr>
          <p:spPr>
            <a:xfrm flipV="1">
              <a:off x="4500561" y="4140756"/>
              <a:ext cx="0" cy="39600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62" name="Freeform: Shape 161">
              <a:extLst>
                <a:ext uri="{FF2B5EF4-FFF2-40B4-BE49-F238E27FC236}">
                  <a16:creationId xmlns="" xmlns:a16="http://schemas.microsoft.com/office/drawing/2014/main" id="{1F9CCA16-0915-4D37-C307-5E13D4257933}"/>
                </a:ext>
              </a:extLst>
            </p:cNvPr>
            <p:cNvSpPr/>
            <p:nvPr/>
          </p:nvSpPr>
          <p:spPr>
            <a:xfrm rot="5170363">
              <a:off x="4558343" y="3970802"/>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3" name="Straight Connector 162">
              <a:extLst>
                <a:ext uri="{FF2B5EF4-FFF2-40B4-BE49-F238E27FC236}">
                  <a16:creationId xmlns="" xmlns:a16="http://schemas.microsoft.com/office/drawing/2014/main" id="{2472D226-670D-5BCA-F37F-C3B918721002}"/>
                </a:ext>
              </a:extLst>
            </p:cNvPr>
            <p:cNvCxnSpPr>
              <a:cxnSpLocks/>
              <a:stCxn id="143" idx="2"/>
            </p:cNvCxnSpPr>
            <p:nvPr/>
          </p:nvCxnSpPr>
          <p:spPr>
            <a:xfrm>
              <a:off x="5492866" y="3907923"/>
              <a:ext cx="0" cy="116465"/>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64" name="TextBox 163">
                  <a:extLst>
                    <a:ext uri="{FF2B5EF4-FFF2-40B4-BE49-F238E27FC236}">
                      <a16:creationId xmlns="" xmlns:a16="http://schemas.microsoft.com/office/drawing/2014/main" id="{AF66BBF7-1C5B-A091-3F98-EC9EFC352EA7}"/>
                    </a:ext>
                  </a:extLst>
                </p:cNvPr>
                <p:cNvSpPr txBox="1"/>
                <p:nvPr/>
              </p:nvSpPr>
              <p:spPr>
                <a:xfrm>
                  <a:off x="6002906" y="3222817"/>
                  <a:ext cx="436273"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pt-BR" b="1" i="1" smtClean="0">
                                <a:latin typeface="Cambria Math" panose="02040503050406030204" pitchFamily="18" charset="0"/>
                              </a:rPr>
                              <m:t>𝒛</m:t>
                            </m:r>
                          </m:e>
                          <m:sub>
                            <m:r>
                              <a:rPr lang="pt-BR" b="1" i="1" smtClean="0">
                                <a:latin typeface="Cambria Math" panose="02040503050406030204" pitchFamily="18" charset="0"/>
                              </a:rPr>
                              <m:t>𝒕</m:t>
                            </m:r>
                          </m:sub>
                        </m:sSub>
                      </m:oMath>
                    </m:oMathPara>
                  </a14:m>
                  <a:endParaRPr lang="en-US" b="1" dirty="0"/>
                </a:p>
              </p:txBody>
            </p:sp>
          </mc:Choice>
          <mc:Fallback xmlns="">
            <p:sp>
              <p:nvSpPr>
                <p:cNvPr id="164" name="TextBox 163">
                  <a:extLst>
                    <a:ext uri="{FF2B5EF4-FFF2-40B4-BE49-F238E27FC236}">
                      <a16:creationId xmlns:a16="http://schemas.microsoft.com/office/drawing/2014/main" id="{AF66BBF7-1C5B-A091-3F98-EC9EFC352EA7}"/>
                    </a:ext>
                  </a:extLst>
                </p:cNvPr>
                <p:cNvSpPr txBox="1">
                  <a:spLocks noRot="1" noChangeAspect="1" noMove="1" noResize="1" noEditPoints="1" noAdjustHandles="1" noChangeArrowheads="1" noChangeShapeType="1" noTextEdit="1"/>
                </p:cNvSpPr>
                <p:nvPr/>
              </p:nvSpPr>
              <p:spPr>
                <a:xfrm>
                  <a:off x="6002906" y="3222817"/>
                  <a:ext cx="436273"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5" name="TextBox 164">
                  <a:extLst>
                    <a:ext uri="{FF2B5EF4-FFF2-40B4-BE49-F238E27FC236}">
                      <a16:creationId xmlns="" xmlns:a16="http://schemas.microsoft.com/office/drawing/2014/main" id="{3DD599C4-3F95-4407-2AF1-A0D0C08AD7CC}"/>
                    </a:ext>
                  </a:extLst>
                </p:cNvPr>
                <p:cNvSpPr txBox="1"/>
                <p:nvPr/>
              </p:nvSpPr>
              <p:spPr>
                <a:xfrm>
                  <a:off x="5122198" y="3247949"/>
                  <a:ext cx="44877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𝒓</m:t>
                            </m:r>
                          </m:e>
                          <m:sub>
                            <m:r>
                              <a:rPr lang="pt-BR" b="0" i="1" smtClean="0">
                                <a:latin typeface="Cambria Math" panose="02040503050406030204" pitchFamily="18" charset="0"/>
                              </a:rPr>
                              <m:t>𝑡</m:t>
                            </m:r>
                          </m:sub>
                        </m:sSub>
                      </m:oMath>
                    </m:oMathPara>
                  </a14:m>
                  <a:endParaRPr lang="en-US" dirty="0"/>
                </a:p>
              </p:txBody>
            </p:sp>
          </mc:Choice>
          <mc:Fallback xmlns="">
            <p:sp>
              <p:nvSpPr>
                <p:cNvPr id="165" name="TextBox 164">
                  <a:extLst>
                    <a:ext uri="{FF2B5EF4-FFF2-40B4-BE49-F238E27FC236}">
                      <a16:creationId xmlns:a16="http://schemas.microsoft.com/office/drawing/2014/main" id="{3DD599C4-3F95-4407-2AF1-A0D0C08AD7CC}"/>
                    </a:ext>
                  </a:extLst>
                </p:cNvPr>
                <p:cNvSpPr txBox="1">
                  <a:spLocks noRot="1" noChangeAspect="1" noMove="1" noResize="1" noEditPoints="1" noAdjustHandles="1" noChangeArrowheads="1" noChangeShapeType="1" noTextEdit="1"/>
                </p:cNvSpPr>
                <p:nvPr/>
              </p:nvSpPr>
              <p:spPr>
                <a:xfrm>
                  <a:off x="5122198" y="3247949"/>
                  <a:ext cx="448777"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6" name="TextBox 165">
                  <a:extLst>
                    <a:ext uri="{FF2B5EF4-FFF2-40B4-BE49-F238E27FC236}">
                      <a16:creationId xmlns="" xmlns:a16="http://schemas.microsoft.com/office/drawing/2014/main" id="{450F4BB0-A5D6-64C7-220A-31E7EF22B78D}"/>
                    </a:ext>
                  </a:extLst>
                </p:cNvPr>
                <p:cNvSpPr txBox="1"/>
                <p:nvPr/>
              </p:nvSpPr>
              <p:spPr>
                <a:xfrm>
                  <a:off x="7376868" y="3269551"/>
                  <a:ext cx="471218" cy="38375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acc>
                              <m:accPr>
                                <m:chr m:val="̃"/>
                                <m:ctrlPr>
                                  <a:rPr lang="en-US" b="1" i="1">
                                    <a:latin typeface="Cambria Math" panose="02040503050406030204" pitchFamily="18" charset="0"/>
                                  </a:rPr>
                                </m:ctrlPr>
                              </m:accPr>
                              <m:e>
                                <m:r>
                                  <a:rPr lang="pt-BR" b="1" i="1" smtClean="0">
                                    <a:latin typeface="Cambria Math" panose="02040503050406030204" pitchFamily="18" charset="0"/>
                                  </a:rPr>
                                  <m:t>𝒉</m:t>
                                </m:r>
                              </m:e>
                            </m:acc>
                          </m:e>
                          <m:sub>
                            <m:r>
                              <a:rPr lang="pt-BR" b="0" i="1" smtClean="0">
                                <a:latin typeface="Cambria Math" panose="02040503050406030204" pitchFamily="18" charset="0"/>
                              </a:rPr>
                              <m:t>𝑡</m:t>
                            </m:r>
                          </m:sub>
                        </m:sSub>
                      </m:oMath>
                    </m:oMathPara>
                  </a14:m>
                  <a:endParaRPr lang="en-US" dirty="0"/>
                </a:p>
              </p:txBody>
            </p:sp>
          </mc:Choice>
          <mc:Fallback xmlns="">
            <p:sp>
              <p:nvSpPr>
                <p:cNvPr id="166" name="TextBox 165">
                  <a:extLst>
                    <a:ext uri="{FF2B5EF4-FFF2-40B4-BE49-F238E27FC236}">
                      <a16:creationId xmlns:a16="http://schemas.microsoft.com/office/drawing/2014/main" id="{450F4BB0-A5D6-64C7-220A-31E7EF22B78D}"/>
                    </a:ext>
                  </a:extLst>
                </p:cNvPr>
                <p:cNvSpPr txBox="1">
                  <a:spLocks noRot="1" noChangeAspect="1" noMove="1" noResize="1" noEditPoints="1" noAdjustHandles="1" noChangeArrowheads="1" noChangeShapeType="1" noTextEdit="1"/>
                </p:cNvSpPr>
                <p:nvPr/>
              </p:nvSpPr>
              <p:spPr>
                <a:xfrm>
                  <a:off x="7376868" y="3269551"/>
                  <a:ext cx="471218" cy="383759"/>
                </a:xfrm>
                <a:prstGeom prst="rect">
                  <a:avLst/>
                </a:prstGeom>
                <a:blipFill>
                  <a:blip r:embed="rId10"/>
                  <a:stretch>
                    <a:fillRect t="-7937" r="-5195"/>
                  </a:stretch>
                </a:blipFill>
              </p:spPr>
              <p:txBody>
                <a:bodyPr/>
                <a:lstStyle/>
                <a:p>
                  <a:r>
                    <a:rPr lang="en-US">
                      <a:noFill/>
                    </a:rPr>
                    <a:t> </a:t>
                  </a:r>
                </a:p>
              </p:txBody>
            </p:sp>
          </mc:Fallback>
        </mc:AlternateContent>
        <p:cxnSp>
          <p:nvCxnSpPr>
            <p:cNvPr id="173" name="Straight Arrow Connector 172">
              <a:extLst>
                <a:ext uri="{FF2B5EF4-FFF2-40B4-BE49-F238E27FC236}">
                  <a16:creationId xmlns="" xmlns:a16="http://schemas.microsoft.com/office/drawing/2014/main" id="{392EC775-E042-840D-378B-90F1077C2FE0}"/>
                </a:ext>
              </a:extLst>
            </p:cNvPr>
            <p:cNvCxnSpPr>
              <a:cxnSpLocks/>
              <a:endCxn id="144" idx="2"/>
            </p:cNvCxnSpPr>
            <p:nvPr/>
          </p:nvCxnSpPr>
          <p:spPr>
            <a:xfrm>
              <a:off x="6372688" y="3221468"/>
              <a:ext cx="307390"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74" name="Straight Arrow Connector 173">
              <a:extLst>
                <a:ext uri="{FF2B5EF4-FFF2-40B4-BE49-F238E27FC236}">
                  <a16:creationId xmlns="" xmlns:a16="http://schemas.microsoft.com/office/drawing/2014/main" id="{52896F66-9320-EEE1-2DE9-C988426FD4C8}"/>
                </a:ext>
              </a:extLst>
            </p:cNvPr>
            <p:cNvCxnSpPr>
              <a:cxnSpLocks/>
              <a:stCxn id="144" idx="6"/>
              <a:endCxn id="141" idx="2"/>
            </p:cNvCxnSpPr>
            <p:nvPr/>
          </p:nvCxnSpPr>
          <p:spPr>
            <a:xfrm>
              <a:off x="6953128" y="3221468"/>
              <a:ext cx="294469" cy="1322"/>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3337450272"/>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562252F6-7CF6-0CB5-2A37-B62D170C75AC}"/>
            </a:ext>
          </a:extLst>
        </p:cNvPr>
        <p:cNvGrpSpPr/>
        <p:nvPr/>
      </p:nvGrpSpPr>
      <p:grpSpPr>
        <a:xfrm>
          <a:off x="0" y="0"/>
          <a:ext cx="0" cy="0"/>
          <a:chOff x="0" y="0"/>
          <a:chExt cx="0" cy="0"/>
        </a:xfrm>
      </p:grpSpPr>
      <p:grpSp>
        <p:nvGrpSpPr>
          <p:cNvPr id="44" name="Group 43">
            <a:extLst>
              <a:ext uri="{FF2B5EF4-FFF2-40B4-BE49-F238E27FC236}">
                <a16:creationId xmlns="" xmlns:a16="http://schemas.microsoft.com/office/drawing/2014/main" id="{5D8E9F3C-B497-3F06-40DA-7AF6840F84ED}"/>
              </a:ext>
            </a:extLst>
          </p:cNvPr>
          <p:cNvGrpSpPr/>
          <p:nvPr/>
        </p:nvGrpSpPr>
        <p:grpSpPr>
          <a:xfrm>
            <a:off x="3581399" y="1829242"/>
            <a:ext cx="4928922" cy="2995485"/>
            <a:chOff x="3581399" y="1829242"/>
            <a:chExt cx="4928922" cy="2995485"/>
          </a:xfrm>
        </p:grpSpPr>
        <p:sp>
          <p:nvSpPr>
            <p:cNvPr id="39" name="Rectangle: Rounded Corners 38">
              <a:extLst>
                <a:ext uri="{FF2B5EF4-FFF2-40B4-BE49-F238E27FC236}">
                  <a16:creationId xmlns="" xmlns:a16="http://schemas.microsoft.com/office/drawing/2014/main" id="{BA002826-58F0-2B0D-1038-C97581B5271D}"/>
                </a:ext>
              </a:extLst>
            </p:cNvPr>
            <p:cNvSpPr/>
            <p:nvPr/>
          </p:nvSpPr>
          <p:spPr>
            <a:xfrm>
              <a:off x="4301176" y="243840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dirty="0"/>
            </a:p>
          </p:txBody>
        </p:sp>
        <p:cxnSp>
          <p:nvCxnSpPr>
            <p:cNvPr id="93" name="Straight Arrow Connector 92">
              <a:extLst>
                <a:ext uri="{FF2B5EF4-FFF2-40B4-BE49-F238E27FC236}">
                  <a16:creationId xmlns="" xmlns:a16="http://schemas.microsoft.com/office/drawing/2014/main" id="{1B79736A-236D-E3D9-6C83-C58E440FA780}"/>
                </a:ext>
              </a:extLst>
            </p:cNvPr>
            <p:cNvCxnSpPr>
              <a:cxnSpLocks/>
            </p:cNvCxnSpPr>
            <p:nvPr/>
          </p:nvCxnSpPr>
          <p:spPr>
            <a:xfrm flipV="1">
              <a:off x="7924149" y="2244873"/>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37" name="Oval 36">
              <a:extLst>
                <a:ext uri="{FF2B5EF4-FFF2-40B4-BE49-F238E27FC236}">
                  <a16:creationId xmlns="" xmlns:a16="http://schemas.microsoft.com/office/drawing/2014/main" id="{D2414ECA-C1B7-3469-AA7E-EC751760A2ED}"/>
                </a:ext>
              </a:extLst>
            </p:cNvPr>
            <p:cNvSpPr/>
            <p:nvPr/>
          </p:nvSpPr>
          <p:spPr>
            <a:xfrm>
              <a:off x="4733602" y="3187865"/>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52" name="Oval 51">
              <a:extLst>
                <a:ext uri="{FF2B5EF4-FFF2-40B4-BE49-F238E27FC236}">
                  <a16:creationId xmlns="" xmlns:a16="http://schemas.microsoft.com/office/drawing/2014/main" id="{ED51A595-29D8-A07D-C3F0-F222BCFA01C8}"/>
                </a:ext>
              </a:extLst>
            </p:cNvPr>
            <p:cNvSpPr/>
            <p:nvPr/>
          </p:nvSpPr>
          <p:spPr>
            <a:xfrm>
              <a:off x="6236481" y="2576348"/>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12" name="Rectangle 11">
              <a:extLst>
                <a:ext uri="{FF2B5EF4-FFF2-40B4-BE49-F238E27FC236}">
                  <a16:creationId xmlns="" xmlns:a16="http://schemas.microsoft.com/office/drawing/2014/main" id="{440BE548-A72A-2BF0-59F6-02658DA115FF}"/>
                </a:ext>
              </a:extLst>
            </p:cNvPr>
            <p:cNvSpPr/>
            <p:nvPr/>
          </p:nvSpPr>
          <p:spPr>
            <a:xfrm>
              <a:off x="7076731" y="3612407"/>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err="1">
                  <a:solidFill>
                    <a:schemeClr val="tx1"/>
                  </a:solidFill>
                </a:rPr>
                <a:t>tanh</a:t>
              </a:r>
              <a:endParaRPr lang="en-US" dirty="0">
                <a:solidFill>
                  <a:schemeClr val="tx1"/>
                </a:solidFill>
              </a:endParaRPr>
            </a:p>
          </p:txBody>
        </p:sp>
        <p:sp>
          <p:nvSpPr>
            <p:cNvPr id="48" name="Oval 47">
              <a:extLst>
                <a:ext uri="{FF2B5EF4-FFF2-40B4-BE49-F238E27FC236}">
                  <a16:creationId xmlns="" xmlns:a16="http://schemas.microsoft.com/office/drawing/2014/main" id="{E6D8DDBB-3D1C-6DFC-433F-295B122112B7}"/>
                </a:ext>
              </a:extLst>
            </p:cNvPr>
            <p:cNvSpPr/>
            <p:nvPr/>
          </p:nvSpPr>
          <p:spPr>
            <a:xfrm>
              <a:off x="7247597" y="2576348"/>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mc:AlternateContent xmlns:mc="http://schemas.openxmlformats.org/markup-compatibility/2006" xmlns:a14="http://schemas.microsoft.com/office/drawing/2010/main">
          <mc:Choice Requires="a14">
            <p:sp>
              <p:nvSpPr>
                <p:cNvPr id="5" name="TextBox 4">
                  <a:extLst>
                    <a:ext uri="{FF2B5EF4-FFF2-40B4-BE49-F238E27FC236}">
                      <a16:creationId xmlns="" xmlns:a16="http://schemas.microsoft.com/office/drawing/2014/main" id="{24262BB3-B947-8525-67E1-678650132CEC}"/>
                    </a:ext>
                  </a:extLst>
                </p:cNvPr>
                <p:cNvSpPr txBox="1"/>
                <p:nvPr/>
              </p:nvSpPr>
              <p:spPr>
                <a:xfrm>
                  <a:off x="3581399" y="2520191"/>
                  <a:ext cx="51158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5" name="TextBox 4">
                  <a:extLst>
                    <a:ext uri="{FF2B5EF4-FFF2-40B4-BE49-F238E27FC236}">
                      <a16:creationId xmlns:a16="http://schemas.microsoft.com/office/drawing/2014/main" id="{24262BB3-B947-8525-67E1-678650132CEC}"/>
                    </a:ext>
                  </a:extLst>
                </p:cNvPr>
                <p:cNvSpPr txBox="1">
                  <a:spLocks noRot="1" noChangeAspect="1" noMove="1" noResize="1" noEditPoints="1" noAdjustHandles="1" noChangeArrowheads="1" noChangeShapeType="1" noTextEdit="1"/>
                </p:cNvSpPr>
                <p:nvPr/>
              </p:nvSpPr>
              <p:spPr>
                <a:xfrm>
                  <a:off x="3581399" y="2520191"/>
                  <a:ext cx="511583" cy="369332"/>
                </a:xfrm>
                <a:prstGeom prst="rect">
                  <a:avLst/>
                </a:prstGeom>
                <a:blipFill>
                  <a:blip r:embed="rId3"/>
                  <a:stretch>
                    <a:fillRect r="-14286"/>
                  </a:stretch>
                </a:blipFill>
              </p:spPr>
              <p:txBody>
                <a:bodyPr/>
                <a:lstStyle/>
                <a:p>
                  <a:r>
                    <a:rPr lang="en-US">
                      <a:noFill/>
                    </a:rPr>
                    <a:t> </a:t>
                  </a:r>
                </a:p>
              </p:txBody>
            </p:sp>
          </mc:Fallback>
        </mc:AlternateContent>
        <p:sp>
          <p:nvSpPr>
            <p:cNvPr id="4" name="Oval 3">
              <a:extLst>
                <a:ext uri="{FF2B5EF4-FFF2-40B4-BE49-F238E27FC236}">
                  <a16:creationId xmlns="" xmlns:a16="http://schemas.microsoft.com/office/drawing/2014/main" id="{1A0E8F15-DE4D-390E-F4A4-F035B779E166}"/>
                </a:ext>
              </a:extLst>
            </p:cNvPr>
            <p:cNvSpPr/>
            <p:nvPr/>
          </p:nvSpPr>
          <p:spPr>
            <a:xfrm>
              <a:off x="7247597" y="3086265"/>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4" name="Rectangle 13">
                  <a:extLst>
                    <a:ext uri="{FF2B5EF4-FFF2-40B4-BE49-F238E27FC236}">
                      <a16:creationId xmlns="" xmlns:a16="http://schemas.microsoft.com/office/drawing/2014/main" id="{9213067C-7827-348E-6613-891F3A96783C}"/>
                    </a:ext>
                  </a:extLst>
                </p:cNvPr>
                <p:cNvSpPr/>
                <p:nvPr/>
              </p:nvSpPr>
              <p:spPr>
                <a:xfrm>
                  <a:off x="6206433" y="3607165"/>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4" name="Rectangle 13">
                  <a:extLst>
                    <a:ext uri="{FF2B5EF4-FFF2-40B4-BE49-F238E27FC236}">
                      <a16:creationId xmlns:a16="http://schemas.microsoft.com/office/drawing/2014/main" id="{9213067C-7827-348E-6613-891F3A96783C}"/>
                    </a:ext>
                  </a:extLst>
                </p:cNvPr>
                <p:cNvSpPr>
                  <a:spLocks noRot="1" noChangeAspect="1" noMove="1" noResize="1" noEditPoints="1" noAdjustHandles="1" noChangeArrowheads="1" noChangeShapeType="1" noTextEdit="1"/>
                </p:cNvSpPr>
                <p:nvPr/>
              </p:nvSpPr>
              <p:spPr>
                <a:xfrm>
                  <a:off x="6206433" y="3607165"/>
                  <a:ext cx="332510" cy="29787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Rectangle 18">
                  <a:extLst>
                    <a:ext uri="{FF2B5EF4-FFF2-40B4-BE49-F238E27FC236}">
                      <a16:creationId xmlns="" xmlns:a16="http://schemas.microsoft.com/office/drawing/2014/main" id="{D9360C69-650C-8769-4C8B-CFCD0CF33DA6}"/>
                    </a:ext>
                  </a:extLst>
                </p:cNvPr>
                <p:cNvSpPr/>
                <p:nvPr/>
              </p:nvSpPr>
              <p:spPr>
                <a:xfrm>
                  <a:off x="5326611" y="3610051"/>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9" name="Rectangle 18">
                  <a:extLst>
                    <a:ext uri="{FF2B5EF4-FFF2-40B4-BE49-F238E27FC236}">
                      <a16:creationId xmlns:a16="http://schemas.microsoft.com/office/drawing/2014/main" id="{D9360C69-650C-8769-4C8B-CFCD0CF33DA6}"/>
                    </a:ext>
                  </a:extLst>
                </p:cNvPr>
                <p:cNvSpPr>
                  <a:spLocks noRot="1" noChangeAspect="1" noMove="1" noResize="1" noEditPoints="1" noAdjustHandles="1" noChangeArrowheads="1" noChangeShapeType="1" noTextEdit="1"/>
                </p:cNvSpPr>
                <p:nvPr/>
              </p:nvSpPr>
              <p:spPr>
                <a:xfrm>
                  <a:off x="5326611" y="3610051"/>
                  <a:ext cx="332510" cy="297872"/>
                </a:xfrm>
                <a:prstGeom prst="rect">
                  <a:avLst/>
                </a:prstGeom>
                <a:blipFill>
                  <a:blip r:embed="rId5"/>
                  <a:stretch>
                    <a:fillRect/>
                  </a:stretch>
                </a:blipFill>
              </p:spPr>
              <p:txBody>
                <a:bodyPr/>
                <a:lstStyle/>
                <a:p>
                  <a:r>
                    <a:rPr lang="en-US">
                      <a:noFill/>
                    </a:rPr>
                    <a:t> </a:t>
                  </a:r>
                </a:p>
              </p:txBody>
            </p:sp>
          </mc:Fallback>
        </mc:AlternateContent>
        <p:sp>
          <p:nvSpPr>
            <p:cNvPr id="17" name="Oval 16">
              <a:extLst>
                <a:ext uri="{FF2B5EF4-FFF2-40B4-BE49-F238E27FC236}">
                  <a16:creationId xmlns="" xmlns:a16="http://schemas.microsoft.com/office/drawing/2014/main" id="{C0629450-C119-502D-C9FE-A91B3C7D5847}"/>
                </a:ext>
              </a:extLst>
            </p:cNvPr>
            <p:cNvSpPr/>
            <p:nvPr/>
          </p:nvSpPr>
          <p:spPr>
            <a:xfrm>
              <a:off x="6680078" y="308494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solidFill>
                  <a:schemeClr val="tx1"/>
                </a:solidFill>
              </a:endParaRPr>
            </a:p>
          </p:txBody>
        </p:sp>
        <p:cxnSp>
          <p:nvCxnSpPr>
            <p:cNvPr id="25" name="Straight Connector 24">
              <a:extLst>
                <a:ext uri="{FF2B5EF4-FFF2-40B4-BE49-F238E27FC236}">
                  <a16:creationId xmlns="" xmlns:a16="http://schemas.microsoft.com/office/drawing/2014/main" id="{54C05E61-D20B-738A-2DA6-6C154D176A9D}"/>
                </a:ext>
              </a:extLst>
            </p:cNvPr>
            <p:cNvCxnSpPr>
              <a:cxnSpLocks/>
              <a:stCxn id="5" idx="3"/>
              <a:endCxn id="52" idx="2"/>
            </p:cNvCxnSpPr>
            <p:nvPr/>
          </p:nvCxnSpPr>
          <p:spPr>
            <a:xfrm>
              <a:off x="4092982" y="2704857"/>
              <a:ext cx="2143499" cy="8016"/>
            </a:xfrm>
            <a:prstGeom prst="line">
              <a:avLst/>
            </a:prstGeom>
            <a:ln w="19050"/>
          </p:spPr>
          <p:style>
            <a:lnRef idx="1">
              <a:schemeClr val="dk1"/>
            </a:lnRef>
            <a:fillRef idx="0">
              <a:schemeClr val="dk1"/>
            </a:fillRef>
            <a:effectRef idx="0">
              <a:schemeClr val="dk1"/>
            </a:effectRef>
            <a:fontRef idx="minor">
              <a:schemeClr val="tx1"/>
            </a:fontRef>
          </p:style>
        </p:cxnSp>
        <p:cxnSp>
          <p:nvCxnSpPr>
            <p:cNvPr id="31" name="Straight Arrow Connector 30">
              <a:extLst>
                <a:ext uri="{FF2B5EF4-FFF2-40B4-BE49-F238E27FC236}">
                  <a16:creationId xmlns="" xmlns:a16="http://schemas.microsoft.com/office/drawing/2014/main" id="{AA92D7CB-640B-D967-DC02-4066C5EB26AA}"/>
                </a:ext>
              </a:extLst>
            </p:cNvPr>
            <p:cNvCxnSpPr>
              <a:cxnSpLocks/>
              <a:stCxn id="14" idx="0"/>
              <a:endCxn id="52" idx="4"/>
            </p:cNvCxnSpPr>
            <p:nvPr/>
          </p:nvCxnSpPr>
          <p:spPr>
            <a:xfrm flipV="1">
              <a:off x="6372688" y="2849398"/>
              <a:ext cx="318" cy="75776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 xmlns:a16="http://schemas.microsoft.com/office/drawing/2014/main" id="{0D1B64B4-7D6A-099F-591C-1F74EE2899F3}"/>
                </a:ext>
              </a:extLst>
            </p:cNvPr>
            <p:cNvSpPr txBox="1"/>
            <p:nvPr/>
          </p:nvSpPr>
          <p:spPr>
            <a:xfrm>
              <a:off x="6643013" y="3036802"/>
              <a:ext cx="369937" cy="369332"/>
            </a:xfrm>
            <a:prstGeom prst="rect">
              <a:avLst/>
            </a:prstGeom>
            <a:noFill/>
          </p:spPr>
          <p:txBody>
            <a:bodyPr wrap="square">
              <a:spAutoFit/>
            </a:bodyPr>
            <a:lstStyle/>
            <a:p>
              <a:pPr algn="ctr"/>
              <a:r>
                <a:rPr lang="pt-BR" dirty="0">
                  <a:solidFill>
                    <a:schemeClr val="tx1"/>
                  </a:solidFill>
                </a:rPr>
                <a:t>1-</a:t>
              </a:r>
              <a:endParaRPr lang="en-US" dirty="0">
                <a:solidFill>
                  <a:schemeClr val="tx1"/>
                </a:solidFill>
              </a:endParaRPr>
            </a:p>
          </p:txBody>
        </p:sp>
        <p:cxnSp>
          <p:nvCxnSpPr>
            <p:cNvPr id="45" name="Straight Connector 44">
              <a:extLst>
                <a:ext uri="{FF2B5EF4-FFF2-40B4-BE49-F238E27FC236}">
                  <a16:creationId xmlns="" xmlns:a16="http://schemas.microsoft.com/office/drawing/2014/main" id="{F1C8C073-B9C6-A980-3D68-03DD6E4321DA}"/>
                </a:ext>
              </a:extLst>
            </p:cNvPr>
            <p:cNvCxnSpPr>
              <a:stCxn id="52" idx="6"/>
              <a:endCxn id="48" idx="2"/>
            </p:cNvCxnSpPr>
            <p:nvPr/>
          </p:nvCxnSpPr>
          <p:spPr>
            <a:xfrm>
              <a:off x="6509531" y="2712873"/>
              <a:ext cx="738066"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 xmlns:a16="http://schemas.microsoft.com/office/drawing/2014/main" id="{E2228004-25D2-FC50-BB67-5122D67A3E40}"/>
                </a:ext>
              </a:extLst>
            </p:cNvPr>
            <p:cNvCxnSpPr>
              <a:stCxn id="4" idx="0"/>
              <a:endCxn id="48" idx="4"/>
            </p:cNvCxnSpPr>
            <p:nvPr/>
          </p:nvCxnSpPr>
          <p:spPr>
            <a:xfrm flipV="1">
              <a:off x="7384122" y="2849398"/>
              <a:ext cx="0" cy="23686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4" name="Straight Connector 73">
              <a:extLst>
                <a:ext uri="{FF2B5EF4-FFF2-40B4-BE49-F238E27FC236}">
                  <a16:creationId xmlns="" xmlns:a16="http://schemas.microsoft.com/office/drawing/2014/main" id="{8224F3CC-FC36-8E12-DB65-87AA483CCE92}"/>
                </a:ext>
              </a:extLst>
            </p:cNvPr>
            <p:cNvCxnSpPr>
              <a:cxnSpLocks/>
              <a:stCxn id="12" idx="0"/>
              <a:endCxn id="4" idx="4"/>
            </p:cNvCxnSpPr>
            <p:nvPr/>
          </p:nvCxnSpPr>
          <p:spPr>
            <a:xfrm flipV="1">
              <a:off x="7384122" y="3359315"/>
              <a:ext cx="0" cy="253092"/>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6" name="Straight Arrow Connector 75">
              <a:extLst>
                <a:ext uri="{FF2B5EF4-FFF2-40B4-BE49-F238E27FC236}">
                  <a16:creationId xmlns="" xmlns:a16="http://schemas.microsoft.com/office/drawing/2014/main" id="{FC4C760C-41A3-2B9F-BDBD-EACAF2930C86}"/>
                </a:ext>
              </a:extLst>
            </p:cNvPr>
            <p:cNvCxnSpPr>
              <a:cxnSpLocks/>
              <a:stCxn id="48" idx="6"/>
            </p:cNvCxnSpPr>
            <p:nvPr/>
          </p:nvCxnSpPr>
          <p:spPr>
            <a:xfrm>
              <a:off x="7520646" y="2712873"/>
              <a:ext cx="648000" cy="3115"/>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82" name="TextBox 81">
                  <a:extLst>
                    <a:ext uri="{FF2B5EF4-FFF2-40B4-BE49-F238E27FC236}">
                      <a16:creationId xmlns="" xmlns:a16="http://schemas.microsoft.com/office/drawing/2014/main" id="{488590DC-E339-4D94-6CCB-A85E1063A95C}"/>
                    </a:ext>
                  </a:extLst>
                </p:cNvPr>
                <p:cNvSpPr txBox="1"/>
                <p:nvPr/>
              </p:nvSpPr>
              <p:spPr>
                <a:xfrm>
                  <a:off x="8146477" y="2520191"/>
                  <a:ext cx="363844" cy="369332"/>
                </a:xfrm>
                <a:prstGeom prst="rect">
                  <a:avLst/>
                </a:prstGeom>
                <a:noFill/>
              </p:spPr>
              <p:txBody>
                <a:bodyPr wrap="square" rtlCol="0">
                  <a:spAutoFit/>
                </a:bodyPr>
                <a:lstStyle/>
                <a:p>
                  <a:pPr algn="just"/>
                  <a14:m>
                    <m:oMathPara xmlns:m="http://schemas.openxmlformats.org/officeDocument/2006/math">
                      <m:oMathParaPr>
                        <m:jc m:val="left"/>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82" name="TextBox 81">
                  <a:extLst>
                    <a:ext uri="{FF2B5EF4-FFF2-40B4-BE49-F238E27FC236}">
                      <a16:creationId xmlns:a16="http://schemas.microsoft.com/office/drawing/2014/main" id="{488590DC-E339-4D94-6CCB-A85E1063A95C}"/>
                    </a:ext>
                  </a:extLst>
                </p:cNvPr>
                <p:cNvSpPr txBox="1">
                  <a:spLocks noRot="1" noChangeAspect="1" noMove="1" noResize="1" noEditPoints="1" noAdjustHandles="1" noChangeArrowheads="1" noChangeShapeType="1" noTextEdit="1"/>
                </p:cNvSpPr>
                <p:nvPr/>
              </p:nvSpPr>
              <p:spPr>
                <a:xfrm>
                  <a:off x="8146477" y="2520191"/>
                  <a:ext cx="363844" cy="369332"/>
                </a:xfrm>
                <a:prstGeom prst="rect">
                  <a:avLst/>
                </a:prstGeom>
                <a:blipFill>
                  <a:blip r:embed="rId6"/>
                  <a:stretch>
                    <a:fillRect/>
                  </a:stretch>
                </a:blipFill>
              </p:spPr>
              <p:txBody>
                <a:bodyPr/>
                <a:lstStyle/>
                <a:p>
                  <a:r>
                    <a:rPr lang="en-US">
                      <a:noFill/>
                    </a:rPr>
                    <a:t> </a:t>
                  </a:r>
                </a:p>
              </p:txBody>
            </p:sp>
          </mc:Fallback>
        </mc:AlternateContent>
        <p:cxnSp>
          <p:nvCxnSpPr>
            <p:cNvPr id="87" name="Connector: Elbow 86">
              <a:extLst>
                <a:ext uri="{FF2B5EF4-FFF2-40B4-BE49-F238E27FC236}">
                  <a16:creationId xmlns="" xmlns:a16="http://schemas.microsoft.com/office/drawing/2014/main" id="{540822DA-C440-2FF8-1393-44F98D89EC54}"/>
                </a:ext>
              </a:extLst>
            </p:cNvPr>
            <p:cNvCxnSpPr>
              <a:stCxn id="19" idx="0"/>
              <a:endCxn id="37" idx="6"/>
            </p:cNvCxnSpPr>
            <p:nvPr/>
          </p:nvCxnSpPr>
          <p:spPr>
            <a:xfrm rot="16200000" flipV="1">
              <a:off x="5106929" y="3224114"/>
              <a:ext cx="285661" cy="48621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89" name="Straight Connector 88">
              <a:extLst>
                <a:ext uri="{FF2B5EF4-FFF2-40B4-BE49-F238E27FC236}">
                  <a16:creationId xmlns="" xmlns:a16="http://schemas.microsoft.com/office/drawing/2014/main" id="{180749C7-0E69-D172-CFA1-210BCB96C9E1}"/>
                </a:ext>
              </a:extLst>
            </p:cNvPr>
            <p:cNvCxnSpPr/>
            <p:nvPr/>
          </p:nvCxnSpPr>
          <p:spPr>
            <a:xfrm flipV="1">
              <a:off x="4870127" y="2712873"/>
              <a:ext cx="0" cy="474992"/>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91" name="Connector: Elbow 90">
              <a:extLst>
                <a:ext uri="{FF2B5EF4-FFF2-40B4-BE49-F238E27FC236}">
                  <a16:creationId xmlns="" xmlns:a16="http://schemas.microsoft.com/office/drawing/2014/main" id="{641E2C6D-8BAA-2586-960B-35BF5D6E68FC}"/>
                </a:ext>
              </a:extLst>
            </p:cNvPr>
            <p:cNvCxnSpPr>
              <a:stCxn id="37" idx="4"/>
              <a:endCxn id="12" idx="2"/>
            </p:cNvCxnSpPr>
            <p:nvPr/>
          </p:nvCxnSpPr>
          <p:spPr>
            <a:xfrm rot="16200000" flipH="1">
              <a:off x="5902442" y="2428599"/>
              <a:ext cx="449364" cy="2513995"/>
            </a:xfrm>
            <a:prstGeom prst="bentConnector3">
              <a:avLst>
                <a:gd name="adj1" fmla="val 171009"/>
              </a:avLst>
            </a:prstGeom>
            <a:ln w="1905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98" name="TextBox 97">
                  <a:extLst>
                    <a:ext uri="{FF2B5EF4-FFF2-40B4-BE49-F238E27FC236}">
                      <a16:creationId xmlns="" xmlns:a16="http://schemas.microsoft.com/office/drawing/2014/main" id="{775ACD4F-2125-CA2F-A6D1-F0CFBF0C345E}"/>
                    </a:ext>
                  </a:extLst>
                </p:cNvPr>
                <p:cNvSpPr txBox="1"/>
                <p:nvPr/>
              </p:nvSpPr>
              <p:spPr>
                <a:xfrm>
                  <a:off x="4270792" y="4455395"/>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98" name="TextBox 97">
                  <a:extLst>
                    <a:ext uri="{FF2B5EF4-FFF2-40B4-BE49-F238E27FC236}">
                      <a16:creationId xmlns:a16="http://schemas.microsoft.com/office/drawing/2014/main" id="{775ACD4F-2125-CA2F-A6D1-F0CFBF0C345E}"/>
                    </a:ext>
                  </a:extLst>
                </p:cNvPr>
                <p:cNvSpPr txBox="1">
                  <a:spLocks noRot="1" noChangeAspect="1" noMove="1" noResize="1" noEditPoints="1" noAdjustHandles="1" noChangeArrowheads="1" noChangeShapeType="1" noTextEdit="1"/>
                </p:cNvSpPr>
                <p:nvPr/>
              </p:nvSpPr>
              <p:spPr>
                <a:xfrm>
                  <a:off x="4270792" y="4455395"/>
                  <a:ext cx="458394" cy="369332"/>
                </a:xfrm>
                <a:prstGeom prst="rect">
                  <a:avLst/>
                </a:prstGeom>
                <a:blipFill>
                  <a:blip r:embed="rId7"/>
                  <a:stretch>
                    <a:fillRect/>
                  </a:stretch>
                </a:blipFill>
              </p:spPr>
              <p:txBody>
                <a:bodyPr/>
                <a:lstStyle/>
                <a:p>
                  <a:r>
                    <a:rPr lang="en-US">
                      <a:noFill/>
                    </a:rPr>
                    <a:t> </a:t>
                  </a:r>
                </a:p>
              </p:txBody>
            </p:sp>
          </mc:Fallback>
        </mc:AlternateContent>
        <p:cxnSp>
          <p:nvCxnSpPr>
            <p:cNvPr id="104" name="Connector: Elbow 103">
              <a:extLst>
                <a:ext uri="{FF2B5EF4-FFF2-40B4-BE49-F238E27FC236}">
                  <a16:creationId xmlns="" xmlns:a16="http://schemas.microsoft.com/office/drawing/2014/main" id="{0DE47F14-750D-68C0-E1AD-B3723EE38EFD}"/>
                </a:ext>
              </a:extLst>
            </p:cNvPr>
            <p:cNvCxnSpPr>
              <a:cxnSpLocks/>
            </p:cNvCxnSpPr>
            <p:nvPr/>
          </p:nvCxnSpPr>
          <p:spPr>
            <a:xfrm rot="5400000">
              <a:off x="5779325" y="2625890"/>
              <a:ext cx="320409" cy="2889186"/>
            </a:xfrm>
            <a:prstGeom prst="bentConnector2">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07" name="Straight Connector 106">
              <a:extLst>
                <a:ext uri="{FF2B5EF4-FFF2-40B4-BE49-F238E27FC236}">
                  <a16:creationId xmlns="" xmlns:a16="http://schemas.microsoft.com/office/drawing/2014/main" id="{716C0B98-441D-08AF-01CE-CB39C12BF5BC}"/>
                </a:ext>
              </a:extLst>
            </p:cNvPr>
            <p:cNvCxnSpPr/>
            <p:nvPr/>
          </p:nvCxnSpPr>
          <p:spPr>
            <a:xfrm flipV="1">
              <a:off x="4502150" y="2712873"/>
              <a:ext cx="0" cy="111141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1" name="Connector: Elbow 110">
              <a:extLst>
                <a:ext uri="{FF2B5EF4-FFF2-40B4-BE49-F238E27FC236}">
                  <a16:creationId xmlns="" xmlns:a16="http://schemas.microsoft.com/office/drawing/2014/main" id="{737121D0-0380-2E97-A3BF-0A624A417999}"/>
                </a:ext>
              </a:extLst>
            </p:cNvPr>
            <p:cNvCxnSpPr>
              <a:cxnSpLocks/>
              <a:stCxn id="114" idx="2"/>
              <a:endCxn id="14" idx="2"/>
            </p:cNvCxnSpPr>
            <p:nvPr/>
          </p:nvCxnSpPr>
          <p:spPr>
            <a:xfrm flipV="1">
              <a:off x="4600574" y="3905037"/>
              <a:ext cx="1772114" cy="124675"/>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14" name="Freeform: Shape 113">
              <a:extLst>
                <a:ext uri="{FF2B5EF4-FFF2-40B4-BE49-F238E27FC236}">
                  <a16:creationId xmlns="" xmlns:a16="http://schemas.microsoft.com/office/drawing/2014/main" id="{11A13A5E-D171-20F2-D972-AD32DF855867}"/>
                </a:ext>
              </a:extLst>
            </p:cNvPr>
            <p:cNvSpPr/>
            <p:nvPr/>
          </p:nvSpPr>
          <p:spPr>
            <a:xfrm>
              <a:off x="4495799" y="3802856"/>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2" name="Straight Connector 121">
              <a:extLst>
                <a:ext uri="{FF2B5EF4-FFF2-40B4-BE49-F238E27FC236}">
                  <a16:creationId xmlns="" xmlns:a16="http://schemas.microsoft.com/office/drawing/2014/main" id="{4CA64C18-D2EA-8E55-6B93-5C413921DD43}"/>
                </a:ext>
              </a:extLst>
            </p:cNvPr>
            <p:cNvCxnSpPr/>
            <p:nvPr/>
          </p:nvCxnSpPr>
          <p:spPr>
            <a:xfrm flipV="1">
              <a:off x="4500561" y="4140756"/>
              <a:ext cx="0" cy="39600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23" name="Freeform: Shape 122">
              <a:extLst>
                <a:ext uri="{FF2B5EF4-FFF2-40B4-BE49-F238E27FC236}">
                  <a16:creationId xmlns="" xmlns:a16="http://schemas.microsoft.com/office/drawing/2014/main" id="{B1F4FBC4-364C-A19F-A81D-DA38A3FDF67F}"/>
                </a:ext>
              </a:extLst>
            </p:cNvPr>
            <p:cNvSpPr/>
            <p:nvPr/>
          </p:nvSpPr>
          <p:spPr>
            <a:xfrm rot="5170363">
              <a:off x="4558343" y="3970802"/>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6" name="Straight Connector 125">
              <a:extLst>
                <a:ext uri="{FF2B5EF4-FFF2-40B4-BE49-F238E27FC236}">
                  <a16:creationId xmlns="" xmlns:a16="http://schemas.microsoft.com/office/drawing/2014/main" id="{A4AFA3A5-3D61-AD77-0FD5-E05A04A78770}"/>
                </a:ext>
              </a:extLst>
            </p:cNvPr>
            <p:cNvCxnSpPr>
              <a:cxnSpLocks/>
              <a:stCxn id="19" idx="2"/>
            </p:cNvCxnSpPr>
            <p:nvPr/>
          </p:nvCxnSpPr>
          <p:spPr>
            <a:xfrm>
              <a:off x="5492866" y="3907923"/>
              <a:ext cx="0" cy="116465"/>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29" name="TextBox 128">
                  <a:extLst>
                    <a:ext uri="{FF2B5EF4-FFF2-40B4-BE49-F238E27FC236}">
                      <a16:creationId xmlns="" xmlns:a16="http://schemas.microsoft.com/office/drawing/2014/main" id="{2ADCA7E5-A076-5B32-BC9D-A16A6D795C3A}"/>
                    </a:ext>
                  </a:extLst>
                </p:cNvPr>
                <p:cNvSpPr txBox="1"/>
                <p:nvPr/>
              </p:nvSpPr>
              <p:spPr>
                <a:xfrm>
                  <a:off x="6002906" y="3222817"/>
                  <a:ext cx="4439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𝒛</m:t>
                            </m:r>
                          </m:e>
                          <m:sub>
                            <m:r>
                              <a:rPr lang="pt-BR" b="0" i="1" smtClean="0">
                                <a:latin typeface="Cambria Math" panose="02040503050406030204" pitchFamily="18" charset="0"/>
                              </a:rPr>
                              <m:t>𝑡</m:t>
                            </m:r>
                          </m:sub>
                        </m:sSub>
                      </m:oMath>
                    </m:oMathPara>
                  </a14:m>
                  <a:endParaRPr lang="en-US" dirty="0"/>
                </a:p>
              </p:txBody>
            </p:sp>
          </mc:Choice>
          <mc:Fallback xmlns="">
            <p:sp>
              <p:nvSpPr>
                <p:cNvPr id="129" name="TextBox 128">
                  <a:extLst>
                    <a:ext uri="{FF2B5EF4-FFF2-40B4-BE49-F238E27FC236}">
                      <a16:creationId xmlns:a16="http://schemas.microsoft.com/office/drawing/2014/main" id="{2ADCA7E5-A076-5B32-BC9D-A16A6D795C3A}"/>
                    </a:ext>
                  </a:extLst>
                </p:cNvPr>
                <p:cNvSpPr txBox="1">
                  <a:spLocks noRot="1" noChangeAspect="1" noMove="1" noResize="1" noEditPoints="1" noAdjustHandles="1" noChangeArrowheads="1" noChangeShapeType="1" noTextEdit="1"/>
                </p:cNvSpPr>
                <p:nvPr/>
              </p:nvSpPr>
              <p:spPr>
                <a:xfrm>
                  <a:off x="6002906" y="3222817"/>
                  <a:ext cx="443968"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0" name="TextBox 129">
                  <a:extLst>
                    <a:ext uri="{FF2B5EF4-FFF2-40B4-BE49-F238E27FC236}">
                      <a16:creationId xmlns="" xmlns:a16="http://schemas.microsoft.com/office/drawing/2014/main" id="{30D44200-682E-3C64-7263-CD46DB66F451}"/>
                    </a:ext>
                  </a:extLst>
                </p:cNvPr>
                <p:cNvSpPr txBox="1"/>
                <p:nvPr/>
              </p:nvSpPr>
              <p:spPr>
                <a:xfrm>
                  <a:off x="5122198" y="3247949"/>
                  <a:ext cx="44877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1" i="1" smtClean="0">
                                <a:latin typeface="Cambria Math" panose="02040503050406030204" pitchFamily="18" charset="0"/>
                              </a:rPr>
                              <m:t>𝒓</m:t>
                            </m:r>
                          </m:e>
                          <m:sub>
                            <m:r>
                              <a:rPr lang="pt-BR" b="0" i="1" smtClean="0">
                                <a:latin typeface="Cambria Math" panose="02040503050406030204" pitchFamily="18" charset="0"/>
                              </a:rPr>
                              <m:t>𝑡</m:t>
                            </m:r>
                          </m:sub>
                        </m:sSub>
                      </m:oMath>
                    </m:oMathPara>
                  </a14:m>
                  <a:endParaRPr lang="en-US" dirty="0"/>
                </a:p>
              </p:txBody>
            </p:sp>
          </mc:Choice>
          <mc:Fallback xmlns="">
            <p:sp>
              <p:nvSpPr>
                <p:cNvPr id="130" name="TextBox 129">
                  <a:extLst>
                    <a:ext uri="{FF2B5EF4-FFF2-40B4-BE49-F238E27FC236}">
                      <a16:creationId xmlns:a16="http://schemas.microsoft.com/office/drawing/2014/main" id="{30D44200-682E-3C64-7263-CD46DB66F451}"/>
                    </a:ext>
                  </a:extLst>
                </p:cNvPr>
                <p:cNvSpPr txBox="1">
                  <a:spLocks noRot="1" noChangeAspect="1" noMove="1" noResize="1" noEditPoints="1" noAdjustHandles="1" noChangeArrowheads="1" noChangeShapeType="1" noTextEdit="1"/>
                </p:cNvSpPr>
                <p:nvPr/>
              </p:nvSpPr>
              <p:spPr>
                <a:xfrm>
                  <a:off x="5122198" y="3247949"/>
                  <a:ext cx="448777"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1" name="TextBox 130">
                  <a:extLst>
                    <a:ext uri="{FF2B5EF4-FFF2-40B4-BE49-F238E27FC236}">
                      <a16:creationId xmlns="" xmlns:a16="http://schemas.microsoft.com/office/drawing/2014/main" id="{6700C2E8-30BB-D3C5-50C9-1951D85495E1}"/>
                    </a:ext>
                  </a:extLst>
                </p:cNvPr>
                <p:cNvSpPr txBox="1"/>
                <p:nvPr/>
              </p:nvSpPr>
              <p:spPr>
                <a:xfrm>
                  <a:off x="7376868" y="3269551"/>
                  <a:ext cx="471218" cy="38375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acc>
                              <m:accPr>
                                <m:chr m:val="̃"/>
                                <m:ctrlPr>
                                  <a:rPr lang="en-US" b="1" i="1">
                                    <a:latin typeface="Cambria Math" panose="02040503050406030204" pitchFamily="18" charset="0"/>
                                  </a:rPr>
                                </m:ctrlPr>
                              </m:accPr>
                              <m:e>
                                <m:r>
                                  <a:rPr lang="pt-BR" b="1" i="1" smtClean="0">
                                    <a:latin typeface="Cambria Math" panose="02040503050406030204" pitchFamily="18" charset="0"/>
                                  </a:rPr>
                                  <m:t>𝒉</m:t>
                                </m:r>
                              </m:e>
                            </m:acc>
                          </m:e>
                          <m:sub>
                            <m:r>
                              <a:rPr lang="pt-BR" b="0" i="1" smtClean="0">
                                <a:latin typeface="Cambria Math" panose="02040503050406030204" pitchFamily="18" charset="0"/>
                              </a:rPr>
                              <m:t>𝑡</m:t>
                            </m:r>
                          </m:sub>
                        </m:sSub>
                      </m:oMath>
                    </m:oMathPara>
                  </a14:m>
                  <a:endParaRPr lang="en-US" dirty="0"/>
                </a:p>
              </p:txBody>
            </p:sp>
          </mc:Choice>
          <mc:Fallback xmlns="">
            <p:sp>
              <p:nvSpPr>
                <p:cNvPr id="131" name="TextBox 130">
                  <a:extLst>
                    <a:ext uri="{FF2B5EF4-FFF2-40B4-BE49-F238E27FC236}">
                      <a16:creationId xmlns:a16="http://schemas.microsoft.com/office/drawing/2014/main" id="{6700C2E8-30BB-D3C5-50C9-1951D85495E1}"/>
                    </a:ext>
                  </a:extLst>
                </p:cNvPr>
                <p:cNvSpPr txBox="1">
                  <a:spLocks noRot="1" noChangeAspect="1" noMove="1" noResize="1" noEditPoints="1" noAdjustHandles="1" noChangeArrowheads="1" noChangeShapeType="1" noTextEdit="1"/>
                </p:cNvSpPr>
                <p:nvPr/>
              </p:nvSpPr>
              <p:spPr>
                <a:xfrm>
                  <a:off x="7376868" y="3269551"/>
                  <a:ext cx="471218" cy="383759"/>
                </a:xfrm>
                <a:prstGeom prst="rect">
                  <a:avLst/>
                </a:prstGeom>
                <a:blipFill>
                  <a:blip r:embed="rId10"/>
                  <a:stretch>
                    <a:fillRect t="-7937" r="-5195"/>
                  </a:stretch>
                </a:blipFill>
              </p:spPr>
              <p:txBody>
                <a:bodyPr/>
                <a:lstStyle/>
                <a:p>
                  <a:r>
                    <a:rPr lang="en-US">
                      <a:noFill/>
                    </a:rPr>
                    <a:t> </a:t>
                  </a:r>
                </a:p>
              </p:txBody>
            </p:sp>
          </mc:Fallback>
        </mc:AlternateContent>
        <p:sp>
          <p:nvSpPr>
            <p:cNvPr id="2" name="Rectangle 1">
              <a:extLst>
                <a:ext uri="{FF2B5EF4-FFF2-40B4-BE49-F238E27FC236}">
                  <a16:creationId xmlns="" xmlns:a16="http://schemas.microsoft.com/office/drawing/2014/main" id="{68154BB7-44CA-1D82-2AC2-22171A0642D6}"/>
                </a:ext>
              </a:extLst>
            </p:cNvPr>
            <p:cNvSpPr/>
            <p:nvPr/>
          </p:nvSpPr>
          <p:spPr>
            <a:xfrm>
              <a:off x="6036582" y="2520191"/>
              <a:ext cx="539413" cy="1620565"/>
            </a:xfrm>
            <a:prstGeom prst="rect">
              <a:avLst/>
            </a:prstGeom>
            <a:noFill/>
            <a:ln w="190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 xmlns:a16="http://schemas.microsoft.com/office/drawing/2014/main" id="{84BBC452-1110-2988-2E65-E445EE63C4C7}"/>
                </a:ext>
              </a:extLst>
            </p:cNvPr>
            <p:cNvSpPr/>
            <p:nvPr/>
          </p:nvSpPr>
          <p:spPr>
            <a:xfrm>
              <a:off x="4666818" y="3031273"/>
              <a:ext cx="1117692" cy="1103399"/>
            </a:xfrm>
            <a:prstGeom prst="rect">
              <a:avLst/>
            </a:prstGeom>
            <a:noFill/>
            <a:ln w="190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 xmlns:a16="http://schemas.microsoft.com/office/drawing/2014/main" id="{E3AB5C93-A0FA-4FF5-F0AA-FD75161F0631}"/>
                </a:ext>
              </a:extLst>
            </p:cNvPr>
            <p:cNvSpPr txBox="1"/>
            <p:nvPr/>
          </p:nvSpPr>
          <p:spPr>
            <a:xfrm>
              <a:off x="5835605" y="1829242"/>
              <a:ext cx="941366" cy="461665"/>
            </a:xfrm>
            <a:prstGeom prst="rect">
              <a:avLst/>
            </a:prstGeom>
            <a:noFill/>
          </p:spPr>
          <p:txBody>
            <a:bodyPr wrap="square" rtlCol="0">
              <a:spAutoFit/>
            </a:bodyPr>
            <a:lstStyle/>
            <a:p>
              <a:pPr algn="ctr"/>
              <a:r>
                <a:rPr lang="pt-BR" sz="1200" dirty="0"/>
                <a:t>porta de atualização</a:t>
              </a:r>
              <a:endParaRPr lang="en-US" sz="1200" dirty="0"/>
            </a:p>
          </p:txBody>
        </p:sp>
        <p:cxnSp>
          <p:nvCxnSpPr>
            <p:cNvPr id="8" name="Straight Connector 7">
              <a:extLst>
                <a:ext uri="{FF2B5EF4-FFF2-40B4-BE49-F238E27FC236}">
                  <a16:creationId xmlns="" xmlns:a16="http://schemas.microsoft.com/office/drawing/2014/main" id="{7B4BB778-3C5D-0F93-B5F7-D66D9C30556C}"/>
                </a:ext>
              </a:extLst>
            </p:cNvPr>
            <p:cNvCxnSpPr>
              <a:cxnSpLocks/>
              <a:stCxn id="2" idx="0"/>
              <a:endCxn id="6" idx="2"/>
            </p:cNvCxnSpPr>
            <p:nvPr/>
          </p:nvCxnSpPr>
          <p:spPr>
            <a:xfrm flipH="1" flipV="1">
              <a:off x="6306288" y="2290907"/>
              <a:ext cx="1" cy="229284"/>
            </a:xfrm>
            <a:prstGeom prst="line">
              <a:avLst/>
            </a:prstGeom>
            <a:ln w="19050">
              <a:prstDash val="sysDot"/>
            </a:ln>
          </p:spPr>
          <p:style>
            <a:lnRef idx="1">
              <a:schemeClr val="dk1"/>
            </a:lnRef>
            <a:fillRef idx="0">
              <a:schemeClr val="dk1"/>
            </a:fillRef>
            <a:effectRef idx="0">
              <a:schemeClr val="dk1"/>
            </a:effectRef>
            <a:fontRef idx="minor">
              <a:schemeClr val="tx1"/>
            </a:fontRef>
          </p:style>
        </p:cxnSp>
        <p:sp>
          <p:nvSpPr>
            <p:cNvPr id="9" name="TextBox 8">
              <a:extLst>
                <a:ext uri="{FF2B5EF4-FFF2-40B4-BE49-F238E27FC236}">
                  <a16:creationId xmlns="" xmlns:a16="http://schemas.microsoft.com/office/drawing/2014/main" id="{027BE59C-84F5-3A6A-1F58-4156CACC3A1F}"/>
                </a:ext>
              </a:extLst>
            </p:cNvPr>
            <p:cNvSpPr txBox="1"/>
            <p:nvPr/>
          </p:nvSpPr>
          <p:spPr>
            <a:xfrm>
              <a:off x="4759386" y="1840210"/>
              <a:ext cx="941366" cy="461665"/>
            </a:xfrm>
            <a:prstGeom prst="rect">
              <a:avLst/>
            </a:prstGeom>
            <a:noFill/>
          </p:spPr>
          <p:txBody>
            <a:bodyPr wrap="square" rtlCol="0">
              <a:spAutoFit/>
            </a:bodyPr>
            <a:lstStyle/>
            <a:p>
              <a:pPr algn="ctr"/>
              <a:r>
                <a:rPr lang="pt-BR" sz="1200" dirty="0"/>
                <a:t>porta de </a:t>
              </a:r>
              <a:r>
                <a:rPr lang="pt-BR" sz="1200" i="1" dirty="0"/>
                <a:t>reset</a:t>
              </a:r>
              <a:endParaRPr lang="en-US" sz="1200" i="1" dirty="0"/>
            </a:p>
          </p:txBody>
        </p:sp>
        <p:cxnSp>
          <p:nvCxnSpPr>
            <p:cNvPr id="10" name="Straight Connector 9">
              <a:extLst>
                <a:ext uri="{FF2B5EF4-FFF2-40B4-BE49-F238E27FC236}">
                  <a16:creationId xmlns="" xmlns:a16="http://schemas.microsoft.com/office/drawing/2014/main" id="{F4D7901D-0577-0DF7-A300-F4B8DDD2B08B}"/>
                </a:ext>
              </a:extLst>
            </p:cNvPr>
            <p:cNvCxnSpPr>
              <a:cxnSpLocks/>
              <a:stCxn id="3" idx="0"/>
              <a:endCxn id="9" idx="2"/>
            </p:cNvCxnSpPr>
            <p:nvPr/>
          </p:nvCxnSpPr>
          <p:spPr>
            <a:xfrm flipV="1">
              <a:off x="5225664" y="2301875"/>
              <a:ext cx="4405" cy="729398"/>
            </a:xfrm>
            <a:prstGeom prst="line">
              <a:avLst/>
            </a:prstGeom>
            <a:ln w="19050">
              <a:prstDash val="sysDot"/>
            </a:ln>
          </p:spPr>
          <p:style>
            <a:lnRef idx="1">
              <a:schemeClr val="dk1"/>
            </a:lnRef>
            <a:fillRef idx="0">
              <a:schemeClr val="dk1"/>
            </a:fillRef>
            <a:effectRef idx="0">
              <a:schemeClr val="dk1"/>
            </a:effectRef>
            <a:fontRef idx="minor">
              <a:schemeClr val="tx1"/>
            </a:fontRef>
          </p:style>
        </p:cxnSp>
        <p:cxnSp>
          <p:nvCxnSpPr>
            <p:cNvPr id="27" name="Straight Arrow Connector 26">
              <a:extLst>
                <a:ext uri="{FF2B5EF4-FFF2-40B4-BE49-F238E27FC236}">
                  <a16:creationId xmlns="" xmlns:a16="http://schemas.microsoft.com/office/drawing/2014/main" id="{8CF85A48-30D2-A843-6627-1DD7BA329BD6}"/>
                </a:ext>
              </a:extLst>
            </p:cNvPr>
            <p:cNvCxnSpPr>
              <a:cxnSpLocks/>
              <a:endCxn id="17" idx="2"/>
            </p:cNvCxnSpPr>
            <p:nvPr/>
          </p:nvCxnSpPr>
          <p:spPr>
            <a:xfrm>
              <a:off x="6372688" y="3221468"/>
              <a:ext cx="307390"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 xmlns:a16="http://schemas.microsoft.com/office/drawing/2014/main" id="{353162AA-0266-E2D5-F390-ED75645298B3}"/>
                </a:ext>
              </a:extLst>
            </p:cNvPr>
            <p:cNvCxnSpPr>
              <a:cxnSpLocks/>
              <a:stCxn id="17" idx="6"/>
              <a:endCxn id="4" idx="2"/>
            </p:cNvCxnSpPr>
            <p:nvPr/>
          </p:nvCxnSpPr>
          <p:spPr>
            <a:xfrm>
              <a:off x="6953128" y="3221468"/>
              <a:ext cx="294469" cy="1322"/>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3273583629"/>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11028</TotalTime>
  <Words>4636</Words>
  <Application>Microsoft Office PowerPoint</Application>
  <PresentationFormat>Widescreen</PresentationFormat>
  <Paragraphs>1008</Paragraphs>
  <Slides>98</Slides>
  <Notes>57</Notes>
  <HiddenSlides>0</HiddenSlides>
  <MMClips>0</MMClips>
  <ScaleCrop>false</ScaleCrop>
  <HeadingPairs>
    <vt:vector size="6" baseType="variant">
      <vt:variant>
        <vt:lpstr>Fontes usadas</vt:lpstr>
      </vt:variant>
      <vt:variant>
        <vt:i4>6</vt:i4>
      </vt:variant>
      <vt:variant>
        <vt:lpstr>Tema</vt:lpstr>
      </vt:variant>
      <vt:variant>
        <vt:i4>1</vt:i4>
      </vt:variant>
      <vt:variant>
        <vt:lpstr>Títulos de slides</vt:lpstr>
      </vt:variant>
      <vt:variant>
        <vt:i4>98</vt:i4>
      </vt:variant>
    </vt:vector>
  </HeadingPairs>
  <TitlesOfParts>
    <vt:vector size="105" baseType="lpstr">
      <vt:lpstr>Arial</vt:lpstr>
      <vt:lpstr>Calibri</vt:lpstr>
      <vt:lpstr>Calibri Light</vt:lpstr>
      <vt:lpstr>Cambria Math</vt:lpstr>
      <vt:lpstr>Courier New</vt:lpstr>
      <vt:lpstr>Wingdings</vt:lpstr>
      <vt:lpstr>Tema do Office</vt:lpstr>
      <vt:lpstr>C24 – Inteligência Artificial: Redes neurais recorrentes</vt:lpstr>
      <vt:lpstr>Motivação</vt:lpstr>
      <vt:lpstr>Aplicações</vt:lpstr>
      <vt:lpstr>Limitação de redes tradicionais</vt:lpstr>
      <vt:lpstr>Apresentação do PowerPoint</vt:lpstr>
      <vt:lpstr>Apresentação do PowerPoint</vt:lpstr>
      <vt:lpstr>Redes recorrentes</vt:lpstr>
      <vt:lpstr>Redes recorrentes</vt:lpstr>
      <vt:lpstr>Redes recorrentes</vt:lpstr>
      <vt:lpstr>Apresentação do PowerPoint</vt:lpstr>
      <vt:lpstr>Neurônio (ou célula) recorrente</vt:lpstr>
      <vt:lpstr>Neurônio (ou célula) recorrente</vt:lpstr>
      <vt:lpstr>Neurônio (ou célula) recorrente</vt:lpstr>
      <vt:lpstr>Neurônio recorrente</vt:lpstr>
      <vt:lpstr>Neurônio recorrente</vt:lpstr>
      <vt:lpstr>Atualização do estado e geração da saída</vt:lpstr>
      <vt:lpstr>Atualização do estado e geração da saída</vt:lpstr>
      <vt:lpstr>Desenrolando uma RNN</vt:lpstr>
      <vt:lpstr>Desenrolando uma RNN</vt:lpstr>
      <vt:lpstr>Desenrolando uma RNN</vt:lpstr>
      <vt:lpstr>Desenrolando uma RNN</vt:lpstr>
      <vt:lpstr>Desenrolando uma RNN</vt:lpstr>
      <vt:lpstr>Treinando uma RNN</vt:lpstr>
      <vt:lpstr>Treinando uma RNN</vt:lpstr>
      <vt:lpstr>Treinando uma RNN</vt:lpstr>
      <vt:lpstr>Treinando uma RNN</vt:lpstr>
      <vt:lpstr>Backpropagation Through Time (BPTT)</vt:lpstr>
      <vt:lpstr>Backpropagation Through Time (BPTT)</vt:lpstr>
      <vt:lpstr>Backpropagation Through Time (BPTT)</vt:lpstr>
      <vt:lpstr>Backpropagation Through Time (BPTT)</vt:lpstr>
      <vt:lpstr>Desaparecimento e explosão do gradiente</vt:lpstr>
      <vt:lpstr>Como mitigar esses problemas?</vt:lpstr>
      <vt:lpstr>Backpropagation Through Time (BPTT)</vt:lpstr>
      <vt:lpstr>Backpropagation Through Time (BPTT)</vt:lpstr>
      <vt:lpstr>Por que o BPTT truncado funciona?</vt:lpstr>
      <vt:lpstr>Por que não usar funções de ativação ReLU?</vt:lpstr>
      <vt:lpstr>Apresentação do PowerPoint</vt:lpstr>
      <vt:lpstr>O problema das dependências de longo prazo</vt:lpstr>
      <vt:lpstr>O problema das dependências de longo prazo</vt:lpstr>
      <vt:lpstr>O problema das dependências de longo prazo</vt:lpstr>
      <vt:lpstr>O problema das dependências de longo prazo</vt:lpstr>
      <vt:lpstr>O problema das dependências de longo prazo</vt:lpstr>
      <vt:lpstr>O problema das dependências de longo prazo</vt:lpstr>
      <vt:lpstr>Long-short term memory (LSTM)</vt:lpstr>
      <vt:lpstr>Long-short term memory (LSTM)</vt:lpstr>
      <vt:lpstr>Long-short term memory (LSTM)</vt:lpstr>
      <vt:lpstr>Long-short term memory (LSTM)</vt:lpstr>
      <vt:lpstr>Long-short term memory (LSTM)</vt:lpstr>
      <vt:lpstr>Como as portas funcionam?</vt:lpstr>
      <vt:lpstr>Como as portas funcionam?</vt:lpstr>
      <vt:lpstr>Apresentação do PowerPoint</vt:lpstr>
      <vt:lpstr>A ideia central por trás das LSTMs: o estado da célula</vt:lpstr>
      <vt:lpstr>Apresentação do PowerPoint</vt:lpstr>
      <vt:lpstr>Apresentação do PowerPoint</vt:lpstr>
      <vt:lpstr>Apresentação do PowerPoint</vt:lpstr>
      <vt:lpstr>Porta de esquecimento</vt:lpstr>
      <vt:lpstr>Porta de entrada</vt:lpstr>
      <vt:lpstr>Atualização do estado da célula</vt:lpstr>
      <vt:lpstr>Porta de saída</vt:lpstr>
      <vt:lpstr>Long-short term memory (LSTM)</vt:lpstr>
      <vt:lpstr>Principais desvantagens de LSTMs</vt:lpstr>
      <vt:lpstr>GRUs</vt:lpstr>
      <vt:lpstr>Gated recurrent unit (GRU)</vt:lpstr>
      <vt:lpstr>Gated recurrent unit (GRU)</vt:lpstr>
      <vt:lpstr>Apresentação do PowerPoint</vt:lpstr>
      <vt:lpstr>Desaparecimento do gradiente</vt:lpstr>
      <vt:lpstr>Desaparecimento do gradiente</vt:lpstr>
      <vt:lpstr>Desaparecimento do gradiente</vt:lpstr>
      <vt:lpstr>Apresentação do PowerPoint</vt:lpstr>
      <vt:lpstr>Aplicação: um-para-um</vt:lpstr>
      <vt:lpstr>Aplicação: um-para-vários</vt:lpstr>
      <vt:lpstr>Aplicação: vários-para-um</vt:lpstr>
      <vt:lpstr>Aplicação: vários-para-vários síncrono</vt:lpstr>
      <vt:lpstr>Aplicação: vários-para-vários síncrono</vt:lpstr>
      <vt:lpstr>Aplicação: vários-para-vários assíncrono</vt:lpstr>
      <vt:lpstr>Exemplo</vt:lpstr>
      <vt:lpstr>Lista de exercícios</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2108</cp:revision>
  <dcterms:created xsi:type="dcterms:W3CDTF">2020-01-20T13:50:05Z</dcterms:created>
  <dcterms:modified xsi:type="dcterms:W3CDTF">2026-05-17T02:01:10Z</dcterms:modified>
</cp:coreProperties>
</file>