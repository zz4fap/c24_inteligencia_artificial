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69" r:id="rId61"/>
    <p:sldId id="368" r:id="rId62"/>
    <p:sldId id="668" r:id="rId63"/>
    <p:sldId id="671" r:id="rId64"/>
    <p:sldId id="672" r:id="rId65"/>
    <p:sldId id="670" r:id="rId66"/>
    <p:sldId id="603" r:id="rId67"/>
    <p:sldId id="381" r:id="rId68"/>
    <p:sldId id="662" r:id="rId69"/>
    <p:sldId id="667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0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2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1.png"/><Relationship Id="rId18" Type="http://schemas.openxmlformats.org/officeDocument/2006/relationships/image" Target="../media/image146.png"/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12" Type="http://schemas.openxmlformats.org/officeDocument/2006/relationships/image" Target="../media/image642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58.xml"/><Relationship Id="rId16" Type="http://schemas.openxmlformats.org/officeDocument/2006/relationships/image" Target="../media/image144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5" Type="http://schemas.openxmlformats.org/officeDocument/2006/relationships/image" Target="../media/image134.png"/><Relationship Id="rId15" Type="http://schemas.openxmlformats.org/officeDocument/2006/relationships/image" Target="../media/image143.png"/><Relationship Id="rId10" Type="http://schemas.openxmlformats.org/officeDocument/2006/relationships/image" Target="../media/image139.png"/><Relationship Id="rId19" Type="http://schemas.openxmlformats.org/officeDocument/2006/relationships/image" Target="../media/image147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de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 rotWithShape="0"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 paralelização e capturam de dependências globais.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com relação 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propostas em 2014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" y="2676956"/>
            <a:ext cx="4932091" cy="271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são uma </a:t>
            </a:r>
            <a:r>
              <a:rPr lang="pt-BR" b="1" dirty="0">
                <a:solidFill>
                  <a:schemeClr val="accent2"/>
                </a:solidFill>
              </a:rPr>
              <a:t>versão simplificada</a:t>
            </a:r>
            <a:r>
              <a:rPr lang="pt-BR" dirty="0"/>
              <a:t> da célula de memória LSTM.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2"/>
                </a:solidFill>
              </a:rPr>
              <a:t>atingem desempenho comparável</a:t>
            </a:r>
            <a:r>
              <a:rPr lang="pt-BR" dirty="0"/>
              <a:t> às </a:t>
            </a:r>
            <a:r>
              <a:rPr lang="pt-BR" dirty="0" err="1"/>
              <a:t>LSTMs</a:t>
            </a:r>
            <a:r>
              <a:rPr lang="pt-BR" dirty="0"/>
              <a:t>, mas com a vantagem de terem </a:t>
            </a:r>
            <a:r>
              <a:rPr lang="pt-BR" b="1" dirty="0">
                <a:solidFill>
                  <a:srgbClr val="00B050"/>
                </a:solidFill>
              </a:rPr>
              <a:t>menos parâmetros</a:t>
            </a:r>
            <a:r>
              <a:rPr lang="pt-BR" dirty="0"/>
              <a:t>, serem </a:t>
            </a:r>
            <a:r>
              <a:rPr lang="pt-BR" b="1" dirty="0">
                <a:solidFill>
                  <a:srgbClr val="00B050"/>
                </a:solidFill>
              </a:rPr>
              <a:t>menos complexas</a:t>
            </a:r>
            <a:r>
              <a:rPr lang="pt-BR" dirty="0"/>
              <a:t> e serem </a:t>
            </a:r>
            <a:r>
              <a:rPr lang="pt-BR" b="1" dirty="0">
                <a:solidFill>
                  <a:srgbClr val="00B050"/>
                </a:solidFill>
              </a:rPr>
              <a:t>treinadas mais rapidamente</a:t>
            </a:r>
            <a:r>
              <a:rPr lang="pt-BR" dirty="0"/>
              <a:t>.</a:t>
            </a:r>
          </a:p>
          <a:p>
            <a:r>
              <a:rPr lang="pt-BR" dirty="0"/>
              <a:t>Elas têm apenas </a:t>
            </a:r>
            <a:r>
              <a:rPr lang="pt-BR" b="1" dirty="0">
                <a:solidFill>
                  <a:srgbClr val="0070C0"/>
                </a:solidFill>
              </a:rPr>
              <a:t>duas portas</a:t>
            </a:r>
            <a:r>
              <a:rPr lang="pt-BR" dirty="0"/>
              <a:t>: a de </a:t>
            </a:r>
            <a:r>
              <a:rPr lang="pt-BR" i="1" dirty="0"/>
              <a:t>reset</a:t>
            </a:r>
            <a:r>
              <a:rPr lang="pt-BR" dirty="0"/>
              <a:t> e a de atualização.</a:t>
            </a:r>
          </a:p>
          <a:p>
            <a:r>
              <a:rPr lang="pt-BR" dirty="0"/>
              <a:t>Além disso, elas </a:t>
            </a:r>
            <a:r>
              <a:rPr lang="pt-BR" b="1" dirty="0">
                <a:solidFill>
                  <a:srgbClr val="0070C0"/>
                </a:solidFill>
              </a:rPr>
              <a:t>incorporam a memória de longo prazo no próprio estado oculto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" y="2676956"/>
            <a:ext cx="4932091" cy="271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portas de </a:t>
                </a:r>
                <a:r>
                  <a:rPr lang="pt-BR" b="1" dirty="0">
                    <a:solidFill>
                      <a:srgbClr val="00B050"/>
                    </a:solidFill>
                  </a:rPr>
                  <a:t>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sinal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4D4B8FE0-7CAE-EA59-381F-9574C184D0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18" y="2445016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7500" y="1825624"/>
                <a:ext cx="67945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porta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porta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porta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porta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7500" y="1825624"/>
                <a:ext cx="6794500" cy="5032375"/>
              </a:xfrm>
              <a:blipFill>
                <a:blip r:embed="rId3"/>
                <a:stretch>
                  <a:fillRect l="-1614" t="-1937" r="-1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D13308A2-400B-AD07-8708-A4DB98EB90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83" y="2609403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7500" y="1825624"/>
                <a:ext cx="67945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memória de curto prazo, </a:t>
                </a:r>
                <a:r>
                  <a:rPr lang="pt-BR"/>
                  <a:t>pois ela decide </a:t>
                </a:r>
                <a:r>
                  <a:rPr lang="pt-BR" dirty="0"/>
                  <a:t>quanta informação passada será mantida e quanta será descartada.</a:t>
                </a:r>
              </a:p>
              <a:p>
                <a:r>
                  <a:rPr lang="pt-BR" dirty="0"/>
                  <a:t>Não existe uma porta de saída, o vetor de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completo é apresentado na saída a cada passo de tempo.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7500" y="1825624"/>
                <a:ext cx="6794500" cy="5032375"/>
              </a:xfrm>
              <a:blipFill>
                <a:blip r:embed="rId3"/>
                <a:stretch>
                  <a:fillRect l="-1614" t="-1937" r="-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BAE5265F-A8F0-1B4C-82B1-73D9881956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83" y="2609403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6" y="4431563"/>
            <a:ext cx="3888429" cy="214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permite que os gradientes retrocedam no tempo sem </a:t>
            </a:r>
            <a:r>
              <a:rPr lang="pt-BR" b="1" dirty="0">
                <a:solidFill>
                  <a:srgbClr val="7030A0"/>
                </a:solidFill>
              </a:rPr>
              <a:t>necessariamente</a:t>
            </a:r>
            <a:r>
              <a:rPr lang="pt-BR" dirty="0"/>
              <a:t> desaparecer.</a:t>
            </a:r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4341811"/>
            <a:ext cx="3888429" cy="214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upo 2"/>
          <p:cNvGrpSpPr/>
          <p:nvPr/>
        </p:nvGrpSpPr>
        <p:grpSpPr>
          <a:xfrm>
            <a:off x="5673682" y="3302472"/>
            <a:ext cx="4928922" cy="2713085"/>
            <a:chOff x="5673682" y="3302472"/>
            <a:chExt cx="4928922" cy="2713085"/>
          </a:xfrm>
        </p:grpSpPr>
        <p:sp>
          <p:nvSpPr>
            <p:cNvPr id="68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6650626" y="516163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48" idx="0"/>
              <a:endCxn id="43" idx="4"/>
            </p:cNvCxnSpPr>
            <p:nvPr/>
          </p:nvCxnSpPr>
          <p:spPr>
            <a:xfrm flipV="1">
              <a:off x="8464971" y="404022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47" idx="0"/>
              <a:endCxn id="45" idx="4"/>
            </p:cNvCxnSpPr>
            <p:nvPr/>
          </p:nvCxnSpPr>
          <p:spPr>
            <a:xfrm flipV="1">
              <a:off x="9476405" y="404022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44" idx="0"/>
              <a:endCxn id="47" idx="4"/>
            </p:cNvCxnSpPr>
            <p:nvPr/>
          </p:nvCxnSpPr>
          <p:spPr>
            <a:xfrm flipV="1">
              <a:off x="9476405" y="455014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66" idx="2"/>
              <a:endCxn id="48" idx="2"/>
            </p:cNvCxnSpPr>
            <p:nvPr/>
          </p:nvCxnSpPr>
          <p:spPr>
            <a:xfrm flipV="1">
              <a:off x="6692857" y="509586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8095189" y="441364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70" name="TextBox 163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5189" y="4413647"/>
                  <a:ext cx="436273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7418894" y="480088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Rectangle 142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894" y="4800881"/>
                  <a:ext cx="332510" cy="29787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8772361" y="427577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59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49" idx="0"/>
              <a:endCxn id="42" idx="6"/>
            </p:cNvCxnSpPr>
            <p:nvPr/>
          </p:nvCxnSpPr>
          <p:spPr>
            <a:xfrm rot="16200000" flipV="1">
              <a:off x="7199212" y="441494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6588082" y="499368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6592844" y="533158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9469151" y="44603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TextBox 165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9151" y="4460381"/>
                  <a:ext cx="471218" cy="383759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50" idx="6"/>
              <a:endCxn id="47" idx="2"/>
            </p:cNvCxnSpPr>
            <p:nvPr/>
          </p:nvCxnSpPr>
          <p:spPr>
            <a:xfrm>
              <a:off x="9045411" y="441229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6825885" y="437869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9169014" y="480323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9339880" y="427709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8298716" y="479799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Rectangle 14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8716" y="4797995"/>
                  <a:ext cx="332510" cy="29787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8735296" y="422763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6962410" y="390370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42" idx="4"/>
              <a:endCxn id="44" idx="2"/>
            </p:cNvCxnSpPr>
            <p:nvPr/>
          </p:nvCxnSpPr>
          <p:spPr>
            <a:xfrm rot="16200000" flipH="1">
              <a:off x="7994725" y="361942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71608" y="381672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6594433" y="390370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49" idx="2"/>
            </p:cNvCxnSpPr>
            <p:nvPr/>
          </p:nvCxnSpPr>
          <p:spPr>
            <a:xfrm>
              <a:off x="7585149" y="509875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7214481" y="443877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Box 164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481" y="4438779"/>
                  <a:ext cx="448777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8464971" y="441229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6393459" y="362923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1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16432" y="343570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8328764" y="376717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9339880" y="376717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5673682" y="371102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39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3682" y="3711021"/>
                  <a:ext cx="511583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46" idx="3"/>
              <a:endCxn id="43" idx="2"/>
            </p:cNvCxnSpPr>
            <p:nvPr/>
          </p:nvCxnSpPr>
          <p:spPr>
            <a:xfrm>
              <a:off x="6185265" y="389568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43" idx="6"/>
              <a:endCxn id="45" idx="2"/>
            </p:cNvCxnSpPr>
            <p:nvPr/>
          </p:nvCxnSpPr>
          <p:spPr>
            <a:xfrm>
              <a:off x="8601814" y="390370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45" idx="6"/>
            </p:cNvCxnSpPr>
            <p:nvPr/>
          </p:nvCxnSpPr>
          <p:spPr>
            <a:xfrm>
              <a:off x="9612929" y="390370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10238760" y="371102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15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8760" y="3711021"/>
                  <a:ext cx="363844" cy="369332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6363075" y="564622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155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3075" y="5646225"/>
                  <a:ext cx="458394" cy="369332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10057140" y="330247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15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7140" y="3302472"/>
                  <a:ext cx="363844" cy="369332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Agrupar 62">
            <a:extLst>
              <a:ext uri="{FF2B5EF4-FFF2-40B4-BE49-F238E27FC236}">
                <a16:creationId xmlns:a16="http://schemas.microsoft.com/office/drawing/2014/main" id="{9DD69263-D0C4-2A32-2C88-82832A7C9B78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414968" y="322383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968" y="322383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6306288" y="229090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44046" y="211472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4046" y="211472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6060857" y="249733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6060857" y="413985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814943" y="356363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07406" y="356813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91467" y="250374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11452</TotalTime>
  <Words>7483</Words>
  <Application>Microsoft Office PowerPoint</Application>
  <PresentationFormat>Widescreen</PresentationFormat>
  <Paragraphs>1069</Paragraphs>
  <Slides>99</Slides>
  <Notes>59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2174</cp:revision>
  <dcterms:created xsi:type="dcterms:W3CDTF">2020-01-20T13:50:05Z</dcterms:created>
  <dcterms:modified xsi:type="dcterms:W3CDTF">2026-05-18T12:01:34Z</dcterms:modified>
</cp:coreProperties>
</file>