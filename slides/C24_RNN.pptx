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handoutMasterIdLst>
    <p:handoutMasterId r:id="rId62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44" r:id="rId20"/>
    <p:sldId id="361" r:id="rId21"/>
    <p:sldId id="345" r:id="rId22"/>
    <p:sldId id="346" r:id="rId23"/>
    <p:sldId id="347" r:id="rId24"/>
    <p:sldId id="349" r:id="rId25"/>
    <p:sldId id="351" r:id="rId26"/>
    <p:sldId id="352" r:id="rId27"/>
    <p:sldId id="355" r:id="rId28"/>
    <p:sldId id="372" r:id="rId29"/>
    <p:sldId id="374" r:id="rId30"/>
    <p:sldId id="376" r:id="rId31"/>
    <p:sldId id="356" r:id="rId32"/>
    <p:sldId id="358" r:id="rId33"/>
    <p:sldId id="362" r:id="rId34"/>
    <p:sldId id="365" r:id="rId35"/>
    <p:sldId id="366" r:id="rId36"/>
    <p:sldId id="367" r:id="rId37"/>
    <p:sldId id="368" r:id="rId38"/>
    <p:sldId id="371" r:id="rId39"/>
    <p:sldId id="379" r:id="rId40"/>
    <p:sldId id="377" r:id="rId41"/>
    <p:sldId id="378" r:id="rId42"/>
    <p:sldId id="360" r:id="rId43"/>
    <p:sldId id="337" r:id="rId44"/>
    <p:sldId id="293" r:id="rId45"/>
    <p:sldId id="306" r:id="rId46"/>
    <p:sldId id="335" r:id="rId47"/>
    <p:sldId id="330" r:id="rId48"/>
    <p:sldId id="340" r:id="rId49"/>
    <p:sldId id="348" r:id="rId50"/>
    <p:sldId id="350" r:id="rId51"/>
    <p:sldId id="353" r:id="rId52"/>
    <p:sldId id="354" r:id="rId53"/>
    <p:sldId id="373" r:id="rId54"/>
    <p:sldId id="357" r:id="rId55"/>
    <p:sldId id="359" r:id="rId56"/>
    <p:sldId id="363" r:id="rId57"/>
    <p:sldId id="364" r:id="rId58"/>
    <p:sldId id="369" r:id="rId59"/>
    <p:sldId id="370" r:id="rId6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1598" autoAdjust="0"/>
  </p:normalViewPr>
  <p:slideViewPr>
    <p:cSldViewPr snapToGrid="0">
      <p:cViewPr varScale="1">
        <p:scale>
          <a:sx n="60" d="100"/>
          <a:sy n="60" d="100"/>
        </p:scale>
        <p:origin x="1296" y="6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0.png"/><Relationship Id="rId26" Type="http://schemas.openxmlformats.org/officeDocument/2006/relationships/image" Target="../media/image51.png"/><Relationship Id="rId3" Type="http://schemas.openxmlformats.org/officeDocument/2006/relationships/image" Target="../media/image280.png"/><Relationship Id="rId21" Type="http://schemas.openxmlformats.org/officeDocument/2006/relationships/image" Target="../media/image460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0.png"/><Relationship Id="rId25" Type="http://schemas.openxmlformats.org/officeDocument/2006/relationships/image" Target="../media/image50.png"/><Relationship Id="rId2" Type="http://schemas.openxmlformats.org/officeDocument/2006/relationships/image" Target="../media/image270.png"/><Relationship Id="rId16" Type="http://schemas.openxmlformats.org/officeDocument/2006/relationships/image" Target="../media/image410.png"/><Relationship Id="rId20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.png"/><Relationship Id="rId28" Type="http://schemas.openxmlformats.org/officeDocument/2006/relationships/image" Target="../media/image53.png"/><Relationship Id="rId10" Type="http://schemas.openxmlformats.org/officeDocument/2006/relationships/image" Target="../media/image350.png"/><Relationship Id="rId19" Type="http://schemas.openxmlformats.org/officeDocument/2006/relationships/image" Target="../media/image440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0.png"/><Relationship Id="rId18" Type="http://schemas.openxmlformats.org/officeDocument/2006/relationships/image" Target="../media/image50.png"/><Relationship Id="rId3" Type="http://schemas.openxmlformats.org/officeDocument/2006/relationships/image" Target="../media/image360.png"/><Relationship Id="rId21" Type="http://schemas.openxmlformats.org/officeDocument/2006/relationships/image" Target="../media/image53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9.png"/><Relationship Id="rId2" Type="http://schemas.openxmlformats.org/officeDocument/2006/relationships/image" Target="../media/image350.png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340.png"/><Relationship Id="rId15" Type="http://schemas.openxmlformats.org/officeDocument/2006/relationships/image" Target="../media/image47.png"/><Relationship Id="rId10" Type="http://schemas.openxmlformats.org/officeDocument/2006/relationships/image" Target="../media/image420.png"/><Relationship Id="rId19" Type="http://schemas.openxmlformats.org/officeDocument/2006/relationships/image" Target="../media/image51.png"/><Relationship Id="rId4" Type="http://schemas.openxmlformats.org/officeDocument/2006/relationships/image" Target="../media/image370.png"/><Relationship Id="rId9" Type="http://schemas.openxmlformats.org/officeDocument/2006/relationships/image" Target="../media/image410.png"/><Relationship Id="rId14" Type="http://schemas.openxmlformats.org/officeDocument/2006/relationships/image" Target="../media/image46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7.png"/><Relationship Id="rId5" Type="http://schemas.openxmlformats.org/officeDocument/2006/relationships/image" Target="../media/image63.png"/><Relationship Id="rId10" Type="http://schemas.openxmlformats.org/officeDocument/2006/relationships/image" Target="../media/image66.png"/><Relationship Id="rId4" Type="http://schemas.openxmlformats.org/officeDocument/2006/relationships/image" Target="../media/image62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0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0.png"/><Relationship Id="rId10" Type="http://schemas.openxmlformats.org/officeDocument/2006/relationships/image" Target="../media/image78.png"/><Relationship Id="rId4" Type="http://schemas.openxmlformats.org/officeDocument/2006/relationships/image" Target="../media/image720.png"/><Relationship Id="rId9" Type="http://schemas.openxmlformats.org/officeDocument/2006/relationships/image" Target="../media/image77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96.png"/><Relationship Id="rId3" Type="http://schemas.openxmlformats.org/officeDocument/2006/relationships/image" Target="../media/image800.png"/><Relationship Id="rId7" Type="http://schemas.openxmlformats.org/officeDocument/2006/relationships/image" Target="../media/image93.png"/><Relationship Id="rId12" Type="http://schemas.openxmlformats.org/officeDocument/2006/relationships/image" Target="../media/image95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11" Type="http://schemas.openxmlformats.org/officeDocument/2006/relationships/image" Target="../media/image94.png"/><Relationship Id="rId5" Type="http://schemas.openxmlformats.org/officeDocument/2006/relationships/image" Target="../media/image91.png"/><Relationship Id="rId15" Type="http://schemas.openxmlformats.org/officeDocument/2006/relationships/image" Target="../media/image98.png"/><Relationship Id="rId10" Type="http://schemas.openxmlformats.org/officeDocument/2006/relationships/image" Target="../media/image83.png"/><Relationship Id="rId4" Type="http://schemas.openxmlformats.org/officeDocument/2006/relationships/image" Target="../media/image90.png"/><Relationship Id="rId9" Type="http://schemas.openxmlformats.org/officeDocument/2006/relationships/image" Target="../media/image82.png"/><Relationship Id="rId14" Type="http://schemas.openxmlformats.org/officeDocument/2006/relationships/image" Target="../media/image9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9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0.png"/><Relationship Id="rId11" Type="http://schemas.openxmlformats.org/officeDocument/2006/relationships/image" Target="../media/image920.png"/><Relationship Id="rId5" Type="http://schemas.openxmlformats.org/officeDocument/2006/relationships/image" Target="../media/image870.png"/><Relationship Id="rId10" Type="http://schemas.openxmlformats.org/officeDocument/2006/relationships/image" Target="../media/image910.png"/><Relationship Id="rId4" Type="http://schemas.openxmlformats.org/officeDocument/2006/relationships/image" Target="../media/image730.png"/><Relationship Id="rId9" Type="http://schemas.openxmlformats.org/officeDocument/2006/relationships/image" Target="../media/image90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image" Target="../media/image940.png"/><Relationship Id="rId3" Type="http://schemas.openxmlformats.org/officeDocument/2006/relationships/image" Target="../media/image88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0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920.png"/><Relationship Id="rId4" Type="http://schemas.openxmlformats.org/officeDocument/2006/relationships/image" Target="../media/image910.png"/><Relationship Id="rId9" Type="http://schemas.openxmlformats.org/officeDocument/2006/relationships/image" Target="../media/image900.png"/><Relationship Id="rId14" Type="http://schemas.openxmlformats.org/officeDocument/2006/relationships/image" Target="../media/image950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900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8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960.png"/><Relationship Id="rId10" Type="http://schemas.openxmlformats.org/officeDocument/2006/relationships/image" Target="../media/image910.png"/><Relationship Id="rId4" Type="http://schemas.openxmlformats.org/officeDocument/2006/relationships/image" Target="../media/image890.png"/><Relationship Id="rId9" Type="http://schemas.openxmlformats.org/officeDocument/2006/relationships/image" Target="../media/image880.png"/><Relationship Id="rId14" Type="http://schemas.openxmlformats.org/officeDocument/2006/relationships/image" Target="../media/image920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0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0.png"/><Relationship Id="rId10" Type="http://schemas.openxmlformats.org/officeDocument/2006/relationships/image" Target="../media/image104.png"/><Relationship Id="rId4" Type="http://schemas.openxmlformats.org/officeDocument/2006/relationships/image" Target="../media/image980.png"/><Relationship Id="rId9" Type="http://schemas.openxmlformats.org/officeDocument/2006/relationships/image" Target="../media/image103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0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0.png"/><Relationship Id="rId10" Type="http://schemas.openxmlformats.org/officeDocument/2006/relationships/image" Target="../media/image104.png"/><Relationship Id="rId4" Type="http://schemas.openxmlformats.org/officeDocument/2006/relationships/image" Target="../media/image980.png"/><Relationship Id="rId9" Type="http://schemas.openxmlformats.org/officeDocument/2006/relationships/image" Target="../media/image10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=""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oculto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393637"/>
            <a:ext cx="466790" cy="46679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93818980-F547-0E5A-1FB3-02FC98C202F2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01A64FDC-EF69-BEDA-15E2-93E0F6665937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="" xmlns:a16="http://schemas.microsoft.com/office/drawing/2014/main" id="{186D7FAB-7118-5D20-2DBF-2FF3EAF87830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C07E56CD-571A-F75D-A1A7-7B928CD4CBCE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0DFE758E-AA0D-24E9-ACDD-5EB509378589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="" xmlns:a16="http://schemas.microsoft.com/office/drawing/2014/main" id="{536A747D-2D61-6719-5F86-0A8E352880D4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="" xmlns:a16="http://schemas.microsoft.com/office/drawing/2014/main" id="{2FE8CA7C-772F-3BB3-6BD7-E3F13B6038B0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Diamond 14">
                  <a:extLst>
                    <a:ext uri="{FF2B5EF4-FFF2-40B4-BE49-F238E27FC236}">
                      <a16:creationId xmlns="" xmlns:a16="http://schemas.microsoft.com/office/drawing/2014/main" id="{59379733-07D8-5D46-149B-54EB96CC6129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val 15">
                  <a:extLst>
                    <a:ext uri="{FF2B5EF4-FFF2-40B4-BE49-F238E27FC236}">
                      <a16:creationId xmlns="" xmlns:a16="http://schemas.microsoft.com/office/drawing/2014/main" id="{BA8FA2A5-55CF-3204-8044-DC2B8D19B59B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="" xmlns:a16="http://schemas.microsoft.com/office/drawing/2014/main" id="{D74BCD5F-A26B-5098-88E1-CB8911BEF0B7}"/>
                </a:ext>
              </a:extLst>
            </p:cNvPr>
            <p:cNvCxnSpPr>
              <a:stCxn id="14" idx="0"/>
              <a:endCxn id="9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="" xmlns:a16="http://schemas.microsoft.com/office/drawing/2014/main" id="{D4D61A13-9F5D-8BB8-1C60-28D90D0C40B3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="" xmlns:a16="http://schemas.microsoft.com/office/drawing/2014/main" id="{A6D5D1B1-5D0C-A928-E4A0-19B840DC8462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41AE4C5E-26C8-56CF-D359-49E2A105C2BC}"/>
                </a:ext>
              </a:extLst>
            </p:cNvPr>
            <p:cNvCxnSpPr>
              <a:stCxn id="13" idx="0"/>
              <a:endCxn id="8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="" xmlns:a16="http://schemas.microsoft.com/office/drawing/2014/main" id="{5C4D3998-08DD-3820-D170-02DFE501BF6A}"/>
                </a:ext>
              </a:extLst>
            </p:cNvPr>
            <p:cNvCxnSpPr>
              <a:stCxn id="15" idx="3"/>
              <a:endCxn id="1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7029FFC5-80B8-0F57-67F9-B90CD57A4845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ctor: Elbow 22">
              <a:extLst>
                <a:ext uri="{FF2B5EF4-FFF2-40B4-BE49-F238E27FC236}">
                  <a16:creationId xmlns="" xmlns:a16="http://schemas.microsoft.com/office/drawing/2014/main" id="{CD4A7C63-26B6-7B49-354D-6EA8E40614ED}"/>
                </a:ext>
              </a:extLst>
            </p:cNvPr>
            <p:cNvCxnSpPr>
              <a:cxnSpLocks/>
              <a:stCxn id="11" idx="2"/>
              <a:endCxn id="1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="" xmlns:a16="http://schemas.microsoft.com/office/drawing/2014/main" id="{3952B2F4-490F-BC90-DE7A-C07F43FC886C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="" xmlns:a16="http://schemas.microsoft.com/office/drawing/2014/main" id="{F1FC8C81-094A-585B-4F3A-F0DE5D997784}"/>
              </a:ext>
            </a:extLst>
          </p:cNvPr>
          <p:cNvGrpSpPr/>
          <p:nvPr/>
        </p:nvGrpSpPr>
        <p:grpSpPr>
          <a:xfrm>
            <a:off x="1372959" y="2169687"/>
            <a:ext cx="3830414" cy="3478284"/>
            <a:chOff x="654502" y="2093487"/>
            <a:chExt cx="3830414" cy="347828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="" xmlns:a16="http://schemas.microsoft.com/office/drawing/2014/main" id="{0310BD8F-0E7C-F10A-9C86-B2303040BE7D}"/>
                </a:ext>
              </a:extLst>
            </p:cNvPr>
            <p:cNvSpPr/>
            <p:nvPr/>
          </p:nvSpPr>
          <p:spPr>
            <a:xfrm>
              <a:off x="968829" y="2950029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="" xmlns:a16="http://schemas.microsoft.com/office/drawing/2014/main" id="{B7B0CC01-48A2-5CAE-7F49-62D52A2AF9AD}"/>
                </a:ext>
              </a:extLst>
            </p:cNvPr>
            <p:cNvSpPr/>
            <p:nvPr/>
          </p:nvSpPr>
          <p:spPr>
            <a:xfrm>
              <a:off x="2002971" y="4190999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="" xmlns:a16="http://schemas.microsoft.com/office/drawing/2014/main" id="{03DB30CA-971F-1223-BF82-5944AA83DAE8}"/>
                    </a:ext>
                  </a:extLst>
                </p:cNvPr>
                <p:cNvSpPr/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 l="-13889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nector: Elbow 31">
              <a:extLst>
                <a:ext uri="{FF2B5EF4-FFF2-40B4-BE49-F238E27FC236}">
                  <a16:creationId xmlns="" xmlns:a16="http://schemas.microsoft.com/office/drawing/2014/main" id="{88D081D5-3BD3-DB47-44D4-01356D923649}"/>
                </a:ext>
              </a:extLst>
            </p:cNvPr>
            <p:cNvCxnSpPr>
              <a:cxnSpLocks/>
              <a:stCxn id="28" idx="0"/>
              <a:endCxn id="25" idx="2"/>
            </p:cNvCxnSpPr>
            <p:nvPr/>
          </p:nvCxnSpPr>
          <p:spPr>
            <a:xfrm rot="5400000" flipH="1" flipV="1">
              <a:off x="1465137" y="4264479"/>
              <a:ext cx="589543" cy="1161042"/>
            </a:xfrm>
            <a:prstGeom prst="bentConnector3">
              <a:avLst>
                <a:gd name="adj1" fmla="val 703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="" xmlns:a16="http://schemas.microsoft.com/office/drawing/2014/main" id="{C5432765-70CB-E050-EE29-01A4C98D1B3F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5400000" flipH="1" flipV="1">
              <a:off x="2914652" y="2620736"/>
              <a:ext cx="996041" cy="214448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="" xmlns:a16="http://schemas.microsoft.com/office/drawing/2014/main" id="{C83DC4B7-2C13-1CCB-8C68-6B3BE9405B2B}"/>
                    </a:ext>
                  </a:extLst>
                </p:cNvPr>
                <p:cNvSpPr/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 l="-20833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="" xmlns:a16="http://schemas.microsoft.com/office/drawing/2014/main" id="{E36D1BA2-8986-9A38-5DBF-FC5C2135B588}"/>
                </a:ext>
              </a:extLst>
            </p:cNvPr>
            <p:cNvCxnSpPr>
              <a:endCxn id="37" idx="4"/>
            </p:cNvCxnSpPr>
            <p:nvPr/>
          </p:nvCxnSpPr>
          <p:spPr>
            <a:xfrm flipV="1">
              <a:off x="3822600" y="2525487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="" xmlns:a16="http://schemas.microsoft.com/office/drawing/2014/main" id="{64662ABC-6DDD-AA92-96BF-BCFBA039FB72}"/>
                </a:ext>
              </a:extLst>
            </p:cNvPr>
            <p:cNvCxnSpPr>
              <a:cxnSpLocks/>
            </p:cNvCxnSpPr>
            <p:nvPr/>
          </p:nvCxnSpPr>
          <p:spPr>
            <a:xfrm>
              <a:off x="654502" y="3184071"/>
              <a:ext cx="921744" cy="1552235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saturarem</a:t>
                </a:r>
                <a:r>
                  <a:rPr lang="en-US" dirty="0"/>
                  <a:t>, a </a:t>
                </a:r>
                <a:r>
                  <a:rPr lang="en-US" dirty="0" err="1"/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dirty="0" err="1"/>
                  <a:t>causar</a:t>
                </a:r>
                <a:r>
                  <a:rPr lang="en-US" dirty="0"/>
                  <a:t> </a:t>
                </a:r>
                <a:r>
                  <a:rPr lang="en-US" dirty="0" err="1"/>
                  <a:t>explosão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="" xmlns:a16="http://schemas.microsoft.com/office/drawing/2014/main" id="{24B21A8E-E596-0752-ABB3-DDE290A038F7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="" xmlns:a16="http://schemas.microsoft.com/office/drawing/2014/main" id="{48C80E92-14C9-01F0-8DC8-2E63A00BB223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39">
                  <a:extLst>
                    <a:ext uri="{FF2B5EF4-FFF2-40B4-BE49-F238E27FC236}">
                      <a16:creationId xmlns="" xmlns:a16="http://schemas.microsoft.com/office/drawing/2014/main" id="{8D681600-DE64-6E97-06BB-EDCA0D68B898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="" xmlns:a16="http://schemas.microsoft.com/office/drawing/2014/main" id="{9DCA2272-8C0C-B896-9826-E54FBA0FE64C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Oval 41">
                  <a:extLst>
                    <a:ext uri="{FF2B5EF4-FFF2-40B4-BE49-F238E27FC236}">
                      <a16:creationId xmlns="" xmlns:a16="http://schemas.microsoft.com/office/drawing/2014/main" id="{33BC30A3-21C6-CC65-3BE1-E00A8369C8D6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="" xmlns:a16="http://schemas.microsoft.com/office/drawing/2014/main" id="{6BADA7E3-1C7D-B324-5E45-068ED77CE8B2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="" xmlns:a16="http://schemas.microsoft.com/office/drawing/2014/main" id="{36597884-C966-E4A2-1EDB-3DAB2C2DF642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Diamond 44">
                  <a:extLst>
                    <a:ext uri="{FF2B5EF4-FFF2-40B4-BE49-F238E27FC236}">
                      <a16:creationId xmlns="" xmlns:a16="http://schemas.microsoft.com/office/drawing/2014/main" id="{44CD1704-9F4B-7614-C983-EC06D8823ADD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="" xmlns:a16="http://schemas.microsoft.com/office/drawing/2014/main" id="{B4687A43-B7BF-FC67-428F-19AAB9F01D26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F47C8075-E677-7E77-992F-CBAA22C9A20D}"/>
                </a:ext>
              </a:extLst>
            </p:cNvPr>
            <p:cNvCxnSpPr>
              <a:stCxn id="44" idx="0"/>
              <a:endCxn id="40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="" xmlns:a16="http://schemas.microsoft.com/office/drawing/2014/main" id="{79B07ABA-1F34-A866-F6AE-C6374482977A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A28FEB4E-C9B5-452A-41C9-8829FFF5252F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="" xmlns:a16="http://schemas.microsoft.com/office/drawing/2014/main" id="{DEA95CBE-A623-F33B-9C69-EB087DE22470}"/>
                </a:ext>
              </a:extLst>
            </p:cNvPr>
            <p:cNvCxnSpPr>
              <a:stCxn id="43" idx="0"/>
              <a:endCxn id="39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="" xmlns:a16="http://schemas.microsoft.com/office/drawing/2014/main" id="{D2F72A6A-C9B6-97A0-D67B-09F2B17B4D0C}"/>
                </a:ext>
              </a:extLst>
            </p:cNvPr>
            <p:cNvCxnSpPr>
              <a:stCxn id="45" idx="3"/>
              <a:endCxn id="4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="" xmlns:a16="http://schemas.microsoft.com/office/drawing/2014/main" id="{12AD9BC8-B6BB-BE6A-4257-F93675D1F7A1}"/>
                </a:ext>
              </a:extLst>
            </p:cNvPr>
            <p:cNvCxnSpPr>
              <a:stCxn id="4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="" xmlns:a16="http://schemas.microsoft.com/office/drawing/2014/main" id="{EB97BFAB-B73F-6C46-1F34-886A2489EA05}"/>
                </a:ext>
              </a:extLst>
            </p:cNvPr>
            <p:cNvCxnSpPr>
              <a:cxnSpLocks/>
              <a:stCxn id="41" idx="2"/>
              <a:endCxn id="4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C5B9F570-C6A4-8F71-2B37-1F5F88E5EDDA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−1]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 e o segundo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b="-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isso funciona? Porque cada estado carrega um pouco de informação de cada entrada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b="-3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−2]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B29E5B8-582B-19A9-B4A3-70C373402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Se cada termo &lt; 1 → produto → </a:t>
            </a:r>
            <a:r>
              <a:rPr lang="pt-BR" b="1" dirty="0"/>
              <a:t>vai para zero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</a:t>
            </a:r>
            <a:r>
              <a:rPr lang="pt-BR" b="1" dirty="0"/>
              <a:t>esquece o passado mais distante </a:t>
            </a:r>
            <a:r>
              <a:rPr lang="pt-BR" dirty="0"/>
              <a:t>(informação antiga se perde).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aprende </a:t>
            </a:r>
            <a:r>
              <a:rPr lang="pt-BR" b="1" dirty="0"/>
              <a:t>dependências de longo prazo, apenas curtas.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muito lento ou estagnado.</a:t>
            </a:r>
          </a:p>
          <a:p>
            <a:r>
              <a:rPr lang="pt-BR" dirty="0"/>
              <a:t>Se cada termo &gt; 1 → produto → </a:t>
            </a:r>
            <a:r>
              <a:rPr lang="pt-BR" b="1" dirty="0"/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não</a:t>
            </a:r>
            <a:r>
              <a:rPr lang="en-US" dirty="0"/>
              <a:t> converge.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Atualizações de peso enormes.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instável: erro vira </a:t>
            </a:r>
            <a:r>
              <a:rPr lang="pt-BR" dirty="0" err="1"/>
              <a:t>NaN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Sintoma típico: </a:t>
            </a:r>
            <a:r>
              <a:rPr lang="en-US" dirty="0" err="1"/>
              <a:t>oscilação</a:t>
            </a:r>
            <a:r>
              <a:rPr lang="en-US" dirty="0"/>
              <a:t> do </a:t>
            </a:r>
            <a:r>
              <a:rPr lang="en-US" dirty="0" err="1"/>
              <a:t>erro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3429000"/>
            <a:ext cx="4738255" cy="13255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pt-BR" sz="3200" dirty="0" err="1"/>
              <a:t>RNNs</a:t>
            </a:r>
            <a:r>
              <a:rPr lang="pt-BR" sz="3200" dirty="0"/>
              <a:t> simples não aprendem dependências longas</a:t>
            </a:r>
            <a:endParaRPr lang="en-US" sz="32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=""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Quando uma RNN processa uma sequência longa, ela gradualmente esquece as primeiras entradas da sequência.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F37B8F14-0842-D92A-805B-AF9783C1791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603" y="2200781"/>
            <a:ext cx="3818548" cy="32960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306782"/>
            <a:ext cx="716973" cy="11222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C111A3CC-9C99-E6FB-E930-1F4CA00560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160C21FF-66C9-53B5-BFCF-188EFAC10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618292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F5B44F65-E378-72E6-9E82-AB5132A737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933" y="3710248"/>
            <a:ext cx="8460335" cy="314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 totalmente conectadas, que interagem entre si de uma maneira especial.</a:t>
            </a:r>
          </a:p>
          <a:p>
            <a:r>
              <a:rPr lang="pt-BR" dirty="0"/>
              <a:t>Capturam padrões de longo e curto prazo de uma sequência de dados.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BC7FE8D5-45C3-C0F4-87DB-1AE7EB88B8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646" y="4095564"/>
            <a:ext cx="7424707" cy="276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de memória LSTM: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entra na célula sempre que sua porta de entrada está 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é descartada da célula sempre que sua porta de esquecimento está desligada.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pode ser lida da célula ligando sua porta de saída.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3A1F9A43-4D6C-BE90-B804-973CA6F52D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148305"/>
            <a:ext cx="5320197" cy="322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A informação pode fluir ao longo da célula de memória sem sofrer alterações.</a:t>
            </a:r>
          </a:p>
          <a:p>
            <a:r>
              <a:rPr lang="pt-BR" dirty="0"/>
              <a:t>A informação pode ser removida ou gravada na célula de memória, conforme regulado pelas portas.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0727905A-0A9F-1C05-9388-4BF9F6B4ED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672" y="2201051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7274" y="1825624"/>
            <a:ext cx="6354725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permitir opcionalmente a passagem de informações.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Uma camada densa com função de ativação sigmoide gera um número entre 0 e 1, decidindo quanto de cada elemento deve ser permitido passar.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Uma operação de multiplicação ponto a ponto aplica a decisão.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366CBEF4-2DBD-18DF-A9FB-5BE74A49873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86" y="5187067"/>
            <a:ext cx="1091750" cy="15829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CA9EB42-F6B4-A24F-AC2F-2C23E49755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44" y="1690688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pensar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estado de longo prazo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de curto prazo.</a:t>
                </a:r>
              </a:p>
              <a:p>
                <a:r>
                  <a:rPr lang="pt-BR" dirty="0"/>
                  <a:t>A célula modifica o estado apenas por meio de interações lineares: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informação na célula LSTM é protegida e controlada por meio de 3 portas.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  <a:blipFill>
                <a:blip r:embed="rId2"/>
                <a:stretch>
                  <a:fillRect l="-1682" t="-1937" r="-1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16CF6AB8-1619-4CC1-DEEE-C177B6C0F7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86" y="5187067"/>
            <a:ext cx="1091750" cy="15829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DD7ADA3D-5865-765B-496D-7585F44B789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44" y="1690688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  <a:blipFill>
                <a:blip r:embed="rId3"/>
                <a:stretch>
                  <a:fillRect l="-1800" t="-2663" r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3BC1773A-A795-2DDB-65F5-3E4494F17B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26" y="2358720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5D5E06B7-026A-E591-8B19-3F1AC18DAC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26" y="2344866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6CFE2064-3693-46C1-D7CB-71B01BCEC98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34" y="2337939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184A36DE-8349-8BBF-2D03-55B024955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52" y="2681361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0338C40E-CB7E-E4BB-FDBA-B493D89783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302" y="2398034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EAAED6D-E5DB-954B-B69B-4E181833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2DC5508-2238-D8B8-4C8F-9CA1D1587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6600" b="1" dirty="0">
                <a:solidFill>
                  <a:srgbClr val="FF0000"/>
                </a:solidFill>
              </a:rPr>
              <a:t>PAREI AQUI!!!!!!!!!!!!!</a:t>
            </a:r>
            <a:endParaRPr lang="en-US" sz="6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0603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1089038-AB05-41BB-2D39-80FBAB0804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61811" y="1825625"/>
                <a:ext cx="693019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LSTMs e </a:t>
                </a:r>
                <a:r>
                  <a:rPr lang="pt-BR" dirty="0" err="1"/>
                  <a:t>GRUs</a:t>
                </a:r>
                <a:r>
                  <a:rPr lang="pt-BR" dirty="0"/>
                  <a:t> minimizam o problema do desaparecimento do </a:t>
                </a:r>
                <a:r>
                  <a:rPr lang="pt-BR" dirty="0" smtClean="0"/>
                  <a:t>gradiente porque usam </a:t>
                </a:r>
                <a:r>
                  <a:rPr lang="pt-BR" dirty="0"/>
                  <a:t>soma (atalho), diferente </a:t>
                </a:r>
                <a:r>
                  <a:rPr lang="pt-BR" dirty="0" smtClean="0"/>
                  <a:t>das </a:t>
                </a:r>
                <a:r>
                  <a:rPr lang="pt-BR" dirty="0" err="1" smtClean="0"/>
                  <a:t>RNNs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b="1" dirty="0"/>
                  <a:t>RNN (multiplicativo</a:t>
                </a:r>
                <a:r>
                  <a:rPr lang="pt-BR" b="1" dirty="0" smtClean="0"/>
                  <a:t>)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pt-BR" b="0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 derivada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 smtClean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Produtos </a:t>
                </a:r>
                <a:r>
                  <a:rPr lang="pt-BR" dirty="0" smtClean="0"/>
                  <a:t>repetidos das derivadas fazem com que o gradiente tenda a zero.</a:t>
                </a:r>
              </a:p>
              <a:p>
                <a:r>
                  <a:rPr lang="pt-BR" dirty="0" smtClean="0"/>
                  <a:t>LSTM/GRU (aditivo)</a:t>
                </a:r>
                <a:endParaRPr lang="pt-BR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Derivada da soma </a:t>
                </a:r>
                <a:r>
                  <a:rPr lang="pt-BR" dirty="0"/>
                  <a:t>(</a:t>
                </a:r>
                <a:r>
                  <a:rPr lang="pt-BR" dirty="0" smtClean="0"/>
                  <a:t>atalho) preserva o gradiente.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Soma cria um caminho direto para o gradiente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1089038-AB05-41BB-2D39-80FBAB0804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61811" y="1825625"/>
                <a:ext cx="6930190" cy="5032376"/>
              </a:xfrm>
              <a:blipFill rotWithShape="0">
                <a:blip r:embed="rId2"/>
                <a:stretch>
                  <a:fillRect l="-1583" t="-1937" r="-1319" b="-8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1" name="Picture 90">
            <a:extLst>
              <a:ext uri="{FF2B5EF4-FFF2-40B4-BE49-F238E27FC236}">
                <a16:creationId xmlns="" xmlns:a16="http://schemas.microsoft.com/office/drawing/2014/main" id="{5AFC02B2-35F7-2C22-7D72-967BEF90230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84362"/>
            <a:ext cx="4028664" cy="2487907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="" xmlns:a16="http://schemas.microsoft.com/office/drawing/2014/main" id="{9D65C9E4-9ED6-99CA-99CE-5B033BC0986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7" y="4522576"/>
            <a:ext cx="4028665" cy="2185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340BD66-DB3E-984E-417F-F5F28D53F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1ABE789-EA21-23E5-1765-31493CE06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7D3F3D7-CCDC-ED77-D77F-87409BC72C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47907" y="1825625"/>
                <a:ext cx="6344094" cy="5032376"/>
              </a:xfrm>
            </p:spPr>
            <p:txBody>
              <a:bodyPr/>
              <a:lstStyle/>
              <a:p>
                <a:r>
                  <a:rPr lang="en-US" dirty="0"/>
                  <a:t>O </a:t>
                </a:r>
                <a:r>
                  <a:rPr lang="en-US" dirty="0" err="1"/>
                  <a:t>fluxo</a:t>
                </a:r>
                <a:r>
                  <a:rPr lang="en-US" dirty="0"/>
                  <a:t> principal do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é </a:t>
                </a:r>
                <a:r>
                  <a:rPr lang="en-US" dirty="0" err="1"/>
                  <a:t>quase</a:t>
                </a:r>
                <a:r>
                  <a:rPr lang="en-US" dirty="0"/>
                  <a:t> linear: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dirty="0"/>
                  <a:t>→</a:t>
                </a:r>
                <a:r>
                  <a:rPr lang="en-US" dirty="0"/>
                  <a:t> derivada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ar-AE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</a:t>
                </a:r>
                <a:r>
                  <a:rPr lang="en-US" dirty="0" err="1"/>
                  <a:t>passa</a:t>
                </a:r>
                <a:r>
                  <a:rPr lang="en-US" dirty="0"/>
                  <a:t> </a:t>
                </a:r>
                <a:r>
                  <a:rPr lang="en-US" dirty="0" err="1"/>
                  <a:t>praticamente</a:t>
                </a:r>
                <a:r>
                  <a:rPr lang="en-US" dirty="0"/>
                  <a:t> </a:t>
                </a:r>
                <a:r>
                  <a:rPr lang="en-US" dirty="0" err="1"/>
                  <a:t>intacto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sofre</a:t>
                </a:r>
                <a:r>
                  <a:rPr lang="en-US" dirty="0"/>
                  <a:t> </a:t>
                </a:r>
                <a:r>
                  <a:rPr lang="en-US" dirty="0" err="1"/>
                  <a:t>compressão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tanh </a:t>
                </a:r>
                <a:r>
                  <a:rPr lang="en-US" dirty="0" err="1"/>
                  <a:t>repetidamente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r>
                  <a:rPr lang="pt-BR" dirty="0"/>
                  <a:t>Isso evita que o gradiente encolha exponencialmente.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D3F3D7-CCDC-ED77-D77F-87409BC72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47907" y="1825625"/>
                <a:ext cx="6344094" cy="5032376"/>
              </a:xfrm>
              <a:blipFill>
                <a:blip r:embed="rId2"/>
                <a:stretch>
                  <a:fillRect l="-172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72FECBA0-FCA2-A501-744F-61B37A57DFE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84362"/>
            <a:ext cx="4028664" cy="24879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6F63DC76-F4C8-45C7-97A4-162F23998D2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7" y="4522576"/>
            <a:ext cx="4028665" cy="2185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864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400" b="1" dirty="0">
                <a:solidFill>
                  <a:srgbClr val="FF0000"/>
                </a:solidFill>
              </a:rPr>
              <a:t>LSTM funcionam como redes residuais. </a:t>
            </a:r>
          </a:p>
          <a:p>
            <a:r>
              <a:rPr lang="pt-BR" sz="4400" b="1" dirty="0">
                <a:solidFill>
                  <a:srgbClr val="FF0000"/>
                </a:solidFill>
              </a:rPr>
              <a:t>Mitigam o desaparecimento do gradiente pelo caminho de cima da célula.</a:t>
            </a:r>
          </a:p>
        </p:txBody>
      </p:sp>
    </p:spTree>
    <p:extLst>
      <p:ext uri="{BB962C8B-B14F-4D97-AF65-F5344CB8AC3E}">
        <p14:creationId xmlns:p14="http://schemas.microsoft.com/office/powerpoint/2010/main" val="38697164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EBB02C5-D493-4CC7-3754-1A41C308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C697E1BC-1A39-E40B-7547-5FF18055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04" y="1118865"/>
            <a:ext cx="9440592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025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=""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=""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=""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=""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=""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=""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=""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=""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=""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=""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=""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=""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=""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=""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=""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=""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=""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=""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=""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=""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=""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=""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=""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=""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=""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=""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=""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=""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=""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=""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=""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=""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=""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=""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=""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=""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=""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=""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=""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=""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=""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=""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=""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=""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=""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=""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=""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=""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=""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=""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=""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=""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=""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=""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=""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=""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=""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=""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=""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=""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=""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=""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=""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=""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=""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=""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=""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=""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=""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=""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=""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=""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=""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=""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=""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=""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=""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=""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=""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=""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=""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=""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=""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=""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=""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=""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=""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=""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=""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=""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=""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=""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=""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=""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=""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=""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=""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=""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=""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=""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=""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=""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=""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=""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=""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=""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=""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=""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=""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=""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=""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=""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=""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=""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=""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=""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=""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=""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=""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=""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=""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1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=""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=""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=""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=""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=""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=""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=""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=""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=""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571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=""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=""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=""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=""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=""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=""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=""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=""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=""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=""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=""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=""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=""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=""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=""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=""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=""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=""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=""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=""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=""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=""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=""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="" xmlns:a16="http://schemas.microsoft.com/office/drawing/2014/main" id="{F843DECB-C956-D955-D499-DD22189CE5D6}"/>
              </a:ext>
            </a:extLst>
          </p:cNvPr>
          <p:cNvSpPr/>
          <p:nvPr/>
        </p:nvSpPr>
        <p:spPr>
          <a:xfrm>
            <a:off x="948207" y="2169156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="" xmlns:a16="http://schemas.microsoft.com/office/drawing/2014/main" id="{7C21CDDD-60F4-254E-D0B1-DD9880058CAE}"/>
              </a:ext>
            </a:extLst>
          </p:cNvPr>
          <p:cNvSpPr/>
          <p:nvPr/>
        </p:nvSpPr>
        <p:spPr>
          <a:xfrm>
            <a:off x="1982349" y="3410126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="" xmlns:a16="http://schemas.microsoft.com/office/drawing/2014/main" id="{9EE18230-BCFC-D646-9600-19C5BBE32E49}"/>
                  </a:ext>
                </a:extLst>
              </p:cNvPr>
              <p:cNvSpPr/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="" xmlns:a16="http://schemas.microsoft.com/office/drawing/2014/main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1444515" y="3483606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="" xmlns:a16="http://schemas.microsoft.com/office/drawing/2014/main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894030" y="1839863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="" xmlns:a16="http://schemas.microsoft.com/office/drawing/2014/main" id="{F93040B1-005E-00D0-E6E7-AFB3E1CDFC40}"/>
                  </a:ext>
                </a:extLst>
              </p:cNvPr>
              <p:cNvSpPr/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="" xmlns:a16="http://schemas.microsoft.com/office/drawing/2014/main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3801978" y="1744614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="" xmlns:a16="http://schemas.microsoft.com/office/drawing/2014/main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633880" y="2403198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="" xmlns:a16="http://schemas.microsoft.com/office/drawing/2014/main" id="{6952C40A-6BC1-7D50-9FEA-BBFC70E1732F}"/>
                  </a:ext>
                </a:extLst>
              </p:cNvPr>
              <p:cNvSpPr txBox="1"/>
              <p:nvPr/>
            </p:nvSpPr>
            <p:spPr>
              <a:xfrm>
                <a:off x="11429537" y="3038594"/>
                <a:ext cx="6172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952C40A-6BC1-7D50-9FEA-BBFC70E17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537" y="3038594"/>
                <a:ext cx="61722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="" xmlns:a16="http://schemas.microsoft.com/office/drawing/2014/main" id="{AB75B05B-FED6-3FCA-7286-4D24883789A2}"/>
              </a:ext>
            </a:extLst>
          </p:cNvPr>
          <p:cNvGrpSpPr/>
          <p:nvPr/>
        </p:nvGrpSpPr>
        <p:grpSpPr>
          <a:xfrm>
            <a:off x="7045381" y="2909386"/>
            <a:ext cx="4498919" cy="2479740"/>
            <a:chOff x="7045381" y="2909386"/>
            <a:chExt cx="4498919" cy="2479740"/>
          </a:xfrm>
        </p:grpSpPr>
        <p:sp>
          <p:nvSpPr>
            <p:cNvPr id="2" name="Rectangle: Rounded Corners 1">
              <a:extLst>
                <a:ext uri="{FF2B5EF4-FFF2-40B4-BE49-F238E27FC236}">
                  <a16:creationId xmlns=""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=""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=""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=""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=""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=""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=""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=""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=""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=""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=""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=""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=""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=""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=""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=""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=""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=""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=""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=""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=""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=""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=""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=""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=""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=""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=""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=""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=""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=""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=""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6761" r="-42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=""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=""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0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=""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="" xmlns:a16="http://schemas.microsoft.com/office/drawing/2014/main" id="{9516E441-E135-8036-EB1A-48A9DF99CC9D}"/>
              </a:ext>
            </a:extLst>
          </p:cNvPr>
          <p:cNvGrpSpPr/>
          <p:nvPr/>
        </p:nvGrpSpPr>
        <p:grpSpPr>
          <a:xfrm>
            <a:off x="787522" y="2795317"/>
            <a:ext cx="1238994" cy="1644454"/>
            <a:chOff x="787522" y="2795317"/>
            <a:chExt cx="1238994" cy="1644454"/>
          </a:xfrm>
        </p:grpSpPr>
        <p:cxnSp>
          <p:nvCxnSpPr>
            <p:cNvPr id="42" name="Straight Connector 41">
              <a:extLst>
                <a:ext uri="{FF2B5EF4-FFF2-40B4-BE49-F238E27FC236}">
                  <a16:creationId xmlns=""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=""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=""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=""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=""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=""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=""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=""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=""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=""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=""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do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=""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=""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15642" cy="3158904"/>
            <a:chOff x="3387954" y="1841814"/>
            <a:chExt cx="5115642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61151" y="4036770"/>
              <a:ext cx="2645271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=""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=""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=""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=""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=""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=""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=""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=""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=""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=""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=""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=""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=""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=""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=""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=""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=""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=""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=""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=""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=""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=""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=""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=""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=""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=""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blipFill>
                  <a:blip r:embed="rId10"/>
                  <a:stretch>
                    <a:fillRect t="-4762"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=""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=""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=""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=""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=""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=""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=""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=""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=""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=""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=""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=""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=""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=""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=""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=""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=""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=""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=""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=""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=""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=""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=""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=""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=""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blipFill>
                  <a:blip r:embed="rId10"/>
                  <a:stretch>
                    <a:fillRect t="-4762"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=""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=""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=""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=""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=""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=""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9036</TotalTime>
  <Words>2303</Words>
  <Application>Microsoft Office PowerPoint</Application>
  <PresentationFormat>Widescreen</PresentationFormat>
  <Paragraphs>578</Paragraphs>
  <Slides>59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59</vt:i4>
      </vt:variant>
    </vt:vector>
  </HeadingPairs>
  <TitlesOfParts>
    <vt:vector size="6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Redes recorrentes</vt:lpstr>
      <vt:lpstr>Redes recorrentes</vt:lpstr>
      <vt:lpstr>Apresentação do PowerPoint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Desaparecimento e explosão do gradiente</vt:lpstr>
      <vt:lpstr>Apresentação do PowerPoint</vt:lpstr>
      <vt:lpstr>Como mitigar esses problemas?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A ideia central por trás das LSTMs: Estado da célula</vt:lpstr>
      <vt:lpstr>A ideia central por trás das LSTMs: estado da célula</vt:lpstr>
      <vt:lpstr>Estado da célula e portas</vt:lpstr>
      <vt:lpstr>Porta de esquecimento</vt:lpstr>
      <vt:lpstr>Porta de entrada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1821</cp:revision>
  <dcterms:created xsi:type="dcterms:W3CDTF">2020-01-20T13:50:05Z</dcterms:created>
  <dcterms:modified xsi:type="dcterms:W3CDTF">2026-03-27T01:46:12Z</dcterms:modified>
</cp:coreProperties>
</file>