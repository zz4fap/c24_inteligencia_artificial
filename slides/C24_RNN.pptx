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2"/>
  </p:notesMasterIdLst>
  <p:handoutMasterIdLst>
    <p:handoutMasterId r:id="rId73"/>
  </p:handoutMasterIdLst>
  <p:sldIdLst>
    <p:sldId id="256" r:id="rId2"/>
    <p:sldId id="315" r:id="rId3"/>
    <p:sldId id="308" r:id="rId4"/>
    <p:sldId id="316" r:id="rId5"/>
    <p:sldId id="325" r:id="rId6"/>
    <p:sldId id="317" r:id="rId7"/>
    <p:sldId id="326" r:id="rId8"/>
    <p:sldId id="328" r:id="rId9"/>
    <p:sldId id="329" r:id="rId10"/>
    <p:sldId id="334" r:id="rId11"/>
    <p:sldId id="332" r:id="rId12"/>
    <p:sldId id="333" r:id="rId13"/>
    <p:sldId id="336" r:id="rId14"/>
    <p:sldId id="331" r:id="rId15"/>
    <p:sldId id="338" r:id="rId16"/>
    <p:sldId id="341" r:id="rId17"/>
    <p:sldId id="342" r:id="rId18"/>
    <p:sldId id="343" r:id="rId19"/>
    <p:sldId id="361" r:id="rId20"/>
    <p:sldId id="344" r:id="rId21"/>
    <p:sldId id="345" r:id="rId22"/>
    <p:sldId id="601" r:id="rId23"/>
    <p:sldId id="346" r:id="rId24"/>
    <p:sldId id="347" r:id="rId25"/>
    <p:sldId id="349" r:id="rId26"/>
    <p:sldId id="351" r:id="rId27"/>
    <p:sldId id="352" r:id="rId28"/>
    <p:sldId id="355" r:id="rId29"/>
    <p:sldId id="372" r:id="rId30"/>
    <p:sldId id="374" r:id="rId31"/>
    <p:sldId id="376" r:id="rId32"/>
    <p:sldId id="356" r:id="rId33"/>
    <p:sldId id="358" r:id="rId34"/>
    <p:sldId id="362" r:id="rId35"/>
    <p:sldId id="591" r:id="rId36"/>
    <p:sldId id="365" r:id="rId37"/>
    <p:sldId id="366" r:id="rId38"/>
    <p:sldId id="367" r:id="rId39"/>
    <p:sldId id="368" r:id="rId40"/>
    <p:sldId id="371" r:id="rId41"/>
    <p:sldId id="603" r:id="rId42"/>
    <p:sldId id="381" r:id="rId43"/>
    <p:sldId id="377" r:id="rId44"/>
    <p:sldId id="594" r:id="rId45"/>
    <p:sldId id="595" r:id="rId46"/>
    <p:sldId id="596" r:id="rId47"/>
    <p:sldId id="597" r:id="rId48"/>
    <p:sldId id="598" r:id="rId49"/>
    <p:sldId id="599" r:id="rId50"/>
    <p:sldId id="600" r:id="rId51"/>
    <p:sldId id="588" r:id="rId52"/>
    <p:sldId id="589" r:id="rId53"/>
    <p:sldId id="293" r:id="rId54"/>
    <p:sldId id="306" r:id="rId55"/>
    <p:sldId id="335" r:id="rId56"/>
    <p:sldId id="590" r:id="rId57"/>
    <p:sldId id="330" r:id="rId58"/>
    <p:sldId id="340" r:id="rId59"/>
    <p:sldId id="348" r:id="rId60"/>
    <p:sldId id="350" r:id="rId61"/>
    <p:sldId id="353" r:id="rId62"/>
    <p:sldId id="354" r:id="rId63"/>
    <p:sldId id="373" r:id="rId64"/>
    <p:sldId id="357" r:id="rId65"/>
    <p:sldId id="359" r:id="rId66"/>
    <p:sldId id="592" r:id="rId67"/>
    <p:sldId id="363" r:id="rId68"/>
    <p:sldId id="364" r:id="rId69"/>
    <p:sldId id="369" r:id="rId70"/>
    <p:sldId id="370" r:id="rId71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81598" autoAdjust="0"/>
  </p:normalViewPr>
  <p:slideViewPr>
    <p:cSldViewPr snapToGrid="0">
      <p:cViewPr varScale="1">
        <p:scale>
          <a:sx n="60" d="100"/>
          <a:sy n="60" d="100"/>
        </p:scale>
        <p:origin x="1296" y="6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79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handoutMaster" Target="handoutMasters/handoutMaster1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29/03/2026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</a:p>
          <a:p>
            <a:r>
              <a:rPr lang="pt-BR" dirty="0"/>
              <a:t>[2]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smtClean="0"/>
              <a:t>Porque cada estado carrega um pouco de informação de cada entrada anterior.</a:t>
            </a:r>
          </a:p>
          <a:p>
            <a:endParaRPr lang="pt-BR" sz="1200" b="0" i="0" u="none" strike="noStrike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 smtClean="0"/>
          </a:p>
          <a:p>
            <a:endParaRPr lang="pt-BR" dirty="0" smtClean="0"/>
          </a:p>
          <a:p>
            <a:r>
              <a:rPr lang="pt-BR" dirty="0" smtClean="0"/>
              <a:t>Referências</a:t>
            </a:r>
            <a:endParaRPr lang="pt-BR" dirty="0"/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https://colab.research.google.com/github/zz4fap/c24_inteligencia_artificial/blob/master/notebooks/cnn.ipynb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4.png"/><Relationship Id="rId4" Type="http://schemas.openxmlformats.org/officeDocument/2006/relationships/image" Target="../media/image63.jpe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380.png"/><Relationship Id="rId18" Type="http://schemas.openxmlformats.org/officeDocument/2006/relationships/image" Target="../media/image430.png"/><Relationship Id="rId26" Type="http://schemas.openxmlformats.org/officeDocument/2006/relationships/image" Target="../media/image510.png"/><Relationship Id="rId3" Type="http://schemas.openxmlformats.org/officeDocument/2006/relationships/image" Target="../media/image280.png"/><Relationship Id="rId21" Type="http://schemas.openxmlformats.org/officeDocument/2006/relationships/image" Target="../media/image460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420.png"/><Relationship Id="rId25" Type="http://schemas.openxmlformats.org/officeDocument/2006/relationships/image" Target="../media/image500.png"/><Relationship Id="rId2" Type="http://schemas.openxmlformats.org/officeDocument/2006/relationships/image" Target="../media/image270.png"/><Relationship Id="rId16" Type="http://schemas.openxmlformats.org/officeDocument/2006/relationships/image" Target="../media/image410.png"/><Relationship Id="rId20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90.png"/><Relationship Id="rId5" Type="http://schemas.openxmlformats.org/officeDocument/2006/relationships/image" Target="../media/image300.png"/><Relationship Id="rId15" Type="http://schemas.openxmlformats.org/officeDocument/2006/relationships/image" Target="../media/image400.png"/><Relationship Id="rId23" Type="http://schemas.openxmlformats.org/officeDocument/2006/relationships/image" Target="../media/image480.png"/><Relationship Id="rId28" Type="http://schemas.openxmlformats.org/officeDocument/2006/relationships/image" Target="../media/image530.png"/><Relationship Id="rId10" Type="http://schemas.openxmlformats.org/officeDocument/2006/relationships/image" Target="../media/image350.png"/><Relationship Id="rId19" Type="http://schemas.openxmlformats.org/officeDocument/2006/relationships/image" Target="../media/image440.png"/><Relationship Id="rId4" Type="http://schemas.openxmlformats.org/officeDocument/2006/relationships/image" Target="../media/image290.png"/><Relationship Id="rId9" Type="http://schemas.openxmlformats.org/officeDocument/2006/relationships/image" Target="../media/image340.png"/><Relationship Id="rId14" Type="http://schemas.openxmlformats.org/officeDocument/2006/relationships/image" Target="../media/image390.png"/><Relationship Id="rId22" Type="http://schemas.openxmlformats.org/officeDocument/2006/relationships/image" Target="../media/image470.png"/><Relationship Id="rId27" Type="http://schemas.openxmlformats.org/officeDocument/2006/relationships/image" Target="../media/image520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450.png"/><Relationship Id="rId18" Type="http://schemas.openxmlformats.org/officeDocument/2006/relationships/image" Target="../media/image500.png"/><Relationship Id="rId3" Type="http://schemas.openxmlformats.org/officeDocument/2006/relationships/image" Target="../media/image360.png"/><Relationship Id="rId21" Type="http://schemas.openxmlformats.org/officeDocument/2006/relationships/image" Target="../media/image53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90.png"/><Relationship Id="rId2" Type="http://schemas.openxmlformats.org/officeDocument/2006/relationships/image" Target="../media/image350.png"/><Relationship Id="rId16" Type="http://schemas.openxmlformats.org/officeDocument/2006/relationships/image" Target="../media/image480.png"/><Relationship Id="rId20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340.png"/><Relationship Id="rId15" Type="http://schemas.openxmlformats.org/officeDocument/2006/relationships/image" Target="../media/image470.png"/><Relationship Id="rId10" Type="http://schemas.openxmlformats.org/officeDocument/2006/relationships/image" Target="../media/image420.png"/><Relationship Id="rId19" Type="http://schemas.openxmlformats.org/officeDocument/2006/relationships/image" Target="../media/image510.png"/><Relationship Id="rId4" Type="http://schemas.openxmlformats.org/officeDocument/2006/relationships/image" Target="../media/image370.png"/><Relationship Id="rId9" Type="http://schemas.openxmlformats.org/officeDocument/2006/relationships/image" Target="../media/image410.png"/><Relationship Id="rId14" Type="http://schemas.openxmlformats.org/officeDocument/2006/relationships/image" Target="../media/image460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12" Type="http://schemas.openxmlformats.org/officeDocument/2006/relationships/image" Target="../media/image87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86.png"/><Relationship Id="rId5" Type="http://schemas.openxmlformats.org/officeDocument/2006/relationships/image" Target="../media/image83.png"/><Relationship Id="rId10" Type="http://schemas.openxmlformats.org/officeDocument/2006/relationships/image" Target="../media/image81.png"/><Relationship Id="rId4" Type="http://schemas.openxmlformats.org/officeDocument/2006/relationships/image" Target="../media/image82.png"/><Relationship Id="rId9" Type="http://schemas.openxmlformats.org/officeDocument/2006/relationships/image" Target="../media/image85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0.png"/><Relationship Id="rId2" Type="http://schemas.openxmlformats.org/officeDocument/2006/relationships/image" Target="../media/image6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11" Type="http://schemas.openxmlformats.org/officeDocument/2006/relationships/image" Target="../media/image95.png"/><Relationship Id="rId5" Type="http://schemas.openxmlformats.org/officeDocument/2006/relationships/image" Target="../media/image730.png"/><Relationship Id="rId10" Type="http://schemas.openxmlformats.org/officeDocument/2006/relationships/image" Target="../media/image94.png"/><Relationship Id="rId4" Type="http://schemas.openxmlformats.org/officeDocument/2006/relationships/image" Target="../media/image720.png"/><Relationship Id="rId9" Type="http://schemas.openxmlformats.org/officeDocument/2006/relationships/image" Target="../media/image93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81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1.png"/><Relationship Id="rId5" Type="http://schemas.openxmlformats.org/officeDocument/2006/relationships/image" Target="../media/image830.png"/><Relationship Id="rId10" Type="http://schemas.openxmlformats.org/officeDocument/2006/relationships/image" Target="../media/image100.png"/><Relationship Id="rId4" Type="http://schemas.openxmlformats.org/officeDocument/2006/relationships/image" Target="../media/image820.png"/><Relationship Id="rId9" Type="http://schemas.openxmlformats.org/officeDocument/2006/relationships/image" Target="../media/image99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29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9.png"/><Relationship Id="rId3" Type="http://schemas.openxmlformats.org/officeDocument/2006/relationships/image" Target="../media/image103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são </a:t>
            </a:r>
            <a:r>
              <a:rPr lang="pt-BR" altLang="pt-BR" b="1" dirty="0"/>
              <a:t>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modelar </a:t>
            </a:r>
            <a:r>
              <a:rPr lang="pt-BR" altLang="pt-BR" b="1" dirty="0"/>
              <a:t>dependências temporais</a:t>
            </a:r>
            <a:r>
              <a:rPr lang="pt-BR" altLang="pt-BR" dirty="0"/>
              <a:t>!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b="1" dirty="0"/>
              <a:t>Existe correlação temporal entre as amostras.</a:t>
            </a:r>
            <a:endParaRPr lang="pt-BR" altLang="pt-BR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(clima, ações, vendas, etc.)</a:t>
            </a:r>
          </a:p>
          <a:p>
            <a:r>
              <a:rPr lang="pt-BR" dirty="0"/>
              <a:t>Tradução automática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Legenda de imagens e vídeos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/>
          </a:bodyPr>
          <a:lstStyle/>
          <a:p>
            <a:r>
              <a:rPr lang="pt-BR" dirty="0"/>
              <a:t>MLP: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armazenam informações de estados anteriores 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entrada é tratada de forma independente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capturam dependências temporais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depende apenas da entrada atual</a:t>
            </a:r>
          </a:p>
          <a:p>
            <a:r>
              <a:rPr lang="pt-BR" dirty="0"/>
              <a:t>CNN: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 as limitações das </a:t>
            </a:r>
            <a:r>
              <a:rPr lang="pt-BR" dirty="0" err="1"/>
              <a:t>MLPs</a:t>
            </a:r>
            <a:r>
              <a:rPr lang="pt-BR" dirty="0"/>
              <a:t>, com uma exceção: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Modela relações espaciais.</a:t>
            </a:r>
          </a:p>
          <a:p>
            <a:r>
              <a:rPr lang="pt-BR" dirty="0"/>
              <a:t>Ambas famílias exigem que o vetor de entrada tenha um tamanho predefinido e constante.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3954" y="3142796"/>
            <a:ext cx="3962400" cy="97200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Redes neurais recorrentes têm memória!</a:t>
            </a:r>
            <a:endParaRPr lang="en-US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:a16="http://schemas.microsoft.com/office/drawing/2014/main" xmlns="" id="{B99978AC-6F74-4307-94F5-3BAC8F4A5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Possuem laços de realimentação.</a:t>
            </a:r>
          </a:p>
          <a:p>
            <a:r>
              <a:rPr lang="pt-BR" dirty="0"/>
              <a:t>Mantém um estado interno (memória) que armazena informações observadas até o momento.</a:t>
            </a:r>
          </a:p>
          <a:p>
            <a:r>
              <a:rPr lang="pt-BR" dirty="0"/>
              <a:t>A saída da rede depende da entrada atual e do valor do estado interno anterior.</a:t>
            </a:r>
          </a:p>
          <a:p>
            <a:r>
              <a:rPr lang="pt-BR" dirty="0"/>
              <a:t>O estado interno mantém uma memória (que desaparece) sobre o histórico de todas as entradas passadas.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/>
          <a:lstStyle/>
          <a:p>
            <a:r>
              <a:rPr lang="pt-BR" dirty="0"/>
              <a:t>Uma RNN utiliza informações sequenciais, modelando as dependências temporais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prever a próxima palavra em uma frase, precisamos saber quais palavras vieram antes dela.</a:t>
            </a:r>
          </a:p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mapeiam todo o histórico de entradas anteriores para cada saída.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:a16="http://schemas.microsoft.com/office/drawing/2014/main" xmlns="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Componentes de uma RNN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6FF8CB8C-0F2B-7C4F-63CA-34C693F26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(</a:t>
                </a:r>
                <a:r>
                  <a:rPr lang="en-US" dirty="0" err="1"/>
                  <a:t>memória</a:t>
                </a:r>
                <a:r>
                  <a:rPr lang="en-US" dirty="0"/>
                  <a:t> da rede)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:r>
                  <a:rPr lang="en-US" dirty="0"/>
                  <a:t>       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  <a:blipFill>
                <a:blip r:embed="rId3"/>
                <a:stretch>
                  <a:fillRect l="-163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377ED572-EE63-9E0B-64E3-7DF577A4C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2605" y="5925270"/>
            <a:ext cx="466790" cy="4667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86FDD9EF-C288-8B21-44EF-F150DD4A022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6673" y="1825624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xmlns="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371" y="1825625"/>
            <a:ext cx="5168993" cy="4351338"/>
          </a:xfrm>
        </p:spPr>
        <p:txBody>
          <a:bodyPr/>
          <a:lstStyle/>
          <a:p>
            <a:r>
              <a:rPr lang="pt-BR" dirty="0"/>
              <a:t>Representação simplificada do neurônio.</a:t>
            </a:r>
          </a:p>
          <a:p>
            <a:r>
              <a:rPr lang="pt-BR" dirty="0"/>
              <a:t>Bastante utilizada na literatura.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296112B2-05B8-3CF7-45B0-CD1096C74C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784" y="2759914"/>
            <a:ext cx="4577586" cy="2482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Equações de atualização do estado e de saída do neurônio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pesos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todos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intervalos</a:t>
                </a:r>
                <a:r>
                  <a:rPr lang="en-US" dirty="0"/>
                  <a:t> de tempo.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dirty="0" err="1"/>
                  <a:t>tangente</a:t>
                </a:r>
                <a:r>
                  <a:rPr lang="en-US" dirty="0"/>
                  <a:t> </a:t>
                </a:r>
                <a:r>
                  <a:rPr lang="en-US" dirty="0" err="1"/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en-US" dirty="0" err="1"/>
                  <a:t>não</a:t>
                </a:r>
                <a:r>
                  <a:rPr lang="en-US" dirty="0"/>
                  <a:t> </a:t>
                </a:r>
                <a:r>
                  <a:rPr lang="en-US" dirty="0" err="1"/>
                  <a:t>saturarem</a:t>
                </a:r>
                <a:r>
                  <a:rPr lang="en-US" dirty="0"/>
                  <a:t>, a </a:t>
                </a:r>
                <a:r>
                  <a:rPr lang="en-US" dirty="0" err="1"/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dirty="0" err="1"/>
                  <a:t>causar</a:t>
                </a:r>
                <a:r>
                  <a:rPr lang="en-US" dirty="0"/>
                  <a:t> </a:t>
                </a:r>
                <a:r>
                  <a:rPr lang="en-US" dirty="0" err="1"/>
                  <a:t>explosão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>
                <a:blip r:embed="rId3"/>
                <a:stretch>
                  <a:fillRect l="-1532" t="-1937" r="-10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E28D20D5-C438-1DA8-08BD-C91255661E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690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podem ser vistas como múltiplas cópias da mesma rede, cada uma passando uma mensagem para a sua sucessora.</a:t>
            </a:r>
          </a:p>
          <a:p>
            <a:r>
              <a:rPr lang="pt-BR" dirty="0"/>
              <a:t>É como se tivéssemos uma rede com várias camadas.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21DBF9CD-22BC-BF23-C3DB-8A0935A933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71BBBBA-8C71-1CFD-F648-D5836DBC9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 mesma função e o mesmo conjunto de pesos são usados ​​em cada passo de tempo.</a:t>
            </a:r>
          </a:p>
          <a:p>
            <a:r>
              <a:rPr lang="pt-BR" dirty="0"/>
              <a:t>São chamadas recorrentes porque executam a mesma tarefa para cada entrada.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8315E294-5B43-04E7-8028-22C59DA3BF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gradiente descendente.</a:t>
            </a:r>
          </a:p>
          <a:p>
            <a:r>
              <a:rPr lang="pt-BR" dirty="0"/>
              <a:t>Uma função de erro (EQM, EQ, etc.) é avaliada com base no erro cometido pela rede no conjunto de treinamento.</a:t>
            </a:r>
          </a:p>
          <a:p>
            <a:r>
              <a:rPr lang="pt-BR" dirty="0"/>
              <a:t>A derivada da função de perda, em relação aos parâmetros do modelo, é retropropagada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primeiro a desdobramos e depois aplicamos a retropropagação do erro tradicional.</a:t>
            </a:r>
          </a:p>
          <a:p>
            <a:r>
              <a:rPr lang="pt-BR" dirty="0"/>
              <a:t>Cada réplica da rede é relativa a um intervalo de tempo diferente.</a:t>
            </a:r>
          </a:p>
          <a:p>
            <a:r>
              <a:rPr lang="pt-BR" dirty="0"/>
              <a:t>A arquitetura da rede pode se tornar muito profunda.</a:t>
            </a:r>
          </a:p>
          <a:p>
            <a:r>
              <a:rPr lang="pt-BR" dirty="0"/>
              <a:t>Os pesos são mantidos constantes em cada intervalo de tempo.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E0D16130-635A-563B-0B23-54F9982484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diferença entre a saída e o valor desejado é avaliada por uma função de erro ao longo de todos os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passos de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para </a:t>
                </a:r>
                <a:r>
                  <a:rPr lang="en-US" dirty="0" err="1"/>
                  <a:t>encontrar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O primeiro, o segundo e o quarto fatores do produto são fáceis de calcular. O terceiro é onde as coisas ficam complicadas, já que precisamos calcular recursivamente o efeito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sz="24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pt-BR" dirty="0"/>
                  <a:t>Somamos as contribuições de cada passo de tempo para obter o gradiente.</a:t>
                </a:r>
              </a:p>
              <a:p>
                <a:r>
                  <a:rPr lang="pt-BR" dirty="0"/>
                  <a:t>Com uma sequência muito longa, temos uma profundidade intratável, o que torna o treinamento muito lento.</a:t>
                </a:r>
              </a:p>
              <a:p>
                <a:r>
                  <a:rPr lang="pt-BR" dirty="0"/>
                  <a:t>O que se faz na prática é repetir o procedimento apenas até um determinado instante de tempo,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BPPT truncado.</a:t>
                </a:r>
              </a:p>
              <a:p>
                <a:r>
                  <a:rPr lang="pt-BR" dirty="0"/>
                  <a:t>Por que ele funciona?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A </a:t>
                </a:r>
                <a:r>
                  <a:rPr lang="pt-BR" dirty="0"/>
                  <a:t>memória acumulada no estado oculto atual é suficiente para representar o passado distante, evitando a necessidade </a:t>
                </a:r>
                <a:r>
                  <a:rPr lang="pt-BR" dirty="0" smtClean="0"/>
                  <a:t>de </a:t>
                </a:r>
                <a:r>
                  <a:rPr lang="pt-BR" dirty="0"/>
                  <a:t>voltar até o primeiro passo da sequência para calcular o gradiente.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+1]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/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dirty="0" err="1"/>
                  <a:t>produtório</a:t>
                </a:r>
                <a:r>
                  <a:rPr lang="pt-BR" dirty="0"/>
                  <a:t> pode causar o desaparecimento ou a explosão do gradiente.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3429000"/>
            <a:ext cx="4738255" cy="1325563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pt-BR" sz="3200" dirty="0" err="1"/>
              <a:t>RNNs</a:t>
            </a:r>
            <a:r>
              <a:rPr lang="pt-BR" sz="3200" dirty="0"/>
              <a:t> simples não aprendem dependências longas</a:t>
            </a:r>
            <a:endParaRPr lang="en-US" sz="32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:a16="http://schemas.microsoft.com/office/drawing/2014/main" xmlns="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/>
                  <a:t>esquece o passado mais distante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muito lento ou estagnado.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Modelo </a:t>
                </a:r>
                <a:r>
                  <a:rPr lang="en-US" dirty="0" err="1"/>
                  <a:t>não</a:t>
                </a:r>
                <a:r>
                  <a:rPr lang="en-US" dirty="0"/>
                  <a:t> converge.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instável: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dirty="0" err="1"/>
                  <a:t>oscilação</a:t>
                </a:r>
                <a:r>
                  <a:rPr lang="en-US" dirty="0"/>
                  <a:t> do </a:t>
                </a:r>
                <a:r>
                  <a:rPr lang="en-US" dirty="0" err="1"/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conceito de </a:t>
                </a:r>
                <a:r>
                  <a:rPr lang="pt-BR" sz="2100" i="1" dirty="0" err="1"/>
                  <a:t>gates</a:t>
                </a:r>
                <a:r>
                  <a:rPr lang="pt-BR" sz="2100" dirty="0"/>
                  <a:t>, funcionando como válvulas </a:t>
                </a:r>
                <a:r>
                  <a:rPr lang="en-US" sz="2100" dirty="0"/>
                  <a:t>de </a:t>
                </a:r>
                <a:r>
                  <a:rPr lang="en-US" sz="2100" dirty="0" err="1"/>
                  <a:t>informação</a:t>
                </a:r>
                <a:r>
                  <a:rPr lang="en-US" sz="2100" dirty="0"/>
                  <a:t> e </a:t>
                </a:r>
                <a:r>
                  <a:rPr lang="en-US" sz="2100" dirty="0" err="1"/>
                  <a:t>gradiente</a:t>
                </a:r>
                <a:endParaRPr lang="pt-BR" sz="2100" dirty="0"/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Mantêm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Conexões residuais: criam caminhos diretos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Por que não usar funções de ativação </a:t>
            </a:r>
            <a:r>
              <a:rPr lang="pt-BR" dirty="0" err="1" smtClean="0"/>
              <a:t>ReLU</a:t>
            </a:r>
            <a:r>
              <a:rPr lang="pt-BR" dirty="0" smtClean="0"/>
              <a:t>?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29210" cy="5032375"/>
              </a:xfrm>
            </p:spPr>
            <p:txBody>
              <a:bodyPr/>
              <a:lstStyle/>
              <a:p>
                <a:r>
                  <a:rPr lang="pt-BR" dirty="0" smtClean="0"/>
                  <a:t>RNNs reaplicam </a:t>
                </a:r>
                <a:r>
                  <a:rPr lang="pt-BR" dirty="0"/>
                  <a:t>a mesma matriz de pesos e a mesma função de ativação repetidamente em cada passo, </a:t>
                </a:r>
                <a:endParaRPr lang="pt-BR" dirty="0" smtClean="0"/>
              </a:p>
              <a:p>
                <a:r>
                  <a:rPr lang="pt-BR" dirty="0" smtClean="0"/>
                  <a:t>Valores </a:t>
                </a:r>
                <a:r>
                  <a:rPr lang="pt-BR" dirty="0"/>
                  <a:t>maiores que 1 </a:t>
                </a:r>
                <a:r>
                  <a:rPr lang="pt-BR" dirty="0" smtClean="0"/>
                  <a:t>na entrada de uma </a:t>
                </a:r>
                <a:r>
                  <a:rPr lang="pt-BR" dirty="0"/>
                  <a:t>função não saturada como a </a:t>
                </a:r>
                <a:r>
                  <a:rPr lang="pt-BR" dirty="0" err="1"/>
                  <a:t>ReLU</a:t>
                </a:r>
                <a:r>
                  <a:rPr lang="pt-BR" dirty="0"/>
                  <a:t> </a:t>
                </a:r>
                <a:r>
                  <a:rPr lang="pt-BR" dirty="0" smtClean="0"/>
                  <a:t>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,0</m:t>
                    </m:r>
                  </m:oMath>
                </a14:m>
                <a:r>
                  <a:rPr lang="pt-BR" dirty="0" smtClean="0"/>
                  <a:t>) podem </a:t>
                </a:r>
                <a:r>
                  <a:rPr lang="pt-BR" dirty="0"/>
                  <a:t>causar um crescimento exponencial (explosão) dos valores do estado oculto, tornando o treinamento instável</a:t>
                </a:r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Os estados podem crescer </a:t>
                </a:r>
                <a:r>
                  <a:rPr lang="pt-BR" dirty="0"/>
                  <a:t>sem limite, </a:t>
                </a:r>
                <a:r>
                  <a:rPr lang="pt-BR" dirty="0" smtClean="0"/>
                  <a:t>causando dinâmica </a:t>
                </a:r>
                <a:r>
                  <a:rPr lang="pt-BR" dirty="0"/>
                  <a:t>instável no </a:t>
                </a:r>
                <a:r>
                  <a:rPr lang="pt-BR" dirty="0" smtClean="0"/>
                  <a:t>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Em </a:t>
                </a:r>
                <a:r>
                  <a:rPr lang="pt-BR" dirty="0"/>
                  <a:t>sistemas dinâmicos (como RNN), isso é </a:t>
                </a:r>
                <a:r>
                  <a:rPr lang="pt-BR" dirty="0" smtClean="0"/>
                  <a:t>ruim, pois causa oscilações ou divergência.</a:t>
                </a:r>
              </a:p>
              <a:p>
                <a:r>
                  <a:rPr lang="pt-BR" dirty="0" smtClean="0"/>
                  <a:t>Além disso, valores negativos em sua entrada geram saídas e derivadas iguais a 0, fazendo com que o fluxo de aprendizado morra.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29210" cy="5032375"/>
              </a:xfrm>
              <a:blipFill rotWithShape="0">
                <a:blip r:embed="rId2"/>
                <a:stretch>
                  <a:fillRect l="-986" t="-1937" r="-1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desaparecimento do gradiente, as </a:t>
            </a:r>
            <a:r>
              <a:rPr lang="pt-BR" dirty="0" err="1"/>
              <a:t>RNNs</a:t>
            </a:r>
            <a:r>
              <a:rPr lang="pt-BR" dirty="0"/>
              <a:t> tradicionais (baunilha) são incapazes de aprender dependências de longo prazo.</a:t>
            </a:r>
          </a:p>
          <a:p>
            <a:r>
              <a:rPr lang="pt-BR" dirty="0"/>
              <a:t>Quando uma RNN processa uma sequência longa, ela gradualmente esquece as primeiras entradas da sequência.</a:t>
            </a:r>
          </a:p>
          <a:p>
            <a:r>
              <a:rPr lang="pt-BR" dirty="0"/>
              <a:t>Algumas aplicações exigem dependências tanto de curto quanto de longo prazo.</a:t>
            </a:r>
          </a:p>
          <a:p>
            <a:r>
              <a:rPr lang="pt-BR" b="1" dirty="0"/>
              <a:t>Exemplo</a:t>
            </a:r>
            <a:r>
              <a:rPr lang="pt-BR" dirty="0"/>
              <a:t>: Processamento de Linguagem Natural (PLN).</a:t>
            </a:r>
          </a:p>
          <a:p>
            <a:r>
              <a:rPr lang="pt-BR" dirty="0"/>
              <a:t>Em alguns casos, dependências de curto prazo são suficientes para fazer previsões.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ao lado RNN para fazer uma previsão de um passo à frente.</a:t>
            </a:r>
          </a:p>
          <a:p>
            <a:r>
              <a:rPr lang="pt-BR" dirty="0"/>
              <a:t>Para prever a palavra “azul", basta olhar apenas dois passos para trás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essa tarefa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Vamos nos ater à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prever a palavra "italiano", temos que olhar vários passos para trás no tempo,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xmlns="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baunilha não seria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diversos problemas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, elas precisam ser desdobradas no tempo para serem treinadas.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xmlns="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2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3B7EA0D5-79A9-4147-4235-29A2A75B93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2081" y="3804862"/>
            <a:ext cx="8206040" cy="305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unidade de processamento da LSTM é mais complexa e é chamada de célula.</a:t>
            </a:r>
          </a:p>
          <a:p>
            <a:r>
              <a:rPr lang="pt-BR" dirty="0"/>
              <a:t>Uma célula LSTM é composta por 4 camadas totalmente conectadas, que interagem entre si de uma maneira especial.</a:t>
            </a:r>
          </a:p>
          <a:p>
            <a:r>
              <a:rPr lang="pt-BR" dirty="0"/>
              <a:t>Capturam padrões de longo e curto prazo de uma sequência de dados.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57FE238D-F070-FB97-ACEC-0EF800831D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721" y="4117943"/>
            <a:ext cx="7364558" cy="274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8028" y="1825624"/>
            <a:ext cx="617397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de memória LSTM: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entra na célula sempre que sua porta de entrada está ligada.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é descartada da célula sempre que sua porta de esquecimento está desligada.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pode ser lida da célula ligando sua porta de saída.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E0180B18-707C-9189-F385-D0DD1450619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8028" y="1825624"/>
            <a:ext cx="6173971" cy="5032375"/>
          </a:xfrm>
        </p:spPr>
        <p:txBody>
          <a:bodyPr>
            <a:normAutofit/>
          </a:bodyPr>
          <a:lstStyle/>
          <a:p>
            <a:r>
              <a:rPr lang="pt-BR" dirty="0"/>
              <a:t>A informação pode fluir ao longo da célula de memória sem sofrer alterações.</a:t>
            </a:r>
          </a:p>
          <a:p>
            <a:r>
              <a:rPr lang="pt-BR" dirty="0"/>
              <a:t>A informação pode ser removida ou gravada na célula de memória, conforme regulado pelas portas.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630" y="2270752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CA3812A4-BB08-CF51-52EF-8F212B136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703" y="1825624"/>
                <a:ext cx="678129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 portas são uma forma de permitir opcionalmente a passagem de informações.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Uma camada densa com função de ativação sigmoide gera um número entre 0 e 1, decidindo quanto de cada elemento deve ser permitido passar.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Uma operação de multiplicação ponto a ponto aplica a decisão.</a:t>
                </a:r>
              </a:p>
              <a:p>
                <a:r>
                  <a:rPr lang="pt-BR" dirty="0"/>
                  <a:t>Os valores no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variam de 0 a 1.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0 significa “fechado” e 1 significa “aberto”.</a:t>
                </a:r>
              </a:p>
              <a:p>
                <a:r>
                  <a:rPr lang="pt-BR" dirty="0"/>
                  <a:t>“Filtra” a informação multiplicando o vetor de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pelo vetor de porta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elemento a elemento.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812A4-BB08-CF51-52EF-8F212B136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703" y="1825624"/>
                <a:ext cx="6781297" cy="5032375"/>
              </a:xfrm>
              <a:blipFill>
                <a:blip r:embed="rId3"/>
                <a:stretch>
                  <a:fillRect l="-1619" t="-2663" r="-1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xmlns="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10488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:a16="http://schemas.microsoft.com/office/drawing/2014/main" xmlns="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xmlns="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79572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xmlns="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:a16="http://schemas.microsoft.com/office/drawing/2014/main" xmlns="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xmlns="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xmlns="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xmlns="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xmlns="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 da célula e portas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153" y="1825624"/>
                <a:ext cx="65248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estado de uma célula no instante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Podemos pensar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estado de longo prazo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de curto prazo.</a:t>
                </a:r>
              </a:p>
              <a:p>
                <a:r>
                  <a:rPr lang="pt-BR" dirty="0"/>
                  <a:t>A célula modifica o estado apenas por meio de </a:t>
                </a:r>
                <a:r>
                  <a:rPr lang="pt-BR" b="1" dirty="0"/>
                  <a:t>interações lineares*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informação na célula LSTM é protegida e controlada por meio de 3 portas.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153" y="1825624"/>
                <a:ext cx="6524848" cy="5032375"/>
              </a:xfrm>
              <a:blipFill>
                <a:blip r:embed="rId2"/>
                <a:stretch>
                  <a:fillRect l="-1682" t="-1937" r="-1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E227967A-2652-CF1C-F0CA-9E5085FEE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630" y="2270752"/>
            <a:ext cx="5131773" cy="31588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2F85A674-3EBE-C361-A66C-681B77D8C532}"/>
              </a:ext>
            </a:extLst>
          </p:cNvPr>
          <p:cNvSpPr txBox="1"/>
          <p:nvPr/>
        </p:nvSpPr>
        <p:spPr>
          <a:xfrm>
            <a:off x="0" y="6550222"/>
            <a:ext cx="11374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 importante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1825624"/>
                <a:ext cx="60960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1825624"/>
                <a:ext cx="6096001" cy="5032375"/>
              </a:xfrm>
              <a:blipFill>
                <a:blip r:embed="rId3"/>
                <a:stretch>
                  <a:fillRect l="-1800" t="-2663" r="-1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80F4CF14-BBA4-1BD4-51A4-699EE410225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528" y="2228222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xmlns="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entarda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843" y="2170398"/>
            <a:ext cx="11598442" cy="27064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 smtClean="0"/>
              <a:t>Como </a:t>
            </a:r>
            <a:r>
              <a:rPr lang="pt-BR" sz="6000" dirty="0" err="1" smtClean="0"/>
              <a:t>LSTMs</a:t>
            </a:r>
            <a:r>
              <a:rPr lang="pt-BR" sz="6000" dirty="0" smtClean="0"/>
              <a:t> e </a:t>
            </a:r>
            <a:r>
              <a:rPr lang="pt-BR" sz="6000" dirty="0" err="1" smtClean="0"/>
              <a:t>GRUs</a:t>
            </a:r>
            <a:r>
              <a:rPr lang="pt-BR" sz="6000" dirty="0" smtClean="0"/>
              <a:t> minimizam o problema do desaparecimento do gradiente?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GRUs e </a:t>
                </a:r>
                <a:r>
                  <a:rPr lang="pt-BR" dirty="0" err="1"/>
                  <a:t>LSTMs</a:t>
                </a:r>
                <a:r>
                  <a:rPr lang="pt-BR" dirty="0"/>
                  <a:t> têm um caminho quase linear para o gradiente.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Já as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caminha </a:t>
                </a:r>
                <a:r>
                  <a:rPr lang="pt-BR" dirty="0" err="1"/>
                  <a:t>nã</a:t>
                </a:r>
                <a:r>
                  <a:rPr lang="pt-BR" dirty="0"/>
                  <a:t>-linear: o novo estado passa por um função </a:t>
                </a:r>
                <a:r>
                  <a:rPr lang="pt-BR" dirty="0" err="1"/>
                  <a:t>tanh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xmlns="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1089038-AB05-41BB-2D39-80FBAB080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1459" y="1825625"/>
            <a:ext cx="6620541" cy="5032376"/>
          </a:xfrm>
        </p:spPr>
        <p:txBody>
          <a:bodyPr>
            <a:normAutofit/>
          </a:bodyPr>
          <a:lstStyle/>
          <a:p>
            <a:r>
              <a:rPr lang="pt-BR" dirty="0" err="1"/>
              <a:t>LSTMs</a:t>
            </a:r>
            <a:r>
              <a:rPr lang="pt-BR" dirty="0"/>
              <a:t> e </a:t>
            </a:r>
            <a:r>
              <a:rPr lang="pt-BR" dirty="0" err="1"/>
              <a:t>GRUs</a:t>
            </a:r>
            <a:r>
              <a:rPr lang="pt-BR" dirty="0"/>
              <a:t> minimizam o problema do desaparecimento do gradiente porque a atualização do estado da célula é aditiva e não puramente multiplicativa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A soma cria um “atalho” </a:t>
            </a:r>
            <a:r>
              <a:rPr lang="pt-BR" b="1" dirty="0"/>
              <a:t>configurável</a:t>
            </a:r>
            <a:r>
              <a:rPr lang="pt-BR" dirty="0"/>
              <a:t> para o gradiente.</a:t>
            </a:r>
          </a:p>
          <a:p>
            <a:r>
              <a:rPr lang="pt-BR" dirty="0"/>
              <a:t>Esse atalho permite que os gradientes retrocedam no tempo sem necessariamente desaparecer.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F63E2320-9C7D-2BEC-DBF2-A340E84674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739B0D30-CDE5-D51A-1F46-F2F7055CCA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das 3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2752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xmlns="" id="{D4662DC6-AD4B-B713-EE3A-3FDEE28D9C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xmlns="" id="{3B0BA7DE-BA19-14FA-4FA3-25310BBE5CB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de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xmlns="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xmlns="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xmlns="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xmlns="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xmlns="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5"/>
            <a:ext cx="5971952" cy="4351338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xmlns="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xmlns="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xmlns="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xmlns="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5"/>
            <a:ext cx="5971952" cy="4351338"/>
          </a:xfrm>
        </p:spPr>
        <p:txBody>
          <a:bodyPr/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xmlns="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xmlns="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xmlns="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xmlns="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 gramatical de cada palavra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2">
              <a:buFont typeface="Wingdings" panose="05000000000000000000" pitchFamily="2" charset="2"/>
              <a:buChar char="§"/>
            </a:pP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xmlns="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xmlns="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xmlns="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xmlns="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xmlns="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xmlns="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xmlns="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xmlns="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xmlns="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xmlns="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xmlns="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e </a:t>
            </a:r>
            <a:r>
              <a:rPr lang="pt-BR" dirty="0" err="1"/>
              <a:t>chatbots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xmlns="" id="{798C9BC5-15E8-FB86-A2FF-03CF2C96CB13}"/>
              </a:ext>
            </a:extLst>
          </p:cNvPr>
          <p:cNvSpPr/>
          <p:nvPr/>
        </p:nvSpPr>
        <p:spPr>
          <a:xfrm>
            <a:off x="2913321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63577D96-6FE7-F60B-ED7E-0CE5B6852522}"/>
              </a:ext>
            </a:extLst>
          </p:cNvPr>
          <p:cNvSpPr/>
          <p:nvPr/>
        </p:nvSpPr>
        <p:spPr>
          <a:xfrm>
            <a:off x="3703675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C8E04DD1-F3A6-5114-B79F-4BC65F8FEA96}"/>
              </a:ext>
            </a:extLst>
          </p:cNvPr>
          <p:cNvSpPr/>
          <p:nvPr/>
        </p:nvSpPr>
        <p:spPr>
          <a:xfrm>
            <a:off x="4488712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xmlns="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3306726" y="3925832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xmlns="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4097080" y="3925832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8EBFA63A-7A7F-C301-161E-58CB3778B150}"/>
              </a:ext>
            </a:extLst>
          </p:cNvPr>
          <p:cNvSpPr/>
          <p:nvPr/>
        </p:nvSpPr>
        <p:spPr>
          <a:xfrm>
            <a:off x="2900031" y="183149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xmlns="" id="{C88EB1AD-6975-BCC1-C82D-8CF2AB176F0A}"/>
              </a:ext>
            </a:extLst>
          </p:cNvPr>
          <p:cNvCxnSpPr>
            <a:endCxn id="8" idx="2"/>
          </p:cNvCxnSpPr>
          <p:nvPr/>
        </p:nvCxnSpPr>
        <p:spPr>
          <a:xfrm flipV="1">
            <a:off x="3096733" y="2916015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xmlns="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2900029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0029" y="2183220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xmlns="" id="{A6970E72-E9CD-203F-5D6D-CD2520CE5E69}"/>
              </a:ext>
            </a:extLst>
          </p:cNvPr>
          <p:cNvSpPr/>
          <p:nvPr/>
        </p:nvSpPr>
        <p:spPr>
          <a:xfrm>
            <a:off x="3690383" y="183149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DFFB94F9-963A-CC29-C51E-098A134A1737}"/>
              </a:ext>
            </a:extLst>
          </p:cNvPr>
          <p:cNvSpPr/>
          <p:nvPr/>
        </p:nvSpPr>
        <p:spPr>
          <a:xfrm>
            <a:off x="4475421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xmlns="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3685068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5068" y="2183220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xmlns="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4475420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5420" y="2183220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xmlns="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3887086" y="2916015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xmlns="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4672124" y="2910146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F078DBB0-1AC8-EAEA-D2B3-81EBA1BC73AB}"/>
              </a:ext>
            </a:extLst>
          </p:cNvPr>
          <p:cNvSpPr/>
          <p:nvPr/>
        </p:nvSpPr>
        <p:spPr>
          <a:xfrm>
            <a:off x="1324640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7B7F1159-D526-3036-9F30-22158503DAFC}"/>
              </a:ext>
            </a:extLst>
          </p:cNvPr>
          <p:cNvSpPr/>
          <p:nvPr/>
        </p:nvSpPr>
        <p:spPr>
          <a:xfrm>
            <a:off x="2114994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xmlns="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1718045" y="3925832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xmlns="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2508399" y="3925832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xmlns="" id="{5D3FFC8E-6BAF-6DF7-526E-C081A5A48F93}"/>
              </a:ext>
            </a:extLst>
          </p:cNvPr>
          <p:cNvSpPr/>
          <p:nvPr/>
        </p:nvSpPr>
        <p:spPr>
          <a:xfrm>
            <a:off x="1320651" y="495037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xmlns="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1517354" y="4468092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xmlns="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1351219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219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xmlns="" id="{61795796-1CB2-CAB5-F67E-063C07C2A635}"/>
              </a:ext>
            </a:extLst>
          </p:cNvPr>
          <p:cNvSpPr/>
          <p:nvPr/>
        </p:nvSpPr>
        <p:spPr>
          <a:xfrm>
            <a:off x="2114994" y="4980504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xmlns="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2141574" y="529911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574" y="529911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:a16="http://schemas.microsoft.com/office/drawing/2014/main" xmlns="" id="{C5443291-1F22-B419-C44A-99E58D94E756}"/>
              </a:ext>
            </a:extLst>
          </p:cNvPr>
          <p:cNvSpPr/>
          <p:nvPr/>
        </p:nvSpPr>
        <p:spPr>
          <a:xfrm>
            <a:off x="2913320" y="494151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xmlns="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2913320" y="529911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3320" y="529911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xmlns="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2311697" y="4468092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xmlns="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3110023" y="4468092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 </a:t>
            </a:r>
            <a:r>
              <a:rPr lang="pt-BR" dirty="0" err="1"/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xmlns="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xmlns="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xmlns="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xmlns="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xmlns="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xmlns="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xmlns="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xmlns="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xmlns="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xmlns="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xmlns="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xmlns="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xmlns="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xmlns="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xmlns="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xmlns="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xmlns="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:a16="http://schemas.microsoft.com/office/drawing/2014/main" xmlns="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xmlns="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xmlns="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xmlns="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xmlns="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xmlns="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xmlns="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xmlns="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xmlns="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xmlns="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xmlns="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xmlns="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xmlns="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3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xmlns="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xmlns="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xmlns="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xmlns="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xmlns="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6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xmlns="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xmlns="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xmlns="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xmlns="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xmlns="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xmlns="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xmlns="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7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xmlns="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xmlns="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xmlns="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xmlns="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xmlns="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xmlns="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xmlns="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xmlns="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xmlns="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xmlns="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xmlns="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xmlns="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xmlns="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:a16="http://schemas.microsoft.com/office/drawing/2014/main" xmlns="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7038FDD0-F92D-0792-1189-9D15218C870B}"/>
                </a:ext>
              </a:extLst>
            </p:cNvPr>
            <p:cNvSpPr txBox="1"/>
            <p:nvPr/>
          </p:nvSpPr>
          <p:spPr>
            <a:xfrm>
              <a:off x="2317060" y="3843004"/>
              <a:ext cx="11609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desdobrando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xmlns="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xmlns="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xmlns="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xmlns="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xmlns="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xmlns="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xmlns="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xmlns="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:a16="http://schemas.microsoft.com/office/drawing/2014/main" xmlns="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xmlns="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xmlns="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xmlns="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xmlns="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xmlns="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:a16="http://schemas.microsoft.com/office/drawing/2014/main" xmlns="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xmlns="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xmlns="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xmlns="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xmlns="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xmlns="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:a16="http://schemas.microsoft.com/office/drawing/2014/main" xmlns="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xmlns="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xmlns="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xmlns="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xmlns="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xmlns="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:a16="http://schemas.microsoft.com/office/drawing/2014/main" xmlns="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xmlns="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:a16="http://schemas.microsoft.com/office/drawing/2014/main" xmlns="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xmlns="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xmlns="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xmlns="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:a16="http://schemas.microsoft.com/office/drawing/2014/main" xmlns="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xmlns="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xmlns="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xmlns="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xmlns="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xmlns="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xmlns="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:a16="http://schemas.microsoft.com/office/drawing/2014/main" xmlns="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xmlns="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:a16="http://schemas.microsoft.com/office/drawing/2014/main" xmlns="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:a16="http://schemas.microsoft.com/office/drawing/2014/main" xmlns="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xmlns="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xmlns="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xmlns="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xmlns="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xmlns="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:a16="http://schemas.microsoft.com/office/drawing/2014/main" xmlns="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xmlns="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xmlns="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xmlns="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xmlns="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xmlns="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xmlns="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xmlns="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xmlns="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xmlns="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xmlns="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xmlns="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xmlns="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xmlns="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xmlns="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xmlns="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xmlns="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xmlns="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xmlns="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xmlns="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xmlns="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xmlns="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xmlns="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xmlns="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xmlns="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xmlns="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xmlns="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xmlns="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xmlns="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xmlns="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xmlns="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xmlns="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xmlns="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xmlns="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xmlns="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xmlns="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xmlns="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xmlns="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xmlns="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xmlns="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xmlns="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xmlns="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xmlns="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xmlns="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xmlns="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xmlns="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xmlns="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:a16="http://schemas.microsoft.com/office/drawing/2014/main" xmlns="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:a16="http://schemas.microsoft.com/office/drawing/2014/main" xmlns="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xmlns="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xmlns="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:a16="http://schemas.microsoft.com/office/drawing/2014/main" xmlns="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xmlns="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xmlns="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xmlns="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xmlns="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xmlns="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xmlns="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xmlns="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xmlns="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xmlns="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xmlns="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xmlns="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xmlns="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xmlns="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xmlns="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xmlns="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xmlns="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+2]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xmlns="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xmlns="" id="{F843DECB-C956-D955-D499-DD22189CE5D6}"/>
              </a:ext>
            </a:extLst>
          </p:cNvPr>
          <p:cNvSpPr/>
          <p:nvPr/>
        </p:nvSpPr>
        <p:spPr>
          <a:xfrm>
            <a:off x="948207" y="2169156"/>
            <a:ext cx="3069771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xmlns="" id="{7C21CDDD-60F4-254E-D0B1-DD9880058CAE}"/>
              </a:ext>
            </a:extLst>
          </p:cNvPr>
          <p:cNvSpPr/>
          <p:nvPr/>
        </p:nvSpPr>
        <p:spPr>
          <a:xfrm>
            <a:off x="1982349" y="3410126"/>
            <a:ext cx="674915" cy="3592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xmlns="" id="{9EE18230-BCFC-D646-9600-19C5BBE32E49}"/>
                  </a:ext>
                </a:extLst>
              </p:cNvPr>
              <p:cNvSpPr/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blipFill>
                <a:blip r:embed="rId2"/>
                <a:stretch>
                  <a:fillRect l="-15278" r="-12500"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xmlns="" id="{E01C2A5B-A164-6913-FA94-CA99DB0244FA}"/>
              </a:ext>
            </a:extLst>
          </p:cNvPr>
          <p:cNvCxnSpPr>
            <a:cxnSpLocks/>
            <a:stCxn id="41" idx="0"/>
            <a:endCxn id="40" idx="2"/>
          </p:cNvCxnSpPr>
          <p:nvPr/>
        </p:nvCxnSpPr>
        <p:spPr>
          <a:xfrm rot="5400000" flipH="1" flipV="1">
            <a:off x="1444515" y="3483606"/>
            <a:ext cx="589543" cy="1161042"/>
          </a:xfrm>
          <a:prstGeom prst="bentConnector3">
            <a:avLst>
              <a:gd name="adj1" fmla="val 7031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xmlns="" id="{396F9498-A53F-5856-A31E-72DF09B3702B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2894030" y="1839863"/>
            <a:ext cx="996041" cy="21444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xmlns="" id="{F93040B1-005E-00D0-E6E7-AFB3E1CDFC40}"/>
                  </a:ext>
                </a:extLst>
              </p:cNvPr>
              <p:cNvSpPr/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blipFill>
                <a:blip r:embed="rId3"/>
                <a:stretch>
                  <a:fillRect l="-19444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xmlns="" id="{466E2E6D-A249-7CAB-4045-844CE9311DCA}"/>
              </a:ext>
            </a:extLst>
          </p:cNvPr>
          <p:cNvCxnSpPr>
            <a:endCxn id="44" idx="4"/>
          </p:cNvCxnSpPr>
          <p:nvPr/>
        </p:nvCxnSpPr>
        <p:spPr>
          <a:xfrm flipV="1">
            <a:off x="3801978" y="1744614"/>
            <a:ext cx="0" cy="669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xmlns="" id="{B4EFE449-B504-6CD4-C0C2-B0B6CF080A10}"/>
              </a:ext>
            </a:extLst>
          </p:cNvPr>
          <p:cNvCxnSpPr>
            <a:cxnSpLocks/>
          </p:cNvCxnSpPr>
          <p:nvPr/>
        </p:nvCxnSpPr>
        <p:spPr>
          <a:xfrm>
            <a:off x="633880" y="2403198"/>
            <a:ext cx="921744" cy="1552235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xmlns="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xmlns="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xmlns="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xmlns="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xmlns="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xmlns="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xmlns="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:a16="http://schemas.microsoft.com/office/drawing/2014/main" xmlns="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xmlns="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xmlns="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xmlns="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xmlns="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xmlns="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xmlns="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xmlns="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xmlns="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xmlns="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xmlns="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xmlns="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:a16="http://schemas.microsoft.com/office/drawing/2014/main" xmlns="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xmlns="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xmlns="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xmlns="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xmlns="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xmlns="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xmlns="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xmlns="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xmlns="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xmlns="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xmlns="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xmlns="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xmlns="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xmlns="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xmlns="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xmlns="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xmlns="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xmlns="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xmlns="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:a16="http://schemas.microsoft.com/office/drawing/2014/main" xmlns="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xmlns="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xmlns="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xmlns="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xmlns="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xmlns="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xmlns="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:a16="http://schemas.microsoft.com/office/drawing/2014/main" xmlns="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xmlns="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xmlns="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xmlns="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xmlns="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xmlns="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xmlns="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xmlns="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do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xmlns="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xmlns="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xmlns="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xmlns="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xmlns="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xmlns="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xmlns="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xmlns="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xmlns="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xmlns="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xmlns="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xmlns="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xmlns="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xmlns="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xmlns="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xmlns="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xmlns="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xmlns="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:a16="http://schemas.microsoft.com/office/drawing/2014/main" xmlns="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xmlns="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xmlns="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xmlns="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:a16="http://schemas.microsoft.com/office/drawing/2014/main" xmlns="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xmlns="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xmlns="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xmlns="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xmlns="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xmlns="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xmlns="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:a16="http://schemas.microsoft.com/office/drawing/2014/main" xmlns="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xmlns="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xmlns="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xmlns="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xmlns="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xmlns="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xmlns="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xmlns="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:a16="http://schemas.microsoft.com/office/drawing/2014/main" xmlns="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xmlns="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xmlns="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xmlns="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xmlns="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:a16="http://schemas.microsoft.com/office/drawing/2014/main" xmlns="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:a16="http://schemas.microsoft.com/office/drawing/2014/main" xmlns="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:a16="http://schemas.microsoft.com/office/drawing/2014/main" xmlns="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xmlns="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xmlns="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xmlns="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xmlns="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:a16="http://schemas.microsoft.com/office/drawing/2014/main" xmlns="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xmlns="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xmlns="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:a16="http://schemas.microsoft.com/office/drawing/2014/main" xmlns="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xmlns="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xmlns="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xmlns="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xmlns="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xmlns="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xmlns="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:a16="http://schemas.microsoft.com/office/drawing/2014/main" xmlns="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xmlns="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:a16="http://schemas.microsoft.com/office/drawing/2014/main" xmlns="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:a16="http://schemas.microsoft.com/office/drawing/2014/main" xmlns="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:a16="http://schemas.microsoft.com/office/drawing/2014/main" xmlns="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xmlns="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:a16="http://schemas.microsoft.com/office/drawing/2014/main" xmlns="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:a16="http://schemas.microsoft.com/office/drawing/2014/main" xmlns="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:a16="http://schemas.microsoft.com/office/drawing/2014/main" xmlns="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xmlns="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xmlns="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xmlns="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xmlns="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xmlns="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xmlns="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xmlns="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:a16="http://schemas.microsoft.com/office/drawing/2014/main" xmlns="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:a16="http://schemas.microsoft.com/office/drawing/2014/main" xmlns="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xmlns="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xmlns="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:a16="http://schemas.microsoft.com/office/drawing/2014/main" xmlns="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:a16="http://schemas.microsoft.com/office/drawing/2014/main" xmlns="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xmlns="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xmlns="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xmlns="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xmlns="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:a16="http://schemas.microsoft.com/office/drawing/2014/main" xmlns="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xmlns="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xmlns="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:a16="http://schemas.microsoft.com/office/drawing/2014/main" xmlns="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xmlns="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xmlns="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xmlns="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xmlns="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xmlns="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xmlns="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xmlns="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:a16="http://schemas.microsoft.com/office/drawing/2014/main" xmlns="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xmlns="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xmlns="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xmlns="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:a16="http://schemas.microsoft.com/office/drawing/2014/main" xmlns="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xmlns="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:a16="http://schemas.microsoft.com/office/drawing/2014/main" xmlns="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xmlns="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xmlns="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xmlns="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xmlns="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xmlns="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xmlns="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xmlns="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xmlns="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xmlns="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xmlns="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xmlns="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xmlns="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xmlns="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xmlns="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xmlns="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9460</TotalTime>
  <Words>2883</Words>
  <Application>Microsoft Office PowerPoint</Application>
  <PresentationFormat>Widescreen</PresentationFormat>
  <Paragraphs>721</Paragraphs>
  <Slides>70</Slides>
  <Notes>35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70</vt:i4>
      </vt:variant>
    </vt:vector>
  </HeadingPairs>
  <TitlesOfParts>
    <vt:vector size="77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Redes recorrentes</vt:lpstr>
      <vt:lpstr>Redes recorrentes</vt:lpstr>
      <vt:lpstr>Apresentação do PowerPoint</vt:lpstr>
      <vt:lpstr>Neurônio (ou célula) recorrente</vt:lpstr>
      <vt:lpstr>Neurônio recorrente</vt:lpstr>
      <vt:lpstr>Atualização do estado e geração da saída</vt:lpstr>
      <vt:lpstr>Desdobrando uma RNN</vt:lpstr>
      <vt:lpstr>Desdobrando uma RNN</vt:lpstr>
      <vt:lpstr>Treinando uma RNN</vt:lpstr>
      <vt:lpstr>Treinando uma RNN</vt:lpstr>
      <vt:lpstr>Backpropagation Through Time (BPTT)</vt:lpstr>
      <vt:lpstr>Backpropagation Through Time (BPTT)</vt:lpstr>
      <vt:lpstr>Desaparecimento e explosão do gradiente</vt:lpstr>
      <vt:lpstr>Apresentação do PowerPoint</vt:lpstr>
      <vt:lpstr>Desaparecimento e explosão do gradiente</vt:lpstr>
      <vt:lpstr>Como mitigar esses problemas?</vt:lpstr>
      <vt:lpstr>Por que não usar funções de ativação ReLU?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A ideia central por trás das LSTMs: Estado da célula</vt:lpstr>
      <vt:lpstr>A ideia central por trás das LSTMs: estado da célula</vt:lpstr>
      <vt:lpstr>Estado da célula e portas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1865</cp:revision>
  <dcterms:created xsi:type="dcterms:W3CDTF">2020-01-20T13:50:05Z</dcterms:created>
  <dcterms:modified xsi:type="dcterms:W3CDTF">2026-03-29T20:21:45Z</dcterms:modified>
</cp:coreProperties>
</file>