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6"/>
  </p:notesMasterIdLst>
  <p:handoutMasterIdLst>
    <p:handoutMasterId r:id="rId47"/>
  </p:handoutMasterIdLst>
  <p:sldIdLst>
    <p:sldId id="256" r:id="rId2"/>
    <p:sldId id="315" r:id="rId3"/>
    <p:sldId id="308" r:id="rId4"/>
    <p:sldId id="316" r:id="rId5"/>
    <p:sldId id="325" r:id="rId6"/>
    <p:sldId id="317" r:id="rId7"/>
    <p:sldId id="326" r:id="rId8"/>
    <p:sldId id="328" r:id="rId9"/>
    <p:sldId id="329" r:id="rId10"/>
    <p:sldId id="334" r:id="rId11"/>
    <p:sldId id="332" r:id="rId12"/>
    <p:sldId id="333" r:id="rId13"/>
    <p:sldId id="336" r:id="rId14"/>
    <p:sldId id="331" r:id="rId15"/>
    <p:sldId id="338" r:id="rId16"/>
    <p:sldId id="341" r:id="rId17"/>
    <p:sldId id="342" r:id="rId18"/>
    <p:sldId id="343" r:id="rId19"/>
    <p:sldId id="344" r:id="rId20"/>
    <p:sldId id="345" r:id="rId21"/>
    <p:sldId id="346" r:id="rId22"/>
    <p:sldId id="347" r:id="rId23"/>
    <p:sldId id="349" r:id="rId24"/>
    <p:sldId id="351" r:id="rId25"/>
    <p:sldId id="352" r:id="rId26"/>
    <p:sldId id="355" r:id="rId27"/>
    <p:sldId id="356" r:id="rId28"/>
    <p:sldId id="358" r:id="rId29"/>
    <p:sldId id="337" r:id="rId30"/>
    <p:sldId id="322" r:id="rId31"/>
    <p:sldId id="321" r:id="rId32"/>
    <p:sldId id="324" r:id="rId33"/>
    <p:sldId id="323" r:id="rId34"/>
    <p:sldId id="293" r:id="rId35"/>
    <p:sldId id="306" r:id="rId36"/>
    <p:sldId id="335" r:id="rId37"/>
    <p:sldId id="330" r:id="rId38"/>
    <p:sldId id="340" r:id="rId39"/>
    <p:sldId id="348" r:id="rId40"/>
    <p:sldId id="350" r:id="rId41"/>
    <p:sldId id="353" r:id="rId42"/>
    <p:sldId id="354" r:id="rId43"/>
    <p:sldId id="357" r:id="rId44"/>
    <p:sldId id="359" r:id="rId45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78" autoAdjust="0"/>
    <p:restoredTop sz="83051" autoAdjust="0"/>
  </p:normalViewPr>
  <p:slideViewPr>
    <p:cSldViewPr snapToGrid="0">
      <p:cViewPr varScale="1">
        <p:scale>
          <a:sx n="92" d="100"/>
          <a:sy n="92" d="100"/>
        </p:scale>
        <p:origin x="780" y="66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handoutMaster" Target="handoutMasters/handoutMaster1.xml"/><Relationship Id="rId50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microsoft.com/office/2015/10/relationships/revisionInfo" Target="revisionInfo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25/03/2026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25/03/2026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9182961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6188757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6141777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C9BA21-D8BC-1049-8F29-21ED16A8E3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584FCD-2462-F8A2-1938-163C0709B9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DB09072-013A-0614-ACA7-D012EF0DB6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A Flexibilidade da RNN:</a:t>
            </a:r>
            <a:r>
              <a:rPr lang="pt-BR" dirty="0"/>
              <a:t> Elas são projetadas para processar sequências de </a:t>
            </a:r>
            <a:r>
              <a:rPr lang="pt-BR" b="1" dirty="0"/>
              <a:t>comprimento variável</a:t>
            </a:r>
            <a:r>
              <a:rPr lang="pt-BR" dirty="0"/>
              <a:t>. Elas iteram sobre a sequência elemento por elemento, o que as torna ideais para tradução automática ou reconhecimento de fala.</a:t>
            </a:r>
          </a:p>
          <a:p>
            <a:endParaRPr lang="pt-BR" dirty="0"/>
          </a:p>
          <a:p>
            <a:r>
              <a:rPr lang="pt-BR" dirty="0"/>
              <a:t>De forma mais geral, as </a:t>
            </a:r>
            <a:r>
              <a:rPr lang="pt-BR" dirty="0" err="1"/>
              <a:t>RNNs</a:t>
            </a:r>
            <a:r>
              <a:rPr lang="pt-BR" dirty="0"/>
              <a:t> podem operar com sequências de comprimento arbitrário, em vez de entradas de tamanho fixo. Por exemplo, elas podem receber frases, documentos ou amostras de áudio como entrada, tornando-as extremamente úteis para aplicações de processamento de linguagem natural, como tradução automática ou reconhecimento de fala.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CDC41C-7FEE-80DC-975E-EFA1C4B2ED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7489728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9064582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181A3B-733B-928E-1D84-1F64E3273B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3272983-0C6A-43FE-BA89-508E0B2125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2D7C08-7E68-409C-ED9B-AB35F3D740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ED3A18-642E-C99A-850A-9619C8CAE3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7646757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7788417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https://d2l.ai/chapter_recurrent-neural-networks/bptt.html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5435138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5EF0C8-2D91-FA35-AF2B-95E36E0E14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AAD211-78C1-76CF-37C1-2799926821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984A298-DEE7-D577-1EDF-6AEC8A4A40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https://d2l.ai/chapter_recurrent-neural-networks/bptt.html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FFB4E4-8199-22E4-AFF4-DEB1442C3C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9508771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3698640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2655836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Esses </a:t>
            </a:r>
            <a:r>
              <a:rPr lang="pt-BR" dirty="0" err="1"/>
              <a:t>gates</a:t>
            </a:r>
            <a:r>
              <a:rPr lang="pt-BR" dirty="0"/>
              <a:t> permitem que a rede:</a:t>
            </a:r>
          </a:p>
          <a:p>
            <a:r>
              <a:rPr lang="pt-BR" b="1" dirty="0"/>
              <a:t>controle o fluxo de informação</a:t>
            </a:r>
            <a:r>
              <a:rPr lang="pt-BR" dirty="0"/>
              <a:t> </a:t>
            </a:r>
          </a:p>
          <a:p>
            <a:r>
              <a:rPr lang="pt-BR" b="1" dirty="0"/>
              <a:t>controle o fluxo do gradiente</a:t>
            </a:r>
            <a:r>
              <a:rPr lang="pt-BR" dirty="0"/>
              <a:t> </a:t>
            </a:r>
          </a:p>
          <a:p>
            <a:r>
              <a:rPr lang="pt-BR" dirty="0"/>
              <a:t>👉 Diferente da RNN simples, onde tudo é propagado sem controle.</a:t>
            </a:r>
          </a:p>
          <a:p>
            <a:r>
              <a:rPr lang="en-US" dirty="0"/>
              <a:t>	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0219282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025853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383363-000A-0D60-6C1E-B401D65114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BA9BC8-6559-200B-A0DC-C7C193B50C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B93FD94-0D0E-D985-C243-70A96161BF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44AF09-4A8D-EB58-C542-61C146A8C5F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3314428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775DFA-E39B-0EF4-1143-A327A7CAAC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7859BB1-D8C1-65C8-6748-CB851BA5D5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422EE45-2516-549E-714A-C375BCD8BB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0447B7-D6A2-FFD4-F49A-1A0A90A830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6573918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25/03/2026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25/03/2026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25/03/2026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25/03/2026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25/03/2026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25/03/2026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25/03/2026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25/03/2026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25/03/2026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25/03/2026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25/03/2026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25/03/2026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12" Type="http://schemas.openxmlformats.org/officeDocument/2006/relationships/image" Target="../media/image1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11" Type="http://schemas.openxmlformats.org/officeDocument/2006/relationships/image" Target="../media/image15.png"/><Relationship Id="rId5" Type="http://schemas.openxmlformats.org/officeDocument/2006/relationships/image" Target="../media/image9.png"/><Relationship Id="rId10" Type="http://schemas.openxmlformats.org/officeDocument/2006/relationships/image" Target="../media/image14.png"/><Relationship Id="rId4" Type="http://schemas.openxmlformats.org/officeDocument/2006/relationships/image" Target="../media/image8.png"/><Relationship Id="rId9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7" Type="http://schemas.openxmlformats.org/officeDocument/2006/relationships/image" Target="../media/image12.png"/><Relationship Id="rId12" Type="http://schemas.openxmlformats.org/officeDocument/2006/relationships/image" Target="../media/image1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11" Type="http://schemas.openxmlformats.org/officeDocument/2006/relationships/image" Target="../media/image15.png"/><Relationship Id="rId5" Type="http://schemas.openxmlformats.org/officeDocument/2006/relationships/image" Target="../media/image10.png"/><Relationship Id="rId10" Type="http://schemas.openxmlformats.org/officeDocument/2006/relationships/image" Target="../media/image14.png"/><Relationship Id="rId4" Type="http://schemas.openxmlformats.org/officeDocument/2006/relationships/image" Target="../media/image9.png"/><Relationship Id="rId9" Type="http://schemas.openxmlformats.org/officeDocument/2006/relationships/image" Target="../media/image13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0.png"/><Relationship Id="rId13" Type="http://schemas.openxmlformats.org/officeDocument/2006/relationships/image" Target="../media/image38.png"/><Relationship Id="rId18" Type="http://schemas.openxmlformats.org/officeDocument/2006/relationships/image" Target="../media/image43.png"/><Relationship Id="rId26" Type="http://schemas.openxmlformats.org/officeDocument/2006/relationships/image" Target="../media/image51.png"/><Relationship Id="rId3" Type="http://schemas.openxmlformats.org/officeDocument/2006/relationships/image" Target="../media/image280.png"/><Relationship Id="rId21" Type="http://schemas.openxmlformats.org/officeDocument/2006/relationships/image" Target="../media/image46.png"/><Relationship Id="rId7" Type="http://schemas.openxmlformats.org/officeDocument/2006/relationships/image" Target="../media/image320.png"/><Relationship Id="rId12" Type="http://schemas.openxmlformats.org/officeDocument/2006/relationships/image" Target="../media/image37.png"/><Relationship Id="rId17" Type="http://schemas.openxmlformats.org/officeDocument/2006/relationships/image" Target="../media/image42.png"/><Relationship Id="rId25" Type="http://schemas.openxmlformats.org/officeDocument/2006/relationships/image" Target="../media/image50.png"/><Relationship Id="rId2" Type="http://schemas.openxmlformats.org/officeDocument/2006/relationships/image" Target="../media/image270.png"/><Relationship Id="rId16" Type="http://schemas.openxmlformats.org/officeDocument/2006/relationships/image" Target="../media/image41.png"/><Relationship Id="rId20" Type="http://schemas.openxmlformats.org/officeDocument/2006/relationships/image" Target="../media/image4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0.png"/><Relationship Id="rId11" Type="http://schemas.openxmlformats.org/officeDocument/2006/relationships/image" Target="../media/image36.png"/><Relationship Id="rId24" Type="http://schemas.openxmlformats.org/officeDocument/2006/relationships/image" Target="../media/image49.png"/><Relationship Id="rId5" Type="http://schemas.openxmlformats.org/officeDocument/2006/relationships/image" Target="../media/image300.png"/><Relationship Id="rId15" Type="http://schemas.openxmlformats.org/officeDocument/2006/relationships/image" Target="../media/image40.png"/><Relationship Id="rId23" Type="http://schemas.openxmlformats.org/officeDocument/2006/relationships/image" Target="../media/image48.png"/><Relationship Id="rId28" Type="http://schemas.openxmlformats.org/officeDocument/2006/relationships/image" Target="../media/image53.png"/><Relationship Id="rId10" Type="http://schemas.openxmlformats.org/officeDocument/2006/relationships/image" Target="../media/image35.png"/><Relationship Id="rId19" Type="http://schemas.openxmlformats.org/officeDocument/2006/relationships/image" Target="../media/image44.png"/><Relationship Id="rId4" Type="http://schemas.openxmlformats.org/officeDocument/2006/relationships/image" Target="../media/image290.png"/><Relationship Id="rId9" Type="http://schemas.openxmlformats.org/officeDocument/2006/relationships/image" Target="../media/image340.png"/><Relationship Id="rId14" Type="http://schemas.openxmlformats.org/officeDocument/2006/relationships/image" Target="../media/image39.png"/><Relationship Id="rId22" Type="http://schemas.openxmlformats.org/officeDocument/2006/relationships/image" Target="../media/image47.png"/><Relationship Id="rId27" Type="http://schemas.openxmlformats.org/officeDocument/2006/relationships/image" Target="../media/image52.png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png"/><Relationship Id="rId13" Type="http://schemas.openxmlformats.org/officeDocument/2006/relationships/image" Target="../media/image45.png"/><Relationship Id="rId18" Type="http://schemas.openxmlformats.org/officeDocument/2006/relationships/image" Target="../media/image50.png"/><Relationship Id="rId3" Type="http://schemas.openxmlformats.org/officeDocument/2006/relationships/image" Target="../media/image36.png"/><Relationship Id="rId21" Type="http://schemas.openxmlformats.org/officeDocument/2006/relationships/image" Target="../media/image53.png"/><Relationship Id="rId7" Type="http://schemas.openxmlformats.org/officeDocument/2006/relationships/image" Target="../media/image39.png"/><Relationship Id="rId12" Type="http://schemas.openxmlformats.org/officeDocument/2006/relationships/image" Target="../media/image44.png"/><Relationship Id="rId17" Type="http://schemas.openxmlformats.org/officeDocument/2006/relationships/image" Target="../media/image49.png"/><Relationship Id="rId2" Type="http://schemas.openxmlformats.org/officeDocument/2006/relationships/image" Target="../media/image35.png"/><Relationship Id="rId16" Type="http://schemas.openxmlformats.org/officeDocument/2006/relationships/image" Target="../media/image48.png"/><Relationship Id="rId20" Type="http://schemas.openxmlformats.org/officeDocument/2006/relationships/image" Target="../media/image5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.png"/><Relationship Id="rId11" Type="http://schemas.openxmlformats.org/officeDocument/2006/relationships/image" Target="../media/image43.png"/><Relationship Id="rId5" Type="http://schemas.openxmlformats.org/officeDocument/2006/relationships/image" Target="../media/image340.png"/><Relationship Id="rId15" Type="http://schemas.openxmlformats.org/officeDocument/2006/relationships/image" Target="../media/image47.png"/><Relationship Id="rId10" Type="http://schemas.openxmlformats.org/officeDocument/2006/relationships/image" Target="../media/image42.png"/><Relationship Id="rId19" Type="http://schemas.openxmlformats.org/officeDocument/2006/relationships/image" Target="../media/image51.png"/><Relationship Id="rId4" Type="http://schemas.openxmlformats.org/officeDocument/2006/relationships/image" Target="../media/image37.png"/><Relationship Id="rId9" Type="http://schemas.openxmlformats.org/officeDocument/2006/relationships/image" Target="../media/image41.png"/><Relationship Id="rId14" Type="http://schemas.openxmlformats.org/officeDocument/2006/relationships/image" Target="../media/image46.png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.png"/><Relationship Id="rId3" Type="http://schemas.openxmlformats.org/officeDocument/2006/relationships/image" Target="../media/image55.png"/><Relationship Id="rId7" Type="http://schemas.openxmlformats.org/officeDocument/2006/relationships/image" Target="../media/image59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8.png"/><Relationship Id="rId5" Type="http://schemas.openxmlformats.org/officeDocument/2006/relationships/image" Target="../media/image57.png"/><Relationship Id="rId4" Type="http://schemas.openxmlformats.org/officeDocument/2006/relationships/image" Target="../media/image56.png"/><Relationship Id="rId9" Type="http://schemas.openxmlformats.org/officeDocument/2006/relationships/image" Target="../media/image61.png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image" Target="../media/image64.png"/><Relationship Id="rId3" Type="http://schemas.openxmlformats.org/officeDocument/2006/relationships/image" Target="../media/image55.png"/><Relationship Id="rId7" Type="http://schemas.openxmlformats.org/officeDocument/2006/relationships/image" Target="../media/image59.png"/><Relationship Id="rId12" Type="http://schemas.openxmlformats.org/officeDocument/2006/relationships/image" Target="../media/image68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8.png"/><Relationship Id="rId11" Type="http://schemas.openxmlformats.org/officeDocument/2006/relationships/image" Target="../media/image67.png"/><Relationship Id="rId5" Type="http://schemas.openxmlformats.org/officeDocument/2006/relationships/image" Target="../media/image63.png"/><Relationship Id="rId10" Type="http://schemas.openxmlformats.org/officeDocument/2006/relationships/image" Target="../media/image66.png"/><Relationship Id="rId4" Type="http://schemas.openxmlformats.org/officeDocument/2006/relationships/image" Target="../media/image62.png"/><Relationship Id="rId9" Type="http://schemas.openxmlformats.org/officeDocument/2006/relationships/image" Target="../media/image65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6.png"/><Relationship Id="rId3" Type="http://schemas.openxmlformats.org/officeDocument/2006/relationships/image" Target="../media/image71.png"/><Relationship Id="rId7" Type="http://schemas.openxmlformats.org/officeDocument/2006/relationships/image" Target="../media/image7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4.png"/><Relationship Id="rId11" Type="http://schemas.openxmlformats.org/officeDocument/2006/relationships/image" Target="../media/image79.png"/><Relationship Id="rId5" Type="http://schemas.openxmlformats.org/officeDocument/2006/relationships/image" Target="../media/image73.png"/><Relationship Id="rId10" Type="http://schemas.openxmlformats.org/officeDocument/2006/relationships/image" Target="../media/image78.png"/><Relationship Id="rId4" Type="http://schemas.openxmlformats.org/officeDocument/2006/relationships/image" Target="../media/image72.png"/><Relationship Id="rId9" Type="http://schemas.openxmlformats.org/officeDocument/2006/relationships/image" Target="../media/image77.png"/></Relationships>
</file>

<file path=ppt/slides/_rels/slide4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2.png"/><Relationship Id="rId3" Type="http://schemas.openxmlformats.org/officeDocument/2006/relationships/image" Target="../media/image80.png"/><Relationship Id="rId7" Type="http://schemas.openxmlformats.org/officeDocument/2006/relationships/image" Target="../media/image81.png"/><Relationship Id="rId12" Type="http://schemas.openxmlformats.org/officeDocument/2006/relationships/image" Target="../media/image8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5.png"/><Relationship Id="rId11" Type="http://schemas.openxmlformats.org/officeDocument/2006/relationships/image" Target="../media/image85.png"/><Relationship Id="rId5" Type="http://schemas.openxmlformats.org/officeDocument/2006/relationships/image" Target="../media/image74.png"/><Relationship Id="rId10" Type="http://schemas.openxmlformats.org/officeDocument/2006/relationships/image" Target="../media/image84.png"/><Relationship Id="rId4" Type="http://schemas.openxmlformats.org/officeDocument/2006/relationships/image" Target="../media/image73.png"/><Relationship Id="rId9" Type="http://schemas.openxmlformats.org/officeDocument/2006/relationships/image" Target="../media/image83.png"/></Relationships>
</file>

<file path=ppt/slides/_rels/slide4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2.png"/><Relationship Id="rId3" Type="http://schemas.openxmlformats.org/officeDocument/2006/relationships/image" Target="../media/image74.png"/><Relationship Id="rId7" Type="http://schemas.openxmlformats.org/officeDocument/2006/relationships/image" Target="../media/image81.png"/><Relationship Id="rId12" Type="http://schemas.openxmlformats.org/officeDocument/2006/relationships/image" Target="../media/image8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3.png"/><Relationship Id="rId11" Type="http://schemas.openxmlformats.org/officeDocument/2006/relationships/image" Target="../media/image86.png"/><Relationship Id="rId5" Type="http://schemas.openxmlformats.org/officeDocument/2006/relationships/image" Target="../media/image84.png"/><Relationship Id="rId10" Type="http://schemas.openxmlformats.org/officeDocument/2006/relationships/image" Target="../media/image85.png"/><Relationship Id="rId4" Type="http://schemas.openxmlformats.org/officeDocument/2006/relationships/image" Target="../media/image75.png"/><Relationship Id="rId9" Type="http://schemas.openxmlformats.org/officeDocument/2006/relationships/image" Target="../media/image8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A. P. de Figueiredo</a:t>
            </a:r>
          </a:p>
          <a:p>
            <a:r>
              <a:rPr lang="pt-BR" dirty="0">
                <a:hlinkClick r:id="rId3"/>
              </a:rPr>
              <a:t>felipe.figueiredo@Inatel.br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439886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767" y="836433"/>
            <a:ext cx="10906298" cy="2690156"/>
          </a:xfrm>
        </p:spPr>
        <p:txBody>
          <a:bodyPr anchor="ctr">
            <a:noAutofit/>
          </a:bodyPr>
          <a:lstStyle/>
          <a:p>
            <a:r>
              <a:rPr lang="pt-BR" sz="6600" dirty="0"/>
              <a:t>C24 – Inteligência Artificial:</a:t>
            </a:r>
            <a:br>
              <a:rPr lang="pt-BR" sz="7200" dirty="0"/>
            </a:br>
            <a:r>
              <a:rPr lang="pt-BR" sz="7200" b="1" i="1" dirty="0"/>
              <a:t>Redes neurais recorrentes</a:t>
            </a:r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Motivação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199" y="1825624"/>
            <a:ext cx="11353801" cy="5032375"/>
          </a:xfrm>
        </p:spPr>
        <p:txBody>
          <a:bodyPr/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dirty="0"/>
              <a:t>Muitos problemas são </a:t>
            </a:r>
            <a:r>
              <a:rPr lang="pt-BR" altLang="pt-BR" b="1" dirty="0"/>
              <a:t>sequenciais</a:t>
            </a:r>
            <a:r>
              <a:rPr lang="pt-BR" altLang="pt-BR" dirty="0"/>
              <a:t>: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Voz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Texto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Séries temporais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Vídeo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dirty="0"/>
              <a:t>Para lidarmos com eles, precisamos modelar </a:t>
            </a:r>
            <a:r>
              <a:rPr lang="pt-BR" altLang="pt-BR" b="1" dirty="0"/>
              <a:t>dependências temporais</a:t>
            </a:r>
            <a:r>
              <a:rPr lang="pt-BR" altLang="pt-BR" dirty="0"/>
              <a:t>!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b="1" dirty="0"/>
              <a:t>Existe correlação temporal entre as amostras.</a:t>
            </a:r>
            <a:endParaRPr lang="pt-BR" altLang="pt-BR" dirty="0"/>
          </a:p>
        </p:txBody>
      </p:sp>
    </p:spTree>
    <p:extLst>
      <p:ext uri="{BB962C8B-B14F-4D97-AF65-F5344CB8AC3E}">
        <p14:creationId xmlns:p14="http://schemas.microsoft.com/office/powerpoint/2010/main" val="14475287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4AB8438-E56E-2412-517C-8456E4CA7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Aplicações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7E2B09C-6D56-4C9F-A364-B904CCE2F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Previsão de séries temporais (clima, ações, vendas, etc.)</a:t>
            </a:r>
          </a:p>
          <a:p>
            <a:r>
              <a:rPr lang="pt-BR" dirty="0"/>
              <a:t>Tradução automática</a:t>
            </a:r>
          </a:p>
          <a:p>
            <a:r>
              <a:rPr lang="pt-BR" dirty="0"/>
              <a:t>Reconhecimento de fala</a:t>
            </a:r>
          </a:p>
          <a:p>
            <a:r>
              <a:rPr lang="pt-BR" dirty="0"/>
              <a:t>Tradução fala para texto e vice versa</a:t>
            </a:r>
          </a:p>
          <a:p>
            <a:r>
              <a:rPr lang="pt-BR" dirty="0"/>
              <a:t>Classificação de sentimentos</a:t>
            </a:r>
          </a:p>
          <a:p>
            <a:r>
              <a:rPr lang="pt-BR" dirty="0"/>
              <a:t>Geração de texto</a:t>
            </a:r>
          </a:p>
          <a:p>
            <a:r>
              <a:rPr lang="pt-BR" dirty="0"/>
              <a:t>Legenda de imagens e vídeos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1870715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Limitação de redes tradicionais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4256314" y="1825625"/>
            <a:ext cx="7935686" cy="5032375"/>
          </a:xfrm>
        </p:spPr>
        <p:txBody>
          <a:bodyPr>
            <a:normAutofit/>
          </a:bodyPr>
          <a:lstStyle/>
          <a:p>
            <a:r>
              <a:rPr lang="pt-BR" dirty="0"/>
              <a:t>MLP: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Não armazenam informações de estados anteriores (i.e., sem memória)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Cada entrada é tratada de forma independente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Não capturam dependências temporais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Por ser de alimentação direta, a saída depende apenas da entrada atual</a:t>
            </a:r>
          </a:p>
          <a:p>
            <a:r>
              <a:rPr lang="pt-BR" dirty="0"/>
              <a:t>CNN: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Compartilha as limitações das </a:t>
            </a:r>
            <a:r>
              <a:rPr lang="pt-BR" dirty="0" err="1"/>
              <a:t>MLPs</a:t>
            </a:r>
            <a:r>
              <a:rPr lang="pt-BR" dirty="0"/>
              <a:t>, com uma exceção: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Modela relações espaciais.</a:t>
            </a:r>
          </a:p>
          <a:p>
            <a:r>
              <a:rPr lang="pt-BR" dirty="0"/>
              <a:t>Ambas famílias exigem que o vetor de entrada tenha um tamanho predefinido e constante.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A8E2659-A57A-38A3-FD87-03127E91240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103"/>
          <a:stretch>
            <a:fillRect/>
          </a:stretch>
        </p:blipFill>
        <p:spPr>
          <a:xfrm>
            <a:off x="986159" y="1943553"/>
            <a:ext cx="2686768" cy="231057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AAB68BF-5C1E-7F73-8FBA-8E33B17EBF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9550" y="4795610"/>
            <a:ext cx="3599986" cy="18893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04472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A47F2C-5902-D14E-461A-E03776C92E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83954" y="3142796"/>
            <a:ext cx="3962400" cy="972003"/>
          </a:xfrm>
        </p:spPr>
        <p:txBody>
          <a:bodyPr/>
          <a:lstStyle/>
          <a:p>
            <a:pPr marL="0" indent="0" algn="ctr">
              <a:buNone/>
            </a:pPr>
            <a:r>
              <a:rPr lang="pt-BR" dirty="0"/>
              <a:t>Redes neurais recorrentes têm memória!</a:t>
            </a:r>
            <a:endParaRPr lang="en-US" dirty="0"/>
          </a:p>
        </p:txBody>
      </p:sp>
      <p:pic>
        <p:nvPicPr>
          <p:cNvPr id="2050" name="Picture 2" descr="RNN be like! #RNN #NeuralNetwork #meme">
            <a:extLst>
              <a:ext uri="{FF2B5EF4-FFF2-40B4-BE49-F238E27FC236}">
                <a16:creationId xmlns:a16="http://schemas.microsoft.com/office/drawing/2014/main" id="{B99978AC-6F74-4307-94F5-3BAC8F4A5B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5646" y="1911803"/>
            <a:ext cx="6551109" cy="36834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068368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recorrentes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573486" y="1825624"/>
            <a:ext cx="6498771" cy="5032375"/>
          </a:xfrm>
        </p:spPr>
        <p:txBody>
          <a:bodyPr>
            <a:normAutofit/>
          </a:bodyPr>
          <a:lstStyle/>
          <a:p>
            <a:r>
              <a:rPr lang="pt-BR" dirty="0"/>
              <a:t>Possuem laços de realimentação.</a:t>
            </a:r>
          </a:p>
          <a:p>
            <a:r>
              <a:rPr lang="pt-BR" dirty="0"/>
              <a:t>Mantém um estado interno (memória) que armazena informações observadas até o momento.</a:t>
            </a:r>
          </a:p>
          <a:p>
            <a:r>
              <a:rPr lang="pt-BR" dirty="0"/>
              <a:t>A saída da rede depende da entrada atual e do valor do estado interno anterior.</a:t>
            </a:r>
          </a:p>
          <a:p>
            <a:r>
              <a:rPr lang="pt-BR" dirty="0"/>
              <a:t>O estado interno mantém uma memória (que desaparece) sobre o histórico de todas as entradas passadas.</a:t>
            </a:r>
          </a:p>
        </p:txBody>
      </p:sp>
      <p:pic>
        <p:nvPicPr>
          <p:cNvPr id="3074" name="Picture 2" descr="RNN architecture and the concept of sequential memory |... | Fiveable">
            <a:extLst>
              <a:ext uri="{FF2B5EF4-FFF2-40B4-BE49-F238E27FC236}">
                <a16:creationId xmlns:a16="http://schemas.microsoft.com/office/drawing/2014/main" id="{CF222E86-9883-F0F3-0C3D-DE894656D1F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2" t="38503" r="81251" b="2949"/>
          <a:stretch>
            <a:fillRect/>
          </a:stretch>
        </p:blipFill>
        <p:spPr bwMode="auto">
          <a:xfrm>
            <a:off x="1534885" y="2296884"/>
            <a:ext cx="2471058" cy="36631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987209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74E3A9-57FD-9928-3B76-20D86E5368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2CAA669-542C-6851-4558-AB1FBFA2F0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recorrentes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BC8D1AF-6B61-5C93-6D51-B0F1660220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73486" y="1825624"/>
            <a:ext cx="6498771" cy="5032375"/>
          </a:xfrm>
        </p:spPr>
        <p:txBody>
          <a:bodyPr/>
          <a:lstStyle/>
          <a:p>
            <a:r>
              <a:rPr lang="pt-BR" dirty="0"/>
              <a:t>Uma RNN utiliza informações sequenciais, modelando as dependências temporais entre as amostras de entrada.</a:t>
            </a:r>
          </a:p>
          <a:p>
            <a:r>
              <a:rPr lang="pt-BR" b="1" dirty="0"/>
              <a:t>Exemplo</a:t>
            </a:r>
            <a:r>
              <a:rPr lang="pt-BR" dirty="0"/>
              <a:t>: se quisermos prever a próxima palavra em uma frase, precisamos saber quais palavras vieram antes dela.</a:t>
            </a:r>
          </a:p>
          <a:p>
            <a:r>
              <a:rPr lang="pt-BR" dirty="0" err="1"/>
              <a:t>RNNs</a:t>
            </a:r>
            <a:r>
              <a:rPr lang="pt-BR" dirty="0"/>
              <a:t> são projetadas para processar sequências de </a:t>
            </a:r>
            <a:r>
              <a:rPr lang="pt-BR" b="1" dirty="0"/>
              <a:t>comprimento variável</a:t>
            </a:r>
            <a:r>
              <a:rPr lang="pt-BR" dirty="0"/>
              <a:t>. </a:t>
            </a:r>
          </a:p>
          <a:p>
            <a:r>
              <a:rPr lang="pt-BR" dirty="0"/>
              <a:t>Elas mapeiam todo o histórico de entradas anteriores para cada saída.</a:t>
            </a:r>
          </a:p>
        </p:txBody>
      </p:sp>
      <p:pic>
        <p:nvPicPr>
          <p:cNvPr id="3074" name="Picture 2" descr="RNN architecture and the concept of sequential memory |... | Fiveable">
            <a:extLst>
              <a:ext uri="{FF2B5EF4-FFF2-40B4-BE49-F238E27FC236}">
                <a16:creationId xmlns:a16="http://schemas.microsoft.com/office/drawing/2014/main" id="{65461C4D-C555-02A7-8AE3-2D52AC2FCB0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2" t="38503" r="81251" b="2949"/>
          <a:stretch>
            <a:fillRect/>
          </a:stretch>
        </p:blipFill>
        <p:spPr bwMode="auto">
          <a:xfrm>
            <a:off x="1534885" y="2296884"/>
            <a:ext cx="2471058" cy="36631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208785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A7CF3C-2AB5-ECC1-9920-3B2DE38CC3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796041"/>
            <a:ext cx="10515600" cy="1265918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dirty="0"/>
              <a:t>Componentes de uma RNN</a:t>
            </a:r>
            <a:endParaRPr lang="en-US" sz="6000" dirty="0"/>
          </a:p>
        </p:txBody>
      </p:sp>
    </p:spTree>
    <p:extLst>
      <p:ext uri="{BB962C8B-B14F-4D97-AF65-F5344CB8AC3E}">
        <p14:creationId xmlns:p14="http://schemas.microsoft.com/office/powerpoint/2010/main" val="35140497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1F0C14-67BD-40CF-9A8F-E9FC30FC96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(ou célula) recorrente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FF8CB8C-0F2B-7C4F-63CA-34C693F2632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486401" y="1825624"/>
                <a:ext cx="6705600" cy="5032375"/>
              </a:xfrm>
            </p:spPr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dirty="0"/>
                  <a:t>: entrada</a:t>
                </a:r>
              </a:p>
              <a:p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b="1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</m:acc>
                  </m:oMath>
                </a14:m>
                <a:r>
                  <a:rPr lang="en-US" dirty="0"/>
                  <a:t>: </a:t>
                </a:r>
                <a:r>
                  <a:rPr lang="en-US" dirty="0" err="1"/>
                  <a:t>saída</a:t>
                </a:r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𝒉</m:t>
                    </m:r>
                  </m:oMath>
                </a14:m>
                <a:r>
                  <a:rPr lang="en-US" dirty="0"/>
                  <a:t>: </a:t>
                </a:r>
                <a:r>
                  <a:rPr lang="en-US" dirty="0" err="1"/>
                  <a:t>estado</a:t>
                </a:r>
                <a:r>
                  <a:rPr lang="en-US" dirty="0"/>
                  <a:t> </a:t>
                </a:r>
                <a:r>
                  <a:rPr lang="en-US" dirty="0" err="1"/>
                  <a:t>interno</a:t>
                </a:r>
                <a:r>
                  <a:rPr lang="en-US" dirty="0"/>
                  <a:t> (</a:t>
                </a:r>
                <a:r>
                  <a:rPr lang="en-US" dirty="0" err="1"/>
                  <a:t>memória</a:t>
                </a:r>
                <a:r>
                  <a:rPr lang="en-US" dirty="0"/>
                  <a:t> da rede)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: pesos de entrada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dirty="0"/>
                  <a:t>: pesos da </a:t>
                </a:r>
                <a:r>
                  <a:rPr lang="en-US" dirty="0" err="1"/>
                  <a:t>camada</a:t>
                </a:r>
                <a:r>
                  <a:rPr lang="en-US" dirty="0"/>
                  <a:t> </a:t>
                </a:r>
                <a:r>
                  <a:rPr lang="en-US" dirty="0" err="1"/>
                  <a:t>recorrente</a:t>
                </a:r>
                <a:r>
                  <a:rPr lang="en-US" dirty="0"/>
                  <a:t> (</a:t>
                </a:r>
                <a:r>
                  <a:rPr lang="en-US" dirty="0" err="1"/>
                  <a:t>oculto</a:t>
                </a:r>
                <a:r>
                  <a:rPr lang="en-US" dirty="0"/>
                  <a:t>)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𝑜</m:t>
                        </m:r>
                      </m:sub>
                    </m:sSub>
                  </m:oMath>
                </a14:m>
                <a:r>
                  <a:rPr lang="en-US" dirty="0"/>
                  <a:t>: pesos de </a:t>
                </a:r>
                <a:r>
                  <a:rPr lang="en-US" dirty="0" err="1"/>
                  <a:t>saída</a:t>
                </a:r>
                <a:endParaRPr lang="en-US" dirty="0"/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r>
                  <a:rPr lang="pt-BR" dirty="0"/>
                  <a:t>: unidade de retardo de tempo</a:t>
                </a:r>
              </a:p>
              <a:p>
                <a:r>
                  <a:rPr lang="en-US" dirty="0"/>
                  <a:t>       : </a:t>
                </a:r>
                <a:r>
                  <a:rPr lang="en-US" dirty="0" err="1"/>
                  <a:t>função</a:t>
                </a:r>
                <a:r>
                  <a:rPr lang="en-US" dirty="0"/>
                  <a:t> de </a:t>
                </a:r>
                <a:r>
                  <a:rPr lang="en-US" dirty="0" err="1"/>
                  <a:t>ativação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FF8CB8C-0F2B-7C4F-63CA-34C693F2632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486401" y="1825624"/>
                <a:ext cx="6705600" cy="5032375"/>
              </a:xfrm>
              <a:blipFill>
                <a:blip r:embed="rId3"/>
                <a:stretch>
                  <a:fillRect l="-1636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Picture 9">
            <a:extLst>
              <a:ext uri="{FF2B5EF4-FFF2-40B4-BE49-F238E27FC236}">
                <a16:creationId xmlns:a16="http://schemas.microsoft.com/office/drawing/2014/main" id="{377ED572-EE63-9E0B-64E3-7DF577A4C2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2605" y="5393637"/>
            <a:ext cx="466790" cy="466790"/>
          </a:xfrm>
          <a:prstGeom prst="rect">
            <a:avLst/>
          </a:prstGeom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93818980-F547-0E5A-1FB3-02FC98C202F2}"/>
              </a:ext>
            </a:extLst>
          </p:cNvPr>
          <p:cNvGrpSpPr/>
          <p:nvPr/>
        </p:nvGrpSpPr>
        <p:grpSpPr>
          <a:xfrm>
            <a:off x="2225506" y="1747612"/>
            <a:ext cx="1483094" cy="4507363"/>
            <a:chOff x="2454106" y="1782434"/>
            <a:chExt cx="1483094" cy="450736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01A64FDC-EF69-BEDA-15E2-93E0F6665937}"/>
                    </a:ext>
                  </a:extLst>
                </p:cNvPr>
                <p:cNvSpPr/>
                <p:nvPr/>
              </p:nvSpPr>
              <p:spPr>
                <a:xfrm>
                  <a:off x="2460638" y="242629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01A64FDC-EF69-BEDA-15E2-93E0F666593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60638" y="2426299"/>
                  <a:ext cx="468000" cy="468000"/>
                </a:xfrm>
                <a:prstGeom prst="rect">
                  <a:avLst/>
                </a:prstGeom>
                <a:blipFill>
                  <a:blip r:embed="rId5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186D7FAB-7118-5D20-2DBF-2FF3EAF87830}"/>
                    </a:ext>
                  </a:extLst>
                </p:cNvPr>
                <p:cNvSpPr/>
                <p:nvPr/>
              </p:nvSpPr>
              <p:spPr>
                <a:xfrm>
                  <a:off x="2454106" y="519385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186D7FAB-7118-5D20-2DBF-2FF3EAF8783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54106" y="5193854"/>
                  <a:ext cx="468000" cy="468000"/>
                </a:xfrm>
                <a:prstGeom prst="rect">
                  <a:avLst/>
                </a:prstGeom>
                <a:blipFill>
                  <a:blip r:embed="rId6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C07E56CD-571A-F75D-A1A7-7B928CD4CBCE}"/>
                    </a:ext>
                  </a:extLst>
                </p:cNvPr>
                <p:cNvSpPr/>
                <p:nvPr/>
              </p:nvSpPr>
              <p:spPr>
                <a:xfrm>
                  <a:off x="3469200" y="3913371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C07E56CD-571A-F75D-A1A7-7B928CD4CBC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69200" y="3913371"/>
                  <a:ext cx="468000" cy="468000"/>
                </a:xfrm>
                <a:prstGeom prst="rect">
                  <a:avLst/>
                </a:prstGeom>
                <a:blipFill>
                  <a:blip r:embed="rId7"/>
                  <a:stretch>
                    <a:fillRect l="-1039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0DFE758E-AA0D-24E9-ACDD-5EB509378589}"/>
                    </a:ext>
                  </a:extLst>
                </p:cNvPr>
                <p:cNvSpPr/>
                <p:nvPr/>
              </p:nvSpPr>
              <p:spPr>
                <a:xfrm>
                  <a:off x="2475878" y="1782434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b="1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</m:oMath>
                    </m:oMathPara>
                  </a14:m>
                  <a:endParaRPr lang="en-US" b="1" dirty="0"/>
                </a:p>
              </p:txBody>
            </p:sp>
          </mc:Choice>
          <mc:Fallback xmlns="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0DFE758E-AA0D-24E9-ACDD-5EB50937858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75878" y="1782434"/>
                  <a:ext cx="432000" cy="432000"/>
                </a:xfrm>
                <a:prstGeom prst="ellipse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Oval 12">
                  <a:extLst>
                    <a:ext uri="{FF2B5EF4-FFF2-40B4-BE49-F238E27FC236}">
                      <a16:creationId xmlns:a16="http://schemas.microsoft.com/office/drawing/2014/main" id="{536A747D-2D61-6719-5F86-0A8E352880D4}"/>
                    </a:ext>
                  </a:extLst>
                </p:cNvPr>
                <p:cNvSpPr/>
                <p:nvPr/>
              </p:nvSpPr>
              <p:spPr>
                <a:xfrm>
                  <a:off x="2475878" y="3931371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</m:oMath>
                    </m:oMathPara>
                  </a14:m>
                  <a:endParaRPr lang="en-US" b="1" dirty="0"/>
                </a:p>
              </p:txBody>
            </p:sp>
          </mc:Choice>
          <mc:Fallback xmlns="">
            <p:sp>
              <p:nvSpPr>
                <p:cNvPr id="13" name="Oval 12">
                  <a:extLst>
                    <a:ext uri="{FF2B5EF4-FFF2-40B4-BE49-F238E27FC236}">
                      <a16:creationId xmlns:a16="http://schemas.microsoft.com/office/drawing/2014/main" id="{536A747D-2D61-6719-5F86-0A8E352880D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75878" y="3931371"/>
                  <a:ext cx="432000" cy="432000"/>
                </a:xfrm>
                <a:prstGeom prst="ellipse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2FE8CA7C-772F-3BB3-6BD7-E3F13B6038B0}"/>
                    </a:ext>
                  </a:extLst>
                </p:cNvPr>
                <p:cNvSpPr/>
                <p:nvPr/>
              </p:nvSpPr>
              <p:spPr>
                <a:xfrm>
                  <a:off x="2475878" y="5857797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oMath>
                    </m:oMathPara>
                  </a14:m>
                  <a:endParaRPr lang="en-US" b="1" dirty="0"/>
                </a:p>
              </p:txBody>
            </p:sp>
          </mc:Choice>
          <mc:Fallback xmlns=""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2FE8CA7C-772F-3BB3-6BD7-E3F13B6038B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75878" y="5857797"/>
                  <a:ext cx="432000" cy="432000"/>
                </a:xfrm>
                <a:prstGeom prst="ellipse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Diamond 14">
                  <a:extLst>
                    <a:ext uri="{FF2B5EF4-FFF2-40B4-BE49-F238E27FC236}">
                      <a16:creationId xmlns:a16="http://schemas.microsoft.com/office/drawing/2014/main" id="{59379733-07D8-5D46-149B-54EB96CC6129}"/>
                    </a:ext>
                  </a:extLst>
                </p:cNvPr>
                <p:cNvSpPr/>
                <p:nvPr/>
              </p:nvSpPr>
              <p:spPr>
                <a:xfrm>
                  <a:off x="2971382" y="3226750"/>
                  <a:ext cx="546518" cy="468000"/>
                </a:xfrm>
                <a:prstGeom prst="diamond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5" name="Diamond 14">
                  <a:extLst>
                    <a:ext uri="{FF2B5EF4-FFF2-40B4-BE49-F238E27FC236}">
                      <a16:creationId xmlns:a16="http://schemas.microsoft.com/office/drawing/2014/main" id="{59379733-07D8-5D46-149B-54EB96CC612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71382" y="3226750"/>
                  <a:ext cx="546518" cy="468000"/>
                </a:xfrm>
                <a:prstGeom prst="diamond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Oval 15">
                  <a:extLst>
                    <a:ext uri="{FF2B5EF4-FFF2-40B4-BE49-F238E27FC236}">
                      <a16:creationId xmlns:a16="http://schemas.microsoft.com/office/drawing/2014/main" id="{BA8FA2A5-55CF-3204-8044-DC2B8D19B59B}"/>
                    </a:ext>
                  </a:extLst>
                </p:cNvPr>
                <p:cNvSpPr/>
                <p:nvPr/>
              </p:nvSpPr>
              <p:spPr>
                <a:xfrm>
                  <a:off x="2468334" y="4565911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pt-BR" sz="14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6" name="Oval 15">
                  <a:extLst>
                    <a:ext uri="{FF2B5EF4-FFF2-40B4-BE49-F238E27FC236}">
                      <a16:creationId xmlns:a16="http://schemas.microsoft.com/office/drawing/2014/main" id="{BA8FA2A5-55CF-3204-8044-DC2B8D19B59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68334" y="4565911"/>
                  <a:ext cx="432000" cy="432000"/>
                </a:xfrm>
                <a:prstGeom prst="ellipse">
                  <a:avLst/>
                </a:prstGeom>
                <a:blipFill>
                  <a:blip r:embed="rId12"/>
                  <a:stretch>
                    <a:fillRect l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D74BCD5F-A26B-5098-88E1-CB8911BEF0B7}"/>
                </a:ext>
              </a:extLst>
            </p:cNvPr>
            <p:cNvCxnSpPr>
              <a:stCxn id="14" idx="0"/>
              <a:endCxn id="9" idx="2"/>
            </p:cNvCxnSpPr>
            <p:nvPr/>
          </p:nvCxnSpPr>
          <p:spPr>
            <a:xfrm flipH="1" flipV="1">
              <a:off x="2688106" y="566185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D4D61A13-9F5D-8BB8-1C60-28D90D0C40B3}"/>
                </a:ext>
              </a:extLst>
            </p:cNvPr>
            <p:cNvCxnSpPr/>
            <p:nvPr/>
          </p:nvCxnSpPr>
          <p:spPr>
            <a:xfrm flipH="1" flipV="1">
              <a:off x="2691878" y="4997911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A6D5D1B1-5D0C-A928-E4A0-19B840DC8462}"/>
                </a:ext>
              </a:extLst>
            </p:cNvPr>
            <p:cNvCxnSpPr/>
            <p:nvPr/>
          </p:nvCxnSpPr>
          <p:spPr>
            <a:xfrm flipH="1" flipV="1">
              <a:off x="2688106" y="4369968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41AE4C5E-26C8-56CF-D359-49E2A105C2BC}"/>
                </a:ext>
              </a:extLst>
            </p:cNvPr>
            <p:cNvCxnSpPr>
              <a:stCxn id="13" idx="0"/>
              <a:endCxn id="8" idx="2"/>
            </p:cNvCxnSpPr>
            <p:nvPr/>
          </p:nvCxnSpPr>
          <p:spPr>
            <a:xfrm flipV="1">
              <a:off x="2691878" y="2894299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Connector: Elbow 20">
              <a:extLst>
                <a:ext uri="{FF2B5EF4-FFF2-40B4-BE49-F238E27FC236}">
                  <a16:creationId xmlns:a16="http://schemas.microsoft.com/office/drawing/2014/main" id="{5C4D3998-08DD-3820-D170-02DFE501BF6A}"/>
                </a:ext>
              </a:extLst>
            </p:cNvPr>
            <p:cNvCxnSpPr>
              <a:stCxn id="15" idx="3"/>
              <a:endCxn id="11" idx="0"/>
            </p:cNvCxnSpPr>
            <p:nvPr/>
          </p:nvCxnSpPr>
          <p:spPr>
            <a:xfrm>
              <a:off x="3517900" y="3460750"/>
              <a:ext cx="185300" cy="45262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7029FFC5-80B8-0F57-67F9-B90CD57A4845}"/>
                </a:ext>
              </a:extLst>
            </p:cNvPr>
            <p:cNvCxnSpPr>
              <a:stCxn id="15" idx="1"/>
            </p:cNvCxnSpPr>
            <p:nvPr/>
          </p:nvCxnSpPr>
          <p:spPr>
            <a:xfrm flipH="1">
              <a:off x="2704578" y="3460750"/>
              <a:ext cx="266804" cy="0"/>
            </a:xfrm>
            <a:prstGeom prst="line">
              <a:avLst/>
            </a:prstGeom>
            <a:ln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3" name="Connector: Elbow 22">
              <a:extLst>
                <a:ext uri="{FF2B5EF4-FFF2-40B4-BE49-F238E27FC236}">
                  <a16:creationId xmlns:a16="http://schemas.microsoft.com/office/drawing/2014/main" id="{CD4A7C63-26B6-7B49-354D-6EA8E40614ED}"/>
                </a:ext>
              </a:extLst>
            </p:cNvPr>
            <p:cNvCxnSpPr>
              <a:cxnSpLocks/>
              <a:stCxn id="11" idx="2"/>
              <a:endCxn id="16" idx="6"/>
            </p:cNvCxnSpPr>
            <p:nvPr/>
          </p:nvCxnSpPr>
          <p:spPr>
            <a:xfrm rot="5400000">
              <a:off x="3101497" y="4180208"/>
              <a:ext cx="400540" cy="802866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3952B2F4-490F-BC90-DE7A-C07F43FC886C}"/>
                </a:ext>
              </a:extLst>
            </p:cNvPr>
            <p:cNvCxnSpPr/>
            <p:nvPr/>
          </p:nvCxnSpPr>
          <p:spPr>
            <a:xfrm flipH="1" flipV="1">
              <a:off x="2694721" y="222375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4841643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D77AF7-AEE9-58FC-8805-639651C8A0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B90BF9-4F35-7CC8-B4A2-9A0C7D20F6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recorrente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2AD1736-B6E9-B84B-54CD-849BC507F7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92371" y="1825625"/>
            <a:ext cx="5168993" cy="4351338"/>
          </a:xfrm>
        </p:spPr>
        <p:txBody>
          <a:bodyPr/>
          <a:lstStyle/>
          <a:p>
            <a:r>
              <a:rPr lang="pt-BR" dirty="0"/>
              <a:t>Representação simplificada do neurônio.</a:t>
            </a:r>
          </a:p>
          <a:p>
            <a:r>
              <a:rPr lang="pt-BR" dirty="0"/>
              <a:t>Bastante utilizada na literatura.</a:t>
            </a:r>
            <a:endParaRPr lang="en-US" dirty="0"/>
          </a:p>
        </p:txBody>
      </p:sp>
      <p:grpSp>
        <p:nvGrpSpPr>
          <p:cNvPr id="55" name="Group 54">
            <a:extLst>
              <a:ext uri="{FF2B5EF4-FFF2-40B4-BE49-F238E27FC236}">
                <a16:creationId xmlns:a16="http://schemas.microsoft.com/office/drawing/2014/main" id="{F1FC8C81-094A-585B-4F3A-F0DE5D997784}"/>
              </a:ext>
            </a:extLst>
          </p:cNvPr>
          <p:cNvGrpSpPr/>
          <p:nvPr/>
        </p:nvGrpSpPr>
        <p:grpSpPr>
          <a:xfrm>
            <a:off x="1372959" y="2169687"/>
            <a:ext cx="3830414" cy="3478284"/>
            <a:chOff x="654502" y="2093487"/>
            <a:chExt cx="3830414" cy="3478284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0310BD8F-0E7C-F10A-9C86-B2303040BE7D}"/>
                </a:ext>
              </a:extLst>
            </p:cNvPr>
            <p:cNvSpPr/>
            <p:nvPr/>
          </p:nvSpPr>
          <p:spPr>
            <a:xfrm>
              <a:off x="968829" y="2950029"/>
              <a:ext cx="3069771" cy="198120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B7B0CC01-48A2-5CAE-7F49-62D52A2AF9AD}"/>
                </a:ext>
              </a:extLst>
            </p:cNvPr>
            <p:cNvSpPr/>
            <p:nvPr/>
          </p:nvSpPr>
          <p:spPr>
            <a:xfrm>
              <a:off x="2002971" y="4190999"/>
              <a:ext cx="674915" cy="359229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Oval 27">
                  <a:extLst>
                    <a:ext uri="{FF2B5EF4-FFF2-40B4-BE49-F238E27FC236}">
                      <a16:creationId xmlns:a16="http://schemas.microsoft.com/office/drawing/2014/main" id="{03DB30CA-971F-1223-BF82-5944AA83DAE8}"/>
                    </a:ext>
                  </a:extLst>
                </p:cNvPr>
                <p:cNvSpPr/>
                <p:nvPr/>
              </p:nvSpPr>
              <p:spPr>
                <a:xfrm>
                  <a:off x="963387" y="5139771"/>
                  <a:ext cx="432000" cy="432000"/>
                </a:xfrm>
                <a:prstGeom prst="ellipse">
                  <a:avLst/>
                </a:prstGeom>
                <a:solidFill>
                  <a:schemeClr val="accent1">
                    <a:lumMod val="20000"/>
                    <a:lumOff val="80000"/>
                  </a:schemeClr>
                </a:solidFill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8" name="Oval 27">
                  <a:extLst>
                    <a:ext uri="{FF2B5EF4-FFF2-40B4-BE49-F238E27FC236}">
                      <a16:creationId xmlns:a16="http://schemas.microsoft.com/office/drawing/2014/main" id="{03DB30CA-971F-1223-BF82-5944AA83DAE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63387" y="5139771"/>
                  <a:ext cx="432000" cy="432000"/>
                </a:xfrm>
                <a:prstGeom prst="ellipse">
                  <a:avLst/>
                </a:prstGeom>
                <a:blipFill>
                  <a:blip r:embed="rId3"/>
                  <a:stretch>
                    <a:fillRect l="-13889" r="-12500" b="-55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2" name="Connector: Elbow 31">
              <a:extLst>
                <a:ext uri="{FF2B5EF4-FFF2-40B4-BE49-F238E27FC236}">
                  <a16:creationId xmlns:a16="http://schemas.microsoft.com/office/drawing/2014/main" id="{88D081D5-3BD3-DB47-44D4-01356D923649}"/>
                </a:ext>
              </a:extLst>
            </p:cNvPr>
            <p:cNvCxnSpPr>
              <a:cxnSpLocks/>
              <a:stCxn id="28" idx="0"/>
              <a:endCxn id="25" idx="2"/>
            </p:cNvCxnSpPr>
            <p:nvPr/>
          </p:nvCxnSpPr>
          <p:spPr>
            <a:xfrm rot="5400000" flipH="1" flipV="1">
              <a:off x="1465137" y="4264479"/>
              <a:ext cx="589543" cy="1161042"/>
            </a:xfrm>
            <a:prstGeom prst="bentConnector3">
              <a:avLst>
                <a:gd name="adj1" fmla="val 70311"/>
              </a:avLst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Connector: Elbow 34">
              <a:extLst>
                <a:ext uri="{FF2B5EF4-FFF2-40B4-BE49-F238E27FC236}">
                  <a16:creationId xmlns:a16="http://schemas.microsoft.com/office/drawing/2014/main" id="{C5432765-70CB-E050-EE29-01A4C98D1B3F}"/>
                </a:ext>
              </a:extLst>
            </p:cNvPr>
            <p:cNvCxnSpPr>
              <a:cxnSpLocks/>
              <a:stCxn id="25" idx="0"/>
            </p:cNvCxnSpPr>
            <p:nvPr/>
          </p:nvCxnSpPr>
          <p:spPr>
            <a:xfrm rot="5400000" flipH="1" flipV="1">
              <a:off x="2914652" y="2620736"/>
              <a:ext cx="996041" cy="2144486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Oval 36">
                  <a:extLst>
                    <a:ext uri="{FF2B5EF4-FFF2-40B4-BE49-F238E27FC236}">
                      <a16:creationId xmlns:a16="http://schemas.microsoft.com/office/drawing/2014/main" id="{C83DC4B7-2C13-1CCB-8C68-6B3BE9405B2B}"/>
                    </a:ext>
                  </a:extLst>
                </p:cNvPr>
                <p:cNvSpPr/>
                <p:nvPr/>
              </p:nvSpPr>
              <p:spPr>
                <a:xfrm>
                  <a:off x="3606600" y="2093487"/>
                  <a:ext cx="432000" cy="432000"/>
                </a:xfrm>
                <a:prstGeom prst="ellipse">
                  <a:avLst/>
                </a:prstGeom>
                <a:solidFill>
                  <a:schemeClr val="accent1">
                    <a:lumMod val="20000"/>
                    <a:lumOff val="80000"/>
                  </a:schemeClr>
                </a:solidFill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7" name="Oval 36">
                  <a:extLst>
                    <a:ext uri="{FF2B5EF4-FFF2-40B4-BE49-F238E27FC236}">
                      <a16:creationId xmlns:a16="http://schemas.microsoft.com/office/drawing/2014/main" id="{C83DC4B7-2C13-1CCB-8C68-6B3BE9405B2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6600" y="2093487"/>
                  <a:ext cx="432000" cy="432000"/>
                </a:xfrm>
                <a:prstGeom prst="ellipse">
                  <a:avLst/>
                </a:prstGeom>
                <a:blipFill>
                  <a:blip r:embed="rId4"/>
                  <a:stretch>
                    <a:fillRect l="-20833" r="-12500" b="-55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E36D1BA2-8986-9A38-5DBF-FC5C2135B588}"/>
                </a:ext>
              </a:extLst>
            </p:cNvPr>
            <p:cNvCxnSpPr>
              <a:endCxn id="37" idx="4"/>
            </p:cNvCxnSpPr>
            <p:nvPr/>
          </p:nvCxnSpPr>
          <p:spPr>
            <a:xfrm flipV="1">
              <a:off x="3822600" y="2525487"/>
              <a:ext cx="0" cy="66947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6" name="Connector: Elbow 45">
              <a:extLst>
                <a:ext uri="{FF2B5EF4-FFF2-40B4-BE49-F238E27FC236}">
                  <a16:creationId xmlns:a16="http://schemas.microsoft.com/office/drawing/2014/main" id="{64662ABC-6DDD-AA92-96BF-BCFBA039FB72}"/>
                </a:ext>
              </a:extLst>
            </p:cNvPr>
            <p:cNvCxnSpPr>
              <a:cxnSpLocks/>
            </p:cNvCxnSpPr>
            <p:nvPr/>
          </p:nvCxnSpPr>
          <p:spPr>
            <a:xfrm>
              <a:off x="654502" y="3184071"/>
              <a:ext cx="921744" cy="1552235"/>
            </a:xfrm>
            <a:prstGeom prst="bentConnector2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852646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058803-0098-D69B-94E1-8CF2F7283A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Atualização do estado e geração da saída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88FD72E-BE70-A3E4-42F1-AA2A1AE8D95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029200" y="1825624"/>
                <a:ext cx="7162800" cy="5032375"/>
              </a:xfrm>
            </p:spPr>
            <p:txBody>
              <a:bodyPr/>
              <a:lstStyle/>
              <a:p>
                <a:r>
                  <a:rPr lang="pt-BR" dirty="0"/>
                  <a:t>Equações de atualização do estado e de saída do neurônio recorrente: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𝒉</m:t>
                      </m:r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𝒉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</m:d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dirty="0"/>
              </a:p>
              <a:p>
                <a:pPr marL="0" indent="0" algn="ctr">
                  <a:buNone/>
                </a:pPr>
                <a:endParaRPr lang="en-US" sz="7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</m:acc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𝑾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𝑜</m:t>
                          </m:r>
                        </m:sub>
                      </m:sSub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𝒉</m:t>
                      </m:r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 err="1"/>
                  <a:t>Os</a:t>
                </a:r>
                <a:r>
                  <a:rPr lang="en-US" dirty="0"/>
                  <a:t> pesos </a:t>
                </a:r>
                <a:r>
                  <a:rPr lang="en-US" dirty="0" err="1"/>
                  <a:t>são</a:t>
                </a:r>
                <a:r>
                  <a:rPr lang="en-US" dirty="0"/>
                  <a:t> </a:t>
                </a:r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dirty="0" err="1"/>
                  <a:t>mesmos</a:t>
                </a:r>
                <a:r>
                  <a:rPr lang="en-US" dirty="0"/>
                  <a:t> </a:t>
                </a:r>
                <a:r>
                  <a:rPr lang="en-US" dirty="0" err="1"/>
                  <a:t>em</a:t>
                </a:r>
                <a:r>
                  <a:rPr lang="en-US" dirty="0"/>
                  <a:t> </a:t>
                </a:r>
                <a:r>
                  <a:rPr lang="en-US" dirty="0" err="1"/>
                  <a:t>todos</a:t>
                </a:r>
                <a:r>
                  <a:rPr lang="en-US" dirty="0"/>
                  <a:t> </a:t>
                </a:r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dirty="0" err="1"/>
                  <a:t>intervalos</a:t>
                </a:r>
                <a:r>
                  <a:rPr lang="en-US" dirty="0"/>
                  <a:t> de tempo.</a:t>
                </a:r>
              </a:p>
              <a:p>
                <a:r>
                  <a:rPr lang="en-US" dirty="0"/>
                  <a:t>Em </a:t>
                </a:r>
                <a:r>
                  <a:rPr lang="en-US" dirty="0" err="1"/>
                  <a:t>geral</a:t>
                </a:r>
                <a:r>
                  <a:rPr lang="en-US" dirty="0"/>
                  <a:t>, </a:t>
                </a:r>
                <a:r>
                  <a:rPr lang="en-US" dirty="0" err="1"/>
                  <a:t>usa</a:t>
                </a:r>
                <a:r>
                  <a:rPr lang="en-US" dirty="0"/>
                  <a:t>-se </a:t>
                </a:r>
                <a:r>
                  <a:rPr lang="en-US" dirty="0" err="1"/>
                  <a:t>funções</a:t>
                </a:r>
                <a:r>
                  <a:rPr lang="en-US" dirty="0"/>
                  <a:t> de </a:t>
                </a:r>
                <a:r>
                  <a:rPr lang="en-US" dirty="0" err="1"/>
                  <a:t>ativação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r>
                  <a:rPr lang="en-US" dirty="0"/>
                  <a:t>, do </a:t>
                </a:r>
                <a:r>
                  <a:rPr lang="en-US" dirty="0" err="1"/>
                  <a:t>tipo</a:t>
                </a:r>
                <a:r>
                  <a:rPr lang="en-US" dirty="0"/>
                  <a:t> </a:t>
                </a:r>
                <a:r>
                  <a:rPr lang="en-US" dirty="0" err="1"/>
                  <a:t>tangente</a:t>
                </a:r>
                <a:r>
                  <a:rPr lang="en-US" dirty="0"/>
                  <a:t> </a:t>
                </a:r>
                <a:r>
                  <a:rPr lang="en-US" dirty="0" err="1"/>
                  <a:t>hiperbólica</a:t>
                </a:r>
                <a:r>
                  <a:rPr lang="en-US" dirty="0"/>
                  <a:t> (tanh).</a:t>
                </a:r>
              </a:p>
              <a:p>
                <a:pPr algn="ctr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88FD72E-BE70-A3E4-42F1-AA2A1AE8D95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29200" y="1825624"/>
                <a:ext cx="7162800" cy="5032375"/>
              </a:xfrm>
              <a:blipFill>
                <a:blip r:embed="rId3"/>
                <a:stretch>
                  <a:fillRect l="-1532" t="-1937" r="-14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21A8E-E596-0752-ABB3-DDE290A038F7}"/>
              </a:ext>
            </a:extLst>
          </p:cNvPr>
          <p:cNvGrpSpPr/>
          <p:nvPr/>
        </p:nvGrpSpPr>
        <p:grpSpPr>
          <a:xfrm>
            <a:off x="2225506" y="1747612"/>
            <a:ext cx="1483094" cy="4507363"/>
            <a:chOff x="2454106" y="1782434"/>
            <a:chExt cx="1483094" cy="450736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" name="Rectangle 38">
                  <a:extLst>
                    <a:ext uri="{FF2B5EF4-FFF2-40B4-BE49-F238E27FC236}">
                      <a16:creationId xmlns:a16="http://schemas.microsoft.com/office/drawing/2014/main" id="{48C80E92-14C9-01F0-8DC8-2E63A00BB223}"/>
                    </a:ext>
                  </a:extLst>
                </p:cNvPr>
                <p:cNvSpPr/>
                <p:nvPr/>
              </p:nvSpPr>
              <p:spPr>
                <a:xfrm>
                  <a:off x="2460638" y="242629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9" name="Rectangle 38">
                  <a:extLst>
                    <a:ext uri="{FF2B5EF4-FFF2-40B4-BE49-F238E27FC236}">
                      <a16:creationId xmlns:a16="http://schemas.microsoft.com/office/drawing/2014/main" id="{48C80E92-14C9-01F0-8DC8-2E63A00BB22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60638" y="2426299"/>
                  <a:ext cx="468000" cy="468000"/>
                </a:xfrm>
                <a:prstGeom prst="rect">
                  <a:avLst/>
                </a:prstGeom>
                <a:blipFill>
                  <a:blip r:embed="rId4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Rectangle 39">
                  <a:extLst>
                    <a:ext uri="{FF2B5EF4-FFF2-40B4-BE49-F238E27FC236}">
                      <a16:creationId xmlns:a16="http://schemas.microsoft.com/office/drawing/2014/main" id="{8D681600-DE64-6E97-06BB-EDCA0D68B898}"/>
                    </a:ext>
                  </a:extLst>
                </p:cNvPr>
                <p:cNvSpPr/>
                <p:nvPr/>
              </p:nvSpPr>
              <p:spPr>
                <a:xfrm>
                  <a:off x="2454106" y="519385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0" name="Rectangle 39">
                  <a:extLst>
                    <a:ext uri="{FF2B5EF4-FFF2-40B4-BE49-F238E27FC236}">
                      <a16:creationId xmlns:a16="http://schemas.microsoft.com/office/drawing/2014/main" id="{8D681600-DE64-6E97-06BB-EDCA0D68B89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54106" y="5193854"/>
                  <a:ext cx="468000" cy="468000"/>
                </a:xfrm>
                <a:prstGeom prst="rect">
                  <a:avLst/>
                </a:prstGeom>
                <a:blipFill>
                  <a:blip r:embed="rId5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Rectangle 40">
                  <a:extLst>
                    <a:ext uri="{FF2B5EF4-FFF2-40B4-BE49-F238E27FC236}">
                      <a16:creationId xmlns:a16="http://schemas.microsoft.com/office/drawing/2014/main" id="{9DCA2272-8C0C-B896-9826-E54FBA0FE64C}"/>
                    </a:ext>
                  </a:extLst>
                </p:cNvPr>
                <p:cNvSpPr/>
                <p:nvPr/>
              </p:nvSpPr>
              <p:spPr>
                <a:xfrm>
                  <a:off x="3469200" y="3913371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1" name="Rectangle 40">
                  <a:extLst>
                    <a:ext uri="{FF2B5EF4-FFF2-40B4-BE49-F238E27FC236}">
                      <a16:creationId xmlns:a16="http://schemas.microsoft.com/office/drawing/2014/main" id="{9DCA2272-8C0C-B896-9826-E54FBA0FE64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69200" y="3913371"/>
                  <a:ext cx="468000" cy="468000"/>
                </a:xfrm>
                <a:prstGeom prst="rect">
                  <a:avLst/>
                </a:prstGeom>
                <a:blipFill>
                  <a:blip r:embed="rId6"/>
                  <a:stretch>
                    <a:fillRect l="-1039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Oval 41">
                  <a:extLst>
                    <a:ext uri="{FF2B5EF4-FFF2-40B4-BE49-F238E27FC236}">
                      <a16:creationId xmlns:a16="http://schemas.microsoft.com/office/drawing/2014/main" id="{33BC30A3-21C6-CC65-3BE1-E00A8369C8D6}"/>
                    </a:ext>
                  </a:extLst>
                </p:cNvPr>
                <p:cNvSpPr/>
                <p:nvPr/>
              </p:nvSpPr>
              <p:spPr>
                <a:xfrm>
                  <a:off x="2475878" y="1782434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b="1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</m:oMath>
                    </m:oMathPara>
                  </a14:m>
                  <a:endParaRPr lang="en-US" b="1" dirty="0"/>
                </a:p>
              </p:txBody>
            </p:sp>
          </mc:Choice>
          <mc:Fallback xmlns="">
            <p:sp>
              <p:nvSpPr>
                <p:cNvPr id="42" name="Oval 41">
                  <a:extLst>
                    <a:ext uri="{FF2B5EF4-FFF2-40B4-BE49-F238E27FC236}">
                      <a16:creationId xmlns:a16="http://schemas.microsoft.com/office/drawing/2014/main" id="{33BC30A3-21C6-CC65-3BE1-E00A8369C8D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75878" y="1782434"/>
                  <a:ext cx="432000" cy="432000"/>
                </a:xfrm>
                <a:prstGeom prst="ellipse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Oval 42">
                  <a:extLst>
                    <a:ext uri="{FF2B5EF4-FFF2-40B4-BE49-F238E27FC236}">
                      <a16:creationId xmlns:a16="http://schemas.microsoft.com/office/drawing/2014/main" id="{6BADA7E3-1C7D-B324-5E45-068ED77CE8B2}"/>
                    </a:ext>
                  </a:extLst>
                </p:cNvPr>
                <p:cNvSpPr/>
                <p:nvPr/>
              </p:nvSpPr>
              <p:spPr>
                <a:xfrm>
                  <a:off x="2475878" y="3931371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</m:oMath>
                    </m:oMathPara>
                  </a14:m>
                  <a:endParaRPr lang="en-US" b="1" dirty="0"/>
                </a:p>
              </p:txBody>
            </p:sp>
          </mc:Choice>
          <mc:Fallback xmlns="">
            <p:sp>
              <p:nvSpPr>
                <p:cNvPr id="13" name="Oval 12">
                  <a:extLst>
                    <a:ext uri="{FF2B5EF4-FFF2-40B4-BE49-F238E27FC236}">
                      <a16:creationId xmlns:a16="http://schemas.microsoft.com/office/drawing/2014/main" id="{536A747D-2D61-6719-5F86-0A8E352880D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75878" y="3931371"/>
                  <a:ext cx="432000" cy="432000"/>
                </a:xfrm>
                <a:prstGeom prst="ellipse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Oval 43">
                  <a:extLst>
                    <a:ext uri="{FF2B5EF4-FFF2-40B4-BE49-F238E27FC236}">
                      <a16:creationId xmlns:a16="http://schemas.microsoft.com/office/drawing/2014/main" id="{36597884-C966-E4A2-1EDB-3DAB2C2DF642}"/>
                    </a:ext>
                  </a:extLst>
                </p:cNvPr>
                <p:cNvSpPr/>
                <p:nvPr/>
              </p:nvSpPr>
              <p:spPr>
                <a:xfrm>
                  <a:off x="2475878" y="5857797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oMath>
                    </m:oMathPara>
                  </a14:m>
                  <a:endParaRPr lang="en-US" b="1" dirty="0"/>
                </a:p>
              </p:txBody>
            </p:sp>
          </mc:Choice>
          <mc:Fallback xmlns=""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2FE8CA7C-772F-3BB3-6BD7-E3F13B6038B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75878" y="5857797"/>
                  <a:ext cx="432000" cy="432000"/>
                </a:xfrm>
                <a:prstGeom prst="ellipse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Diamond 44">
                  <a:extLst>
                    <a:ext uri="{FF2B5EF4-FFF2-40B4-BE49-F238E27FC236}">
                      <a16:creationId xmlns:a16="http://schemas.microsoft.com/office/drawing/2014/main" id="{44CD1704-9F4B-7614-C983-EC06D8823ADD}"/>
                    </a:ext>
                  </a:extLst>
                </p:cNvPr>
                <p:cNvSpPr/>
                <p:nvPr/>
              </p:nvSpPr>
              <p:spPr>
                <a:xfrm>
                  <a:off x="2971382" y="3226750"/>
                  <a:ext cx="546518" cy="468000"/>
                </a:xfrm>
                <a:prstGeom prst="diamond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5" name="Diamond 14">
                  <a:extLst>
                    <a:ext uri="{FF2B5EF4-FFF2-40B4-BE49-F238E27FC236}">
                      <a16:creationId xmlns:a16="http://schemas.microsoft.com/office/drawing/2014/main" id="{59379733-07D8-5D46-149B-54EB96CC612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71382" y="3226750"/>
                  <a:ext cx="546518" cy="468000"/>
                </a:xfrm>
                <a:prstGeom prst="diamond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Oval 45">
                  <a:extLst>
                    <a:ext uri="{FF2B5EF4-FFF2-40B4-BE49-F238E27FC236}">
                      <a16:creationId xmlns:a16="http://schemas.microsoft.com/office/drawing/2014/main" id="{B4687A43-B7BF-FC67-428F-19AAB9F01D26}"/>
                    </a:ext>
                  </a:extLst>
                </p:cNvPr>
                <p:cNvSpPr/>
                <p:nvPr/>
              </p:nvSpPr>
              <p:spPr>
                <a:xfrm>
                  <a:off x="2468334" y="4565911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pt-BR" sz="14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6" name="Oval 15">
                  <a:extLst>
                    <a:ext uri="{FF2B5EF4-FFF2-40B4-BE49-F238E27FC236}">
                      <a16:creationId xmlns:a16="http://schemas.microsoft.com/office/drawing/2014/main" id="{BA8FA2A5-55CF-3204-8044-DC2B8D19B59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68334" y="4565911"/>
                  <a:ext cx="432000" cy="432000"/>
                </a:xfrm>
                <a:prstGeom prst="ellipse">
                  <a:avLst/>
                </a:prstGeom>
                <a:blipFill>
                  <a:blip r:embed="rId12"/>
                  <a:stretch>
                    <a:fillRect l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F47C8075-E677-7E77-992F-CBAA22C9A20D}"/>
                </a:ext>
              </a:extLst>
            </p:cNvPr>
            <p:cNvCxnSpPr>
              <a:stCxn id="44" idx="0"/>
              <a:endCxn id="40" idx="2"/>
            </p:cNvCxnSpPr>
            <p:nvPr/>
          </p:nvCxnSpPr>
          <p:spPr>
            <a:xfrm flipH="1" flipV="1">
              <a:off x="2688106" y="566185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79B07ABA-1F34-A866-F6AE-C6374482977A}"/>
                </a:ext>
              </a:extLst>
            </p:cNvPr>
            <p:cNvCxnSpPr/>
            <p:nvPr/>
          </p:nvCxnSpPr>
          <p:spPr>
            <a:xfrm flipH="1" flipV="1">
              <a:off x="2691878" y="4997911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A28FEB4E-C9B5-452A-41C9-8829FFF5252F}"/>
                </a:ext>
              </a:extLst>
            </p:cNvPr>
            <p:cNvCxnSpPr/>
            <p:nvPr/>
          </p:nvCxnSpPr>
          <p:spPr>
            <a:xfrm flipH="1" flipV="1">
              <a:off x="2688106" y="4369968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0" name="Straight Arrow Connector 49">
              <a:extLst>
                <a:ext uri="{FF2B5EF4-FFF2-40B4-BE49-F238E27FC236}">
                  <a16:creationId xmlns:a16="http://schemas.microsoft.com/office/drawing/2014/main" id="{DEA95CBE-A623-F33B-9C69-EB087DE22470}"/>
                </a:ext>
              </a:extLst>
            </p:cNvPr>
            <p:cNvCxnSpPr>
              <a:stCxn id="43" idx="0"/>
              <a:endCxn id="39" idx="2"/>
            </p:cNvCxnSpPr>
            <p:nvPr/>
          </p:nvCxnSpPr>
          <p:spPr>
            <a:xfrm flipV="1">
              <a:off x="2691878" y="2894299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1" name="Connector: Elbow 50">
              <a:extLst>
                <a:ext uri="{FF2B5EF4-FFF2-40B4-BE49-F238E27FC236}">
                  <a16:creationId xmlns:a16="http://schemas.microsoft.com/office/drawing/2014/main" id="{D2F72A6A-C9B6-97A0-D67B-09F2B17B4D0C}"/>
                </a:ext>
              </a:extLst>
            </p:cNvPr>
            <p:cNvCxnSpPr>
              <a:stCxn id="45" idx="3"/>
              <a:endCxn id="41" idx="0"/>
            </p:cNvCxnSpPr>
            <p:nvPr/>
          </p:nvCxnSpPr>
          <p:spPr>
            <a:xfrm>
              <a:off x="3517900" y="3460750"/>
              <a:ext cx="185300" cy="45262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12AD9BC8-B6BB-BE6A-4257-F93675D1F7A1}"/>
                </a:ext>
              </a:extLst>
            </p:cNvPr>
            <p:cNvCxnSpPr>
              <a:stCxn id="45" idx="1"/>
            </p:cNvCxnSpPr>
            <p:nvPr/>
          </p:nvCxnSpPr>
          <p:spPr>
            <a:xfrm flipH="1">
              <a:off x="2704578" y="3460750"/>
              <a:ext cx="266804" cy="0"/>
            </a:xfrm>
            <a:prstGeom prst="line">
              <a:avLst/>
            </a:prstGeom>
            <a:ln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3" name="Connector: Elbow 52">
              <a:extLst>
                <a:ext uri="{FF2B5EF4-FFF2-40B4-BE49-F238E27FC236}">
                  <a16:creationId xmlns:a16="http://schemas.microsoft.com/office/drawing/2014/main" id="{EB97BFAB-B73F-6C46-1F34-886A2489EA05}"/>
                </a:ext>
              </a:extLst>
            </p:cNvPr>
            <p:cNvCxnSpPr>
              <a:cxnSpLocks/>
              <a:stCxn id="41" idx="2"/>
              <a:endCxn id="46" idx="6"/>
            </p:cNvCxnSpPr>
            <p:nvPr/>
          </p:nvCxnSpPr>
          <p:spPr>
            <a:xfrm rot="5400000">
              <a:off x="3101497" y="4180208"/>
              <a:ext cx="400540" cy="802866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C5B9F570-C6A4-8F71-2B37-1F5F88E5EDDA}"/>
                </a:ext>
              </a:extLst>
            </p:cNvPr>
            <p:cNvCxnSpPr/>
            <p:nvPr/>
          </p:nvCxnSpPr>
          <p:spPr>
            <a:xfrm flipH="1" flipV="1">
              <a:off x="2694721" y="222375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615492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16F952-34AF-BA6E-B7BC-56FB84A3F6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Desdobrando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0A4886-E5F5-4A0C-632C-A874615BA6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96300" y="1825624"/>
            <a:ext cx="3695700" cy="5032375"/>
          </a:xfrm>
        </p:spPr>
        <p:txBody>
          <a:bodyPr>
            <a:normAutofit/>
          </a:bodyPr>
          <a:lstStyle/>
          <a:p>
            <a:r>
              <a:rPr lang="pt-BR" dirty="0"/>
              <a:t>As </a:t>
            </a:r>
            <a:r>
              <a:rPr lang="pt-BR" dirty="0" err="1"/>
              <a:t>RNNs</a:t>
            </a:r>
            <a:r>
              <a:rPr lang="pt-BR" dirty="0"/>
              <a:t> podem ser vistas como múltiplas cópias da mesma rede, cada uma passando uma mensagem para a sua sucessora.</a:t>
            </a:r>
          </a:p>
          <a:p>
            <a:r>
              <a:rPr lang="pt-BR" dirty="0"/>
              <a:t>É como se tivéssemos uma rede com várias camadas.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1DBF9CD-22BC-BF23-C3DB-8A0935A9334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0820" y="1690688"/>
            <a:ext cx="7578510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921062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12F95D-ED92-C388-CC49-D8F09C8852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2609EE-8280-8794-483C-6378817456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Desdobrando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1BBBBA-8C71-1CFD-F648-D5836DBC94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96300" y="1825624"/>
            <a:ext cx="3695700" cy="5032375"/>
          </a:xfrm>
        </p:spPr>
        <p:txBody>
          <a:bodyPr>
            <a:normAutofit/>
          </a:bodyPr>
          <a:lstStyle/>
          <a:p>
            <a:r>
              <a:rPr lang="pt-BR" dirty="0"/>
              <a:t>A mesma função e o mesmo conjunto de pesos são usados ​​em cada passo de tempo.</a:t>
            </a:r>
          </a:p>
          <a:p>
            <a:r>
              <a:rPr lang="pt-BR" dirty="0"/>
              <a:t>São chamadas recorrentes porque executam a mesma tarefa para cada entrada.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315E294-5B43-04E7-8028-22C59DA3BF3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0820" y="1690688"/>
            <a:ext cx="7578510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910777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41620E-F055-A200-7D54-3C89067DAB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Treinando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B90F1A-97F6-4A2B-EB59-AE9A21F31F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210926" cy="5032376"/>
          </a:xfrm>
        </p:spPr>
        <p:txBody>
          <a:bodyPr/>
          <a:lstStyle/>
          <a:p>
            <a:r>
              <a:rPr lang="pt-BR" dirty="0"/>
              <a:t>Os pesos são atualizados usando o gradiente descendente.</a:t>
            </a:r>
          </a:p>
          <a:p>
            <a:r>
              <a:rPr lang="pt-BR" dirty="0"/>
              <a:t>Uma função de erro (EQM, EQ, etc.) é avaliada com base no erro cometido pela rede no conjunto de treinamento.</a:t>
            </a:r>
          </a:p>
          <a:p>
            <a:r>
              <a:rPr lang="pt-BR" dirty="0"/>
              <a:t>A derivada da função de perda, em relação aos parâmetros do modelo, é retropropagada através da rede.</a:t>
            </a:r>
          </a:p>
          <a:p>
            <a:r>
              <a:rPr lang="pt-BR" dirty="0"/>
              <a:t>Os pesos são ajustados até que um critério de parada seja atendido: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 número máximo de épocas é atingido.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 função de perda para de diminuir.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719942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55AF5A-930E-4EB7-9C3A-7CA94CC8D6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167BFA-0FC4-2278-90FE-EEBB76F8CB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Treinando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56341B-8DD5-B4D0-04B5-B1D29CAF8A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1825624"/>
            <a:ext cx="6095999" cy="5032376"/>
          </a:xfrm>
        </p:spPr>
        <p:txBody>
          <a:bodyPr>
            <a:normAutofit/>
          </a:bodyPr>
          <a:lstStyle/>
          <a:p>
            <a:r>
              <a:rPr lang="pt-BR" dirty="0"/>
              <a:t>Para treinar a rede, primeiro a desdobramos e depois aplicamos a retropropagação do erro tradicional.</a:t>
            </a:r>
          </a:p>
          <a:p>
            <a:r>
              <a:rPr lang="pt-BR" dirty="0"/>
              <a:t>Cada réplica da rede é relativa a um intervalo de tempo diferente.</a:t>
            </a:r>
          </a:p>
          <a:p>
            <a:r>
              <a:rPr lang="pt-BR" dirty="0"/>
              <a:t>A arquitetura da rede pode se tornar muito profunda.</a:t>
            </a:r>
          </a:p>
          <a:p>
            <a:r>
              <a:rPr lang="pt-BR" dirty="0"/>
              <a:t>Os pesos são mantidos constantes em cada intervalo de tempo.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0D16130-635A-563B-0B23-54F9982484B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825624"/>
            <a:ext cx="4896244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461123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25BD8C-59A6-E96C-9CCD-7115BEC931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0347F1D-7D82-FBF2-C746-409D3CF4FA0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A diferença entre a saída e o valor desejado é avaliada por uma função de erro ao longo de todos os passos de tempo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d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,…,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</m:d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d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,…,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−1]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])</m:t>
                          </m:r>
                        </m:e>
                      </m:nary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Por </a:t>
                </a:r>
                <a:r>
                  <a:rPr lang="en-US" dirty="0" err="1"/>
                  <a:t>exemplo</a:t>
                </a:r>
                <a:r>
                  <a:rPr lang="en-US" dirty="0"/>
                  <a:t>, </a:t>
                </a:r>
                <a:r>
                  <a:rPr lang="en-US" dirty="0" err="1"/>
                  <a:t>usando</a:t>
                </a:r>
                <a:r>
                  <a:rPr lang="en-US" dirty="0"/>
                  <a:t> a retropropagação para </a:t>
                </a:r>
                <a:r>
                  <a:rPr lang="en-US" dirty="0" err="1"/>
                  <a:t>encontrar</a:t>
                </a:r>
                <a:r>
                  <a:rPr lang="en-US" dirty="0"/>
                  <a:t> </a:t>
                </a:r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dirty="0" err="1"/>
                  <a:t>gradiente</a:t>
                </a:r>
                <a:r>
                  <a:rPr lang="en-US" dirty="0"/>
                  <a:t> com </a:t>
                </a:r>
                <a:r>
                  <a:rPr lang="en-US" dirty="0" err="1"/>
                  <a:t>relação</a:t>
                </a:r>
                <a:r>
                  <a:rPr lang="en-US" dirty="0"/>
                  <a:t> </a:t>
                </a:r>
                <a:r>
                  <a:rPr lang="en-US" dirty="0" err="1"/>
                  <a:t>aos</a:t>
                </a:r>
                <a:r>
                  <a:rPr lang="en-US" dirty="0"/>
                  <a:t> pesos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dirty="0"/>
                  <a:t>, </a:t>
                </a:r>
                <a:r>
                  <a:rPr lang="en-US" dirty="0" err="1"/>
                  <a:t>temos</a:t>
                </a: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num>
                        <m:den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])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𝑾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sub>
                              </m:sSub>
                            </m:den>
                          </m:f>
                        </m:e>
                      </m:nary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])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den>
                          </m:f>
                        </m:e>
                      </m:nary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]</m:t>
                          </m:r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  <a:p>
                <a:r>
                  <a:rPr lang="pt-BR" dirty="0"/>
                  <a:t>O primeiro e o segundo fatores do produto são fáceis de calcular. O terceiro é onde as coisas ficam complicadas, já que precisamos calcular recursivamente o efeito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pt-BR" dirty="0"/>
                  <a:t> em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 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.</a:t>
                </a:r>
                <a:endParaRPr lang="en-US" dirty="0"/>
              </a:p>
              <a:p>
                <a:pPr marL="0" indent="0" algn="ctr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0347F1D-7D82-FBF2-C746-409D3CF4FA0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  <a:blipFill>
                <a:blip r:embed="rId3"/>
                <a:stretch>
                  <a:fillRect l="-913" t="-2663" b="-8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3062346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14D433-326F-849D-932A-FF7EE19B35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5088ED-FFA8-2495-4BDA-71832C583C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318CD52-A943-7B32-573B-CF8EC5A121F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num>
                        <m:den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])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den>
                          </m:f>
                        </m:e>
                      </m:nary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]</m:t>
                          </m:r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  <a:p>
                <a:r>
                  <a:rPr lang="pt-BR" dirty="0"/>
                  <a:t>Somamos as contribuições de cada passo de tempo para obter o gradiente.</a:t>
                </a:r>
              </a:p>
              <a:p>
                <a:r>
                  <a:rPr lang="pt-BR" dirty="0"/>
                  <a:t>Com uma sequência muito longa, temos uma profundidade intratável, o que torna o treinamento muito lento.</a:t>
                </a:r>
              </a:p>
              <a:p>
                <a:r>
                  <a:rPr lang="pt-BR" dirty="0"/>
                  <a:t>O que se faz na prática é repetir o procedimento apenas até um determinado instante de tempo,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𝜏</m:t>
                    </m:r>
                    <m:r>
                      <a:rPr lang="pt-BR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</m:oMath>
                </a14:m>
                <a:endParaRPr lang="pt-BR" dirty="0"/>
              </a:p>
              <a:p>
                <a:r>
                  <a:rPr lang="pt-BR" dirty="0"/>
                  <a:t>Esse processo é chamado de BPPT truncado.</a:t>
                </a:r>
              </a:p>
              <a:p>
                <a:r>
                  <a:rPr lang="pt-BR" dirty="0"/>
                  <a:t>Por que isso funciona? Porque cada estado carrega um pouco de informação de cada entrada anterior.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318CD52-A943-7B32-573B-CF8EC5A121F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  <a:blipFill>
                <a:blip r:embed="rId3"/>
                <a:stretch>
                  <a:fillRect l="-913" b="-3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7842944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74086D-26FF-58C0-0D8C-43E088D7A7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Desaparecimento e explosão do gradiente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17322D7-1E5D-8654-5448-A6C0D6748A7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/>
              <a:lstStyle/>
              <a:p>
                <a:r>
                  <a:rPr lang="en-US" dirty="0"/>
                  <a:t>Durante o </a:t>
                </a:r>
                <a:r>
                  <a:rPr lang="en-US" dirty="0" err="1"/>
                  <a:t>treinamento</a:t>
                </a:r>
                <a:r>
                  <a:rPr lang="en-US" dirty="0"/>
                  <a:t>, o BPTT </a:t>
                </a:r>
                <a:r>
                  <a:rPr lang="en-US" dirty="0" err="1"/>
                  <a:t>aplica</a:t>
                </a:r>
                <a:r>
                  <a:rPr lang="en-US" dirty="0"/>
                  <a:t> a </a:t>
                </a:r>
                <a:r>
                  <a:rPr lang="en-US" dirty="0" err="1"/>
                  <a:t>regra</a:t>
                </a:r>
                <a:r>
                  <a:rPr lang="en-US" dirty="0"/>
                  <a:t> da </a:t>
                </a:r>
                <a:r>
                  <a:rPr lang="en-US" dirty="0" err="1"/>
                  <a:t>cadeia</a:t>
                </a:r>
                <a:r>
                  <a:rPr lang="en-US" dirty="0"/>
                  <a:t> </a:t>
                </a:r>
                <a:r>
                  <a:rPr lang="en-US" dirty="0" err="1"/>
                  <a:t>ao</a:t>
                </a:r>
                <a:r>
                  <a:rPr lang="en-US" dirty="0"/>
                  <a:t> </a:t>
                </a:r>
                <a:r>
                  <a:rPr lang="en-US" dirty="0" err="1"/>
                  <a:t>longo</a:t>
                </a:r>
                <a:r>
                  <a:rPr lang="en-US" dirty="0"/>
                  <a:t> de </a:t>
                </a:r>
                <a:r>
                  <a:rPr lang="en-US" dirty="0" err="1"/>
                  <a:t>vários</a:t>
                </a:r>
                <a:r>
                  <a:rPr lang="en-US" dirty="0"/>
                  <a:t> </a:t>
                </a:r>
                <a:r>
                  <a:rPr lang="en-US" dirty="0" err="1"/>
                  <a:t>passos</a:t>
                </a:r>
                <a:r>
                  <a:rPr lang="en-US" dirty="0"/>
                  <a:t> no tempo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𝐸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𝑾</m:t>
                          </m:r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])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den>
                          </m:f>
                        </m:e>
                      </m:nary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 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−2]</m:t>
                          </m:r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…</m:t>
                      </m:r>
                    </m:oMath>
                  </m:oMathPara>
                </a14:m>
                <a:endParaRPr lang="pt-BR" b="0" dirty="0"/>
              </a:p>
              <a:p>
                <a:r>
                  <a:rPr lang="pt-BR" dirty="0"/>
                  <a:t>O gradiente envolve um </a:t>
                </a:r>
                <a:r>
                  <a:rPr lang="pt-BR" b="1" dirty="0"/>
                  <a:t>produto de muitas derivadas sucessivas</a:t>
                </a:r>
                <a:r>
                  <a:rPr lang="pt-BR" dirty="0"/>
                  <a:t>.</a:t>
                </a:r>
              </a:p>
              <a:p>
                <a:endParaRPr lang="pt-BR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17322D7-1E5D-8654-5448-A6C0D6748A7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>
                <a:blip r:embed="rId3"/>
                <a:stretch>
                  <a:fillRect l="-967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0488878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0B3E83-9EAE-E8A7-7AA4-FBE22E963D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Desaparecimento e explosão do gradiente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29E5B8-582B-19A9-B4A3-70C3734023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800" cy="5032375"/>
          </a:xfrm>
        </p:spPr>
        <p:txBody>
          <a:bodyPr>
            <a:normAutofit/>
          </a:bodyPr>
          <a:lstStyle/>
          <a:p>
            <a:r>
              <a:rPr lang="pt-BR" dirty="0"/>
              <a:t>Se cada termo &lt; 1 → produto → </a:t>
            </a:r>
            <a:r>
              <a:rPr lang="pt-BR" b="1" dirty="0"/>
              <a:t>vai para zero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 rede </a:t>
            </a:r>
            <a:r>
              <a:rPr lang="pt-BR" b="1" dirty="0"/>
              <a:t>esquece o passado mais distante </a:t>
            </a:r>
            <a:r>
              <a:rPr lang="pt-BR" dirty="0"/>
              <a:t>(informação antiga se perde).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Não aprende </a:t>
            </a:r>
            <a:r>
              <a:rPr lang="pt-BR" b="1" dirty="0"/>
              <a:t>dependências de longo prazo, apenas curtas.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Treinamento muito lento ou estagnado.</a:t>
            </a:r>
          </a:p>
          <a:p>
            <a:r>
              <a:rPr lang="pt-BR" dirty="0"/>
              <a:t>Se cada termo &gt; 1 → produto → </a:t>
            </a:r>
            <a:r>
              <a:rPr lang="pt-BR" b="1" dirty="0"/>
              <a:t>explode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Modelo </a:t>
            </a:r>
            <a:r>
              <a:rPr lang="en-US" dirty="0" err="1"/>
              <a:t>não</a:t>
            </a:r>
            <a:r>
              <a:rPr lang="en-US" dirty="0"/>
              <a:t> converge.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Atualizações de peso enormes.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Treinamento instável: erro vira </a:t>
            </a:r>
            <a:r>
              <a:rPr lang="pt-BR" dirty="0" err="1"/>
              <a:t>NaN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Sintoma típico: </a:t>
            </a:r>
            <a:r>
              <a:rPr lang="en-US" dirty="0" err="1"/>
              <a:t>oscilação</a:t>
            </a:r>
            <a:r>
              <a:rPr lang="en-US" dirty="0"/>
              <a:t> do </a:t>
            </a:r>
            <a:r>
              <a:rPr lang="en-US" dirty="0" err="1"/>
              <a:t>erro</a:t>
            </a:r>
            <a:r>
              <a:rPr lang="en-US" dirty="0"/>
              <a:t>.</a:t>
            </a:r>
          </a:p>
          <a:p>
            <a:pPr marL="0" indent="0">
              <a:buNone/>
            </a:pPr>
            <a:endParaRPr lang="en-US" sz="600" dirty="0"/>
          </a:p>
          <a:p>
            <a:pPr marL="0" indent="0" algn="ctr">
              <a:buNone/>
            </a:pPr>
            <a:r>
              <a:rPr lang="pt-BR" b="1" dirty="0" err="1">
                <a:solidFill>
                  <a:schemeClr val="accent2"/>
                </a:solidFill>
              </a:rPr>
              <a:t>RNNs</a:t>
            </a:r>
            <a:r>
              <a:rPr lang="pt-BR" b="1" dirty="0">
                <a:solidFill>
                  <a:schemeClr val="accent2"/>
                </a:solidFill>
              </a:rPr>
              <a:t> simples não aprendem dependências longas</a:t>
            </a:r>
            <a:endParaRPr lang="en-US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4775622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D051B6-265A-12A8-3776-6A1674C729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mitigar esses problemas?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74046BC-6244-425E-9E7B-A8996ECB3C7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/>
                  <a:t>Para a explosão</a:t>
                </a:r>
                <a:r>
                  <a:rPr lang="pt-BR" dirty="0"/>
                  <a:t>: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Limitar a magnitude do gradiente (</a:t>
                </a:r>
                <a:r>
                  <a:rPr lang="pt-BR" i="1" dirty="0" err="1"/>
                  <a:t>gradient</a:t>
                </a:r>
                <a:r>
                  <a:rPr lang="pt-BR" i="1" dirty="0"/>
                  <a:t> clipping</a:t>
                </a:r>
                <a:r>
                  <a:rPr lang="pt-BR" dirty="0"/>
                  <a:t>)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Inicializar os pesos de forma apropriada (inicializações de He e Xavier)</a:t>
                </a:r>
              </a:p>
              <a:p>
                <a:r>
                  <a:rPr lang="pt-BR" b="1" dirty="0"/>
                  <a:t>Para o desaparecimento</a:t>
                </a:r>
                <a:r>
                  <a:rPr lang="pt-BR" dirty="0"/>
                  <a:t>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Usar arquiteturas de </a:t>
                </a:r>
                <a:r>
                  <a:rPr lang="pt-BR" dirty="0" err="1"/>
                  <a:t>RNNs</a:t>
                </a:r>
                <a:r>
                  <a:rPr lang="pt-BR" dirty="0"/>
                  <a:t> mais avançadas: LSTM e GRU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sz="2100" dirty="0"/>
                  <a:t>Introduzem o conceito de </a:t>
                </a:r>
                <a:r>
                  <a:rPr lang="pt-BR" sz="2100" i="1" dirty="0" err="1"/>
                  <a:t>gates</a:t>
                </a:r>
                <a:r>
                  <a:rPr lang="pt-BR" sz="2100" dirty="0"/>
                  <a:t>, funcionando como válvulas </a:t>
                </a:r>
                <a:r>
                  <a:rPr lang="en-US" sz="2100" dirty="0"/>
                  <a:t>de </a:t>
                </a:r>
                <a:r>
                  <a:rPr lang="en-US" sz="2100" dirty="0" err="1"/>
                  <a:t>informação</a:t>
                </a:r>
                <a:r>
                  <a:rPr lang="en-US" sz="2100" dirty="0"/>
                  <a:t> e </a:t>
                </a:r>
                <a:r>
                  <a:rPr lang="en-US" sz="2100" dirty="0" err="1"/>
                  <a:t>gradiente</a:t>
                </a:r>
                <a:endParaRPr lang="pt-BR" sz="2100" dirty="0"/>
              </a:p>
              <a:p>
                <a:pPr lvl="3">
                  <a:buFont typeface="Wingdings" panose="05000000000000000000" pitchFamily="2" charset="2"/>
                  <a:buChar char="ü"/>
                </a:pPr>
                <a:r>
                  <a:rPr lang="pt-BR" dirty="0"/>
                  <a:t>Eles são funções (em geral, sigmoide) que produzem valores entre 0 e 1:</a:t>
                </a:r>
              </a:p>
              <a:p>
                <a:pPr lvl="4">
                  <a:buFont typeface="Wingdings" panose="05000000000000000000" pitchFamily="2" charset="2"/>
                  <a:buChar char="Ø"/>
                </a:pPr>
                <a:r>
                  <a:rPr lang="pt-BR" dirty="0"/>
                  <a:t>0 → bloqueia informação </a:t>
                </a:r>
              </a:p>
              <a:p>
                <a:pPr lvl="4">
                  <a:buFont typeface="Wingdings" panose="05000000000000000000" pitchFamily="2" charset="2"/>
                  <a:buChar char="Ø"/>
                </a:pPr>
                <a:r>
                  <a:rPr lang="pt-BR" dirty="0"/>
                  <a:t>1 → deixa passar totalmente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sz="1800" dirty="0"/>
                  <a:t>Criam caminhos com derivada </a:t>
                </a:r>
                <a14:m>
                  <m:oMath xmlns:m="http://schemas.openxmlformats.org/officeDocument/2006/math">
                    <m:r>
                      <a:rPr lang="pt-BR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</m:oMath>
                </a14:m>
                <a:r>
                  <a:rPr lang="pt-BR" sz="1800" dirty="0"/>
                  <a:t> 1</a:t>
                </a:r>
              </a:p>
              <a:p>
                <a:pPr lvl="3">
                  <a:buFont typeface="Wingdings" panose="05000000000000000000" pitchFamily="2" charset="2"/>
                  <a:buChar char="ü"/>
                </a:pPr>
                <a:r>
                  <a:rPr lang="pt-BR" dirty="0"/>
                  <a:t>Mantêm gradiente estável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Conexões residuais: criam caminhos diretos para o gradiente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Inicializar os pesos de forma apropriada (inicializações de He e Xavier)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74046BC-6244-425E-9E7B-A8996ECB3C7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>
                <a:blip r:embed="rId3"/>
                <a:stretch>
                  <a:fillRect l="-967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1656562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6302C1-1D71-8369-2652-1C4831795E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das dependências de longo prazo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10C7DC-900E-A12D-9EE8-1087C3111C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173690" cy="5032375"/>
          </a:xfrm>
        </p:spPr>
        <p:txBody>
          <a:bodyPr>
            <a:normAutofit/>
          </a:bodyPr>
          <a:lstStyle/>
          <a:p>
            <a:r>
              <a:rPr lang="pt-BR" dirty="0"/>
              <a:t>Devido ao desaparecimento do gradiente, as </a:t>
            </a:r>
            <a:r>
              <a:rPr lang="pt-BR" dirty="0" err="1"/>
              <a:t>RNNs</a:t>
            </a:r>
            <a:r>
              <a:rPr lang="pt-BR" dirty="0"/>
              <a:t> tradicionais (baunilha) são incapazes de aprender dependências de longo prazo.</a:t>
            </a:r>
          </a:p>
          <a:p>
            <a:r>
              <a:rPr lang="pt-BR" dirty="0"/>
              <a:t>Algumas aplicações exigem dependências tanto de curto quanto de longo prazo.</a:t>
            </a:r>
          </a:p>
          <a:p>
            <a:r>
              <a:rPr lang="pt-BR" b="1" dirty="0"/>
              <a:t>Exemplo</a:t>
            </a:r>
            <a:r>
              <a:rPr lang="pt-BR" dirty="0"/>
              <a:t>: Processamento de Linguagem Natural (PLN).</a:t>
            </a:r>
          </a:p>
          <a:p>
            <a:r>
              <a:rPr lang="pt-BR" dirty="0"/>
              <a:t>Em alguns casos, dependências de curto prazo são suficientes para fazer previsões.</a:t>
            </a:r>
          </a:p>
        </p:txBody>
      </p:sp>
    </p:spTree>
    <p:extLst>
      <p:ext uri="{BB962C8B-B14F-4D97-AF65-F5344CB8AC3E}">
        <p14:creationId xmlns:p14="http://schemas.microsoft.com/office/powerpoint/2010/main" val="301211373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27CE59-D8FC-0683-12EB-3BCB0F761D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A6D747-76A0-672E-907C-B0D4EB8362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das dependências de longo prazo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A8BB54-C317-2A6B-095D-1AE7527080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8910" y="1825624"/>
            <a:ext cx="6265718" cy="5032375"/>
          </a:xfrm>
        </p:spPr>
        <p:txBody>
          <a:bodyPr>
            <a:normAutofit/>
          </a:bodyPr>
          <a:lstStyle/>
          <a:p>
            <a:r>
              <a:rPr lang="pt-BR" dirty="0"/>
              <a:t>Considere treinar ao lado RNN para fazer uma previsão de um passo à frente.</a:t>
            </a:r>
          </a:p>
          <a:p>
            <a:r>
              <a:rPr lang="pt-BR" dirty="0"/>
              <a:t>Para prever a palavra “azul", basta olhar apenas dois passos para trás no tempo.</a:t>
            </a:r>
          </a:p>
          <a:p>
            <a:r>
              <a:rPr lang="pt-BR" dirty="0"/>
              <a:t>Nesse caso, basta </a:t>
            </a:r>
            <a:r>
              <a:rPr lang="pt-BR" dirty="0" err="1"/>
              <a:t>retropropagar</a:t>
            </a:r>
            <a:r>
              <a:rPr lang="pt-BR" dirty="0"/>
              <a:t> o gradiente dois passos para trás para aprender essa tarefa com sucesso.</a:t>
            </a:r>
          </a:p>
          <a:p>
            <a:r>
              <a:rPr lang="pt-BR" dirty="0"/>
              <a:t>Porém, existem casos em que a RNN precisa de mais contexto.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37B8F14-0842-D92A-805B-AF9783C1791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4603" y="2200781"/>
            <a:ext cx="3818548" cy="329601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C53011F6-166D-E866-27C5-69A2EF65F07A}"/>
              </a:ext>
            </a:extLst>
          </p:cNvPr>
          <p:cNvSpPr/>
          <p:nvPr/>
        </p:nvSpPr>
        <p:spPr>
          <a:xfrm>
            <a:off x="3314699" y="2306782"/>
            <a:ext cx="716973" cy="112221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4373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984BD1-9D88-7A7E-95C0-39AB6310B8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6B7A25-7D9F-2655-41EB-F9274FE4A3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das dependências de longo prazo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0FF3FD-0963-BC17-8992-4327E5058B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6530" y="1825624"/>
            <a:ext cx="5885469" cy="5032375"/>
          </a:xfrm>
        </p:spPr>
        <p:txBody>
          <a:bodyPr>
            <a:normAutofit/>
          </a:bodyPr>
          <a:lstStyle/>
          <a:p>
            <a:r>
              <a:rPr lang="pt-BR" dirty="0"/>
              <a:t>Vamos nos ater à previsão de um passo à frente.</a:t>
            </a:r>
          </a:p>
          <a:p>
            <a:r>
              <a:rPr lang="pt-BR" dirty="0"/>
              <a:t>Considere a frase: </a:t>
            </a:r>
          </a:p>
          <a:p>
            <a:pPr marL="457200" lvl="1" indent="0" algn="ctr">
              <a:buNone/>
            </a:pPr>
            <a:r>
              <a:rPr lang="pt-BR" dirty="0"/>
              <a:t>“Sou de Roma. Nasci há 30 anos. Gosto de comer bem e andar de bicicleta. Minha língua materna é o italiano.”</a:t>
            </a:r>
          </a:p>
          <a:p>
            <a:r>
              <a:rPr lang="pt-BR" dirty="0"/>
              <a:t>Quando queremos prever a palavra "italiano", temos que olhar vários passos para trás no tempo, até a palavra "Roma".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B82918D-ADE2-AAB7-1AE4-7AF0D762FD32}"/>
              </a:ext>
            </a:extLst>
          </p:cNvPr>
          <p:cNvSpPr/>
          <p:nvPr/>
        </p:nvSpPr>
        <p:spPr>
          <a:xfrm>
            <a:off x="4322619" y="2597510"/>
            <a:ext cx="779318" cy="101390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111A3CC-9C99-E6FB-E930-1F4CA00560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532" y="2597510"/>
            <a:ext cx="5885468" cy="2740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804079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FCAA46-FB18-7F4A-9CA9-0600DE6F2E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791B03-E616-FD43-80C5-5DF812B2B6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das dependências de longo prazo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1404A6-E7DD-907F-A21B-91BD8A91FA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99158" y="1825624"/>
            <a:ext cx="5992842" cy="5032375"/>
          </a:xfrm>
        </p:spPr>
        <p:txBody>
          <a:bodyPr>
            <a:normAutofit/>
          </a:bodyPr>
          <a:lstStyle/>
          <a:p>
            <a:r>
              <a:rPr lang="pt-BR" dirty="0"/>
              <a:t>Nesse caso, a memória de curto prazo da RNN baunilha não seria suficiente.</a:t>
            </a:r>
          </a:p>
          <a:p>
            <a:r>
              <a:rPr lang="pt-BR" dirty="0"/>
              <a:t>À medida que o intervalo de tempo aumenta, torna-se mais difícil para uma RNN lidar com o problema.</a:t>
            </a:r>
          </a:p>
          <a:p>
            <a:r>
              <a:rPr lang="pt-BR" dirty="0"/>
              <a:t>Vamos ver como redes de </a:t>
            </a:r>
            <a:r>
              <a:rPr lang="pt-BR" b="1" dirty="0"/>
              <a:t>memória de curto longo prazo (</a:t>
            </a:r>
            <a:r>
              <a:rPr lang="pt-BR" b="1" i="1" dirty="0" err="1"/>
              <a:t>long</a:t>
            </a:r>
            <a:r>
              <a:rPr lang="pt-BR" b="1" i="1" dirty="0"/>
              <a:t>-short </a:t>
            </a:r>
            <a:r>
              <a:rPr lang="pt-BR" b="1" i="1" dirty="0" err="1"/>
              <a:t>term</a:t>
            </a:r>
            <a:r>
              <a:rPr lang="pt-BR" b="1" i="1" dirty="0"/>
              <a:t> </a:t>
            </a:r>
            <a:r>
              <a:rPr lang="pt-BR" b="1" i="1" dirty="0" err="1"/>
              <a:t>memory</a:t>
            </a:r>
            <a:r>
              <a:rPr lang="pt-BR" b="1" dirty="0"/>
              <a:t> – LSTM) </a:t>
            </a:r>
            <a:r>
              <a:rPr lang="pt-BR" dirty="0"/>
              <a:t>podem lidar com essa dificuldade.</a:t>
            </a: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DCDC70A-B3DA-C5F7-B8FF-163E59F072E4}"/>
              </a:ext>
            </a:extLst>
          </p:cNvPr>
          <p:cNvSpPr/>
          <p:nvPr/>
        </p:nvSpPr>
        <p:spPr>
          <a:xfrm>
            <a:off x="4322619" y="2618292"/>
            <a:ext cx="779318" cy="101390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60C21FF-66C9-53B5-BFCF-188EFAC10AB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532" y="2618292"/>
            <a:ext cx="5885468" cy="2740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44102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5FE4D3-51CB-D07E-2D42-B438EA185F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Long</a:t>
            </a:r>
            <a:r>
              <a:rPr lang="pt-BR" i="1" dirty="0"/>
              <a:t>-short </a:t>
            </a:r>
            <a:r>
              <a:rPr lang="pt-BR" i="1" dirty="0" err="1"/>
              <a:t>term</a:t>
            </a:r>
            <a:r>
              <a:rPr lang="pt-BR" i="1" dirty="0"/>
              <a:t> </a:t>
            </a:r>
            <a:r>
              <a:rPr lang="pt-BR" i="1" dirty="0" err="1"/>
              <a:t>memory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BCFCB7-6C37-0809-93AB-AF41803617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353800" cy="5032375"/>
          </a:xfrm>
        </p:spPr>
        <p:txBody>
          <a:bodyPr/>
          <a:lstStyle/>
          <a:p>
            <a:r>
              <a:rPr lang="pt-BR" dirty="0"/>
              <a:t>Introduzida por </a:t>
            </a:r>
            <a:r>
              <a:rPr lang="pt-BR" dirty="0" err="1"/>
              <a:t>Hochreiter</a:t>
            </a:r>
            <a:r>
              <a:rPr lang="pt-BR" dirty="0"/>
              <a:t> &amp; </a:t>
            </a:r>
            <a:r>
              <a:rPr lang="pt-BR" dirty="0" err="1"/>
              <a:t>Schmidhuber</a:t>
            </a:r>
            <a:r>
              <a:rPr lang="pt-BR" dirty="0"/>
              <a:t> em 1997.</a:t>
            </a:r>
          </a:p>
          <a:p>
            <a:r>
              <a:rPr lang="pt-BR" dirty="0"/>
              <a:t>Funcionam muito bem em diversos problemas e são amplamente utilizadas atualmente.</a:t>
            </a:r>
          </a:p>
          <a:p>
            <a:r>
              <a:rPr lang="pt-BR" dirty="0"/>
              <a:t>Assim como as </a:t>
            </a:r>
            <a:r>
              <a:rPr lang="pt-BR" dirty="0" err="1"/>
              <a:t>RNNs</a:t>
            </a:r>
            <a:r>
              <a:rPr lang="pt-BR" dirty="0"/>
              <a:t>, elas precisam ser desdobradas no tempo para serem treinadas.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0DC87B8-4F6E-CEB2-D403-2F7BDDB3D72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54250" y="3764595"/>
            <a:ext cx="7683500" cy="30934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867053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A8604B-8785-D978-9325-685488A932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A21FDD-8B38-01BA-02A2-E93917D465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Long</a:t>
            </a:r>
            <a:r>
              <a:rPr lang="pt-BR" i="1" dirty="0"/>
              <a:t>-short </a:t>
            </a:r>
            <a:r>
              <a:rPr lang="pt-BR" i="1" dirty="0" err="1"/>
              <a:t>term</a:t>
            </a:r>
            <a:r>
              <a:rPr lang="pt-BR" i="1" dirty="0"/>
              <a:t> </a:t>
            </a:r>
            <a:r>
              <a:rPr lang="pt-BR" i="1" dirty="0" err="1"/>
              <a:t>memory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89EFBE-5969-6A4D-8EA1-2E41201F52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353800" cy="5032375"/>
          </a:xfrm>
        </p:spPr>
        <p:txBody>
          <a:bodyPr/>
          <a:lstStyle/>
          <a:p>
            <a:r>
              <a:rPr lang="pt-BR" dirty="0"/>
              <a:t>A unidade de processamento da LSTM é mais complexa e é chamada de célula.</a:t>
            </a:r>
          </a:p>
          <a:p>
            <a:r>
              <a:rPr lang="pt-BR" dirty="0"/>
              <a:t>Uma célula LSTM é composta por 4 camadas, que interagem entre si de uma maneira especial.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6E3CB25-4857-9D5B-2AC8-7BC55E4DE77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19300" y="3537312"/>
            <a:ext cx="8153400" cy="32825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192022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C3E673-1103-7EA7-9CAE-C63E5DA9C3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Estado da célula e portas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6C3165D-F5CE-BE8B-AF39-F79FAD0B84D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943600" y="1825624"/>
                <a:ext cx="6248400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 estado de uma célula no instante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pt-BR" dirty="0"/>
                  <a:t> é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A LSTM modifica o estado apenas por meio de interações lineares: a informação flui suavemente ao longo do tempo.</a:t>
                </a:r>
              </a:p>
              <a:p>
                <a:r>
                  <a:rPr lang="pt-BR" dirty="0"/>
                  <a:t>A LSTM protege e controla a informação na célula por meio de 3 portas.</a:t>
                </a:r>
              </a:p>
              <a:p>
                <a:r>
                  <a:rPr lang="pt-BR" dirty="0"/>
                  <a:t>As portas são implementadas por uma função sigmoide e uma multiplicação pontual.</a:t>
                </a: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6C3165D-F5CE-BE8B-AF39-F79FAD0B84D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943600" y="1825624"/>
                <a:ext cx="6248400" cy="5032375"/>
              </a:xfrm>
              <a:blipFill>
                <a:blip r:embed="rId2"/>
                <a:stretch>
                  <a:fillRect l="-1756" t="-1937" r="-26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16CF6AB8-1619-4CC1-DEEE-C177B6C0F79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15533" y="5187067"/>
            <a:ext cx="1091750" cy="158291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3E77964-877A-9521-4053-D644BDEBD56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9001" y="1690688"/>
            <a:ext cx="5115148" cy="32697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489534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F0908E-61BC-4EE3-3C23-07FB350F41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Porta de </a:t>
            </a:r>
            <a:r>
              <a:rPr lang="en-US" dirty="0" err="1"/>
              <a:t>esquecimento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AB8871D-05B3-0B5D-B7A9-8B87B3BFA96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192982" y="1825624"/>
                <a:ext cx="5999018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Decida quais informações devem ser descartadas do estado da célula.</a:t>
                </a:r>
              </a:p>
              <a:p>
                <a:r>
                  <a:rPr lang="pt-BR" dirty="0"/>
                  <a:t>Porta controlada pela entrada atual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e pela saída da célula anterior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Exemplo de PLN: o estado da célula mantém o gênero do sujeito presente para usar os pronomes corretos.</a:t>
                </a:r>
              </a:p>
              <a:p>
                <a:r>
                  <a:rPr lang="pt-BR" dirty="0"/>
                  <a:t>Ao ver um novo sujeito, esqueça o gênero do sujeito anterior.</a:t>
                </a: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AB8871D-05B3-0B5D-B7A9-8B87B3BFA96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192982" y="1825624"/>
                <a:ext cx="5999018" cy="5032375"/>
              </a:xfrm>
              <a:blipFill>
                <a:blip r:embed="rId2"/>
                <a:stretch>
                  <a:fillRect l="-1829" t="-1937" r="-9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1E6B41EB-3934-DA18-8CAB-1A2E9802405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6853" y="2535366"/>
            <a:ext cx="5115148" cy="3158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806058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BB02C5-D493-4CC7-3754-1A41C3082A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697E1BC-1A39-E40B-7547-5FF1805515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5704" y="1118865"/>
            <a:ext cx="9440592" cy="46202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480252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788323" y="2873029"/>
            <a:ext cx="10515600" cy="106720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dirty="0"/>
              <a:t>LSTM</a:t>
            </a:r>
          </a:p>
        </p:txBody>
      </p:sp>
    </p:spTree>
    <p:extLst>
      <p:ext uri="{BB962C8B-B14F-4D97-AF65-F5344CB8AC3E}">
        <p14:creationId xmlns:p14="http://schemas.microsoft.com/office/powerpoint/2010/main" val="386333160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Motivação para LSTM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Resolver dependências longas</a:t>
            </a:r>
          </a:p>
          <a:p>
            <a:r>
              <a:rPr lang="pt-BR" dirty="0"/>
              <a:t>Evitar </a:t>
            </a:r>
            <a:r>
              <a:rPr lang="pt-BR" dirty="0" err="1"/>
              <a:t>vanishing</a:t>
            </a:r>
            <a:r>
              <a:rPr lang="pt-BR" dirty="0"/>
              <a:t> </a:t>
            </a:r>
            <a:r>
              <a:rPr lang="pt-BR" dirty="0" err="1"/>
              <a:t>gradient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34365466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788323" y="2873029"/>
            <a:ext cx="10515600" cy="106720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dirty="0"/>
              <a:t>Variantes</a:t>
            </a:r>
          </a:p>
        </p:txBody>
      </p:sp>
    </p:spTree>
    <p:extLst>
      <p:ext uri="{BB962C8B-B14F-4D97-AF65-F5344CB8AC3E}">
        <p14:creationId xmlns:p14="http://schemas.microsoft.com/office/powerpoint/2010/main" val="283770133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Variantes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GRU</a:t>
            </a:r>
          </a:p>
          <a:p>
            <a:pPr lvl="1"/>
            <a:r>
              <a:rPr lang="pt-BR" dirty="0"/>
              <a:t>Versão simplificada</a:t>
            </a:r>
          </a:p>
          <a:p>
            <a:pPr lvl="1"/>
            <a:r>
              <a:rPr lang="pt-BR" dirty="0"/>
              <a:t>Menos parâmetros</a:t>
            </a:r>
          </a:p>
          <a:p>
            <a:pPr lvl="1"/>
            <a:r>
              <a:rPr lang="pt-BR" dirty="0"/>
              <a:t>Frequentemente mais rápida de treinar. </a:t>
            </a:r>
          </a:p>
          <a:p>
            <a:r>
              <a:rPr lang="pt-BR" dirty="0" err="1"/>
              <a:t>Bidirectional</a:t>
            </a:r>
            <a:r>
              <a:rPr lang="pt-BR" dirty="0"/>
              <a:t> RNN</a:t>
            </a:r>
          </a:p>
          <a:p>
            <a:pPr lvl="1"/>
            <a:r>
              <a:rPr lang="pt-BR" dirty="0"/>
              <a:t>Considera passado e futuro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82048193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7300566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570461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8F1BEC-82EA-8E7D-59D1-DE7E34F444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C86FB9B7-731C-2994-71E3-590F6E30894D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Figuras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61963078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6" name="Group 65">
            <a:extLst>
              <a:ext uri="{FF2B5EF4-FFF2-40B4-BE49-F238E27FC236}">
                <a16:creationId xmlns:a16="http://schemas.microsoft.com/office/drawing/2014/main" id="{22ECFCAF-AE04-0921-2229-1CAFB376C6C4}"/>
              </a:ext>
            </a:extLst>
          </p:cNvPr>
          <p:cNvGrpSpPr/>
          <p:nvPr/>
        </p:nvGrpSpPr>
        <p:grpSpPr>
          <a:xfrm>
            <a:off x="776817" y="1394981"/>
            <a:ext cx="7495804" cy="4521741"/>
            <a:chOff x="776817" y="1394981"/>
            <a:chExt cx="7495804" cy="452174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D50E87A4-4DE1-5096-E2D7-2696ABAE4BD9}"/>
                    </a:ext>
                  </a:extLst>
                </p:cNvPr>
                <p:cNvSpPr/>
                <p:nvPr/>
              </p:nvSpPr>
              <p:spPr>
                <a:xfrm>
                  <a:off x="783349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D50E87A4-4DE1-5096-E2D7-2696ABAE4BD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3349" y="2053224"/>
                  <a:ext cx="468000" cy="468000"/>
                </a:xfrm>
                <a:prstGeom prst="rect">
                  <a:avLst/>
                </a:prstGeom>
                <a:blipFill>
                  <a:blip r:embed="rId2"/>
                  <a:stretch>
                    <a:fillRect l="-1039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5A8CCC43-1D42-7F2F-E428-E85BBDA67D37}"/>
                    </a:ext>
                  </a:extLst>
                </p:cNvPr>
                <p:cNvSpPr/>
                <p:nvPr/>
              </p:nvSpPr>
              <p:spPr>
                <a:xfrm>
                  <a:off x="776817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5A8CCC43-1D42-7F2F-E428-E85BBDA67D3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6817" y="4820779"/>
                  <a:ext cx="468000" cy="468000"/>
                </a:xfrm>
                <a:prstGeom prst="rect">
                  <a:avLst/>
                </a:prstGeom>
                <a:blipFill>
                  <a:blip r:embed="rId3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60C4F936-CDC1-6A01-F955-FDED61DA084A}"/>
                    </a:ext>
                  </a:extLst>
                </p:cNvPr>
                <p:cNvSpPr/>
                <p:nvPr/>
              </p:nvSpPr>
              <p:spPr>
                <a:xfrm>
                  <a:off x="1791911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60C4F936-CDC1-6A01-F955-FDED61DA084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91911" y="3540296"/>
                  <a:ext cx="468000" cy="468000"/>
                </a:xfrm>
                <a:prstGeom prst="rect">
                  <a:avLst/>
                </a:prstGeom>
                <a:blipFill>
                  <a:blip r:embed="rId4"/>
                  <a:stretch>
                    <a:fillRect l="-102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Oval 7">
                  <a:extLst>
                    <a:ext uri="{FF2B5EF4-FFF2-40B4-BE49-F238E27FC236}">
                      <a16:creationId xmlns:a16="http://schemas.microsoft.com/office/drawing/2014/main" id="{410E7DC3-8E48-A5D7-D205-DC7611FFE8EE}"/>
                    </a:ext>
                  </a:extLst>
                </p:cNvPr>
                <p:cNvSpPr/>
                <p:nvPr/>
              </p:nvSpPr>
              <p:spPr>
                <a:xfrm>
                  <a:off x="798589" y="1409359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600" b="1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600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600" b="1" dirty="0"/>
                </a:p>
              </p:txBody>
            </p:sp>
          </mc:Choice>
          <mc:Fallback xmlns="">
            <p:sp>
              <p:nvSpPr>
                <p:cNvPr id="8" name="Oval 7">
                  <a:extLst>
                    <a:ext uri="{FF2B5EF4-FFF2-40B4-BE49-F238E27FC236}">
                      <a16:creationId xmlns:a16="http://schemas.microsoft.com/office/drawing/2014/main" id="{410E7DC3-8E48-A5D7-D205-DC7611FFE8E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8589" y="1409359"/>
                  <a:ext cx="432000" cy="432000"/>
                </a:xfrm>
                <a:prstGeom prst="ellipse">
                  <a:avLst/>
                </a:prstGeom>
                <a:blipFill>
                  <a:blip r:embed="rId5"/>
                  <a:stretch>
                    <a:fillRect l="-12500" r="-55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Oval 8">
                  <a:extLst>
                    <a:ext uri="{FF2B5EF4-FFF2-40B4-BE49-F238E27FC236}">
                      <a16:creationId xmlns:a16="http://schemas.microsoft.com/office/drawing/2014/main" id="{967F25C8-3A9B-7637-C6F3-B9857C012763}"/>
                    </a:ext>
                  </a:extLst>
                </p:cNvPr>
                <p:cNvSpPr/>
                <p:nvPr/>
              </p:nvSpPr>
              <p:spPr>
                <a:xfrm>
                  <a:off x="798589" y="355829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6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600" b="1" dirty="0"/>
                </a:p>
              </p:txBody>
            </p:sp>
          </mc:Choice>
          <mc:Fallback xmlns="">
            <p:sp>
              <p:nvSpPr>
                <p:cNvPr id="9" name="Oval 8">
                  <a:extLst>
                    <a:ext uri="{FF2B5EF4-FFF2-40B4-BE49-F238E27FC236}">
                      <a16:creationId xmlns:a16="http://schemas.microsoft.com/office/drawing/2014/main" id="{967F25C8-3A9B-7637-C6F3-B9857C01276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8589" y="3558296"/>
                  <a:ext cx="432000" cy="432000"/>
                </a:xfrm>
                <a:prstGeom prst="ellipse">
                  <a:avLst/>
                </a:prstGeom>
                <a:blipFill>
                  <a:blip r:embed="rId6"/>
                  <a:stretch>
                    <a:fillRect l="-13889" r="-694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Oval 9">
                  <a:extLst>
                    <a:ext uri="{FF2B5EF4-FFF2-40B4-BE49-F238E27FC236}">
                      <a16:creationId xmlns:a16="http://schemas.microsoft.com/office/drawing/2014/main" id="{CC6B1917-7E5F-F008-0FC7-4FE6D71A2353}"/>
                    </a:ext>
                  </a:extLst>
                </p:cNvPr>
                <p:cNvSpPr/>
                <p:nvPr/>
              </p:nvSpPr>
              <p:spPr>
                <a:xfrm>
                  <a:off x="798589" y="5484722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6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10" name="Oval 9">
                  <a:extLst>
                    <a:ext uri="{FF2B5EF4-FFF2-40B4-BE49-F238E27FC236}">
                      <a16:creationId xmlns:a16="http://schemas.microsoft.com/office/drawing/2014/main" id="{CC6B1917-7E5F-F008-0FC7-4FE6D71A235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8589" y="5484722"/>
                  <a:ext cx="432000" cy="432000"/>
                </a:xfrm>
                <a:prstGeom prst="ellipse">
                  <a:avLst/>
                </a:prstGeom>
                <a:blipFill>
                  <a:blip r:embed="rId7"/>
                  <a:stretch>
                    <a:fillRect l="-6944" r="-55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Diamond 10">
                  <a:extLst>
                    <a:ext uri="{FF2B5EF4-FFF2-40B4-BE49-F238E27FC236}">
                      <a16:creationId xmlns:a16="http://schemas.microsoft.com/office/drawing/2014/main" id="{60284885-263A-F227-A49B-F9CB80C834EB}"/>
                    </a:ext>
                  </a:extLst>
                </p:cNvPr>
                <p:cNvSpPr/>
                <p:nvPr/>
              </p:nvSpPr>
              <p:spPr>
                <a:xfrm>
                  <a:off x="1294093" y="2853675"/>
                  <a:ext cx="546518" cy="468000"/>
                </a:xfrm>
                <a:prstGeom prst="diamond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1" name="Diamond 10">
                  <a:extLst>
                    <a:ext uri="{FF2B5EF4-FFF2-40B4-BE49-F238E27FC236}">
                      <a16:creationId xmlns:a16="http://schemas.microsoft.com/office/drawing/2014/main" id="{60284885-263A-F227-A49B-F9CB80C834E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94093" y="2853675"/>
                  <a:ext cx="546518" cy="468000"/>
                </a:xfrm>
                <a:prstGeom prst="diamond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079DA998-9F52-469B-DD25-D55FBEE92922}"/>
                    </a:ext>
                  </a:extLst>
                </p:cNvPr>
                <p:cNvSpPr/>
                <p:nvPr/>
              </p:nvSpPr>
              <p:spPr>
                <a:xfrm>
                  <a:off x="791045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pt-BR" sz="14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079DA998-9F52-469B-DD25-D55FBEE9292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1045" y="4192836"/>
                  <a:ext cx="432000" cy="432000"/>
                </a:xfrm>
                <a:prstGeom prst="ellipse">
                  <a:avLst/>
                </a:prstGeom>
                <a:blipFill>
                  <a:blip r:embed="rId9"/>
                  <a:stretch>
                    <a:fillRect l="-97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6E1ADF88-3F46-3F6C-D44A-25CFCFF58380}"/>
                </a:ext>
              </a:extLst>
            </p:cNvPr>
            <p:cNvCxnSpPr>
              <a:stCxn id="10" idx="0"/>
              <a:endCxn id="6" idx="2"/>
            </p:cNvCxnSpPr>
            <p:nvPr/>
          </p:nvCxnSpPr>
          <p:spPr>
            <a:xfrm flipH="1" flipV="1">
              <a:off x="1010817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4213198D-DC17-2470-5AB4-FBACBBC41374}"/>
                </a:ext>
              </a:extLst>
            </p:cNvPr>
            <p:cNvCxnSpPr/>
            <p:nvPr/>
          </p:nvCxnSpPr>
          <p:spPr>
            <a:xfrm flipH="1" flipV="1">
              <a:off x="1014589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E2EEB733-16FD-5318-5CC4-8001B20FED06}"/>
                </a:ext>
              </a:extLst>
            </p:cNvPr>
            <p:cNvCxnSpPr/>
            <p:nvPr/>
          </p:nvCxnSpPr>
          <p:spPr>
            <a:xfrm flipH="1" flipV="1">
              <a:off x="1010817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134D4DC2-A277-FD4E-40F5-DE2014B8CF64}"/>
                </a:ext>
              </a:extLst>
            </p:cNvPr>
            <p:cNvCxnSpPr>
              <a:stCxn id="9" idx="0"/>
              <a:endCxn id="5" idx="2"/>
            </p:cNvCxnSpPr>
            <p:nvPr/>
          </p:nvCxnSpPr>
          <p:spPr>
            <a:xfrm flipV="1">
              <a:off x="1014589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Connector: Elbow 16">
              <a:extLst>
                <a:ext uri="{FF2B5EF4-FFF2-40B4-BE49-F238E27FC236}">
                  <a16:creationId xmlns:a16="http://schemas.microsoft.com/office/drawing/2014/main" id="{80866249-EC15-EB3A-E296-1474E5364721}"/>
                </a:ext>
              </a:extLst>
            </p:cNvPr>
            <p:cNvCxnSpPr>
              <a:stCxn id="11" idx="3"/>
              <a:endCxn id="7" idx="0"/>
            </p:cNvCxnSpPr>
            <p:nvPr/>
          </p:nvCxnSpPr>
          <p:spPr>
            <a:xfrm>
              <a:off x="1840611" y="3087675"/>
              <a:ext cx="185300" cy="45262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2DC952F7-2D10-9433-7DE4-21443557DCB2}"/>
                </a:ext>
              </a:extLst>
            </p:cNvPr>
            <p:cNvCxnSpPr>
              <a:stCxn id="11" idx="1"/>
            </p:cNvCxnSpPr>
            <p:nvPr/>
          </p:nvCxnSpPr>
          <p:spPr>
            <a:xfrm flipH="1">
              <a:off x="1027289" y="3087675"/>
              <a:ext cx="266804" cy="0"/>
            </a:xfrm>
            <a:prstGeom prst="line">
              <a:avLst/>
            </a:prstGeom>
            <a:ln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Connector: Elbow 18">
              <a:extLst>
                <a:ext uri="{FF2B5EF4-FFF2-40B4-BE49-F238E27FC236}">
                  <a16:creationId xmlns:a16="http://schemas.microsoft.com/office/drawing/2014/main" id="{CA1FB7FE-64DA-AD96-0437-50FF891D4C76}"/>
                </a:ext>
              </a:extLst>
            </p:cNvPr>
            <p:cNvCxnSpPr>
              <a:cxnSpLocks/>
              <a:stCxn id="7" idx="2"/>
              <a:endCxn id="12" idx="6"/>
            </p:cNvCxnSpPr>
            <p:nvPr/>
          </p:nvCxnSpPr>
          <p:spPr>
            <a:xfrm rot="5400000">
              <a:off x="1424208" y="3807133"/>
              <a:ext cx="400540" cy="802866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0D7B5B44-7EE7-8F6D-8655-20CC522D805D}"/>
                </a:ext>
              </a:extLst>
            </p:cNvPr>
            <p:cNvCxnSpPr/>
            <p:nvPr/>
          </p:nvCxnSpPr>
          <p:spPr>
            <a:xfrm flipH="1" flipV="1">
              <a:off x="1017432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3F732168-587A-F518-C9A0-C396F786016E}"/>
                    </a:ext>
                  </a:extLst>
                </p:cNvPr>
                <p:cNvSpPr/>
                <p:nvPr/>
              </p:nvSpPr>
              <p:spPr>
                <a:xfrm>
                  <a:off x="3830878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3F732168-587A-F518-C9A0-C396F786016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30878" y="2053224"/>
                  <a:ext cx="468000" cy="468000"/>
                </a:xfrm>
                <a:prstGeom prst="rect">
                  <a:avLst/>
                </a:prstGeom>
                <a:blipFill>
                  <a:blip r:embed="rId10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DF8C03E3-8716-2E6D-369B-AC1813574A57}"/>
                    </a:ext>
                  </a:extLst>
                </p:cNvPr>
                <p:cNvSpPr/>
                <p:nvPr/>
              </p:nvSpPr>
              <p:spPr>
                <a:xfrm>
                  <a:off x="3824346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DF8C03E3-8716-2E6D-369B-AC1813574A5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24346" y="4820779"/>
                  <a:ext cx="468000" cy="468000"/>
                </a:xfrm>
                <a:prstGeom prst="rect">
                  <a:avLst/>
                </a:prstGeom>
                <a:blipFill>
                  <a:blip r:embed="rId11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E2D972F1-922C-BE5B-4DE2-1F83A9F1643F}"/>
                    </a:ext>
                  </a:extLst>
                </p:cNvPr>
                <p:cNvSpPr/>
                <p:nvPr/>
              </p:nvSpPr>
              <p:spPr>
                <a:xfrm>
                  <a:off x="4550964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E2D972F1-922C-BE5B-4DE2-1F83A9F1643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0964" y="3540296"/>
                  <a:ext cx="468000" cy="468000"/>
                </a:xfrm>
                <a:prstGeom prst="rect">
                  <a:avLst/>
                </a:prstGeom>
                <a:blipFill>
                  <a:blip r:embed="rId12"/>
                  <a:stretch>
                    <a:fillRect l="-1039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AD295B7E-C267-873F-E0E0-6F754810CBE3}"/>
                </a:ext>
              </a:extLst>
            </p:cNvPr>
            <p:cNvSpPr/>
            <p:nvPr/>
          </p:nvSpPr>
          <p:spPr>
            <a:xfrm>
              <a:off x="3846118" y="1409359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48BC489B-02C6-E486-E972-34A1CF1476C7}"/>
                </a:ext>
              </a:extLst>
            </p:cNvPr>
            <p:cNvSpPr/>
            <p:nvPr/>
          </p:nvSpPr>
          <p:spPr>
            <a:xfrm>
              <a:off x="3846118" y="3558296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22F39AD1-94B7-7A64-F11A-A209AC4FBCED}"/>
                </a:ext>
              </a:extLst>
            </p:cNvPr>
            <p:cNvSpPr/>
            <p:nvPr/>
          </p:nvSpPr>
          <p:spPr>
            <a:xfrm>
              <a:off x="3846118" y="5484722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9ADE25A5-BE1D-ABA0-A628-A6BB52EC7BCB}"/>
                    </a:ext>
                  </a:extLst>
                </p:cNvPr>
                <p:cNvSpPr/>
                <p:nvPr/>
              </p:nvSpPr>
              <p:spPr>
                <a:xfrm>
                  <a:off x="3838574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pt-BR" sz="14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9ADE25A5-BE1D-ABA0-A628-A6BB52EC7BC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38574" y="4192836"/>
                  <a:ext cx="432000" cy="432000"/>
                </a:xfrm>
                <a:prstGeom prst="ellipse">
                  <a:avLst/>
                </a:prstGeom>
                <a:blipFill>
                  <a:blip r:embed="rId9"/>
                  <a:stretch>
                    <a:fillRect l="-97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A265BF78-156E-E80F-64A8-219A58A58CD7}"/>
                </a:ext>
              </a:extLst>
            </p:cNvPr>
            <p:cNvCxnSpPr>
              <a:cxnSpLocks/>
              <a:stCxn id="27" idx="0"/>
              <a:endCxn id="23" idx="2"/>
            </p:cNvCxnSpPr>
            <p:nvPr/>
          </p:nvCxnSpPr>
          <p:spPr>
            <a:xfrm flipH="1" flipV="1">
              <a:off x="4058346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DBAA1E31-4ACF-4A4A-4878-2FDC1544D4AC}"/>
                </a:ext>
              </a:extLst>
            </p:cNvPr>
            <p:cNvCxnSpPr/>
            <p:nvPr/>
          </p:nvCxnSpPr>
          <p:spPr>
            <a:xfrm flipH="1" flipV="1">
              <a:off x="4062118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556BC459-E07F-8B38-40B7-C40DE6F65CCC}"/>
                </a:ext>
              </a:extLst>
            </p:cNvPr>
            <p:cNvCxnSpPr/>
            <p:nvPr/>
          </p:nvCxnSpPr>
          <p:spPr>
            <a:xfrm flipH="1" flipV="1">
              <a:off x="4058346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C1BDF5E7-1B84-C21C-89E8-5BBB07E38580}"/>
                </a:ext>
              </a:extLst>
            </p:cNvPr>
            <p:cNvCxnSpPr>
              <a:stCxn id="26" idx="0"/>
              <a:endCxn id="22" idx="2"/>
            </p:cNvCxnSpPr>
            <p:nvPr/>
          </p:nvCxnSpPr>
          <p:spPr>
            <a:xfrm flipV="1">
              <a:off x="4062118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4" name="Connector: Elbow 33">
              <a:extLst>
                <a:ext uri="{FF2B5EF4-FFF2-40B4-BE49-F238E27FC236}">
                  <a16:creationId xmlns:a16="http://schemas.microsoft.com/office/drawing/2014/main" id="{8712AE4D-2FE9-5832-6870-304083EF637F}"/>
                </a:ext>
              </a:extLst>
            </p:cNvPr>
            <p:cNvCxnSpPr>
              <a:cxnSpLocks/>
              <a:endCxn id="24" idx="0"/>
            </p:cNvCxnSpPr>
            <p:nvPr/>
          </p:nvCxnSpPr>
          <p:spPr>
            <a:xfrm>
              <a:off x="4062118" y="3066699"/>
              <a:ext cx="722846" cy="473597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2B4E3A99-2587-3850-4484-D40AF1A376B3}"/>
                </a:ext>
              </a:extLst>
            </p:cNvPr>
            <p:cNvCxnSpPr/>
            <p:nvPr/>
          </p:nvCxnSpPr>
          <p:spPr>
            <a:xfrm flipH="1" flipV="1">
              <a:off x="4064961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9" name="Connector: Elbow 38">
              <a:extLst>
                <a:ext uri="{FF2B5EF4-FFF2-40B4-BE49-F238E27FC236}">
                  <a16:creationId xmlns:a16="http://schemas.microsoft.com/office/drawing/2014/main" id="{5EE8A078-E420-65CE-F198-2ACDE8F319E7}"/>
                </a:ext>
              </a:extLst>
            </p:cNvPr>
            <p:cNvCxnSpPr>
              <a:cxnSpLocks/>
              <a:endCxn id="29" idx="2"/>
            </p:cNvCxnSpPr>
            <p:nvPr/>
          </p:nvCxnSpPr>
          <p:spPr>
            <a:xfrm rot="16200000" flipH="1">
              <a:off x="3512189" y="4082450"/>
              <a:ext cx="273167" cy="379603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B64B2562-9B66-F9DC-AC17-84E794F0C2A4}"/>
                    </a:ext>
                  </a:extLst>
                </p:cNvPr>
                <p:cNvSpPr/>
                <p:nvPr/>
              </p:nvSpPr>
              <p:spPr>
                <a:xfrm>
                  <a:off x="5273850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B64B2562-9B66-F9DC-AC17-84E794F0C2A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3850" y="2053224"/>
                  <a:ext cx="468000" cy="468000"/>
                </a:xfrm>
                <a:prstGeom prst="rect">
                  <a:avLst/>
                </a:prstGeom>
                <a:blipFill>
                  <a:blip r:embed="rId13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C935B77A-2A90-8654-7AA4-487ED72D18B7}"/>
                    </a:ext>
                  </a:extLst>
                </p:cNvPr>
                <p:cNvSpPr/>
                <p:nvPr/>
              </p:nvSpPr>
              <p:spPr>
                <a:xfrm>
                  <a:off x="5267318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C935B77A-2A90-8654-7AA4-487ED72D18B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67318" y="4820779"/>
                  <a:ext cx="468000" cy="468000"/>
                </a:xfrm>
                <a:prstGeom prst="rect">
                  <a:avLst/>
                </a:prstGeom>
                <a:blipFill>
                  <a:blip r:embed="rId14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CD41D7EC-FEBE-0970-5028-78102734AEDB}"/>
                    </a:ext>
                  </a:extLst>
                </p:cNvPr>
                <p:cNvSpPr/>
                <p:nvPr/>
              </p:nvSpPr>
              <p:spPr>
                <a:xfrm>
                  <a:off x="6022511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CD41D7EC-FEBE-0970-5028-78102734AED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22511" y="3540296"/>
                  <a:ext cx="468000" cy="468000"/>
                </a:xfrm>
                <a:prstGeom prst="rect">
                  <a:avLst/>
                </a:prstGeom>
                <a:blipFill>
                  <a:blip r:embed="rId15"/>
                  <a:stretch>
                    <a:fillRect l="-102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08C12D3D-1458-CB06-00FF-813305E88984}"/>
                </a:ext>
              </a:extLst>
            </p:cNvPr>
            <p:cNvSpPr/>
            <p:nvPr/>
          </p:nvSpPr>
          <p:spPr>
            <a:xfrm>
              <a:off x="5289090" y="1409359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2AC7B9B4-2A7C-64AA-026F-7DB52BAED14B}"/>
                </a:ext>
              </a:extLst>
            </p:cNvPr>
            <p:cNvSpPr/>
            <p:nvPr/>
          </p:nvSpPr>
          <p:spPr>
            <a:xfrm>
              <a:off x="5289090" y="3558296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033A37FD-3D2D-1C32-A21B-3476BA69473A}"/>
                </a:ext>
              </a:extLst>
            </p:cNvPr>
            <p:cNvSpPr/>
            <p:nvPr/>
          </p:nvSpPr>
          <p:spPr>
            <a:xfrm>
              <a:off x="5289090" y="5484722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Oval 50">
                  <a:extLst>
                    <a:ext uri="{FF2B5EF4-FFF2-40B4-BE49-F238E27FC236}">
                      <a16:creationId xmlns:a16="http://schemas.microsoft.com/office/drawing/2014/main" id="{39CDF73B-805C-E8B7-7546-C55D8F1C08F4}"/>
                    </a:ext>
                  </a:extLst>
                </p:cNvPr>
                <p:cNvSpPr/>
                <p:nvPr/>
              </p:nvSpPr>
              <p:spPr>
                <a:xfrm>
                  <a:off x="5281546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pt-BR" sz="14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1" name="Oval 50">
                  <a:extLst>
                    <a:ext uri="{FF2B5EF4-FFF2-40B4-BE49-F238E27FC236}">
                      <a16:creationId xmlns:a16="http://schemas.microsoft.com/office/drawing/2014/main" id="{39CDF73B-805C-E8B7-7546-C55D8F1C08F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81546" y="4192836"/>
                  <a:ext cx="432000" cy="432000"/>
                </a:xfrm>
                <a:prstGeom prst="ellipse">
                  <a:avLst/>
                </a:prstGeom>
                <a:blipFill>
                  <a:blip r:embed="rId16"/>
                  <a:stretch>
                    <a:fillRect l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D03D73B0-F40C-EA41-E76B-E7EB0E170398}"/>
                </a:ext>
              </a:extLst>
            </p:cNvPr>
            <p:cNvCxnSpPr>
              <a:stCxn id="49" idx="0"/>
              <a:endCxn id="45" idx="2"/>
            </p:cNvCxnSpPr>
            <p:nvPr/>
          </p:nvCxnSpPr>
          <p:spPr>
            <a:xfrm flipH="1" flipV="1">
              <a:off x="5501318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001566B3-ACB2-0F70-F410-8B26149B92AA}"/>
                </a:ext>
              </a:extLst>
            </p:cNvPr>
            <p:cNvCxnSpPr/>
            <p:nvPr/>
          </p:nvCxnSpPr>
          <p:spPr>
            <a:xfrm flipH="1" flipV="1">
              <a:off x="5505090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A2E71A66-C086-B192-CBF8-A6ADCDE67B96}"/>
                </a:ext>
              </a:extLst>
            </p:cNvPr>
            <p:cNvCxnSpPr/>
            <p:nvPr/>
          </p:nvCxnSpPr>
          <p:spPr>
            <a:xfrm flipH="1" flipV="1">
              <a:off x="5501318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44DBF132-C67B-43B1-8396-02C753C33482}"/>
                </a:ext>
              </a:extLst>
            </p:cNvPr>
            <p:cNvCxnSpPr>
              <a:stCxn id="48" idx="0"/>
              <a:endCxn id="44" idx="2"/>
            </p:cNvCxnSpPr>
            <p:nvPr/>
          </p:nvCxnSpPr>
          <p:spPr>
            <a:xfrm flipV="1">
              <a:off x="5505090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6" name="Connector: Elbow 55">
              <a:extLst>
                <a:ext uri="{FF2B5EF4-FFF2-40B4-BE49-F238E27FC236}">
                  <a16:creationId xmlns:a16="http://schemas.microsoft.com/office/drawing/2014/main" id="{06DC19FF-C6CB-E2FF-D08F-2EED992C1F16}"/>
                </a:ext>
              </a:extLst>
            </p:cNvPr>
            <p:cNvCxnSpPr>
              <a:cxnSpLocks/>
              <a:endCxn id="46" idx="0"/>
            </p:cNvCxnSpPr>
            <p:nvPr/>
          </p:nvCxnSpPr>
          <p:spPr>
            <a:xfrm>
              <a:off x="5509819" y="3066699"/>
              <a:ext cx="746692" cy="473597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id="{81526F28-5C26-E6E7-DB90-96E6E4383D7E}"/>
                </a:ext>
              </a:extLst>
            </p:cNvPr>
            <p:cNvCxnSpPr/>
            <p:nvPr/>
          </p:nvCxnSpPr>
          <p:spPr>
            <a:xfrm flipH="1" flipV="1">
              <a:off x="5507933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2" name="Connector: Elbow 61">
              <a:extLst>
                <a:ext uri="{FF2B5EF4-FFF2-40B4-BE49-F238E27FC236}">
                  <a16:creationId xmlns:a16="http://schemas.microsoft.com/office/drawing/2014/main" id="{47D4ECCA-1B5E-7F2C-A9FC-B18B5CB0BADE}"/>
                </a:ext>
              </a:extLst>
            </p:cNvPr>
            <p:cNvCxnSpPr>
              <a:stCxn id="24" idx="2"/>
              <a:endCxn id="51" idx="2"/>
            </p:cNvCxnSpPr>
            <p:nvPr/>
          </p:nvCxnSpPr>
          <p:spPr>
            <a:xfrm rot="16200000" flipH="1">
              <a:off x="4832985" y="3960275"/>
              <a:ext cx="400540" cy="496582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6F8EB797-5698-E042-FF57-E65BBC096EB6}"/>
                    </a:ext>
                  </a:extLst>
                </p:cNvPr>
                <p:cNvSpPr/>
                <p:nvPr/>
              </p:nvSpPr>
              <p:spPr>
                <a:xfrm>
                  <a:off x="6813706" y="203884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6F8EB797-5698-E042-FF57-E65BBC096EB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13706" y="2038846"/>
                  <a:ext cx="468000" cy="468000"/>
                </a:xfrm>
                <a:prstGeom prst="rect">
                  <a:avLst/>
                </a:prstGeom>
                <a:blipFill>
                  <a:blip r:embed="rId17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41D8D43E-E48E-C188-72E9-121AEB1D37C4}"/>
                    </a:ext>
                  </a:extLst>
                </p:cNvPr>
                <p:cNvSpPr/>
                <p:nvPr/>
              </p:nvSpPr>
              <p:spPr>
                <a:xfrm>
                  <a:off x="6807174" y="4806401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41D8D43E-E48E-C188-72E9-121AEB1D37C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07174" y="4806401"/>
                  <a:ext cx="468000" cy="468000"/>
                </a:xfrm>
                <a:prstGeom prst="rect">
                  <a:avLst/>
                </a:prstGeom>
                <a:blipFill>
                  <a:blip r:embed="rId18"/>
                  <a:stretch>
                    <a:fillRect l="-51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" name="Rectangle 69">
                  <a:extLst>
                    <a:ext uri="{FF2B5EF4-FFF2-40B4-BE49-F238E27FC236}">
                      <a16:creationId xmlns:a16="http://schemas.microsoft.com/office/drawing/2014/main" id="{473AF7E6-4193-2A83-11DB-56A80EAC8C6E}"/>
                    </a:ext>
                  </a:extLst>
                </p:cNvPr>
                <p:cNvSpPr/>
                <p:nvPr/>
              </p:nvSpPr>
              <p:spPr>
                <a:xfrm>
                  <a:off x="7584143" y="3525918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0" name="Rectangle 69">
                  <a:extLst>
                    <a:ext uri="{FF2B5EF4-FFF2-40B4-BE49-F238E27FC236}">
                      <a16:creationId xmlns:a16="http://schemas.microsoft.com/office/drawing/2014/main" id="{473AF7E6-4193-2A83-11DB-56A80EAC8C6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84143" y="3525918"/>
                  <a:ext cx="468000" cy="468000"/>
                </a:xfrm>
                <a:prstGeom prst="rect">
                  <a:avLst/>
                </a:prstGeom>
                <a:blipFill>
                  <a:blip r:embed="rId19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4CE11F32-F73C-593D-2BB1-23924A5693E0}"/>
                </a:ext>
              </a:extLst>
            </p:cNvPr>
            <p:cNvSpPr/>
            <p:nvPr/>
          </p:nvSpPr>
          <p:spPr>
            <a:xfrm>
              <a:off x="6828946" y="1394981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795687D3-C897-50E8-7FD2-2C5BAA88152E}"/>
                </a:ext>
              </a:extLst>
            </p:cNvPr>
            <p:cNvSpPr/>
            <p:nvPr/>
          </p:nvSpPr>
          <p:spPr>
            <a:xfrm>
              <a:off x="6828946" y="3543918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62CE4D63-E952-565F-A041-5FE4F250C5CE}"/>
                </a:ext>
              </a:extLst>
            </p:cNvPr>
            <p:cNvSpPr/>
            <p:nvPr/>
          </p:nvSpPr>
          <p:spPr>
            <a:xfrm>
              <a:off x="6828946" y="5470344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4" name="Oval 73">
                  <a:extLst>
                    <a:ext uri="{FF2B5EF4-FFF2-40B4-BE49-F238E27FC236}">
                      <a16:creationId xmlns:a16="http://schemas.microsoft.com/office/drawing/2014/main" id="{86EEAEB3-B546-95C8-F54D-9562C3C46A5C}"/>
                    </a:ext>
                  </a:extLst>
                </p:cNvPr>
                <p:cNvSpPr/>
                <p:nvPr/>
              </p:nvSpPr>
              <p:spPr>
                <a:xfrm>
                  <a:off x="6821402" y="4178458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pt-BR" sz="14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74" name="Oval 73">
                  <a:extLst>
                    <a:ext uri="{FF2B5EF4-FFF2-40B4-BE49-F238E27FC236}">
                      <a16:creationId xmlns:a16="http://schemas.microsoft.com/office/drawing/2014/main" id="{86EEAEB3-B546-95C8-F54D-9562C3C46A5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21402" y="4178458"/>
                  <a:ext cx="432000" cy="432000"/>
                </a:xfrm>
                <a:prstGeom prst="ellipse">
                  <a:avLst/>
                </a:prstGeom>
                <a:blipFill>
                  <a:blip r:embed="rId9"/>
                  <a:stretch>
                    <a:fillRect l="-97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5" name="Straight Arrow Connector 74">
              <a:extLst>
                <a:ext uri="{FF2B5EF4-FFF2-40B4-BE49-F238E27FC236}">
                  <a16:creationId xmlns:a16="http://schemas.microsoft.com/office/drawing/2014/main" id="{3080287C-8306-9C65-7A6F-2D218C99C919}"/>
                </a:ext>
              </a:extLst>
            </p:cNvPr>
            <p:cNvCxnSpPr>
              <a:stCxn id="73" idx="0"/>
              <a:endCxn id="69" idx="2"/>
            </p:cNvCxnSpPr>
            <p:nvPr/>
          </p:nvCxnSpPr>
          <p:spPr>
            <a:xfrm flipH="1" flipV="1">
              <a:off x="7041174" y="5274401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6" name="Straight Arrow Connector 75">
              <a:extLst>
                <a:ext uri="{FF2B5EF4-FFF2-40B4-BE49-F238E27FC236}">
                  <a16:creationId xmlns:a16="http://schemas.microsoft.com/office/drawing/2014/main" id="{554A301A-E6EA-C46C-78E5-5942556E42DF}"/>
                </a:ext>
              </a:extLst>
            </p:cNvPr>
            <p:cNvCxnSpPr/>
            <p:nvPr/>
          </p:nvCxnSpPr>
          <p:spPr>
            <a:xfrm flipH="1" flipV="1">
              <a:off x="7044946" y="4610458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7" name="Straight Arrow Connector 76">
              <a:extLst>
                <a:ext uri="{FF2B5EF4-FFF2-40B4-BE49-F238E27FC236}">
                  <a16:creationId xmlns:a16="http://schemas.microsoft.com/office/drawing/2014/main" id="{F1FBB8CC-7B58-3828-8D59-845FC6145CD3}"/>
                </a:ext>
              </a:extLst>
            </p:cNvPr>
            <p:cNvCxnSpPr/>
            <p:nvPr/>
          </p:nvCxnSpPr>
          <p:spPr>
            <a:xfrm flipH="1" flipV="1">
              <a:off x="7041174" y="3982515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Straight Arrow Connector 77">
              <a:extLst>
                <a:ext uri="{FF2B5EF4-FFF2-40B4-BE49-F238E27FC236}">
                  <a16:creationId xmlns:a16="http://schemas.microsoft.com/office/drawing/2014/main" id="{112EE4C8-C51C-8DBB-3C89-672F8D8D53B5}"/>
                </a:ext>
              </a:extLst>
            </p:cNvPr>
            <p:cNvCxnSpPr>
              <a:stCxn id="72" idx="0"/>
              <a:endCxn id="68" idx="2"/>
            </p:cNvCxnSpPr>
            <p:nvPr/>
          </p:nvCxnSpPr>
          <p:spPr>
            <a:xfrm flipV="1">
              <a:off x="7044946" y="2506846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9" name="Connector: Elbow 78">
              <a:extLst>
                <a:ext uri="{FF2B5EF4-FFF2-40B4-BE49-F238E27FC236}">
                  <a16:creationId xmlns:a16="http://schemas.microsoft.com/office/drawing/2014/main" id="{CBB9CBD8-9F5B-3611-67FF-D958304DF83A}"/>
                </a:ext>
              </a:extLst>
            </p:cNvPr>
            <p:cNvCxnSpPr>
              <a:cxnSpLocks/>
              <a:endCxn id="70" idx="0"/>
            </p:cNvCxnSpPr>
            <p:nvPr/>
          </p:nvCxnSpPr>
          <p:spPr>
            <a:xfrm>
              <a:off x="7044946" y="3039760"/>
              <a:ext cx="773197" cy="486158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0" name="Straight Arrow Connector 79">
              <a:extLst>
                <a:ext uri="{FF2B5EF4-FFF2-40B4-BE49-F238E27FC236}">
                  <a16:creationId xmlns:a16="http://schemas.microsoft.com/office/drawing/2014/main" id="{729D2BFC-99F1-AA14-B4EB-0843932843B9}"/>
                </a:ext>
              </a:extLst>
            </p:cNvPr>
            <p:cNvCxnSpPr/>
            <p:nvPr/>
          </p:nvCxnSpPr>
          <p:spPr>
            <a:xfrm flipH="1" flipV="1">
              <a:off x="7047789" y="183630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Connector: Elbow 81">
              <a:extLst>
                <a:ext uri="{FF2B5EF4-FFF2-40B4-BE49-F238E27FC236}">
                  <a16:creationId xmlns:a16="http://schemas.microsoft.com/office/drawing/2014/main" id="{45188B31-976F-6366-AAD8-A63C479F343F}"/>
                </a:ext>
              </a:extLst>
            </p:cNvPr>
            <p:cNvCxnSpPr>
              <a:stCxn id="46" idx="2"/>
              <a:endCxn id="74" idx="2"/>
            </p:cNvCxnSpPr>
            <p:nvPr/>
          </p:nvCxnSpPr>
          <p:spPr>
            <a:xfrm rot="16200000" flipH="1">
              <a:off x="6345875" y="3918931"/>
              <a:ext cx="386162" cy="56489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5" name="Connector: Elbow 84">
              <a:extLst>
                <a:ext uri="{FF2B5EF4-FFF2-40B4-BE49-F238E27FC236}">
                  <a16:creationId xmlns:a16="http://schemas.microsoft.com/office/drawing/2014/main" id="{693E3011-495E-7E76-8871-F30E1F5C8088}"/>
                </a:ext>
              </a:extLst>
            </p:cNvPr>
            <p:cNvCxnSpPr>
              <a:cxnSpLocks/>
              <a:stCxn id="70" idx="2"/>
            </p:cNvCxnSpPr>
            <p:nvPr/>
          </p:nvCxnSpPr>
          <p:spPr>
            <a:xfrm rot="16200000" flipH="1">
              <a:off x="7833653" y="3978408"/>
              <a:ext cx="423458" cy="454478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6" name="Arrow: Right 85">
              <a:extLst>
                <a:ext uri="{FF2B5EF4-FFF2-40B4-BE49-F238E27FC236}">
                  <a16:creationId xmlns:a16="http://schemas.microsoft.com/office/drawing/2014/main" id="{19912397-A908-9D98-7A8E-1257E21D0881}"/>
                </a:ext>
              </a:extLst>
            </p:cNvPr>
            <p:cNvSpPr/>
            <p:nvPr/>
          </p:nvSpPr>
          <p:spPr>
            <a:xfrm>
              <a:off x="2672771" y="3651918"/>
              <a:ext cx="447018" cy="216000"/>
            </a:xfrm>
            <a:prstGeom prst="rightArrow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7038FDD0-F92D-0792-1189-9D15218C870B}"/>
                </a:ext>
              </a:extLst>
            </p:cNvPr>
            <p:cNvSpPr txBox="1"/>
            <p:nvPr/>
          </p:nvSpPr>
          <p:spPr>
            <a:xfrm>
              <a:off x="2317060" y="3843004"/>
              <a:ext cx="116091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desdobrando</a:t>
              </a:r>
              <a:endParaRPr lang="en-US" sz="1400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377E887F-EDBB-0313-5CE7-0FFA5FC4E09D}"/>
                    </a:ext>
                  </a:extLst>
                </p:cNvPr>
                <p:cNvSpPr txBox="1"/>
                <p:nvPr/>
              </p:nvSpPr>
              <p:spPr>
                <a:xfrm>
                  <a:off x="3573467" y="5569917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377E887F-EDBB-0313-5CE7-0FFA5FC4E0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73467" y="5569917"/>
                  <a:ext cx="1004707" cy="246221"/>
                </a:xfrm>
                <a:prstGeom prst="rect">
                  <a:avLst/>
                </a:prstGeom>
                <a:blipFill>
                  <a:blip r:embed="rId20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E4EC7983-6440-106E-40A4-B9271A9AD72F}"/>
                    </a:ext>
                  </a:extLst>
                </p:cNvPr>
                <p:cNvSpPr txBox="1"/>
                <p:nvPr/>
              </p:nvSpPr>
              <p:spPr>
                <a:xfrm>
                  <a:off x="5018964" y="5577611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E4EC7983-6440-106E-40A4-B9271A9AD72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8964" y="5577611"/>
                  <a:ext cx="1004707" cy="246221"/>
                </a:xfrm>
                <a:prstGeom prst="rect">
                  <a:avLst/>
                </a:prstGeom>
                <a:blipFill>
                  <a:blip r:embed="rId21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DD5EA899-4635-3E2A-C4DF-7472C47377E5}"/>
                    </a:ext>
                  </a:extLst>
                </p:cNvPr>
                <p:cNvSpPr txBox="1"/>
                <p:nvPr/>
              </p:nvSpPr>
              <p:spPr>
                <a:xfrm>
                  <a:off x="6560093" y="556672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DD5EA899-4635-3E2A-C4DF-7472C47377E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0093" y="5566725"/>
                  <a:ext cx="1004707" cy="246221"/>
                </a:xfrm>
                <a:prstGeom prst="rect">
                  <a:avLst/>
                </a:prstGeom>
                <a:blipFill>
                  <a:blip r:embed="rId22"/>
                  <a:stretch>
                    <a:fillRect b="-48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4F88E0E9-05F4-B69C-9592-D8DDF331EB10}"/>
                    </a:ext>
                  </a:extLst>
                </p:cNvPr>
                <p:cNvSpPr txBox="1"/>
                <p:nvPr/>
              </p:nvSpPr>
              <p:spPr>
                <a:xfrm>
                  <a:off x="3584650" y="3645334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4F88E0E9-05F4-B69C-9592-D8DDF331EB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4650" y="3645334"/>
                  <a:ext cx="1004707" cy="246221"/>
                </a:xfrm>
                <a:prstGeom prst="rect">
                  <a:avLst/>
                </a:prstGeom>
                <a:blipFill>
                  <a:blip r:embed="rId23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86F263A7-30BD-E91C-D8BD-5BF37E71E050}"/>
                    </a:ext>
                  </a:extLst>
                </p:cNvPr>
                <p:cNvSpPr txBox="1"/>
                <p:nvPr/>
              </p:nvSpPr>
              <p:spPr>
                <a:xfrm>
                  <a:off x="5024626" y="363772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86F263A7-30BD-E91C-D8BD-5BF37E71E05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4626" y="3637725"/>
                  <a:ext cx="1004707" cy="246221"/>
                </a:xfrm>
                <a:prstGeom prst="rect">
                  <a:avLst/>
                </a:prstGeom>
                <a:blipFill>
                  <a:blip r:embed="rId24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EEA3AB4B-4256-3B9E-5840-580E6B1EDB73}"/>
                    </a:ext>
                  </a:extLst>
                </p:cNvPr>
                <p:cNvSpPr txBox="1"/>
                <p:nvPr/>
              </p:nvSpPr>
              <p:spPr>
                <a:xfrm>
                  <a:off x="6560092" y="3621567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EEA3AB4B-4256-3B9E-5840-580E6B1EDB7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0092" y="3621567"/>
                  <a:ext cx="1004707" cy="246221"/>
                </a:xfrm>
                <a:prstGeom prst="rect">
                  <a:avLst/>
                </a:prstGeom>
                <a:blipFill>
                  <a:blip r:embed="rId25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DB33A7FE-46D7-DEBB-AF6F-0E2BF6B23F69}"/>
                    </a:ext>
                  </a:extLst>
                </p:cNvPr>
                <p:cNvSpPr txBox="1"/>
                <p:nvPr/>
              </p:nvSpPr>
              <p:spPr>
                <a:xfrm>
                  <a:off x="3582991" y="1493574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DB33A7FE-46D7-DEBB-AF6F-0E2BF6B23F6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2991" y="1493574"/>
                  <a:ext cx="1004707" cy="246221"/>
                </a:xfrm>
                <a:prstGeom prst="rect">
                  <a:avLst/>
                </a:prstGeom>
                <a:blipFill>
                  <a:blip r:embed="rId26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EF26E3FE-6209-F4AA-637B-22DC9834FEA1}"/>
                    </a:ext>
                  </a:extLst>
                </p:cNvPr>
                <p:cNvSpPr txBox="1"/>
                <p:nvPr/>
              </p:nvSpPr>
              <p:spPr>
                <a:xfrm>
                  <a:off x="5033255" y="1486992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EF26E3FE-6209-F4AA-637B-22DC9834FEA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33255" y="1486992"/>
                  <a:ext cx="1004707" cy="246221"/>
                </a:xfrm>
                <a:prstGeom prst="rect">
                  <a:avLst/>
                </a:prstGeom>
                <a:blipFill>
                  <a:blip r:embed="rId27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C00EA537-BE98-DE0B-50F5-FFC11DA371D0}"/>
                    </a:ext>
                  </a:extLst>
                </p:cNvPr>
                <p:cNvSpPr txBox="1"/>
                <p:nvPr/>
              </p:nvSpPr>
              <p:spPr>
                <a:xfrm>
                  <a:off x="6567235" y="148195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C00EA537-BE98-DE0B-50F5-FFC11DA371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7235" y="1481955"/>
                  <a:ext cx="1004707" cy="246221"/>
                </a:xfrm>
                <a:prstGeom prst="rect">
                  <a:avLst/>
                </a:prstGeom>
                <a:blipFill>
                  <a:blip r:embed="rId28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74207752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FD3EB3-5EBF-59B6-185F-3A08307686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CE6F6907-3D96-B227-166E-896DA60436B6}"/>
              </a:ext>
            </a:extLst>
          </p:cNvPr>
          <p:cNvGrpSpPr/>
          <p:nvPr/>
        </p:nvGrpSpPr>
        <p:grpSpPr>
          <a:xfrm>
            <a:off x="3458971" y="1394981"/>
            <a:ext cx="4813650" cy="4521741"/>
            <a:chOff x="3458971" y="1394981"/>
            <a:chExt cx="4813650" cy="452174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9037E731-6093-52C9-FF64-477D5D5902E5}"/>
                    </a:ext>
                  </a:extLst>
                </p:cNvPr>
                <p:cNvSpPr/>
                <p:nvPr/>
              </p:nvSpPr>
              <p:spPr>
                <a:xfrm>
                  <a:off x="3830878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9037E731-6093-52C9-FF64-477D5D5902E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30878" y="2053224"/>
                  <a:ext cx="468000" cy="468000"/>
                </a:xfrm>
                <a:prstGeom prst="rect">
                  <a:avLst/>
                </a:prstGeom>
                <a:blipFill>
                  <a:blip r:embed="rId2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DF0C5B7A-BCE3-F052-50EC-9B88A67812E2}"/>
                    </a:ext>
                  </a:extLst>
                </p:cNvPr>
                <p:cNvSpPr/>
                <p:nvPr/>
              </p:nvSpPr>
              <p:spPr>
                <a:xfrm>
                  <a:off x="3824346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DF0C5B7A-BCE3-F052-50EC-9B88A67812E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24346" y="4820779"/>
                  <a:ext cx="468000" cy="468000"/>
                </a:xfrm>
                <a:prstGeom prst="rect">
                  <a:avLst/>
                </a:prstGeom>
                <a:blipFill>
                  <a:blip r:embed="rId3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58741BD0-606E-9F1C-3E99-578839912D3F}"/>
                    </a:ext>
                  </a:extLst>
                </p:cNvPr>
                <p:cNvSpPr/>
                <p:nvPr/>
              </p:nvSpPr>
              <p:spPr>
                <a:xfrm>
                  <a:off x="4550964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58741BD0-606E-9F1C-3E99-578839912D3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0964" y="3540296"/>
                  <a:ext cx="468000" cy="468000"/>
                </a:xfrm>
                <a:prstGeom prst="rect">
                  <a:avLst/>
                </a:prstGeom>
                <a:blipFill>
                  <a:blip r:embed="rId4"/>
                  <a:stretch>
                    <a:fillRect l="-1039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B46C2697-6BEA-7C20-191A-6BD4799A3BDB}"/>
                </a:ext>
              </a:extLst>
            </p:cNvPr>
            <p:cNvSpPr/>
            <p:nvPr/>
          </p:nvSpPr>
          <p:spPr>
            <a:xfrm>
              <a:off x="3846118" y="1409359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18FB23CC-D060-A350-089A-54E8CB7ADFEE}"/>
                </a:ext>
              </a:extLst>
            </p:cNvPr>
            <p:cNvSpPr/>
            <p:nvPr/>
          </p:nvSpPr>
          <p:spPr>
            <a:xfrm>
              <a:off x="3846118" y="3558296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F2369338-A44F-7A99-25FB-2434D64DDD85}"/>
                </a:ext>
              </a:extLst>
            </p:cNvPr>
            <p:cNvSpPr/>
            <p:nvPr/>
          </p:nvSpPr>
          <p:spPr>
            <a:xfrm>
              <a:off x="3846118" y="5484722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E6544A4A-65E5-3677-5B6F-90CE14CBC247}"/>
                    </a:ext>
                  </a:extLst>
                </p:cNvPr>
                <p:cNvSpPr/>
                <p:nvPr/>
              </p:nvSpPr>
              <p:spPr>
                <a:xfrm>
                  <a:off x="3838574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pt-BR" sz="14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E6544A4A-65E5-3677-5B6F-90CE14CBC24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38574" y="4192836"/>
                  <a:ext cx="432000" cy="432000"/>
                </a:xfrm>
                <a:prstGeom prst="ellipse">
                  <a:avLst/>
                </a:prstGeom>
                <a:blipFill>
                  <a:blip r:embed="rId5"/>
                  <a:stretch>
                    <a:fillRect l="-97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ED20FD6C-87CA-F9A4-BF29-4A9DDE387B47}"/>
                </a:ext>
              </a:extLst>
            </p:cNvPr>
            <p:cNvCxnSpPr>
              <a:cxnSpLocks/>
              <a:stCxn id="27" idx="0"/>
              <a:endCxn id="23" idx="2"/>
            </p:cNvCxnSpPr>
            <p:nvPr/>
          </p:nvCxnSpPr>
          <p:spPr>
            <a:xfrm flipH="1" flipV="1">
              <a:off x="4058346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33BBAECB-E07B-3C9A-CF9F-4D33D251BB64}"/>
                </a:ext>
              </a:extLst>
            </p:cNvPr>
            <p:cNvCxnSpPr/>
            <p:nvPr/>
          </p:nvCxnSpPr>
          <p:spPr>
            <a:xfrm flipH="1" flipV="1">
              <a:off x="4062118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3613390A-F0EF-6DC1-FE10-D768AD8F70A2}"/>
                </a:ext>
              </a:extLst>
            </p:cNvPr>
            <p:cNvCxnSpPr/>
            <p:nvPr/>
          </p:nvCxnSpPr>
          <p:spPr>
            <a:xfrm flipH="1" flipV="1">
              <a:off x="4058346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CFF5E1B4-9351-9FFE-87AA-72B9EDEF149C}"/>
                </a:ext>
              </a:extLst>
            </p:cNvPr>
            <p:cNvCxnSpPr>
              <a:stCxn id="26" idx="0"/>
              <a:endCxn id="22" idx="2"/>
            </p:cNvCxnSpPr>
            <p:nvPr/>
          </p:nvCxnSpPr>
          <p:spPr>
            <a:xfrm flipV="1">
              <a:off x="4062118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4" name="Connector: Elbow 33">
              <a:extLst>
                <a:ext uri="{FF2B5EF4-FFF2-40B4-BE49-F238E27FC236}">
                  <a16:creationId xmlns:a16="http://schemas.microsoft.com/office/drawing/2014/main" id="{F5B52639-55A0-BC72-2057-1160DF41D5A9}"/>
                </a:ext>
              </a:extLst>
            </p:cNvPr>
            <p:cNvCxnSpPr>
              <a:cxnSpLocks/>
              <a:endCxn id="24" idx="0"/>
            </p:cNvCxnSpPr>
            <p:nvPr/>
          </p:nvCxnSpPr>
          <p:spPr>
            <a:xfrm>
              <a:off x="4062118" y="3066699"/>
              <a:ext cx="722846" cy="473597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5B7DEA0A-FC6B-AA97-CF60-3AD7C50CACAF}"/>
                </a:ext>
              </a:extLst>
            </p:cNvPr>
            <p:cNvCxnSpPr/>
            <p:nvPr/>
          </p:nvCxnSpPr>
          <p:spPr>
            <a:xfrm flipH="1" flipV="1">
              <a:off x="4064961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9" name="Connector: Elbow 38">
              <a:extLst>
                <a:ext uri="{FF2B5EF4-FFF2-40B4-BE49-F238E27FC236}">
                  <a16:creationId xmlns:a16="http://schemas.microsoft.com/office/drawing/2014/main" id="{2F4252DA-9D7D-1337-D118-43C1F1ED2820}"/>
                </a:ext>
              </a:extLst>
            </p:cNvPr>
            <p:cNvCxnSpPr>
              <a:cxnSpLocks/>
              <a:endCxn id="29" idx="2"/>
            </p:cNvCxnSpPr>
            <p:nvPr/>
          </p:nvCxnSpPr>
          <p:spPr>
            <a:xfrm rot="16200000" flipH="1">
              <a:off x="3512189" y="4082450"/>
              <a:ext cx="273167" cy="379603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95E93986-12E0-00EE-A36A-3CCFDB7284C9}"/>
                    </a:ext>
                  </a:extLst>
                </p:cNvPr>
                <p:cNvSpPr/>
                <p:nvPr/>
              </p:nvSpPr>
              <p:spPr>
                <a:xfrm>
                  <a:off x="5273850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95E93986-12E0-00EE-A36A-3CCFDB7284C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3850" y="2053224"/>
                  <a:ext cx="468000" cy="468000"/>
                </a:xfrm>
                <a:prstGeom prst="rect">
                  <a:avLst/>
                </a:prstGeom>
                <a:blipFill>
                  <a:blip r:embed="rId6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7CDFC847-46C3-2DA1-011C-F5DCADB42DCC}"/>
                    </a:ext>
                  </a:extLst>
                </p:cNvPr>
                <p:cNvSpPr/>
                <p:nvPr/>
              </p:nvSpPr>
              <p:spPr>
                <a:xfrm>
                  <a:off x="5267318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7CDFC847-46C3-2DA1-011C-F5DCADB42DC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67318" y="4820779"/>
                  <a:ext cx="468000" cy="468000"/>
                </a:xfrm>
                <a:prstGeom prst="rect">
                  <a:avLst/>
                </a:prstGeom>
                <a:blipFill>
                  <a:blip r:embed="rId7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C9003F32-FF22-F8C7-D909-D98E50A379E8}"/>
                    </a:ext>
                  </a:extLst>
                </p:cNvPr>
                <p:cNvSpPr/>
                <p:nvPr/>
              </p:nvSpPr>
              <p:spPr>
                <a:xfrm>
                  <a:off x="6022511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C9003F32-FF22-F8C7-D909-D98E50A379E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22511" y="3540296"/>
                  <a:ext cx="468000" cy="468000"/>
                </a:xfrm>
                <a:prstGeom prst="rect">
                  <a:avLst/>
                </a:prstGeom>
                <a:blipFill>
                  <a:blip r:embed="rId8"/>
                  <a:stretch>
                    <a:fillRect l="-102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CDFD11FA-B131-9D81-4E0A-363A3400B3AF}"/>
                </a:ext>
              </a:extLst>
            </p:cNvPr>
            <p:cNvSpPr/>
            <p:nvPr/>
          </p:nvSpPr>
          <p:spPr>
            <a:xfrm>
              <a:off x="5289090" y="1409359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5A71F691-F9B4-DBCD-5A2F-F4FE6ED218F1}"/>
                </a:ext>
              </a:extLst>
            </p:cNvPr>
            <p:cNvSpPr/>
            <p:nvPr/>
          </p:nvSpPr>
          <p:spPr>
            <a:xfrm>
              <a:off x="5289090" y="3558296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C4236D7E-FDB3-350E-288B-59C66F3B92DE}"/>
                </a:ext>
              </a:extLst>
            </p:cNvPr>
            <p:cNvSpPr/>
            <p:nvPr/>
          </p:nvSpPr>
          <p:spPr>
            <a:xfrm>
              <a:off x="5289090" y="5484722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Oval 50">
                  <a:extLst>
                    <a:ext uri="{FF2B5EF4-FFF2-40B4-BE49-F238E27FC236}">
                      <a16:creationId xmlns:a16="http://schemas.microsoft.com/office/drawing/2014/main" id="{2D680CE4-4C2C-EAB2-8166-DAA2E76F1D54}"/>
                    </a:ext>
                  </a:extLst>
                </p:cNvPr>
                <p:cNvSpPr/>
                <p:nvPr/>
              </p:nvSpPr>
              <p:spPr>
                <a:xfrm>
                  <a:off x="5281546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pt-BR" sz="14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1" name="Oval 50">
                  <a:extLst>
                    <a:ext uri="{FF2B5EF4-FFF2-40B4-BE49-F238E27FC236}">
                      <a16:creationId xmlns:a16="http://schemas.microsoft.com/office/drawing/2014/main" id="{2D680CE4-4C2C-EAB2-8166-DAA2E76F1D5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81546" y="4192836"/>
                  <a:ext cx="432000" cy="432000"/>
                </a:xfrm>
                <a:prstGeom prst="ellipse">
                  <a:avLst/>
                </a:prstGeom>
                <a:blipFill>
                  <a:blip r:embed="rId9"/>
                  <a:stretch>
                    <a:fillRect l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267136A0-6D98-74F4-BC06-E399AA2C8CA1}"/>
                </a:ext>
              </a:extLst>
            </p:cNvPr>
            <p:cNvCxnSpPr>
              <a:stCxn id="49" idx="0"/>
              <a:endCxn id="45" idx="2"/>
            </p:cNvCxnSpPr>
            <p:nvPr/>
          </p:nvCxnSpPr>
          <p:spPr>
            <a:xfrm flipH="1" flipV="1">
              <a:off x="5501318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C17629BF-E3F8-1CFE-9840-ACD35AE829D2}"/>
                </a:ext>
              </a:extLst>
            </p:cNvPr>
            <p:cNvCxnSpPr/>
            <p:nvPr/>
          </p:nvCxnSpPr>
          <p:spPr>
            <a:xfrm flipH="1" flipV="1">
              <a:off x="5505090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4F6C6731-5C72-4F8C-3D3F-D0A75C98A7AF}"/>
                </a:ext>
              </a:extLst>
            </p:cNvPr>
            <p:cNvCxnSpPr/>
            <p:nvPr/>
          </p:nvCxnSpPr>
          <p:spPr>
            <a:xfrm flipH="1" flipV="1">
              <a:off x="5501318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49EC2415-5780-09A1-6E95-25715135C6AF}"/>
                </a:ext>
              </a:extLst>
            </p:cNvPr>
            <p:cNvCxnSpPr>
              <a:stCxn id="48" idx="0"/>
              <a:endCxn id="44" idx="2"/>
            </p:cNvCxnSpPr>
            <p:nvPr/>
          </p:nvCxnSpPr>
          <p:spPr>
            <a:xfrm flipV="1">
              <a:off x="5505090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6" name="Connector: Elbow 55">
              <a:extLst>
                <a:ext uri="{FF2B5EF4-FFF2-40B4-BE49-F238E27FC236}">
                  <a16:creationId xmlns:a16="http://schemas.microsoft.com/office/drawing/2014/main" id="{285042DD-1CE7-8819-4A4D-023EA751F111}"/>
                </a:ext>
              </a:extLst>
            </p:cNvPr>
            <p:cNvCxnSpPr>
              <a:cxnSpLocks/>
              <a:endCxn id="46" idx="0"/>
            </p:cNvCxnSpPr>
            <p:nvPr/>
          </p:nvCxnSpPr>
          <p:spPr>
            <a:xfrm>
              <a:off x="5509819" y="3066699"/>
              <a:ext cx="746692" cy="473597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id="{9556B928-D372-CFDD-293D-ACBEEC241F4C}"/>
                </a:ext>
              </a:extLst>
            </p:cNvPr>
            <p:cNvCxnSpPr/>
            <p:nvPr/>
          </p:nvCxnSpPr>
          <p:spPr>
            <a:xfrm flipH="1" flipV="1">
              <a:off x="5507933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2" name="Connector: Elbow 61">
              <a:extLst>
                <a:ext uri="{FF2B5EF4-FFF2-40B4-BE49-F238E27FC236}">
                  <a16:creationId xmlns:a16="http://schemas.microsoft.com/office/drawing/2014/main" id="{312DFA69-9ADD-E60D-49A2-C5E09A907A21}"/>
                </a:ext>
              </a:extLst>
            </p:cNvPr>
            <p:cNvCxnSpPr>
              <a:stCxn id="24" idx="2"/>
              <a:endCxn id="51" idx="2"/>
            </p:cNvCxnSpPr>
            <p:nvPr/>
          </p:nvCxnSpPr>
          <p:spPr>
            <a:xfrm rot="16200000" flipH="1">
              <a:off x="4832985" y="3960275"/>
              <a:ext cx="400540" cy="496582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FB57FCA5-4AE7-F1D4-5313-E7C61D1521CC}"/>
                    </a:ext>
                  </a:extLst>
                </p:cNvPr>
                <p:cNvSpPr/>
                <p:nvPr/>
              </p:nvSpPr>
              <p:spPr>
                <a:xfrm>
                  <a:off x="6813706" y="203884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FB57FCA5-4AE7-F1D4-5313-E7C61D1521C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13706" y="2038846"/>
                  <a:ext cx="468000" cy="468000"/>
                </a:xfrm>
                <a:prstGeom prst="rect">
                  <a:avLst/>
                </a:prstGeom>
                <a:blipFill>
                  <a:blip r:embed="rId10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7D97202F-5367-82C3-A597-F264450888D6}"/>
                    </a:ext>
                  </a:extLst>
                </p:cNvPr>
                <p:cNvSpPr/>
                <p:nvPr/>
              </p:nvSpPr>
              <p:spPr>
                <a:xfrm>
                  <a:off x="6807174" y="4806401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7D97202F-5367-82C3-A597-F264450888D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07174" y="4806401"/>
                  <a:ext cx="468000" cy="468000"/>
                </a:xfrm>
                <a:prstGeom prst="rect">
                  <a:avLst/>
                </a:prstGeom>
                <a:blipFill>
                  <a:blip r:embed="rId11"/>
                  <a:stretch>
                    <a:fillRect l="-51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" name="Rectangle 69">
                  <a:extLst>
                    <a:ext uri="{FF2B5EF4-FFF2-40B4-BE49-F238E27FC236}">
                      <a16:creationId xmlns:a16="http://schemas.microsoft.com/office/drawing/2014/main" id="{616304BC-E218-7F40-A5FE-AF61796A5FF8}"/>
                    </a:ext>
                  </a:extLst>
                </p:cNvPr>
                <p:cNvSpPr/>
                <p:nvPr/>
              </p:nvSpPr>
              <p:spPr>
                <a:xfrm>
                  <a:off x="7584143" y="3525918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0" name="Rectangle 69">
                  <a:extLst>
                    <a:ext uri="{FF2B5EF4-FFF2-40B4-BE49-F238E27FC236}">
                      <a16:creationId xmlns:a16="http://schemas.microsoft.com/office/drawing/2014/main" id="{616304BC-E218-7F40-A5FE-AF61796A5FF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84143" y="3525918"/>
                  <a:ext cx="468000" cy="468000"/>
                </a:xfrm>
                <a:prstGeom prst="rect">
                  <a:avLst/>
                </a:prstGeom>
                <a:blipFill>
                  <a:blip r:embed="rId12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09273FA2-4059-259C-EA18-EB97F916DE67}"/>
                </a:ext>
              </a:extLst>
            </p:cNvPr>
            <p:cNvSpPr/>
            <p:nvPr/>
          </p:nvSpPr>
          <p:spPr>
            <a:xfrm>
              <a:off x="6828946" y="1394981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DFF6184A-A6ED-0D56-4E38-4F6CDA7A0E2B}"/>
                </a:ext>
              </a:extLst>
            </p:cNvPr>
            <p:cNvSpPr/>
            <p:nvPr/>
          </p:nvSpPr>
          <p:spPr>
            <a:xfrm>
              <a:off x="6828946" y="3543918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2121102B-C918-3940-6CF1-E75935317C81}"/>
                </a:ext>
              </a:extLst>
            </p:cNvPr>
            <p:cNvSpPr/>
            <p:nvPr/>
          </p:nvSpPr>
          <p:spPr>
            <a:xfrm>
              <a:off x="6828946" y="5470344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4" name="Oval 73">
                  <a:extLst>
                    <a:ext uri="{FF2B5EF4-FFF2-40B4-BE49-F238E27FC236}">
                      <a16:creationId xmlns:a16="http://schemas.microsoft.com/office/drawing/2014/main" id="{64F9467F-B7FB-69CB-D6EF-0437402FB82C}"/>
                    </a:ext>
                  </a:extLst>
                </p:cNvPr>
                <p:cNvSpPr/>
                <p:nvPr/>
              </p:nvSpPr>
              <p:spPr>
                <a:xfrm>
                  <a:off x="6821402" y="4178458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pt-BR" sz="14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74" name="Oval 73">
                  <a:extLst>
                    <a:ext uri="{FF2B5EF4-FFF2-40B4-BE49-F238E27FC236}">
                      <a16:creationId xmlns:a16="http://schemas.microsoft.com/office/drawing/2014/main" id="{64F9467F-B7FB-69CB-D6EF-0437402FB82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21402" y="4178458"/>
                  <a:ext cx="432000" cy="432000"/>
                </a:xfrm>
                <a:prstGeom prst="ellipse">
                  <a:avLst/>
                </a:prstGeom>
                <a:blipFill>
                  <a:blip r:embed="rId5"/>
                  <a:stretch>
                    <a:fillRect l="-97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5" name="Straight Arrow Connector 74">
              <a:extLst>
                <a:ext uri="{FF2B5EF4-FFF2-40B4-BE49-F238E27FC236}">
                  <a16:creationId xmlns:a16="http://schemas.microsoft.com/office/drawing/2014/main" id="{722BA7B2-AE96-181C-AD84-36105B49ABE7}"/>
                </a:ext>
              </a:extLst>
            </p:cNvPr>
            <p:cNvCxnSpPr>
              <a:stCxn id="73" idx="0"/>
              <a:endCxn id="69" idx="2"/>
            </p:cNvCxnSpPr>
            <p:nvPr/>
          </p:nvCxnSpPr>
          <p:spPr>
            <a:xfrm flipH="1" flipV="1">
              <a:off x="7041174" y="5274401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6" name="Straight Arrow Connector 75">
              <a:extLst>
                <a:ext uri="{FF2B5EF4-FFF2-40B4-BE49-F238E27FC236}">
                  <a16:creationId xmlns:a16="http://schemas.microsoft.com/office/drawing/2014/main" id="{6C64B0C0-12C6-3252-D13D-AA422EA7C3B0}"/>
                </a:ext>
              </a:extLst>
            </p:cNvPr>
            <p:cNvCxnSpPr/>
            <p:nvPr/>
          </p:nvCxnSpPr>
          <p:spPr>
            <a:xfrm flipH="1" flipV="1">
              <a:off x="7044946" y="4610458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7" name="Straight Arrow Connector 76">
              <a:extLst>
                <a:ext uri="{FF2B5EF4-FFF2-40B4-BE49-F238E27FC236}">
                  <a16:creationId xmlns:a16="http://schemas.microsoft.com/office/drawing/2014/main" id="{E4CA3838-A40C-8B9E-1D6B-F85B59667588}"/>
                </a:ext>
              </a:extLst>
            </p:cNvPr>
            <p:cNvCxnSpPr/>
            <p:nvPr/>
          </p:nvCxnSpPr>
          <p:spPr>
            <a:xfrm flipH="1" flipV="1">
              <a:off x="7041174" y="3982515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Straight Arrow Connector 77">
              <a:extLst>
                <a:ext uri="{FF2B5EF4-FFF2-40B4-BE49-F238E27FC236}">
                  <a16:creationId xmlns:a16="http://schemas.microsoft.com/office/drawing/2014/main" id="{39487332-3618-8A01-F0BB-84D13D9712FF}"/>
                </a:ext>
              </a:extLst>
            </p:cNvPr>
            <p:cNvCxnSpPr>
              <a:stCxn id="72" idx="0"/>
              <a:endCxn id="68" idx="2"/>
            </p:cNvCxnSpPr>
            <p:nvPr/>
          </p:nvCxnSpPr>
          <p:spPr>
            <a:xfrm flipV="1">
              <a:off x="7044946" y="2506846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9" name="Connector: Elbow 78">
              <a:extLst>
                <a:ext uri="{FF2B5EF4-FFF2-40B4-BE49-F238E27FC236}">
                  <a16:creationId xmlns:a16="http://schemas.microsoft.com/office/drawing/2014/main" id="{71DB84C7-7B11-1862-C76C-54F0E7671AAD}"/>
                </a:ext>
              </a:extLst>
            </p:cNvPr>
            <p:cNvCxnSpPr>
              <a:cxnSpLocks/>
              <a:endCxn id="70" idx="0"/>
            </p:cNvCxnSpPr>
            <p:nvPr/>
          </p:nvCxnSpPr>
          <p:spPr>
            <a:xfrm>
              <a:off x="7044946" y="3039760"/>
              <a:ext cx="773197" cy="486158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0" name="Straight Arrow Connector 79">
              <a:extLst>
                <a:ext uri="{FF2B5EF4-FFF2-40B4-BE49-F238E27FC236}">
                  <a16:creationId xmlns:a16="http://schemas.microsoft.com/office/drawing/2014/main" id="{D5054840-0F89-8CAA-CC7A-84281836C332}"/>
                </a:ext>
              </a:extLst>
            </p:cNvPr>
            <p:cNvCxnSpPr/>
            <p:nvPr/>
          </p:nvCxnSpPr>
          <p:spPr>
            <a:xfrm flipH="1" flipV="1">
              <a:off x="7047789" y="183630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Connector: Elbow 81">
              <a:extLst>
                <a:ext uri="{FF2B5EF4-FFF2-40B4-BE49-F238E27FC236}">
                  <a16:creationId xmlns:a16="http://schemas.microsoft.com/office/drawing/2014/main" id="{169FFFE1-DA65-0934-D4DB-A1388A72A745}"/>
                </a:ext>
              </a:extLst>
            </p:cNvPr>
            <p:cNvCxnSpPr>
              <a:stCxn id="46" idx="2"/>
              <a:endCxn id="74" idx="2"/>
            </p:cNvCxnSpPr>
            <p:nvPr/>
          </p:nvCxnSpPr>
          <p:spPr>
            <a:xfrm rot="16200000" flipH="1">
              <a:off x="6345875" y="3918931"/>
              <a:ext cx="386162" cy="56489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5" name="Connector: Elbow 84">
              <a:extLst>
                <a:ext uri="{FF2B5EF4-FFF2-40B4-BE49-F238E27FC236}">
                  <a16:creationId xmlns:a16="http://schemas.microsoft.com/office/drawing/2014/main" id="{5317DB74-CA78-5EF6-06B9-38C66CF38F67}"/>
                </a:ext>
              </a:extLst>
            </p:cNvPr>
            <p:cNvCxnSpPr>
              <a:cxnSpLocks/>
              <a:stCxn id="70" idx="2"/>
            </p:cNvCxnSpPr>
            <p:nvPr/>
          </p:nvCxnSpPr>
          <p:spPr>
            <a:xfrm rot="16200000" flipH="1">
              <a:off x="7833653" y="3978408"/>
              <a:ext cx="423458" cy="454478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77F60FEF-A404-8FB2-5EE7-81C000751BF6}"/>
                    </a:ext>
                  </a:extLst>
                </p:cNvPr>
                <p:cNvSpPr txBox="1"/>
                <p:nvPr/>
              </p:nvSpPr>
              <p:spPr>
                <a:xfrm>
                  <a:off x="3573467" y="5569917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77F60FEF-A404-8FB2-5EE7-81C000751BF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73467" y="5569917"/>
                  <a:ext cx="1004707" cy="246221"/>
                </a:xfrm>
                <a:prstGeom prst="rect">
                  <a:avLst/>
                </a:prstGeom>
                <a:blipFill>
                  <a:blip r:embed="rId13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4E37C70B-1CCE-C852-EA6E-B0EA32D80266}"/>
                    </a:ext>
                  </a:extLst>
                </p:cNvPr>
                <p:cNvSpPr txBox="1"/>
                <p:nvPr/>
              </p:nvSpPr>
              <p:spPr>
                <a:xfrm>
                  <a:off x="5018964" y="5577611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4E37C70B-1CCE-C852-EA6E-B0EA32D8026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8964" y="5577611"/>
                  <a:ext cx="1004707" cy="246221"/>
                </a:xfrm>
                <a:prstGeom prst="rect">
                  <a:avLst/>
                </a:prstGeom>
                <a:blipFill>
                  <a:blip r:embed="rId14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C7DCB563-40B7-B6A4-D465-0D1BADFA0CCF}"/>
                    </a:ext>
                  </a:extLst>
                </p:cNvPr>
                <p:cNvSpPr txBox="1"/>
                <p:nvPr/>
              </p:nvSpPr>
              <p:spPr>
                <a:xfrm>
                  <a:off x="6560093" y="556672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C7DCB563-40B7-B6A4-D465-0D1BADFA0CC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0093" y="5566725"/>
                  <a:ext cx="1004707" cy="246221"/>
                </a:xfrm>
                <a:prstGeom prst="rect">
                  <a:avLst/>
                </a:prstGeom>
                <a:blipFill>
                  <a:blip r:embed="rId15"/>
                  <a:stretch>
                    <a:fillRect b="-48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5A0C2E9F-587C-97B2-5025-2264937181F7}"/>
                    </a:ext>
                  </a:extLst>
                </p:cNvPr>
                <p:cNvSpPr txBox="1"/>
                <p:nvPr/>
              </p:nvSpPr>
              <p:spPr>
                <a:xfrm>
                  <a:off x="3584650" y="3645334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5A0C2E9F-587C-97B2-5025-2264937181F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4650" y="3645334"/>
                  <a:ext cx="1004707" cy="246221"/>
                </a:xfrm>
                <a:prstGeom prst="rect">
                  <a:avLst/>
                </a:prstGeom>
                <a:blipFill>
                  <a:blip r:embed="rId16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17395D95-79E5-D78E-09A6-D0FADC418687}"/>
                    </a:ext>
                  </a:extLst>
                </p:cNvPr>
                <p:cNvSpPr txBox="1"/>
                <p:nvPr/>
              </p:nvSpPr>
              <p:spPr>
                <a:xfrm>
                  <a:off x="5024626" y="363772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17395D95-79E5-D78E-09A6-D0FADC41868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4626" y="3637725"/>
                  <a:ext cx="1004707" cy="246221"/>
                </a:xfrm>
                <a:prstGeom prst="rect">
                  <a:avLst/>
                </a:prstGeom>
                <a:blipFill>
                  <a:blip r:embed="rId17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E06A6EBF-4AE5-6650-6BFA-221AD79ED5F5}"/>
                    </a:ext>
                  </a:extLst>
                </p:cNvPr>
                <p:cNvSpPr txBox="1"/>
                <p:nvPr/>
              </p:nvSpPr>
              <p:spPr>
                <a:xfrm>
                  <a:off x="6560092" y="3621567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E06A6EBF-4AE5-6650-6BFA-221AD79ED5F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0092" y="3621567"/>
                  <a:ext cx="1004707" cy="246221"/>
                </a:xfrm>
                <a:prstGeom prst="rect">
                  <a:avLst/>
                </a:prstGeom>
                <a:blipFill>
                  <a:blip r:embed="rId18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65384143-FEF8-7CF0-F802-2CC38B7C25D8}"/>
                    </a:ext>
                  </a:extLst>
                </p:cNvPr>
                <p:cNvSpPr txBox="1"/>
                <p:nvPr/>
              </p:nvSpPr>
              <p:spPr>
                <a:xfrm>
                  <a:off x="3582991" y="1493574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65384143-FEF8-7CF0-F802-2CC38B7C25D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2991" y="1493574"/>
                  <a:ext cx="1004707" cy="246221"/>
                </a:xfrm>
                <a:prstGeom prst="rect">
                  <a:avLst/>
                </a:prstGeom>
                <a:blipFill>
                  <a:blip r:embed="rId19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E3AD042C-4051-B4C6-A8B2-8015CF873920}"/>
                    </a:ext>
                  </a:extLst>
                </p:cNvPr>
                <p:cNvSpPr txBox="1"/>
                <p:nvPr/>
              </p:nvSpPr>
              <p:spPr>
                <a:xfrm>
                  <a:off x="5033255" y="1486992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E3AD042C-4051-B4C6-A8B2-8015CF87392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33255" y="1486992"/>
                  <a:ext cx="1004707" cy="246221"/>
                </a:xfrm>
                <a:prstGeom prst="rect">
                  <a:avLst/>
                </a:prstGeom>
                <a:blipFill>
                  <a:blip r:embed="rId20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8312CF0C-65D9-B808-C295-661A2F44742D}"/>
                    </a:ext>
                  </a:extLst>
                </p:cNvPr>
                <p:cNvSpPr txBox="1"/>
                <p:nvPr/>
              </p:nvSpPr>
              <p:spPr>
                <a:xfrm>
                  <a:off x="6567235" y="148195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8312CF0C-65D9-B808-C295-661A2F44742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7235" y="1481955"/>
                  <a:ext cx="1004707" cy="246221"/>
                </a:xfrm>
                <a:prstGeom prst="rect">
                  <a:avLst/>
                </a:prstGeom>
                <a:blipFill>
                  <a:blip r:embed="rId21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0142946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FC46F5-9D39-3200-9315-7E41F8A215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0" name="Group 99">
            <a:extLst>
              <a:ext uri="{FF2B5EF4-FFF2-40B4-BE49-F238E27FC236}">
                <a16:creationId xmlns:a16="http://schemas.microsoft.com/office/drawing/2014/main" id="{5848EDA5-D183-93CF-2EA4-41FF8DEF531E}"/>
              </a:ext>
            </a:extLst>
          </p:cNvPr>
          <p:cNvGrpSpPr/>
          <p:nvPr/>
        </p:nvGrpSpPr>
        <p:grpSpPr>
          <a:xfrm>
            <a:off x="3532909" y="1911927"/>
            <a:ext cx="3090150" cy="2613440"/>
            <a:chOff x="3532909" y="1911927"/>
            <a:chExt cx="3090150" cy="2613440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C0534D28-CEEB-F347-7428-695FCFDD6FD0}"/>
                </a:ext>
              </a:extLst>
            </p:cNvPr>
            <p:cNvSpPr/>
            <p:nvPr/>
          </p:nvSpPr>
          <p:spPr>
            <a:xfrm>
              <a:off x="3532909" y="3034145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026D259C-2F42-013A-4513-8545895EBC0A}"/>
                </a:ext>
              </a:extLst>
            </p:cNvPr>
            <p:cNvSpPr/>
            <p:nvPr/>
          </p:nvSpPr>
          <p:spPr>
            <a:xfrm>
              <a:off x="4371108" y="3039176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2DC3002-17E7-8F70-DAB0-4CE49CBA033A}"/>
                </a:ext>
              </a:extLst>
            </p:cNvPr>
            <p:cNvSpPr/>
            <p:nvPr/>
          </p:nvSpPr>
          <p:spPr>
            <a:xfrm>
              <a:off x="5209307" y="3034145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8EF0ACA0-1266-E99E-2733-10E832A0C15D}"/>
                </a:ext>
              </a:extLst>
            </p:cNvPr>
            <p:cNvSpPr/>
            <p:nvPr/>
          </p:nvSpPr>
          <p:spPr>
            <a:xfrm>
              <a:off x="6047506" y="3039504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F7F6D4AE-C331-40DD-5100-DC5C7B3F44A9}"/>
                </a:ext>
              </a:extLst>
            </p:cNvPr>
            <p:cNvCxnSpPr>
              <a:stCxn id="3" idx="3"/>
              <a:endCxn id="5" idx="1"/>
            </p:cNvCxnSpPr>
            <p:nvPr/>
          </p:nvCxnSpPr>
          <p:spPr>
            <a:xfrm>
              <a:off x="4072909" y="3236604"/>
              <a:ext cx="298199" cy="503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386C2C92-0CC5-ADC3-4EEC-0177DFD60A37}"/>
                </a:ext>
              </a:extLst>
            </p:cNvPr>
            <p:cNvCxnSpPr>
              <a:stCxn id="5" idx="3"/>
              <a:endCxn id="6" idx="1"/>
            </p:cNvCxnSpPr>
            <p:nvPr/>
          </p:nvCxnSpPr>
          <p:spPr>
            <a:xfrm flipV="1">
              <a:off x="4911108" y="3236604"/>
              <a:ext cx="298199" cy="503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EFF6839D-CACE-9E2F-A029-736CE3391E11}"/>
                </a:ext>
              </a:extLst>
            </p:cNvPr>
            <p:cNvCxnSpPr>
              <a:stCxn id="6" idx="3"/>
              <a:endCxn id="7" idx="1"/>
            </p:cNvCxnSpPr>
            <p:nvPr/>
          </p:nvCxnSpPr>
          <p:spPr>
            <a:xfrm>
              <a:off x="5749307" y="3236604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8A25C4F4-BDDD-1357-5894-BBBEAB136FDF}"/>
                    </a:ext>
                  </a:extLst>
                </p:cNvPr>
                <p:cNvSpPr/>
                <p:nvPr/>
              </p:nvSpPr>
              <p:spPr>
                <a:xfrm>
                  <a:off x="3595091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[0]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8A25C4F4-BDDD-1357-5894-BBBEAB136FD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95091" y="3751117"/>
                  <a:ext cx="415636" cy="404918"/>
                </a:xfrm>
                <a:prstGeom prst="ellipse">
                  <a:avLst/>
                </a:prstGeom>
                <a:blipFill>
                  <a:blip r:embed="rId2"/>
                  <a:stretch>
                    <a:fillRect l="-4348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2FDBCC82-BD5A-68A7-87A4-4A651886FB80}"/>
                </a:ext>
              </a:extLst>
            </p:cNvPr>
            <p:cNvCxnSpPr>
              <a:stCxn id="14" idx="0"/>
              <a:endCxn id="3" idx="2"/>
            </p:cNvCxnSpPr>
            <p:nvPr/>
          </p:nvCxnSpPr>
          <p:spPr>
            <a:xfrm flipV="1">
              <a:off x="3802909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52722EC4-648E-315C-70C6-C19E306B6E14}"/>
                    </a:ext>
                  </a:extLst>
                </p:cNvPr>
                <p:cNvSpPr/>
                <p:nvPr/>
              </p:nvSpPr>
              <p:spPr>
                <a:xfrm>
                  <a:off x="4432962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[1]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52722EC4-648E-315C-70C6-C19E306B6E1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2962" y="3751117"/>
                  <a:ext cx="415636" cy="404918"/>
                </a:xfrm>
                <a:prstGeom prst="ellipse">
                  <a:avLst/>
                </a:prstGeom>
                <a:blipFill>
                  <a:blip r:embed="rId3"/>
                  <a:stretch>
                    <a:fillRect l="-4348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B83D5045-507C-09DE-9249-D35934725844}"/>
                </a:ext>
              </a:extLst>
            </p:cNvPr>
            <p:cNvCxnSpPr>
              <a:stCxn id="17" idx="0"/>
            </p:cNvCxnSpPr>
            <p:nvPr/>
          </p:nvCxnSpPr>
          <p:spPr>
            <a:xfrm flipV="1">
              <a:off x="4640780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C5E5668A-3613-7850-70F3-C9B8E4A52FF1}"/>
                    </a:ext>
                  </a:extLst>
                </p:cNvPr>
                <p:cNvSpPr/>
                <p:nvPr/>
              </p:nvSpPr>
              <p:spPr>
                <a:xfrm>
                  <a:off x="5270834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[2]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C5E5668A-3613-7850-70F3-C9B8E4A52FF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0834" y="3751117"/>
                  <a:ext cx="415636" cy="404918"/>
                </a:xfrm>
                <a:prstGeom prst="ellipse">
                  <a:avLst/>
                </a:prstGeom>
                <a:blipFill>
                  <a:blip r:embed="rId4"/>
                  <a:stretch>
                    <a:fillRect l="-5797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F7E15D01-6FDB-794A-E003-736262810557}"/>
                </a:ext>
              </a:extLst>
            </p:cNvPr>
            <p:cNvCxnSpPr>
              <a:stCxn id="19" idx="0"/>
            </p:cNvCxnSpPr>
            <p:nvPr/>
          </p:nvCxnSpPr>
          <p:spPr>
            <a:xfrm flipV="1">
              <a:off x="5478652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id="{0031823E-FE60-1D2D-F19F-55B0E209D968}"/>
                    </a:ext>
                  </a:extLst>
                </p:cNvPr>
                <p:cNvSpPr/>
                <p:nvPr/>
              </p:nvSpPr>
              <p:spPr>
                <a:xfrm>
                  <a:off x="6129160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[3]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id="{0031823E-FE60-1D2D-F19F-55B0E209D96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29160" y="3751117"/>
                  <a:ext cx="415636" cy="404918"/>
                </a:xfrm>
                <a:prstGeom prst="ellipse">
                  <a:avLst/>
                </a:prstGeom>
                <a:blipFill>
                  <a:blip r:embed="rId5"/>
                  <a:stretch>
                    <a:fillRect l="-4286" r="-285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4F964C84-B656-9E27-A3FA-BB652F5F18AF}"/>
                </a:ext>
              </a:extLst>
            </p:cNvPr>
            <p:cNvCxnSpPr>
              <a:stCxn id="21" idx="0"/>
            </p:cNvCxnSpPr>
            <p:nvPr/>
          </p:nvCxnSpPr>
          <p:spPr>
            <a:xfrm flipV="1">
              <a:off x="6336978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D3E890DB-71EF-713A-14D8-3C24E4337EE1}"/>
                </a:ext>
              </a:extLst>
            </p:cNvPr>
            <p:cNvSpPr txBox="1"/>
            <p:nvPr/>
          </p:nvSpPr>
          <p:spPr>
            <a:xfrm>
              <a:off x="3634433" y="4156035"/>
              <a:ext cx="33695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O</a:t>
              </a:r>
              <a:endParaRPr lang="en-US" dirty="0"/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57B34361-3900-1266-3D58-C3384D25DB7D}"/>
                </a:ext>
              </a:extLst>
            </p:cNvPr>
            <p:cNvSpPr txBox="1"/>
            <p:nvPr/>
          </p:nvSpPr>
          <p:spPr>
            <a:xfrm>
              <a:off x="4391414" y="4151004"/>
              <a:ext cx="5196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céu</a:t>
              </a:r>
              <a:endParaRPr lang="en-US" dirty="0"/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D8BB3D9F-5B39-1045-1636-9A97CDA0FC7A}"/>
                </a:ext>
              </a:extLst>
            </p:cNvPr>
            <p:cNvSpPr txBox="1"/>
            <p:nvPr/>
          </p:nvSpPr>
          <p:spPr>
            <a:xfrm>
              <a:off x="5310176" y="4151004"/>
              <a:ext cx="3000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é</a:t>
              </a:r>
              <a:endParaRPr lang="en-US" dirty="0"/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73D30054-6A82-5512-0EE4-37AF61A11200}"/>
                </a:ext>
              </a:extLst>
            </p:cNvPr>
            <p:cNvSpPr txBox="1"/>
            <p:nvPr/>
          </p:nvSpPr>
          <p:spPr>
            <a:xfrm>
              <a:off x="6062841" y="4150676"/>
              <a:ext cx="5602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azul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4" name="Oval 63">
                  <a:extLst>
                    <a:ext uri="{FF2B5EF4-FFF2-40B4-BE49-F238E27FC236}">
                      <a16:creationId xmlns:a16="http://schemas.microsoft.com/office/drawing/2014/main" id="{F87D58A6-2B88-2E5E-90B2-E06F40638232}"/>
                    </a:ext>
                  </a:extLst>
                </p:cNvPr>
                <p:cNvSpPr/>
                <p:nvPr/>
              </p:nvSpPr>
              <p:spPr>
                <a:xfrm>
                  <a:off x="3596985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[0]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64" name="Oval 63">
                  <a:extLst>
                    <a:ext uri="{FF2B5EF4-FFF2-40B4-BE49-F238E27FC236}">
                      <a16:creationId xmlns:a16="http://schemas.microsoft.com/office/drawing/2014/main" id="{F87D58A6-2B88-2E5E-90B2-E06F4063823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96985" y="2317173"/>
                  <a:ext cx="415636" cy="404918"/>
                </a:xfrm>
                <a:prstGeom prst="ellipse">
                  <a:avLst/>
                </a:prstGeom>
                <a:blipFill>
                  <a:blip r:embed="rId6"/>
                  <a:stretch>
                    <a:fillRect l="-8696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6" name="Straight Arrow Connector 65">
              <a:extLst>
                <a:ext uri="{FF2B5EF4-FFF2-40B4-BE49-F238E27FC236}">
                  <a16:creationId xmlns:a16="http://schemas.microsoft.com/office/drawing/2014/main" id="{6439B11B-0286-EBCA-49E0-335FE5EBE8FA}"/>
                </a:ext>
              </a:extLst>
            </p:cNvPr>
            <p:cNvCxnSpPr>
              <a:stCxn id="3" idx="0"/>
              <a:endCxn id="64" idx="4"/>
            </p:cNvCxnSpPr>
            <p:nvPr/>
          </p:nvCxnSpPr>
          <p:spPr>
            <a:xfrm flipV="1">
              <a:off x="3802909" y="2722091"/>
              <a:ext cx="1894" cy="31205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Oval 66">
                  <a:extLst>
                    <a:ext uri="{FF2B5EF4-FFF2-40B4-BE49-F238E27FC236}">
                      <a16:creationId xmlns:a16="http://schemas.microsoft.com/office/drawing/2014/main" id="{E08AEBD1-432B-3013-BE2F-DF9CF8403889}"/>
                    </a:ext>
                  </a:extLst>
                </p:cNvPr>
                <p:cNvSpPr/>
                <p:nvPr/>
              </p:nvSpPr>
              <p:spPr>
                <a:xfrm>
                  <a:off x="4433052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[1]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67" name="Oval 66">
                  <a:extLst>
                    <a:ext uri="{FF2B5EF4-FFF2-40B4-BE49-F238E27FC236}">
                      <a16:creationId xmlns:a16="http://schemas.microsoft.com/office/drawing/2014/main" id="{E08AEBD1-432B-3013-BE2F-DF9CF840388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3052" y="2317173"/>
                  <a:ext cx="415636" cy="404918"/>
                </a:xfrm>
                <a:prstGeom prst="ellipse">
                  <a:avLst/>
                </a:prstGeom>
                <a:blipFill>
                  <a:blip r:embed="rId7"/>
                  <a:stretch>
                    <a:fillRect l="-8696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1" name="Oval 80">
                  <a:extLst>
                    <a:ext uri="{FF2B5EF4-FFF2-40B4-BE49-F238E27FC236}">
                      <a16:creationId xmlns:a16="http://schemas.microsoft.com/office/drawing/2014/main" id="{28850714-0B6D-B080-5A71-750BA6C67D95}"/>
                    </a:ext>
                  </a:extLst>
                </p:cNvPr>
                <p:cNvSpPr/>
                <p:nvPr/>
              </p:nvSpPr>
              <p:spPr>
                <a:xfrm>
                  <a:off x="5273181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[2]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81" name="Oval 80">
                  <a:extLst>
                    <a:ext uri="{FF2B5EF4-FFF2-40B4-BE49-F238E27FC236}">
                      <a16:creationId xmlns:a16="http://schemas.microsoft.com/office/drawing/2014/main" id="{28850714-0B6D-B080-5A71-750BA6C67D9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3181" y="2317173"/>
                  <a:ext cx="415636" cy="404918"/>
                </a:xfrm>
                <a:prstGeom prst="ellipse">
                  <a:avLst/>
                </a:prstGeom>
                <a:blipFill>
                  <a:blip r:embed="rId8"/>
                  <a:stretch>
                    <a:fillRect l="-8696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3" name="Oval 82">
                  <a:extLst>
                    <a:ext uri="{FF2B5EF4-FFF2-40B4-BE49-F238E27FC236}">
                      <a16:creationId xmlns:a16="http://schemas.microsoft.com/office/drawing/2014/main" id="{DF32C4FF-E000-6153-5A85-CFD8746E3222}"/>
                    </a:ext>
                  </a:extLst>
                </p:cNvPr>
                <p:cNvSpPr/>
                <p:nvPr/>
              </p:nvSpPr>
              <p:spPr>
                <a:xfrm>
                  <a:off x="6108331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[3]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83" name="Oval 82">
                  <a:extLst>
                    <a:ext uri="{FF2B5EF4-FFF2-40B4-BE49-F238E27FC236}">
                      <a16:creationId xmlns:a16="http://schemas.microsoft.com/office/drawing/2014/main" id="{DF32C4FF-E000-6153-5A85-CFD8746E322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08331" y="2317173"/>
                  <a:ext cx="415636" cy="404918"/>
                </a:xfrm>
                <a:prstGeom prst="ellipse">
                  <a:avLst/>
                </a:prstGeom>
                <a:blipFill>
                  <a:blip r:embed="rId9"/>
                  <a:stretch>
                    <a:fillRect l="-8696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F40667E5-8E58-C310-CBFB-57422FB0D492}"/>
                </a:ext>
              </a:extLst>
            </p:cNvPr>
            <p:cNvSpPr txBox="1"/>
            <p:nvPr/>
          </p:nvSpPr>
          <p:spPr>
            <a:xfrm>
              <a:off x="3553215" y="1912255"/>
              <a:ext cx="5196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céu</a:t>
              </a:r>
              <a:endParaRPr lang="en-US" dirty="0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65A7BAD0-E22A-00A7-79D3-E281691F9BFA}"/>
                </a:ext>
              </a:extLst>
            </p:cNvPr>
            <p:cNvSpPr txBox="1"/>
            <p:nvPr/>
          </p:nvSpPr>
          <p:spPr>
            <a:xfrm>
              <a:off x="4513541" y="1912255"/>
              <a:ext cx="3000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é</a:t>
              </a:r>
              <a:endParaRPr lang="en-US" dirty="0"/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0347D807-1FF8-98CB-58CE-4939C4B01C91}"/>
                </a:ext>
              </a:extLst>
            </p:cNvPr>
            <p:cNvSpPr txBox="1"/>
            <p:nvPr/>
          </p:nvSpPr>
          <p:spPr>
            <a:xfrm>
              <a:off x="5183078" y="1911927"/>
              <a:ext cx="5602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azul</a:t>
              </a:r>
              <a:endParaRPr lang="en-US" dirty="0"/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7159E20A-C910-CA52-1ABE-5C094C505360}"/>
                </a:ext>
              </a:extLst>
            </p:cNvPr>
            <p:cNvSpPr txBox="1"/>
            <p:nvPr/>
          </p:nvSpPr>
          <p:spPr>
            <a:xfrm>
              <a:off x="6148539" y="1911927"/>
              <a:ext cx="3577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...</a:t>
              </a:r>
              <a:endParaRPr lang="en-US" dirty="0"/>
            </a:p>
          </p:txBody>
        </p:sp>
        <p:cxnSp>
          <p:nvCxnSpPr>
            <p:cNvPr id="92" name="Straight Arrow Connector 91">
              <a:extLst>
                <a:ext uri="{FF2B5EF4-FFF2-40B4-BE49-F238E27FC236}">
                  <a16:creationId xmlns:a16="http://schemas.microsoft.com/office/drawing/2014/main" id="{4D2EEB39-53FF-4D7F-6AAD-272D9A605970}"/>
                </a:ext>
              </a:extLst>
            </p:cNvPr>
            <p:cNvCxnSpPr>
              <a:stCxn id="5" idx="0"/>
              <a:endCxn id="67" idx="4"/>
            </p:cNvCxnSpPr>
            <p:nvPr/>
          </p:nvCxnSpPr>
          <p:spPr>
            <a:xfrm flipH="1" flipV="1">
              <a:off x="4640870" y="2722091"/>
              <a:ext cx="238" cy="31708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Arrow Connector 93">
              <a:extLst>
                <a:ext uri="{FF2B5EF4-FFF2-40B4-BE49-F238E27FC236}">
                  <a16:creationId xmlns:a16="http://schemas.microsoft.com/office/drawing/2014/main" id="{7925EE7B-7FE6-D157-299F-C4532C92625C}"/>
                </a:ext>
              </a:extLst>
            </p:cNvPr>
            <p:cNvCxnSpPr>
              <a:stCxn id="6" idx="0"/>
              <a:endCxn id="81" idx="4"/>
            </p:cNvCxnSpPr>
            <p:nvPr/>
          </p:nvCxnSpPr>
          <p:spPr>
            <a:xfrm flipV="1">
              <a:off x="5479307" y="2722091"/>
              <a:ext cx="1692" cy="31205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Arrow Connector 97">
              <a:extLst>
                <a:ext uri="{FF2B5EF4-FFF2-40B4-BE49-F238E27FC236}">
                  <a16:creationId xmlns:a16="http://schemas.microsoft.com/office/drawing/2014/main" id="{1A59467C-A62E-94C1-6003-D3BD8B84751F}"/>
                </a:ext>
              </a:extLst>
            </p:cNvPr>
            <p:cNvCxnSpPr>
              <a:stCxn id="7" idx="0"/>
              <a:endCxn id="83" idx="4"/>
            </p:cNvCxnSpPr>
            <p:nvPr/>
          </p:nvCxnSpPr>
          <p:spPr>
            <a:xfrm flipH="1" flipV="1">
              <a:off x="6316149" y="2722091"/>
              <a:ext cx="1357" cy="31741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0113389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573694-5604-5578-962F-15A2E6C1A5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Group 37">
            <a:extLst>
              <a:ext uri="{FF2B5EF4-FFF2-40B4-BE49-F238E27FC236}">
                <a16:creationId xmlns:a16="http://schemas.microsoft.com/office/drawing/2014/main" id="{2E164ADA-3029-B0E6-C546-EC28E23B01A5}"/>
              </a:ext>
            </a:extLst>
          </p:cNvPr>
          <p:cNvGrpSpPr/>
          <p:nvPr/>
        </p:nvGrpSpPr>
        <p:grpSpPr>
          <a:xfrm>
            <a:off x="3470087" y="1912255"/>
            <a:ext cx="5837554" cy="2626162"/>
            <a:chOff x="3470087" y="1912255"/>
            <a:chExt cx="5837554" cy="2626162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2CA71C07-A927-7553-9A53-EA7C1F0FD54D}"/>
                </a:ext>
              </a:extLst>
            </p:cNvPr>
            <p:cNvSpPr/>
            <p:nvPr/>
          </p:nvSpPr>
          <p:spPr>
            <a:xfrm>
              <a:off x="3532909" y="3034145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D5756A99-BCC4-DB10-974D-9BC155740184}"/>
                </a:ext>
              </a:extLst>
            </p:cNvPr>
            <p:cNvSpPr/>
            <p:nvPr/>
          </p:nvSpPr>
          <p:spPr>
            <a:xfrm>
              <a:off x="4371108" y="3039176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0F4C5972-08B6-39F9-5752-5DEFC6E9A590}"/>
                </a:ext>
              </a:extLst>
            </p:cNvPr>
            <p:cNvSpPr/>
            <p:nvPr/>
          </p:nvSpPr>
          <p:spPr>
            <a:xfrm>
              <a:off x="5209307" y="3044536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20920392-DFDC-1C8D-8962-1C191C9B874E}"/>
                </a:ext>
              </a:extLst>
            </p:cNvPr>
            <p:cNvSpPr/>
            <p:nvPr/>
          </p:nvSpPr>
          <p:spPr>
            <a:xfrm>
              <a:off x="6805709" y="3057913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CC4000C8-59B4-CB55-CF73-071EADD1E13A}"/>
                </a:ext>
              </a:extLst>
            </p:cNvPr>
            <p:cNvCxnSpPr>
              <a:stCxn id="3" idx="3"/>
              <a:endCxn id="5" idx="1"/>
            </p:cNvCxnSpPr>
            <p:nvPr/>
          </p:nvCxnSpPr>
          <p:spPr>
            <a:xfrm>
              <a:off x="4072909" y="3236604"/>
              <a:ext cx="298199" cy="503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816E4A48-D71F-43E1-A17C-7346F79DEE88}"/>
                </a:ext>
              </a:extLst>
            </p:cNvPr>
            <p:cNvCxnSpPr>
              <a:stCxn id="5" idx="3"/>
              <a:endCxn id="6" idx="1"/>
            </p:cNvCxnSpPr>
            <p:nvPr/>
          </p:nvCxnSpPr>
          <p:spPr>
            <a:xfrm>
              <a:off x="4911108" y="3241635"/>
              <a:ext cx="298199" cy="536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1E77AE6D-1F96-FB35-1187-485D66AD36CD}"/>
                </a:ext>
              </a:extLst>
            </p:cNvPr>
            <p:cNvCxnSpPr>
              <a:cxnSpLocks/>
              <a:endCxn id="7" idx="1"/>
            </p:cNvCxnSpPr>
            <p:nvPr/>
          </p:nvCxnSpPr>
          <p:spPr>
            <a:xfrm>
              <a:off x="6507510" y="3255013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BEF50F89-3F9C-B7A0-D32B-766398AF529D}"/>
                    </a:ext>
                  </a:extLst>
                </p:cNvPr>
                <p:cNvSpPr/>
                <p:nvPr/>
              </p:nvSpPr>
              <p:spPr>
                <a:xfrm>
                  <a:off x="3595091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[0]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BEF50F89-3F9C-B7A0-D32B-766398AF529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95091" y="3751117"/>
                  <a:ext cx="415636" cy="404918"/>
                </a:xfrm>
                <a:prstGeom prst="ellipse">
                  <a:avLst/>
                </a:prstGeom>
                <a:blipFill>
                  <a:blip r:embed="rId2"/>
                  <a:stretch>
                    <a:fillRect l="-4348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5536ECC4-8EDC-BF81-A381-67C4AA33FE42}"/>
                </a:ext>
              </a:extLst>
            </p:cNvPr>
            <p:cNvCxnSpPr>
              <a:stCxn id="14" idx="0"/>
              <a:endCxn id="3" idx="2"/>
            </p:cNvCxnSpPr>
            <p:nvPr/>
          </p:nvCxnSpPr>
          <p:spPr>
            <a:xfrm flipV="1">
              <a:off x="3802909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EA1B6128-BF0B-0502-7C92-F80DC5E8DF84}"/>
                    </a:ext>
                  </a:extLst>
                </p:cNvPr>
                <p:cNvSpPr/>
                <p:nvPr/>
              </p:nvSpPr>
              <p:spPr>
                <a:xfrm>
                  <a:off x="4432962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[1]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EA1B6128-BF0B-0502-7C92-F80DC5E8DF8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2962" y="3751117"/>
                  <a:ext cx="415636" cy="404918"/>
                </a:xfrm>
                <a:prstGeom prst="ellipse">
                  <a:avLst/>
                </a:prstGeom>
                <a:blipFill>
                  <a:blip r:embed="rId3"/>
                  <a:stretch>
                    <a:fillRect l="-4348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4832C06D-CF74-766F-FFC2-610ACF8FC042}"/>
                </a:ext>
              </a:extLst>
            </p:cNvPr>
            <p:cNvCxnSpPr>
              <a:stCxn id="17" idx="0"/>
            </p:cNvCxnSpPr>
            <p:nvPr/>
          </p:nvCxnSpPr>
          <p:spPr>
            <a:xfrm flipV="1">
              <a:off x="4640780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E5CA2E1F-C39D-CBA3-A6E1-D4C1F4AF373C}"/>
                    </a:ext>
                  </a:extLst>
                </p:cNvPr>
                <p:cNvSpPr/>
                <p:nvPr/>
              </p:nvSpPr>
              <p:spPr>
                <a:xfrm>
                  <a:off x="5270834" y="3761508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[2]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E5CA2E1F-C39D-CBA3-A6E1-D4C1F4AF373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0834" y="3761508"/>
                  <a:ext cx="415636" cy="404918"/>
                </a:xfrm>
                <a:prstGeom prst="ellipse">
                  <a:avLst/>
                </a:prstGeom>
                <a:blipFill>
                  <a:blip r:embed="rId4"/>
                  <a:stretch>
                    <a:fillRect l="-5797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90D394B9-6B7A-EE4E-A95D-801F9C111BDA}"/>
                </a:ext>
              </a:extLst>
            </p:cNvPr>
            <p:cNvCxnSpPr>
              <a:stCxn id="19" idx="0"/>
            </p:cNvCxnSpPr>
            <p:nvPr/>
          </p:nvCxnSpPr>
          <p:spPr>
            <a:xfrm flipV="1">
              <a:off x="5478652" y="3449454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id="{278B2A68-FDF3-D539-0397-EB5939ABFA5D}"/>
                    </a:ext>
                  </a:extLst>
                </p:cNvPr>
                <p:cNvSpPr/>
                <p:nvPr/>
              </p:nvSpPr>
              <p:spPr>
                <a:xfrm>
                  <a:off x="6887363" y="3769526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id="{278B2A68-FDF3-D539-0397-EB5939ABFA5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87363" y="3769526"/>
                  <a:ext cx="415636" cy="404918"/>
                </a:xfrm>
                <a:prstGeom prst="ellipse">
                  <a:avLst/>
                </a:prstGeom>
                <a:blipFill>
                  <a:blip r:embed="rId5"/>
                  <a:stretch>
                    <a:fillRect l="-1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0E40F23A-D8D4-25F6-DDDB-17B95E9C8E39}"/>
                </a:ext>
              </a:extLst>
            </p:cNvPr>
            <p:cNvCxnSpPr>
              <a:stCxn id="21" idx="0"/>
            </p:cNvCxnSpPr>
            <p:nvPr/>
          </p:nvCxnSpPr>
          <p:spPr>
            <a:xfrm flipV="1">
              <a:off x="7095181" y="3457472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EB19DA87-A58F-46A6-EDE2-943BC4C3D386}"/>
                </a:ext>
              </a:extLst>
            </p:cNvPr>
            <p:cNvSpPr txBox="1"/>
            <p:nvPr/>
          </p:nvSpPr>
          <p:spPr>
            <a:xfrm>
              <a:off x="3609879" y="4161395"/>
              <a:ext cx="4219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de</a:t>
              </a:r>
              <a:endParaRPr lang="en-US" dirty="0"/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C6D6550D-0169-2E65-9876-AB1FF91B3C6B}"/>
                </a:ext>
              </a:extLst>
            </p:cNvPr>
            <p:cNvSpPr txBox="1"/>
            <p:nvPr/>
          </p:nvSpPr>
          <p:spPr>
            <a:xfrm>
              <a:off x="4328259" y="4161395"/>
              <a:ext cx="7217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Roma</a:t>
              </a:r>
              <a:endParaRPr lang="en-US" dirty="0"/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B1F4A0A2-8071-5489-B1DC-AE37EE9B6CC4}"/>
                </a:ext>
              </a:extLst>
            </p:cNvPr>
            <p:cNvSpPr txBox="1"/>
            <p:nvPr/>
          </p:nvSpPr>
          <p:spPr>
            <a:xfrm>
              <a:off x="5373693" y="4161395"/>
              <a:ext cx="2423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.</a:t>
              </a:r>
              <a:endParaRPr lang="en-US" dirty="0"/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233D19E0-8BC8-DCF3-25F7-112FD8019AAF}"/>
                </a:ext>
              </a:extLst>
            </p:cNvPr>
            <p:cNvSpPr txBox="1"/>
            <p:nvPr/>
          </p:nvSpPr>
          <p:spPr>
            <a:xfrm>
              <a:off x="6966518" y="4169085"/>
              <a:ext cx="3000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é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4" name="Oval 63">
                  <a:extLst>
                    <a:ext uri="{FF2B5EF4-FFF2-40B4-BE49-F238E27FC236}">
                      <a16:creationId xmlns:a16="http://schemas.microsoft.com/office/drawing/2014/main" id="{F36D6E33-7BC5-5E4C-56CB-E03DF0F68ED7}"/>
                    </a:ext>
                  </a:extLst>
                </p:cNvPr>
                <p:cNvSpPr/>
                <p:nvPr/>
              </p:nvSpPr>
              <p:spPr>
                <a:xfrm>
                  <a:off x="3596985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[0]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64" name="Oval 63">
                  <a:extLst>
                    <a:ext uri="{FF2B5EF4-FFF2-40B4-BE49-F238E27FC236}">
                      <a16:creationId xmlns:a16="http://schemas.microsoft.com/office/drawing/2014/main" id="{F36D6E33-7BC5-5E4C-56CB-E03DF0F68ED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96985" y="2317173"/>
                  <a:ext cx="415636" cy="404918"/>
                </a:xfrm>
                <a:prstGeom prst="ellipse">
                  <a:avLst/>
                </a:prstGeom>
                <a:blipFill>
                  <a:blip r:embed="rId6"/>
                  <a:stretch>
                    <a:fillRect l="-8696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6" name="Straight Arrow Connector 65">
              <a:extLst>
                <a:ext uri="{FF2B5EF4-FFF2-40B4-BE49-F238E27FC236}">
                  <a16:creationId xmlns:a16="http://schemas.microsoft.com/office/drawing/2014/main" id="{DEE5256F-F5BF-0D94-50CE-460735EE0070}"/>
                </a:ext>
              </a:extLst>
            </p:cNvPr>
            <p:cNvCxnSpPr>
              <a:stCxn id="3" idx="0"/>
              <a:endCxn id="64" idx="4"/>
            </p:cNvCxnSpPr>
            <p:nvPr/>
          </p:nvCxnSpPr>
          <p:spPr>
            <a:xfrm flipV="1">
              <a:off x="3802909" y="2722091"/>
              <a:ext cx="1894" cy="31205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Oval 66">
                  <a:extLst>
                    <a:ext uri="{FF2B5EF4-FFF2-40B4-BE49-F238E27FC236}">
                      <a16:creationId xmlns:a16="http://schemas.microsoft.com/office/drawing/2014/main" id="{D5CB3226-5F82-6A5B-41B1-CC0280509CB6}"/>
                    </a:ext>
                  </a:extLst>
                </p:cNvPr>
                <p:cNvSpPr/>
                <p:nvPr/>
              </p:nvSpPr>
              <p:spPr>
                <a:xfrm>
                  <a:off x="4433052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[1]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67" name="Oval 66">
                  <a:extLst>
                    <a:ext uri="{FF2B5EF4-FFF2-40B4-BE49-F238E27FC236}">
                      <a16:creationId xmlns:a16="http://schemas.microsoft.com/office/drawing/2014/main" id="{D5CB3226-5F82-6A5B-41B1-CC0280509CB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3052" y="2317173"/>
                  <a:ext cx="415636" cy="404918"/>
                </a:xfrm>
                <a:prstGeom prst="ellipse">
                  <a:avLst/>
                </a:prstGeom>
                <a:blipFill>
                  <a:blip r:embed="rId7"/>
                  <a:stretch>
                    <a:fillRect l="-8696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1" name="Oval 80">
                  <a:extLst>
                    <a:ext uri="{FF2B5EF4-FFF2-40B4-BE49-F238E27FC236}">
                      <a16:creationId xmlns:a16="http://schemas.microsoft.com/office/drawing/2014/main" id="{A4595E6A-8A12-4BE5-B8A9-4620252A3DF7}"/>
                    </a:ext>
                  </a:extLst>
                </p:cNvPr>
                <p:cNvSpPr/>
                <p:nvPr/>
              </p:nvSpPr>
              <p:spPr>
                <a:xfrm>
                  <a:off x="5273181" y="2327564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[2]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81" name="Oval 80">
                  <a:extLst>
                    <a:ext uri="{FF2B5EF4-FFF2-40B4-BE49-F238E27FC236}">
                      <a16:creationId xmlns:a16="http://schemas.microsoft.com/office/drawing/2014/main" id="{A4595E6A-8A12-4BE5-B8A9-4620252A3DF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3181" y="2327564"/>
                  <a:ext cx="415636" cy="404918"/>
                </a:xfrm>
                <a:prstGeom prst="ellipse">
                  <a:avLst/>
                </a:prstGeom>
                <a:blipFill>
                  <a:blip r:embed="rId8"/>
                  <a:stretch>
                    <a:fillRect l="-8696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3" name="Oval 82">
                  <a:extLst>
                    <a:ext uri="{FF2B5EF4-FFF2-40B4-BE49-F238E27FC236}">
                      <a16:creationId xmlns:a16="http://schemas.microsoft.com/office/drawing/2014/main" id="{DB641876-7756-4556-5D5B-3FF6052D5D67}"/>
                    </a:ext>
                  </a:extLst>
                </p:cNvPr>
                <p:cNvSpPr/>
                <p:nvPr/>
              </p:nvSpPr>
              <p:spPr>
                <a:xfrm>
                  <a:off x="6866534" y="2335582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[3]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83" name="Oval 82">
                  <a:extLst>
                    <a:ext uri="{FF2B5EF4-FFF2-40B4-BE49-F238E27FC236}">
                      <a16:creationId xmlns:a16="http://schemas.microsoft.com/office/drawing/2014/main" id="{DB641876-7756-4556-5D5B-3FF6052D5D6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66534" y="2335582"/>
                  <a:ext cx="415636" cy="404918"/>
                </a:xfrm>
                <a:prstGeom prst="ellipse">
                  <a:avLst/>
                </a:prstGeom>
                <a:blipFill>
                  <a:blip r:embed="rId9"/>
                  <a:stretch>
                    <a:fillRect l="-8571" r="-285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6F325E6A-0D08-A66B-C255-CB42FFF9995F}"/>
                </a:ext>
              </a:extLst>
            </p:cNvPr>
            <p:cNvSpPr txBox="1"/>
            <p:nvPr/>
          </p:nvSpPr>
          <p:spPr>
            <a:xfrm>
              <a:off x="3470087" y="1912255"/>
              <a:ext cx="7217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Roma</a:t>
              </a:r>
              <a:endParaRPr lang="en-US" dirty="0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9AF428C7-99F7-79EE-905C-5BFFD1D6B794}"/>
                </a:ext>
              </a:extLst>
            </p:cNvPr>
            <p:cNvSpPr txBox="1"/>
            <p:nvPr/>
          </p:nvSpPr>
          <p:spPr>
            <a:xfrm>
              <a:off x="4513541" y="1912255"/>
              <a:ext cx="2423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.</a:t>
              </a:r>
              <a:endParaRPr lang="en-US" dirty="0"/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DD2D0EBE-EFA3-2C35-531F-42E1FB1848CF}"/>
                </a:ext>
              </a:extLst>
            </p:cNvPr>
            <p:cNvSpPr txBox="1"/>
            <p:nvPr/>
          </p:nvSpPr>
          <p:spPr>
            <a:xfrm>
              <a:off x="5151905" y="1922318"/>
              <a:ext cx="6848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Nasci</a:t>
              </a:r>
              <a:endParaRPr lang="en-US" dirty="0"/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D18C53F0-5275-B2B1-41F3-3E7649629DDA}"/>
                </a:ext>
              </a:extLst>
            </p:cNvPr>
            <p:cNvSpPr txBox="1"/>
            <p:nvPr/>
          </p:nvSpPr>
          <p:spPr>
            <a:xfrm>
              <a:off x="6906742" y="1930336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o</a:t>
              </a:r>
              <a:endParaRPr lang="en-US" dirty="0"/>
            </a:p>
          </p:txBody>
        </p:sp>
        <p:cxnSp>
          <p:nvCxnSpPr>
            <p:cNvPr id="92" name="Straight Arrow Connector 91">
              <a:extLst>
                <a:ext uri="{FF2B5EF4-FFF2-40B4-BE49-F238E27FC236}">
                  <a16:creationId xmlns:a16="http://schemas.microsoft.com/office/drawing/2014/main" id="{DE520B99-8262-A48A-55C7-26AE0E413875}"/>
                </a:ext>
              </a:extLst>
            </p:cNvPr>
            <p:cNvCxnSpPr>
              <a:stCxn id="5" idx="0"/>
              <a:endCxn id="67" idx="4"/>
            </p:cNvCxnSpPr>
            <p:nvPr/>
          </p:nvCxnSpPr>
          <p:spPr>
            <a:xfrm flipH="1" flipV="1">
              <a:off x="4640870" y="2722091"/>
              <a:ext cx="238" cy="31708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Arrow Connector 93">
              <a:extLst>
                <a:ext uri="{FF2B5EF4-FFF2-40B4-BE49-F238E27FC236}">
                  <a16:creationId xmlns:a16="http://schemas.microsoft.com/office/drawing/2014/main" id="{2C8AC8EA-926E-E9E1-49ED-DCA004E88087}"/>
                </a:ext>
              </a:extLst>
            </p:cNvPr>
            <p:cNvCxnSpPr>
              <a:stCxn id="6" idx="0"/>
              <a:endCxn id="81" idx="4"/>
            </p:cNvCxnSpPr>
            <p:nvPr/>
          </p:nvCxnSpPr>
          <p:spPr>
            <a:xfrm flipV="1">
              <a:off x="5479307" y="2732482"/>
              <a:ext cx="1692" cy="31205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Arrow Connector 97">
              <a:extLst>
                <a:ext uri="{FF2B5EF4-FFF2-40B4-BE49-F238E27FC236}">
                  <a16:creationId xmlns:a16="http://schemas.microsoft.com/office/drawing/2014/main" id="{871252BB-9DB8-A8D2-D42B-16B83AE1A7C8}"/>
                </a:ext>
              </a:extLst>
            </p:cNvPr>
            <p:cNvCxnSpPr>
              <a:stCxn id="7" idx="0"/>
              <a:endCxn id="83" idx="4"/>
            </p:cNvCxnSpPr>
            <p:nvPr/>
          </p:nvCxnSpPr>
          <p:spPr>
            <a:xfrm flipH="1" flipV="1">
              <a:off x="7074352" y="2740500"/>
              <a:ext cx="1357" cy="31741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42C90E03-64F0-F10B-EC25-ED11EC008951}"/>
                </a:ext>
              </a:extLst>
            </p:cNvPr>
            <p:cNvSpPr/>
            <p:nvPr/>
          </p:nvSpPr>
          <p:spPr>
            <a:xfrm>
              <a:off x="7654226" y="3052554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022EED10-87AA-5C00-4822-C3520E39F05F}"/>
                </a:ext>
              </a:extLst>
            </p:cNvPr>
            <p:cNvCxnSpPr>
              <a:cxnSpLocks/>
              <a:endCxn id="2" idx="1"/>
            </p:cNvCxnSpPr>
            <p:nvPr/>
          </p:nvCxnSpPr>
          <p:spPr>
            <a:xfrm>
              <a:off x="7356027" y="3249654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96C5BE88-049C-7EB4-1781-EEA2A0A41860}"/>
                </a:ext>
              </a:extLst>
            </p:cNvPr>
            <p:cNvSpPr/>
            <p:nvPr/>
          </p:nvSpPr>
          <p:spPr>
            <a:xfrm>
              <a:off x="7735880" y="3764167"/>
              <a:ext cx="415636" cy="404918"/>
            </a:xfrm>
            <a:prstGeom prst="ellipse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400" dirty="0"/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083CB2E8-EF82-839D-F96B-B6727E29EFA5}"/>
                </a:ext>
              </a:extLst>
            </p:cNvPr>
            <p:cNvCxnSpPr>
              <a:stCxn id="8" idx="0"/>
            </p:cNvCxnSpPr>
            <p:nvPr/>
          </p:nvCxnSpPr>
          <p:spPr>
            <a:xfrm flipV="1">
              <a:off x="7943698" y="345211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FE4C0D3-DCC2-D3B6-B855-67D6DC13EFF3}"/>
                </a:ext>
              </a:extLst>
            </p:cNvPr>
            <p:cNvSpPr txBox="1"/>
            <p:nvPr/>
          </p:nvSpPr>
          <p:spPr>
            <a:xfrm>
              <a:off x="7823504" y="4163726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o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Oval 14">
                  <a:extLst>
                    <a:ext uri="{FF2B5EF4-FFF2-40B4-BE49-F238E27FC236}">
                      <a16:creationId xmlns:a16="http://schemas.microsoft.com/office/drawing/2014/main" id="{23F9A3F4-2E58-124C-03D9-237E2903604B}"/>
                    </a:ext>
                  </a:extLst>
                </p:cNvPr>
                <p:cNvSpPr/>
                <p:nvPr/>
              </p:nvSpPr>
              <p:spPr>
                <a:xfrm>
                  <a:off x="7715051" y="233022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[3]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5" name="Oval 14">
                  <a:extLst>
                    <a:ext uri="{FF2B5EF4-FFF2-40B4-BE49-F238E27FC236}">
                      <a16:creationId xmlns:a16="http://schemas.microsoft.com/office/drawing/2014/main" id="{23F9A3F4-2E58-124C-03D9-237E2903604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15051" y="2330223"/>
                  <a:ext cx="415636" cy="404918"/>
                </a:xfrm>
                <a:prstGeom prst="ellipse">
                  <a:avLst/>
                </a:prstGeom>
                <a:blipFill>
                  <a:blip r:embed="rId10"/>
                  <a:stretch>
                    <a:fillRect l="-10145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E9C8EE0E-F481-3EAF-0B16-38FF89D122F2}"/>
                </a:ext>
              </a:extLst>
            </p:cNvPr>
            <p:cNvSpPr txBox="1"/>
            <p:nvPr/>
          </p:nvSpPr>
          <p:spPr>
            <a:xfrm>
              <a:off x="7500115" y="1953491"/>
              <a:ext cx="88235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italiano</a:t>
              </a:r>
              <a:endParaRPr lang="en-US" dirty="0"/>
            </a:p>
          </p:txBody>
        </p: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777CB690-B844-9432-D277-3DAEF181FA47}"/>
                </a:ext>
              </a:extLst>
            </p:cNvPr>
            <p:cNvCxnSpPr>
              <a:stCxn id="2" idx="0"/>
              <a:endCxn id="15" idx="4"/>
            </p:cNvCxnSpPr>
            <p:nvPr/>
          </p:nvCxnSpPr>
          <p:spPr>
            <a:xfrm flipH="1" flipV="1">
              <a:off x="7922869" y="2735141"/>
              <a:ext cx="1357" cy="31741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B342B593-E0A1-FA17-862E-41D6D0D679FC}"/>
                </a:ext>
              </a:extLst>
            </p:cNvPr>
            <p:cNvCxnSpPr>
              <a:cxnSpLocks/>
            </p:cNvCxnSpPr>
            <p:nvPr/>
          </p:nvCxnSpPr>
          <p:spPr>
            <a:xfrm>
              <a:off x="5749307" y="3252027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781F298F-67A3-70DF-C0A7-49BE483D54BE}"/>
                </a:ext>
              </a:extLst>
            </p:cNvPr>
            <p:cNvSpPr txBox="1"/>
            <p:nvPr/>
          </p:nvSpPr>
          <p:spPr>
            <a:xfrm>
              <a:off x="6096000" y="3018393"/>
              <a:ext cx="36335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/>
                <a:t>...</a:t>
              </a:r>
              <a:endParaRPr lang="en-US" dirty="0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804F6421-1237-F1A2-5E79-FE7BCA610A48}"/>
                </a:ext>
              </a:extLst>
            </p:cNvPr>
            <p:cNvSpPr/>
            <p:nvPr/>
          </p:nvSpPr>
          <p:spPr>
            <a:xfrm>
              <a:off x="8501386" y="3047195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BF98A6BA-A4C3-1228-F3C0-DD2836B87CD4}"/>
                </a:ext>
              </a:extLst>
            </p:cNvPr>
            <p:cNvCxnSpPr>
              <a:cxnSpLocks/>
              <a:endCxn id="26" idx="1"/>
            </p:cNvCxnSpPr>
            <p:nvPr/>
          </p:nvCxnSpPr>
          <p:spPr>
            <a:xfrm>
              <a:off x="8203187" y="3244295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592DE97E-7082-B851-330D-322A2228597A}"/>
                </a:ext>
              </a:extLst>
            </p:cNvPr>
            <p:cNvSpPr/>
            <p:nvPr/>
          </p:nvSpPr>
          <p:spPr>
            <a:xfrm>
              <a:off x="8583040" y="3758808"/>
              <a:ext cx="415636" cy="404918"/>
            </a:xfrm>
            <a:prstGeom prst="ellipse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900" dirty="0"/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0EAB2269-9766-9629-F24D-AD449A7D529B}"/>
                </a:ext>
              </a:extLst>
            </p:cNvPr>
            <p:cNvCxnSpPr>
              <a:stCxn id="28" idx="0"/>
            </p:cNvCxnSpPr>
            <p:nvPr/>
          </p:nvCxnSpPr>
          <p:spPr>
            <a:xfrm flipV="1">
              <a:off x="8790858" y="3446754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8D037400-C2BB-9BDD-2FCF-C6DD77FA2016}"/>
                </a:ext>
              </a:extLst>
            </p:cNvPr>
            <p:cNvSpPr txBox="1"/>
            <p:nvPr/>
          </p:nvSpPr>
          <p:spPr>
            <a:xfrm>
              <a:off x="8368747" y="4152971"/>
              <a:ext cx="88235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italiano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Oval 30">
                  <a:extLst>
                    <a:ext uri="{FF2B5EF4-FFF2-40B4-BE49-F238E27FC236}">
                      <a16:creationId xmlns:a16="http://schemas.microsoft.com/office/drawing/2014/main" id="{4991E1B3-322B-85B2-8F5E-1AA5F8458D09}"/>
                    </a:ext>
                  </a:extLst>
                </p:cNvPr>
                <p:cNvSpPr/>
                <p:nvPr/>
              </p:nvSpPr>
              <p:spPr>
                <a:xfrm>
                  <a:off x="8562211" y="2324864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[3]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31" name="Oval 30">
                  <a:extLst>
                    <a:ext uri="{FF2B5EF4-FFF2-40B4-BE49-F238E27FC236}">
                      <a16:creationId xmlns:a16="http://schemas.microsoft.com/office/drawing/2014/main" id="{4991E1B3-322B-85B2-8F5E-1AA5F8458D0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562211" y="2324864"/>
                  <a:ext cx="415636" cy="404918"/>
                </a:xfrm>
                <a:prstGeom prst="ellipse">
                  <a:avLst/>
                </a:prstGeom>
                <a:blipFill>
                  <a:blip r:embed="rId10"/>
                  <a:stretch>
                    <a:fillRect l="-10145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2A561BD5-0CAE-FB6F-CB1A-2A227C613163}"/>
                </a:ext>
              </a:extLst>
            </p:cNvPr>
            <p:cNvCxnSpPr>
              <a:stCxn id="26" idx="0"/>
              <a:endCxn id="31" idx="4"/>
            </p:cNvCxnSpPr>
            <p:nvPr/>
          </p:nvCxnSpPr>
          <p:spPr>
            <a:xfrm flipH="1" flipV="1">
              <a:off x="8770029" y="2729782"/>
              <a:ext cx="1357" cy="31741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B150E44D-343B-AC49-B71A-0BE368DAD0F9}"/>
                    </a:ext>
                  </a:extLst>
                </p:cNvPr>
                <p:cNvSpPr txBox="1"/>
                <p:nvPr/>
              </p:nvSpPr>
              <p:spPr>
                <a:xfrm>
                  <a:off x="7459294" y="3840668"/>
                  <a:ext cx="1011404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+1]</m:t>
                        </m:r>
                      </m:oMath>
                    </m:oMathPara>
                  </a14:m>
                  <a:endParaRPr lang="en-US" sz="1000" dirty="0"/>
                </a:p>
              </p:txBody>
            </p:sp>
          </mc:Choice>
          <mc:Fallback xmlns="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B150E44D-343B-AC49-B71A-0BE368DAD0F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59294" y="3840668"/>
                  <a:ext cx="1011404" cy="246221"/>
                </a:xfrm>
                <a:prstGeom prst="rect">
                  <a:avLst/>
                </a:prstGeom>
                <a:blipFill>
                  <a:blip r:embed="rId11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208D4C2E-77B0-7513-CAC1-139708606D42}"/>
                    </a:ext>
                  </a:extLst>
                </p:cNvPr>
                <p:cNvSpPr txBox="1"/>
                <p:nvPr/>
              </p:nvSpPr>
              <p:spPr>
                <a:xfrm>
                  <a:off x="8296237" y="3851672"/>
                  <a:ext cx="1011404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+2]</m:t>
                        </m:r>
                      </m:oMath>
                    </m:oMathPara>
                  </a14:m>
                  <a:endParaRPr lang="en-US" sz="1000" dirty="0"/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208D4C2E-77B0-7513-CAC1-139708606D4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96237" y="3851672"/>
                  <a:ext cx="1011404" cy="246221"/>
                </a:xfrm>
                <a:prstGeom prst="rect">
                  <a:avLst/>
                </a:prstGeom>
                <a:blipFill>
                  <a:blip r:embed="rId12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48B2946E-9ED7-EB8C-9669-04C9C3EA8A23}"/>
                </a:ext>
              </a:extLst>
            </p:cNvPr>
            <p:cNvSpPr txBox="1"/>
            <p:nvPr/>
          </p:nvSpPr>
          <p:spPr>
            <a:xfrm>
              <a:off x="8648842" y="1930336"/>
              <a:ext cx="2423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.</a:t>
              </a:r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96419297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61A8E6-4B10-4A75-B9D7-6D57BC91BB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F843DECB-C956-D955-D499-DD22189CE5D6}"/>
              </a:ext>
            </a:extLst>
          </p:cNvPr>
          <p:cNvSpPr/>
          <p:nvPr/>
        </p:nvSpPr>
        <p:spPr>
          <a:xfrm>
            <a:off x="3869377" y="2438400"/>
            <a:ext cx="3069771" cy="1981200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7C21CDDD-60F4-254E-D0B1-DD9880058CAE}"/>
              </a:ext>
            </a:extLst>
          </p:cNvPr>
          <p:cNvSpPr/>
          <p:nvPr/>
        </p:nvSpPr>
        <p:spPr>
          <a:xfrm>
            <a:off x="4903519" y="3679370"/>
            <a:ext cx="674915" cy="359229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 err="1">
                <a:solidFill>
                  <a:schemeClr val="tx1"/>
                </a:solidFill>
              </a:rPr>
              <a:t>tanh</a:t>
            </a:r>
            <a:endParaRPr lang="en-US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Oval 40">
                <a:extLst>
                  <a:ext uri="{FF2B5EF4-FFF2-40B4-BE49-F238E27FC236}">
                    <a16:creationId xmlns:a16="http://schemas.microsoft.com/office/drawing/2014/main" id="{9EE18230-BCFC-D646-9600-19C5BBE32E49}"/>
                  </a:ext>
                </a:extLst>
              </p:cNvPr>
              <p:cNvSpPr/>
              <p:nvPr/>
            </p:nvSpPr>
            <p:spPr>
              <a:xfrm>
                <a:off x="3863935" y="4628142"/>
                <a:ext cx="432000" cy="432000"/>
              </a:xfrm>
              <a:prstGeom prst="ellipse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1" name="Oval 40">
                <a:extLst>
                  <a:ext uri="{FF2B5EF4-FFF2-40B4-BE49-F238E27FC236}">
                    <a16:creationId xmlns:a16="http://schemas.microsoft.com/office/drawing/2014/main" id="{9EE18230-BCFC-D646-9600-19C5BBE32E4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63935" y="4628142"/>
                <a:ext cx="432000" cy="432000"/>
              </a:xfrm>
              <a:prstGeom prst="ellipse">
                <a:avLst/>
              </a:prstGeom>
              <a:blipFill>
                <a:blip r:embed="rId2"/>
                <a:stretch>
                  <a:fillRect l="-15278" r="-12500" b="-5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2" name="Connector: Elbow 41">
            <a:extLst>
              <a:ext uri="{FF2B5EF4-FFF2-40B4-BE49-F238E27FC236}">
                <a16:creationId xmlns:a16="http://schemas.microsoft.com/office/drawing/2014/main" id="{E01C2A5B-A164-6913-FA94-CA99DB0244FA}"/>
              </a:ext>
            </a:extLst>
          </p:cNvPr>
          <p:cNvCxnSpPr>
            <a:cxnSpLocks/>
            <a:stCxn id="41" idx="0"/>
            <a:endCxn id="40" idx="2"/>
          </p:cNvCxnSpPr>
          <p:nvPr/>
        </p:nvCxnSpPr>
        <p:spPr>
          <a:xfrm rot="5400000" flipH="1" flipV="1">
            <a:off x="4365685" y="3752850"/>
            <a:ext cx="589543" cy="1161042"/>
          </a:xfrm>
          <a:prstGeom prst="bentConnector3">
            <a:avLst>
              <a:gd name="adj1" fmla="val 70311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396F9498-A53F-5856-A31E-72DF09B3702B}"/>
              </a:ext>
            </a:extLst>
          </p:cNvPr>
          <p:cNvCxnSpPr>
            <a:cxnSpLocks/>
            <a:stCxn id="40" idx="0"/>
          </p:cNvCxnSpPr>
          <p:nvPr/>
        </p:nvCxnSpPr>
        <p:spPr>
          <a:xfrm rot="5400000" flipH="1" flipV="1">
            <a:off x="5815200" y="2109107"/>
            <a:ext cx="996041" cy="2144486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Oval 43">
                <a:extLst>
                  <a:ext uri="{FF2B5EF4-FFF2-40B4-BE49-F238E27FC236}">
                    <a16:creationId xmlns:a16="http://schemas.microsoft.com/office/drawing/2014/main" id="{F93040B1-005E-00D0-E6E7-AFB3E1CDFC40}"/>
                  </a:ext>
                </a:extLst>
              </p:cNvPr>
              <p:cNvSpPr/>
              <p:nvPr/>
            </p:nvSpPr>
            <p:spPr>
              <a:xfrm>
                <a:off x="6507148" y="1581858"/>
                <a:ext cx="432000" cy="432000"/>
              </a:xfrm>
              <a:prstGeom prst="ellipse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4" name="Oval 43">
                <a:extLst>
                  <a:ext uri="{FF2B5EF4-FFF2-40B4-BE49-F238E27FC236}">
                    <a16:creationId xmlns:a16="http://schemas.microsoft.com/office/drawing/2014/main" id="{F93040B1-005E-00D0-E6E7-AFB3E1CDFC4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07148" y="1581858"/>
                <a:ext cx="432000" cy="432000"/>
              </a:xfrm>
              <a:prstGeom prst="ellipse">
                <a:avLst/>
              </a:prstGeom>
              <a:blipFill>
                <a:blip r:embed="rId3"/>
                <a:stretch>
                  <a:fillRect l="-19444" r="-12500" b="-5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466E2E6D-A249-7CAB-4045-844CE9311DCA}"/>
              </a:ext>
            </a:extLst>
          </p:cNvPr>
          <p:cNvCxnSpPr>
            <a:endCxn id="44" idx="4"/>
          </p:cNvCxnSpPr>
          <p:nvPr/>
        </p:nvCxnSpPr>
        <p:spPr>
          <a:xfrm flipV="1">
            <a:off x="6723148" y="2013858"/>
            <a:ext cx="0" cy="66947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B4EFE449-B504-6CD4-C0C2-B0B6CF080A10}"/>
              </a:ext>
            </a:extLst>
          </p:cNvPr>
          <p:cNvCxnSpPr>
            <a:cxnSpLocks/>
          </p:cNvCxnSpPr>
          <p:nvPr/>
        </p:nvCxnSpPr>
        <p:spPr>
          <a:xfrm>
            <a:off x="3555050" y="2672442"/>
            <a:ext cx="921744" cy="1552235"/>
          </a:xfrm>
          <a:prstGeom prst="bentConnector2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4503089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0909C4-DA03-1F5F-0403-1DEE60B898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roup 25">
            <a:extLst>
              <a:ext uri="{FF2B5EF4-FFF2-40B4-BE49-F238E27FC236}">
                <a16:creationId xmlns:a16="http://schemas.microsoft.com/office/drawing/2014/main" id="{C3E13D58-EA11-F717-7D57-FFAA03CBE4C5}"/>
              </a:ext>
            </a:extLst>
          </p:cNvPr>
          <p:cNvGrpSpPr/>
          <p:nvPr/>
        </p:nvGrpSpPr>
        <p:grpSpPr>
          <a:xfrm>
            <a:off x="190127" y="1772176"/>
            <a:ext cx="11700342" cy="4653171"/>
            <a:chOff x="190127" y="1772176"/>
            <a:chExt cx="11700342" cy="4653171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348B5B75-FB28-2E80-145D-B7B4D142BE9D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1" name="Oval 40">
                  <a:extLst>
                    <a:ext uri="{FF2B5EF4-FFF2-40B4-BE49-F238E27FC236}">
                      <a16:creationId xmlns:a16="http://schemas.microsoft.com/office/drawing/2014/main" id="{2C9F794B-CFB1-1BB2-342D-143A1BF74B0A}"/>
                    </a:ext>
                  </a:extLst>
                </p:cNvPr>
                <p:cNvSpPr/>
                <p:nvPr/>
              </p:nvSpPr>
              <p:spPr>
                <a:xfrm>
                  <a:off x="4295735" y="4678597"/>
                  <a:ext cx="432000" cy="432000"/>
                </a:xfrm>
                <a:prstGeom prst="ellipse">
                  <a:avLst/>
                </a:prstGeom>
                <a:solidFill>
                  <a:schemeClr val="accent5">
                    <a:lumMod val="60000"/>
                    <a:lumOff val="40000"/>
                  </a:schemeClr>
                </a:solidFill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200" dirty="0"/>
                </a:p>
              </p:txBody>
            </p:sp>
          </mc:Choice>
          <mc:Fallback>
            <p:sp>
              <p:nvSpPr>
                <p:cNvPr id="41" name="Oval 40">
                  <a:extLst>
                    <a:ext uri="{FF2B5EF4-FFF2-40B4-BE49-F238E27FC236}">
                      <a16:creationId xmlns:a16="http://schemas.microsoft.com/office/drawing/2014/main" id="{2C9F794B-CFB1-1BB2-342D-143A1BF74B0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95735" y="4678597"/>
                  <a:ext cx="432000" cy="432000"/>
                </a:xfrm>
                <a:prstGeom prst="ellipse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4" name="Oval 43">
                  <a:extLst>
                    <a:ext uri="{FF2B5EF4-FFF2-40B4-BE49-F238E27FC236}">
                      <a16:creationId xmlns:a16="http://schemas.microsoft.com/office/drawing/2014/main" id="{43AB69E9-4912-F1A4-2E97-BE90E480D0F8}"/>
                    </a:ext>
                  </a:extLst>
                </p:cNvPr>
                <p:cNvSpPr/>
                <p:nvPr/>
              </p:nvSpPr>
              <p:spPr>
                <a:xfrm>
                  <a:off x="7434185" y="1772176"/>
                  <a:ext cx="432000" cy="432000"/>
                </a:xfrm>
                <a:prstGeom prst="ellipse">
                  <a:avLst/>
                </a:prstGeom>
                <a:solidFill>
                  <a:schemeClr val="tx2">
                    <a:lumMod val="20000"/>
                    <a:lumOff val="80000"/>
                  </a:schemeClr>
                </a:solidFill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200" dirty="0"/>
                </a:p>
              </p:txBody>
            </p:sp>
          </mc:Choice>
          <mc:Fallback>
            <p:sp>
              <p:nvSpPr>
                <p:cNvPr id="44" name="Oval 43">
                  <a:extLst>
                    <a:ext uri="{FF2B5EF4-FFF2-40B4-BE49-F238E27FC236}">
                      <a16:creationId xmlns:a16="http://schemas.microsoft.com/office/drawing/2014/main" id="{43AB69E9-4912-F1A4-2E97-BE90E480D0F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34185" y="1772176"/>
                  <a:ext cx="432000" cy="432000"/>
                </a:xfrm>
                <a:prstGeom prst="ellipse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84CE6692-2FDA-8E8D-AB8D-4C22F39EF85B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84CE6692-2FDA-8E8D-AB8D-4C22F39EF85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6ACD58FC-A360-C11A-7C44-B9487691833B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6ACD58FC-A360-C11A-7C44-B9487691833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BE5C8D3A-0A6E-2136-613E-58C2566A481B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BE5C8D3A-0A6E-2136-613E-58C2566A481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44C478EC-B109-7888-038E-8DBF57461B91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FFC53C9F-10FB-711C-2512-7250BF72FAA1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CE50EACA-BDC6-7C2A-E8C3-F5699FD5BCD0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7990D6E-A5C5-CDF4-C0D9-387966509DC6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74B85D8D-87CD-87BC-E833-CE9988D869DD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A878B83A-9006-D2B3-60B8-E2D14A5914D1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id="{43F4CC40-6B8A-C2D7-30F9-5E2A663458EB}"/>
                </a:ext>
              </a:extLst>
            </p:cNvPr>
            <p:cNvCxnSpPr>
              <a:stCxn id="41" idx="0"/>
              <a:endCxn id="11" idx="2"/>
            </p:cNvCxnSpPr>
            <p:nvPr/>
          </p:nvCxnSpPr>
          <p:spPr>
            <a:xfrm rot="5400000" flipH="1" flipV="1">
              <a:off x="5288165" y="3260341"/>
              <a:ext cx="641827" cy="2194687"/>
            </a:xfrm>
            <a:prstGeom prst="bentConnector3">
              <a:avLst>
                <a:gd name="adj1" fmla="val 6728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584D7DD5-AF06-660E-B8AB-56FEBD03D05B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76F3A98F-48B9-9CD1-B9F1-E75DD2E8FE3C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72E979E6-DCC4-331B-D941-6882D88766DC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BCF5E98C-CA06-9023-8D8F-DC58885C84A8}"/>
                </a:ext>
              </a:extLst>
            </p:cNvPr>
            <p:cNvSpPr/>
            <p:nvPr/>
          </p:nvSpPr>
          <p:spPr>
            <a:xfrm>
              <a:off x="5856481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6EAF062E-2592-CB45-36A5-2A33D358D8BF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602002"/>
              <a:ext cx="868" cy="134100"/>
            </a:xfrm>
            <a:prstGeom prst="straightConnector1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52EAE681-2114-E3E3-C3A4-320425997F09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D1D65BD3-E604-D135-F107-EC4CC81E93DD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4754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C9DC9C7A-C05F-76B8-966F-44753826D4BF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A822FBB9-C029-EAAD-530F-8A6805EE47F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6BFA24E6-0E52-669D-D3F8-9864EDC5552B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0BF0A013-C46F-87B6-A913-AB6006AD99D3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BBA55220-0A3C-FB05-7E36-C68DDF50F072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CF73AECF-36D3-CBDF-5806-CA480B4C449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id="{A0680E3E-2512-6A1A-E3EA-44839A3E0D64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id="{A4015C41-4587-E1BF-7A8F-3DF236C02ABD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437228" y="3316849"/>
              <a:ext cx="2706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089EBFBE-86AF-DCA0-9896-A6D5E6FBA8F6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10EF1A2A-AF97-E7D2-178C-FFE80B3251D1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C0636B7D-2A5C-4392-28D4-DBDF85E54A2A}"/>
                </a:ext>
              </a:extLst>
            </p:cNvPr>
            <p:cNvCxnSpPr>
              <a:cxnSpLocks/>
              <a:endCxn id="44" idx="4"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F7CB8566-5FA8-4AE1-E1A3-37AA355FE5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97" name="Rectangle: Rounded Corners 96">
              <a:extLst>
                <a:ext uri="{FF2B5EF4-FFF2-40B4-BE49-F238E27FC236}">
                  <a16:creationId xmlns:a16="http://schemas.microsoft.com/office/drawing/2014/main" id="{A6D9F0B4-913F-1EED-8A29-810518E05463}"/>
                </a:ext>
              </a:extLst>
            </p:cNvPr>
            <p:cNvSpPr/>
            <p:nvPr/>
          </p:nvSpPr>
          <p:spPr>
            <a:xfrm>
              <a:off x="492094" y="2438176"/>
              <a:ext cx="3522024" cy="198120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sz="6000" dirty="0"/>
                <a:t>A</a:t>
              </a:r>
              <a:endParaRPr lang="en-US" dirty="0"/>
            </a:p>
          </p:txBody>
        </p:sp>
        <p:cxnSp>
          <p:nvCxnSpPr>
            <p:cNvPr id="98" name="Straight Connector 97">
              <a:extLst>
                <a:ext uri="{FF2B5EF4-FFF2-40B4-BE49-F238E27FC236}">
                  <a16:creationId xmlns:a16="http://schemas.microsoft.com/office/drawing/2014/main" id="{092FA1F5-FD24-F58C-C0EA-B1FA15F86729}"/>
                </a:ext>
              </a:extLst>
            </p:cNvPr>
            <p:cNvCxnSpPr>
              <a:cxnSpLocks/>
            </p:cNvCxnSpPr>
            <p:nvPr/>
          </p:nvCxnSpPr>
          <p:spPr>
            <a:xfrm>
              <a:off x="4012696" y="2715788"/>
              <a:ext cx="212435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C2AF8E87-6151-A661-474A-AD4443F2A4D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71971" y="4234824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E38F9929-0D9E-7BAE-3976-F3AACAC47318}"/>
                </a:ext>
              </a:extLst>
            </p:cNvPr>
            <p:cNvCxnSpPr>
              <a:cxnSpLocks/>
            </p:cNvCxnSpPr>
            <p:nvPr/>
          </p:nvCxnSpPr>
          <p:spPr>
            <a:xfrm>
              <a:off x="3971971" y="4238634"/>
              <a:ext cx="212435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03" name="Rectangle: Rounded Corners 102">
              <a:extLst>
                <a:ext uri="{FF2B5EF4-FFF2-40B4-BE49-F238E27FC236}">
                  <a16:creationId xmlns:a16="http://schemas.microsoft.com/office/drawing/2014/main" id="{0549E296-9BF6-1073-36A7-44A6BC84E646}"/>
                </a:ext>
              </a:extLst>
            </p:cNvPr>
            <p:cNvSpPr/>
            <p:nvPr/>
          </p:nvSpPr>
          <p:spPr>
            <a:xfrm>
              <a:off x="8083166" y="2438176"/>
              <a:ext cx="3522024" cy="198120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sz="6000" dirty="0"/>
                <a:t>A</a:t>
              </a:r>
              <a:endParaRPr lang="en-US" dirty="0"/>
            </a:p>
          </p:txBody>
        </p:sp>
        <p:cxnSp>
          <p:nvCxnSpPr>
            <p:cNvPr id="104" name="Straight Connector 103">
              <a:extLst>
                <a:ext uri="{FF2B5EF4-FFF2-40B4-BE49-F238E27FC236}">
                  <a16:creationId xmlns:a16="http://schemas.microsoft.com/office/drawing/2014/main" id="{3F4FFE22-901A-5ECB-8DD0-DE274D49C1CE}"/>
                </a:ext>
              </a:extLst>
            </p:cNvPr>
            <p:cNvCxnSpPr>
              <a:cxnSpLocks/>
            </p:cNvCxnSpPr>
            <p:nvPr/>
          </p:nvCxnSpPr>
          <p:spPr>
            <a:xfrm>
              <a:off x="11572921" y="4241954"/>
              <a:ext cx="212435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63C39462-6C16-B627-F0AA-034DBCEEAFBA}"/>
                </a:ext>
              </a:extLst>
            </p:cNvPr>
            <p:cNvCxnSpPr>
              <a:cxnSpLocks/>
            </p:cNvCxnSpPr>
            <p:nvPr/>
          </p:nvCxnSpPr>
          <p:spPr>
            <a:xfrm>
              <a:off x="11606773" y="2715942"/>
              <a:ext cx="212435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06" name="Oval 105">
              <a:extLst>
                <a:ext uri="{FF2B5EF4-FFF2-40B4-BE49-F238E27FC236}">
                  <a16:creationId xmlns:a16="http://schemas.microsoft.com/office/drawing/2014/main" id="{BCDEE74E-A3A9-7A71-C9CC-5B26A604B389}"/>
                </a:ext>
              </a:extLst>
            </p:cNvPr>
            <p:cNvSpPr/>
            <p:nvPr/>
          </p:nvSpPr>
          <p:spPr>
            <a:xfrm>
              <a:off x="486412" y="4678597"/>
              <a:ext cx="432000" cy="432000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08" name="TextBox 107">
                  <a:extLst>
                    <a:ext uri="{FF2B5EF4-FFF2-40B4-BE49-F238E27FC236}">
                      <a16:creationId xmlns:a16="http://schemas.microsoft.com/office/drawing/2014/main" id="{74B7AA29-1794-6E8C-61F5-28A8A04CC1A1}"/>
                    </a:ext>
                  </a:extLst>
                </p:cNvPr>
                <p:cNvSpPr txBox="1"/>
                <p:nvPr/>
              </p:nvSpPr>
              <p:spPr>
                <a:xfrm>
                  <a:off x="190127" y="4776729"/>
                  <a:ext cx="1024570" cy="2616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1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pt-BR" sz="11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1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100" b="0" i="1" smtClean="0">
                            <a:latin typeface="Cambria Math" panose="02040503050406030204" pitchFamily="18" charset="0"/>
                          </a:rPr>
                          <m:t>−1]</m:t>
                        </m:r>
                      </m:oMath>
                    </m:oMathPara>
                  </a14:m>
                  <a:endParaRPr lang="en-US" sz="1100" dirty="0"/>
                </a:p>
              </p:txBody>
            </p:sp>
          </mc:Choice>
          <mc:Fallback>
            <p:sp>
              <p:nvSpPr>
                <p:cNvPr id="108" name="TextBox 107">
                  <a:extLst>
                    <a:ext uri="{FF2B5EF4-FFF2-40B4-BE49-F238E27FC236}">
                      <a16:creationId xmlns:a16="http://schemas.microsoft.com/office/drawing/2014/main" id="{74B7AA29-1794-6E8C-61F5-28A8A04CC1A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0127" y="4776729"/>
                  <a:ext cx="1024570" cy="261610"/>
                </a:xfrm>
                <a:prstGeom prst="rect">
                  <a:avLst/>
                </a:prstGeom>
                <a:blipFill>
                  <a:blip r:embed="rId8"/>
                  <a:stretch>
                    <a:fillRect b="-714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0" name="Straight Connector 109">
              <a:extLst>
                <a:ext uri="{FF2B5EF4-FFF2-40B4-BE49-F238E27FC236}">
                  <a16:creationId xmlns:a16="http://schemas.microsoft.com/office/drawing/2014/main" id="{922EF61C-EF99-D374-EA91-A8D137ADC99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02412" y="4392609"/>
              <a:ext cx="0" cy="28800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13" name="Oval 112">
              <a:extLst>
                <a:ext uri="{FF2B5EF4-FFF2-40B4-BE49-F238E27FC236}">
                  <a16:creationId xmlns:a16="http://schemas.microsoft.com/office/drawing/2014/main" id="{70706A45-7B2F-ABA5-CB52-2E8903DD0ED9}"/>
                </a:ext>
              </a:extLst>
            </p:cNvPr>
            <p:cNvSpPr/>
            <p:nvPr/>
          </p:nvSpPr>
          <p:spPr>
            <a:xfrm>
              <a:off x="8060770" y="4678597"/>
              <a:ext cx="432000" cy="432000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A2DA2877-36E8-DE52-7D68-11E5A3DA45F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76770" y="4392609"/>
              <a:ext cx="0" cy="28800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15" name="TextBox 114">
                  <a:extLst>
                    <a:ext uri="{FF2B5EF4-FFF2-40B4-BE49-F238E27FC236}">
                      <a16:creationId xmlns:a16="http://schemas.microsoft.com/office/drawing/2014/main" id="{CD6C7B57-51FE-CBCC-F748-ABA19E9899AB}"/>
                    </a:ext>
                  </a:extLst>
                </p:cNvPr>
                <p:cNvSpPr txBox="1"/>
                <p:nvPr/>
              </p:nvSpPr>
              <p:spPr>
                <a:xfrm>
                  <a:off x="7764485" y="4763792"/>
                  <a:ext cx="1024570" cy="2616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1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pt-BR" sz="11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1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100" b="0" i="1" smtClean="0">
                            <a:latin typeface="Cambria Math" panose="02040503050406030204" pitchFamily="18" charset="0"/>
                          </a:rPr>
                          <m:t>+1]</m:t>
                        </m:r>
                      </m:oMath>
                    </m:oMathPara>
                  </a14:m>
                  <a:endParaRPr lang="en-US" sz="1100" dirty="0"/>
                </a:p>
              </p:txBody>
            </p:sp>
          </mc:Choice>
          <mc:Fallback>
            <p:sp>
              <p:nvSpPr>
                <p:cNvPr id="115" name="TextBox 114">
                  <a:extLst>
                    <a:ext uri="{FF2B5EF4-FFF2-40B4-BE49-F238E27FC236}">
                      <a16:creationId xmlns:a16="http://schemas.microsoft.com/office/drawing/2014/main" id="{CD6C7B57-51FE-CBCC-F748-ABA19E9899A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64485" y="4763792"/>
                  <a:ext cx="1024570" cy="261610"/>
                </a:xfrm>
                <a:prstGeom prst="rect">
                  <a:avLst/>
                </a:prstGeom>
                <a:blipFill>
                  <a:blip r:embed="rId9"/>
                  <a:stretch>
                    <a:fillRect b="-697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6" name="Oval 115">
              <a:extLst>
                <a:ext uri="{FF2B5EF4-FFF2-40B4-BE49-F238E27FC236}">
                  <a16:creationId xmlns:a16="http://schemas.microsoft.com/office/drawing/2014/main" id="{FD02C6B7-F4EA-B8A3-BE37-599EFE03C112}"/>
                </a:ext>
              </a:extLst>
            </p:cNvPr>
            <p:cNvSpPr/>
            <p:nvPr/>
          </p:nvSpPr>
          <p:spPr>
            <a:xfrm>
              <a:off x="3482642" y="1772176"/>
              <a:ext cx="432000" cy="432000"/>
            </a:xfrm>
            <a:prstGeom prst="ellipse">
              <a:avLst/>
            </a:prstGeom>
            <a:solidFill>
              <a:schemeClr val="tx2">
                <a:lumMod val="20000"/>
                <a:lumOff val="80000"/>
              </a:schemeClr>
            </a:solidFill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200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18" name="TextBox 117">
                  <a:extLst>
                    <a:ext uri="{FF2B5EF4-FFF2-40B4-BE49-F238E27FC236}">
                      <a16:creationId xmlns:a16="http://schemas.microsoft.com/office/drawing/2014/main" id="{68328405-6201-72C5-BFEE-027EEEDE3184}"/>
                    </a:ext>
                  </a:extLst>
                </p:cNvPr>
                <p:cNvSpPr txBox="1"/>
                <p:nvPr/>
              </p:nvSpPr>
              <p:spPr>
                <a:xfrm>
                  <a:off x="3215649" y="1865267"/>
                  <a:ext cx="1009482" cy="2616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100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sz="11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1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100" b="0" i="1" smtClean="0">
                            <a:latin typeface="Cambria Math" panose="02040503050406030204" pitchFamily="18" charset="0"/>
                          </a:rPr>
                          <m:t>−1]</m:t>
                        </m:r>
                      </m:oMath>
                    </m:oMathPara>
                  </a14:m>
                  <a:endParaRPr lang="en-US" sz="1100" dirty="0"/>
                </a:p>
              </p:txBody>
            </p:sp>
          </mc:Choice>
          <mc:Fallback>
            <p:sp>
              <p:nvSpPr>
                <p:cNvPr id="118" name="TextBox 117">
                  <a:extLst>
                    <a:ext uri="{FF2B5EF4-FFF2-40B4-BE49-F238E27FC236}">
                      <a16:creationId xmlns:a16="http://schemas.microsoft.com/office/drawing/2014/main" id="{68328405-6201-72C5-BFEE-027EEEDE318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15649" y="1865267"/>
                  <a:ext cx="1009482" cy="261610"/>
                </a:xfrm>
                <a:prstGeom prst="rect">
                  <a:avLst/>
                </a:prstGeom>
                <a:blipFill>
                  <a:blip r:embed="rId10"/>
                  <a:stretch>
                    <a:fillRect b="-465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9" name="Oval 118">
              <a:extLst>
                <a:ext uri="{FF2B5EF4-FFF2-40B4-BE49-F238E27FC236}">
                  <a16:creationId xmlns:a16="http://schemas.microsoft.com/office/drawing/2014/main" id="{3F757B78-CA4C-764C-84A7-66B6A5BC6064}"/>
                </a:ext>
              </a:extLst>
            </p:cNvPr>
            <p:cNvSpPr/>
            <p:nvPr/>
          </p:nvSpPr>
          <p:spPr>
            <a:xfrm>
              <a:off x="11175945" y="1780072"/>
              <a:ext cx="432000" cy="432000"/>
            </a:xfrm>
            <a:prstGeom prst="ellipse">
              <a:avLst/>
            </a:prstGeom>
            <a:solidFill>
              <a:schemeClr val="tx2">
                <a:lumMod val="20000"/>
                <a:lumOff val="80000"/>
              </a:schemeClr>
            </a:solidFill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200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0" name="TextBox 119">
                  <a:extLst>
                    <a:ext uri="{FF2B5EF4-FFF2-40B4-BE49-F238E27FC236}">
                      <a16:creationId xmlns:a16="http://schemas.microsoft.com/office/drawing/2014/main" id="{9087BD80-376A-9A53-92FA-503823D7568B}"/>
                    </a:ext>
                  </a:extLst>
                </p:cNvPr>
                <p:cNvSpPr txBox="1"/>
                <p:nvPr/>
              </p:nvSpPr>
              <p:spPr>
                <a:xfrm>
                  <a:off x="10880987" y="1884865"/>
                  <a:ext cx="1009482" cy="2616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100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sz="11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1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100" b="0" i="1" smtClean="0">
                            <a:latin typeface="Cambria Math" panose="02040503050406030204" pitchFamily="18" charset="0"/>
                          </a:rPr>
                          <m:t>+1]</m:t>
                        </m:r>
                      </m:oMath>
                    </m:oMathPara>
                  </a14:m>
                  <a:endParaRPr lang="en-US" sz="1100" dirty="0"/>
                </a:p>
              </p:txBody>
            </p:sp>
          </mc:Choice>
          <mc:Fallback>
            <p:sp>
              <p:nvSpPr>
                <p:cNvPr id="120" name="TextBox 119">
                  <a:extLst>
                    <a:ext uri="{FF2B5EF4-FFF2-40B4-BE49-F238E27FC236}">
                      <a16:creationId xmlns:a16="http://schemas.microsoft.com/office/drawing/2014/main" id="{9087BD80-376A-9A53-92FA-503823D7568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880987" y="1884865"/>
                  <a:ext cx="1009482" cy="261610"/>
                </a:xfrm>
                <a:prstGeom prst="rect">
                  <a:avLst/>
                </a:prstGeom>
                <a:blipFill>
                  <a:blip r:embed="rId11"/>
                  <a:stretch>
                    <a:fillRect b="-697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21" name="Straight Arrow Connector 120">
              <a:extLst>
                <a:ext uri="{FF2B5EF4-FFF2-40B4-BE49-F238E27FC236}">
                  <a16:creationId xmlns:a16="http://schemas.microsoft.com/office/drawing/2014/main" id="{E7D096F0-65EF-76A1-E864-DEFDD7B1DF2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404780" y="2212072"/>
              <a:ext cx="0" cy="273953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24" name="Straight Arrow Connector 123">
              <a:extLst>
                <a:ext uri="{FF2B5EF4-FFF2-40B4-BE49-F238E27FC236}">
                  <a16:creationId xmlns:a16="http://schemas.microsoft.com/office/drawing/2014/main" id="{43419660-66CC-40DA-03A8-9CA6E7C0AF3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693922" y="2204176"/>
              <a:ext cx="0" cy="234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67B8102E-31B3-C3A9-13A3-0364FF9802EB}"/>
                </a:ext>
              </a:extLst>
            </p:cNvPr>
            <p:cNvSpPr/>
            <p:nvPr/>
          </p:nvSpPr>
          <p:spPr>
            <a:xfrm>
              <a:off x="3488080" y="5632434"/>
              <a:ext cx="375794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94483E7F-A937-DCD5-593D-9BF0A521317D}"/>
                </a:ext>
              </a:extLst>
            </p:cNvPr>
            <p:cNvSpPr txBox="1"/>
            <p:nvPr/>
          </p:nvSpPr>
          <p:spPr>
            <a:xfrm>
              <a:off x="3298245" y="5930306"/>
              <a:ext cx="755463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400" dirty="0"/>
                <a:t>camada</a:t>
              </a:r>
              <a:endParaRPr lang="en-US" sz="1400" dirty="0"/>
            </a:p>
          </p:txBody>
        </p:sp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A10A206D-DE0F-FE1C-4415-C2DFE8541DE1}"/>
                </a:ext>
              </a:extLst>
            </p:cNvPr>
            <p:cNvSpPr/>
            <p:nvPr/>
          </p:nvSpPr>
          <p:spPr>
            <a:xfrm>
              <a:off x="4581090" y="565725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E601EEF9-98B3-9F64-F85F-07641BA1F0E3}"/>
                </a:ext>
              </a:extLst>
            </p:cNvPr>
            <p:cNvSpPr txBox="1"/>
            <p:nvPr/>
          </p:nvSpPr>
          <p:spPr>
            <a:xfrm>
              <a:off x="4112143" y="5902127"/>
              <a:ext cx="1210943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/>
                <a:t>operação</a:t>
              </a:r>
              <a:r>
                <a:rPr lang="en-US" sz="1400" dirty="0"/>
                <a:t> </a:t>
              </a:r>
              <a:r>
                <a:rPr lang="en-US" sz="1400" dirty="0" err="1"/>
                <a:t>pontual</a:t>
              </a:r>
              <a:endParaRPr lang="en-US" sz="1400" dirty="0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4CCF47AF-2D48-1D6C-D27B-0CC557A4D3BC}"/>
                </a:ext>
              </a:extLst>
            </p:cNvPr>
            <p:cNvCxnSpPr>
              <a:cxnSpLocks/>
            </p:cNvCxnSpPr>
            <p:nvPr/>
          </p:nvCxnSpPr>
          <p:spPr>
            <a:xfrm>
              <a:off x="5610255" y="5809937"/>
              <a:ext cx="576000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4D46D6C-FBD0-36BF-A4A0-F0AA4C62BC59}"/>
                </a:ext>
              </a:extLst>
            </p:cNvPr>
            <p:cNvSpPr txBox="1"/>
            <p:nvPr/>
          </p:nvSpPr>
          <p:spPr>
            <a:xfrm>
              <a:off x="5247669" y="5899739"/>
              <a:ext cx="1210943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/>
                <a:t>transferência</a:t>
              </a:r>
              <a:r>
                <a:rPr lang="en-US" sz="1400" dirty="0"/>
                <a:t> de </a:t>
              </a:r>
              <a:r>
                <a:rPr lang="en-US" sz="1400" dirty="0" err="1"/>
                <a:t>vetor</a:t>
              </a:r>
              <a:endParaRPr lang="en-US" sz="1400" dirty="0"/>
            </a:p>
          </p:txBody>
        </p: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87FE6DA6-5752-4BD9-4B22-C5A902BD5C6B}"/>
                </a:ext>
              </a:extLst>
            </p:cNvPr>
            <p:cNvCxnSpPr>
              <a:cxnSpLocks/>
            </p:cNvCxnSpPr>
            <p:nvPr/>
          </p:nvCxnSpPr>
          <p:spPr>
            <a:xfrm>
              <a:off x="6844051" y="5809937"/>
              <a:ext cx="576000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4AA379DA-FDF4-4C2E-212F-301E5D1A6625}"/>
                </a:ext>
              </a:extLst>
            </p:cNvPr>
            <p:cNvCxnSpPr/>
            <p:nvPr/>
          </p:nvCxnSpPr>
          <p:spPr>
            <a:xfrm>
              <a:off x="7107166" y="5803307"/>
              <a:ext cx="0" cy="290413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F2C1639E-62C8-EF4F-BC59-06D35F047F64}"/>
                </a:ext>
              </a:extLst>
            </p:cNvPr>
            <p:cNvSpPr txBox="1"/>
            <p:nvPr/>
          </p:nvSpPr>
          <p:spPr>
            <a:xfrm>
              <a:off x="6510788" y="6059023"/>
              <a:ext cx="121094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/>
                <a:t>concatenação</a:t>
              </a:r>
              <a:endParaRPr lang="en-US" sz="1400" dirty="0"/>
            </a:p>
          </p:txBody>
        </p: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456BE94A-7B45-0DB7-05F1-86A17C409BD0}"/>
                </a:ext>
              </a:extLst>
            </p:cNvPr>
            <p:cNvCxnSpPr>
              <a:cxnSpLocks/>
            </p:cNvCxnSpPr>
            <p:nvPr/>
          </p:nvCxnSpPr>
          <p:spPr>
            <a:xfrm>
              <a:off x="8002787" y="6058719"/>
              <a:ext cx="576000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0868D48C-258F-30A1-C079-D3E227346BD5}"/>
                </a:ext>
              </a:extLst>
            </p:cNvPr>
            <p:cNvCxnSpPr/>
            <p:nvPr/>
          </p:nvCxnSpPr>
          <p:spPr>
            <a:xfrm>
              <a:off x="8265841" y="5754532"/>
              <a:ext cx="0" cy="290413"/>
            </a:xfrm>
            <a:prstGeom prst="line">
              <a:avLst/>
            </a:prstGeom>
            <a:ln w="1905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82CB8A93-557A-5259-EB5A-85D7D4D96AD1}"/>
                </a:ext>
              </a:extLst>
            </p:cNvPr>
            <p:cNvSpPr txBox="1"/>
            <p:nvPr/>
          </p:nvSpPr>
          <p:spPr>
            <a:xfrm>
              <a:off x="7637220" y="6050352"/>
              <a:ext cx="121094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/>
                <a:t>cópia</a:t>
              </a:r>
              <a:endParaRPr lang="en-US" sz="1400" dirty="0"/>
            </a:p>
          </p:txBody>
        </p:sp>
      </p:grpSp>
    </p:spTree>
    <p:extLst>
      <p:ext uri="{BB962C8B-B14F-4D97-AF65-F5344CB8AC3E}">
        <p14:creationId xmlns:p14="http://schemas.microsoft.com/office/powerpoint/2010/main" val="294756579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EF7BC4-3994-CEE8-677F-0741A6B1A0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6" name="Group 45">
            <a:extLst>
              <a:ext uri="{FF2B5EF4-FFF2-40B4-BE49-F238E27FC236}">
                <a16:creationId xmlns:a16="http://schemas.microsoft.com/office/drawing/2014/main" id="{9516E441-E135-8036-EB1A-48A9DF99CC9D}"/>
              </a:ext>
            </a:extLst>
          </p:cNvPr>
          <p:cNvGrpSpPr/>
          <p:nvPr/>
        </p:nvGrpSpPr>
        <p:grpSpPr>
          <a:xfrm>
            <a:off x="787522" y="2795317"/>
            <a:ext cx="1238994" cy="1644454"/>
            <a:chOff x="787522" y="2795317"/>
            <a:chExt cx="1238994" cy="1644454"/>
          </a:xfrm>
        </p:grpSpPr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61EA366A-638B-19A2-FADF-869CD901FD6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28898" y="2934602"/>
              <a:ext cx="1008000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1" name="Rectangle 30">
                  <a:extLst>
                    <a:ext uri="{FF2B5EF4-FFF2-40B4-BE49-F238E27FC236}">
                      <a16:creationId xmlns:a16="http://schemas.microsoft.com/office/drawing/2014/main" id="{EBC88C9A-7E93-26B5-43AD-0D21BC813E6A}"/>
                    </a:ext>
                  </a:extLst>
                </p:cNvPr>
                <p:cNvSpPr/>
                <p:nvPr/>
              </p:nvSpPr>
              <p:spPr>
                <a:xfrm>
                  <a:off x="1240764" y="3348906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31" name="Rectangle 30">
                  <a:extLst>
                    <a:ext uri="{FF2B5EF4-FFF2-40B4-BE49-F238E27FC236}">
                      <a16:creationId xmlns:a16="http://schemas.microsoft.com/office/drawing/2014/main" id="{EBC88C9A-7E93-26B5-43AD-0D21BC813E6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40764" y="3348906"/>
                  <a:ext cx="332510" cy="29787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1A354AC7-6F14-F502-309B-B6DF3115DCEC}"/>
                </a:ext>
              </a:extLst>
            </p:cNvPr>
            <p:cNvSpPr/>
            <p:nvPr/>
          </p:nvSpPr>
          <p:spPr>
            <a:xfrm>
              <a:off x="1270494" y="2795317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4155F256-7522-763D-F307-222BEC825F1D}"/>
                </a:ext>
              </a:extLst>
            </p:cNvPr>
            <p:cNvCxnSpPr>
              <a:stCxn id="31" idx="0"/>
              <a:endCxn id="32" idx="4"/>
            </p:cNvCxnSpPr>
            <p:nvPr/>
          </p:nvCxnSpPr>
          <p:spPr>
            <a:xfrm flipV="1">
              <a:off x="1407019" y="3068367"/>
              <a:ext cx="0" cy="28053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B515080E-515E-F684-8C15-0D9EE9C6B308}"/>
                </a:ext>
              </a:extLst>
            </p:cNvPr>
            <p:cNvCxnSpPr/>
            <p:nvPr/>
          </p:nvCxnSpPr>
          <p:spPr>
            <a:xfrm flipV="1">
              <a:off x="1407019" y="3646778"/>
              <a:ext cx="0" cy="28053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3" name="Right Brace 42">
              <a:extLst>
                <a:ext uri="{FF2B5EF4-FFF2-40B4-BE49-F238E27FC236}">
                  <a16:creationId xmlns:a16="http://schemas.microsoft.com/office/drawing/2014/main" id="{7FDD430D-62DC-C54E-5726-B5316B0CD7AC}"/>
                </a:ext>
              </a:extLst>
            </p:cNvPr>
            <p:cNvSpPr/>
            <p:nvPr/>
          </p:nvSpPr>
          <p:spPr>
            <a:xfrm rot="5400000">
              <a:off x="1304308" y="3414477"/>
              <a:ext cx="205421" cy="1238994"/>
            </a:xfrm>
            <a:prstGeom prst="rightBrac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EC283BF4-C291-0D01-D34B-CCB67EF0B6CC}"/>
                </a:ext>
              </a:extLst>
            </p:cNvPr>
            <p:cNvSpPr txBox="1"/>
            <p:nvPr/>
          </p:nvSpPr>
          <p:spPr>
            <a:xfrm>
              <a:off x="1047098" y="4070439"/>
              <a:ext cx="6932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porta</a:t>
              </a:r>
              <a:endParaRPr lang="en-US" dirty="0"/>
            </a:p>
          </p:txBody>
        </p: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CE5E7BE9-7FC2-5E7C-BABE-DEDBFF28BC85}"/>
              </a:ext>
            </a:extLst>
          </p:cNvPr>
          <p:cNvGrpSpPr/>
          <p:nvPr/>
        </p:nvGrpSpPr>
        <p:grpSpPr>
          <a:xfrm>
            <a:off x="3387954" y="1841814"/>
            <a:ext cx="5115642" cy="3158904"/>
            <a:chOff x="3387954" y="1841814"/>
            <a:chExt cx="5115642" cy="3158904"/>
          </a:xfrm>
        </p:grpSpPr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C9ED7EA8-2248-C549-C0D3-4789E31F219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F26C059A-6E06-5777-5754-23C200926D83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F26C059A-6E06-5777-5754-23C200926D8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D5E7D54C-7034-1BD8-63C6-5043FC65A28D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D5E7D54C-7034-1BD8-63C6-5043FC65A28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177514C8-D2E4-86D6-AF82-FAF60A44C33A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177514C8-D2E4-86D6-AF82-FAF60A44C33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6F8531BB-5842-5BAF-1D3A-682398D284D2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C7E17DBB-C7BC-494A-E992-8DE8D288F40F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9AE3C16C-5A7A-867F-EC09-5B9B011DE1C6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D4D654B-F301-B853-EA77-8F8D3F0CAF86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D2F697DC-DE68-5F5D-A5BE-F745A119CF71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id="{8BAC7E3D-1CA3-518E-DD58-B30975FF74A6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 rot="5400000" flipH="1" flipV="1">
              <a:off x="5288165" y="3260341"/>
              <a:ext cx="641827" cy="2194687"/>
            </a:xfrm>
            <a:prstGeom prst="bentConnector3">
              <a:avLst>
                <a:gd name="adj1" fmla="val 6728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B3565DE1-2C94-76FF-7E49-46F7EA406B1F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1ABDDD09-DD98-0666-3795-306DBE0ECE9F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7F61B55E-723D-2358-27DC-A1C3C16D2B69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2A4E816D-7056-ACB4-28DE-1431775F31B9}"/>
                </a:ext>
              </a:extLst>
            </p:cNvPr>
            <p:cNvSpPr/>
            <p:nvPr/>
          </p:nvSpPr>
          <p:spPr>
            <a:xfrm>
              <a:off x="5856481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CF3F4951-741E-7175-755B-F847FABD1A53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602002"/>
              <a:ext cx="868" cy="134100"/>
            </a:xfrm>
            <a:prstGeom prst="straightConnector1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0C9119F5-BC18-B506-6AE3-54BED2ACDE1D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4754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9A90CFC2-367F-DDD0-0347-A75CC3C46DD8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742EAAEE-4BC0-0FF8-1B29-921257A94C8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id="{6B39DB6C-853E-9EC6-5E8B-6D4F3DB4B58F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id="{55E9DF20-2BAA-AD3A-BF01-C8B2A79EBCBF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437228" y="3316849"/>
              <a:ext cx="2706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F73F4CFE-21DF-A9CF-A0E3-BE6FCD93FD2F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3B2DE638-D898-6EEE-FDE9-EF6483D3EE43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B4FC16DB-E8FC-F794-ADC0-7F23CD17199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71971" y="4247524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842C10F0-6ADD-9912-2061-FB7E19CE2DD3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290DB68F-D678-91AC-FDAB-0432895FD9FC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2189D1DB-4B5F-E20F-5E70-0649D2A09125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2F17F637-CDA3-BC2F-CEC0-EDA23BDF1793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B7F0BCAC-2A6C-C3FC-BFC1-52890A7CFAFB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DB10787B-CA55-FACA-097A-B384CCF2FC57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59ED29A8-D33B-A9E0-6FB0-6DA35F11AA6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23B5C879-86CF-1489-D983-F6C55915B10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C4A866C9-4A28-7252-015B-A2E419706176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928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C4A866C9-4A28-7252-015B-A2E41970617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9286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426498C2-0A02-0FDF-4FCF-947527EBD09A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967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426498C2-0A02-0FDF-4FCF-947527EBD09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9675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12B529DB-2BE0-6E9C-4EBB-DBD7BFF2CD32}"/>
                    </a:ext>
                  </a:extLst>
                </p:cNvPr>
                <p:cNvSpPr txBox="1"/>
                <p:nvPr/>
              </p:nvSpPr>
              <p:spPr>
                <a:xfrm>
                  <a:off x="3387954" y="4062549"/>
                  <a:ext cx="67319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12B529DB-2BE0-6E9C-4EBB-DBD7BFF2CD3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62549"/>
                  <a:ext cx="673197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EB1DAE0C-E746-36F2-7A7D-C331502D001C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5358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EB1DAE0C-E746-36F2-7A7D-C331502D00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53586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CE10D406-319D-3BE3-1B60-7827B12CBF7C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5358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CE10D406-319D-3BE3-1B60-7827B12CBF7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53586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35F8E290-BD3E-780B-C51B-6AB841AA0F43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4653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35F8E290-BD3E-780B-C51B-6AB841AA0F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46532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54836208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81C906-BA12-06E8-B408-AC00764492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3">
            <a:extLst>
              <a:ext uri="{FF2B5EF4-FFF2-40B4-BE49-F238E27FC236}">
                <a16:creationId xmlns:a16="http://schemas.microsoft.com/office/drawing/2014/main" id="{E92D97BC-2DB9-66AE-888D-FCCEB21088D5}"/>
              </a:ext>
            </a:extLst>
          </p:cNvPr>
          <p:cNvGrpSpPr/>
          <p:nvPr/>
        </p:nvGrpSpPr>
        <p:grpSpPr>
          <a:xfrm>
            <a:off x="3387954" y="1841814"/>
            <a:ext cx="5115642" cy="3158904"/>
            <a:chOff x="3387954" y="1841814"/>
            <a:chExt cx="5115642" cy="3158904"/>
          </a:xfrm>
        </p:grpSpPr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7ACF06C9-EDD8-B72E-3A6F-2D9C18CE4477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9309C712-EF05-B2E0-6A0E-9B6B6D832FB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id="{4329F69A-78DB-87D6-4B31-68E94E84869A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 rot="5400000" flipH="1" flipV="1">
              <a:off x="5288165" y="3260341"/>
              <a:ext cx="641827" cy="2194687"/>
            </a:xfrm>
            <a:prstGeom prst="bentConnector3">
              <a:avLst>
                <a:gd name="adj1" fmla="val 6728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55605F55-30EA-A9AD-82E9-A71DA52E29E0}"/>
                </a:ext>
              </a:extLst>
            </p:cNvPr>
            <p:cNvSpPr/>
            <p:nvPr/>
          </p:nvSpPr>
          <p:spPr>
            <a:xfrm>
              <a:off x="5856481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0AFE4F1F-C8AF-2071-1411-B9B18B7B0704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4BF2B54E-88E4-6623-837A-40C288275AF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D05F7E73-ADBE-A779-2E49-69EE3D2EF593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D05F7E73-ADBE-A779-2E49-69EE3D2EF59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6AFE5021-0A6E-22A6-DF4A-B232EDC28847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6AFE5021-0A6E-22A6-DF4A-B232EDC2884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62691682-17D1-2759-4AEA-95CB4A2AC442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1E1B6485-D533-DFBA-CFB6-2D9F4A32B5BC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7920B390-AA70-127C-665E-BCD4AFAB2692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8347C514-5C0A-87D8-490F-8BE6DE17F058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602002"/>
              <a:ext cx="868" cy="134100"/>
            </a:xfrm>
            <a:prstGeom prst="straightConnector1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id="{D209583F-0F66-13DA-E8B1-65163BB76534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id="{9FFD6D3A-4074-C913-6F99-8172D8284BB8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437228" y="3316849"/>
              <a:ext cx="2706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C6132C55-7CE0-B243-9524-22263E32A9FD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FF5609EE-16ED-D9C9-C8B6-08BF97D17108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BBCF3E7F-5361-B4DC-E106-88F2D362536D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5358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BBCF3E7F-5361-B4DC-E106-88F2D362536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53586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FA172608-B764-39AB-FC65-DD74524231B1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F8D1C230-9AD6-9DC7-AED1-35225D1F83CD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E5CFBB8F-7F83-05F4-5991-D9B2A3C177C2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DC5D7F9A-1009-06DB-C683-3F0A389F7B42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4F12F6A6-D554-126C-3ECA-862ED1EAA5B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39A730AB-F009-09B7-7FB0-EE9AFB00CBC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1CC77F96-16FB-3864-7DB1-07277106DE8B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822B40A6-CAB4-62EA-370C-1357CAED5D30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AE3BC04-7F37-C331-64C8-47928CB17AE3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2C216754-64A0-2413-BC8A-9899491730A4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4754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2BBC2FE9-36F7-2933-C887-72273FF6AA32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7D1E7939-B085-04A7-417C-F8FF5441903B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7D1E7939-B085-04A7-417C-F8FF5441903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BCBA5E58-1A30-E919-16E9-05C7BCBA30AA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449F04FB-A11C-6CDA-54CF-327E7BE7D9EA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D866472C-9411-1D10-EBFC-6CE069E407B5}"/>
                </a:ext>
              </a:extLst>
            </p:cNvPr>
            <p:cNvCxnSpPr>
              <a:cxnSpLocks/>
            </p:cNvCxnSpPr>
            <p:nvPr/>
          </p:nvCxnSpPr>
          <p:spPr>
            <a:xfrm>
              <a:off x="3971971" y="4247692"/>
              <a:ext cx="762694" cy="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E4140CD2-4809-10E5-1F86-BDC4132DD5F5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928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E4140CD2-4809-10E5-1F86-BDC4132DD5F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9286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A6114FA9-48A9-7AB5-089D-28FB8F3DD455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967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A6114FA9-48A9-7AB5-089D-28FB8F3DD45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9675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C92B0883-35DE-44C7-12D4-5B70BF0A6B1F}"/>
                    </a:ext>
                  </a:extLst>
                </p:cNvPr>
                <p:cNvSpPr txBox="1"/>
                <p:nvPr/>
              </p:nvSpPr>
              <p:spPr>
                <a:xfrm>
                  <a:off x="3387954" y="4062549"/>
                  <a:ext cx="67319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C92B0883-35DE-44C7-12D4-5B70BF0A6B1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62549"/>
                  <a:ext cx="673197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0F98C804-71F7-C250-7524-2D037AFFAAC7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5358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0F98C804-71F7-C250-7524-2D037AFFAAC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53586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5EEB1DB6-D554-F46E-BF18-2EF32C38355A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4653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5EEB1DB6-D554-F46E-BF18-2EF32C38355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46532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0E6AD43A-0C05-5B07-5C6E-D66CA2266A17}"/>
                </a:ext>
              </a:extLst>
            </p:cNvPr>
            <p:cNvCxnSpPr>
              <a:cxnSpLocks/>
              <a:stCxn id="55" idx="0"/>
            </p:cNvCxnSpPr>
            <p:nvPr/>
          </p:nvCxnSpPr>
          <p:spPr>
            <a:xfrm flipV="1">
              <a:off x="4511399" y="4241954"/>
              <a:ext cx="0" cy="38943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F84839D8-1FE8-558D-F04D-CEBF12FBE230}"/>
                    </a:ext>
                  </a:extLst>
                </p:cNvPr>
                <p:cNvSpPr txBox="1"/>
                <p:nvPr/>
              </p:nvSpPr>
              <p:spPr>
                <a:xfrm>
                  <a:off x="4334939" y="3086237"/>
                  <a:ext cx="41594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F84839D8-1FE8-558D-F04D-CEBF12FBE23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34939" y="3086237"/>
                  <a:ext cx="415947" cy="369332"/>
                </a:xfrm>
                <a:prstGeom prst="rect">
                  <a:avLst/>
                </a:prstGeom>
                <a:blipFill>
                  <a:blip r:embed="rId12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92369925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8538</TotalTime>
  <Words>2126</Words>
  <Application>Microsoft Office PowerPoint</Application>
  <PresentationFormat>Widescreen</PresentationFormat>
  <Paragraphs>385</Paragraphs>
  <Slides>44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51" baseType="lpstr">
      <vt:lpstr>Arial</vt:lpstr>
      <vt:lpstr>Calibri</vt:lpstr>
      <vt:lpstr>Calibri Light</vt:lpstr>
      <vt:lpstr>Cambria Math</vt:lpstr>
      <vt:lpstr>Courier New</vt:lpstr>
      <vt:lpstr>Wingdings</vt:lpstr>
      <vt:lpstr>Tema do Office</vt:lpstr>
      <vt:lpstr>C24 – Inteligência Artificial: Redes neurais recorrentes</vt:lpstr>
      <vt:lpstr>Motivação</vt:lpstr>
      <vt:lpstr>Aplicações</vt:lpstr>
      <vt:lpstr>Limitação de redes tradicionais</vt:lpstr>
      <vt:lpstr>PowerPoint Presentation</vt:lpstr>
      <vt:lpstr>Redes recorrentes</vt:lpstr>
      <vt:lpstr>Redes recorrentes</vt:lpstr>
      <vt:lpstr>PowerPoint Presentation</vt:lpstr>
      <vt:lpstr>Neurônio (ou célula) recorrente</vt:lpstr>
      <vt:lpstr>Neurônio recorrente</vt:lpstr>
      <vt:lpstr>Atualização do estado e geração da saída</vt:lpstr>
      <vt:lpstr>Desdobrando uma RNN</vt:lpstr>
      <vt:lpstr>Desdobrando uma RNN</vt:lpstr>
      <vt:lpstr>Treinando uma RNN</vt:lpstr>
      <vt:lpstr>Treinando uma RNN</vt:lpstr>
      <vt:lpstr>Backpropagation Through Time (BPTT)</vt:lpstr>
      <vt:lpstr>Backpropagation Through Time (BPTT)</vt:lpstr>
      <vt:lpstr>Desaparecimento e explosão do gradiente</vt:lpstr>
      <vt:lpstr>Desaparecimento e explosão do gradiente</vt:lpstr>
      <vt:lpstr>Como mitigar esses problemas?</vt:lpstr>
      <vt:lpstr>O problema das dependências de longo prazo</vt:lpstr>
      <vt:lpstr>O problema das dependências de longo prazo</vt:lpstr>
      <vt:lpstr>O problema das dependências de longo prazo</vt:lpstr>
      <vt:lpstr>O problema das dependências de longo prazo</vt:lpstr>
      <vt:lpstr>Long-short term memory</vt:lpstr>
      <vt:lpstr>Long-short term memory</vt:lpstr>
      <vt:lpstr>Estado da célula e portas</vt:lpstr>
      <vt:lpstr>Porta de esquecimento</vt:lpstr>
      <vt:lpstr>PowerPoint Presentation</vt:lpstr>
      <vt:lpstr>PowerPoint Presentation</vt:lpstr>
      <vt:lpstr>Motivação para LSTM</vt:lpstr>
      <vt:lpstr>PowerPoint Presentation</vt:lpstr>
      <vt:lpstr>Variantes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1779</cp:revision>
  <dcterms:created xsi:type="dcterms:W3CDTF">2020-01-20T13:50:05Z</dcterms:created>
  <dcterms:modified xsi:type="dcterms:W3CDTF">2026-03-25T20:26:13Z</dcterms:modified>
</cp:coreProperties>
</file>