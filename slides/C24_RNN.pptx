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1"/>
  </p:notesMasterIdLst>
  <p:handoutMasterIdLst>
    <p:handoutMasterId r:id="rId102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352" r:id="rId45"/>
    <p:sldId id="649" r:id="rId46"/>
    <p:sldId id="355" r:id="rId47"/>
    <p:sldId id="650" r:id="rId48"/>
    <p:sldId id="655" r:id="rId49"/>
    <p:sldId id="376" r:id="rId50"/>
    <p:sldId id="616" r:id="rId51"/>
    <p:sldId id="659" r:id="rId52"/>
    <p:sldId id="660" r:id="rId53"/>
    <p:sldId id="656" r:id="rId54"/>
    <p:sldId id="358" r:id="rId55"/>
    <p:sldId id="362" r:id="rId56"/>
    <p:sldId id="591" r:id="rId57"/>
    <p:sldId id="365" r:id="rId58"/>
    <p:sldId id="366" r:id="rId59"/>
    <p:sldId id="367" r:id="rId60"/>
    <p:sldId id="642" r:id="rId61"/>
    <p:sldId id="368" r:id="rId62"/>
    <p:sldId id="371" r:id="rId63"/>
    <p:sldId id="603" r:id="rId64"/>
    <p:sldId id="381" r:id="rId65"/>
    <p:sldId id="662" r:id="rId66"/>
    <p:sldId id="664" r:id="rId67"/>
    <p:sldId id="663" r:id="rId68"/>
    <p:sldId id="594" r:id="rId69"/>
    <p:sldId id="658" r:id="rId70"/>
    <p:sldId id="595" r:id="rId71"/>
    <p:sldId id="596" r:id="rId72"/>
    <p:sldId id="597" r:id="rId73"/>
    <p:sldId id="598" r:id="rId74"/>
    <p:sldId id="599" r:id="rId75"/>
    <p:sldId id="624" r:id="rId76"/>
    <p:sldId id="600" r:id="rId77"/>
    <p:sldId id="588" r:id="rId78"/>
    <p:sldId id="589" r:id="rId79"/>
    <p:sldId id="293" r:id="rId80"/>
    <p:sldId id="306" r:id="rId81"/>
    <p:sldId id="335" r:id="rId82"/>
    <p:sldId id="590" r:id="rId83"/>
    <p:sldId id="608" r:id="rId84"/>
    <p:sldId id="330" r:id="rId85"/>
    <p:sldId id="340" r:id="rId86"/>
    <p:sldId id="348" r:id="rId87"/>
    <p:sldId id="350" r:id="rId88"/>
    <p:sldId id="353" r:id="rId89"/>
    <p:sldId id="354" r:id="rId90"/>
    <p:sldId id="373" r:id="rId91"/>
    <p:sldId id="647" r:id="rId92"/>
    <p:sldId id="357" r:id="rId93"/>
    <p:sldId id="359" r:id="rId94"/>
    <p:sldId id="592" r:id="rId95"/>
    <p:sldId id="363" r:id="rId96"/>
    <p:sldId id="364" r:id="rId97"/>
    <p:sldId id="654" r:id="rId98"/>
    <p:sldId id="369" r:id="rId99"/>
    <p:sldId id="370" r:id="rId10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4140" autoAdjust="0"/>
  </p:normalViewPr>
  <p:slideViewPr>
    <p:cSldViewPr snapToGrid="0">
      <p:cViewPr varScale="1">
        <p:scale>
          <a:sx n="62" d="100"/>
          <a:sy n="62" d="100"/>
        </p:scale>
        <p:origin x="1218" y="4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microsoft.com/office/2016/11/relationships/changesInfo" Target="changesInfos/changesInfo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presProps" Target="presProps.xml"/><Relationship Id="rId108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17/05/2026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=""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9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chine-learning/gated-recurrent-unit-networks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55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1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0.png"/><Relationship Id="rId3" Type="http://schemas.openxmlformats.org/officeDocument/2006/relationships/image" Target="../media/image1280.png"/><Relationship Id="rId7" Type="http://schemas.openxmlformats.org/officeDocument/2006/relationships/image" Target="../media/image130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0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0.png"/><Relationship Id="rId7" Type="http://schemas.openxmlformats.org/officeDocument/2006/relationships/image" Target="../media/image130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0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=""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=""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=""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=""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=""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=""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−2]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=""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tradicional processa uma sequência muito longa, ela se esquece gradualmente das primeiras amostras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=""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O TBPTT </a:t>
            </a:r>
            <a:r>
              <a:rPr lang="pt-BR" b="1" dirty="0"/>
              <a:t>também limita o aprendizado de longo prazo</a:t>
            </a:r>
            <a:r>
              <a:rPr lang="pt-BR" dirty="0"/>
              <a:t>, pois impõe um horizonte máximo para a retropropagação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: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, i.e., a informação relevante está a poucos passos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  <a:p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treinamento, o erro precisa ser retropropagado por apenas alguns instantes temporais.</a:t>
            </a:r>
          </a:p>
          <a:p>
            <a:r>
              <a:rPr lang="pt-BR" dirty="0"/>
              <a:t>Porém, em muitas aplicações, a informação importante pode estar muito distante na sequência.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7810" y="1825624"/>
            <a:ext cx="5884189" cy="5032375"/>
          </a:xfrm>
        </p:spPr>
        <p:txBody>
          <a:bodyPr>
            <a:normAutofit/>
          </a:bodyPr>
          <a:lstStyle/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uma informação muito antiga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erro precisa ser </a:t>
            </a:r>
            <a:r>
              <a:rPr lang="pt-BR" dirty="0" err="1"/>
              <a:t>retropropagado</a:t>
            </a:r>
            <a:r>
              <a:rPr lang="pt-BR" dirty="0"/>
              <a:t> por vários instantes de tempo,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Quanto maior a distância temporal, mais difícil é para a RNN manter a informação relevante.</a:t>
            </a:r>
          </a:p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tradicionais têm dificuldade em preservar informações por muitos passos temporais.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por muito mais tempo?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resolver o problema das dependências de longo prazo, causado pelo desaparecimento ou explosão do gradiente, foram propostas arquiteturas com mecanismos de memória: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criam caminhos ao longo do tempo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controlar: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informações devem ser armazenadas (o que lembrar).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esquecidas.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utilizadas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=""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=""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="" xmlns:a16="http://schemas.microsoft.com/office/drawing/2014/main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="" xmlns:a16="http://schemas.microsoft.com/office/drawing/2014/main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="" xmlns:a16="http://schemas.microsoft.com/office/drawing/2014/main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="" xmlns:a16="http://schemas.microsoft.com/office/drawing/2014/main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="" xmlns:a16="http://schemas.microsoft.com/office/drawing/2014/main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="" xmlns:a16="http://schemas.microsoft.com/office/drawing/2014/main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="" xmlns:a16="http://schemas.microsoft.com/office/drawing/2014/main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da célula.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 r="-1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=""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esquecimento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entrada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saída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lidas e fornecidas como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neste passo de tempo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 rotWithShape="0">
                <a:blip r:embed="rId3"/>
                <a:stretch>
                  <a:fillRect l="-1701" t="-1937" r="-1985" b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="" xmlns:a16="http://schemas.microsoft.com/office/drawing/2014/main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="" xmlns:a16="http://schemas.microsoft.com/office/drawing/2014/main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="" xmlns:a16="http://schemas.microsoft.com/office/drawing/2014/main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="" xmlns:a16="http://schemas.microsoft.com/office/drawing/2014/main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="" xmlns:a16="http://schemas.microsoft.com/office/drawing/2014/main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densas com função de ativação sigmoide da célula LSTM.</a:t>
                </a:r>
              </a:p>
              <a:p>
                <a:r>
                  <a:rPr lang="pt-BR" dirty="0"/>
                  <a:t>A camada gera um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elementos assumindo valores entre 0 e 1.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o quanto da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isso a porta decide (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 rotWithShape="0">
                <a:blip r:embed="rId3"/>
                <a:stretch>
                  <a:fillRect l="-154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=""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=""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=""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=""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=""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=""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=""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Uma nova informação é armazenada na célula sempre que um elemento da porta de entrada tender a 1.</a:t>
            </a:r>
          </a:p>
          <a:p>
            <a:r>
              <a:rPr lang="pt-BR" dirty="0"/>
              <a:t>Uma informação de longo prazo é descartada da célula sempre que um elemento da porta de esquecimento tender a 0.</a:t>
            </a:r>
          </a:p>
          <a:p>
            <a:r>
              <a:rPr lang="pt-BR" dirty="0"/>
              <a:t>Uma informação de longo prazo é lida da célula sempre que um elemento da porta de saída tender a 1.</a:t>
            </a:r>
          </a:p>
          <a:p>
            <a:r>
              <a:rPr lang="pt-BR" dirty="0"/>
              <a:t>Em resumo, uma célula LSTM aprende a reconhecer uma informação importante, armazená-la no estado de longo prazo, preservá-la pelo tempo que for </a:t>
            </a:r>
            <a:r>
              <a:rPr lang="pt-BR"/>
              <a:t>necessário e </a:t>
            </a:r>
            <a:r>
              <a:rPr lang="pt-BR" dirty="0"/>
              <a:t>extraí-la sempre que necessário.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estado interno da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/>
                  <a:t>No entanto, as portas de entrada e de esquecimento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flexibilidade de aprender quando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  <a:blipFill>
                <a:blip r:embed="rId2"/>
                <a:stretch>
                  <a:fillRect l="-1626" t="-2663" r="-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="" xmlns:a16="http://schemas.microsoft.com/office/drawing/2014/main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="" xmlns:a16="http://schemas.microsoft.com/office/drawing/2014/main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="" xmlns:a16="http://schemas.microsoft.com/office/drawing/2014/main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="" xmlns:a16="http://schemas.microsoft.com/office/drawing/2014/main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="" xmlns:a16="http://schemas.microsoft.com/office/drawing/2014/main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="" xmlns:a16="http://schemas.microsoft.com/office/drawing/2014/main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="" xmlns:a16="http://schemas.microsoft.com/office/drawing/2014/main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/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sem inibição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>
                <a:blip r:embed="rId2"/>
                <a:stretch>
                  <a:fillRect l="-1708" t="-1937" r="-27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="" xmlns:a16="http://schemas.microsoft.com/office/drawing/2014/main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="" xmlns:a16="http://schemas.microsoft.com/office/drawing/2014/main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="" xmlns:a16="http://schemas.microsoft.com/office/drawing/2014/main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="" xmlns:a16="http://schemas.microsoft.com/office/drawing/2014/main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="" xmlns:a16="http://schemas.microsoft.com/office/drawing/2014/main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="" xmlns:a16="http://schemas.microsoft.com/office/drawing/2014/main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="" xmlns:a16="http://schemas.microsoft.com/office/drawing/2014/main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1100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=""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entrada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</a:t>
                </a:r>
                <a:r>
                  <a:rPr lang="pt-BR" dirty="0" smtClean="0"/>
                  <a:t>(totalmente ou parcialmente) no </a:t>
                </a:r>
                <a:r>
                  <a:rPr lang="pt-BR" dirty="0"/>
                  <a:t>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</a:t>
                </a:r>
                <a:r>
                  <a:rPr lang="pt-BR" dirty="0" smtClean="0"/>
                  <a:t>de </a:t>
                </a:r>
                <a:r>
                  <a:rPr lang="pt-BR" dirty="0"/>
                  <a:t>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 rotWithShape="0"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</a:t>
                </a:r>
                <a:r>
                  <a:rPr lang="pt-BR" dirty="0" smtClean="0"/>
                  <a:t>do que as </a:t>
                </a:r>
                <a:r>
                  <a:rPr lang="pt-BR" dirty="0" err="1" smtClean="0"/>
                  <a:t>RNNs</a:t>
                </a:r>
                <a:r>
                  <a:rPr lang="pt-BR" dirty="0"/>
                  <a:t> </a:t>
                </a:r>
                <a:r>
                  <a:rPr lang="pt-BR" dirty="0" smtClean="0"/>
                  <a:t>tradicionais.</a:t>
                </a:r>
                <a:endParaRPr lang="pt-BR" dirty="0"/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</a:t>
                </a:r>
                <a:r>
                  <a:rPr lang="pt-BR" dirty="0" smtClean="0"/>
                  <a:t>GPU.</a:t>
                </a:r>
                <a:endParaRPr lang="pt-BR" dirty="0"/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 smtClean="0"/>
                  <a:t>attention.</a:t>
                </a:r>
                <a:endParaRPr lang="en-US" i="1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 smtClean="0"/>
                  <a:t>elhor</a:t>
                </a:r>
                <a:r>
                  <a:rPr lang="pt-BR" dirty="0" smtClean="0"/>
                  <a:t> paralelização </a:t>
                </a:r>
                <a:r>
                  <a:rPr lang="pt-BR" dirty="0"/>
                  <a:t>e capturam de dependências </a:t>
                </a:r>
                <a:r>
                  <a:rPr lang="pt-BR" dirty="0" smtClean="0"/>
                  <a:t>globais.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0CC6145-8996-89DD-159B-03716E37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GRUs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7B9C5FB-79E3-59EE-FDA7-C5472E668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en-US" sz="4400" b="1" dirty="0">
                <a:solidFill>
                  <a:srgbClr val="FF0000"/>
                </a:solidFill>
              </a:rPr>
              <a:t>4. Gated Recurrent Units (GRUs)</a:t>
            </a:r>
          </a:p>
          <a:p>
            <a:pPr fontAlgn="base"/>
            <a:r>
              <a:rPr lang="en-US" sz="44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Gated Recurrent Units (GRUs) </a:t>
            </a:r>
            <a:r>
              <a:rPr lang="en-US" sz="4400" dirty="0">
                <a:solidFill>
                  <a:srgbClr val="FF0000"/>
                </a:solidFill>
              </a:rPr>
              <a:t>simplify LSTMs by combining the input and forget gates into a single update gate and streamlining the output mechanism. This design is computationally efficient, often performing similarly to LSTMs and is useful in tasks where simplicity and faster training are beneficial.</a:t>
            </a:r>
          </a:p>
          <a:p>
            <a:endParaRPr lang="en-US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5825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não-linear para 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novo estado da célula passa por uma função </a:t>
                </a:r>
                <a:r>
                  <a:rPr lang="pt-BR" dirty="0" err="1"/>
                  <a:t>tanh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de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de 1. </a:t>
                </a:r>
              </a:p>
              <a:p>
                <a:r>
                  <a:rPr lang="pt-BR" dirty="0"/>
                  <a:t>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58" y="3177798"/>
            <a:ext cx="4689828" cy="232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as células LSTM e GRU modificam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por meio de um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contém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atualizado usando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/>
                  <a:t> permite que os gradientes retrocedam no tempo sem necessariamente desaparecer.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  <a:blipFill>
                <a:blip r:embed="rId2"/>
                <a:stretch>
                  <a:fillRect l="-161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385C46CB-56B7-5DD1-52FD-87B9D73E99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28149"/>
            <a:ext cx="3888430" cy="239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Assim como nas </a:t>
                </a:r>
                <a:r>
                  <a:rPr lang="pt-BR" dirty="0" err="1"/>
                  <a:t>RNNs</a:t>
                </a:r>
                <a:r>
                  <a:rPr lang="pt-BR" dirty="0"/>
                  <a:t> tradicionais </a:t>
                </a:r>
                <a:r>
                  <a:rPr lang="pt-BR" dirty="0" smtClean="0"/>
                  <a:t>há um </a:t>
                </a:r>
                <a:r>
                  <a:rPr lang="pt-BR" dirty="0"/>
                  <a:t>termo recursivo envolvendo </a:t>
                </a:r>
                <a:r>
                  <a:rPr lang="pt-BR" dirty="0" smtClean="0"/>
                  <a:t>a derivada parcial do </a:t>
                </a:r>
                <a:r>
                  <a:rPr lang="pt-BR" dirty="0"/>
                  <a:t>estado </a:t>
                </a:r>
                <a:r>
                  <a:rPr lang="pt-BR" dirty="0" smtClean="0"/>
                  <a:t>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 smtClean="0"/>
                  <a:t>nas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 </a:t>
                </a:r>
                <a:r>
                  <a:rPr lang="pt-BR" dirty="0" smtClean="0"/>
                  <a:t>há um </a:t>
                </a:r>
                <a:r>
                  <a:rPr lang="pt-BR" dirty="0"/>
                  <a:t>termo recorrente envolvendo </a:t>
                </a:r>
                <a:r>
                  <a:rPr lang="pt-BR" dirty="0" smtClean="0"/>
                  <a:t>a derivada do </a:t>
                </a:r>
                <a:r>
                  <a:rPr lang="pt-BR" dirty="0"/>
                  <a:t>estado interno da </a:t>
                </a:r>
                <a:r>
                  <a:rPr lang="pt-BR" dirty="0" smtClean="0"/>
                  <a:t>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 smtClean="0"/>
              </a:p>
              <a:p>
                <a:r>
                  <a:rPr lang="pt-BR" dirty="0" smtClean="0"/>
                  <a:t>Esse termo é função </a:t>
                </a:r>
                <a:r>
                  <a:rPr lang="pt-BR" dirty="0"/>
                  <a:t>dos </a:t>
                </a:r>
                <a:r>
                  <a:rPr lang="pt-BR" dirty="0" smtClean="0"/>
                  <a:t>vetores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  <a:blipFill rotWithShape="0">
                <a:blip r:embed="rId2"/>
                <a:stretch>
                  <a:fillRect l="-1799" t="-1937" r="-1978" b="-290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385C46CB-56B7-5DD1-52FD-87B9D73E99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28149"/>
            <a:ext cx="3888430" cy="239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7649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9143CF0-9F49-DAEC-18D2-77BFC9144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80325E21-C66F-5A89-71B4-232BE482D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800" b="1" dirty="0">
                <a:solidFill>
                  <a:srgbClr val="FF0000"/>
                </a:solidFill>
              </a:rPr>
              <a:t>Melhorar e integrar dos dois slides na sequência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965952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77E5298F-0274-DB9E-3AE4-1B71C47C5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3237" y="1825625"/>
            <a:ext cx="6645349" cy="5032376"/>
          </a:xfrm>
        </p:spPr>
        <p:txBody>
          <a:bodyPr>
            <a:normAutofit fontScale="92500" lnSpcReduction="10000"/>
          </a:bodyPr>
          <a:lstStyle/>
          <a:p>
            <a:r>
              <a:rPr lang="pt-BR" dirty="0" smtClean="0"/>
              <a:t>A rede aprende a configurar os valores desses vetores de forma </a:t>
            </a:r>
            <a:r>
              <a:rPr lang="pt-BR" dirty="0"/>
              <a:t>a deixar o gradiente desaparecer e quando preservá-lo, ajustando os valores das portas.</a:t>
            </a:r>
          </a:p>
          <a:p>
            <a:endParaRPr lang="pt-BR" dirty="0" smtClean="0"/>
          </a:p>
          <a:p>
            <a:endParaRPr lang="pt-BR" dirty="0"/>
          </a:p>
          <a:p>
            <a:r>
              <a:rPr lang="pt-BR" dirty="0" smtClean="0">
                <a:solidFill>
                  <a:srgbClr val="FF0000"/>
                </a:solidFill>
              </a:rPr>
              <a:t>Esses </a:t>
            </a:r>
            <a:r>
              <a:rPr lang="pt-BR" dirty="0">
                <a:solidFill>
                  <a:srgbClr val="FF0000"/>
                </a:solidFill>
              </a:rPr>
              <a:t>4 </a:t>
            </a:r>
            <a:r>
              <a:rPr lang="pt-BR" dirty="0" smtClean="0">
                <a:solidFill>
                  <a:srgbClr val="FF0000"/>
                </a:solidFill>
              </a:rPr>
              <a:t>vetores são </a:t>
            </a:r>
            <a:r>
              <a:rPr lang="pt-BR" dirty="0">
                <a:solidFill>
                  <a:srgbClr val="FF0000"/>
                </a:solidFill>
              </a:rPr>
              <a:t>configurações que a rede aprende a definir.</a:t>
            </a:r>
          </a:p>
          <a:p>
            <a:r>
              <a:rPr lang="pt-BR" dirty="0">
                <a:solidFill>
                  <a:srgbClr val="FF0000"/>
                </a:solidFill>
              </a:rPr>
              <a:t>Dessa forma, a rede aprende a decidir quando deixar o gradiente desaparecer e quando preservá-lo, ajustando os valores das portas.</a:t>
            </a:r>
          </a:p>
          <a:p>
            <a:r>
              <a:rPr lang="pt-BR" dirty="0">
                <a:solidFill>
                  <a:srgbClr val="FF0000"/>
                </a:solidFill>
              </a:rPr>
              <a:t>Assim, as portas permitem que a rede decida o que guardar e o que descartar.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=""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385C46CB-56B7-5DD1-52FD-87B9D73E99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28149"/>
            <a:ext cx="3888430" cy="239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7897FA8-995E-6E5C-E176-9980DDAF5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C67D99B-33D2-086E-BF94-57B852357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 célula mantém a memória de longo prazo?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33FD33B3-EF62-AB89-F38A-0DAD602CF5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72163" y="1825624"/>
                <a:ext cx="61864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principal vantagem vem da derivada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 derivada de 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informação</a:t>
                </a:r>
                <a:r>
                  <a:rPr lang="pt-BR" dirty="0"/>
                  <a:t> pode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fluir ao longo da célula</a:t>
                </a:r>
                <a:r>
                  <a:rPr lang="pt-BR" dirty="0"/>
                  <a:t> de memória </a:t>
                </a:r>
                <a:r>
                  <a:rPr lang="pt-BR" b="1" dirty="0">
                    <a:solidFill>
                      <a:srgbClr val="7030A0"/>
                    </a:solidFill>
                  </a:rPr>
                  <a:t>sem sofrer alterações, mitigando</a:t>
                </a:r>
                <a:r>
                  <a:rPr lang="pt-BR" dirty="0"/>
                  <a:t> </a:t>
                </a:r>
                <a:r>
                  <a:rPr lang="pt-BR"/>
                  <a:t>o problema do </a:t>
                </a:r>
                <a:r>
                  <a:rPr lang="pt-BR" dirty="0"/>
                  <a:t>desaparecimento do gradiente.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FD33B3-EF62-AB89-F38A-0DAD602CF5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72163" y="1825624"/>
                <a:ext cx="6186488" cy="5032375"/>
              </a:xfrm>
              <a:blipFill>
                <a:blip r:embed="rId2"/>
                <a:stretch>
                  <a:fillRect l="-177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505517BC-4356-F71D-48AB-B991F64844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53554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=""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=""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=""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=""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=""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=""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=""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=""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=""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=""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=""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=""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=""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=""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=""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=""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=""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=""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=""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=""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=""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=""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=""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=""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=""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=""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=""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=""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=""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=""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=""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=""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=""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=""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=""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=""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=""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=""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=""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=""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=""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=""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=""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=""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=""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=""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=""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=""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=""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=""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=""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=""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=""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=""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=""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=""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=""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=""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=""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=""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=""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=""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=""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=""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=""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=""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=""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=""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=""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=""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=""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=""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=""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=""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=""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=""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=""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=""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=""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=""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=""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=""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=""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=""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=""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=""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=""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=""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=""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=""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=""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=""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=""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=""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=""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=""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=""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=""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=""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=""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=""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=""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=""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=""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=""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=""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=""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=""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=""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=""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=""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=""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=""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=""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=""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=""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=""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=""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=""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=""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=""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=""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=""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=""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=""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=""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=""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=""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=""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=""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=""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=""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=""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=""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=""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=""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=""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=""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=""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=""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=""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=""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=""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=""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=""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=""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=""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=""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=""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=""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=""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=""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=""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=""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=""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=""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=""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=""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=""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=""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=""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=""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=""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=""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=""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=""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=""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=""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=""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=""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=""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=""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=""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=""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=""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=""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=""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=""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=""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=""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=""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=""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=""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=""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=""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=""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=""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=""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=""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=""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=""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=""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=""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=""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=""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=""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=""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=""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=""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=""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=""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=""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=""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=""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=""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=""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=""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=""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=""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=""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=""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=""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=""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=""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=""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=""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=""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=""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=""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=""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=""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=""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=""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=""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=""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=""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=""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=""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=""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=""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=""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=""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=""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=""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=""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=""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=""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=""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=""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=""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=""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=""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=""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=""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=""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=""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=""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=""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=""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=""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="" xmlns:a16="http://schemas.microsoft.com/office/drawing/2014/main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="" xmlns:a16="http://schemas.microsoft.com/office/drawing/2014/main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="" xmlns:a16="http://schemas.microsoft.com/office/drawing/2014/main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="" xmlns:a16="http://schemas.microsoft.com/office/drawing/2014/main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="" xmlns:a16="http://schemas.microsoft.com/office/drawing/2014/main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="" xmlns:a16="http://schemas.microsoft.com/office/drawing/2014/main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="" xmlns:a16="http://schemas.microsoft.com/office/drawing/2014/main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="" xmlns:a16="http://schemas.microsoft.com/office/drawing/2014/main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="" xmlns:a16="http://schemas.microsoft.com/office/drawing/2014/main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="" xmlns:a16="http://schemas.microsoft.com/office/drawing/2014/main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="" xmlns:a16="http://schemas.microsoft.com/office/drawing/2014/main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="" xmlns:a16="http://schemas.microsoft.com/office/drawing/2014/main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="" xmlns:a16="http://schemas.microsoft.com/office/drawing/2014/main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="" xmlns:a16="http://schemas.microsoft.com/office/drawing/2014/main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="" xmlns:a16="http://schemas.microsoft.com/office/drawing/2014/main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="" xmlns:a16="http://schemas.microsoft.com/office/drawing/2014/main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="" xmlns:a16="http://schemas.microsoft.com/office/drawing/2014/main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="" xmlns:a16="http://schemas.microsoft.com/office/drawing/2014/main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="" xmlns:a16="http://schemas.microsoft.com/office/drawing/2014/main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="" xmlns:a16="http://schemas.microsoft.com/office/drawing/2014/main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="" xmlns:a16="http://schemas.microsoft.com/office/drawing/2014/main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="" xmlns:a16="http://schemas.microsoft.com/office/drawing/2014/main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="" xmlns:a16="http://schemas.microsoft.com/office/drawing/2014/main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="" xmlns:a16="http://schemas.microsoft.com/office/drawing/2014/main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="" xmlns:a16="http://schemas.microsoft.com/office/drawing/2014/main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="" xmlns:a16="http://schemas.microsoft.com/office/drawing/2014/main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="" xmlns:a16="http://schemas.microsoft.com/office/drawing/2014/main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="" xmlns:a16="http://schemas.microsoft.com/office/drawing/2014/main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="" xmlns:a16="http://schemas.microsoft.com/office/drawing/2014/main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="" xmlns:a16="http://schemas.microsoft.com/office/drawing/2014/main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="" xmlns:a16="http://schemas.microsoft.com/office/drawing/2014/main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="" xmlns:a16="http://schemas.microsoft.com/office/drawing/2014/main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="" xmlns:a16="http://schemas.microsoft.com/office/drawing/2014/main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="" xmlns:a16="http://schemas.microsoft.com/office/drawing/2014/main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="" xmlns:a16="http://schemas.microsoft.com/office/drawing/2014/main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="" xmlns:a16="http://schemas.microsoft.com/office/drawing/2014/main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="" xmlns:a16="http://schemas.microsoft.com/office/drawing/2014/main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="" xmlns:a16="http://schemas.microsoft.com/office/drawing/2014/main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="" xmlns:a16="http://schemas.microsoft.com/office/drawing/2014/main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="" xmlns:a16="http://schemas.microsoft.com/office/drawing/2014/main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="" xmlns:a16="http://schemas.microsoft.com/office/drawing/2014/main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="" xmlns:a16="http://schemas.microsoft.com/office/drawing/2014/main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="" xmlns:a16="http://schemas.microsoft.com/office/drawing/2014/main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="" xmlns:a16="http://schemas.microsoft.com/office/drawing/2014/main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="" xmlns:a16="http://schemas.microsoft.com/office/drawing/2014/main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="" xmlns:a16="http://schemas.microsoft.com/office/drawing/2014/main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="" xmlns:a16="http://schemas.microsoft.com/office/drawing/2014/main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="" xmlns:a16="http://schemas.microsoft.com/office/drawing/2014/main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="" xmlns:a16="http://schemas.microsoft.com/office/drawing/2014/main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="" xmlns:a16="http://schemas.microsoft.com/office/drawing/2014/main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="" xmlns:a16="http://schemas.microsoft.com/office/drawing/2014/main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="" xmlns:a16="http://schemas.microsoft.com/office/drawing/2014/main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="" xmlns:a16="http://schemas.microsoft.com/office/drawing/2014/main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="" xmlns:a16="http://schemas.microsoft.com/office/drawing/2014/main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="" xmlns:a16="http://schemas.microsoft.com/office/drawing/2014/main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250019"/>
            <a:chOff x="1975628" y="1834844"/>
            <a:chExt cx="7884560" cy="4250019"/>
          </a:xfrm>
        </p:grpSpPr>
        <p:grpSp>
          <p:nvGrpSpPr>
            <p:cNvPr id="43" name="Group 42">
              <a:extLst>
                <a:ext uri="{FF2B5EF4-FFF2-40B4-BE49-F238E27FC236}">
                  <a16:creationId xmlns="" xmlns:a16="http://schemas.microsoft.com/office/drawing/2014/main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="" xmlns:a16="http://schemas.microsoft.com/office/drawing/2014/main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="" xmlns:a16="http://schemas.microsoft.com/office/drawing/2014/main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="" xmlns:a16="http://schemas.microsoft.com/office/drawing/2014/main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="" xmlns:a16="http://schemas.microsoft.com/office/drawing/2014/main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="" xmlns:a16="http://schemas.microsoft.com/office/drawing/2014/main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="" xmlns:a16="http://schemas.microsoft.com/office/drawing/2014/main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="" xmlns:a16="http://schemas.microsoft.com/office/drawing/2014/main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="" xmlns:a16="http://schemas.microsoft.com/office/drawing/2014/main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="" xmlns:a16="http://schemas.microsoft.com/office/drawing/2014/main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="" xmlns:a16="http://schemas.microsoft.com/office/drawing/2014/main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="" xmlns:a16="http://schemas.microsoft.com/office/drawing/2014/main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="" xmlns:a16="http://schemas.microsoft.com/office/drawing/2014/main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="" xmlns:a16="http://schemas.microsoft.com/office/drawing/2014/main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="" xmlns:a16="http://schemas.microsoft.com/office/drawing/2014/main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="" xmlns:a16="http://schemas.microsoft.com/office/drawing/2014/main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="" xmlns:a16="http://schemas.microsoft.com/office/drawing/2014/main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="" xmlns:a16="http://schemas.microsoft.com/office/drawing/2014/main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="" xmlns:a16="http://schemas.microsoft.com/office/drawing/2014/main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="" xmlns:a16="http://schemas.microsoft.com/office/drawing/2014/main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="" xmlns:a16="http://schemas.microsoft.com/office/drawing/2014/main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="" xmlns:a16="http://schemas.microsoft.com/office/drawing/2014/main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="" xmlns:a16="http://schemas.microsoft.com/office/drawing/2014/main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="" xmlns:a16="http://schemas.microsoft.com/office/drawing/2014/main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="" xmlns:a16="http://schemas.microsoft.com/office/drawing/2014/main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="" xmlns:a16="http://schemas.microsoft.com/office/drawing/2014/main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="" xmlns:a16="http://schemas.microsoft.com/office/drawing/2014/main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="" xmlns:a16="http://schemas.microsoft.com/office/drawing/2014/main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="" xmlns:a16="http://schemas.microsoft.com/office/drawing/2014/main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="" xmlns:a16="http://schemas.microsoft.com/office/drawing/2014/main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="" xmlns:a16="http://schemas.microsoft.com/office/drawing/2014/main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="" xmlns:a16="http://schemas.microsoft.com/office/drawing/2014/main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="" xmlns:a16="http://schemas.microsoft.com/office/drawing/2014/main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="" xmlns:a16="http://schemas.microsoft.com/office/drawing/2014/main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="" xmlns:a16="http://schemas.microsoft.com/office/drawing/2014/main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="" xmlns:a16="http://schemas.microsoft.com/office/drawing/2014/main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="" xmlns:a16="http://schemas.microsoft.com/office/drawing/2014/main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="" xmlns:a16="http://schemas.microsoft.com/office/drawing/2014/main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=""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=""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=""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=""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24168" y="550239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=""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=""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=""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=""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=""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=""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=""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=""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=""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=""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=""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=""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=""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=""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=""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=""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=""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=""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=""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=""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=""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=""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=""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=""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=""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=""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=""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=""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=""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=""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=""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=""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=""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=""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=""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=""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=""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=""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=""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=""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=""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=""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=""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=""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=""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=""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=""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=""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=""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=""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=""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=""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=""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=""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=""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=""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=""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=""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=""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=""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=""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=""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=""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=""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=""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=""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=""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=""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=""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=""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=""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=""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=""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=""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=""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=""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=""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=""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=""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=""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=""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=""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=""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=""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=""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=""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=""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=""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=""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=""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=""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=""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11302</TotalTime>
  <Words>4678</Words>
  <Application>Microsoft Office PowerPoint</Application>
  <PresentationFormat>Widescreen</PresentationFormat>
  <Paragraphs>1026</Paragraphs>
  <Slides>99</Slides>
  <Notes>56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99</vt:i4>
      </vt:variant>
    </vt:vector>
  </HeadingPairs>
  <TitlesOfParts>
    <vt:vector size="10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Como as portas funcionam?</vt:lpstr>
      <vt:lpstr>Dinâmica das portas em uma célula LSTM</vt:lpstr>
      <vt:lpstr>Dinâmica das portas em uma célula LSTM</vt:lpstr>
      <vt:lpstr>Apresentação do PowerPoint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GRUs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Desaparecimento do gradiente</vt:lpstr>
      <vt:lpstr>Como a célula mantém a memória de longo prazo?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2145</cp:revision>
  <dcterms:created xsi:type="dcterms:W3CDTF">2020-01-20T13:50:05Z</dcterms:created>
  <dcterms:modified xsi:type="dcterms:W3CDTF">2026-05-17T23:09:10Z</dcterms:modified>
</cp:coreProperties>
</file>