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2"/>
  </p:notesMasterIdLst>
  <p:handoutMasterIdLst>
    <p:handoutMasterId r:id="rId103"/>
  </p:handoutMasterIdLst>
  <p:sldIdLst>
    <p:sldId id="256" r:id="rId2"/>
    <p:sldId id="315" r:id="rId3"/>
    <p:sldId id="316" r:id="rId4"/>
    <p:sldId id="325" r:id="rId5"/>
    <p:sldId id="605" r:id="rId6"/>
    <p:sldId id="308" r:id="rId7"/>
    <p:sldId id="674" r:id="rId8"/>
    <p:sldId id="317" r:id="rId9"/>
    <p:sldId id="326" r:id="rId10"/>
    <p:sldId id="606" r:id="rId11"/>
    <p:sldId id="328" r:id="rId12"/>
    <p:sldId id="329" r:id="rId13"/>
    <p:sldId id="607" r:id="rId14"/>
    <p:sldId id="620" r:id="rId15"/>
    <p:sldId id="334" r:id="rId16"/>
    <p:sldId id="622" r:id="rId17"/>
    <p:sldId id="332" r:id="rId18"/>
    <p:sldId id="609" r:id="rId19"/>
    <p:sldId id="610" r:id="rId20"/>
    <p:sldId id="627" r:id="rId21"/>
    <p:sldId id="625" r:id="rId22"/>
    <p:sldId id="618" r:id="rId23"/>
    <p:sldId id="633" r:id="rId24"/>
    <p:sldId id="338" r:id="rId25"/>
    <p:sldId id="630" r:id="rId26"/>
    <p:sldId id="631" r:id="rId27"/>
    <p:sldId id="611" r:id="rId28"/>
    <p:sldId id="341" r:id="rId29"/>
    <p:sldId id="612" r:id="rId30"/>
    <p:sldId id="637" r:id="rId31"/>
    <p:sldId id="638" r:id="rId32"/>
    <p:sldId id="344" r:id="rId33"/>
    <p:sldId id="345" r:id="rId34"/>
    <p:sldId id="640" r:id="rId35"/>
    <p:sldId id="342" r:id="rId36"/>
    <p:sldId id="613" r:id="rId37"/>
    <p:sldId id="601" r:id="rId38"/>
    <p:sldId id="623" r:id="rId39"/>
    <p:sldId id="346" r:id="rId40"/>
    <p:sldId id="347" r:id="rId41"/>
    <p:sldId id="643" r:id="rId42"/>
    <p:sldId id="349" r:id="rId43"/>
    <p:sldId id="351" r:id="rId44"/>
    <p:sldId id="645" r:id="rId45"/>
    <p:sldId id="352" r:id="rId46"/>
    <p:sldId id="649" r:id="rId47"/>
    <p:sldId id="355" r:id="rId48"/>
    <p:sldId id="650" r:id="rId49"/>
    <p:sldId id="376" r:id="rId50"/>
    <p:sldId id="655" r:id="rId51"/>
    <p:sldId id="616" r:id="rId52"/>
    <p:sldId id="673" r:id="rId53"/>
    <p:sldId id="659" r:id="rId54"/>
    <p:sldId id="660" r:id="rId55"/>
    <p:sldId id="358" r:id="rId56"/>
    <p:sldId id="362" r:id="rId57"/>
    <p:sldId id="365" r:id="rId58"/>
    <p:sldId id="591" r:id="rId59"/>
    <p:sldId id="366" r:id="rId60"/>
    <p:sldId id="367" r:id="rId61"/>
    <p:sldId id="669" r:id="rId62"/>
    <p:sldId id="368" r:id="rId63"/>
    <p:sldId id="668" r:id="rId64"/>
    <p:sldId id="671" r:id="rId65"/>
    <p:sldId id="672" r:id="rId66"/>
    <p:sldId id="670" r:id="rId67"/>
    <p:sldId id="603" r:id="rId68"/>
    <p:sldId id="381" r:id="rId69"/>
    <p:sldId id="662" r:id="rId70"/>
    <p:sldId id="667" r:id="rId71"/>
    <p:sldId id="595" r:id="rId72"/>
    <p:sldId id="596" r:id="rId73"/>
    <p:sldId id="597" r:id="rId74"/>
    <p:sldId id="598" r:id="rId75"/>
    <p:sldId id="599" r:id="rId76"/>
    <p:sldId id="600" r:id="rId77"/>
    <p:sldId id="588" r:id="rId78"/>
    <p:sldId id="589" r:id="rId79"/>
    <p:sldId id="293" r:id="rId80"/>
    <p:sldId id="306" r:id="rId81"/>
    <p:sldId id="335" r:id="rId82"/>
    <p:sldId id="590" r:id="rId83"/>
    <p:sldId id="608" r:id="rId84"/>
    <p:sldId id="330" r:id="rId85"/>
    <p:sldId id="340" r:id="rId86"/>
    <p:sldId id="348" r:id="rId87"/>
    <p:sldId id="350" r:id="rId88"/>
    <p:sldId id="353" r:id="rId89"/>
    <p:sldId id="354" r:id="rId90"/>
    <p:sldId id="373" r:id="rId91"/>
    <p:sldId id="647" r:id="rId92"/>
    <p:sldId id="357" r:id="rId93"/>
    <p:sldId id="359" r:id="rId94"/>
    <p:sldId id="592" r:id="rId95"/>
    <p:sldId id="363" r:id="rId96"/>
    <p:sldId id="364" r:id="rId97"/>
    <p:sldId id="654" r:id="rId98"/>
    <p:sldId id="369" r:id="rId99"/>
    <p:sldId id="370" r:id="rId100"/>
    <p:sldId id="675" r:id="rId101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CA41B-7398-400B-83DC-FDE8722EB923}" v="79" dt="2020-02-09T01:28:39.6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8" autoAdjust="0"/>
    <p:restoredTop sz="90678" autoAdjust="0"/>
  </p:normalViewPr>
  <p:slideViewPr>
    <p:cSldViewPr snapToGrid="0">
      <p:cViewPr varScale="1">
        <p:scale>
          <a:sx n="66" d="100"/>
          <a:sy n="66" d="100"/>
        </p:scale>
        <p:origin x="1056" y="78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tableStyles" Target="tableStyles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handoutMaster" Target="handoutMasters/handoutMaster1.xml"/><Relationship Id="rId108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microsoft.com/office/2016/11/relationships/changesInfo" Target="changesInfos/changesInfo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Augusto Pereira de Figueiredo" userId="e1771b70d906f94b" providerId="Windows Live" clId="Web-{B3FCA41B-7398-400B-83DC-FDE8722EB923}"/>
    <pc:docChg chg="modSld">
      <pc:chgData name="Felipe Augusto Pereira de Figueiredo" userId="e1771b70d906f94b" providerId="Windows Live" clId="Web-{B3FCA41B-7398-400B-83DC-FDE8722EB923}" dt="2020-02-09T01:40:38.055" v="257"/>
      <pc:docMkLst>
        <pc:docMk/>
      </pc:docMkLst>
      <pc:sldChg chg="modSp modNotes">
        <pc:chgData name="Felipe Augusto Pereira de Figueiredo" userId="e1771b70d906f94b" providerId="Windows Live" clId="Web-{B3FCA41B-7398-400B-83DC-FDE8722EB923}" dt="2020-02-09T01:26:20.191" v="45"/>
        <pc:sldMkLst>
          <pc:docMk/>
          <pc:sldMk cId="636059476" sldId="259"/>
        </pc:sldMkLst>
        <pc:spChg chg="mod">
          <ac:chgData name="Felipe Augusto Pereira de Figueiredo" userId="e1771b70d906f94b" providerId="Windows Live" clId="Web-{B3FCA41B-7398-400B-83DC-FDE8722EB923}" dt="2020-02-09T01:22:23.081" v="18" actId="1076"/>
          <ac:spMkLst>
            <pc:docMk/>
            <pc:sldMk cId="636059476" sldId="259"/>
            <ac:spMk id="3" creationId="{979D29AC-E01B-406F-AC75-55866B75A7CC}"/>
          </ac:spMkLst>
        </pc:spChg>
      </pc:sldChg>
      <pc:sldChg chg="modNotes">
        <pc:chgData name="Felipe Augusto Pereira de Figueiredo" userId="e1771b70d906f94b" providerId="Windows Live" clId="Web-{B3FCA41B-7398-400B-83DC-FDE8722EB923}" dt="2020-02-09T01:21:46.721" v="16"/>
        <pc:sldMkLst>
          <pc:docMk/>
          <pc:sldMk cId="248504461" sldId="267"/>
        </pc:sldMkLst>
      </pc:sldChg>
      <pc:sldChg chg="modSp modNotes">
        <pc:chgData name="Felipe Augusto Pereira de Figueiredo" userId="e1771b70d906f94b" providerId="Windows Live" clId="Web-{B3FCA41B-7398-400B-83DC-FDE8722EB923}" dt="2020-02-09T01:40:38.055" v="257"/>
        <pc:sldMkLst>
          <pc:docMk/>
          <pc:sldMk cId="2076219387" sldId="277"/>
        </pc:sldMkLst>
        <pc:spChg chg="mod">
          <ac:chgData name="Felipe Augusto Pereira de Figueiredo" userId="e1771b70d906f94b" providerId="Windows Live" clId="Web-{B3FCA41B-7398-400B-83DC-FDE8722EB923}" dt="2020-02-09T01:28:39.664" v="120" actId="14100"/>
          <ac:spMkLst>
            <pc:docMk/>
            <pc:sldMk cId="2076219387" sldId="277"/>
            <ac:spMk id="3" creationId="{5E0262E2-3A0F-4805-BCCB-6745237D1574}"/>
          </ac:spMkLst>
        </pc:spChg>
      </pc:sldChg>
    </pc:docChg>
  </pc:docChgLst>
  <pc:docChgLst>
    <pc:chgData name="Felipe Augusto Pereira de Figueiredo" userId="e1771b70d906f94b" providerId="Windows Live" clId="Web-{1FA475AF-6444-47C2-89B1-9776BABC0E66}"/>
    <pc:docChg chg="modSld">
      <pc:chgData name="Felipe Augusto Pereira de Figueiredo" userId="e1771b70d906f94b" providerId="Windows Live" clId="Web-{1FA475AF-6444-47C2-89B1-9776BABC0E66}" dt="2020-02-09T18:53:52.767" v="85"/>
      <pc:docMkLst>
        <pc:docMk/>
      </pc:docMkLst>
      <pc:sldChg chg="modNotes">
        <pc:chgData name="Felipe Augusto Pereira de Figueiredo" userId="e1771b70d906f94b" providerId="Windows Live" clId="Web-{1FA475AF-6444-47C2-89B1-9776BABC0E66}" dt="2020-02-09T18:53:52.767" v="85"/>
        <pc:sldMkLst>
          <pc:docMk/>
          <pc:sldMk cId="248504461" sldId="2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18/10/2026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1887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18296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81748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1417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DC9BA21-D8BC-1049-8F29-21ED16A8E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0C584FCD-2462-F8A2-1938-163C0709B9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3DB09072-013A-0614-ACA7-D012EF0DB6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A Flexibilidade da RNN:</a:t>
            </a:r>
            <a:r>
              <a:rPr lang="pt-BR" dirty="0"/>
              <a:t> Elas são projetadas para processar sequências de </a:t>
            </a:r>
            <a:r>
              <a:rPr lang="pt-BR" b="1" dirty="0"/>
              <a:t>comprimento variável</a:t>
            </a:r>
            <a:r>
              <a:rPr lang="pt-BR" dirty="0"/>
              <a:t>. Elas iteram sobre a sequência elemento por elemento, o que as torna ideais para tradução automática ou reconhecimento de fala.</a:t>
            </a:r>
          </a:p>
          <a:p>
            <a:endParaRPr lang="pt-BR" dirty="0"/>
          </a:p>
          <a:p>
            <a:r>
              <a:rPr lang="pt-BR" dirty="0"/>
              <a:t>De forma mais geral, as </a:t>
            </a:r>
            <a:r>
              <a:rPr lang="pt-BR" dirty="0" err="1"/>
              <a:t>RNNs</a:t>
            </a:r>
            <a:r>
              <a:rPr lang="pt-BR" dirty="0"/>
              <a:t> podem operar com sequências de comprimento arbitrário, em vez de entradas de tamanho fixo. Por exemplo, elas podem receber frases, documentos ou amostras de áudio como entrada, tornando-as extremamente úteis para aplicações de processamento de linguagem natural, como tradução automática ou reconhecimento de fala.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7CDC41C-7FEE-80DC-975E-EFA1C4B2ED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4897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418785D-4777-F14B-69C3-B6BAFCD38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45DDF803-A9A3-9633-2028-623E4F4F6C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5B8DD547-B2C7-7112-A7DE-ADDBBB01F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A Flexibilidade da RNN:</a:t>
            </a:r>
            <a:r>
              <a:rPr lang="pt-BR" dirty="0"/>
              <a:t> Elas são projetadas para processar sequências de </a:t>
            </a:r>
            <a:r>
              <a:rPr lang="pt-BR" b="1" dirty="0"/>
              <a:t>comprimento variável</a:t>
            </a:r>
            <a:r>
              <a:rPr lang="pt-BR" dirty="0"/>
              <a:t>. Elas iteram sobre a sequência elemento por elemento, o que as torna ideais para tradução automática ou reconhecimento de fala.</a:t>
            </a:r>
          </a:p>
          <a:p>
            <a:endParaRPr lang="pt-BR" dirty="0"/>
          </a:p>
          <a:p>
            <a:r>
              <a:rPr lang="pt-BR" dirty="0"/>
              <a:t>De forma mais geral, as </a:t>
            </a:r>
            <a:r>
              <a:rPr lang="pt-BR" dirty="0" err="1"/>
              <a:t>RNNs</a:t>
            </a:r>
            <a:r>
              <a:rPr lang="pt-BR" dirty="0"/>
              <a:t> podem operar com sequências de comprimento arbitrário, em vez de entradas de tamanho fixo. Por exemplo, elas podem receber frases, documentos ou amostras de áudio como entrada, tornando-as extremamente úteis para aplicações de processamento de linguagem natural, como tradução automática ou reconhecimento de fala.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B49C1D4-72A0-501C-3168-8B2BFC61F9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07777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06458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B08C83C-E5C2-59A6-3FC8-4E2D171F1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1D81688C-1D87-2F5A-4988-70044477EE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9600B931-26FB-6145-DA32-A111606D0B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902DE62-EF02-CB68-14EE-B0761BA33C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09294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27FFBCC-42BA-B539-3F67-3279DB213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A5431CD9-A853-64E7-A5E5-D3ECC95EE9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FAC67AC3-547A-D3B7-E0B8-941A9C4502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EF2FE16-CDFB-CD86-2334-D4869C4266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9551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1181A3B-733B-928E-1D84-1F64E3273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E3272983-0C6A-43FE-BA89-508E0B2125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AE2D7C08-7E68-409C-ED9B-AB35F3D740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6ED3A18-642E-C99A-850A-9619C8CAE3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64675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499F5C7-5805-714A-EEAF-1B426C0B7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0A6AF7C2-0C10-C2A5-74DF-5E146878EE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64F328DC-EA99-659D-C499-951EB30A4B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D342C4F-189E-6908-E236-D10BBFF53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55336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  <a:p>
            <a:r>
              <a:rPr lang="pt-BR" dirty="0"/>
              <a:t>[1] https://www.sintef.no/contentassets/9689621c8cda44d9b2bc91c5fba21135/bianchi.pdf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78841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6EADFEA-E95A-172D-702A-934274076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67AC315E-90E4-B26B-DD23-4038DAFE15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7BDD3B6A-D9DA-B9E1-FF00-029F9EB2C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  <a:p>
            <a:r>
              <a:rPr lang="pt-BR" dirty="0"/>
              <a:t>[1] https://www.sintef.no/contentassets/9689621c8cda44d9b2bc91c5fba21135/bianchi.pdf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55A26C4-FEAF-EF41-9345-35B39655AF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82653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A29DFDB-891A-E1E1-B52D-C6AEE82A0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A09A31C3-41B0-5F66-EB31-75D513FCF3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D4DE66F0-452A-52F2-65BD-1FF17CCD7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Isso transforma a RNN em algo parecido com uma rede profunda muito longa. </a:t>
            </a:r>
          </a:p>
          <a:p>
            <a:endParaRPr lang="pt-BR" dirty="0"/>
          </a:p>
          <a:p>
            <a:r>
              <a:rPr lang="pt-BR" dirty="0"/>
              <a:t>Referências</a:t>
            </a:r>
          </a:p>
          <a:p>
            <a:r>
              <a:rPr lang="pt-BR" dirty="0"/>
              <a:t>[1] https://www.sintef.no/contentassets/9689621c8cda44d9b2bc91c5fba21135/bianchi.pdf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16B5623-27E3-33B1-40FA-9BBE163816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54134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373F99E-96D4-E465-0481-26D4E9A59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3D81308E-10FA-7DC6-DD9D-04986B6059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087E0819-3FAB-6761-340F-977AD2419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  <a:p>
            <a:r>
              <a:rPr lang="pt-BR" dirty="0"/>
              <a:t>[1] https://www.sintef.no/contentassets/9689621c8cda44d9b2bc91c5fba21135/bianchi.pdf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73537D7-7245-E4B2-0788-AD0C39EF12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65311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6F3C868-5C56-1670-F210-879F8B7FD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3293D50E-077B-AFB9-5B77-826A49853D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1130AECB-823E-350D-513D-259055D2E3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  <a:p>
            <a:r>
              <a:rPr lang="pt-BR" dirty="0"/>
              <a:t>[1] https://www.sintef.no/contentassets/9689621c8cda44d9b2bc91c5fba21135/bianchi.pdf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A60C77D-4D54-B0EE-D5AD-64F9D79EE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30354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78709CC-EB52-3D3B-C97B-A4100429D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16970236-CFE9-6513-855E-E0F06E6065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F6C7DE70-17BD-8B6B-2FC7-2B8628B0F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  <a:p>
            <a:r>
              <a:rPr lang="pt-BR" dirty="0"/>
              <a:t>[1] https://www.sintef.no/contentassets/9689621c8cda44d9b2bc91c5fba21135/bianchi.pdf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D220820-D23F-935D-8BEE-E1A04620EA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67178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D0F856F-66E3-CBE0-6437-99B234229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1AEBFE94-D230-7B0E-C887-977799B28B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7D8F8232-9A2A-7AF1-C33B-59B7B8D32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  <a:p>
            <a:r>
              <a:rPr lang="pt-BR" dirty="0"/>
              <a:t>[1] https://www.sintef.no/contentassets/9689621c8cda44d9b2bc91c5fba21135/bianchi.pdf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D1F3297-B90D-C7C9-16F5-94E583ECE2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8406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O </a:t>
                </a:r>
                <a:r>
                  <a:rPr lang="en-US" b="1" dirty="0" err="1"/>
                  <a:t>problema</a:t>
                </a:r>
                <a:endParaRPr lang="en-US" b="1" dirty="0"/>
              </a:p>
              <a:p>
                <a:r>
                  <a:rPr lang="en-US" dirty="0" err="1"/>
                  <a:t>Suponha</a:t>
                </a:r>
                <a:r>
                  <a:rPr lang="en-US" dirty="0"/>
                  <a:t> </a:t>
                </a:r>
                <a:r>
                  <a:rPr lang="en-US" dirty="0" err="1"/>
                  <a:t>que</a:t>
                </a:r>
                <a:r>
                  <a:rPr lang="en-US" dirty="0"/>
                  <a:t> a </a:t>
                </a:r>
                <a:r>
                  <a:rPr lang="en-US" dirty="0" err="1"/>
                  <a:t>saída</a:t>
                </a:r>
                <a:r>
                  <a:rPr lang="en-US" dirty="0"/>
                  <a:t> </a:t>
                </a:r>
                <a:r>
                  <a:rPr lang="en-US" dirty="0" err="1"/>
                  <a:t>em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𝑡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=4</m:t>
                    </m:r>
                  </m:oMath>
                </a14:m>
                <a:r>
                  <a:rPr lang="en-US" dirty="0" err="1"/>
                  <a:t>esteja</a:t>
                </a:r>
                <a:r>
                  <a:rPr lang="en-US" dirty="0"/>
                  <a:t> </a:t>
                </a:r>
                <a:r>
                  <a:rPr lang="en-US" dirty="0" err="1"/>
                  <a:t>errada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Esse </a:t>
                </a:r>
                <a:r>
                  <a:rPr lang="en-US" dirty="0" err="1"/>
                  <a:t>erro</a:t>
                </a:r>
                <a:r>
                  <a:rPr lang="en-US" dirty="0"/>
                  <a:t> </a:t>
                </a:r>
                <a:r>
                  <a:rPr lang="en-US" dirty="0" err="1"/>
                  <a:t>pode</a:t>
                </a:r>
                <a:r>
                  <a:rPr lang="en-US" dirty="0"/>
                  <a:t> ter </a:t>
                </a:r>
                <a:r>
                  <a:rPr lang="en-US" dirty="0" err="1"/>
                  <a:t>sido</a:t>
                </a:r>
                <a:r>
                  <a:rPr lang="en-US" dirty="0"/>
                  <a:t> </a:t>
                </a:r>
                <a:r>
                  <a:rPr lang="en-US" dirty="0" err="1"/>
                  <a:t>causado</a:t>
                </a:r>
                <a:r>
                  <a:rPr lang="en-US" dirty="0"/>
                  <a:t> </a:t>
                </a:r>
                <a:r>
                  <a:rPr lang="en-US" dirty="0" err="1"/>
                  <a:t>por</a:t>
                </a:r>
                <a:r>
                  <a:rPr lang="en-US" dirty="0"/>
                  <a:t>:</a:t>
                </a:r>
              </a:p>
              <a:p>
                <a:r>
                  <a:rPr lang="en-US" dirty="0"/>
                  <a:t>o </a:t>
                </a:r>
                <a:r>
                  <a:rPr lang="en-US" dirty="0" err="1"/>
                  <a:t>estado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</m:t>
                        </m:r>
                      </m:sub>
                    </m:sSub>
                  </m:oMath>
                </a14:m>
                <a:r>
                  <a:rPr lang="ar-AE" dirty="0"/>
                  <a:t>, </a:t>
                </a:r>
              </a:p>
              <a:p>
                <a:r>
                  <a:rPr lang="en-US" dirty="0"/>
                  <a:t>mas </a:t>
                </a:r>
                <a:r>
                  <a:rPr lang="en-US" dirty="0" err="1"/>
                  <a:t>também</a:t>
                </a:r>
                <a:r>
                  <a:rPr lang="en-US" dirty="0"/>
                  <a:t> </a:t>
                </a:r>
                <a:r>
                  <a:rPr lang="en-US" dirty="0" err="1"/>
                  <a:t>por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lang="ar-AE" dirty="0"/>
                  <a:t>,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/>
                  <a:t>, </a:t>
                </a:r>
              </a:p>
              <a:p>
                <a:r>
                  <a:rPr lang="en-US" dirty="0"/>
                  <a:t>e </a:t>
                </a:r>
                <a:r>
                  <a:rPr lang="en-US" dirty="0" err="1"/>
                  <a:t>até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O </a:t>
                </a:r>
                <a:r>
                  <a:rPr lang="en-US" b="1" dirty="0" err="1"/>
                  <a:t>problema</a:t>
                </a:r>
                <a:endParaRPr lang="en-US" b="1" dirty="0"/>
              </a:p>
              <a:p>
                <a:r>
                  <a:rPr lang="en-US" dirty="0" err="1"/>
                  <a:t>Suponha</a:t>
                </a:r>
                <a:r>
                  <a:rPr lang="en-US" dirty="0"/>
                  <a:t> </a:t>
                </a:r>
                <a:r>
                  <a:rPr lang="en-US" dirty="0" err="1"/>
                  <a:t>que</a:t>
                </a:r>
                <a:r>
                  <a:rPr lang="en-US" dirty="0"/>
                  <a:t> a </a:t>
                </a:r>
                <a:r>
                  <a:rPr lang="en-US" dirty="0" err="1"/>
                  <a:t>saída</a:t>
                </a:r>
                <a:r>
                  <a:rPr lang="en-US" dirty="0"/>
                  <a:t> </a:t>
                </a:r>
                <a:r>
                  <a:rPr lang="en-US" dirty="0" err="1"/>
                  <a:t>em</a:t>
                </a:r>
                <a:r>
                  <a:rPr lang="en-US" dirty="0"/>
                  <a:t>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𝑡=4</a:t>
                </a:r>
                <a:r>
                  <a:rPr lang="en-US" dirty="0" err="1"/>
                  <a:t>esteja</a:t>
                </a:r>
                <a:r>
                  <a:rPr lang="en-US" dirty="0"/>
                  <a:t> </a:t>
                </a:r>
                <a:r>
                  <a:rPr lang="en-US" dirty="0" err="1"/>
                  <a:t>errada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Esse </a:t>
                </a:r>
                <a:r>
                  <a:rPr lang="en-US" dirty="0" err="1"/>
                  <a:t>erro</a:t>
                </a:r>
                <a:r>
                  <a:rPr lang="en-US" dirty="0"/>
                  <a:t> </a:t>
                </a:r>
                <a:r>
                  <a:rPr lang="en-US" dirty="0" err="1"/>
                  <a:t>pode</a:t>
                </a:r>
                <a:r>
                  <a:rPr lang="en-US" dirty="0"/>
                  <a:t> ter </a:t>
                </a:r>
                <a:r>
                  <a:rPr lang="en-US" dirty="0" err="1"/>
                  <a:t>sido</a:t>
                </a:r>
                <a:r>
                  <a:rPr lang="en-US" dirty="0"/>
                  <a:t> </a:t>
                </a:r>
                <a:r>
                  <a:rPr lang="en-US" dirty="0" err="1"/>
                  <a:t>causado</a:t>
                </a:r>
                <a:r>
                  <a:rPr lang="en-US" dirty="0"/>
                  <a:t> </a:t>
                </a:r>
                <a:r>
                  <a:rPr lang="en-US" dirty="0" err="1"/>
                  <a:t>por</a:t>
                </a:r>
                <a:r>
                  <a:rPr lang="en-US" dirty="0"/>
                  <a:t>:</a:t>
                </a:r>
              </a:p>
              <a:p>
                <a:r>
                  <a:rPr lang="en-US" dirty="0"/>
                  <a:t>o </a:t>
                </a:r>
                <a:r>
                  <a:rPr lang="en-US" dirty="0" err="1"/>
                  <a:t>estado</a:t>
                </a:r>
                <a:r>
                  <a:rPr lang="en-US" dirty="0"/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ℎ_4</a:t>
                </a:r>
                <a:r>
                  <a:rPr lang="ar-AE" dirty="0"/>
                  <a:t>, </a:t>
                </a:r>
              </a:p>
              <a:p>
                <a:r>
                  <a:rPr lang="en-US" dirty="0"/>
                  <a:t>mas </a:t>
                </a:r>
                <a:r>
                  <a:rPr lang="en-US" dirty="0" err="1"/>
                  <a:t>também</a:t>
                </a:r>
                <a:r>
                  <a:rPr lang="en-US" dirty="0"/>
                  <a:t> </a:t>
                </a:r>
                <a:r>
                  <a:rPr lang="en-US" dirty="0" err="1"/>
                  <a:t>por</a:t>
                </a:r>
                <a:r>
                  <a:rPr lang="en-US" dirty="0"/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ℎ_3</a:t>
                </a:r>
                <a:r>
                  <a:rPr lang="ar-AE" dirty="0"/>
                  <a:t>, 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ℎ_2</a:t>
                </a:r>
                <a:r>
                  <a:rPr lang="ar-AE" dirty="0"/>
                  <a:t>, </a:t>
                </a:r>
              </a:p>
              <a:p>
                <a:r>
                  <a:rPr lang="en-US" dirty="0"/>
                  <a:t>e </a:t>
                </a:r>
                <a:r>
                  <a:rPr lang="en-US" dirty="0" err="1"/>
                  <a:t>até</a:t>
                </a:r>
                <a:r>
                  <a:rPr lang="en-US" dirty="0"/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ℎ_1</a:t>
                </a:r>
                <a:r>
                  <a:rPr lang="ar-AE" dirty="0"/>
                  <a:t>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92808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  <a:p>
            <a:r>
              <a:rPr lang="pt-BR" dirty="0"/>
              <a:t>[1] https://web.stanford.edu/class/archive/cs/cs224n/cs224n.1194/slides/cs224n-2019-lecture07-fancy-rnn.pdf </a:t>
            </a:r>
          </a:p>
          <a:p>
            <a:r>
              <a:rPr lang="pt-BR" dirty="0"/>
              <a:t>[2] https://medium.com/@surajprakash612/recurrent-neural-networks-rnns-the-engine-for-sequential-data-fc1d552ebfc1</a:t>
            </a:r>
          </a:p>
          <a:p>
            <a:r>
              <a:rPr lang="pt-BR" dirty="0"/>
              <a:t>[3] https://d2l.ai/chapter_recurrent-neural-networks/bptt.html</a:t>
            </a:r>
          </a:p>
          <a:p>
            <a:r>
              <a:rPr lang="pt-BR" dirty="0"/>
              <a:t>[4] https://weberna.github.io/blog/2017/11/15/LSTM-Vanishing-Gradients.html</a:t>
            </a:r>
          </a:p>
          <a:p>
            <a:r>
              <a:rPr lang="pt-BR" dirty="0"/>
              <a:t>[5] https://eclass.upatras.gr/modules/document/file.php/EE935/%CE%97%CE%BB%CE%B5%CE%BA%CF%84%CF%81%CE%BF%CE%BD%CE%B9%CE%BA%CE%AC%20%CE%92%CE%B9%CE%B2%CE%BB%CE%AF%CE%B1/2018_Book_NeuralNetworksAndDeepLeaning.pdf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43513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F599D2F-876E-BB1A-961B-A09112115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7B8F1673-F1CD-2EC3-16A4-998A51A1E4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B7EBEC6C-FBC9-4C08-4997-2DF40721D9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  <a:p>
            <a:r>
              <a:rPr lang="pt-BR" dirty="0"/>
              <a:t>[1] https://web.stanford.edu/class/archive/cs/cs224n/cs224n.1194/slides/cs224n-2019-lecture07-fancy-rnn.pdf </a:t>
            </a:r>
          </a:p>
          <a:p>
            <a:r>
              <a:rPr lang="pt-BR" dirty="0"/>
              <a:t>[2] https://medium.com/@surajprakash612/recurrent-neural-networks-rnns-the-engine-for-sequential-data-fc1d552ebfc1</a:t>
            </a:r>
          </a:p>
          <a:p>
            <a:r>
              <a:rPr lang="pt-BR" dirty="0"/>
              <a:t>[3] https://d2l.ai/chapter_recurrent-neural-networks/bptt.html</a:t>
            </a:r>
          </a:p>
          <a:p>
            <a:r>
              <a:rPr lang="pt-BR" dirty="0"/>
              <a:t>[4] https://weberna.github.io/blog/2017/11/15/LSTM-Vanishing-Gradients.html</a:t>
            </a:r>
          </a:p>
          <a:p>
            <a:r>
              <a:rPr lang="pt-BR" dirty="0"/>
              <a:t>[5] https://eclass.upatras.gr/modules/document/file.php/EE935/%CE%97%CE%BB%CE%B5%CE%BA%CF%84%CF%81%CE%BF%CE%BD%CE%B9%CE%BA%CE%AC%20%CE%92%CE%B9%CE%B2%CE%BB%CE%AF%CE%B1/2018_Book_NeuralNetworksAndDeepLeaning.pdf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3DD59FC-4009-0F3A-348B-B8D4863BDC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03574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E0F0EAF-7848-C03E-2CE6-EB11D2264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771F3D72-ADBB-EBCB-029C-4C93AF8DB9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40EF2D66-FEE9-BF28-90BD-C438366309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  <a:p>
            <a:r>
              <a:rPr lang="pt-BR" dirty="0"/>
              <a:t>[1] https://web.stanford.edu/class/archive/cs/cs224n/cs224n.1194/slides/cs224n-2019-lecture07-fancy-rnn.pdf </a:t>
            </a:r>
          </a:p>
          <a:p>
            <a:r>
              <a:rPr lang="pt-BR" dirty="0"/>
              <a:t>[2] https://medium.com/@surajprakash612/recurrent-neural-networks-rnns-the-engine-for-sequential-data-fc1d552ebfc1</a:t>
            </a:r>
          </a:p>
          <a:p>
            <a:r>
              <a:rPr lang="pt-BR" dirty="0"/>
              <a:t>[3] https://d2l.ai/chapter_recurrent-neural-networks/bptt.html</a:t>
            </a:r>
          </a:p>
          <a:p>
            <a:r>
              <a:rPr lang="pt-BR" dirty="0"/>
              <a:t>[4] https://weberna.github.io/blog/2017/11/15/LSTM-Vanishing-Gradients.html</a:t>
            </a:r>
          </a:p>
          <a:p>
            <a:r>
              <a:rPr lang="pt-BR" dirty="0"/>
              <a:t>[5] https://eclass.upatras.gr/modules/document/file.php/EE935/%CE%97%CE%BB%CE%B5%CE%BA%CF%84%CF%81%CE%BF%CE%BD%CE%B9%CE%BA%CE%AC%20%CE%92%CE%B9%CE%B2%CE%BB%CE%AF%CE%B1/2018_Book_NeuralNetworksAndDeepLeaning.pdf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8DFDBA4-83C0-D64A-1B55-22DBA7D828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82314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65583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Esses </a:t>
            </a:r>
            <a:r>
              <a:rPr lang="pt-BR" dirty="0" err="1"/>
              <a:t>gates</a:t>
            </a:r>
            <a:r>
              <a:rPr lang="pt-BR" dirty="0"/>
              <a:t> permitem que a rede:</a:t>
            </a:r>
          </a:p>
          <a:p>
            <a:r>
              <a:rPr lang="pt-BR" b="1" dirty="0"/>
              <a:t>controle o fluxo de informação</a:t>
            </a:r>
            <a:r>
              <a:rPr lang="pt-BR" dirty="0"/>
              <a:t> </a:t>
            </a:r>
          </a:p>
          <a:p>
            <a:r>
              <a:rPr lang="pt-BR" b="1" dirty="0"/>
              <a:t>controle o fluxo do gradiente</a:t>
            </a:r>
            <a:r>
              <a:rPr lang="pt-BR" dirty="0"/>
              <a:t> </a:t>
            </a:r>
          </a:p>
          <a:p>
            <a:r>
              <a:rPr lang="pt-BR" dirty="0"/>
              <a:t>👉 Diferente da RNN simples, onde tudo é propagado sem controle.</a:t>
            </a:r>
          </a:p>
          <a:p>
            <a:r>
              <a:rPr lang="en-US" dirty="0"/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62237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25EF0C8-2D91-FA35-AF2B-95E36E0E1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B9AAD211-78C1-76CF-37C1-2799926821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3984A298-DEE7-D577-1EDF-6AEC8A4A40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Porque cada estado carrega um pouco de informação de cada entrada anterior.</a:t>
            </a:r>
          </a:p>
          <a:p>
            <a:endParaRPr lang="pt-B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memória acumulada no estado oculto atual é suficiente para representar o passado distante, evitando a necessidade matemática de voltar até o primeiro passo da sequência para calcular o gradiente.</a:t>
            </a:r>
            <a:endParaRPr lang="pt-BR" dirty="0"/>
          </a:p>
          <a:p>
            <a:endParaRPr lang="pt-BR" dirty="0"/>
          </a:p>
          <a:p>
            <a:r>
              <a:rPr lang="pt-BR" dirty="0"/>
              <a:t>Referências</a:t>
            </a:r>
          </a:p>
          <a:p>
            <a:r>
              <a:rPr lang="pt-BR" dirty="0"/>
              <a:t>[1] https://d2l.ai/chapter_recurrent-neural-networks/bptt.html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6FFB4E4-8199-22E4-AFF4-DEB1442C3C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50877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1A56F62-4748-BDBD-8E9B-797882C58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66D2DC2D-12C6-EEBA-90B7-40B867D944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xmlns="" id="{256DD416-D9FB-0245-EEFF-AA12A9C8096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/>
                  <a:t>Porque cada estado carrega um pouco de informação de cada entrada anterior.</a:t>
                </a:r>
              </a:p>
              <a:p>
                <a:endParaRPr lang="pt-BR" sz="1200" b="0" i="0" u="none" strike="noStrike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pt-BR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 memória acumulada no estado oculto atual é suficiente para representar o passado distante, evitando a necessidade matemática de voltar até o primeiro passo da sequência para calcular o gradiente.</a:t>
                </a:r>
              </a:p>
              <a:p>
                <a:endParaRPr lang="pt-BR" sz="1200" b="0" i="0" u="none" strike="noStrike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b="1" dirty="0" err="1"/>
                  <a:t>Outra</a:t>
                </a:r>
                <a:r>
                  <a:rPr lang="en-US" b="1" dirty="0"/>
                  <a:t> </a:t>
                </a:r>
                <a:r>
                  <a:rPr lang="en-US" b="1" dirty="0" err="1"/>
                  <a:t>razão</a:t>
                </a:r>
                <a:r>
                  <a:rPr lang="en-US" b="1" dirty="0"/>
                  <a:t> </a:t>
                </a:r>
                <a:r>
                  <a:rPr lang="en-US" b="1" dirty="0" err="1"/>
                  <a:t>importante</a:t>
                </a:r>
                <a:endParaRPr lang="en-US" b="1" dirty="0"/>
              </a:p>
              <a:p>
                <a:r>
                  <a:rPr lang="en-US" dirty="0" err="1"/>
                  <a:t>Os</a:t>
                </a:r>
                <a:r>
                  <a:rPr lang="en-US" dirty="0"/>
                  <a:t> </a:t>
                </a:r>
                <a:r>
                  <a:rPr lang="en-US" dirty="0" err="1"/>
                  <a:t>gradientes</a:t>
                </a:r>
                <a:r>
                  <a:rPr lang="en-US" dirty="0"/>
                  <a:t> </a:t>
                </a:r>
                <a:r>
                  <a:rPr lang="en-US" dirty="0" err="1"/>
                  <a:t>antigos</a:t>
                </a:r>
                <a:r>
                  <a:rPr lang="en-US" dirty="0"/>
                  <a:t> </a:t>
                </a:r>
                <a:r>
                  <a:rPr lang="en-US" dirty="0" err="1"/>
                  <a:t>normalmente</a:t>
                </a:r>
                <a:r>
                  <a:rPr lang="en-US" dirty="0"/>
                  <a:t> </a:t>
                </a:r>
                <a:r>
                  <a:rPr lang="en-US" dirty="0" err="1"/>
                  <a:t>ficam</a:t>
                </a:r>
                <a:r>
                  <a:rPr lang="en-US" dirty="0"/>
                  <a:t> </a:t>
                </a:r>
                <a:r>
                  <a:rPr lang="en-US" dirty="0" err="1"/>
                  <a:t>muito</a:t>
                </a:r>
                <a:r>
                  <a:rPr lang="en-US" dirty="0"/>
                  <a:t> </a:t>
                </a:r>
                <a:r>
                  <a:rPr lang="en-US" dirty="0" err="1"/>
                  <a:t>pequenos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Durante o BPTT: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limLoc m:val="subSup"/>
                          <m:grow m:val="on"/>
                          <m:supHide m:val="on"/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𝑘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𝑘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𝑘</m:t>
                                  </m:r>
                                  <m:r>
                                    <a:rPr lang="ar-AE" sz="1200" i="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lang="ar-AE" sz="1200" i="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ar-AE" dirty="0"/>
              </a:p>
              <a:p>
                <a:r>
                  <a:rPr lang="en-US" dirty="0" err="1"/>
                  <a:t>Multiplicações</a:t>
                </a:r>
                <a:r>
                  <a:rPr lang="en-US" dirty="0"/>
                  <a:t> </a:t>
                </a:r>
                <a:r>
                  <a:rPr lang="en-US" dirty="0" err="1"/>
                  <a:t>sucessivas</a:t>
                </a:r>
                <a:r>
                  <a:rPr lang="en-US" dirty="0"/>
                  <a:t> </a:t>
                </a:r>
                <a:r>
                  <a:rPr lang="en-US" dirty="0" err="1"/>
                  <a:t>tendem</a:t>
                </a:r>
                <a:r>
                  <a:rPr lang="en-US" dirty="0"/>
                  <a:t> a:</a:t>
                </a:r>
              </a:p>
              <a:p>
                <a:r>
                  <a:rPr lang="en-US" dirty="0" err="1"/>
                  <a:t>desaparecer</a:t>
                </a:r>
                <a:r>
                  <a:rPr lang="en-US" dirty="0"/>
                  <a:t> (vanishing gradient); </a:t>
                </a:r>
              </a:p>
              <a:p>
                <a:r>
                  <a:rPr lang="en-US" dirty="0" err="1"/>
                  <a:t>ou</a:t>
                </a:r>
                <a:r>
                  <a:rPr lang="en-US" dirty="0"/>
                  <a:t> </a:t>
                </a:r>
                <a:r>
                  <a:rPr lang="en-US" dirty="0" err="1"/>
                  <a:t>explodir</a:t>
                </a:r>
                <a:r>
                  <a:rPr lang="en-US" dirty="0"/>
                  <a:t>. </a:t>
                </a:r>
              </a:p>
              <a:p>
                <a:r>
                  <a:rPr lang="en-US" dirty="0"/>
                  <a:t>Na </a:t>
                </a:r>
                <a:r>
                  <a:rPr lang="en-US" dirty="0" err="1"/>
                  <a:t>prática</a:t>
                </a:r>
                <a:r>
                  <a:rPr lang="en-US" dirty="0"/>
                  <a:t>:</a:t>
                </a:r>
              </a:p>
              <a:p>
                <a:r>
                  <a:rPr lang="en-US" dirty="0" err="1"/>
                  <a:t>contribuições</a:t>
                </a:r>
                <a:r>
                  <a:rPr lang="en-US" dirty="0"/>
                  <a:t> </a:t>
                </a:r>
                <a:r>
                  <a:rPr lang="en-US" dirty="0" err="1"/>
                  <a:t>muito</a:t>
                </a:r>
                <a:r>
                  <a:rPr lang="en-US" dirty="0"/>
                  <a:t> </a:t>
                </a:r>
                <a:r>
                  <a:rPr lang="en-US" dirty="0" err="1"/>
                  <a:t>antigas</a:t>
                </a:r>
                <a:r>
                  <a:rPr lang="en-US" dirty="0"/>
                  <a:t> </a:t>
                </a:r>
                <a:r>
                  <a:rPr lang="en-US" dirty="0" err="1"/>
                  <a:t>já</a:t>
                </a:r>
                <a:r>
                  <a:rPr lang="en-US" dirty="0"/>
                  <a:t> </a:t>
                </a:r>
                <a:r>
                  <a:rPr lang="en-US" dirty="0" err="1"/>
                  <a:t>têm</a:t>
                </a:r>
                <a:r>
                  <a:rPr lang="en-US" dirty="0"/>
                  <a:t> </a:t>
                </a:r>
                <a:r>
                  <a:rPr lang="en-US" dirty="0" err="1"/>
                  <a:t>impacto</a:t>
                </a:r>
                <a:r>
                  <a:rPr lang="en-US" dirty="0"/>
                  <a:t> </a:t>
                </a:r>
                <a:r>
                  <a:rPr lang="en-US" dirty="0" err="1"/>
                  <a:t>quase</a:t>
                </a:r>
                <a:r>
                  <a:rPr lang="en-US" dirty="0"/>
                  <a:t> </a:t>
                </a:r>
                <a:r>
                  <a:rPr lang="en-US" dirty="0" err="1"/>
                  <a:t>nulo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Então</a:t>
                </a:r>
                <a:r>
                  <a:rPr lang="en-US" dirty="0"/>
                  <a:t> </a:t>
                </a:r>
                <a:r>
                  <a:rPr lang="en-US" dirty="0" err="1"/>
                  <a:t>truncar</a:t>
                </a:r>
                <a:r>
                  <a:rPr lang="en-US" dirty="0"/>
                  <a:t> </a:t>
                </a:r>
                <a:r>
                  <a:rPr lang="en-US" dirty="0" err="1"/>
                  <a:t>frequentemente</a:t>
                </a:r>
                <a:r>
                  <a:rPr lang="en-US" dirty="0"/>
                  <a:t> </a:t>
                </a:r>
                <a:r>
                  <a:rPr lang="en-US" dirty="0" err="1"/>
                  <a:t>perde</a:t>
                </a:r>
                <a:r>
                  <a:rPr lang="en-US" dirty="0"/>
                  <a:t> </a:t>
                </a:r>
                <a:r>
                  <a:rPr lang="en-US" dirty="0" err="1"/>
                  <a:t>pouca</a:t>
                </a:r>
                <a:r>
                  <a:rPr lang="en-US" dirty="0"/>
                  <a:t> </a:t>
                </a:r>
                <a:r>
                  <a:rPr lang="en-US" dirty="0" err="1"/>
                  <a:t>informação</a:t>
                </a:r>
                <a:r>
                  <a:rPr lang="en-US" dirty="0"/>
                  <a:t> </a:t>
                </a:r>
                <a:r>
                  <a:rPr lang="en-US" dirty="0" err="1"/>
                  <a:t>útil</a:t>
                </a:r>
                <a:r>
                  <a:rPr lang="en-US" dirty="0"/>
                  <a:t>.</a:t>
                </a:r>
              </a:p>
              <a:p>
                <a:endParaRPr lang="pt-BR" dirty="0"/>
              </a:p>
              <a:p>
                <a:endParaRPr lang="pt-BR" dirty="0"/>
              </a:p>
              <a:p>
                <a:r>
                  <a:rPr lang="pt-BR" dirty="0"/>
                  <a:t>Referências</a:t>
                </a:r>
              </a:p>
              <a:p>
                <a:r>
                  <a:rPr lang="pt-BR" dirty="0"/>
                  <a:t>[1] https://d2l.ai/chapter_recurrent-neural-networks/bptt.html</a:t>
                </a:r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256DD416-D9FB-0245-EEFF-AA12A9C8096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/>
                  <a:t>Porque cada estado carrega um pouco de informação de cada entrada anterior.</a:t>
                </a:r>
              </a:p>
              <a:p>
                <a:endParaRPr lang="pt-BR" sz="1200" b="0" i="0" u="none" strike="noStrike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pt-BR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 memória acumulada no estado oculto atual é suficiente para representar o passado distante, evitando a necessidade matemática de voltar até o primeiro passo da sequência para calcular o gradiente.</a:t>
                </a:r>
              </a:p>
              <a:p>
                <a:endParaRPr lang="pt-BR" sz="1200" b="0" i="0" u="none" strike="noStrike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b="1" dirty="0" err="1"/>
                  <a:t>Outra</a:t>
                </a:r>
                <a:r>
                  <a:rPr lang="en-US" b="1" dirty="0"/>
                  <a:t> </a:t>
                </a:r>
                <a:r>
                  <a:rPr lang="en-US" b="1" dirty="0" err="1"/>
                  <a:t>razão</a:t>
                </a:r>
                <a:r>
                  <a:rPr lang="en-US" b="1" dirty="0"/>
                  <a:t> </a:t>
                </a:r>
                <a:r>
                  <a:rPr lang="en-US" b="1" dirty="0" err="1"/>
                  <a:t>importante</a:t>
                </a:r>
                <a:endParaRPr lang="en-US" b="1" dirty="0"/>
              </a:p>
              <a:p>
                <a:r>
                  <a:rPr lang="en-US" dirty="0" err="1"/>
                  <a:t>Os</a:t>
                </a:r>
                <a:r>
                  <a:rPr lang="en-US" dirty="0"/>
                  <a:t> </a:t>
                </a:r>
                <a:r>
                  <a:rPr lang="en-US" dirty="0" err="1"/>
                  <a:t>gradientes</a:t>
                </a:r>
                <a:r>
                  <a:rPr lang="en-US" dirty="0"/>
                  <a:t> </a:t>
                </a:r>
                <a:r>
                  <a:rPr lang="en-US" dirty="0" err="1"/>
                  <a:t>antigos</a:t>
                </a:r>
                <a:r>
                  <a:rPr lang="en-US" dirty="0"/>
                  <a:t> </a:t>
                </a:r>
                <a:r>
                  <a:rPr lang="en-US" dirty="0" err="1"/>
                  <a:t>normalmente</a:t>
                </a:r>
                <a:r>
                  <a:rPr lang="en-US" dirty="0"/>
                  <a:t> </a:t>
                </a:r>
                <a:r>
                  <a:rPr lang="en-US" dirty="0" err="1"/>
                  <a:t>ficam</a:t>
                </a:r>
                <a:r>
                  <a:rPr lang="en-US" dirty="0"/>
                  <a:t> </a:t>
                </a:r>
                <a:r>
                  <a:rPr lang="en-US" dirty="0" err="1"/>
                  <a:t>muito</a:t>
                </a:r>
                <a:r>
                  <a:rPr lang="en-US" dirty="0"/>
                  <a:t> </a:t>
                </a:r>
                <a:r>
                  <a:rPr lang="en-US" dirty="0" err="1"/>
                  <a:t>pequenos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Durante o BPTT: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∏130_𝑘▒(∂ℎ_𝑘)/(∂ℎ_(𝑘−1) )</a:t>
                </a:r>
                <a:endParaRPr lang="ar-AE" dirty="0"/>
              </a:p>
              <a:p>
                <a:r>
                  <a:rPr lang="en-US" dirty="0" err="1"/>
                  <a:t>Multiplicações</a:t>
                </a:r>
                <a:r>
                  <a:rPr lang="en-US" dirty="0"/>
                  <a:t> </a:t>
                </a:r>
                <a:r>
                  <a:rPr lang="en-US" dirty="0" err="1"/>
                  <a:t>sucessivas</a:t>
                </a:r>
                <a:r>
                  <a:rPr lang="en-US" dirty="0"/>
                  <a:t> </a:t>
                </a:r>
                <a:r>
                  <a:rPr lang="en-US" dirty="0" err="1"/>
                  <a:t>tendem</a:t>
                </a:r>
                <a:r>
                  <a:rPr lang="en-US" dirty="0"/>
                  <a:t> a:</a:t>
                </a:r>
              </a:p>
              <a:p>
                <a:r>
                  <a:rPr lang="en-US" dirty="0" err="1"/>
                  <a:t>desaparecer</a:t>
                </a:r>
                <a:r>
                  <a:rPr lang="en-US" dirty="0"/>
                  <a:t> (vanishing gradient); </a:t>
                </a:r>
              </a:p>
              <a:p>
                <a:r>
                  <a:rPr lang="en-US" dirty="0" err="1"/>
                  <a:t>ou</a:t>
                </a:r>
                <a:r>
                  <a:rPr lang="en-US" dirty="0"/>
                  <a:t> </a:t>
                </a:r>
                <a:r>
                  <a:rPr lang="en-US" dirty="0" err="1"/>
                  <a:t>explodir</a:t>
                </a:r>
                <a:r>
                  <a:rPr lang="en-US" dirty="0"/>
                  <a:t>. </a:t>
                </a:r>
              </a:p>
              <a:p>
                <a:r>
                  <a:rPr lang="en-US" dirty="0"/>
                  <a:t>Na </a:t>
                </a:r>
                <a:r>
                  <a:rPr lang="en-US" dirty="0" err="1"/>
                  <a:t>prática</a:t>
                </a:r>
                <a:r>
                  <a:rPr lang="en-US" dirty="0"/>
                  <a:t>:</a:t>
                </a:r>
              </a:p>
              <a:p>
                <a:r>
                  <a:rPr lang="en-US" dirty="0" err="1"/>
                  <a:t>contribuições</a:t>
                </a:r>
                <a:r>
                  <a:rPr lang="en-US" dirty="0"/>
                  <a:t> </a:t>
                </a:r>
                <a:r>
                  <a:rPr lang="en-US" dirty="0" err="1"/>
                  <a:t>muito</a:t>
                </a:r>
                <a:r>
                  <a:rPr lang="en-US" dirty="0"/>
                  <a:t> </a:t>
                </a:r>
                <a:r>
                  <a:rPr lang="en-US" dirty="0" err="1"/>
                  <a:t>antigas</a:t>
                </a:r>
                <a:r>
                  <a:rPr lang="en-US" dirty="0"/>
                  <a:t> </a:t>
                </a:r>
                <a:r>
                  <a:rPr lang="en-US" dirty="0" err="1"/>
                  <a:t>já</a:t>
                </a:r>
                <a:r>
                  <a:rPr lang="en-US" dirty="0"/>
                  <a:t> </a:t>
                </a:r>
                <a:r>
                  <a:rPr lang="en-US" dirty="0" err="1"/>
                  <a:t>têm</a:t>
                </a:r>
                <a:r>
                  <a:rPr lang="en-US" dirty="0"/>
                  <a:t> </a:t>
                </a:r>
                <a:r>
                  <a:rPr lang="en-US" dirty="0" err="1"/>
                  <a:t>impacto</a:t>
                </a:r>
                <a:r>
                  <a:rPr lang="en-US" dirty="0"/>
                  <a:t> </a:t>
                </a:r>
                <a:r>
                  <a:rPr lang="en-US" dirty="0" err="1"/>
                  <a:t>quase</a:t>
                </a:r>
                <a:r>
                  <a:rPr lang="en-US" dirty="0"/>
                  <a:t> </a:t>
                </a:r>
                <a:r>
                  <a:rPr lang="en-US" dirty="0" err="1"/>
                  <a:t>nulo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Então</a:t>
                </a:r>
                <a:r>
                  <a:rPr lang="en-US" dirty="0"/>
                  <a:t> </a:t>
                </a:r>
                <a:r>
                  <a:rPr lang="en-US" dirty="0" err="1"/>
                  <a:t>truncar</a:t>
                </a:r>
                <a:r>
                  <a:rPr lang="en-US" dirty="0"/>
                  <a:t> </a:t>
                </a:r>
                <a:r>
                  <a:rPr lang="en-US" dirty="0" err="1"/>
                  <a:t>frequentemente</a:t>
                </a:r>
                <a:r>
                  <a:rPr lang="en-US" dirty="0"/>
                  <a:t> </a:t>
                </a:r>
                <a:r>
                  <a:rPr lang="en-US" dirty="0" err="1"/>
                  <a:t>perde</a:t>
                </a:r>
                <a:r>
                  <a:rPr lang="en-US" dirty="0"/>
                  <a:t> </a:t>
                </a:r>
                <a:r>
                  <a:rPr lang="en-US" dirty="0" err="1"/>
                  <a:t>pouca</a:t>
                </a:r>
                <a:r>
                  <a:rPr lang="en-US" dirty="0"/>
                  <a:t> </a:t>
                </a:r>
                <a:r>
                  <a:rPr lang="en-US" dirty="0" err="1"/>
                  <a:t>informação</a:t>
                </a:r>
                <a:r>
                  <a:rPr lang="en-US" dirty="0"/>
                  <a:t> </a:t>
                </a:r>
                <a:r>
                  <a:rPr lang="en-US" dirty="0" err="1"/>
                  <a:t>útil</a:t>
                </a:r>
                <a:r>
                  <a:rPr lang="en-US" dirty="0"/>
                  <a:t>.</a:t>
                </a:r>
              </a:p>
              <a:p>
                <a:endParaRPr lang="pt-BR" dirty="0"/>
              </a:p>
              <a:p>
                <a:endParaRPr lang="pt-BR" dirty="0"/>
              </a:p>
              <a:p>
                <a:r>
                  <a:rPr lang="pt-BR" dirty="0"/>
                  <a:t>Referências</a:t>
                </a:r>
              </a:p>
              <a:p>
                <a:r>
                  <a:rPr lang="pt-BR" dirty="0"/>
                  <a:t>[1] https://d2l.ai/chapter_recurrent-neural-networks/bptt.html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00EFD99-EFF4-77CF-2316-515A128489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72548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534BABD-C6BA-B242-44D4-0D6C5A374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xmlns="" id="{F27738A7-2AEB-8A53-4EB7-BC3FD88636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xmlns="" id="{5458E17C-27B6-C886-364B-BADEC2D448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Procurando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Dory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xmlns="" id="{3D0D4AB1-9E8B-F207-5580-BB12C93E1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44939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algn="l">
              <a:buFont typeface="Courier New" panose="02070309020205020404" pitchFamily="49" charset="0"/>
              <a:buNone/>
            </a:pPr>
            <a:r>
              <a:rPr lang="pt-BR" dirty="0"/>
              <a:t>“</a:t>
            </a:r>
            <a:r>
              <a:rPr lang="pt-BR" b="1" dirty="0">
                <a:solidFill>
                  <a:srgbClr val="7030A0"/>
                </a:solidFill>
              </a:rPr>
              <a:t>A menina </a:t>
            </a:r>
            <a:r>
              <a:rPr lang="pt-BR" dirty="0"/>
              <a:t>que ganhou o prêmio na competição internacional de matemática disse que estava muito </a:t>
            </a:r>
            <a:r>
              <a:rPr lang="pt-BR" b="1" dirty="0">
                <a:solidFill>
                  <a:srgbClr val="7030A0"/>
                </a:solidFill>
              </a:rPr>
              <a:t>feliz</a:t>
            </a:r>
            <a:r>
              <a:rPr lang="pt-BR" dirty="0"/>
              <a:t>”.</a:t>
            </a:r>
          </a:p>
          <a:p>
            <a:pPr lvl="0" algn="l">
              <a:buFont typeface="Courier New" panose="02070309020205020404" pitchFamily="49" charset="0"/>
              <a:buNone/>
            </a:pPr>
            <a:r>
              <a:rPr lang="pt-BR" dirty="0"/>
              <a:t>Ao chegar em “feliz”, a rede ainda precisa lembrar que o sujeito principal era: “A menina” (feminino singular), mesmo após muitas palavras intermediárias.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Eventos separados por mais do que esse horizonte não geram sinal de atualização direto, impedindo a rede de aprender correlações temporais que excedam a janela definida.</a:t>
            </a:r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44757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algn="l">
              <a:buFont typeface="Courier New" panose="02070309020205020404" pitchFamily="49" charset="0"/>
              <a:buNone/>
            </a:pPr>
            <a:r>
              <a:rPr lang="pt-BR" dirty="0"/>
              <a:t>“</a:t>
            </a:r>
            <a:r>
              <a:rPr lang="pt-BR" b="1" dirty="0">
                <a:solidFill>
                  <a:srgbClr val="7030A0"/>
                </a:solidFill>
              </a:rPr>
              <a:t>A menina </a:t>
            </a:r>
            <a:r>
              <a:rPr lang="pt-BR" dirty="0"/>
              <a:t>que ganhou o prêmio na competição internacional de matemática disse que estava muito </a:t>
            </a:r>
            <a:r>
              <a:rPr lang="pt-BR" b="1" dirty="0">
                <a:solidFill>
                  <a:srgbClr val="7030A0"/>
                </a:solidFill>
              </a:rPr>
              <a:t>feliz</a:t>
            </a:r>
            <a:r>
              <a:rPr lang="pt-BR" dirty="0"/>
              <a:t>”.</a:t>
            </a:r>
          </a:p>
          <a:p>
            <a:pPr lvl="0" algn="l">
              <a:buFont typeface="Courier New" panose="02070309020205020404" pitchFamily="49" charset="0"/>
              <a:buNone/>
            </a:pPr>
            <a:r>
              <a:rPr lang="pt-BR" dirty="0"/>
              <a:t>Ao chegar em “feliz”, a rede ainda precisa lembrar que o sujeito principal era: “A menina” (feminino singular), mesmo após muitas palavras intermediárias.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93732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Mecanismos de Controle: As </a:t>
            </a:r>
            <a:r>
              <a:rPr lang="pt-BR" dirty="0" err="1"/>
              <a:t>LSTMs</a:t>
            </a:r>
            <a:r>
              <a:rPr lang="pt-BR" dirty="0"/>
              <a:t> utilizam três mecanismos principais (ativados por sigmoide) para regular o fluxo de informações: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Mecanismo de Esquecimento: Determina o que descartar do estado anterior da célula.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Mecanismo de Entrada: Determina qual nova informação adicionar ao estado da célula.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Mecanismo de Saída: Determina qual parte do estado da célula será emitida.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595676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7517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A9240E1-B284-11DC-DF84-9C55257C5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xmlns="" id="{DF6BFCF8-5C7F-EDC5-7B8C-6F5469516D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xmlns="" id="{6F91DB64-6563-C7F5-B8B4-E9E21B36C7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xmlns="" id="{C5192F11-8162-11BC-1C3D-C6222C1CA4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185046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A668401-ADA4-3C4F-1CA5-0B0EF583C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xmlns="" id="{B33A7EE6-35DA-3513-AC98-9814A1EFC3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xmlns="" id="{FE9E4134-7AC4-6D21-191F-0465D5E9D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xmlns="" id="{913DE283-E634-E815-9ACF-D12EAFFAD8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985278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  <a:p>
            <a:r>
              <a:rPr lang="pt-BR" dirty="0"/>
              <a:t>[1] https://www.cs.ubc.ca/labs/lci/mlrg/slides/rnn.pdf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707427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  <a:p>
            <a:r>
              <a:rPr lang="pt-BR" dirty="0"/>
              <a:t>[1] https://www.cs.ubc.ca/labs/lci/mlrg/slides/rnn.pdf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58806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porta de saída decide </a:t>
            </a:r>
            <a:r>
              <a:rPr lang="pt-BR" i="1" dirty="0"/>
              <a:t>o</a:t>
            </a:r>
            <a:r>
              <a:rPr lang="pt-BR" dirty="0"/>
              <a:t> </a:t>
            </a:r>
            <a:r>
              <a:rPr lang="pt-BR" b="1" dirty="0"/>
              <a:t>quanto da informação armazenada será exposta como saída naquele instante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Referências</a:t>
            </a:r>
          </a:p>
          <a:p>
            <a:r>
              <a:rPr lang="pt-BR" dirty="0"/>
              <a:t>[1] https://www.cs.ubc.ca/labs/lci/mlrg/slides/rnn.pdf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779292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AF21517-1760-10C5-9ACD-3D4AD737C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5F98B198-C479-EA3D-55BA-9D67166985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30F676CF-1DC3-F6BB-6166-82AE18D625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  <a:p>
            <a:r>
              <a:rPr lang="pt-BR" dirty="0"/>
              <a:t>[1] https://www.cs.ubc.ca/labs/lci/mlrg/slides/rnn.pdf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7642C76-6177-C1C7-E8A0-9A1EAA8D06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531073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897646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469682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822798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  <a:p>
            <a:r>
              <a:rPr lang="pt-BR" dirty="0"/>
              <a:t>[1] https://datahacker.rs/005-rnn-tackling-vanishing-gradients-with-gru-and-lstm/ </a:t>
            </a:r>
          </a:p>
          <a:p>
            <a:r>
              <a:rPr lang="pt-BR" dirty="0"/>
              <a:t>[2] https://towardsdatascience.com/a-brief-introduction-to-recurrent-neural-networks-638f64a61ff4/</a:t>
            </a:r>
          </a:p>
          <a:p>
            <a:r>
              <a:rPr lang="pt-BR" dirty="0"/>
              <a:t>[3] https://colah.github.io/posts/2015-08-Understanding-LSTMs/</a:t>
            </a:r>
          </a:p>
          <a:p>
            <a:r>
              <a:rPr lang="pt-BR" dirty="0"/>
              <a:t>[4] https://www.sintef.no/contentassets/9689621c8cda44d9b2bc91c5fba21135/bianchi.pdf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270727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  <a:p>
            <a:r>
              <a:rPr lang="pt-BR" dirty="0"/>
              <a:t>[1] https://datahacker.rs/005-rnn-tackling-vanishing-gradients-with-gru-and-lstm/ </a:t>
            </a:r>
          </a:p>
          <a:p>
            <a:r>
              <a:rPr lang="pt-BR" dirty="0"/>
              <a:t>[2] https://towardsdatascience.com/a-brief-introduction-to-recurrent-neural-networks-638f64a61ff4/</a:t>
            </a:r>
          </a:p>
          <a:p>
            <a:r>
              <a:rPr lang="pt-BR" dirty="0"/>
              <a:t>[3] https://colah.github.io/posts/2015-08-Understanding-LSTMs/</a:t>
            </a:r>
          </a:p>
          <a:p>
            <a:r>
              <a:rPr lang="pt-BR" dirty="0"/>
              <a:t>[4] https://www.sintef.no/contentassets/9689621c8cda44d9b2bc91c5fba21135/bianchi.pdf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442283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D7EE1F0-BD5F-58F6-0B98-195856CB7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1F113980-A624-5C36-D922-705246EF1B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7886E628-AC10-6257-A910-0D8913738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As </a:t>
            </a:r>
            <a:r>
              <a:rPr lang="pt-BR" dirty="0" err="1"/>
              <a:t>GRUs</a:t>
            </a:r>
            <a:r>
              <a:rPr lang="pt-BR" dirty="0"/>
              <a:t> possuem as seguintes duas características distintivas:</a:t>
            </a:r>
          </a:p>
          <a:p>
            <a:endParaRPr lang="pt-BR" dirty="0"/>
          </a:p>
          <a:p>
            <a:r>
              <a:rPr lang="pt-BR" dirty="0"/>
              <a:t>Portas de reset ajudam a capturar dependências de curto prazo em sequências.</a:t>
            </a:r>
          </a:p>
          <a:p>
            <a:endParaRPr lang="pt-BR" dirty="0"/>
          </a:p>
          <a:p>
            <a:r>
              <a:rPr lang="pt-BR" dirty="0"/>
              <a:t>Portas de atualização ajudam a capturar dependências de longo prazo em sequências.</a:t>
            </a:r>
          </a:p>
          <a:p>
            <a:endParaRPr lang="pt-BR" dirty="0"/>
          </a:p>
          <a:p>
            <a:r>
              <a:rPr lang="pt-BR" dirty="0"/>
              <a:t>Referências</a:t>
            </a:r>
          </a:p>
          <a:p>
            <a:r>
              <a:rPr lang="pt-BR" dirty="0"/>
              <a:t>[1] https://datahacker.rs/005-rnn-tackling-vanishing-gradients-with-gru-and-lstm/ </a:t>
            </a:r>
          </a:p>
          <a:p>
            <a:r>
              <a:rPr lang="pt-BR" dirty="0"/>
              <a:t>[2] https://towardsdatascience.com/a-brief-introduction-to-recurrent-neural-networks-638f64a61ff4/</a:t>
            </a:r>
          </a:p>
          <a:p>
            <a:r>
              <a:rPr lang="pt-BR" dirty="0"/>
              <a:t>[3] https://colah.github.io/posts/2015-08-Understanding-LSTMs/</a:t>
            </a:r>
          </a:p>
          <a:p>
            <a:r>
              <a:rPr lang="pt-BR" dirty="0"/>
              <a:t>[4] https://www.sintef.no/contentassets/9689621c8cda44d9b2bc91c5fba21135/bianchi.pdf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085326A-22FD-BA6A-1FFA-405FF4255A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348065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4C5E186-D248-19A0-1A87-124CEB362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90332F1D-95DB-1978-1776-7961299592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7CA96C98-EE2F-5535-DB30-B8C3930A3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As </a:t>
            </a:r>
            <a:r>
              <a:rPr lang="pt-BR" dirty="0" err="1"/>
              <a:t>GRUs</a:t>
            </a:r>
            <a:r>
              <a:rPr lang="pt-BR" dirty="0"/>
              <a:t> possuem as seguintes duas características distintivas:</a:t>
            </a:r>
          </a:p>
          <a:p>
            <a:endParaRPr lang="pt-BR" dirty="0"/>
          </a:p>
          <a:p>
            <a:r>
              <a:rPr lang="pt-BR" dirty="0"/>
              <a:t>Portas de reset ajudam a capturar dependências de curto prazo em sequências.</a:t>
            </a:r>
          </a:p>
          <a:p>
            <a:endParaRPr lang="pt-BR" dirty="0"/>
          </a:p>
          <a:p>
            <a:r>
              <a:rPr lang="pt-BR" dirty="0"/>
              <a:t>Portas de atualização ajudam a capturar dependências de longo prazo em sequências.</a:t>
            </a:r>
          </a:p>
          <a:p>
            <a:endParaRPr lang="pt-BR" dirty="0"/>
          </a:p>
          <a:p>
            <a:r>
              <a:rPr lang="pt-BR" dirty="0"/>
              <a:t>Referências</a:t>
            </a:r>
          </a:p>
          <a:p>
            <a:r>
              <a:rPr lang="pt-BR" dirty="0"/>
              <a:t>[1] https://datahacker.rs/005-rnn-tackling-vanishing-gradients-with-gru-and-lstm/ </a:t>
            </a:r>
          </a:p>
          <a:p>
            <a:r>
              <a:rPr lang="pt-BR" dirty="0"/>
              <a:t>[2] https://towardsdatascience.com/a-brief-introduction-to-recurrent-neural-networks-638f64a61ff4/</a:t>
            </a:r>
          </a:p>
          <a:p>
            <a:r>
              <a:rPr lang="pt-BR" dirty="0"/>
              <a:t>[3] https://colah.github.io/posts/2015-08-Understanding-LSTMs/</a:t>
            </a:r>
          </a:p>
          <a:p>
            <a:r>
              <a:rPr lang="pt-BR" dirty="0"/>
              <a:t>[4] https://www.sintef.no/contentassets/9689621c8cda44d9b2bc91c5fba21135/bianchi.pdf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E50A54A-8706-9B45-68F9-9EBF984A5E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852531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ED99CFB-F71C-A643-C93A-91BD8743B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A6118884-A733-51F0-166E-874ACE5F9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37B9E6BA-0364-919A-82CD-6548B62A0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As </a:t>
            </a:r>
            <a:r>
              <a:rPr lang="pt-BR" dirty="0" err="1"/>
              <a:t>GRUs</a:t>
            </a:r>
            <a:r>
              <a:rPr lang="pt-BR" dirty="0"/>
              <a:t> possuem as seguintes duas características distintivas:</a:t>
            </a:r>
          </a:p>
          <a:p>
            <a:endParaRPr lang="pt-BR" dirty="0"/>
          </a:p>
          <a:p>
            <a:r>
              <a:rPr lang="pt-BR" dirty="0"/>
              <a:t>Portas de reset ajudam a capturar dependências de curto prazo em sequências.</a:t>
            </a:r>
          </a:p>
          <a:p>
            <a:endParaRPr lang="pt-BR" dirty="0"/>
          </a:p>
          <a:p>
            <a:r>
              <a:rPr lang="pt-BR" dirty="0"/>
              <a:t>Portas de atualização ajudam a capturar dependências de longo prazo em sequências.</a:t>
            </a:r>
          </a:p>
          <a:p>
            <a:endParaRPr lang="pt-BR" dirty="0"/>
          </a:p>
          <a:p>
            <a:r>
              <a:rPr lang="pt-BR" dirty="0"/>
              <a:t>Referências</a:t>
            </a:r>
          </a:p>
          <a:p>
            <a:r>
              <a:rPr lang="pt-BR" dirty="0"/>
              <a:t>[1] https://datahacker.rs/005-rnn-tackling-vanishing-gradients-with-gru-and-lstm/ </a:t>
            </a:r>
          </a:p>
          <a:p>
            <a:r>
              <a:rPr lang="pt-BR" dirty="0"/>
              <a:t>[2] https://towardsdatascience.com/a-brief-introduction-to-recurrent-neural-networks-638f64a61ff4/</a:t>
            </a:r>
          </a:p>
          <a:p>
            <a:r>
              <a:rPr lang="pt-BR" dirty="0"/>
              <a:t>[3] https://colah.github.io/posts/2015-08-Understanding-LSTMs/</a:t>
            </a:r>
          </a:p>
          <a:p>
            <a:r>
              <a:rPr lang="pt-BR" dirty="0"/>
              <a:t>[4] https://www.sintef.no/contentassets/9689621c8cda44d9b2bc91c5fba21135/bianchi.pdf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8E865C5-84FC-7423-84BF-215C0499C1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414431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75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374224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Uma rede do tipo sequência para vetor (</a:t>
            </a:r>
            <a:r>
              <a:rPr lang="pt-BR" dirty="0" err="1"/>
              <a:t>encoder</a:t>
            </a:r>
            <a:r>
              <a:rPr lang="pt-BR" dirty="0"/>
              <a:t>) conectada a uma rede do tipo vetor para sequência (</a:t>
            </a:r>
            <a:r>
              <a:rPr lang="pt-BR" dirty="0" err="1"/>
              <a:t>decoder</a:t>
            </a:r>
            <a:r>
              <a:rPr lang="pt-BR" dirty="0"/>
              <a:t>)</a:t>
            </a:r>
          </a:p>
          <a:p>
            <a:r>
              <a:rPr lang="pt-BR" dirty="0"/>
              <a:t>O </a:t>
            </a:r>
            <a:r>
              <a:rPr lang="pt-BR" dirty="0" err="1"/>
              <a:t>encoder</a:t>
            </a:r>
            <a:r>
              <a:rPr lang="pt-BR" dirty="0"/>
              <a:t> gera um vetor contendo informação latente da sequência de entrada e o </a:t>
            </a:r>
            <a:r>
              <a:rPr lang="pt-BR" dirty="0" err="1"/>
              <a:t>decoder</a:t>
            </a:r>
            <a:r>
              <a:rPr lang="pt-BR" dirty="0"/>
              <a:t> decodifica ele em uma sequência.</a:t>
            </a:r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76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0747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https://colab.research.google.com/github/zz4fap/c24_inteligencia_artificial/blob/master/notebooks/rnn.ipynb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77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213060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78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355876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89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25853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8D7C511-A7D2-5EB1-97DA-D3F90E4E1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96374BD0-DC0C-EDA8-E7F1-DE8D8E563B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EEAD1AE6-6E02-5D42-7E6C-4FEB17403E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CD063DC-C958-65C8-2E55-CB2FF95203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90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768815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8D7C511-A7D2-5EB1-97DA-D3F90E4E1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96374BD0-DC0C-EDA8-E7F1-DE8D8E563B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EEAD1AE6-6E02-5D42-7E6C-4FEB17403E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CD063DC-C958-65C8-2E55-CB2FF95203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91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818911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5383363-000A-0D60-6C1E-B401D6511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0FBA9BC8-6559-200B-A0DC-C7C193B50C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CB93FD94-0D0E-D985-C243-70A96161B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444AF09-4A8D-EB58-C542-61C146A8C5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92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314428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B775DFA-E39B-0EF4-1143-A327A7CAA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87859BB1-D8C1-65C8-6748-CB851BA5D5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F422EE45-2516-549E-714A-C375BCD8B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00447B7-D6A2-FFD4-F49A-1A0A90A830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93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573918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6D5BA58-4E58-75EA-7BEC-ED2E6436B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E53AD002-AA40-E355-B02F-572AE6190D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C40F3552-4534-C924-31C6-211591DD81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87906D9-35CD-7BBD-9B83-9AF5394718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94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601780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888EBD2-AA05-D187-F34B-ABF6C940A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2541C393-F2DD-B5B3-8124-2A3017B81B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04BF964D-0563-00C6-DDFF-D33E4F0D35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D49EF4F-E76D-C638-D820-CC9A1EFEA9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95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965313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FC757CE-BF53-437D-28DC-9D1656072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1B0179AB-2D11-DEBD-9B1F-449BB16F9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6F126D2B-715D-BDF5-8BC7-7ACBED6228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6DE5B57-5F1E-72D0-DAE3-0F58D801D6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96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971963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FC757CE-BF53-437D-28DC-9D1656072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1B0179AB-2D11-DEBD-9B1F-449BB16F9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6F126D2B-715D-BDF5-8BC7-7ACBED6228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6DE5B57-5F1E-72D0-DAE3-0F58D801D6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97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018552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2845150-E3A0-4AA8-1B82-4EB9CA0E8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A53E8584-A895-574E-5864-7A79AC8845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C4C0F3F9-B45E-5A1E-7FC6-0155077F71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61CD3A3-7795-BD62-EC53-236C1B172A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98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861072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FC3BFA3-59AF-04F9-0576-93E8CE77B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90AC571C-6EE6-6F3D-F881-BE06D868B3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30E6B7E9-D7F9-10C6-4778-8BEC26413A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7BE00AF-4D89-539C-EE0E-6F52B8BD50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99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1456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xmlns="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xmlns="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xmlns="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xmlns="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xmlns="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xmlns="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xmlns="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xmlns="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xmlns="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xmlns="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xmlns="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xmlns="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felipe.figueiredo@Inatel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6.png"/><Relationship Id="rId7" Type="http://schemas.openxmlformats.org/officeDocument/2006/relationships/image" Target="../media/image30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1.png"/><Relationship Id="rId5" Type="http://schemas.openxmlformats.org/officeDocument/2006/relationships/image" Target="../media/image28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1.png"/><Relationship Id="rId2" Type="http://schemas.openxmlformats.org/officeDocument/2006/relationships/image" Target="../media/image4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1.png"/><Relationship Id="rId2" Type="http://schemas.openxmlformats.org/officeDocument/2006/relationships/image" Target="../media/image4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1.png"/><Relationship Id="rId4" Type="http://schemas.openxmlformats.org/officeDocument/2006/relationships/image" Target="../media/image47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1.png"/><Relationship Id="rId2" Type="http://schemas.openxmlformats.org/officeDocument/2006/relationships/image" Target="../media/image49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1.png"/><Relationship Id="rId4" Type="http://schemas.openxmlformats.org/officeDocument/2006/relationships/image" Target="../media/image511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0.png"/><Relationship Id="rId3" Type="http://schemas.openxmlformats.org/officeDocument/2006/relationships/image" Target="../media/image491.png"/><Relationship Id="rId7" Type="http://schemas.openxmlformats.org/officeDocument/2006/relationships/image" Target="../media/image54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1.png"/><Relationship Id="rId5" Type="http://schemas.openxmlformats.org/officeDocument/2006/relationships/image" Target="../media/image521.png"/><Relationship Id="rId4" Type="http://schemas.openxmlformats.org/officeDocument/2006/relationships/image" Target="../media/image511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0.png"/><Relationship Id="rId3" Type="http://schemas.openxmlformats.org/officeDocument/2006/relationships/image" Target="../media/image441.png"/><Relationship Id="rId7" Type="http://schemas.openxmlformats.org/officeDocument/2006/relationships/image" Target="../media/image59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0.png"/><Relationship Id="rId5" Type="http://schemas.openxmlformats.org/officeDocument/2006/relationships/image" Target="../media/image570.png"/><Relationship Id="rId4" Type="http://schemas.openxmlformats.org/officeDocument/2006/relationships/image" Target="../media/image560.png"/><Relationship Id="rId9" Type="http://schemas.openxmlformats.org/officeDocument/2006/relationships/image" Target="../media/image61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zz4fap/c24_inteligencia_artificial/blob/master/notebooks/rnn.ipynb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jpeg"/><Relationship Id="rId4" Type="http://schemas.openxmlformats.org/officeDocument/2006/relationships/image" Target="../media/image65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z4fap/c24_inteligencia_artificial/blob/main/listas/Lista%2011%20-%20RNN.pdf" TargetMode="Externa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670.png"/><Relationship Id="rId9" Type="http://schemas.openxmlformats.org/officeDocument/2006/relationships/image" Target="../media/image72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7.png"/><Relationship Id="rId18" Type="http://schemas.openxmlformats.org/officeDocument/2006/relationships/image" Target="../media/image82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12" Type="http://schemas.openxmlformats.org/officeDocument/2006/relationships/image" Target="../media/image76.png"/><Relationship Id="rId17" Type="http://schemas.openxmlformats.org/officeDocument/2006/relationships/image" Target="../media/image81.png"/><Relationship Id="rId2" Type="http://schemas.openxmlformats.org/officeDocument/2006/relationships/image" Target="../media/image650.png"/><Relationship Id="rId16" Type="http://schemas.openxmlformats.org/officeDocument/2006/relationships/image" Target="../media/image80.png"/><Relationship Id="rId20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11" Type="http://schemas.openxmlformats.org/officeDocument/2006/relationships/image" Target="../media/image75.png"/><Relationship Id="rId5" Type="http://schemas.openxmlformats.org/officeDocument/2006/relationships/image" Target="../media/image68.png"/><Relationship Id="rId15" Type="http://schemas.openxmlformats.org/officeDocument/2006/relationships/image" Target="../media/image79.png"/><Relationship Id="rId10" Type="http://schemas.openxmlformats.org/officeDocument/2006/relationships/image" Target="../media/image73.png"/><Relationship Id="rId19" Type="http://schemas.openxmlformats.org/officeDocument/2006/relationships/image" Target="../media/image83.png"/><Relationship Id="rId4" Type="http://schemas.openxmlformats.org/officeDocument/2006/relationships/image" Target="../media/image670.png"/><Relationship Id="rId9" Type="http://schemas.openxmlformats.org/officeDocument/2006/relationships/image" Target="../media/image72.png"/><Relationship Id="rId14" Type="http://schemas.openxmlformats.org/officeDocument/2006/relationships/image" Target="../media/image78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13" Type="http://schemas.openxmlformats.org/officeDocument/2006/relationships/image" Target="../media/image640.png"/><Relationship Id="rId18" Type="http://schemas.openxmlformats.org/officeDocument/2006/relationships/image" Target="../media/image420.png"/><Relationship Id="rId26" Type="http://schemas.openxmlformats.org/officeDocument/2006/relationships/image" Target="../media/image490.png"/><Relationship Id="rId3" Type="http://schemas.openxmlformats.org/officeDocument/2006/relationships/image" Target="../media/image280.png"/><Relationship Id="rId21" Type="http://schemas.openxmlformats.org/officeDocument/2006/relationships/image" Target="../media/image86.png"/><Relationship Id="rId7" Type="http://schemas.openxmlformats.org/officeDocument/2006/relationships/image" Target="../media/image320.png"/><Relationship Id="rId12" Type="http://schemas.openxmlformats.org/officeDocument/2006/relationships/image" Target="../media/image370.png"/><Relationship Id="rId17" Type="http://schemas.openxmlformats.org/officeDocument/2006/relationships/image" Target="../media/image85.png"/><Relationship Id="rId25" Type="http://schemas.openxmlformats.org/officeDocument/2006/relationships/image" Target="../media/image480.png"/><Relationship Id="rId2" Type="http://schemas.openxmlformats.org/officeDocument/2006/relationships/image" Target="../media/image270.png"/><Relationship Id="rId16" Type="http://schemas.openxmlformats.org/officeDocument/2006/relationships/image" Target="../media/image400.png"/><Relationship Id="rId20" Type="http://schemas.openxmlformats.org/officeDocument/2006/relationships/image" Target="../media/image440.png"/><Relationship Id="rId29" Type="http://schemas.openxmlformats.org/officeDocument/2006/relationships/image" Target="../media/image5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0.png"/><Relationship Id="rId11" Type="http://schemas.openxmlformats.org/officeDocument/2006/relationships/image" Target="../media/image360.png"/><Relationship Id="rId24" Type="http://schemas.openxmlformats.org/officeDocument/2006/relationships/image" Target="../media/image470.png"/><Relationship Id="rId5" Type="http://schemas.openxmlformats.org/officeDocument/2006/relationships/image" Target="../media/image300.png"/><Relationship Id="rId15" Type="http://schemas.openxmlformats.org/officeDocument/2006/relationships/image" Target="../media/image390.png"/><Relationship Id="rId23" Type="http://schemas.openxmlformats.org/officeDocument/2006/relationships/image" Target="../media/image460.png"/><Relationship Id="rId28" Type="http://schemas.openxmlformats.org/officeDocument/2006/relationships/image" Target="../media/image510.png"/><Relationship Id="rId10" Type="http://schemas.openxmlformats.org/officeDocument/2006/relationships/image" Target="../media/image350.png"/><Relationship Id="rId19" Type="http://schemas.openxmlformats.org/officeDocument/2006/relationships/image" Target="../media/image430.png"/><Relationship Id="rId4" Type="http://schemas.openxmlformats.org/officeDocument/2006/relationships/image" Target="../media/image290.png"/><Relationship Id="rId9" Type="http://schemas.openxmlformats.org/officeDocument/2006/relationships/image" Target="../media/image630.png"/><Relationship Id="rId14" Type="http://schemas.openxmlformats.org/officeDocument/2006/relationships/image" Target="../media/image380.png"/><Relationship Id="rId22" Type="http://schemas.openxmlformats.org/officeDocument/2006/relationships/image" Target="../media/image450.png"/><Relationship Id="rId27" Type="http://schemas.openxmlformats.org/officeDocument/2006/relationships/image" Target="../media/image500.png"/><Relationship Id="rId30" Type="http://schemas.openxmlformats.org/officeDocument/2006/relationships/image" Target="../media/image530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0.png"/><Relationship Id="rId13" Type="http://schemas.openxmlformats.org/officeDocument/2006/relationships/image" Target="../media/image86.png"/><Relationship Id="rId18" Type="http://schemas.openxmlformats.org/officeDocument/2006/relationships/image" Target="../media/image490.png"/><Relationship Id="rId3" Type="http://schemas.openxmlformats.org/officeDocument/2006/relationships/image" Target="../media/image360.png"/><Relationship Id="rId21" Type="http://schemas.openxmlformats.org/officeDocument/2006/relationships/image" Target="../media/image520.png"/><Relationship Id="rId7" Type="http://schemas.openxmlformats.org/officeDocument/2006/relationships/image" Target="../media/image390.png"/><Relationship Id="rId12" Type="http://schemas.openxmlformats.org/officeDocument/2006/relationships/image" Target="../media/image440.png"/><Relationship Id="rId17" Type="http://schemas.openxmlformats.org/officeDocument/2006/relationships/image" Target="../media/image480.png"/><Relationship Id="rId2" Type="http://schemas.openxmlformats.org/officeDocument/2006/relationships/image" Target="../media/image350.png"/><Relationship Id="rId16" Type="http://schemas.openxmlformats.org/officeDocument/2006/relationships/image" Target="../media/image470.png"/><Relationship Id="rId20" Type="http://schemas.openxmlformats.org/officeDocument/2006/relationships/image" Target="../media/image5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0.png"/><Relationship Id="rId11" Type="http://schemas.openxmlformats.org/officeDocument/2006/relationships/image" Target="../media/image430.png"/><Relationship Id="rId5" Type="http://schemas.openxmlformats.org/officeDocument/2006/relationships/image" Target="../media/image640.png"/><Relationship Id="rId15" Type="http://schemas.openxmlformats.org/officeDocument/2006/relationships/image" Target="../media/image460.png"/><Relationship Id="rId10" Type="http://schemas.openxmlformats.org/officeDocument/2006/relationships/image" Target="../media/image420.png"/><Relationship Id="rId19" Type="http://schemas.openxmlformats.org/officeDocument/2006/relationships/image" Target="../media/image500.png"/><Relationship Id="rId4" Type="http://schemas.openxmlformats.org/officeDocument/2006/relationships/image" Target="../media/image370.png"/><Relationship Id="rId9" Type="http://schemas.openxmlformats.org/officeDocument/2006/relationships/image" Target="../media/image85.png"/><Relationship Id="rId14" Type="http://schemas.openxmlformats.org/officeDocument/2006/relationships/image" Target="../media/image450.png"/><Relationship Id="rId22" Type="http://schemas.openxmlformats.org/officeDocument/2006/relationships/image" Target="../media/image530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0.png"/><Relationship Id="rId3" Type="http://schemas.openxmlformats.org/officeDocument/2006/relationships/image" Target="../media/image751.png"/><Relationship Id="rId7" Type="http://schemas.openxmlformats.org/officeDocument/2006/relationships/image" Target="../media/image790.png"/><Relationship Id="rId2" Type="http://schemas.openxmlformats.org/officeDocument/2006/relationships/image" Target="../media/image7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0.png"/><Relationship Id="rId5" Type="http://schemas.openxmlformats.org/officeDocument/2006/relationships/image" Target="../media/image770.png"/><Relationship Id="rId4" Type="http://schemas.openxmlformats.org/officeDocument/2006/relationships/image" Target="../media/image760.png"/><Relationship Id="rId9" Type="http://schemas.openxmlformats.org/officeDocument/2006/relationships/image" Target="../media/image811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0.png"/><Relationship Id="rId3" Type="http://schemas.openxmlformats.org/officeDocument/2006/relationships/image" Target="../media/image751.png"/><Relationship Id="rId7" Type="http://schemas.openxmlformats.org/officeDocument/2006/relationships/image" Target="../media/image790.png"/><Relationship Id="rId12" Type="http://schemas.openxmlformats.org/officeDocument/2006/relationships/image" Target="../media/image87.png"/><Relationship Id="rId2" Type="http://schemas.openxmlformats.org/officeDocument/2006/relationships/image" Target="../media/image7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0.png"/><Relationship Id="rId11" Type="http://schemas.openxmlformats.org/officeDocument/2006/relationships/image" Target="../media/image860.png"/><Relationship Id="rId5" Type="http://schemas.openxmlformats.org/officeDocument/2006/relationships/image" Target="../media/image831.png"/><Relationship Id="rId10" Type="http://schemas.openxmlformats.org/officeDocument/2006/relationships/image" Target="../media/image811.png"/><Relationship Id="rId4" Type="http://schemas.openxmlformats.org/officeDocument/2006/relationships/image" Target="../media/image821.png"/><Relationship Id="rId9" Type="http://schemas.openxmlformats.org/officeDocument/2006/relationships/image" Target="../media/image850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7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10" Type="http://schemas.openxmlformats.org/officeDocument/2006/relationships/image" Target="../media/image94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641.png"/><Relationship Id="rId7" Type="http://schemas.openxmlformats.org/officeDocument/2006/relationships/image" Target="../media/image98.png"/><Relationship Id="rId12" Type="http://schemas.openxmlformats.org/officeDocument/2006/relationships/image" Target="../media/image10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11" Type="http://schemas.openxmlformats.org/officeDocument/2006/relationships/image" Target="../media/image102.png"/><Relationship Id="rId5" Type="http://schemas.openxmlformats.org/officeDocument/2006/relationships/image" Target="../media/image96.png"/><Relationship Id="rId10" Type="http://schemas.openxmlformats.org/officeDocument/2006/relationships/image" Target="../media/image101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1.png"/><Relationship Id="rId3" Type="http://schemas.openxmlformats.org/officeDocument/2006/relationships/image" Target="../media/image810.png"/><Relationship Id="rId7" Type="http://schemas.openxmlformats.org/officeDocument/2006/relationships/image" Target="../media/image981.png"/><Relationship Id="rId12" Type="http://schemas.openxmlformats.org/officeDocument/2006/relationships/image" Target="../media/image10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0.png"/><Relationship Id="rId11" Type="http://schemas.openxmlformats.org/officeDocument/2006/relationships/image" Target="../media/image1010.png"/><Relationship Id="rId5" Type="http://schemas.openxmlformats.org/officeDocument/2006/relationships/image" Target="../media/image830.png"/><Relationship Id="rId10" Type="http://schemas.openxmlformats.org/officeDocument/2006/relationships/image" Target="../media/image1000.png"/><Relationship Id="rId4" Type="http://schemas.openxmlformats.org/officeDocument/2006/relationships/image" Target="../media/image820.png"/><Relationship Id="rId9" Type="http://schemas.openxmlformats.org/officeDocument/2006/relationships/image" Target="../media/image991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1.png"/><Relationship Id="rId3" Type="http://schemas.openxmlformats.org/officeDocument/2006/relationships/image" Target="../media/image810.png"/><Relationship Id="rId7" Type="http://schemas.openxmlformats.org/officeDocument/2006/relationships/image" Target="../media/image98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0.png"/><Relationship Id="rId11" Type="http://schemas.openxmlformats.org/officeDocument/2006/relationships/image" Target="../media/image1010.png"/><Relationship Id="rId5" Type="http://schemas.openxmlformats.org/officeDocument/2006/relationships/image" Target="../media/image830.png"/><Relationship Id="rId10" Type="http://schemas.openxmlformats.org/officeDocument/2006/relationships/image" Target="../media/image1000.png"/><Relationship Id="rId4" Type="http://schemas.openxmlformats.org/officeDocument/2006/relationships/image" Target="../media/image820.png"/><Relationship Id="rId9" Type="http://schemas.openxmlformats.org/officeDocument/2006/relationships/image" Target="../media/image991.png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0.png"/><Relationship Id="rId13" Type="http://schemas.openxmlformats.org/officeDocument/2006/relationships/image" Target="../media/image1040.png"/><Relationship Id="rId18" Type="http://schemas.openxmlformats.org/officeDocument/2006/relationships/image" Target="../media/image109.png"/><Relationship Id="rId7" Type="http://schemas.openxmlformats.org/officeDocument/2006/relationships/image" Target="../media/image931.png"/><Relationship Id="rId12" Type="http://schemas.openxmlformats.org/officeDocument/2006/relationships/image" Target="../media/image1030.png"/><Relationship Id="rId17" Type="http://schemas.openxmlformats.org/officeDocument/2006/relationships/image" Target="../media/image108.png"/><Relationship Id="rId2" Type="http://schemas.openxmlformats.org/officeDocument/2006/relationships/notesSlide" Target="../notesSlides/notesSlide54.xml"/><Relationship Id="rId16" Type="http://schemas.openxmlformats.org/officeDocument/2006/relationships/image" Target="../media/image107.png"/><Relationship Id="rId20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0.png"/><Relationship Id="rId11" Type="http://schemas.openxmlformats.org/officeDocument/2006/relationships/image" Target="../media/image1020.png"/><Relationship Id="rId5" Type="http://schemas.openxmlformats.org/officeDocument/2006/relationships/image" Target="../media/image910.png"/><Relationship Id="rId15" Type="http://schemas.openxmlformats.org/officeDocument/2006/relationships/image" Target="../media/image106.png"/><Relationship Id="rId10" Type="http://schemas.openxmlformats.org/officeDocument/2006/relationships/image" Target="../media/image830.png"/><Relationship Id="rId19" Type="http://schemas.openxmlformats.org/officeDocument/2006/relationships/image" Target="../media/image110.png"/><Relationship Id="rId4" Type="http://schemas.openxmlformats.org/officeDocument/2006/relationships/image" Target="../media/image900.png"/><Relationship Id="rId9" Type="http://schemas.openxmlformats.org/officeDocument/2006/relationships/image" Target="../media/image820.png"/><Relationship Id="rId14" Type="http://schemas.openxmlformats.org/officeDocument/2006/relationships/image" Target="../media/image105.png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0.png"/><Relationship Id="rId3" Type="http://schemas.openxmlformats.org/officeDocument/2006/relationships/image" Target="../media/image720.png"/><Relationship Id="rId7" Type="http://schemas.openxmlformats.org/officeDocument/2006/relationships/image" Target="../media/image710.png"/><Relationship Id="rId12" Type="http://schemas.openxmlformats.org/officeDocument/2006/relationships/image" Target="../media/image11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0.png"/><Relationship Id="rId11" Type="http://schemas.openxmlformats.org/officeDocument/2006/relationships/image" Target="../media/image107.png"/><Relationship Id="rId5" Type="http://schemas.openxmlformats.org/officeDocument/2006/relationships/image" Target="../media/image105.png"/><Relationship Id="rId10" Type="http://schemas.openxmlformats.org/officeDocument/2006/relationships/image" Target="../media/image106.png"/><Relationship Id="rId4" Type="http://schemas.openxmlformats.org/officeDocument/2006/relationships/image" Target="../media/image730.png"/><Relationship Id="rId9" Type="http://schemas.openxmlformats.org/officeDocument/2006/relationships/image" Target="../media/image112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0.png"/><Relationship Id="rId13" Type="http://schemas.openxmlformats.org/officeDocument/2006/relationships/image" Target="../media/image117.png"/><Relationship Id="rId3" Type="http://schemas.openxmlformats.org/officeDocument/2006/relationships/image" Target="../media/image114.png"/><Relationship Id="rId7" Type="http://schemas.openxmlformats.org/officeDocument/2006/relationships/image" Target="../media/image116.png"/><Relationship Id="rId12" Type="http://schemas.openxmlformats.org/officeDocument/2006/relationships/image" Target="../media/image11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0.png"/><Relationship Id="rId11" Type="http://schemas.openxmlformats.org/officeDocument/2006/relationships/image" Target="../media/image107.png"/><Relationship Id="rId5" Type="http://schemas.openxmlformats.org/officeDocument/2006/relationships/image" Target="../media/image105.png"/><Relationship Id="rId10" Type="http://schemas.openxmlformats.org/officeDocument/2006/relationships/image" Target="../media/image106.png"/><Relationship Id="rId4" Type="http://schemas.openxmlformats.org/officeDocument/2006/relationships/image" Target="../media/image115.png"/><Relationship Id="rId9" Type="http://schemas.openxmlformats.org/officeDocument/2006/relationships/image" Target="../media/image112.png"/><Relationship Id="rId14" Type="http://schemas.openxmlformats.org/officeDocument/2006/relationships/image" Target="../media/image118.pn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0.png"/><Relationship Id="rId13" Type="http://schemas.openxmlformats.org/officeDocument/2006/relationships/image" Target="../media/image119.png"/><Relationship Id="rId3" Type="http://schemas.openxmlformats.org/officeDocument/2006/relationships/image" Target="../media/image1030.png"/><Relationship Id="rId7" Type="http://schemas.openxmlformats.org/officeDocument/2006/relationships/image" Target="../media/image710.png"/><Relationship Id="rId12" Type="http://schemas.openxmlformats.org/officeDocument/2006/relationships/image" Target="../media/image72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11" Type="http://schemas.openxmlformats.org/officeDocument/2006/relationships/image" Target="../media/image930.png"/><Relationship Id="rId5" Type="http://schemas.openxmlformats.org/officeDocument/2006/relationships/image" Target="../media/image730.png"/><Relationship Id="rId10" Type="http://schemas.openxmlformats.org/officeDocument/2006/relationships/image" Target="../media/image107.png"/><Relationship Id="rId4" Type="http://schemas.openxmlformats.org/officeDocument/2006/relationships/image" Target="../media/image106.png"/><Relationship Id="rId9" Type="http://schemas.openxmlformats.org/officeDocument/2006/relationships/image" Target="../media/image112.png"/><Relationship Id="rId14" Type="http://schemas.openxmlformats.org/officeDocument/2006/relationships/image" Target="../media/image120.png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0.png"/><Relationship Id="rId13" Type="http://schemas.openxmlformats.org/officeDocument/2006/relationships/image" Target="../media/image125.png"/><Relationship Id="rId3" Type="http://schemas.openxmlformats.org/officeDocument/2006/relationships/image" Target="../media/image710.png"/><Relationship Id="rId7" Type="http://schemas.openxmlformats.org/officeDocument/2006/relationships/image" Target="../media/image940.png"/><Relationship Id="rId12" Type="http://schemas.openxmlformats.org/officeDocument/2006/relationships/image" Target="../media/image12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0.png"/><Relationship Id="rId11" Type="http://schemas.openxmlformats.org/officeDocument/2006/relationships/image" Target="../media/image730.png"/><Relationship Id="rId5" Type="http://schemas.openxmlformats.org/officeDocument/2006/relationships/image" Target="../media/image930.png"/><Relationship Id="rId15" Type="http://schemas.openxmlformats.org/officeDocument/2006/relationships/image" Target="../media/image127.png"/><Relationship Id="rId10" Type="http://schemas.openxmlformats.org/officeDocument/2006/relationships/image" Target="../media/image123.png"/><Relationship Id="rId4" Type="http://schemas.openxmlformats.org/officeDocument/2006/relationships/image" Target="../media/image121.png"/><Relationship Id="rId9" Type="http://schemas.openxmlformats.org/officeDocument/2006/relationships/image" Target="../media/image122.png"/><Relationship Id="rId14" Type="http://schemas.openxmlformats.org/officeDocument/2006/relationships/image" Target="../media/image126.pn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25.png"/><Relationship Id="rId3" Type="http://schemas.openxmlformats.org/officeDocument/2006/relationships/image" Target="../media/image710.png"/><Relationship Id="rId7" Type="http://schemas.openxmlformats.org/officeDocument/2006/relationships/image" Target="../media/image129.png"/><Relationship Id="rId12" Type="http://schemas.openxmlformats.org/officeDocument/2006/relationships/image" Target="../media/image12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0.png"/><Relationship Id="rId11" Type="http://schemas.openxmlformats.org/officeDocument/2006/relationships/image" Target="../media/image730.png"/><Relationship Id="rId5" Type="http://schemas.openxmlformats.org/officeDocument/2006/relationships/image" Target="../media/image128.png"/><Relationship Id="rId15" Type="http://schemas.openxmlformats.org/officeDocument/2006/relationships/image" Target="../media/image131.png"/><Relationship Id="rId10" Type="http://schemas.openxmlformats.org/officeDocument/2006/relationships/image" Target="../media/image123.png"/><Relationship Id="rId4" Type="http://schemas.openxmlformats.org/officeDocument/2006/relationships/image" Target="../media/image121.png"/><Relationship Id="rId9" Type="http://schemas.openxmlformats.org/officeDocument/2006/relationships/image" Target="../media/image122.png"/><Relationship Id="rId14" Type="http://schemas.openxmlformats.org/officeDocument/2006/relationships/image" Target="../media/image126.png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18" Type="http://schemas.openxmlformats.org/officeDocument/2006/relationships/image" Target="../media/image147.png"/><Relationship Id="rId26" Type="http://schemas.openxmlformats.org/officeDocument/2006/relationships/image" Target="../media/image155.png"/><Relationship Id="rId3" Type="http://schemas.openxmlformats.org/officeDocument/2006/relationships/image" Target="../media/image132.png"/><Relationship Id="rId21" Type="http://schemas.openxmlformats.org/officeDocument/2006/relationships/image" Target="../media/image150.png"/><Relationship Id="rId7" Type="http://schemas.openxmlformats.org/officeDocument/2006/relationships/image" Target="../media/image136.png"/><Relationship Id="rId12" Type="http://schemas.openxmlformats.org/officeDocument/2006/relationships/image" Target="../media/image141.png"/><Relationship Id="rId17" Type="http://schemas.openxmlformats.org/officeDocument/2006/relationships/image" Target="../media/image146.png"/><Relationship Id="rId25" Type="http://schemas.openxmlformats.org/officeDocument/2006/relationships/image" Target="../media/image154.png"/><Relationship Id="rId2" Type="http://schemas.openxmlformats.org/officeDocument/2006/relationships/notesSlide" Target="../notesSlides/notesSlide60.xml"/><Relationship Id="rId16" Type="http://schemas.openxmlformats.org/officeDocument/2006/relationships/image" Target="../media/image145.png"/><Relationship Id="rId20" Type="http://schemas.openxmlformats.org/officeDocument/2006/relationships/image" Target="../media/image149.png"/><Relationship Id="rId29" Type="http://schemas.openxmlformats.org/officeDocument/2006/relationships/image" Target="../media/image1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11" Type="http://schemas.openxmlformats.org/officeDocument/2006/relationships/image" Target="../media/image140.png"/><Relationship Id="rId24" Type="http://schemas.openxmlformats.org/officeDocument/2006/relationships/image" Target="../media/image153.png"/><Relationship Id="rId5" Type="http://schemas.openxmlformats.org/officeDocument/2006/relationships/image" Target="../media/image134.png"/><Relationship Id="rId15" Type="http://schemas.openxmlformats.org/officeDocument/2006/relationships/image" Target="../media/image144.png"/><Relationship Id="rId23" Type="http://schemas.openxmlformats.org/officeDocument/2006/relationships/image" Target="../media/image152.png"/><Relationship Id="rId28" Type="http://schemas.openxmlformats.org/officeDocument/2006/relationships/image" Target="../media/image157.png"/><Relationship Id="rId10" Type="http://schemas.openxmlformats.org/officeDocument/2006/relationships/image" Target="../media/image139.png"/><Relationship Id="rId19" Type="http://schemas.openxmlformats.org/officeDocument/2006/relationships/image" Target="../media/image148.png"/><Relationship Id="rId4" Type="http://schemas.openxmlformats.org/officeDocument/2006/relationships/image" Target="../media/image133.png"/><Relationship Id="rId9" Type="http://schemas.openxmlformats.org/officeDocument/2006/relationships/image" Target="../media/image138.png"/><Relationship Id="rId14" Type="http://schemas.openxmlformats.org/officeDocument/2006/relationships/image" Target="../media/image143.png"/><Relationship Id="rId22" Type="http://schemas.openxmlformats.org/officeDocument/2006/relationships/image" Target="../media/image151.png"/><Relationship Id="rId27" Type="http://schemas.openxmlformats.org/officeDocument/2006/relationships/image" Target="../media/image156.png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3" Type="http://schemas.openxmlformats.org/officeDocument/2006/relationships/image" Target="../media/image159.png"/><Relationship Id="rId7" Type="http://schemas.openxmlformats.org/officeDocument/2006/relationships/image" Target="../media/image16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3.png"/><Relationship Id="rId11" Type="http://schemas.openxmlformats.org/officeDocument/2006/relationships/image" Target="../media/image168.png"/><Relationship Id="rId5" Type="http://schemas.openxmlformats.org/officeDocument/2006/relationships/image" Target="../media/image162.png"/><Relationship Id="rId10" Type="http://schemas.openxmlformats.org/officeDocument/2006/relationships/image" Target="../media/image167.png"/><Relationship Id="rId4" Type="http://schemas.openxmlformats.org/officeDocument/2006/relationships/image" Target="../media/image161.png"/><Relationship Id="rId9" Type="http://schemas.openxmlformats.org/officeDocument/2006/relationships/image" Target="../media/image166.png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430EB894-B7D4-434C-9D1A-A14094D9BEEC}"/>
              </a:ext>
            </a:extLst>
          </p:cNvPr>
          <p:cNvSpPr txBox="1"/>
          <p:nvPr/>
        </p:nvSpPr>
        <p:spPr>
          <a:xfrm>
            <a:off x="7915801" y="57806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Felipe A. P. de Figueiredo</a:t>
            </a:r>
          </a:p>
          <a:p>
            <a:r>
              <a:rPr lang="pt-BR" dirty="0">
                <a:hlinkClick r:id="rId3"/>
              </a:rPr>
              <a:t>felipe.figueiredo@Inatel.br</a:t>
            </a:r>
            <a:endParaRPr lang="pt-BR" dirty="0"/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xmlns="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439886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xmlns="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1767" y="836433"/>
            <a:ext cx="10906298" cy="2690156"/>
          </a:xfrm>
        </p:spPr>
        <p:txBody>
          <a:bodyPr anchor="ctr">
            <a:noAutofit/>
          </a:bodyPr>
          <a:lstStyle/>
          <a:p>
            <a:r>
              <a:rPr lang="pt-BR" sz="6600" dirty="0"/>
              <a:t>C24 – Inteligência Artificial:</a:t>
            </a:r>
            <a:r>
              <a:rPr lang="pt-BR" sz="7200" dirty="0"/>
              <a:t/>
            </a:r>
            <a:br>
              <a:rPr lang="pt-BR" sz="7200" dirty="0"/>
            </a:br>
            <a:r>
              <a:rPr lang="pt-BR" sz="7200" b="1" i="1" dirty="0"/>
              <a:t>Redes neurais recorrentes</a:t>
            </a:r>
          </a:p>
        </p:txBody>
      </p:sp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Motivação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199" y="1825624"/>
            <a:ext cx="11353801" cy="5032375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dirty="0"/>
              <a:t>Muitos problemas envolvem </a:t>
            </a:r>
            <a:r>
              <a:rPr lang="pt-BR" altLang="pt-BR" b="1" dirty="0">
                <a:solidFill>
                  <a:schemeClr val="accent2"/>
                </a:solidFill>
              </a:rPr>
              <a:t>dados </a:t>
            </a:r>
            <a:r>
              <a:rPr lang="pt-BR" altLang="pt-BR" b="1" dirty="0" smtClean="0">
                <a:solidFill>
                  <a:schemeClr val="accent2"/>
                </a:solidFill>
              </a:rPr>
              <a:t>sequenciais</a:t>
            </a:r>
            <a:r>
              <a:rPr lang="pt-BR" altLang="pt-BR" dirty="0"/>
              <a:t>: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BR" altLang="pt-BR" dirty="0"/>
              <a:t>Voz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BR" altLang="pt-BR" dirty="0"/>
              <a:t>Texto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BR" altLang="pt-BR" dirty="0"/>
              <a:t>Séries temporais (e.g., EGC, EEG, preço de ações, desvanecimento de um canal)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BR" altLang="pt-BR" dirty="0"/>
              <a:t>Vídeo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dirty="0"/>
              <a:t>Para lidarmos com eles, precisamos </a:t>
            </a:r>
            <a:r>
              <a:rPr lang="pt-BR" altLang="pt-BR" b="1" dirty="0">
                <a:solidFill>
                  <a:srgbClr val="7030A0"/>
                </a:solidFill>
              </a:rPr>
              <a:t>modelar dependências temporais!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dirty="0"/>
              <a:t>Em outras palavras, existe</a:t>
            </a:r>
            <a:r>
              <a:rPr lang="pt-BR" altLang="pt-BR" b="1" dirty="0"/>
              <a:t> </a:t>
            </a:r>
            <a:r>
              <a:rPr lang="pt-BR" altLang="pt-BR" b="1" dirty="0">
                <a:solidFill>
                  <a:schemeClr val="accent2"/>
                </a:solidFill>
              </a:rPr>
              <a:t>correlação temporal entre as amostras</a:t>
            </a:r>
            <a:r>
              <a:rPr lang="pt-BR" altLang="pt-BR" b="1" dirty="0"/>
              <a:t>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b="1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b="1" dirty="0"/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4000" b="1" dirty="0" smtClean="0"/>
              <a:t>Cada </a:t>
            </a:r>
            <a:r>
              <a:rPr lang="pt-BR" sz="4000" b="1" dirty="0"/>
              <a:t>amostra tende a carregar informação correlacionada com as anteriores</a:t>
            </a:r>
            <a:r>
              <a:rPr lang="pt-BR" sz="4000" b="1" dirty="0" smtClean="0"/>
              <a:t>.</a:t>
            </a:r>
            <a:endParaRPr lang="pt-BR" altLang="pt-BR" sz="4000" dirty="0"/>
          </a:p>
        </p:txBody>
      </p:sp>
    </p:spTree>
    <p:extLst>
      <p:ext uri="{BB962C8B-B14F-4D97-AF65-F5344CB8AC3E}">
        <p14:creationId xmlns:p14="http://schemas.microsoft.com/office/powerpoint/2010/main" val="1447528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Limitação de redes tradicionais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256314" y="1825625"/>
            <a:ext cx="7935686" cy="5032375"/>
          </a:xfrm>
        </p:spPr>
        <p:txBody>
          <a:bodyPr>
            <a:normAutofit lnSpcReduction="10000"/>
          </a:bodyPr>
          <a:lstStyle/>
          <a:p>
            <a:r>
              <a:rPr lang="pt-BR" dirty="0" err="1"/>
              <a:t>MLPs</a:t>
            </a:r>
            <a:r>
              <a:rPr lang="pt-BR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>
                <a:solidFill>
                  <a:schemeClr val="accent2"/>
                </a:solidFill>
              </a:rPr>
              <a:t>Não armazenam informações de estados anteriores </a:t>
            </a:r>
            <a:r>
              <a:rPr lang="pt-BR" dirty="0"/>
              <a:t>(i.e., sem memória)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As </a:t>
            </a:r>
            <a:r>
              <a:rPr lang="pt-BR" b="1" dirty="0">
                <a:solidFill>
                  <a:srgbClr val="7030A0"/>
                </a:solidFill>
              </a:rPr>
              <a:t>entradas</a:t>
            </a:r>
            <a:r>
              <a:rPr lang="pt-BR" dirty="0"/>
              <a:t> são tratadas de forma </a:t>
            </a:r>
            <a:r>
              <a:rPr lang="pt-BR" b="1" dirty="0">
                <a:solidFill>
                  <a:srgbClr val="7030A0"/>
                </a:solidFill>
              </a:rPr>
              <a:t>independente</a:t>
            </a:r>
            <a:r>
              <a:rPr lang="pt-BR" dirty="0"/>
              <a:t>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pt-BR" dirty="0"/>
              <a:t>Isso faz com que elas </a:t>
            </a:r>
            <a:r>
              <a:rPr lang="pt-BR" b="1" dirty="0">
                <a:solidFill>
                  <a:srgbClr val="0070C0"/>
                </a:solidFill>
              </a:rPr>
              <a:t>não capturem dependências temporais entre amostras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Por ser de alimentação direta, a saída </a:t>
            </a:r>
            <a:r>
              <a:rPr lang="pt-BR" b="1" dirty="0">
                <a:solidFill>
                  <a:srgbClr val="7030A0"/>
                </a:solidFill>
              </a:rPr>
              <a:t>depende apenas da entrada atual</a:t>
            </a:r>
            <a:r>
              <a:rPr lang="pt-BR" dirty="0"/>
              <a:t>.</a:t>
            </a:r>
          </a:p>
          <a:p>
            <a:r>
              <a:rPr lang="pt-BR" dirty="0" err="1"/>
              <a:t>CNNs</a:t>
            </a:r>
            <a:r>
              <a:rPr lang="pt-BR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Compartilham as limitações das </a:t>
            </a:r>
            <a:r>
              <a:rPr lang="pt-BR" dirty="0" err="1"/>
              <a:t>MLPs</a:t>
            </a:r>
            <a:r>
              <a:rPr lang="pt-BR" dirty="0"/>
              <a:t>, mas com uma exceção: elas </a:t>
            </a:r>
            <a:r>
              <a:rPr lang="pt-BR" b="1" dirty="0">
                <a:solidFill>
                  <a:srgbClr val="00B050"/>
                </a:solidFill>
              </a:rPr>
              <a:t>modelam relações espaciais</a:t>
            </a:r>
            <a:r>
              <a:rPr lang="pt-BR" dirty="0"/>
              <a:t>.</a:t>
            </a:r>
          </a:p>
          <a:p>
            <a:r>
              <a:rPr lang="pt-BR" dirty="0"/>
              <a:t>Ambas famílias </a:t>
            </a:r>
            <a:r>
              <a:rPr lang="pt-BR" b="1" dirty="0">
                <a:solidFill>
                  <a:srgbClr val="0070C0"/>
                </a:solidFill>
              </a:rPr>
              <a:t>exigem</a:t>
            </a:r>
            <a:r>
              <a:rPr lang="pt-BR" dirty="0"/>
              <a:t> que o </a:t>
            </a:r>
            <a:r>
              <a:rPr lang="pt-BR" b="1" dirty="0">
                <a:solidFill>
                  <a:srgbClr val="0070C0"/>
                </a:solidFill>
              </a:rPr>
              <a:t>vetor de entrada</a:t>
            </a:r>
            <a:r>
              <a:rPr lang="pt-BR" dirty="0"/>
              <a:t> tenha um </a:t>
            </a:r>
            <a:r>
              <a:rPr lang="pt-BR" b="1" dirty="0">
                <a:solidFill>
                  <a:srgbClr val="0070C0"/>
                </a:solidFill>
              </a:rPr>
              <a:t>tamanho predefinido e constante</a:t>
            </a:r>
            <a:r>
              <a:rPr lang="pt-BR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A8E2659-A57A-38A3-FD87-03127E9124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03"/>
          <a:stretch>
            <a:fillRect/>
          </a:stretch>
        </p:blipFill>
        <p:spPr>
          <a:xfrm>
            <a:off x="986159" y="1943553"/>
            <a:ext cx="2686768" cy="23105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9AAB68BF-5C1E-7F73-8FBA-8E33B17EB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550" y="4795610"/>
            <a:ext cx="3599986" cy="188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447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7A47F2C-5902-D14E-461A-E03776C92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741" y="1927699"/>
            <a:ext cx="10859545" cy="358317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pt-BR" sz="6000" dirty="0"/>
              <a:t>Como podemos considerar as correlações temporais e trabalhar com entradas sem tamanho predefinido?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006836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AD63822-3DC5-17FB-ADF9-A36682320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288B7E-EFBE-6F19-F27D-9D5EE1024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9429" y="1911803"/>
            <a:ext cx="5021941" cy="368345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4800" dirty="0"/>
              <a:t>Redes neurais recorrentes </a:t>
            </a:r>
            <a:r>
              <a:rPr lang="pt-BR" sz="4800" dirty="0" smtClean="0"/>
              <a:t>(</a:t>
            </a:r>
            <a:r>
              <a:rPr lang="pt-BR" sz="4800" i="1" dirty="0" err="1" smtClean="0"/>
              <a:t>recurrent</a:t>
            </a:r>
            <a:r>
              <a:rPr lang="pt-BR" sz="4800" i="1" dirty="0" smtClean="0"/>
              <a:t> neural networks</a:t>
            </a:r>
            <a:r>
              <a:rPr lang="pt-BR" sz="4800" dirty="0" smtClean="0"/>
              <a:t> – </a:t>
            </a:r>
            <a:r>
              <a:rPr lang="pt-BR" sz="4800" dirty="0" err="1" smtClean="0"/>
              <a:t>RNNs</a:t>
            </a:r>
            <a:r>
              <a:rPr lang="pt-BR" sz="4800" dirty="0" smtClean="0"/>
              <a:t>) têm </a:t>
            </a:r>
            <a:r>
              <a:rPr lang="pt-BR" sz="4800" dirty="0"/>
              <a:t>memória!</a:t>
            </a:r>
            <a:endParaRPr lang="en-US" sz="4800" dirty="0"/>
          </a:p>
        </p:txBody>
      </p:sp>
      <p:pic>
        <p:nvPicPr>
          <p:cNvPr id="2050" name="Picture 2" descr="RNN be like! #RNN #NeuralNetwork #meme">
            <a:extLst>
              <a:ext uri="{FF2B5EF4-FFF2-40B4-BE49-F238E27FC236}">
                <a16:creationId xmlns:a16="http://schemas.microsoft.com/office/drawing/2014/main" xmlns="" id="{3187EE8C-1DA4-D24F-08AF-EBBC6954A9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846" y="1911803"/>
            <a:ext cx="6551109" cy="3683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7583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Aplicações de redes neurais recorrentes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F7E2B09C-6D56-4C9F-A364-B904CCE2F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Previsão de séries temporais (e.g., clima, ações, vendas, etc.)</a:t>
            </a:r>
          </a:p>
          <a:p>
            <a:r>
              <a:rPr lang="pt-BR" dirty="0"/>
              <a:t>Tradução automática de texto</a:t>
            </a:r>
          </a:p>
          <a:p>
            <a:r>
              <a:rPr lang="pt-BR" dirty="0"/>
              <a:t>Reconhecimento de fala</a:t>
            </a:r>
          </a:p>
          <a:p>
            <a:r>
              <a:rPr lang="pt-BR" dirty="0"/>
              <a:t>Tradução fala para texto e vice versa</a:t>
            </a:r>
          </a:p>
          <a:p>
            <a:r>
              <a:rPr lang="pt-BR" dirty="0"/>
              <a:t>Classificação de sentimentos</a:t>
            </a:r>
          </a:p>
          <a:p>
            <a:r>
              <a:rPr lang="pt-BR" dirty="0"/>
              <a:t>Geração de texto</a:t>
            </a:r>
          </a:p>
          <a:p>
            <a:r>
              <a:rPr lang="pt-BR" dirty="0"/>
              <a:t>Geração de descrições de texto para imagens (</a:t>
            </a:r>
            <a:r>
              <a:rPr lang="pt-BR" i="1" dirty="0" err="1"/>
              <a:t>image</a:t>
            </a:r>
            <a:r>
              <a:rPr lang="pt-BR" i="1" dirty="0"/>
              <a:t> </a:t>
            </a:r>
            <a:r>
              <a:rPr lang="pt-BR" i="1" dirty="0" err="1"/>
              <a:t>captioning</a:t>
            </a:r>
            <a:r>
              <a:rPr lang="pt-BR" dirty="0"/>
              <a:t>)</a:t>
            </a:r>
          </a:p>
          <a:p>
            <a:r>
              <a:rPr lang="pt-BR" dirty="0"/>
              <a:t>Rastreamento de objetos</a:t>
            </a:r>
          </a:p>
        </p:txBody>
      </p:sp>
    </p:spTree>
    <p:extLst>
      <p:ext uri="{BB962C8B-B14F-4D97-AF65-F5344CB8AC3E}">
        <p14:creationId xmlns:p14="http://schemas.microsoft.com/office/powerpoint/2010/main" val="3187071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Padrões temporais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371771" y="1690688"/>
            <a:ext cx="5704114" cy="5167311"/>
          </a:xfrm>
        </p:spPr>
        <p:txBody>
          <a:bodyPr>
            <a:normAutofit/>
          </a:bodyPr>
          <a:lstStyle/>
          <a:p>
            <a:r>
              <a:rPr lang="pt-BR" dirty="0"/>
              <a:t>CNNs aprendem padrões espaciais, enquanto </a:t>
            </a:r>
            <a:r>
              <a:rPr lang="pt-BR" dirty="0" err="1"/>
              <a:t>RNNs</a:t>
            </a:r>
            <a:r>
              <a:rPr lang="pt-BR" dirty="0"/>
              <a:t> aprendem padrões </a:t>
            </a:r>
            <a:r>
              <a:rPr lang="pt-BR" dirty="0" smtClean="0"/>
              <a:t>temporais.</a:t>
            </a:r>
          </a:p>
          <a:p>
            <a:r>
              <a:rPr lang="pt-BR" dirty="0" smtClean="0"/>
              <a:t>No exemplo ao lado, a RNN recebe </a:t>
            </a:r>
            <a:r>
              <a:rPr lang="pt-BR" dirty="0"/>
              <a:t>um contexto, como o </a:t>
            </a:r>
            <a:r>
              <a:rPr lang="pt-BR" dirty="0" smtClean="0"/>
              <a:t>“</a:t>
            </a:r>
            <a:r>
              <a:rPr lang="pt-BR" b="1" dirty="0" smtClean="0">
                <a:solidFill>
                  <a:srgbClr val="00B050"/>
                </a:solidFill>
              </a:rPr>
              <a:t>O gato subiu no</a:t>
            </a:r>
            <a:r>
              <a:rPr lang="pt-BR" dirty="0" smtClean="0"/>
              <a:t>”, </a:t>
            </a:r>
            <a:r>
              <a:rPr lang="pt-BR" dirty="0"/>
              <a:t>e apresenta as palavras candidatas com suas </a:t>
            </a:r>
            <a:r>
              <a:rPr lang="pt-BR" dirty="0" smtClean="0"/>
              <a:t>respectivas probabilidades </a:t>
            </a:r>
            <a:r>
              <a:rPr lang="pt-BR" dirty="0"/>
              <a:t>estimadas</a:t>
            </a:r>
            <a:r>
              <a:rPr lang="pt-BR" dirty="0" smtClean="0"/>
              <a:t>.</a:t>
            </a: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33" name="Imagem 3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15" y="2001659"/>
            <a:ext cx="6052456" cy="399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345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Redes recorrentes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667152" y="1825624"/>
            <a:ext cx="6524847" cy="5032375"/>
          </a:xfrm>
        </p:spPr>
        <p:txBody>
          <a:bodyPr>
            <a:normAutofit/>
          </a:bodyPr>
          <a:lstStyle/>
          <a:p>
            <a:r>
              <a:rPr lang="pt-BR" dirty="0"/>
              <a:t>Possuem </a:t>
            </a:r>
            <a:r>
              <a:rPr lang="pt-BR" b="1" dirty="0">
                <a:solidFill>
                  <a:srgbClr val="0070C0"/>
                </a:solidFill>
              </a:rPr>
              <a:t>laços de realimentação</a:t>
            </a:r>
            <a:r>
              <a:rPr lang="pt-BR" dirty="0"/>
              <a:t>.</a:t>
            </a:r>
          </a:p>
          <a:p>
            <a:r>
              <a:rPr lang="pt-BR" dirty="0"/>
              <a:t>Mantém um </a:t>
            </a:r>
            <a:r>
              <a:rPr lang="pt-BR" b="1" dirty="0">
                <a:solidFill>
                  <a:srgbClr val="0070C0"/>
                </a:solidFill>
              </a:rPr>
              <a:t>estado interno</a:t>
            </a:r>
            <a:r>
              <a:rPr lang="pt-BR" dirty="0"/>
              <a:t> (</a:t>
            </a:r>
            <a:r>
              <a:rPr lang="pt-BR" b="1" dirty="0">
                <a:solidFill>
                  <a:schemeClr val="accent2"/>
                </a:solidFill>
              </a:rPr>
              <a:t>memória</a:t>
            </a:r>
            <a:r>
              <a:rPr lang="pt-BR" dirty="0"/>
              <a:t>) que </a:t>
            </a:r>
            <a:r>
              <a:rPr lang="pt-BR" b="1" dirty="0">
                <a:solidFill>
                  <a:schemeClr val="accent2"/>
                </a:solidFill>
              </a:rPr>
              <a:t>armazena</a:t>
            </a:r>
            <a:r>
              <a:rPr lang="pt-BR" dirty="0"/>
              <a:t> </a:t>
            </a:r>
            <a:r>
              <a:rPr lang="pt-BR" b="1" dirty="0">
                <a:solidFill>
                  <a:schemeClr val="accent2"/>
                </a:solidFill>
              </a:rPr>
              <a:t>informações</a:t>
            </a:r>
            <a:r>
              <a:rPr lang="pt-BR" dirty="0"/>
              <a:t> observadas até o momento.</a:t>
            </a:r>
          </a:p>
          <a:p>
            <a:r>
              <a:rPr lang="pt-BR" dirty="0"/>
              <a:t>A </a:t>
            </a:r>
            <a:r>
              <a:rPr lang="pt-BR" b="1" dirty="0">
                <a:solidFill>
                  <a:srgbClr val="7030A0"/>
                </a:solidFill>
              </a:rPr>
              <a:t>saída</a:t>
            </a:r>
            <a:r>
              <a:rPr lang="pt-BR" dirty="0"/>
              <a:t> da rede depende da </a:t>
            </a:r>
            <a:r>
              <a:rPr lang="pt-BR" b="1" dirty="0">
                <a:solidFill>
                  <a:srgbClr val="7030A0"/>
                </a:solidFill>
              </a:rPr>
              <a:t>entrada atual</a:t>
            </a:r>
            <a:r>
              <a:rPr lang="pt-BR" dirty="0"/>
              <a:t> e do valor do </a:t>
            </a:r>
            <a:r>
              <a:rPr lang="pt-BR" b="1" dirty="0">
                <a:solidFill>
                  <a:srgbClr val="7030A0"/>
                </a:solidFill>
              </a:rPr>
              <a:t>estado interno</a:t>
            </a:r>
            <a:r>
              <a:rPr lang="pt-BR" dirty="0"/>
              <a:t>.</a:t>
            </a:r>
          </a:p>
          <a:p>
            <a:r>
              <a:rPr lang="pt-BR" dirty="0"/>
              <a:t>O </a:t>
            </a:r>
            <a:r>
              <a:rPr lang="pt-BR" b="1" dirty="0">
                <a:solidFill>
                  <a:srgbClr val="00B050"/>
                </a:solidFill>
              </a:rPr>
              <a:t>estado interno</a:t>
            </a:r>
            <a:r>
              <a:rPr lang="pt-BR" dirty="0"/>
              <a:t> mantém o histórico de </a:t>
            </a:r>
            <a:r>
              <a:rPr lang="pt-BR" b="1" dirty="0">
                <a:solidFill>
                  <a:srgbClr val="00B050"/>
                </a:solidFill>
              </a:rPr>
              <a:t>das entradas passadas</a:t>
            </a:r>
            <a:r>
              <a:rPr lang="pt-BR" dirty="0"/>
              <a:t>.</a:t>
            </a:r>
          </a:p>
        </p:txBody>
      </p:sp>
      <p:pic>
        <p:nvPicPr>
          <p:cNvPr id="3074" name="Picture 2" descr="RNN architecture and the concept of sequential memory |... | Fiveable">
            <a:extLst>
              <a:ext uri="{FF2B5EF4-FFF2-40B4-BE49-F238E27FC236}">
                <a16:creationId xmlns:a16="http://schemas.microsoft.com/office/drawing/2014/main" xmlns="" id="{CF222E86-9883-F0F3-0C3D-DE894656D1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2" t="38503" r="81251" b="2949"/>
          <a:stretch>
            <a:fillRect/>
          </a:stretch>
        </p:blipFill>
        <p:spPr bwMode="auto">
          <a:xfrm>
            <a:off x="1534885" y="2296884"/>
            <a:ext cx="2471058" cy="3663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8720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774E3A9-57FD-9928-3B76-20D86E536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2CAA669-542C-6851-4558-AB1FBFA2F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Redes recorrentes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7BC8D1AF-6B61-5C93-6D51-B0F166022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3870" y="1825624"/>
            <a:ext cx="6628387" cy="5032375"/>
          </a:xfrm>
        </p:spPr>
        <p:txBody>
          <a:bodyPr/>
          <a:lstStyle/>
          <a:p>
            <a:r>
              <a:rPr lang="pt-BR" dirty="0"/>
              <a:t>Uma RNN utiliza </a:t>
            </a:r>
            <a:r>
              <a:rPr lang="pt-BR" b="1" dirty="0">
                <a:solidFill>
                  <a:schemeClr val="accent2"/>
                </a:solidFill>
              </a:rPr>
              <a:t>informações sequenciais</a:t>
            </a:r>
            <a:r>
              <a:rPr lang="pt-BR" dirty="0"/>
              <a:t>, </a:t>
            </a:r>
            <a:r>
              <a:rPr lang="pt-BR" b="1" dirty="0">
                <a:solidFill>
                  <a:srgbClr val="00B050"/>
                </a:solidFill>
              </a:rPr>
              <a:t>modelando as dependências temporais</a:t>
            </a:r>
            <a:r>
              <a:rPr lang="pt-BR" dirty="0"/>
              <a:t> entre as amostras de entrada.</a:t>
            </a:r>
          </a:p>
          <a:p>
            <a:r>
              <a:rPr lang="pt-BR" b="1" dirty="0"/>
              <a:t>Exemplo</a:t>
            </a:r>
            <a:r>
              <a:rPr lang="pt-BR" dirty="0"/>
              <a:t>: se quisermos </a:t>
            </a:r>
            <a:r>
              <a:rPr lang="pt-BR" b="1" dirty="0">
                <a:solidFill>
                  <a:srgbClr val="7030A0"/>
                </a:solidFill>
              </a:rPr>
              <a:t>prever a próxima palavra</a:t>
            </a:r>
            <a:r>
              <a:rPr lang="pt-BR" dirty="0"/>
              <a:t> em uma frase, precisamos saber </a:t>
            </a:r>
            <a:r>
              <a:rPr lang="pt-BR" b="1" dirty="0">
                <a:solidFill>
                  <a:srgbClr val="7030A0"/>
                </a:solidFill>
              </a:rPr>
              <a:t>quais palavras vieram antes dela</a:t>
            </a:r>
            <a:r>
              <a:rPr lang="pt-BR" dirty="0"/>
              <a:t>.</a:t>
            </a:r>
          </a:p>
          <a:p>
            <a:r>
              <a:rPr lang="pt-BR" dirty="0"/>
              <a:t>Por exemplo, na frase:</a:t>
            </a:r>
          </a:p>
          <a:p>
            <a:pPr marL="0" indent="0" algn="ctr">
              <a:buNone/>
            </a:pPr>
            <a:r>
              <a:rPr lang="pt-BR" dirty="0"/>
              <a:t>“O gato subiu no ____”</a:t>
            </a:r>
          </a:p>
          <a:p>
            <a:pPr marL="0" indent="0">
              <a:buNone/>
            </a:pPr>
            <a:r>
              <a:rPr lang="pt-BR" dirty="0"/>
              <a:t>a rede usa as palavras anteriores para prever que “telhado”, “muro”, “sofá” têm maior probabilidade.</a:t>
            </a:r>
          </a:p>
        </p:txBody>
      </p:sp>
      <p:pic>
        <p:nvPicPr>
          <p:cNvPr id="3074" name="Picture 2" descr="RNN architecture and the concept of sequential memory |... | Fiveable">
            <a:extLst>
              <a:ext uri="{FF2B5EF4-FFF2-40B4-BE49-F238E27FC236}">
                <a16:creationId xmlns:a16="http://schemas.microsoft.com/office/drawing/2014/main" xmlns="" id="{65461C4D-C555-02A7-8AE3-2D52AC2FCB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2" t="38503" r="81251" b="2949"/>
          <a:stretch>
            <a:fillRect/>
          </a:stretch>
        </p:blipFill>
        <p:spPr bwMode="auto">
          <a:xfrm>
            <a:off x="1534885" y="2296884"/>
            <a:ext cx="2471058" cy="3663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0878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331C89D-FF1F-2926-B807-E6ABE479C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BB814E7-25AB-B9C9-EA53-FE90228A1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Redes recorrentes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54CAE375-0AC4-4799-2DED-0550BB967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3870" y="1825624"/>
            <a:ext cx="6628387" cy="5032375"/>
          </a:xfrm>
        </p:spPr>
        <p:txBody>
          <a:bodyPr/>
          <a:lstStyle/>
          <a:p>
            <a:r>
              <a:rPr lang="pt-BR" dirty="0" err="1"/>
              <a:t>RNNs</a:t>
            </a:r>
            <a:r>
              <a:rPr lang="pt-BR" dirty="0"/>
              <a:t> são projetadas para processar sequências de </a:t>
            </a:r>
            <a:r>
              <a:rPr lang="pt-BR" b="1" dirty="0">
                <a:solidFill>
                  <a:srgbClr val="0070C0"/>
                </a:solidFill>
              </a:rPr>
              <a:t>comprimento variável</a:t>
            </a:r>
            <a:r>
              <a:rPr lang="pt-BR" dirty="0"/>
              <a:t>. </a:t>
            </a:r>
          </a:p>
          <a:p>
            <a:r>
              <a:rPr lang="pt-BR" dirty="0"/>
              <a:t>Elas usam o </a:t>
            </a:r>
            <a:r>
              <a:rPr lang="pt-BR" b="1" dirty="0">
                <a:solidFill>
                  <a:schemeClr val="accent2"/>
                </a:solidFill>
              </a:rPr>
              <a:t>histórico de entradas anteriores</a:t>
            </a:r>
            <a:r>
              <a:rPr lang="pt-BR" dirty="0"/>
              <a:t> para </a:t>
            </a:r>
            <a:r>
              <a:rPr lang="pt-BR" b="1" dirty="0">
                <a:solidFill>
                  <a:schemeClr val="accent2"/>
                </a:solidFill>
              </a:rPr>
              <a:t>gerar uma saída</a:t>
            </a:r>
            <a:r>
              <a:rPr lang="pt-BR" dirty="0"/>
              <a:t>.</a:t>
            </a:r>
          </a:p>
          <a:p>
            <a:r>
              <a:rPr lang="pt-BR" dirty="0"/>
              <a:t>Porém, como veremos, um problema das </a:t>
            </a:r>
            <a:r>
              <a:rPr lang="pt-BR" dirty="0" err="1"/>
              <a:t>RNNs</a:t>
            </a:r>
            <a:r>
              <a:rPr lang="pt-BR" dirty="0"/>
              <a:t> é que a </a:t>
            </a:r>
            <a:r>
              <a:rPr lang="pt-BR" b="1" dirty="0">
                <a:solidFill>
                  <a:schemeClr val="accent2"/>
                </a:solidFill>
              </a:rPr>
              <a:t>memória</a:t>
            </a:r>
            <a:r>
              <a:rPr lang="pt-BR" dirty="0"/>
              <a:t> </a:t>
            </a:r>
            <a:r>
              <a:rPr lang="pt-BR" b="1" dirty="0">
                <a:solidFill>
                  <a:schemeClr val="accent2"/>
                </a:solidFill>
              </a:rPr>
              <a:t>desaparece</a:t>
            </a:r>
            <a:r>
              <a:rPr lang="pt-BR" dirty="0"/>
              <a:t> </a:t>
            </a:r>
            <a:r>
              <a:rPr lang="pt-BR" b="1" dirty="0">
                <a:solidFill>
                  <a:srgbClr val="0070C0"/>
                </a:solidFill>
              </a:rPr>
              <a:t>rapidamente</a:t>
            </a:r>
            <a:r>
              <a:rPr lang="pt-BR" dirty="0"/>
              <a:t> ao longo do tempo.</a:t>
            </a:r>
          </a:p>
          <a:p>
            <a:endParaRPr lang="pt-BR" dirty="0"/>
          </a:p>
        </p:txBody>
      </p:sp>
      <p:pic>
        <p:nvPicPr>
          <p:cNvPr id="3074" name="Picture 2" descr="RNN architecture and the concept of sequential memory |... | Fiveable">
            <a:extLst>
              <a:ext uri="{FF2B5EF4-FFF2-40B4-BE49-F238E27FC236}">
                <a16:creationId xmlns:a16="http://schemas.microsoft.com/office/drawing/2014/main" xmlns="" id="{E51D7A82-869E-A081-9F87-50F6BC93FC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2" t="38503" r="81251" b="2949"/>
          <a:stretch>
            <a:fillRect/>
          </a:stretch>
        </p:blipFill>
        <p:spPr bwMode="auto">
          <a:xfrm>
            <a:off x="1534885" y="2296884"/>
            <a:ext cx="2471058" cy="3663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7808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BA7CF3C-2AB5-ECC1-9920-3B2DE38CC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96041"/>
            <a:ext cx="10515600" cy="126591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6000" dirty="0"/>
              <a:t>O que compõem as </a:t>
            </a:r>
            <a:r>
              <a:rPr lang="pt-BR" sz="6000" dirty="0" err="1"/>
              <a:t>RNNs</a:t>
            </a:r>
            <a:r>
              <a:rPr lang="pt-BR" sz="6000" dirty="0"/>
              <a:t>? 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514049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1F0C14-67BD-40CF-9A8F-E9FC30FC9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Neurônio (ou célula) recorrente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FF8CB8C-0F2B-7C4F-63CA-34C693F26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536" y="3218490"/>
            <a:ext cx="6069418" cy="1603375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/>
              <a:t>As </a:t>
            </a:r>
            <a:r>
              <a:rPr lang="pt-BR" dirty="0" err="1"/>
              <a:t>RNNs</a:t>
            </a:r>
            <a:r>
              <a:rPr lang="pt-BR" dirty="0"/>
              <a:t> são compostas por </a:t>
            </a:r>
            <a:r>
              <a:rPr lang="pt-BR" b="1" dirty="0"/>
              <a:t>neurônios recorrentes.</a:t>
            </a:r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xmlns="" id="{75EB088D-2DA8-6B63-CFA0-01BFE1AC71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9058" y="1690688"/>
            <a:ext cx="2261084" cy="4513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164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3B49179-BA46-8C10-00C9-7227EB09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87A993C-DAEE-C4BC-272A-C2D7C3B56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Neurônio (ou célula) recorrente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BAE70A3D-8B65-8CA7-8EEA-8792C2A6EC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70400" y="1825624"/>
                <a:ext cx="7721601" cy="5032375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: entrada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r>
                      <a:rPr lang="pt-BR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: </a:t>
                </a:r>
                <a:r>
                  <a:rPr lang="en-US" dirty="0" err="1"/>
                  <a:t>saída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𝒉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: </a:t>
                </a:r>
                <a:r>
                  <a:rPr lang="en-US" dirty="0" err="1"/>
                  <a:t>estado</a:t>
                </a:r>
                <a:r>
                  <a:rPr lang="en-US" dirty="0"/>
                  <a:t> </a:t>
                </a:r>
                <a:r>
                  <a:rPr lang="en-US" dirty="0" err="1"/>
                  <a:t>interno</a:t>
                </a:r>
                <a:r>
                  <a:rPr lang="en-US" dirty="0"/>
                  <a:t> </a:t>
                </a:r>
                <a:r>
                  <a:rPr lang="en-US" dirty="0" err="1"/>
                  <a:t>ou</a:t>
                </a:r>
                <a:r>
                  <a:rPr lang="en-US" dirty="0"/>
                  <a:t> </a:t>
                </a:r>
                <a:r>
                  <a:rPr lang="en-US" dirty="0" err="1"/>
                  <a:t>oculto</a:t>
                </a:r>
                <a:r>
                  <a:rPr lang="en-US" dirty="0"/>
                  <a:t> (</a:t>
                </a:r>
                <a:r>
                  <a:rPr lang="en-US" b="1" dirty="0" err="1">
                    <a:solidFill>
                      <a:schemeClr val="accent2"/>
                    </a:solidFill>
                  </a:rPr>
                  <a:t>memória</a:t>
                </a:r>
                <a:r>
                  <a:rPr lang="en-US" b="1" dirty="0">
                    <a:solidFill>
                      <a:schemeClr val="accent2"/>
                    </a:solidFill>
                  </a:rPr>
                  <a:t> da rede</a:t>
                </a:r>
                <a:r>
                  <a:rPr lang="en-US" dirty="0"/>
                  <a:t>)</a:t>
                </a:r>
              </a:p>
              <a:p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𝒉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: </a:t>
                </a:r>
                <a:r>
                  <a:rPr lang="en-US" dirty="0" err="1"/>
                  <a:t>estado</a:t>
                </a:r>
                <a:r>
                  <a:rPr lang="en-US" dirty="0"/>
                  <a:t> </a:t>
                </a:r>
                <a:r>
                  <a:rPr lang="en-US" dirty="0" err="1"/>
                  <a:t>interno</a:t>
                </a:r>
                <a:r>
                  <a:rPr lang="en-US" dirty="0"/>
                  <a:t> anterior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: pesos de entrada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dirty="0"/>
                  <a:t>: pesos da </a:t>
                </a:r>
                <a:r>
                  <a:rPr lang="en-US" dirty="0" err="1"/>
                  <a:t>camada</a:t>
                </a:r>
                <a:r>
                  <a:rPr lang="en-US" dirty="0"/>
                  <a:t> </a:t>
                </a:r>
                <a:r>
                  <a:rPr lang="en-US" dirty="0" err="1"/>
                  <a:t>recorrente</a:t>
                </a:r>
                <a:r>
                  <a:rPr lang="en-US" dirty="0"/>
                  <a:t> (</a:t>
                </a:r>
                <a:r>
                  <a:rPr lang="en-US" dirty="0" err="1"/>
                  <a:t>oculta</a:t>
                </a:r>
                <a:r>
                  <a:rPr lang="en-US" dirty="0"/>
                  <a:t>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/>
                  <a:t>: pesos de </a:t>
                </a:r>
                <a:r>
                  <a:rPr lang="en-US" dirty="0" err="1"/>
                  <a:t>saída</a:t>
                </a:r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pt-BR" dirty="0"/>
                  <a:t>: unidade de retardo de tempo</a:t>
                </a:r>
              </a:p>
              <a:p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(.)</m:t>
                    </m:r>
                  </m:oMath>
                </a14:m>
                <a:r>
                  <a:rPr lang="en-US" dirty="0"/>
                  <a:t>: </a:t>
                </a:r>
                <a:r>
                  <a:rPr lang="en-US" dirty="0" err="1"/>
                  <a:t>função</a:t>
                </a:r>
                <a:r>
                  <a:rPr lang="en-US" dirty="0"/>
                  <a:t> de </a:t>
                </a:r>
                <a:r>
                  <a:rPr lang="en-US" dirty="0" err="1"/>
                  <a:t>ativação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E70A3D-8B65-8CA7-8EEA-8792C2A6EC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70400" y="1825624"/>
                <a:ext cx="7721601" cy="5032375"/>
              </a:xfrm>
              <a:blipFill>
                <a:blip r:embed="rId3"/>
                <a:stretch>
                  <a:fillRect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m 4">
            <a:extLst>
              <a:ext uri="{FF2B5EF4-FFF2-40B4-BE49-F238E27FC236}">
                <a16:creationId xmlns:a16="http://schemas.microsoft.com/office/drawing/2014/main" xmlns="" id="{A4FBDA72-C26E-0052-AF8A-6E5560FC4E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583" y="1419722"/>
            <a:ext cx="2679942" cy="5350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422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5E58F59-116C-8F6D-B7AC-0250568F7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9402BEF-ABFC-2E52-8381-46A90E9EE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Neurônio (ou célula) recorrente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AAFC11EF-1F73-384D-FC08-ADC0A69BE1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70400" y="1825624"/>
                <a:ext cx="7633615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As </a:t>
                </a:r>
                <a:r>
                  <a:rPr lang="pt-BR" dirty="0" err="1"/>
                  <a:t>RNNs</a:t>
                </a:r>
                <a:r>
                  <a:rPr lang="pt-BR" dirty="0"/>
                  <a:t> lidam com as dependências temporais entre amostras mantendo um </a:t>
                </a:r>
                <a:r>
                  <a:rPr lang="pt-BR" b="1" dirty="0">
                    <a:solidFill>
                      <a:srgbClr val="0070C0"/>
                    </a:solidFill>
                  </a:rPr>
                  <a:t>estado oculto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𝒉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pt-BR" dirty="0"/>
                  <a:t>, que armazena informações de todos os passos de tempo anteriores da sequência (</a:t>
                </a:r>
                <a:r>
                  <a:rPr lang="pt-BR" b="1" dirty="0">
                    <a:solidFill>
                      <a:srgbClr val="0070C0"/>
                    </a:solidFill>
                  </a:rPr>
                  <a:t>memória</a:t>
                </a:r>
                <a:r>
                  <a:rPr lang="pt-BR" dirty="0"/>
                  <a:t>).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𝒉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pt-BR" dirty="0"/>
                  <a:t> é uma representação compacta da história da sequência.</a:t>
                </a:r>
              </a:p>
              <a:p>
                <a:r>
                  <a:rPr lang="pt-BR" dirty="0"/>
                  <a:t>O mecanismo de </a:t>
                </a:r>
                <a:r>
                  <a:rPr lang="pt-BR" b="1" dirty="0">
                    <a:solidFill>
                      <a:srgbClr val="0070C0"/>
                    </a:solidFill>
                  </a:rPr>
                  <a:t>recorrência</a:t>
                </a:r>
                <a:r>
                  <a:rPr lang="pt-BR" dirty="0"/>
                  <a:t> permite que a rede aplique o contexto aprendido a partir de entradas anteriores às etapas atuais e futuras.</a:t>
                </a:r>
              </a:p>
              <a:p>
                <a:r>
                  <a:rPr lang="pt-BR" dirty="0"/>
                  <a:t>Uma célula recorrente </a:t>
                </a:r>
                <a:r>
                  <a:rPr lang="pt-BR" b="1" dirty="0">
                    <a:solidFill>
                      <a:schemeClr val="accent2"/>
                    </a:solidFill>
                  </a:rPr>
                  <a:t>aprende padrões presentes</a:t>
                </a:r>
                <a:r>
                  <a:rPr lang="pt-BR" dirty="0"/>
                  <a:t> nas sequências.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FC11EF-1F73-384D-FC08-ADC0A69BE1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70400" y="1825624"/>
                <a:ext cx="7633615" cy="5032375"/>
              </a:xfrm>
              <a:blipFill>
                <a:blip r:embed="rId3"/>
                <a:stretch>
                  <a:fillRect l="-1437" t="-1937" r="-2075" b="-9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m 4">
            <a:extLst>
              <a:ext uri="{FF2B5EF4-FFF2-40B4-BE49-F238E27FC236}">
                <a16:creationId xmlns:a16="http://schemas.microsoft.com/office/drawing/2014/main" xmlns="" id="{9391CBA0-FDD8-1C64-EBF3-4D66D849BE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583" y="1419722"/>
            <a:ext cx="2679942" cy="5350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999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4D77AF7-AEE9-58FC-8805-639651C8A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B90BF9-4F35-7CC8-B4A2-9A0C7D20F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Neurônio recorrente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32AD1736-B6E9-B84B-54CD-849BC507F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7678" y="1825625"/>
            <a:ext cx="5773687" cy="5032374"/>
          </a:xfrm>
        </p:spPr>
        <p:txBody>
          <a:bodyPr/>
          <a:lstStyle/>
          <a:p>
            <a:r>
              <a:rPr lang="pt-BR" dirty="0"/>
              <a:t>Representação </a:t>
            </a:r>
            <a:r>
              <a:rPr lang="pt-BR" b="1" dirty="0">
                <a:solidFill>
                  <a:schemeClr val="accent2"/>
                </a:solidFill>
              </a:rPr>
              <a:t>simplificada</a:t>
            </a:r>
            <a:r>
              <a:rPr lang="pt-BR" dirty="0"/>
              <a:t> do neurônio.</a:t>
            </a:r>
          </a:p>
          <a:p>
            <a:r>
              <a:rPr lang="pt-BR" dirty="0"/>
              <a:t>Ela omite a maioria das matrizes de pesos, mostrando uma caixa laranja que corresponde a uma camada densa com função de ativação do tipo tangente hiperbólica (</a:t>
            </a:r>
            <a:r>
              <a:rPr lang="pt-BR" dirty="0" err="1"/>
              <a:t>tanh</a:t>
            </a:r>
            <a:r>
              <a:rPr lang="pt-BR" dirty="0"/>
              <a:t>).</a:t>
            </a:r>
          </a:p>
          <a:p>
            <a:r>
              <a:rPr lang="pt-BR" dirty="0"/>
              <a:t>Essa representação é bastante utilizada na literatura.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3">
                <a:extLst>
                  <a:ext uri="{FF2B5EF4-FFF2-40B4-BE49-F238E27FC236}">
                    <a16:creationId xmlns:a16="http://schemas.microsoft.com/office/drawing/2014/main" xmlns="" id="{7CED28AA-0E05-B2BA-0D30-E8DA542D766E}"/>
                  </a:ext>
                </a:extLst>
              </p:cNvPr>
              <p:cNvSpPr txBox="1"/>
              <p:nvPr/>
            </p:nvSpPr>
            <p:spPr>
              <a:xfrm>
                <a:off x="0" y="6611778"/>
                <a:ext cx="317503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000" b="1" dirty="0"/>
                  <a:t>OBS</a:t>
                </a:r>
                <a:r>
                  <a:rPr lang="pt-BR" sz="1000" dirty="0"/>
                  <a:t>.: Para facilitar a notação, usamos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000" dirty="0"/>
                  <a:t> </a:t>
                </a:r>
                <a:r>
                  <a:rPr lang="en-US" sz="1000" dirty="0" err="1"/>
                  <a:t>ao</a:t>
                </a:r>
                <a:r>
                  <a:rPr lang="en-US" sz="1000" dirty="0"/>
                  <a:t> </a:t>
                </a:r>
                <a:r>
                  <a:rPr lang="en-US" sz="1000" dirty="0" err="1"/>
                  <a:t>invés</a:t>
                </a:r>
                <a:r>
                  <a:rPr lang="en-US" sz="1000" dirty="0"/>
                  <a:t> de </a:t>
                </a:r>
                <a14:m>
                  <m:oMath xmlns:m="http://schemas.openxmlformats.org/officeDocument/2006/math">
                    <m:r>
                      <a:rPr lang="pt-BR" sz="1000" b="1" i="1" smtClean="0"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begChr m:val="["/>
                        <m:endChr m:val="]"/>
                        <m:ctrlPr>
                          <a:rPr lang="pt-BR" sz="1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sz="1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7" name="TextBox 3">
                <a:extLst>
                  <a:ext uri="{FF2B5EF4-FFF2-40B4-BE49-F238E27FC236}">
                    <a16:creationId xmlns:a16="http://schemas.microsoft.com/office/drawing/2014/main" id="{7CED28AA-0E05-B2BA-0D30-E8DA542D7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611778"/>
                <a:ext cx="3175036" cy="246221"/>
              </a:xfrm>
              <a:prstGeom prst="rect">
                <a:avLst/>
              </a:prstGeom>
              <a:blipFill>
                <a:blip r:embed="rId4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>
            <a:extLst>
              <a:ext uri="{FF2B5EF4-FFF2-40B4-BE49-F238E27FC236}">
                <a16:creationId xmlns:a16="http://schemas.microsoft.com/office/drawing/2014/main" xmlns="" id="{7FCC30CB-CB89-F35B-D92D-21E6B094C07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38" y="2457768"/>
            <a:ext cx="4436269" cy="280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264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FF8E223-5A55-598C-6C3A-13F57278F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3C890A9-36F8-D703-4FF3-2ECF4E39F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Neurônio recorrente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xmlns="" id="{5D53E8F3-31EC-96A2-5086-93E2C9E2F1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01477" y="1825624"/>
                <a:ext cx="7190523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A célula processa uma sequência de entradas um elemento (e.g., uma palavra ou um caractere) de cada vez, executando os seguintes passos em um laço: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Recebe a entrada atual da sequência,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Recebe o estado oculto do passo de tempo anterior,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pt-BR" dirty="0"/>
                  <a:t> (sua “memória”).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Combina essas duas entradas para calcular o novo estado oculto,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Usa o novo estado oculto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/>
                  <a:t> para calcular a saída,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/>
                  <a:t> para o passo de tempo atual.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O novo estado oculto,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/>
                  <a:t>, é então passado como memória para o próximo passo de tempo,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pt-BR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5D53E8F3-31EC-96A2-5086-93E2C9E2F1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01477" y="1825624"/>
                <a:ext cx="7190523" cy="5032375"/>
              </a:xfrm>
              <a:blipFill>
                <a:blip r:embed="rId3"/>
                <a:stretch>
                  <a:fillRect l="-1525" t="-1937" r="-424" b="-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m 2">
            <a:extLst>
              <a:ext uri="{FF2B5EF4-FFF2-40B4-BE49-F238E27FC236}">
                <a16:creationId xmlns:a16="http://schemas.microsoft.com/office/drawing/2014/main" xmlns="" id="{8380297D-98CD-60DC-3ED7-95B86C2C0C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240" y="2749999"/>
            <a:ext cx="4436269" cy="280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453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058803-0098-D69B-94E1-8CF2F7283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Atualização do estado e geração da saída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988FD72E-BE70-A3E4-42F1-AA2A1AE8D9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29175" y="1825624"/>
                <a:ext cx="7362825" cy="5032375"/>
              </a:xfrm>
            </p:spPr>
            <p:txBody>
              <a:bodyPr/>
              <a:lstStyle/>
              <a:p>
                <a:r>
                  <a:rPr lang="pt-BR" dirty="0"/>
                  <a:t>Equações de </a:t>
                </a:r>
                <a:r>
                  <a:rPr lang="pt-BR" b="1" dirty="0">
                    <a:solidFill>
                      <a:srgbClr val="00B050"/>
                    </a:solidFill>
                  </a:rPr>
                  <a:t>atualização do estado oculto</a:t>
                </a:r>
                <a:r>
                  <a:rPr lang="pt-BR" dirty="0"/>
                  <a:t> e de </a:t>
                </a:r>
                <a:r>
                  <a:rPr lang="pt-BR" b="1" dirty="0">
                    <a:solidFill>
                      <a:srgbClr val="00B050"/>
                    </a:solidFill>
                  </a:rPr>
                  <a:t>saída do neurônio</a:t>
                </a:r>
                <a:r>
                  <a:rPr lang="pt-BR" dirty="0"/>
                  <a:t> recorrente: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𝒉</m:t>
                      </m:r>
                      <m:d>
                        <m:dPr>
                          <m:begChr m:val="["/>
                          <m:endChr m:val="]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sz="7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d>
                        <m:dPr>
                          <m:begChr m:val="["/>
                          <m:endChr m:val="]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𝒉</m:t>
                      </m:r>
                      <m:d>
                        <m:dPr>
                          <m:begChr m:val="["/>
                          <m:endChr m:val="]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pt-BR" dirty="0"/>
                  <a:t>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pt-BR" dirty="0"/>
                  <a:t> é o vetor de </a:t>
                </a:r>
                <a:r>
                  <a:rPr lang="pt-BR" i="1" dirty="0"/>
                  <a:t>bias</a:t>
                </a:r>
                <a:r>
                  <a:rPr lang="pt-BR" dirty="0"/>
                  <a:t>.</a:t>
                </a:r>
                <a:endParaRPr lang="en-US" dirty="0"/>
              </a:p>
              <a:p>
                <a:r>
                  <a:rPr lang="en-US" dirty="0" err="1"/>
                  <a:t>Os</a:t>
                </a:r>
                <a:r>
                  <a:rPr lang="en-US" dirty="0"/>
                  <a:t> </a:t>
                </a:r>
                <a:r>
                  <a:rPr lang="en-US" b="1" dirty="0">
                    <a:solidFill>
                      <a:schemeClr val="accent2"/>
                    </a:solidFill>
                  </a:rPr>
                  <a:t>pesos </a:t>
                </a:r>
                <a:r>
                  <a:rPr lang="en-US" b="1" dirty="0" err="1">
                    <a:solidFill>
                      <a:schemeClr val="accent2"/>
                    </a:solidFill>
                  </a:rPr>
                  <a:t>são</a:t>
                </a:r>
                <a:r>
                  <a:rPr lang="en-US" b="1" dirty="0">
                    <a:solidFill>
                      <a:schemeClr val="accent2"/>
                    </a:solidFill>
                  </a:rPr>
                  <a:t> </a:t>
                </a:r>
                <a:r>
                  <a:rPr lang="en-US" b="1" dirty="0" err="1">
                    <a:solidFill>
                      <a:schemeClr val="accent2"/>
                    </a:solidFill>
                  </a:rPr>
                  <a:t>os</a:t>
                </a:r>
                <a:r>
                  <a:rPr lang="en-US" b="1" dirty="0">
                    <a:solidFill>
                      <a:schemeClr val="accent2"/>
                    </a:solidFill>
                  </a:rPr>
                  <a:t> </a:t>
                </a:r>
                <a:r>
                  <a:rPr lang="en-US" b="1" dirty="0" err="1">
                    <a:solidFill>
                      <a:schemeClr val="accent2"/>
                    </a:solidFill>
                  </a:rPr>
                  <a:t>mesmos</a:t>
                </a:r>
                <a:r>
                  <a:rPr lang="en-US" dirty="0"/>
                  <a:t> </a:t>
                </a:r>
                <a:r>
                  <a:rPr lang="en-US" dirty="0" err="1"/>
                  <a:t>em</a:t>
                </a:r>
                <a:r>
                  <a:rPr lang="en-US" dirty="0"/>
                  <a:t> </a:t>
                </a:r>
                <a:r>
                  <a:rPr lang="en-US" b="1" dirty="0" err="1">
                    <a:solidFill>
                      <a:srgbClr val="7030A0"/>
                    </a:solidFill>
                  </a:rPr>
                  <a:t>todos</a:t>
                </a:r>
                <a:r>
                  <a:rPr lang="en-US" b="1" dirty="0">
                    <a:solidFill>
                      <a:srgbClr val="7030A0"/>
                    </a:solidFill>
                  </a:rPr>
                  <a:t> </a:t>
                </a:r>
                <a:r>
                  <a:rPr lang="en-US" b="1" dirty="0" err="1">
                    <a:solidFill>
                      <a:srgbClr val="7030A0"/>
                    </a:solidFill>
                  </a:rPr>
                  <a:t>os</a:t>
                </a:r>
                <a:r>
                  <a:rPr lang="en-US" b="1" dirty="0">
                    <a:solidFill>
                      <a:srgbClr val="7030A0"/>
                    </a:solidFill>
                  </a:rPr>
                  <a:t> </a:t>
                </a:r>
                <a:r>
                  <a:rPr lang="en-US" b="1" dirty="0" err="1">
                    <a:solidFill>
                      <a:srgbClr val="7030A0"/>
                    </a:solidFill>
                  </a:rPr>
                  <a:t>intervalos</a:t>
                </a:r>
                <a:r>
                  <a:rPr lang="en-US" b="1" dirty="0">
                    <a:solidFill>
                      <a:srgbClr val="7030A0"/>
                    </a:solidFill>
                  </a:rPr>
                  <a:t> de tempo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Em </a:t>
                </a:r>
                <a:r>
                  <a:rPr lang="en-US" dirty="0" err="1"/>
                  <a:t>geral</a:t>
                </a:r>
                <a:r>
                  <a:rPr lang="en-US" dirty="0"/>
                  <a:t>, </a:t>
                </a:r>
                <a:r>
                  <a:rPr lang="en-US" dirty="0" err="1"/>
                  <a:t>usa</a:t>
                </a:r>
                <a:r>
                  <a:rPr lang="en-US" dirty="0"/>
                  <a:t>-se </a:t>
                </a:r>
                <a:r>
                  <a:rPr lang="en-US" dirty="0" err="1"/>
                  <a:t>funções</a:t>
                </a:r>
                <a:r>
                  <a:rPr lang="en-US" dirty="0"/>
                  <a:t> de </a:t>
                </a:r>
                <a:r>
                  <a:rPr lang="en-US" dirty="0" err="1"/>
                  <a:t>ativação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(.)</m:t>
                    </m:r>
                  </m:oMath>
                </a14:m>
                <a:r>
                  <a:rPr lang="en-US" dirty="0"/>
                  <a:t>, do </a:t>
                </a:r>
                <a:r>
                  <a:rPr lang="en-US" dirty="0" err="1"/>
                  <a:t>tipo</a:t>
                </a:r>
                <a:r>
                  <a:rPr lang="en-US" dirty="0"/>
                  <a:t> </a:t>
                </a:r>
                <a:r>
                  <a:rPr lang="en-US" b="1" dirty="0" err="1">
                    <a:solidFill>
                      <a:schemeClr val="accent2"/>
                    </a:solidFill>
                  </a:rPr>
                  <a:t>tangente</a:t>
                </a:r>
                <a:r>
                  <a:rPr lang="en-US" b="1" dirty="0">
                    <a:solidFill>
                      <a:schemeClr val="accent2"/>
                    </a:solidFill>
                  </a:rPr>
                  <a:t> </a:t>
                </a:r>
                <a:r>
                  <a:rPr lang="en-US" b="1" dirty="0" err="1">
                    <a:solidFill>
                      <a:schemeClr val="accent2"/>
                    </a:solidFill>
                  </a:rPr>
                  <a:t>hiperbólica</a:t>
                </a:r>
                <a:r>
                  <a:rPr lang="en-US" dirty="0"/>
                  <a:t> (tanh) </a:t>
                </a:r>
                <a:r>
                  <a:rPr lang="en-US" dirty="0" err="1"/>
                  <a:t>ou</a:t>
                </a:r>
                <a:r>
                  <a:rPr lang="en-US" dirty="0"/>
                  <a:t> </a:t>
                </a:r>
                <a:r>
                  <a:rPr lang="en-US" b="1" dirty="0" err="1">
                    <a:solidFill>
                      <a:schemeClr val="accent2"/>
                    </a:solidFill>
                  </a:rPr>
                  <a:t>sigmóide</a:t>
                </a:r>
                <a:r>
                  <a:rPr lang="en-US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 err="1"/>
                  <a:t>Não</a:t>
                </a:r>
                <a:r>
                  <a:rPr lang="en-US" dirty="0"/>
                  <a:t> se </a:t>
                </a:r>
                <a:r>
                  <a:rPr lang="en-US" dirty="0" err="1"/>
                  <a:t>usa</a:t>
                </a:r>
                <a:r>
                  <a:rPr lang="en-US" dirty="0"/>
                  <a:t> </a:t>
                </a:r>
                <a:r>
                  <a:rPr lang="en-US" dirty="0" err="1"/>
                  <a:t>ReLU</a:t>
                </a:r>
                <a:r>
                  <a:rPr lang="en-US" dirty="0"/>
                  <a:t>, pois </a:t>
                </a:r>
                <a:r>
                  <a:rPr lang="en-US" b="1" dirty="0" err="1">
                    <a:solidFill>
                      <a:schemeClr val="accent1"/>
                    </a:solidFill>
                  </a:rPr>
                  <a:t>por</a:t>
                </a:r>
                <a:r>
                  <a:rPr lang="en-US" b="1" dirty="0">
                    <a:solidFill>
                      <a:schemeClr val="accent1"/>
                    </a:solidFill>
                  </a:rPr>
                  <a:t> </a:t>
                </a:r>
                <a:r>
                  <a:rPr lang="en-US" b="1" dirty="0" err="1">
                    <a:solidFill>
                      <a:schemeClr val="accent1"/>
                    </a:solidFill>
                  </a:rPr>
                  <a:t>não</a:t>
                </a:r>
                <a:r>
                  <a:rPr lang="en-US" b="1" dirty="0">
                    <a:solidFill>
                      <a:schemeClr val="accent1"/>
                    </a:solidFill>
                  </a:rPr>
                  <a:t> </a:t>
                </a:r>
                <a:r>
                  <a:rPr lang="en-US" b="1" dirty="0" err="1">
                    <a:solidFill>
                      <a:schemeClr val="accent1"/>
                    </a:solidFill>
                  </a:rPr>
                  <a:t>saturarem</a:t>
                </a:r>
                <a:r>
                  <a:rPr lang="en-US" dirty="0"/>
                  <a:t>, a </a:t>
                </a:r>
                <a:r>
                  <a:rPr lang="en-US" b="1" dirty="0" err="1">
                    <a:solidFill>
                      <a:schemeClr val="accent1"/>
                    </a:solidFill>
                  </a:rPr>
                  <a:t>recorrência</a:t>
                </a:r>
                <a:r>
                  <a:rPr lang="en-US" dirty="0"/>
                  <a:t> </a:t>
                </a:r>
                <a:r>
                  <a:rPr lang="en-US" dirty="0" err="1"/>
                  <a:t>pode</a:t>
                </a:r>
                <a:r>
                  <a:rPr lang="en-US" dirty="0"/>
                  <a:t> </a:t>
                </a:r>
                <a:r>
                  <a:rPr lang="en-US" b="1" dirty="0" err="1">
                    <a:solidFill>
                      <a:schemeClr val="accent1"/>
                    </a:solidFill>
                  </a:rPr>
                  <a:t>causar</a:t>
                </a:r>
                <a:r>
                  <a:rPr lang="en-US" b="1" dirty="0">
                    <a:solidFill>
                      <a:schemeClr val="accent1"/>
                    </a:solidFill>
                  </a:rPr>
                  <a:t> </a:t>
                </a:r>
                <a:r>
                  <a:rPr lang="en-US" b="1" dirty="0" err="1">
                    <a:solidFill>
                      <a:schemeClr val="accent1"/>
                    </a:solidFill>
                  </a:rPr>
                  <a:t>explosão</a:t>
                </a:r>
                <a:r>
                  <a:rPr lang="en-US" b="1" dirty="0">
                    <a:solidFill>
                      <a:schemeClr val="accent1"/>
                    </a:solidFill>
                  </a:rPr>
                  <a:t> do </a:t>
                </a:r>
                <a:r>
                  <a:rPr lang="en-US" b="1" dirty="0" err="1">
                    <a:solidFill>
                      <a:schemeClr val="accent1"/>
                    </a:solidFill>
                  </a:rPr>
                  <a:t>gradiente</a:t>
                </a:r>
                <a:r>
                  <a:rPr lang="en-US" dirty="0"/>
                  <a:t>.</a:t>
                </a:r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8FD72E-BE70-A3E4-42F1-AA2A1AE8D9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9175" y="1825624"/>
                <a:ext cx="7362825" cy="5032375"/>
              </a:xfrm>
              <a:blipFill>
                <a:blip r:embed="rId3"/>
                <a:stretch>
                  <a:fillRect l="-1656" t="-1937" r="-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m 5">
            <a:extLst>
              <a:ext uri="{FF2B5EF4-FFF2-40B4-BE49-F238E27FC236}">
                <a16:creationId xmlns:a16="http://schemas.microsoft.com/office/drawing/2014/main" xmlns="" id="{F7DDA95C-C5C7-CCA4-CCDB-D86268AAC5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832" y="1592865"/>
            <a:ext cx="2454517" cy="4900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549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0A6C62E-76B5-FA20-EE1A-654E9CD98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45478A-CD8C-A7EE-5ED6-FCEA3B528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Atualização do estado e geração da saída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60AAF98E-E627-AE1F-AE39-31FADE78DD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49072" y="1825624"/>
                <a:ext cx="7242928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Algumas implementações consideram uma </a:t>
                </a:r>
                <a:r>
                  <a:rPr lang="pt-BR" b="1" dirty="0">
                    <a:solidFill>
                      <a:schemeClr val="accent2"/>
                    </a:solidFill>
                  </a:rPr>
                  <a:t>função de ativação na saída </a:t>
                </a:r>
                <a:r>
                  <a:rPr lang="pt-BR" dirty="0"/>
                  <a:t>(e.g., logística ou </a:t>
                </a:r>
                <a:r>
                  <a:rPr lang="pt-BR" dirty="0" err="1"/>
                  <a:t>tanh</a:t>
                </a:r>
                <a:r>
                  <a:rPr lang="pt-BR" dirty="0"/>
                  <a:t>).</a:t>
                </a:r>
              </a:p>
              <a:p>
                <a:r>
                  <a:rPr lang="pt-BR" dirty="0"/>
                  <a:t>Desta forma, a equação de </a:t>
                </a:r>
                <a:r>
                  <a:rPr lang="pt-BR" b="1" dirty="0">
                    <a:solidFill>
                      <a:srgbClr val="00B050"/>
                    </a:solidFill>
                  </a:rPr>
                  <a:t>saída do neurônio</a:t>
                </a:r>
                <a:r>
                  <a:rPr lang="pt-BR" dirty="0"/>
                  <a:t> recorrente fica assim:</a:t>
                </a:r>
                <a:endParaRPr lang="en-US" sz="7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d>
                        <m:dPr>
                          <m:begChr m:val="["/>
                          <m:endChr m:val="]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𝒉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pt-BR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pt-BR" dirty="0"/>
                  <a:t>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pt-BR" dirty="0"/>
                  <a:t> é o vetor de </a:t>
                </a:r>
                <a:r>
                  <a:rPr lang="pt-BR" i="1" dirty="0"/>
                  <a:t>bias.</a:t>
                </a:r>
                <a:endParaRPr lang="en-US" dirty="0"/>
              </a:p>
              <a:p>
                <a:r>
                  <a:rPr lang="pt-BR" dirty="0"/>
                  <a:t>A equação de </a:t>
                </a:r>
                <a:r>
                  <a:rPr lang="pt-BR" b="1" dirty="0">
                    <a:solidFill>
                      <a:srgbClr val="00B050"/>
                    </a:solidFill>
                  </a:rPr>
                  <a:t>atualização do estado oculto </a:t>
                </a:r>
                <a:r>
                  <a:rPr lang="pt-BR" dirty="0"/>
                  <a:t>permanece a mesma.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AAF98E-E627-AE1F-AE39-31FADE78DD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49072" y="1825624"/>
                <a:ext cx="7242928" cy="5032375"/>
              </a:xfrm>
              <a:blipFill>
                <a:blip r:embed="rId3"/>
                <a:stretch>
                  <a:fillRect l="-1768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Agrupar 3">
            <a:extLst>
              <a:ext uri="{FF2B5EF4-FFF2-40B4-BE49-F238E27FC236}">
                <a16:creationId xmlns:a16="http://schemas.microsoft.com/office/drawing/2014/main" xmlns="" id="{18759DC6-199E-9641-2389-B62D876BAC88}"/>
              </a:ext>
            </a:extLst>
          </p:cNvPr>
          <p:cNvGrpSpPr/>
          <p:nvPr/>
        </p:nvGrpSpPr>
        <p:grpSpPr>
          <a:xfrm>
            <a:off x="1676298" y="1517693"/>
            <a:ext cx="2258314" cy="5231527"/>
            <a:chOff x="1582030" y="1498840"/>
            <a:chExt cx="2258314" cy="5231527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xmlns="" id="{8E2B0E5C-B617-1386-87C2-3A8B717B0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2031" y="1498840"/>
              <a:ext cx="2258313" cy="5231527"/>
            </a:xfrm>
            <a:prstGeom prst="rect">
              <a:avLst/>
            </a:prstGeom>
          </p:spPr>
        </p:pic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xmlns="" id="{1E3BC3FD-1B5F-5A63-997C-3561384F2766}"/>
                </a:ext>
              </a:extLst>
            </p:cNvPr>
            <p:cNvSpPr/>
            <p:nvPr/>
          </p:nvSpPr>
          <p:spPr>
            <a:xfrm>
              <a:off x="1582030" y="2066729"/>
              <a:ext cx="557657" cy="61912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FF0000"/>
                  </a:solidFill>
                </a:ln>
                <a:noFill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9860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D2474F2-5A89-1CB7-BD28-4A23A7F51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0EFA5E-749F-7C57-0BA6-488F9D44E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Desenrolando uma RNN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FCF467E-0C2B-3D54-B6F1-85395ED9E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5395" y="1825624"/>
            <a:ext cx="4386605" cy="5032375"/>
          </a:xfrm>
        </p:spPr>
        <p:txBody>
          <a:bodyPr>
            <a:normAutofit/>
          </a:bodyPr>
          <a:lstStyle/>
          <a:p>
            <a:r>
              <a:rPr lang="pt-BR" dirty="0"/>
              <a:t>Embora visualizemos a RNN com um </a:t>
            </a:r>
            <a:r>
              <a:rPr lang="pt-BR" b="1" dirty="0">
                <a:solidFill>
                  <a:schemeClr val="accent1"/>
                </a:solidFill>
              </a:rPr>
              <a:t>laço</a:t>
            </a:r>
            <a:r>
              <a:rPr lang="pt-BR" dirty="0"/>
              <a:t>, é mais fácil entender seu funcionamento </a:t>
            </a:r>
            <a:r>
              <a:rPr lang="pt-BR" b="1" dirty="0">
                <a:solidFill>
                  <a:schemeClr val="accent2"/>
                </a:solidFill>
              </a:rPr>
              <a:t>desenrolando-a</a:t>
            </a:r>
            <a:r>
              <a:rPr lang="pt-BR" dirty="0"/>
              <a:t> ao longo dos passos de tempo.</a:t>
            </a:r>
          </a:p>
          <a:p>
            <a:r>
              <a:rPr lang="pt-BR" dirty="0"/>
              <a:t>Uma RNN desenrolada pode ser vista como </a:t>
            </a:r>
            <a:r>
              <a:rPr lang="pt-BR" b="1" dirty="0">
                <a:solidFill>
                  <a:srgbClr val="7030A0"/>
                </a:solidFill>
              </a:rPr>
              <a:t>múltiplas cópias da mesma camada</a:t>
            </a:r>
            <a:r>
              <a:rPr lang="pt-BR" dirty="0"/>
              <a:t>, cada uma passando </a:t>
            </a:r>
            <a:r>
              <a:rPr lang="pt-BR" b="1" dirty="0">
                <a:solidFill>
                  <a:schemeClr val="accent2"/>
                </a:solidFill>
              </a:rPr>
              <a:t>uma mensagem para a sua sucessora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7647394D-B8E2-7039-16A8-7702A1CD08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85" y="1851548"/>
            <a:ext cx="7578510" cy="452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2990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1DDC0DF-3D06-4045-B165-7AAB8FC34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4B05D09-B51B-9F1D-840C-8F31ECA8A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Desenrolando uma RNN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5DB0C75-40DB-1344-2644-3F9C51103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5395" y="1825624"/>
            <a:ext cx="4386605" cy="50323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Cada </a:t>
            </a:r>
            <a:r>
              <a:rPr lang="pt-BR" b="1" dirty="0">
                <a:solidFill>
                  <a:schemeClr val="accent2"/>
                </a:solidFill>
              </a:rPr>
              <a:t>réplica</a:t>
            </a:r>
            <a:r>
              <a:rPr lang="pt-BR" dirty="0"/>
              <a:t> da rede é </a:t>
            </a:r>
            <a:r>
              <a:rPr lang="pt-BR" b="1" dirty="0">
                <a:solidFill>
                  <a:schemeClr val="accent2"/>
                </a:solidFill>
              </a:rPr>
              <a:t>referente </a:t>
            </a:r>
            <a:r>
              <a:rPr lang="pt-BR" dirty="0"/>
              <a:t>a um </a:t>
            </a:r>
            <a:r>
              <a:rPr lang="pt-BR" b="1" dirty="0">
                <a:solidFill>
                  <a:schemeClr val="accent2"/>
                </a:solidFill>
              </a:rPr>
              <a:t>intervalo de tempo diferente </a:t>
            </a:r>
            <a:r>
              <a:rPr lang="pt-BR" dirty="0"/>
              <a:t>e pode ser pensada como </a:t>
            </a:r>
            <a:r>
              <a:rPr lang="pt-BR" b="1" dirty="0">
                <a:solidFill>
                  <a:srgbClr val="00B050"/>
                </a:solidFill>
              </a:rPr>
              <a:t>uma camada em uma rede MLP</a:t>
            </a:r>
            <a:r>
              <a:rPr lang="pt-BR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Percebam que a </a:t>
            </a:r>
            <a:r>
              <a:rPr lang="pt-BR" b="1" dirty="0">
                <a:solidFill>
                  <a:srgbClr val="7030A0"/>
                </a:solidFill>
              </a:rPr>
              <a:t>arquitetura da rede</a:t>
            </a:r>
            <a:r>
              <a:rPr lang="pt-BR" dirty="0"/>
              <a:t> pode se tornar </a:t>
            </a:r>
            <a:r>
              <a:rPr lang="pt-BR" b="1" dirty="0">
                <a:solidFill>
                  <a:srgbClr val="7030A0"/>
                </a:solidFill>
              </a:rPr>
              <a:t>muito profunda </a:t>
            </a:r>
            <a:r>
              <a:rPr lang="pt-BR" dirty="0"/>
              <a:t>para</a:t>
            </a:r>
            <a:r>
              <a:rPr lang="pt-BR" b="1" dirty="0">
                <a:solidFill>
                  <a:srgbClr val="7030A0"/>
                </a:solidFill>
              </a:rPr>
              <a:t> sequências muito longas</a:t>
            </a:r>
            <a:r>
              <a:rPr lang="pt-BR" dirty="0"/>
              <a:t>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5432393F-CC34-9AA6-AE14-3B0ED66B82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85" y="1851548"/>
            <a:ext cx="7578510" cy="452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749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7131961-1381-6F3E-8FD0-08285C798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C74E138-4FDB-0A0C-AE94-7C75814D5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Desenrolando uma RNN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4D1FC21-9877-8A53-D087-E821889E0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0553" y="1825624"/>
            <a:ext cx="4471447" cy="5032375"/>
          </a:xfrm>
        </p:spPr>
        <p:txBody>
          <a:bodyPr>
            <a:normAutofit/>
          </a:bodyPr>
          <a:lstStyle/>
          <a:p>
            <a:r>
              <a:rPr lang="pt-BR" dirty="0"/>
              <a:t>Essa visão </a:t>
            </a:r>
            <a:r>
              <a:rPr lang="pt-BR" b="1" dirty="0">
                <a:solidFill>
                  <a:schemeClr val="accent2"/>
                </a:solidFill>
              </a:rPr>
              <a:t>desenrolada</a:t>
            </a:r>
            <a:r>
              <a:rPr lang="pt-BR" dirty="0"/>
              <a:t> mostra claramente o fluxo de informações e a </a:t>
            </a:r>
            <a:r>
              <a:rPr lang="pt-BR" b="1" dirty="0">
                <a:solidFill>
                  <a:srgbClr val="0070C0"/>
                </a:solidFill>
              </a:rPr>
              <a:t>reutilização dos pesos</a:t>
            </a:r>
            <a:r>
              <a:rPr lang="pt-BR" dirty="0"/>
              <a:t>.</a:t>
            </a:r>
          </a:p>
          <a:p>
            <a:r>
              <a:rPr lang="pt-BR" dirty="0"/>
              <a:t>Os </a:t>
            </a:r>
            <a:r>
              <a:rPr lang="pt-BR" b="1" dirty="0">
                <a:solidFill>
                  <a:schemeClr val="accent1"/>
                </a:solidFill>
              </a:rPr>
              <a:t>pesos </a:t>
            </a:r>
            <a:r>
              <a:rPr lang="pt-BR" dirty="0"/>
              <a:t>e as </a:t>
            </a:r>
            <a:r>
              <a:rPr lang="pt-BR" b="1" dirty="0">
                <a:solidFill>
                  <a:schemeClr val="accent1"/>
                </a:solidFill>
              </a:rPr>
              <a:t>funções de ativação </a:t>
            </a:r>
            <a:r>
              <a:rPr lang="pt-BR" dirty="0"/>
              <a:t>são</a:t>
            </a:r>
            <a:r>
              <a:rPr lang="pt-BR" b="1" dirty="0">
                <a:solidFill>
                  <a:schemeClr val="accent1"/>
                </a:solidFill>
              </a:rPr>
              <a:t> mantidos constantes</a:t>
            </a:r>
            <a:r>
              <a:rPr lang="pt-BR" dirty="0"/>
              <a:t> em cada </a:t>
            </a:r>
            <a:r>
              <a:rPr lang="pt-BR" b="1" dirty="0">
                <a:solidFill>
                  <a:schemeClr val="accent1"/>
                </a:solidFill>
              </a:rPr>
              <a:t>intervalo de tempo.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C67339C6-8630-9318-806E-885B3088E3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43" y="1898682"/>
            <a:ext cx="7578510" cy="452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3572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08040EC-283E-AF0D-98D2-F63FF4265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6B01EA-11FE-E505-9C21-2C7DF649E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Desenrolando uma RNN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9B7EF629-DAD2-6F9E-E547-E7199A3C8A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04910" y="1825624"/>
                <a:ext cx="4387090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Esse </a:t>
                </a:r>
                <a:r>
                  <a:rPr lang="pt-BR" b="1" dirty="0">
                    <a:solidFill>
                      <a:schemeClr val="accent2"/>
                    </a:solidFill>
                  </a:rPr>
                  <a:t>conjunto compartilhado de pesos</a:t>
                </a:r>
                <a:r>
                  <a:rPr lang="pt-BR" dirty="0"/>
                  <a:t> é o que torna o modelo "</a:t>
                </a:r>
                <a:r>
                  <a:rPr lang="pt-BR" b="1" dirty="0">
                    <a:solidFill>
                      <a:srgbClr val="00B050"/>
                    </a:solidFill>
                  </a:rPr>
                  <a:t>recorrente</a:t>
                </a:r>
                <a:r>
                  <a:rPr lang="pt-BR" dirty="0"/>
                  <a:t>" e permite que ele </a:t>
                </a:r>
                <a:r>
                  <a:rPr lang="pt-BR" b="1" dirty="0">
                    <a:solidFill>
                      <a:srgbClr val="7030A0"/>
                    </a:solidFill>
                  </a:rPr>
                  <a:t>aprenda (detecte) padrões em sequências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Notem que a saída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pt-BR" dirty="0"/>
                  <a:t> </a:t>
                </a:r>
                <a:r>
                  <a:rPr lang="pt-BR" b="1" dirty="0">
                    <a:solidFill>
                      <a:srgbClr val="00B050"/>
                    </a:solidFill>
                  </a:rPr>
                  <a:t>depende de </a:t>
                </a:r>
                <a14:m>
                  <m:oMath xmlns:m="http://schemas.openxmlformats.org/officeDocument/2006/math">
                    <m:r>
                      <a:rPr lang="pt-BR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𝒉</m:t>
                    </m:r>
                    <m:r>
                      <a:rPr lang="pt-BR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pt-BR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pt-BR" b="1" dirty="0">
                    <a:solidFill>
                      <a:srgbClr val="00B050"/>
                    </a:solidFill>
                  </a:rPr>
                  <a:t>e de </a:t>
                </a:r>
                <a:r>
                  <a:rPr lang="pt-BR" b="1" dirty="0">
                    <a:solidFill>
                      <a:schemeClr val="accent2"/>
                    </a:solidFill>
                  </a:rPr>
                  <a:t>todos</a:t>
                </a:r>
                <a:r>
                  <a:rPr lang="pt-BR" b="1" dirty="0">
                    <a:solidFill>
                      <a:srgbClr val="00B050"/>
                    </a:solidFill>
                  </a:rPr>
                  <a:t> os seus valores anteriores</a:t>
                </a:r>
                <a:r>
                  <a:rPr lang="pt-BR" dirty="0"/>
                  <a:t> e não apenas 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pt-BR" dirty="0"/>
                  <a:t> como em uma MLP.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EF629-DAD2-6F9E-E547-E7199A3C8A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04910" y="1825624"/>
                <a:ext cx="4387090" cy="5032375"/>
              </a:xfrm>
              <a:blipFill>
                <a:blip r:embed="rId3"/>
                <a:stretch>
                  <a:fillRect l="-2500" t="-1937" r="-43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m 4">
            <a:extLst>
              <a:ext uri="{FF2B5EF4-FFF2-40B4-BE49-F238E27FC236}">
                <a16:creationId xmlns:a16="http://schemas.microsoft.com/office/drawing/2014/main" xmlns="" id="{11D00B5F-AE10-DDBA-90FA-2664155E2E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34" y="1965166"/>
            <a:ext cx="7578510" cy="452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9233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FA4CF61-CE52-9ED4-4E52-19F813121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517226-7116-AD96-CC12-97CF12663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Desenrolando uma RNN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BD94AA-1AF4-CE3E-B58D-37EA5EC18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5624"/>
            <a:ext cx="6096000" cy="5032375"/>
          </a:xfrm>
        </p:spPr>
        <p:txBody>
          <a:bodyPr>
            <a:normAutofit/>
          </a:bodyPr>
          <a:lstStyle/>
          <a:p>
            <a:r>
              <a:rPr lang="pt-BR" dirty="0"/>
              <a:t>O processo de desenrolar uma RNN nos ajuda a treinar a rede usando a </a:t>
            </a:r>
            <a:r>
              <a:rPr lang="pt-BR" b="1" dirty="0">
                <a:solidFill>
                  <a:srgbClr val="7030A0"/>
                </a:solidFill>
              </a:rPr>
              <a:t>retropropagação do erro</a:t>
            </a:r>
            <a:r>
              <a:rPr lang="pt-BR" dirty="0"/>
              <a:t>.</a:t>
            </a:r>
          </a:p>
          <a:p>
            <a:r>
              <a:rPr lang="pt-BR" dirty="0"/>
              <a:t>O objetivo é: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descobrir como cada peso influenciou o erro,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ajustar os pesos para minimizar o erro. </a:t>
            </a:r>
          </a:p>
          <a:p>
            <a:r>
              <a:rPr lang="pt-BR" dirty="0"/>
              <a:t>Nas </a:t>
            </a:r>
            <a:r>
              <a:rPr lang="pt-BR" dirty="0" err="1"/>
              <a:t>RNNs</a:t>
            </a:r>
            <a:r>
              <a:rPr lang="pt-BR" dirty="0"/>
              <a:t>, isso é mais complexo pois: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o estado atual depende dos estados anteriores,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então o erro precisa voltar no tempo.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xmlns="" id="{EFA75654-DF42-EDB9-B152-A60A131AFD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849" y="1825624"/>
            <a:ext cx="4896244" cy="452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7271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E55AF5A-930E-4EB7-9C3A-7CA94CC8D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3167BFA-0FC4-2278-90FE-EEBB76F8C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Treinando uma RNN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C856341B-8DD5-B4D0-04B5-B1D29CAF8A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6338" y="1825624"/>
                <a:ext cx="6375662" cy="5032376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Para treinar a rede, ela é primeiro </a:t>
                </a:r>
                <a:r>
                  <a:rPr lang="pt-BR" b="1" dirty="0">
                    <a:solidFill>
                      <a:schemeClr val="accent2"/>
                    </a:solidFill>
                  </a:rPr>
                  <a:t>desenrolada</a:t>
                </a:r>
                <a:r>
                  <a:rPr lang="pt-BR" dirty="0"/>
                  <a:t> e </a:t>
                </a:r>
                <a:r>
                  <a:rPr lang="pt-BR" b="1" dirty="0">
                    <a:solidFill>
                      <a:srgbClr val="7030A0"/>
                    </a:solidFill>
                  </a:rPr>
                  <a:t>depois aplica-se a retropropagação</a:t>
                </a:r>
                <a:r>
                  <a:rPr lang="pt-BR" dirty="0"/>
                  <a:t> do erro </a:t>
                </a:r>
                <a:r>
                  <a:rPr lang="pt-BR" b="1" dirty="0">
                    <a:solidFill>
                      <a:srgbClr val="7030A0"/>
                    </a:solidFill>
                  </a:rPr>
                  <a:t>tradicional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Inicialmente, a sequência,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dirty="0"/>
                  <a:t>, é processada em uma </a:t>
                </a:r>
                <a:r>
                  <a:rPr lang="pt-BR" b="1" dirty="0">
                    <a:solidFill>
                      <a:srgbClr val="00B050"/>
                    </a:solidFill>
                  </a:rPr>
                  <a:t>etapa direta</a:t>
                </a:r>
                <a:r>
                  <a:rPr lang="pt-BR" dirty="0"/>
                  <a:t>, gerando saídas ao longo dos vários instantes de tempo,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dirty="0"/>
                  <a:t>. </a:t>
                </a:r>
              </a:p>
              <a:p>
                <a:r>
                  <a:rPr lang="pt-BR" dirty="0"/>
                  <a:t>Em seguida, uma </a:t>
                </a:r>
                <a:r>
                  <a:rPr lang="pt-BR" b="1" dirty="0">
                    <a:solidFill>
                      <a:srgbClr val="00B050"/>
                    </a:solidFill>
                  </a:rPr>
                  <a:t>função de erro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pt-BR" dirty="0"/>
                  <a:t>,(e.g., EQM, EC) é </a:t>
                </a:r>
                <a:r>
                  <a:rPr lang="pt-BR" b="1" dirty="0">
                    <a:solidFill>
                      <a:srgbClr val="00B050"/>
                    </a:solidFill>
                  </a:rPr>
                  <a:t>calculada</a:t>
                </a:r>
                <a:r>
                  <a:rPr lang="pt-BR" dirty="0"/>
                  <a:t> utilizando as saídas e os rótulos,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56341B-8DD5-B4D0-04B5-B1D29CAF8A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6338" y="1825624"/>
                <a:ext cx="6375662" cy="5032376"/>
              </a:xfrm>
              <a:blipFill>
                <a:blip r:embed="rId2"/>
                <a:stretch>
                  <a:fillRect l="-1721" t="-1937" r="-2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>
            <a:extLst>
              <a:ext uri="{FF2B5EF4-FFF2-40B4-BE49-F238E27FC236}">
                <a16:creationId xmlns:a16="http://schemas.microsoft.com/office/drawing/2014/main" xmlns="" id="{723AD603-5E49-AE24-2071-74753017B5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849" y="1825624"/>
            <a:ext cx="4896244" cy="452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6112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0D94518-B943-3652-40D5-8C674576F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A5185B-0A25-F012-4043-94A4C6884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Treinando uma RNN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11E477E-D988-C2C5-1555-C6A90F36E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1180" y="1825624"/>
            <a:ext cx="6290820" cy="5032376"/>
          </a:xfrm>
        </p:spPr>
        <p:txBody>
          <a:bodyPr>
            <a:normAutofit/>
          </a:bodyPr>
          <a:lstStyle/>
          <a:p>
            <a:r>
              <a:rPr lang="pt-BR" noProof="0" dirty="0"/>
              <a:t>Após o cálculo do erro, os </a:t>
            </a:r>
            <a:r>
              <a:rPr lang="pt-BR" b="1" noProof="0" dirty="0">
                <a:solidFill>
                  <a:srgbClr val="00B050"/>
                </a:solidFill>
              </a:rPr>
              <a:t>gradientes são propagados retroativamente </a:t>
            </a:r>
            <a:r>
              <a:rPr lang="pt-BR" noProof="0" dirty="0"/>
              <a:t>ao longo da rede desenrolada no tempo.</a:t>
            </a:r>
          </a:p>
          <a:p>
            <a:r>
              <a:rPr lang="pt-BR" noProof="0" dirty="0"/>
              <a:t>Como os </a:t>
            </a:r>
            <a:r>
              <a:rPr lang="pt-BR" b="1" noProof="0" dirty="0">
                <a:solidFill>
                  <a:schemeClr val="accent2"/>
                </a:solidFill>
              </a:rPr>
              <a:t>mesmos pesos são reutilizados</a:t>
            </a:r>
            <a:r>
              <a:rPr lang="pt-BR" noProof="0" dirty="0"/>
              <a:t> em todos os instantes da sequência, </a:t>
            </a:r>
            <a:r>
              <a:rPr lang="pt-BR" b="1" noProof="0" dirty="0">
                <a:solidFill>
                  <a:schemeClr val="accent2"/>
                </a:solidFill>
              </a:rPr>
              <a:t>cada instante</a:t>
            </a:r>
            <a:r>
              <a:rPr lang="pt-BR" noProof="0" dirty="0"/>
              <a:t> temporal </a:t>
            </a:r>
            <a:r>
              <a:rPr lang="pt-BR" b="1" noProof="0" dirty="0">
                <a:solidFill>
                  <a:schemeClr val="accent2"/>
                </a:solidFill>
              </a:rPr>
              <a:t>produz uma contribuição para o gradiente final</a:t>
            </a:r>
            <a:r>
              <a:rPr lang="pt-BR" noProof="0" dirty="0"/>
              <a:t> desses pesos.</a:t>
            </a:r>
          </a:p>
          <a:p>
            <a:r>
              <a:rPr lang="pt-BR" noProof="0" dirty="0"/>
              <a:t>Durante o treinamento, </a:t>
            </a:r>
            <a:r>
              <a:rPr lang="pt-BR" b="1" noProof="0" dirty="0">
                <a:solidFill>
                  <a:srgbClr val="7030A0"/>
                </a:solidFill>
              </a:rPr>
              <a:t>essas contribuições são somadas</a:t>
            </a:r>
            <a:r>
              <a:rPr lang="pt-BR" noProof="0" dirty="0"/>
              <a:t> para gerar o </a:t>
            </a:r>
            <a:r>
              <a:rPr lang="pt-BR" b="1" noProof="0" dirty="0">
                <a:solidFill>
                  <a:srgbClr val="7030A0"/>
                </a:solidFill>
              </a:rPr>
              <a:t>gradiente final</a:t>
            </a:r>
            <a:r>
              <a:rPr lang="pt-BR" noProof="0" dirty="0"/>
              <a:t> e atualizar os pesos da rede.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xmlns="" id="{FFEFC366-25A0-8801-988D-FFCD224F3E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849" y="1825624"/>
            <a:ext cx="4896244" cy="452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479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AD87738-FC7E-21B4-8EC1-0DABBFF6B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A50FF2-35C9-AA04-ED08-BE0660251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Treinando uma RNN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818A30A8-8D7E-A868-522E-8860A7F87F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01180" y="1825624"/>
                <a:ext cx="6290820" cy="5032376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Por fim, os pesos da rede são atualizados utilizando algum método de otimização baseados no vetor gradiente.</a:t>
                </a:r>
              </a:p>
              <a:p>
                <a:r>
                  <a:rPr lang="pt-BR" dirty="0"/>
                  <a:t>Por exemplo, usando o gradiente descendente em batelada: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𝑾</m:t>
                          </m:r>
                        </m:den>
                      </m:f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onde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pt-BR" dirty="0"/>
                  <a:t> é uma das matrizes de peso da célula,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dirty="0"/>
                  <a:t> é o passo de aprendizagem 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pt-BR" dirty="0"/>
                  <a:t> é a função de erro.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8A30A8-8D7E-A868-522E-8860A7F87F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01180" y="1825624"/>
                <a:ext cx="6290820" cy="5032376"/>
              </a:xfrm>
              <a:blipFill>
                <a:blip r:embed="rId2"/>
                <a:stretch>
                  <a:fillRect l="-1938" t="-1937" r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>
            <a:extLst>
              <a:ext uri="{FF2B5EF4-FFF2-40B4-BE49-F238E27FC236}">
                <a16:creationId xmlns:a16="http://schemas.microsoft.com/office/drawing/2014/main" xmlns="" id="{72E6F4CD-19AC-4CEA-A975-5768600757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849" y="1825624"/>
            <a:ext cx="4896244" cy="452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5050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3C3594B-041E-A819-7F40-ADDA10695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353FE7-29C4-832D-D880-18B70E1AC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Treinando uma RNN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0C5AC7A-B3D7-B83C-747E-584985A7A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7168" y="1825624"/>
            <a:ext cx="6224832" cy="5032376"/>
          </a:xfrm>
        </p:spPr>
        <p:txBody>
          <a:bodyPr>
            <a:normAutofit/>
          </a:bodyPr>
          <a:lstStyle/>
          <a:p>
            <a:r>
              <a:rPr lang="pt-BR" dirty="0"/>
              <a:t>O </a:t>
            </a:r>
            <a:r>
              <a:rPr lang="pt-BR" b="1" dirty="0">
                <a:solidFill>
                  <a:srgbClr val="00B050"/>
                </a:solidFill>
              </a:rPr>
              <a:t>desenrolar da rede</a:t>
            </a:r>
            <a:r>
              <a:rPr lang="pt-BR" dirty="0"/>
              <a:t> para aplicação da retropropagação do erro é chamado de </a:t>
            </a:r>
            <a:r>
              <a:rPr lang="pt-BR" i="1" dirty="0" err="1"/>
              <a:t>Backpropagation</a:t>
            </a:r>
            <a:r>
              <a:rPr lang="pt-BR" i="1" dirty="0"/>
              <a:t> </a:t>
            </a:r>
            <a:r>
              <a:rPr lang="pt-BR" i="1" dirty="0" err="1"/>
              <a:t>Through</a:t>
            </a:r>
            <a:r>
              <a:rPr lang="pt-BR" i="1" dirty="0"/>
              <a:t> Time</a:t>
            </a:r>
            <a:r>
              <a:rPr lang="pt-BR" dirty="0"/>
              <a:t> (BPTT).</a:t>
            </a:r>
          </a:p>
          <a:p>
            <a:r>
              <a:rPr lang="pt-BR" dirty="0"/>
              <a:t>Ele é uma </a:t>
            </a:r>
            <a:r>
              <a:rPr lang="pt-BR" b="1" dirty="0">
                <a:solidFill>
                  <a:schemeClr val="accent2"/>
                </a:solidFill>
              </a:rPr>
              <a:t>extensão</a:t>
            </a:r>
            <a:r>
              <a:rPr lang="pt-BR" dirty="0"/>
              <a:t> do </a:t>
            </a:r>
            <a:r>
              <a:rPr lang="pt-BR" i="1" dirty="0" err="1"/>
              <a:t>backpropagation</a:t>
            </a:r>
            <a:r>
              <a:rPr lang="pt-BR" dirty="0"/>
              <a:t> tradicional, mas </a:t>
            </a:r>
            <a:r>
              <a:rPr lang="pt-BR" b="1" dirty="0">
                <a:solidFill>
                  <a:schemeClr val="accent2"/>
                </a:solidFill>
              </a:rPr>
              <a:t>aplicado ao longo do tempo</a:t>
            </a:r>
            <a:r>
              <a:rPr lang="pt-BR" dirty="0"/>
              <a:t>.</a:t>
            </a:r>
          </a:p>
          <a:p>
            <a:r>
              <a:rPr lang="pt-BR" dirty="0"/>
              <a:t>A ideia central é:</a:t>
            </a:r>
          </a:p>
          <a:p>
            <a:pPr marL="0" indent="0" algn="ctr">
              <a:buNone/>
            </a:pPr>
            <a:r>
              <a:rPr lang="pt-BR" dirty="0"/>
              <a:t>o </a:t>
            </a:r>
            <a:r>
              <a:rPr lang="pt-BR" b="1" dirty="0">
                <a:solidFill>
                  <a:schemeClr val="accent1"/>
                </a:solidFill>
              </a:rPr>
              <a:t>erro atual</a:t>
            </a:r>
            <a:r>
              <a:rPr lang="pt-BR" dirty="0"/>
              <a:t> pode ter </a:t>
            </a:r>
            <a:r>
              <a:rPr lang="pt-BR" b="1" dirty="0">
                <a:solidFill>
                  <a:schemeClr val="accent1"/>
                </a:solidFill>
              </a:rPr>
              <a:t>sido causado por </a:t>
            </a:r>
            <a:r>
              <a:rPr lang="pt-BR" b="1" dirty="0">
                <a:solidFill>
                  <a:srgbClr val="7030A0"/>
                </a:solidFill>
              </a:rPr>
              <a:t>estados passados</a:t>
            </a:r>
            <a:r>
              <a:rPr lang="pt-BR" dirty="0"/>
              <a:t> da rede.</a:t>
            </a:r>
          </a:p>
          <a:p>
            <a:r>
              <a:rPr lang="pt-BR" dirty="0"/>
              <a:t>Então o gradiente precisa “</a:t>
            </a:r>
            <a:r>
              <a:rPr lang="pt-BR" b="1" dirty="0">
                <a:solidFill>
                  <a:srgbClr val="00B050"/>
                </a:solidFill>
              </a:rPr>
              <a:t>voltar no tempo</a:t>
            </a:r>
            <a:r>
              <a:rPr lang="pt-BR" dirty="0"/>
              <a:t>”.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xmlns="" id="{DD1162C9-8039-1879-F87F-8925166F46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849" y="1825624"/>
            <a:ext cx="4896244" cy="452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5382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25BD8C-59A6-E96C-9CCD-7115BEC93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Backpropagation</a:t>
            </a:r>
            <a:r>
              <a:rPr lang="pt-BR" i="1" dirty="0"/>
              <a:t> </a:t>
            </a:r>
            <a:r>
              <a:rPr lang="pt-BR" i="1" dirty="0" err="1"/>
              <a:t>Through</a:t>
            </a:r>
            <a:r>
              <a:rPr lang="pt-BR" i="1" dirty="0"/>
              <a:t> Time</a:t>
            </a:r>
            <a:r>
              <a:rPr lang="pt-BR" dirty="0"/>
              <a:t> (BPTT)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D0347F1D-7D82-FBF2-C746-409D3CF4FA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353801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O objetivo do treinamento é minimizar a </a:t>
                </a:r>
                <a:r>
                  <a:rPr lang="pt-BR" b="1" dirty="0">
                    <a:solidFill>
                      <a:schemeClr val="accent2"/>
                    </a:solidFill>
                  </a:rPr>
                  <a:t>erro total</a:t>
                </a:r>
                <a:r>
                  <a:rPr lang="pt-BR" dirty="0"/>
                  <a:t> gerado pela rede </a:t>
                </a:r>
                <a:r>
                  <a:rPr lang="pt-BR" b="1" dirty="0">
                    <a:solidFill>
                      <a:schemeClr val="accent2"/>
                    </a:solidFill>
                  </a:rPr>
                  <a:t>ao longo de todos os passos de tempo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Inicialmente, o </a:t>
                </a:r>
                <a:r>
                  <a:rPr lang="pt-BR" b="1" dirty="0">
                    <a:solidFill>
                      <a:schemeClr val="accent2"/>
                    </a:solidFill>
                  </a:rPr>
                  <a:t>erro instantâneo</a:t>
                </a:r>
                <a:r>
                  <a:rPr lang="pt-BR" dirty="0"/>
                  <a:t> é calculado para cada passo de tempo,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pt-BR" dirty="0"/>
                  <a:t>, da sequência temporal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d>
                            <m:dPr>
                              <m:begChr m:val="["/>
                              <m:endChr m:val="]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b="0" dirty="0"/>
              </a:p>
              <a:p>
                <a:r>
                  <a:rPr lang="pt-BR" dirty="0"/>
                  <a:t>O </a:t>
                </a:r>
                <a:r>
                  <a:rPr lang="pt-BR" b="1" dirty="0">
                    <a:solidFill>
                      <a:srgbClr val="7030A0"/>
                    </a:solidFill>
                  </a:rPr>
                  <a:t>erro total</a:t>
                </a:r>
                <a:r>
                  <a:rPr lang="pt-BR" dirty="0"/>
                  <a:t> é a média do </a:t>
                </a:r>
                <a:r>
                  <a:rPr lang="pt-BR" b="1" dirty="0">
                    <a:solidFill>
                      <a:schemeClr val="accent2"/>
                    </a:solidFill>
                  </a:rPr>
                  <a:t>erro instantâneo</a:t>
                </a:r>
                <a:r>
                  <a:rPr lang="pt-BR" dirty="0"/>
                  <a:t> para todos os instantes de tempo considerados,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])</m:t>
                          </m:r>
                        </m:e>
                      </m:nary>
                      <m:r>
                        <a:rPr lang="pt-BR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  <a:p>
                <a:r>
                  <a:rPr lang="en-US" dirty="0"/>
                  <a:t>Em </a:t>
                </a:r>
                <a:r>
                  <a:rPr lang="en-US" dirty="0" err="1"/>
                  <a:t>outras</a:t>
                </a:r>
                <a:r>
                  <a:rPr lang="en-US" dirty="0"/>
                  <a:t> </a:t>
                </a:r>
                <a:r>
                  <a:rPr lang="en-US" dirty="0" err="1"/>
                  <a:t>palavras</a:t>
                </a:r>
                <a:r>
                  <a:rPr lang="en-US" dirty="0"/>
                  <a:t>, o </a:t>
                </a:r>
                <a:r>
                  <a:rPr lang="en-US" b="1" dirty="0" err="1">
                    <a:solidFill>
                      <a:srgbClr val="00B050"/>
                    </a:solidFill>
                  </a:rPr>
                  <a:t>erro</a:t>
                </a:r>
                <a:r>
                  <a:rPr lang="en-US" b="1" dirty="0">
                    <a:solidFill>
                      <a:srgbClr val="00B050"/>
                    </a:solidFill>
                  </a:rPr>
                  <a:t> total </a:t>
                </a:r>
                <a:r>
                  <a:rPr lang="en-US" dirty="0"/>
                  <a:t>é </a:t>
                </a:r>
                <a:r>
                  <a:rPr lang="en-US" dirty="0" err="1"/>
                  <a:t>uma</a:t>
                </a:r>
                <a:r>
                  <a:rPr lang="en-US" dirty="0"/>
                  <a:t> </a:t>
                </a:r>
                <a:r>
                  <a:rPr lang="en-US" b="1" dirty="0" err="1">
                    <a:solidFill>
                      <a:schemeClr val="accent2"/>
                    </a:solidFill>
                  </a:rPr>
                  <a:t>média</a:t>
                </a:r>
                <a:r>
                  <a:rPr lang="en-US" b="1" dirty="0">
                    <a:solidFill>
                      <a:schemeClr val="accent2"/>
                    </a:solidFill>
                  </a:rPr>
                  <a:t> temporal dos </a:t>
                </a:r>
                <a:r>
                  <a:rPr lang="en-US" b="1" dirty="0" err="1">
                    <a:solidFill>
                      <a:schemeClr val="accent2"/>
                    </a:solidFill>
                  </a:rPr>
                  <a:t>erros</a:t>
                </a:r>
                <a:r>
                  <a:rPr lang="en-US" b="1" dirty="0">
                    <a:solidFill>
                      <a:schemeClr val="accent2"/>
                    </a:solidFill>
                  </a:rPr>
                  <a:t> </a:t>
                </a:r>
                <a:r>
                  <a:rPr lang="en-US" dirty="0" err="1"/>
                  <a:t>cometidos</a:t>
                </a:r>
                <a:r>
                  <a:rPr lang="en-US" dirty="0"/>
                  <a:t> pela rede </a:t>
                </a:r>
                <a:r>
                  <a:rPr lang="en-US" b="1" dirty="0" err="1">
                    <a:solidFill>
                      <a:schemeClr val="accent2"/>
                    </a:solidFill>
                  </a:rPr>
                  <a:t>ao</a:t>
                </a:r>
                <a:r>
                  <a:rPr lang="en-US" b="1" dirty="0">
                    <a:solidFill>
                      <a:schemeClr val="accent2"/>
                    </a:solidFill>
                  </a:rPr>
                  <a:t> </a:t>
                </a:r>
                <a:r>
                  <a:rPr lang="en-US" b="1" dirty="0" err="1">
                    <a:solidFill>
                      <a:schemeClr val="accent2"/>
                    </a:solidFill>
                  </a:rPr>
                  <a:t>longo</a:t>
                </a:r>
                <a:r>
                  <a:rPr lang="en-US" b="1" dirty="0">
                    <a:solidFill>
                      <a:schemeClr val="accent2"/>
                    </a:solidFill>
                  </a:rPr>
                  <a:t> de </a:t>
                </a:r>
                <a:r>
                  <a:rPr lang="en-US" b="1" dirty="0" err="1">
                    <a:solidFill>
                      <a:schemeClr val="accent2"/>
                    </a:solidFill>
                  </a:rPr>
                  <a:t>todos</a:t>
                </a:r>
                <a:r>
                  <a:rPr lang="en-US" b="1" dirty="0">
                    <a:solidFill>
                      <a:schemeClr val="accent2"/>
                    </a:solidFill>
                  </a:rPr>
                  <a:t> </a:t>
                </a:r>
                <a:r>
                  <a:rPr lang="en-US" b="1" dirty="0" err="1">
                    <a:solidFill>
                      <a:schemeClr val="accent2"/>
                    </a:solidFill>
                  </a:rPr>
                  <a:t>os</a:t>
                </a:r>
                <a:r>
                  <a:rPr lang="en-US" b="1" dirty="0">
                    <a:solidFill>
                      <a:schemeClr val="accent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pt-BR" b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b="1" dirty="0">
                    <a:solidFill>
                      <a:schemeClr val="accent2"/>
                    </a:solidFill>
                  </a:rPr>
                  <a:t> </a:t>
                </a:r>
                <a:r>
                  <a:rPr lang="en-US" b="1" dirty="0" err="1">
                    <a:solidFill>
                      <a:schemeClr val="accent2"/>
                    </a:solidFill>
                  </a:rPr>
                  <a:t>instantes</a:t>
                </a:r>
                <a:r>
                  <a:rPr lang="en-US" b="1" dirty="0">
                    <a:solidFill>
                      <a:schemeClr val="accent2"/>
                    </a:solidFill>
                  </a:rPr>
                  <a:t> de tempo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347F1D-7D82-FBF2-C746-409D3CF4FA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353801" cy="5032375"/>
              </a:xfrm>
              <a:blipFill>
                <a:blip r:embed="rId3"/>
                <a:stretch>
                  <a:fillRect l="-913" t="-1937" b="-2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06234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689DD09-FA86-3CAE-7297-B124DDFD9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FEC256-B082-7183-4AD1-C2355A6FD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Backpropagation</a:t>
            </a:r>
            <a:r>
              <a:rPr lang="pt-BR" i="1" dirty="0"/>
              <a:t> </a:t>
            </a:r>
            <a:r>
              <a:rPr lang="pt-BR" i="1" dirty="0" err="1"/>
              <a:t>Through</a:t>
            </a:r>
            <a:r>
              <a:rPr lang="pt-BR" i="1" dirty="0"/>
              <a:t> Time</a:t>
            </a:r>
            <a:r>
              <a:rPr lang="pt-BR" dirty="0"/>
              <a:t> (BPTT)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03AA9B93-41C8-CC75-5F29-FD0909CE6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353800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noProof="0" dirty="0"/>
                  <a:t>De forma genérica, a derivada do erro em relação à matriz de pesos, </a:t>
                </a:r>
                <a14:m>
                  <m:oMath xmlns:m="http://schemas.openxmlformats.org/officeDocument/2006/math">
                    <m:r>
                      <a:rPr lang="pt-BR" b="1" i="1" noProof="0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pt-BR" noProof="0" dirty="0"/>
                  <a:t> é obtida usando a </a:t>
                </a:r>
                <a:r>
                  <a:rPr lang="pt-BR" b="1" noProof="0" dirty="0"/>
                  <a:t>regra da cadeia</a:t>
                </a:r>
                <a:r>
                  <a:rPr lang="pt-BR" noProof="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 noProof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pt-BR" i="1" noProof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1" i="1" noProof="0">
                              <a:latin typeface="Cambria Math" panose="02040503050406030204" pitchFamily="18" charset="0"/>
                            </a:rPr>
                            <m:t>𝑾</m:t>
                          </m:r>
                        </m:den>
                      </m:f>
                      <m:r>
                        <a:rPr lang="pt-BR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 noProof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 noProof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i="1" noProof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i="1" noProof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pt-BR" i="1" noProof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 noProof="0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pt-BR" i="1" noProof="0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b="1" i="1" noProof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den>
                          </m:f>
                        </m:e>
                      </m:nary>
                      <m:r>
                        <a:rPr lang="pt-BR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 noProof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 noProof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i="1" noProof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pt-BR" i="1" noProof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 noProof="0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i="1" noProof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pt-BR" i="1" noProof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i="1" noProof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noProof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pt-BR" i="1" noProof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̂"/>
                                  <m:ctrlPr>
                                    <a:rPr lang="pt-BR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i="1" noProof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pt-BR" i="1" noProof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i="1" noProof="0">
                                  <a:latin typeface="Cambria Math" panose="02040503050406030204" pitchFamily="18" charset="0"/>
                                </a:rPr>
                                <m:t>])</m:t>
                              </m:r>
                            </m:num>
                            <m:den>
                              <m:r>
                                <a:rPr lang="pt-BR" i="1" noProof="0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acc>
                                <m:accPr>
                                  <m:chr m:val="̂"/>
                                  <m:ctrlPr>
                                    <a:rPr lang="pt-BR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i="1" noProof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pt-BR" i="1" noProof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pt-BR" i="1" noProof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i="1" noProof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den>
                          </m:f>
                        </m:e>
                      </m:nary>
                      <m:f>
                        <m:fPr>
                          <m:ctrlPr>
                            <a:rPr lang="pt-BR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 noProof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pt-BR" i="1" noProof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i="1" noProof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pt-BR" i="1" noProof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pt-BR" i="1" noProof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i="1" noProof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pt-BR" i="1" noProof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]</m:t>
                          </m:r>
                        </m:den>
                      </m:f>
                      <m:f>
                        <m:fPr>
                          <m:ctrlPr>
                            <a:rPr lang="pt-BR" i="1" noProof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 noProof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pt-BR" i="1" noProof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i="1" noProof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pt-BR" i="1" noProof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1" i="1" noProof="0">
                              <a:latin typeface="Cambria Math" panose="02040503050406030204" pitchFamily="18" charset="0"/>
                            </a:rPr>
                            <m:t>𝑾</m:t>
                          </m:r>
                        </m:den>
                      </m:f>
                      <m:r>
                        <a:rPr lang="pt-BR" b="0" i="1" noProof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noProof="0" dirty="0"/>
              </a:p>
              <a:p>
                <a:pPr marL="0" indent="0">
                  <a:buNone/>
                </a:pPr>
                <a:r>
                  <a:rPr lang="pt-BR" dirty="0"/>
                  <a:t>o</a:t>
                </a:r>
                <a:r>
                  <a:rPr lang="pt-BR" noProof="0" dirty="0" err="1"/>
                  <a:t>nde</a:t>
                </a:r>
                <a:r>
                  <a:rPr lang="pt-BR" noProof="0" dirty="0"/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begChr m:val="["/>
                        <m:endChr m:val="]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𝑾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noProof="0" dirty="0"/>
                  <a:t> é o estado oculto.</a:t>
                </a:r>
              </a:p>
              <a:p>
                <a:r>
                  <a:rPr lang="pt-BR" noProof="0" dirty="0"/>
                  <a:t>O gradiente é obtido somando-se as </a:t>
                </a:r>
                <a:r>
                  <a:rPr lang="pt-BR" b="1" dirty="0">
                    <a:solidFill>
                      <a:srgbClr val="00B050"/>
                    </a:solidFill>
                  </a:rPr>
                  <a:t>contribuições de cada passo de tempo.</a:t>
                </a:r>
                <a:endParaRPr lang="pt-BR" noProof="0" dirty="0"/>
              </a:p>
              <a:p>
                <a:r>
                  <a:rPr lang="pt-BR" noProof="0" dirty="0"/>
                  <a:t>Como os pesos são compartilhados ao longo do tempo, uma única atualização de peso deve levar em conta sua influência na predição (e, consequentemente, no erro) feita em </a:t>
                </a:r>
                <a14:m>
                  <m:oMath xmlns:m="http://schemas.openxmlformats.org/officeDocument/2006/math">
                    <m:r>
                      <a:rPr lang="pt-BR" b="0" i="1" noProof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b="0" i="1" noProof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noProof="0" dirty="0"/>
                  <a:t>, </a:t>
                </a:r>
                <a14:m>
                  <m:oMath xmlns:m="http://schemas.openxmlformats.org/officeDocument/2006/math">
                    <m:r>
                      <a:rPr lang="pt-BR" i="1" noProof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i="1" noProof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noProof="0" dirty="0"/>
                  <a:t> até </a:t>
                </a:r>
                <a14:m>
                  <m:oMath xmlns:m="http://schemas.openxmlformats.org/officeDocument/2006/math">
                    <m:r>
                      <a:rPr lang="pt-BR" i="1" noProof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i="1" noProof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noProof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pt-BR" b="0" i="1" noProof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pt-BR" noProof="0" dirty="0"/>
                  <a:t>.</a:t>
                </a:r>
              </a:p>
              <a:p>
                <a:r>
                  <a:rPr lang="pt-BR" dirty="0"/>
                  <a:t>Em outras palavras, o BPTT propaga os erros do futuro para o passado.</a:t>
                </a:r>
                <a:endParaRPr lang="pt-BR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AA9B93-41C8-CC75-5F29-FD0909CE6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353800" cy="5032375"/>
              </a:xfrm>
              <a:blipFill>
                <a:blip r:embed="rId3"/>
                <a:stretch>
                  <a:fillRect l="-1128" t="-2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43999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2798CD-19D6-ECEC-B650-20958EB82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7A14C7-1400-69E1-2BE4-A1A26E2E2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Backpropagation</a:t>
            </a:r>
            <a:r>
              <a:rPr lang="pt-BR" i="1" dirty="0"/>
              <a:t> </a:t>
            </a:r>
            <a:r>
              <a:rPr lang="pt-BR" i="1" dirty="0" err="1"/>
              <a:t>Through</a:t>
            </a:r>
            <a:r>
              <a:rPr lang="pt-BR" i="1" dirty="0"/>
              <a:t> Time</a:t>
            </a:r>
            <a:r>
              <a:rPr lang="pt-BR" dirty="0"/>
              <a:t> (BPTT)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9D8FEDBB-8B0C-1AAA-8297-CE500B93DB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3538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 noProof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pt-BR" i="1" noProof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1" i="1" noProof="0">
                              <a:latin typeface="Cambria Math" panose="02040503050406030204" pitchFamily="18" charset="0"/>
                            </a:rPr>
                            <m:t>𝑾</m:t>
                          </m:r>
                        </m:den>
                      </m:f>
                      <m:r>
                        <a:rPr lang="pt-BR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 noProof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 noProof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i="1" noProof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i="1" noProof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pt-BR" i="1" noProof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 noProof="0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pt-BR" i="1" noProof="0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b="1" i="1" noProof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den>
                          </m:f>
                        </m:e>
                      </m:nary>
                      <m:r>
                        <a:rPr lang="pt-BR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 noProof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 noProof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i="1" noProof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pt-BR" i="1" noProof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 noProof="0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i="1" noProof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pt-BR" i="1" noProof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i="1" noProof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noProof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pt-BR" i="1" noProof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̂"/>
                                  <m:ctrlPr>
                                    <a:rPr lang="pt-BR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i="1" noProof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pt-BR" i="1" noProof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i="1" noProof="0">
                                  <a:latin typeface="Cambria Math" panose="02040503050406030204" pitchFamily="18" charset="0"/>
                                </a:rPr>
                                <m:t>])</m:t>
                              </m:r>
                            </m:num>
                            <m:den>
                              <m:r>
                                <a:rPr lang="pt-BR" i="1" noProof="0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acc>
                                <m:accPr>
                                  <m:chr m:val="̂"/>
                                  <m:ctrlPr>
                                    <a:rPr lang="pt-BR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i="1" noProof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pt-BR" i="1" noProof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pt-BR" i="1" noProof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i="1" noProof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den>
                          </m:f>
                        </m:e>
                      </m:nary>
                      <m:f>
                        <m:fPr>
                          <m:ctrlPr>
                            <a:rPr lang="pt-BR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 noProof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pt-BR" i="1" noProof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i="1" noProof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pt-BR" i="1" noProof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pt-BR" i="1" noProof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i="1" noProof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pt-BR" i="1" noProof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]</m:t>
                          </m:r>
                        </m:den>
                      </m:f>
                      <m:f>
                        <m:fPr>
                          <m:ctrlPr>
                            <a:rPr lang="pt-BR" i="1" noProof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 noProof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pt-BR" i="1" noProof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i="1" noProof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pt-BR" i="1" noProof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1" i="1" noProof="0">
                              <a:latin typeface="Cambria Math" panose="02040503050406030204" pitchFamily="18" charset="0"/>
                            </a:rPr>
                            <m:t>𝑾</m:t>
                          </m:r>
                        </m:den>
                      </m:f>
                      <m:r>
                        <a:rPr lang="pt-BR" b="0" i="1" noProof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noProof="0" dirty="0"/>
              </a:p>
              <a:p>
                <a:r>
                  <a:rPr lang="pt-BR" dirty="0"/>
                  <a:t>Os dois primeiros termos são fáceis de se calcular, mas o terceiro é onde as coisas se complicam, já que precisamos calcular </a:t>
                </a:r>
                <a:r>
                  <a:rPr lang="pt-BR" b="1" dirty="0">
                    <a:solidFill>
                      <a:srgbClr val="7030A0"/>
                    </a:solidFill>
                  </a:rPr>
                  <a:t>recursivamente</a:t>
                </a:r>
                <a:r>
                  <a:rPr lang="pt-BR" dirty="0"/>
                  <a:t> o efeito da matriz de pesos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pt-BR" dirty="0"/>
                  <a:t> sobre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pt-BR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pt-BR" dirty="0"/>
                  <a:t> afeta o erro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/>
                  <a:t> de duas maneiras: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b="1" dirty="0"/>
                  <a:t>Diretamente:</a:t>
                </a:r>
                <a:r>
                  <a:rPr lang="pt-BR" dirty="0"/>
                  <a:t> No cálculo do estado oculto atual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b="1" dirty="0"/>
                  <a:t>Indiretamente:</a:t>
                </a:r>
                <a:r>
                  <a:rPr lang="pt-BR" dirty="0"/>
                  <a:t> Porque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pt-BR" dirty="0"/>
                  <a:t> depende 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pt-BR" dirty="0"/>
                  <a:t>, que por sua vez dependeu de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pt-BR" dirty="0"/>
                  <a:t> no passado, que dependeu 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−2]</m:t>
                    </m:r>
                  </m:oMath>
                </a14:m>
                <a:r>
                  <a:rPr lang="pt-BR" dirty="0"/>
                  <a:t>, e assim por diante, voltando até o estado inicial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[0]</m:t>
                    </m:r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8FEDBB-8B0C-1AAA-8297-CE500B93DB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353800" cy="5032375"/>
              </a:xfrm>
              <a:blipFill>
                <a:blip r:embed="rId3"/>
                <a:stretch>
                  <a:fillRect l="-967" r="-1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50E1D4C1-A556-7B10-9906-749DD399F979}"/>
              </a:ext>
            </a:extLst>
          </p:cNvPr>
          <p:cNvSpPr/>
          <p:nvPr/>
        </p:nvSpPr>
        <p:spPr>
          <a:xfrm>
            <a:off x="9341749" y="1898923"/>
            <a:ext cx="867267" cy="98981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4303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FE833D8-2F7F-4BE1-D525-5FAE41667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Backpropagation</a:t>
            </a:r>
            <a:r>
              <a:rPr lang="pt-BR" i="1" dirty="0"/>
              <a:t> </a:t>
            </a:r>
            <a:r>
              <a:rPr lang="pt-BR" i="1" dirty="0" err="1"/>
              <a:t>Through</a:t>
            </a:r>
            <a:r>
              <a:rPr lang="pt-BR" i="1" dirty="0"/>
              <a:t> Time</a:t>
            </a:r>
            <a:r>
              <a:rPr lang="pt-BR" dirty="0"/>
              <a:t> (BPTT)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1EF0B173-DE7A-5E16-3DD6-EB66D50745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8" y="1825624"/>
                <a:ext cx="11353801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Aplicando a regra da cadeia ao terceiro termo, obtemos a formulação analítica completa do BPTT para o passo de tempo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pt-BR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𝑾</m:t>
                          </m:r>
                        </m:den>
                      </m:f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den>
                          </m:f>
                        </m:e>
                      </m:nary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])</m:t>
                                  </m:r>
                                </m:num>
                                <m:den>
                                  <m: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num>
                                <m:den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∏"/>
                                      <m:ctrlPr>
                                        <a:rPr lang="pt-B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brk m:alnAt="23"/>
                                        </m:r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  <m:e>
                                      <m:f>
                                        <m:fPr>
                                          <m:ctrlPr>
                                            <a:rPr lang="pt-BR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pt-BR" i="1" smtClean="0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[</m:t>
                                          </m:r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]</m:t>
                                          </m:r>
                                        </m:num>
                                        <m:den>
                                          <m:r>
                                            <a:rPr lang="pt-BR" i="1" smtClean="0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[</m:t>
                                          </m:r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−1]</m:t>
                                          </m:r>
                                        </m:den>
                                      </m:f>
                                    </m:e>
                                  </m:nary>
                                </m:e>
                              </m:d>
                            </m:e>
                          </m:nary>
                        </m:e>
                      </m:nary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r>
                  <a:rPr lang="pt-BR" dirty="0"/>
                  <a:t>Notem que o gradiente envolve um </a:t>
                </a:r>
                <a:r>
                  <a:rPr lang="pt-BR" b="1" dirty="0">
                    <a:solidFill>
                      <a:srgbClr val="7030A0"/>
                    </a:solidFill>
                  </a:rPr>
                  <a:t>produto de muitas derivadas sucessivas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O </a:t>
                </a:r>
                <a:r>
                  <a:rPr lang="pt-BR" b="1" dirty="0" err="1">
                    <a:solidFill>
                      <a:schemeClr val="accent2"/>
                    </a:solidFill>
                  </a:rPr>
                  <a:t>produtório</a:t>
                </a:r>
                <a:r>
                  <a:rPr lang="pt-BR" dirty="0"/>
                  <a:t> na equação acima </a:t>
                </a:r>
                <a:r>
                  <a:rPr lang="pt-BR" b="1" dirty="0">
                    <a:solidFill>
                      <a:schemeClr val="accent2"/>
                    </a:solidFill>
                  </a:rPr>
                  <a:t>pode causar o desaparecimento ou a explosão do gradiente</a:t>
                </a:r>
                <a:r>
                  <a:rPr lang="pt-BR" dirty="0"/>
                  <a:t> dependendo dos valores das derivadas parciais,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pt-BR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−1]</m:t>
                        </m:r>
                      </m:den>
                    </m:f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EF0B173-DE7A-5E16-3DD6-EB66D50745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8" y="1825624"/>
                <a:ext cx="11353801" cy="5032375"/>
              </a:xfrm>
              <a:blipFill>
                <a:blip r:embed="rId2"/>
                <a:stretch>
                  <a:fillRect l="-913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28862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30B3E83-9EAE-E8A7-7AA4-FBE22E963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Desaparecimento e explosão do gradiente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3B29E5B8-582B-19A9-B4A3-70C3734023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353800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/>
                  <a:t>Se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pt-BR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pt-B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pt-B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pt-BR" dirty="0"/>
                  <a:t>, então o produto tende a </a:t>
                </a:r>
                <a:r>
                  <a:rPr lang="pt-BR" b="1" dirty="0"/>
                  <a:t>zero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 rede </a:t>
                </a:r>
                <a:r>
                  <a:rPr lang="pt-BR" b="1" dirty="0">
                    <a:solidFill>
                      <a:srgbClr val="7030A0"/>
                    </a:solidFill>
                  </a:rPr>
                  <a:t>esquece o passado mais distante</a:t>
                </a:r>
                <a:r>
                  <a:rPr lang="pt-BR" b="1" dirty="0"/>
                  <a:t> </a:t>
                </a:r>
                <a:r>
                  <a:rPr lang="pt-BR" dirty="0"/>
                  <a:t>(informação antiga se perde).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Não aprende </a:t>
                </a:r>
                <a:r>
                  <a:rPr lang="pt-BR" b="1" dirty="0"/>
                  <a:t>dependências de longo prazo, apenas curtas.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pt-BR" dirty="0"/>
                  <a:t>Estados ocultos anteriores não têm efeito sobre os estados posteriores.</a:t>
                </a:r>
                <a:endParaRPr lang="en-US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Treinamento se torna </a:t>
                </a:r>
                <a:r>
                  <a:rPr lang="pt-BR" b="1" dirty="0">
                    <a:solidFill>
                      <a:srgbClr val="7030A0"/>
                    </a:solidFill>
                  </a:rPr>
                  <a:t>muito lento</a:t>
                </a:r>
                <a:r>
                  <a:rPr lang="pt-BR" dirty="0"/>
                  <a:t> ou fica</a:t>
                </a:r>
                <a:r>
                  <a:rPr lang="pt-BR" b="1" dirty="0">
                    <a:solidFill>
                      <a:srgbClr val="7030A0"/>
                    </a:solidFill>
                  </a:rPr>
                  <a:t> estagnado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Se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pt-BR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pt-B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pt-B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pt-BR" dirty="0"/>
                  <a:t>, então o produto </a:t>
                </a:r>
                <a:r>
                  <a:rPr lang="pt-BR" b="1" dirty="0"/>
                  <a:t>explode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O </a:t>
                </a:r>
                <a:r>
                  <a:rPr lang="en-US" dirty="0" err="1"/>
                  <a:t>modelo</a:t>
                </a:r>
                <a:r>
                  <a:rPr lang="en-US" dirty="0"/>
                  <a:t> </a:t>
                </a:r>
                <a:r>
                  <a:rPr lang="en-US" b="1" dirty="0">
                    <a:solidFill>
                      <a:schemeClr val="accent2"/>
                    </a:solidFill>
                  </a:rPr>
                  <a:t>diverge</a:t>
                </a:r>
                <a:r>
                  <a:rPr lang="en-US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Atualizações de pesos se tornam enormes.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b="1" dirty="0">
                    <a:solidFill>
                      <a:schemeClr val="accent2"/>
                    </a:solidFill>
                  </a:rPr>
                  <a:t>Treinamento instável</a:t>
                </a:r>
                <a:r>
                  <a:rPr lang="pt-BR" dirty="0"/>
                  <a:t>: erro vira </a:t>
                </a:r>
                <a:r>
                  <a:rPr lang="pt-BR" dirty="0" err="1"/>
                  <a:t>NaN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Sintoma típico: </a:t>
                </a:r>
                <a:r>
                  <a:rPr lang="en-US" b="1" dirty="0" err="1">
                    <a:solidFill>
                      <a:schemeClr val="accent2"/>
                    </a:solidFill>
                  </a:rPr>
                  <a:t>oscilação</a:t>
                </a:r>
                <a:r>
                  <a:rPr lang="en-US" b="1" dirty="0">
                    <a:solidFill>
                      <a:schemeClr val="accent2"/>
                    </a:solidFill>
                  </a:rPr>
                  <a:t> do </a:t>
                </a:r>
                <a:r>
                  <a:rPr lang="en-US" b="1" dirty="0" err="1">
                    <a:solidFill>
                      <a:schemeClr val="accent2"/>
                    </a:solidFill>
                  </a:rPr>
                  <a:t>erro</a:t>
                </a:r>
                <a:r>
                  <a:rPr lang="en-US" dirty="0"/>
                  <a:t>.</a:t>
                </a:r>
              </a:p>
              <a:p>
                <a:r>
                  <a:rPr lang="pt-BR" dirty="0"/>
                  <a:t>Na prática, o desaparecimento do gradiente é mais comum.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29E5B8-582B-19A9-B4A3-70C3734023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353800" cy="5032375"/>
              </a:xfrm>
              <a:blipFill>
                <a:blip r:embed="rId3"/>
                <a:stretch>
                  <a:fillRect l="-967" t="-9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77562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CD051B6-265A-12A8-3776-6A1674C72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mitigar esses problemas?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174046BC-6244-425E-9E7B-A8996ECB3C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353800" cy="5032375"/>
              </a:xfrm>
            </p:spPr>
            <p:txBody>
              <a:bodyPr>
                <a:normAutofit/>
              </a:bodyPr>
              <a:lstStyle/>
              <a:p>
                <a:r>
                  <a:rPr lang="pt-BR" b="1" dirty="0"/>
                  <a:t>Para a explosão</a:t>
                </a:r>
                <a:r>
                  <a:rPr lang="pt-BR" dirty="0"/>
                  <a:t>: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Limitar a magnitude do gradiente (</a:t>
                </a:r>
                <a:r>
                  <a:rPr lang="pt-BR" i="1" dirty="0" err="1"/>
                  <a:t>gradient</a:t>
                </a:r>
                <a:r>
                  <a:rPr lang="pt-BR" i="1" dirty="0"/>
                  <a:t> clipping</a:t>
                </a:r>
                <a:r>
                  <a:rPr lang="pt-BR" dirty="0"/>
                  <a:t>)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Inicializar os pesos de forma apropriada (inicializações de He e Xavier)</a:t>
                </a:r>
              </a:p>
              <a:p>
                <a:r>
                  <a:rPr lang="pt-BR" b="1" dirty="0"/>
                  <a:t>Para o desaparecimento</a:t>
                </a:r>
                <a:r>
                  <a:rPr lang="pt-BR" dirty="0"/>
                  <a:t>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Usar arquiteturas de </a:t>
                </a:r>
                <a:r>
                  <a:rPr lang="pt-BR" dirty="0" err="1"/>
                  <a:t>RNNs</a:t>
                </a:r>
                <a:r>
                  <a:rPr lang="pt-BR" dirty="0"/>
                  <a:t> mais avançadas: LSTM e GRU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pt-BR" sz="2100" dirty="0"/>
                  <a:t>Introduzem o </a:t>
                </a:r>
                <a:r>
                  <a:rPr lang="pt-BR" sz="2100" b="1" dirty="0">
                    <a:solidFill>
                      <a:schemeClr val="accent2"/>
                    </a:solidFill>
                  </a:rPr>
                  <a:t>conceito de </a:t>
                </a:r>
                <a:r>
                  <a:rPr lang="pt-BR" sz="2100" b="1" i="1" dirty="0" err="1">
                    <a:solidFill>
                      <a:schemeClr val="accent2"/>
                    </a:solidFill>
                  </a:rPr>
                  <a:t>gates</a:t>
                </a:r>
                <a:r>
                  <a:rPr lang="pt-BR" sz="2100" dirty="0"/>
                  <a:t>, funcionando como </a:t>
                </a:r>
                <a:r>
                  <a:rPr lang="pt-BR" sz="2100" b="1" dirty="0">
                    <a:solidFill>
                      <a:schemeClr val="accent2"/>
                    </a:solidFill>
                  </a:rPr>
                  <a:t>válvulas </a:t>
                </a:r>
                <a:r>
                  <a:rPr lang="en-US" sz="2100" b="1" dirty="0">
                    <a:solidFill>
                      <a:schemeClr val="accent2"/>
                    </a:solidFill>
                  </a:rPr>
                  <a:t>de </a:t>
                </a:r>
                <a:r>
                  <a:rPr lang="en-US" sz="2100" b="1" dirty="0" err="1">
                    <a:solidFill>
                      <a:schemeClr val="accent2"/>
                    </a:solidFill>
                  </a:rPr>
                  <a:t>informação</a:t>
                </a:r>
                <a:r>
                  <a:rPr lang="en-US" sz="2100" b="1" dirty="0">
                    <a:solidFill>
                      <a:schemeClr val="accent2"/>
                    </a:solidFill>
                  </a:rPr>
                  <a:t> e </a:t>
                </a:r>
                <a:r>
                  <a:rPr lang="en-US" sz="2100" b="1" dirty="0" err="1">
                    <a:solidFill>
                      <a:schemeClr val="accent2"/>
                    </a:solidFill>
                  </a:rPr>
                  <a:t>gradiente</a:t>
                </a:r>
                <a:endParaRPr lang="pt-BR" sz="2100" b="1" dirty="0">
                  <a:solidFill>
                    <a:schemeClr val="accent2"/>
                  </a:solidFill>
                </a:endParaRPr>
              </a:p>
              <a:p>
                <a:pPr lvl="3">
                  <a:buFont typeface="Wingdings" panose="05000000000000000000" pitchFamily="2" charset="2"/>
                  <a:buChar char="ü"/>
                </a:pPr>
                <a:r>
                  <a:rPr lang="pt-BR" dirty="0"/>
                  <a:t>Eles são funções (em geral, sigmoide) que produzem valores entre 0 e 1:</a:t>
                </a:r>
              </a:p>
              <a:p>
                <a:pPr lvl="4">
                  <a:buFont typeface="Wingdings" panose="05000000000000000000" pitchFamily="2" charset="2"/>
                  <a:buChar char="Ø"/>
                </a:pPr>
                <a:r>
                  <a:rPr lang="pt-BR" dirty="0"/>
                  <a:t>0 → bloqueia informação </a:t>
                </a:r>
              </a:p>
              <a:p>
                <a:pPr lvl="4">
                  <a:buFont typeface="Wingdings" panose="05000000000000000000" pitchFamily="2" charset="2"/>
                  <a:buChar char="Ø"/>
                </a:pPr>
                <a:r>
                  <a:rPr lang="pt-BR" dirty="0"/>
                  <a:t>1 → deixa passar totalmente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pt-BR" sz="1800" dirty="0"/>
                  <a:t>Criam caminhos com derivada </a:t>
                </a:r>
                <a14:m>
                  <m:oMath xmlns:m="http://schemas.openxmlformats.org/officeDocument/2006/math">
                    <m:r>
                      <a:rPr lang="pt-BR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pt-BR" sz="1800" dirty="0"/>
                  <a:t> 1</a:t>
                </a:r>
              </a:p>
              <a:p>
                <a:pPr lvl="3">
                  <a:buFont typeface="Wingdings" panose="05000000000000000000" pitchFamily="2" charset="2"/>
                  <a:buChar char="ü"/>
                </a:pPr>
                <a:r>
                  <a:rPr lang="pt-BR" b="1" dirty="0">
                    <a:solidFill>
                      <a:schemeClr val="accent2"/>
                    </a:solidFill>
                  </a:rPr>
                  <a:t>Mantendo o gradiente estável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b="1" dirty="0">
                    <a:solidFill>
                      <a:schemeClr val="accent6"/>
                    </a:solidFill>
                  </a:rPr>
                  <a:t>Conexões residuais</a:t>
                </a:r>
                <a:r>
                  <a:rPr lang="pt-BR" dirty="0"/>
                  <a:t>: criam </a:t>
                </a:r>
                <a:r>
                  <a:rPr lang="pt-BR" b="1" dirty="0">
                    <a:solidFill>
                      <a:schemeClr val="accent6"/>
                    </a:solidFill>
                  </a:rPr>
                  <a:t>caminhos diretos</a:t>
                </a:r>
                <a:r>
                  <a:rPr lang="pt-BR" dirty="0"/>
                  <a:t> para o gradiente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Inicializar os pesos de forma apropriada (inicializações de He e Xavier)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4046BC-6244-425E-9E7B-A8996ECB3C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353800" cy="5032375"/>
              </a:xfrm>
              <a:blipFill>
                <a:blip r:embed="rId3"/>
                <a:stretch>
                  <a:fillRect l="-967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21784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8E720CE-A76C-A8B2-DCF8-0B3E17CD9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E327AF2-2A80-2FD6-C65B-1F47B4EFD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Backpropagation</a:t>
            </a:r>
            <a:r>
              <a:rPr lang="pt-BR" i="1" dirty="0"/>
              <a:t> </a:t>
            </a:r>
            <a:r>
              <a:rPr lang="pt-BR" i="1" dirty="0" err="1"/>
              <a:t>Through</a:t>
            </a:r>
            <a:r>
              <a:rPr lang="pt-BR" i="1" dirty="0"/>
              <a:t> Time</a:t>
            </a:r>
            <a:r>
              <a:rPr lang="pt-BR" dirty="0"/>
              <a:t> (BPTT)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94F3B9AB-2499-75D6-23C6-F253DEDF36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8" y="1825624"/>
                <a:ext cx="11353801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𝑾</m:t>
                          </m:r>
                        </m:den>
                      </m:f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den>
                          </m:f>
                        </m:e>
                      </m:nary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])</m:t>
                                  </m:r>
                                </m:num>
                                <m:den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num>
                                <m:den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∏"/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  <m:e>
                                      <m:f>
                                        <m:f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[</m:t>
                                          </m:r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]</m:t>
                                          </m:r>
                                        </m:num>
                                        <m:den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[</m:t>
                                          </m:r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]</m:t>
                                          </m:r>
                                        </m:den>
                                      </m:f>
                                    </m:e>
                                  </m:nary>
                                </m:e>
                              </m:d>
                            </m:e>
                          </m:nary>
                        </m:e>
                      </m:nary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𝑾</m:t>
                          </m:r>
                        </m:den>
                      </m:f>
                      <m:r>
                        <a:rPr lang="pt-BR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r>
                  <a:rPr lang="pt-BR" dirty="0"/>
                  <a:t>Na prática, essa equação diz que para atualizar a matriz de pesos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pt-BR" dirty="0"/>
                  <a:t>, a rede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calcula o erro em cada saída,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propaga esse erro de volta através das conexões recorrentes até o início da sequência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e acumula os ajustes baseados nos estados passados.</a:t>
                </a:r>
              </a:p>
              <a:p>
                <a:r>
                  <a:rPr lang="pt-BR" dirty="0"/>
                  <a:t>Se o valor 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pt-BR" dirty="0"/>
                  <a:t> for grande (i.e., uma </a:t>
                </a:r>
                <a:r>
                  <a:rPr lang="pt-BR" b="1" dirty="0">
                    <a:solidFill>
                      <a:srgbClr val="00B050"/>
                    </a:solidFill>
                  </a:rPr>
                  <a:t>sequência muito longa</a:t>
                </a:r>
                <a:r>
                  <a:rPr lang="pt-BR" dirty="0"/>
                  <a:t>), temos uma </a:t>
                </a:r>
                <a:r>
                  <a:rPr lang="pt-BR" b="1" dirty="0">
                    <a:solidFill>
                      <a:srgbClr val="00B050"/>
                    </a:solidFill>
                  </a:rPr>
                  <a:t>profundidade intratável</a:t>
                </a:r>
                <a:r>
                  <a:rPr lang="pt-BR" dirty="0"/>
                  <a:t>, o que torna o </a:t>
                </a:r>
                <a:r>
                  <a:rPr lang="pt-BR" b="1" dirty="0">
                    <a:solidFill>
                      <a:srgbClr val="7030A0"/>
                    </a:solidFill>
                  </a:rPr>
                  <a:t>treinamento muito lento</a:t>
                </a:r>
                <a:r>
                  <a:rPr lang="pt-BR" dirty="0"/>
                  <a:t>, </a:t>
                </a:r>
                <a:r>
                  <a:rPr lang="pt-BR" b="1" dirty="0">
                    <a:solidFill>
                      <a:schemeClr val="accent1"/>
                    </a:solidFill>
                  </a:rPr>
                  <a:t>consome muita memória</a:t>
                </a:r>
                <a:r>
                  <a:rPr lang="pt-BR" dirty="0"/>
                  <a:t> e pode deixar o </a:t>
                </a:r>
                <a:r>
                  <a:rPr lang="pt-BR" b="1" dirty="0">
                    <a:solidFill>
                      <a:schemeClr val="accent6"/>
                    </a:solidFill>
                  </a:rPr>
                  <a:t>treinamento instável devido à recursão</a:t>
                </a:r>
                <a:r>
                  <a:rPr lang="pt-BR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94F3B9AB-2499-75D6-23C6-F253DEDF36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8" y="1825624"/>
                <a:ext cx="11353801" cy="5032375"/>
              </a:xfrm>
              <a:blipFill>
                <a:blip r:embed="rId2"/>
                <a:stretch>
                  <a:fillRect l="-913" r="-1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20368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D14D433-326F-849D-932A-FF7EE19B3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55088ED-FFA8-2495-4BDA-71832C583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Backpropagation</a:t>
            </a:r>
            <a:r>
              <a:rPr lang="pt-BR" i="1" dirty="0"/>
              <a:t> </a:t>
            </a:r>
            <a:r>
              <a:rPr lang="pt-BR" i="1" dirty="0" err="1"/>
              <a:t>Through</a:t>
            </a:r>
            <a:r>
              <a:rPr lang="pt-BR" i="1" dirty="0"/>
              <a:t> Time</a:t>
            </a:r>
            <a:r>
              <a:rPr lang="pt-BR" dirty="0"/>
              <a:t> (BPTT)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9318CD52-A943-7B32-573B-CF8EC5A121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353801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/>
                  <a:t>Na prática, muitas vezes </a:t>
                </a:r>
                <a:r>
                  <a:rPr lang="pt-BR" b="1" dirty="0">
                    <a:solidFill>
                      <a:schemeClr val="accent2"/>
                    </a:solidFill>
                  </a:rPr>
                  <a:t>não propagamos até o início da sequência</a:t>
                </a:r>
                <a:r>
                  <a:rPr lang="pt-BR" dirty="0"/>
                  <a:t>, mas até um determinado instante de tempo,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Esse processo é chamado de </a:t>
                </a:r>
                <a:r>
                  <a:rPr lang="pt-BR" b="1" dirty="0">
                    <a:solidFill>
                      <a:schemeClr val="accent2"/>
                    </a:solidFill>
                  </a:rPr>
                  <a:t>BPPT truncado (TBPPT)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pt-BR" dirty="0"/>
                  <a:t> é um </a:t>
                </a:r>
                <a:r>
                  <a:rPr lang="pt-BR" dirty="0" err="1"/>
                  <a:t>hiperparâmetro</a:t>
                </a:r>
                <a:r>
                  <a:rPr lang="pt-BR" dirty="0"/>
                  <a:t> crucial que deve ser otimizado: pequeno demais prejudica a memória de longo prazo e grande demais perde a eficiência que motivou a técnica.</a:t>
                </a:r>
              </a:p>
              <a:p>
                <a:r>
                  <a:rPr lang="pt-BR" dirty="0"/>
                  <a:t>Ele reduz: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custo computacional,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uso de memória.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e </a:t>
                </a:r>
                <a:r>
                  <a:rPr lang="en-US" dirty="0" err="1"/>
                  <a:t>ajuda</a:t>
                </a:r>
                <a:r>
                  <a:rPr lang="en-US" dirty="0"/>
                  <a:t> a combater </a:t>
                </a:r>
                <a:r>
                  <a:rPr lang="en-US" dirty="0" err="1"/>
                  <a:t>os</a:t>
                </a:r>
                <a:r>
                  <a:rPr lang="en-US" dirty="0"/>
                  <a:t> </a:t>
                </a:r>
                <a:r>
                  <a:rPr lang="en-US" dirty="0" err="1"/>
                  <a:t>problemas</a:t>
                </a:r>
                <a:r>
                  <a:rPr lang="en-US" dirty="0"/>
                  <a:t> de </a:t>
                </a:r>
                <a:r>
                  <a:rPr lang="en-US" dirty="0" err="1"/>
                  <a:t>explosão</a:t>
                </a:r>
                <a:r>
                  <a:rPr lang="en-US" dirty="0"/>
                  <a:t> e </a:t>
                </a:r>
                <a:r>
                  <a:rPr lang="en-US" dirty="0" err="1"/>
                  <a:t>desaparecimento</a:t>
                </a:r>
                <a:r>
                  <a:rPr lang="en-US" dirty="0"/>
                  <a:t> do </a:t>
                </a:r>
                <a:r>
                  <a:rPr lang="en-US" dirty="0" err="1"/>
                  <a:t>gradiente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Porém</a:t>
                </a:r>
                <a:r>
                  <a:rPr lang="en-US" dirty="0"/>
                  <a:t>, o TBPPT </a:t>
                </a:r>
                <a:r>
                  <a:rPr lang="pt-BR" dirty="0"/>
                  <a:t>força a rede a se concentrar em padrões de curto e médio alcance.</a:t>
                </a:r>
              </a:p>
              <a:p>
                <a:r>
                  <a:rPr lang="pt-BR" dirty="0"/>
                  <a:t>Dependências que excedem o tamanho do truncamento </a:t>
                </a:r>
                <a:r>
                  <a:rPr lang="pt-BR" b="1" dirty="0"/>
                  <a:t>não são aprendidas.</a:t>
                </a:r>
                <a:endParaRPr lang="pt-B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18CD52-A943-7B32-573B-CF8EC5A121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353801" cy="5032375"/>
              </a:xfrm>
              <a:blipFill>
                <a:blip r:embed="rId3"/>
                <a:stretch>
                  <a:fillRect l="-913" t="-2663" r="-215"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84294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AB1BAB6-1EE4-4547-07FC-97B0B6DEB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3B04ED-99C9-38B8-A6B7-07300AEB9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Por que o BPTT truncado funciona?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6B4DBBF-C43B-70AC-AAA4-A3D9A2DAA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353801" cy="5032375"/>
          </a:xfrm>
        </p:spPr>
        <p:txBody>
          <a:bodyPr>
            <a:normAutofit/>
          </a:bodyPr>
          <a:lstStyle/>
          <a:p>
            <a:r>
              <a:rPr lang="pt-BR" dirty="0"/>
              <a:t>Funciona porque, na prática, </a:t>
            </a:r>
            <a:r>
              <a:rPr lang="pt-BR" b="1" dirty="0">
                <a:solidFill>
                  <a:schemeClr val="accent2"/>
                </a:solidFill>
              </a:rPr>
              <a:t>muitas dependências temporais relevantes </a:t>
            </a:r>
            <a:r>
              <a:rPr lang="pt-BR" b="1" dirty="0">
                <a:solidFill>
                  <a:srgbClr val="FF0000"/>
                </a:solidFill>
              </a:rPr>
              <a:t>são locais</a:t>
            </a:r>
            <a:r>
              <a:rPr lang="pt-BR" dirty="0"/>
              <a:t>.</a:t>
            </a:r>
          </a:p>
          <a:p>
            <a:r>
              <a:rPr lang="pt-BR" dirty="0"/>
              <a:t>Além disso, muitas </a:t>
            </a:r>
            <a:r>
              <a:rPr lang="pt-BR" b="1" dirty="0">
                <a:solidFill>
                  <a:srgbClr val="00B050"/>
                </a:solidFill>
              </a:rPr>
              <a:t>dependências temporais relevantes decaem com o tempo</a:t>
            </a:r>
            <a:r>
              <a:rPr lang="pt-BR" dirty="0"/>
              <a:t>.</a:t>
            </a:r>
          </a:p>
          <a:p>
            <a:r>
              <a:rPr lang="pt-BR" dirty="0"/>
              <a:t>Isso </a:t>
            </a:r>
            <a:r>
              <a:rPr lang="pt-BR" b="1" dirty="0">
                <a:solidFill>
                  <a:srgbClr val="7030A0"/>
                </a:solidFill>
              </a:rPr>
              <a:t>evita</a:t>
            </a:r>
            <a:r>
              <a:rPr lang="pt-BR" dirty="0"/>
              <a:t> a necessidade de </a:t>
            </a:r>
            <a:r>
              <a:rPr lang="pt-BR" b="1" dirty="0">
                <a:solidFill>
                  <a:srgbClr val="7030A0"/>
                </a:solidFill>
              </a:rPr>
              <a:t>voltar até o primeiro passo</a:t>
            </a:r>
            <a:r>
              <a:rPr lang="pt-BR" dirty="0"/>
              <a:t> da sequência </a:t>
            </a:r>
            <a:r>
              <a:rPr lang="pt-BR" b="1" dirty="0">
                <a:solidFill>
                  <a:srgbClr val="7030A0"/>
                </a:solidFill>
              </a:rPr>
              <a:t>para calcular o gradiente</a:t>
            </a:r>
            <a:r>
              <a:rPr lang="pt-BR" dirty="0"/>
              <a:t>.</a:t>
            </a:r>
          </a:p>
          <a:p>
            <a:r>
              <a:rPr lang="pt-BR" dirty="0"/>
              <a:t>Ou seja: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o </a:t>
            </a:r>
            <a:r>
              <a:rPr lang="pt-BR" b="1" dirty="0">
                <a:solidFill>
                  <a:srgbClr val="0070C0"/>
                </a:solidFill>
              </a:rPr>
              <a:t>estado atual</a:t>
            </a:r>
            <a:r>
              <a:rPr lang="pt-BR" dirty="0"/>
              <a:t> geralmente depende mais do </a:t>
            </a:r>
            <a:r>
              <a:rPr lang="pt-BR" b="1" dirty="0">
                <a:solidFill>
                  <a:srgbClr val="0070C0"/>
                </a:solidFill>
              </a:rPr>
              <a:t>passado recente</a:t>
            </a:r>
            <a:r>
              <a:rPr lang="pt-BR" dirty="0"/>
              <a:t>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>
                <a:solidFill>
                  <a:srgbClr val="0070C0"/>
                </a:solidFill>
              </a:rPr>
              <a:t>contribuições</a:t>
            </a:r>
            <a:r>
              <a:rPr lang="pt-BR" dirty="0"/>
              <a:t> muito </a:t>
            </a:r>
            <a:r>
              <a:rPr lang="pt-BR" b="1" dirty="0">
                <a:solidFill>
                  <a:srgbClr val="0070C0"/>
                </a:solidFill>
              </a:rPr>
              <a:t>antigas</a:t>
            </a:r>
            <a:r>
              <a:rPr lang="pt-BR" dirty="0"/>
              <a:t> tendem a </a:t>
            </a:r>
            <a:r>
              <a:rPr lang="pt-BR" b="1" dirty="0">
                <a:solidFill>
                  <a:srgbClr val="0070C0"/>
                </a:solidFill>
              </a:rPr>
              <a:t>ficar pequenas</a:t>
            </a:r>
            <a:r>
              <a:rPr lang="pt-BR" dirty="0"/>
              <a:t>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442391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Por que não usar funções de ativação </a:t>
            </a:r>
            <a:r>
              <a:rPr lang="pt-BR" dirty="0" err="1"/>
              <a:t>ReLU</a:t>
            </a:r>
            <a:r>
              <a:rPr lang="pt-BR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25624"/>
                <a:ext cx="11210364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RNNs </a:t>
                </a:r>
                <a:r>
                  <a:rPr lang="pt-BR" b="1" dirty="0"/>
                  <a:t>reusam</a:t>
                </a:r>
                <a:r>
                  <a:rPr lang="pt-BR" dirty="0"/>
                  <a:t> a </a:t>
                </a:r>
                <a:r>
                  <a:rPr lang="pt-BR" b="1" dirty="0">
                    <a:solidFill>
                      <a:srgbClr val="7030A0"/>
                    </a:solidFill>
                  </a:rPr>
                  <a:t>mesma matriz de pesos e a mesma função de ativação</a:t>
                </a:r>
                <a:r>
                  <a:rPr lang="pt-BR" dirty="0"/>
                  <a:t> </a:t>
                </a:r>
                <a:r>
                  <a:rPr lang="pt-BR" b="1" dirty="0">
                    <a:solidFill>
                      <a:srgbClr val="7030A0"/>
                    </a:solidFill>
                  </a:rPr>
                  <a:t>repetidamente</a:t>
                </a:r>
                <a:r>
                  <a:rPr lang="pt-BR" dirty="0"/>
                  <a:t> em cada passo.</a:t>
                </a:r>
              </a:p>
              <a:p>
                <a:r>
                  <a:rPr lang="pt-BR" b="1" dirty="0">
                    <a:solidFill>
                      <a:srgbClr val="00B050"/>
                    </a:solidFill>
                  </a:rPr>
                  <a:t>Valores maiores que 1</a:t>
                </a:r>
                <a:r>
                  <a:rPr lang="pt-BR" dirty="0"/>
                  <a:t> na entrada de uma </a:t>
                </a:r>
                <a:r>
                  <a:rPr lang="pt-BR" b="1" dirty="0">
                    <a:solidFill>
                      <a:srgbClr val="00B050"/>
                    </a:solidFill>
                  </a:rPr>
                  <a:t>função que não satura</a:t>
                </a:r>
                <a:r>
                  <a:rPr lang="pt-BR" dirty="0"/>
                  <a:t> como a </a:t>
                </a:r>
                <a:r>
                  <a:rPr lang="pt-BR" dirty="0" err="1"/>
                  <a:t>ReLU</a:t>
                </a:r>
                <a:r>
                  <a:rPr lang="pt-BR" dirty="0"/>
                  <a:t> (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pt-BR" b="0" i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,0</m:t>
                    </m:r>
                  </m:oMath>
                </a14:m>
                <a:r>
                  <a:rPr lang="pt-BR" dirty="0"/>
                  <a:t>) podem causar um crescimento exponencial (explosão) dos valores do estado oculto,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Isso torna o treinamento instável: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Os estados podem crescer sem limite, causando dinâmica instável no tempo.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Em </a:t>
                </a:r>
                <a:r>
                  <a:rPr lang="pt-BR" b="1" dirty="0">
                    <a:solidFill>
                      <a:schemeClr val="accent1"/>
                    </a:solidFill>
                  </a:rPr>
                  <a:t>sistemas dinâmicos </a:t>
                </a:r>
                <a:r>
                  <a:rPr lang="pt-BR" dirty="0"/>
                  <a:t>(como em </a:t>
                </a:r>
                <a:r>
                  <a:rPr lang="pt-BR" dirty="0" err="1"/>
                  <a:t>RNNs</a:t>
                </a:r>
                <a:r>
                  <a:rPr lang="pt-BR" dirty="0"/>
                  <a:t>), isso é ruim, pois </a:t>
                </a:r>
                <a:r>
                  <a:rPr lang="pt-BR" b="1" dirty="0">
                    <a:solidFill>
                      <a:schemeClr val="accent1"/>
                    </a:solidFill>
                  </a:rPr>
                  <a:t>causa oscilações ou divergência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Além disso, </a:t>
                </a:r>
                <a:r>
                  <a:rPr lang="pt-BR" b="1" dirty="0">
                    <a:solidFill>
                      <a:schemeClr val="accent2"/>
                    </a:solidFill>
                  </a:rPr>
                  <a:t>valores negativos</a:t>
                </a:r>
                <a:r>
                  <a:rPr lang="pt-BR" dirty="0"/>
                  <a:t> em sua entrada </a:t>
                </a:r>
                <a:r>
                  <a:rPr lang="pt-BR" b="1" dirty="0">
                    <a:solidFill>
                      <a:schemeClr val="accent2"/>
                    </a:solidFill>
                  </a:rPr>
                  <a:t>geram saídas e derivadas iguais a 0</a:t>
                </a:r>
                <a:r>
                  <a:rPr lang="pt-BR" dirty="0"/>
                  <a:t>, fazendo com que o </a:t>
                </a:r>
                <a:r>
                  <a:rPr lang="pt-BR" b="1" dirty="0">
                    <a:solidFill>
                      <a:schemeClr val="accent2"/>
                    </a:solidFill>
                  </a:rPr>
                  <a:t>fluxo de aprendizado morra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25624"/>
                <a:ext cx="11210364" cy="5032375"/>
              </a:xfrm>
              <a:blipFill>
                <a:blip r:embed="rId2"/>
                <a:stretch>
                  <a:fillRect l="-979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80572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776FCFB-336A-8296-6F79-4601798B9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6A579CB-F7BE-007A-141C-207261894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8608" y="904126"/>
            <a:ext cx="5661060" cy="5640512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pt-BR" sz="3600" dirty="0"/>
              <a:t>Quando uma </a:t>
            </a:r>
            <a:r>
              <a:rPr lang="pt-BR" sz="3600" b="1" dirty="0">
                <a:solidFill>
                  <a:srgbClr val="00B050"/>
                </a:solidFill>
              </a:rPr>
              <a:t>RNN tradicional</a:t>
            </a:r>
            <a:r>
              <a:rPr lang="pt-BR" sz="3600" dirty="0"/>
              <a:t> processa uma </a:t>
            </a:r>
            <a:r>
              <a:rPr lang="pt-BR" sz="3600" b="1" dirty="0">
                <a:solidFill>
                  <a:schemeClr val="accent2"/>
                </a:solidFill>
              </a:rPr>
              <a:t>sequência muito longa</a:t>
            </a:r>
            <a:r>
              <a:rPr lang="pt-BR" sz="3600" dirty="0"/>
              <a:t>, ela se </a:t>
            </a:r>
            <a:r>
              <a:rPr lang="pt-BR" sz="3600" b="1" dirty="0">
                <a:solidFill>
                  <a:srgbClr val="7030A0"/>
                </a:solidFill>
              </a:rPr>
              <a:t>esquece gradualmente das primeiras amostras</a:t>
            </a:r>
            <a:r>
              <a:rPr lang="pt-BR" sz="3600" dirty="0"/>
              <a:t> da sequência.</a:t>
            </a:r>
          </a:p>
          <a:p>
            <a:pPr marL="0" indent="0" algn="ctr">
              <a:buNone/>
            </a:pPr>
            <a:endParaRPr lang="pt-BR" sz="3600" dirty="0"/>
          </a:p>
          <a:p>
            <a:pPr marL="0" indent="0" algn="ctr">
              <a:buNone/>
            </a:pPr>
            <a:r>
              <a:rPr lang="pt-BR" sz="3600" dirty="0"/>
              <a:t>Ou seja, elas </a:t>
            </a:r>
            <a:r>
              <a:rPr lang="pt-BR" sz="3600" b="1" dirty="0">
                <a:solidFill>
                  <a:schemeClr val="accent1"/>
                </a:solidFill>
              </a:rPr>
              <a:t>não aprendem dependências longas</a:t>
            </a:r>
            <a:endParaRPr lang="en-US" sz="3600" b="1" dirty="0">
              <a:solidFill>
                <a:schemeClr val="accent1"/>
              </a:solidFill>
            </a:endParaRPr>
          </a:p>
        </p:txBody>
      </p:sp>
      <p:pic>
        <p:nvPicPr>
          <p:cNvPr id="1026" name="Picture 2" descr="I AM NEVER DRINKING AGAIN! OOOHHH LOOK, ALCOHOL! - Dory from Nemo (5 second  memory) | Make a Meme">
            <a:extLst>
              <a:ext uri="{FF2B5EF4-FFF2-40B4-BE49-F238E27FC236}">
                <a16:creationId xmlns:a16="http://schemas.microsoft.com/office/drawing/2014/main" xmlns="" id="{E63707F4-DB83-9062-72ED-B2E6A96EE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33" y="1410817"/>
            <a:ext cx="5957678" cy="4627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72792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6302C1-1D71-8369-2652-1C4831795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problema das dependências de longo prazo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210C7DC-900E-A12D-9EE8-1087C3111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353799" cy="5032375"/>
          </a:xfrm>
        </p:spPr>
        <p:txBody>
          <a:bodyPr>
            <a:normAutofit/>
          </a:bodyPr>
          <a:lstStyle/>
          <a:p>
            <a:r>
              <a:rPr lang="pt-BR" dirty="0"/>
              <a:t>Devido ao </a:t>
            </a:r>
            <a:r>
              <a:rPr lang="pt-BR" b="1" dirty="0">
                <a:solidFill>
                  <a:schemeClr val="accent2"/>
                </a:solidFill>
              </a:rPr>
              <a:t>desaparecimento do gradiente</a:t>
            </a:r>
            <a:r>
              <a:rPr lang="pt-BR" dirty="0"/>
              <a:t>, as </a:t>
            </a:r>
            <a:r>
              <a:rPr lang="pt-BR" dirty="0" err="1"/>
              <a:t>RNNs</a:t>
            </a:r>
            <a:r>
              <a:rPr lang="pt-BR" dirty="0"/>
              <a:t> tradicionais (baunilha) treinadas usando o BPTT </a:t>
            </a:r>
            <a:r>
              <a:rPr lang="pt-BR" b="1" dirty="0">
                <a:solidFill>
                  <a:schemeClr val="accent2"/>
                </a:solidFill>
              </a:rPr>
              <a:t>são </a:t>
            </a:r>
            <a:r>
              <a:rPr lang="pt-BR" b="1" dirty="0">
                <a:solidFill>
                  <a:schemeClr val="accent1"/>
                </a:solidFill>
              </a:rPr>
              <a:t>incapazes</a:t>
            </a:r>
            <a:r>
              <a:rPr lang="pt-BR" b="1" dirty="0">
                <a:solidFill>
                  <a:schemeClr val="accent2"/>
                </a:solidFill>
              </a:rPr>
              <a:t> de aprender dependências de longo prazo</a:t>
            </a:r>
            <a:r>
              <a:rPr lang="pt-BR" dirty="0"/>
              <a:t>.</a:t>
            </a:r>
          </a:p>
          <a:p>
            <a:r>
              <a:rPr lang="pt-BR" dirty="0"/>
              <a:t>O </a:t>
            </a:r>
            <a:r>
              <a:rPr lang="pt-BR" b="1" dirty="0">
                <a:solidFill>
                  <a:srgbClr val="7030A0"/>
                </a:solidFill>
              </a:rPr>
              <a:t>BPTT truncado</a:t>
            </a:r>
            <a:r>
              <a:rPr lang="pt-BR" dirty="0"/>
              <a:t> </a:t>
            </a:r>
            <a:r>
              <a:rPr lang="pt-BR" b="1" dirty="0"/>
              <a:t>também limita o aprendizado de longo prazo</a:t>
            </a:r>
            <a:r>
              <a:rPr lang="pt-BR" dirty="0"/>
              <a:t>, pois </a:t>
            </a:r>
            <a:r>
              <a:rPr lang="pt-BR" b="1" dirty="0">
                <a:solidFill>
                  <a:srgbClr val="7030A0"/>
                </a:solidFill>
              </a:rPr>
              <a:t>impõe um horizonte</a:t>
            </a:r>
            <a:r>
              <a:rPr lang="pt-BR" dirty="0"/>
              <a:t> máximo </a:t>
            </a:r>
            <a:r>
              <a:rPr lang="pt-BR" b="1" dirty="0">
                <a:solidFill>
                  <a:srgbClr val="7030A0"/>
                </a:solidFill>
              </a:rPr>
              <a:t>para a retropropagação</a:t>
            </a:r>
            <a:r>
              <a:rPr lang="pt-BR" dirty="0"/>
              <a:t> dos gradientes.</a:t>
            </a:r>
          </a:p>
          <a:p>
            <a:r>
              <a:rPr lang="pt-BR" dirty="0"/>
              <a:t>Entretanto, </a:t>
            </a:r>
            <a:r>
              <a:rPr lang="pt-BR" b="1" dirty="0">
                <a:solidFill>
                  <a:srgbClr val="00B050"/>
                </a:solidFill>
              </a:rPr>
              <a:t>algumas aplicações</a:t>
            </a:r>
            <a:r>
              <a:rPr lang="pt-BR" dirty="0"/>
              <a:t> </a:t>
            </a:r>
            <a:r>
              <a:rPr lang="pt-BR" b="1" dirty="0">
                <a:solidFill>
                  <a:srgbClr val="00B050"/>
                </a:solidFill>
              </a:rPr>
              <a:t>exigem</a:t>
            </a:r>
            <a:r>
              <a:rPr lang="pt-BR" dirty="0"/>
              <a:t> </a:t>
            </a:r>
            <a:r>
              <a:rPr lang="pt-BR" b="1" dirty="0">
                <a:solidFill>
                  <a:srgbClr val="00B050"/>
                </a:solidFill>
              </a:rPr>
              <a:t>dependências tanto de curto quanto de longo prazo</a:t>
            </a:r>
            <a:r>
              <a:rPr lang="pt-BR" dirty="0"/>
              <a:t>.</a:t>
            </a:r>
          </a:p>
          <a:p>
            <a:r>
              <a:rPr lang="pt-BR" dirty="0"/>
              <a:t>Por exemplo, e</a:t>
            </a:r>
            <a:r>
              <a:rPr lang="en-US" dirty="0"/>
              <a:t>m </a:t>
            </a:r>
            <a:r>
              <a:rPr lang="en-US" dirty="0" err="1"/>
              <a:t>tradução</a:t>
            </a:r>
            <a:r>
              <a:rPr lang="en-US" dirty="0"/>
              <a:t> </a:t>
            </a:r>
            <a:r>
              <a:rPr lang="en-US" dirty="0" err="1"/>
              <a:t>automática</a:t>
            </a:r>
            <a:r>
              <a:rPr lang="en-US" dirty="0"/>
              <a:t>, </a:t>
            </a:r>
            <a:r>
              <a:rPr lang="pt-BR" dirty="0"/>
              <a:t>o significado de uma palavra ou frase pode depender de palavras vizinhas ou de um contexto que apareceu muito antes no texto.</a:t>
            </a:r>
          </a:p>
        </p:txBody>
      </p:sp>
    </p:spTree>
    <p:extLst>
      <p:ext uri="{BB962C8B-B14F-4D97-AF65-F5344CB8AC3E}">
        <p14:creationId xmlns:p14="http://schemas.microsoft.com/office/powerpoint/2010/main" val="30121137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C27CE59-D8FC-0683-12EB-3BCB0F761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5446177-ADB3-5B28-1AA8-5319ACA645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490" y="2158372"/>
            <a:ext cx="4373006" cy="37745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0DA6D747-76A0-672E-907C-B0D4EB836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problema das dependências de longo prazo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0A8BB54-C317-2A6B-095D-1AE752708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8910" y="1825624"/>
            <a:ext cx="6373090" cy="5032375"/>
          </a:xfrm>
        </p:spPr>
        <p:txBody>
          <a:bodyPr>
            <a:normAutofit/>
          </a:bodyPr>
          <a:lstStyle/>
          <a:p>
            <a:r>
              <a:rPr lang="pt-BR" dirty="0"/>
              <a:t>Considere treinar a RNN ao lado para prever </a:t>
            </a:r>
            <a:r>
              <a:rPr lang="pt-BR" b="1" dirty="0">
                <a:solidFill>
                  <a:srgbClr val="00B050"/>
                </a:solidFill>
              </a:rPr>
              <a:t>a próxima palavra</a:t>
            </a:r>
            <a:r>
              <a:rPr lang="pt-BR" dirty="0"/>
              <a:t>.</a:t>
            </a:r>
          </a:p>
          <a:p>
            <a:r>
              <a:rPr lang="pt-BR" dirty="0"/>
              <a:t>Para </a:t>
            </a:r>
            <a:r>
              <a:rPr lang="pt-BR" b="1" dirty="0">
                <a:solidFill>
                  <a:schemeClr val="accent2"/>
                </a:solidFill>
              </a:rPr>
              <a:t>prever </a:t>
            </a:r>
            <a:r>
              <a:rPr lang="pt-BR" dirty="0"/>
              <a:t>a palavra</a:t>
            </a:r>
            <a:r>
              <a:rPr lang="pt-BR" b="1" dirty="0">
                <a:solidFill>
                  <a:schemeClr val="accent2"/>
                </a:solidFill>
              </a:rPr>
              <a:t> </a:t>
            </a:r>
            <a:r>
              <a:rPr lang="pt-BR" b="1" dirty="0">
                <a:solidFill>
                  <a:schemeClr val="accent5"/>
                </a:solidFill>
              </a:rPr>
              <a:t>“azul”</a:t>
            </a:r>
            <a:r>
              <a:rPr lang="pt-BR" dirty="0"/>
              <a:t>, a RNN precisa apenas de </a:t>
            </a:r>
            <a:r>
              <a:rPr lang="pt-BR" b="1" dirty="0">
                <a:solidFill>
                  <a:srgbClr val="00B050"/>
                </a:solidFill>
              </a:rPr>
              <a:t>informação de dois passos atrás</a:t>
            </a:r>
            <a:r>
              <a:rPr lang="pt-BR" dirty="0"/>
              <a:t>.</a:t>
            </a:r>
          </a:p>
          <a:p>
            <a:r>
              <a:rPr lang="pt-BR" dirty="0"/>
              <a:t>Ou seja, a </a:t>
            </a:r>
            <a:r>
              <a:rPr lang="pt-BR" b="1" dirty="0">
                <a:solidFill>
                  <a:srgbClr val="7030A0"/>
                </a:solidFill>
              </a:rPr>
              <a:t>informação relevante</a:t>
            </a:r>
            <a:r>
              <a:rPr lang="pt-BR" dirty="0"/>
              <a:t> </a:t>
            </a:r>
            <a:r>
              <a:rPr lang="pt-BR" b="1" dirty="0">
                <a:solidFill>
                  <a:srgbClr val="7030A0"/>
                </a:solidFill>
              </a:rPr>
              <a:t>está a poucos passos</a:t>
            </a:r>
            <a:r>
              <a:rPr lang="pt-BR" dirty="0"/>
              <a:t> no tempo (</a:t>
            </a:r>
            <a:r>
              <a:rPr lang="pt-BR" b="1" dirty="0">
                <a:solidFill>
                  <a:schemeClr val="accent2"/>
                </a:solidFill>
              </a:rPr>
              <a:t>contexto recente</a:t>
            </a:r>
            <a:r>
              <a:rPr lang="pt-BR" dirty="0"/>
              <a:t>).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C53011F6-166D-E866-27C5-69A2EF65F07A}"/>
              </a:ext>
            </a:extLst>
          </p:cNvPr>
          <p:cNvSpPr/>
          <p:nvPr/>
        </p:nvSpPr>
        <p:spPr>
          <a:xfrm>
            <a:off x="3314699" y="2225711"/>
            <a:ext cx="716973" cy="13255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37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C64356E-F5FE-E5D3-9E6C-6927EBEC8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A944CD8-CBDA-65AB-AE05-7694FE8B6C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490" y="2158372"/>
            <a:ext cx="4373006" cy="37745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FE9B53B2-8E68-BEE1-0D8A-E19655A49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problema das dependências de longo prazo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571CB8A-DBB4-30C0-9F19-9763A30E4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8910" y="1825624"/>
            <a:ext cx="6373090" cy="5032375"/>
          </a:xfrm>
        </p:spPr>
        <p:txBody>
          <a:bodyPr>
            <a:normAutofit/>
          </a:bodyPr>
          <a:lstStyle/>
          <a:p>
            <a:r>
              <a:rPr lang="pt-BR" dirty="0"/>
              <a:t>Assim, durante o </a:t>
            </a:r>
            <a:r>
              <a:rPr lang="pt-BR" b="1" dirty="0">
                <a:solidFill>
                  <a:srgbClr val="7030A0"/>
                </a:solidFill>
              </a:rPr>
              <a:t>treinamento</a:t>
            </a:r>
            <a:r>
              <a:rPr lang="pt-BR" dirty="0"/>
              <a:t>, o </a:t>
            </a:r>
            <a:r>
              <a:rPr lang="pt-BR" b="1" dirty="0">
                <a:solidFill>
                  <a:schemeClr val="accent2"/>
                </a:solidFill>
              </a:rPr>
              <a:t>erro precisa ser retropropagado por apenas alguns instantes</a:t>
            </a:r>
            <a:r>
              <a:rPr lang="pt-BR" dirty="0"/>
              <a:t> temporais.</a:t>
            </a:r>
          </a:p>
          <a:p>
            <a:r>
              <a:rPr lang="pt-BR" dirty="0"/>
              <a:t>Porém, em muitas aplicações, a </a:t>
            </a:r>
            <a:r>
              <a:rPr lang="pt-BR" b="1" dirty="0">
                <a:solidFill>
                  <a:srgbClr val="7030A0"/>
                </a:solidFill>
              </a:rPr>
              <a:t>informação importante</a:t>
            </a:r>
            <a:r>
              <a:rPr lang="pt-BR" dirty="0"/>
              <a:t> </a:t>
            </a:r>
            <a:r>
              <a:rPr lang="pt-BR" b="1" dirty="0">
                <a:solidFill>
                  <a:srgbClr val="00B050"/>
                </a:solidFill>
              </a:rPr>
              <a:t>pode estar muito distante na sequência</a:t>
            </a:r>
            <a:r>
              <a:rPr lang="pt-BR" dirty="0"/>
              <a:t>.</a:t>
            </a:r>
          </a:p>
          <a:p>
            <a:r>
              <a:rPr lang="pt-BR" dirty="0"/>
              <a:t>Agora, vamos considerar a frase: </a:t>
            </a:r>
          </a:p>
          <a:p>
            <a:pPr marL="457200" lvl="1" indent="0" algn="ctr">
              <a:buNone/>
            </a:pPr>
            <a:r>
              <a:rPr lang="pt-BR" dirty="0"/>
              <a:t>“Sou de </a:t>
            </a:r>
            <a:r>
              <a:rPr lang="pt-BR" b="1" dirty="0"/>
              <a:t>Roma</a:t>
            </a:r>
            <a:r>
              <a:rPr lang="pt-BR" dirty="0"/>
              <a:t>. Nasci há 30 anos. Gosto de comer bem e andar de bicicleta. Minha língua materna é o </a:t>
            </a:r>
            <a:r>
              <a:rPr lang="pt-BR" b="1" dirty="0"/>
              <a:t>italiano</a:t>
            </a:r>
            <a:r>
              <a:rPr lang="pt-BR" dirty="0"/>
              <a:t>.”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DA4B9400-011F-CE71-B12A-9EB45E21B3C6}"/>
              </a:ext>
            </a:extLst>
          </p:cNvPr>
          <p:cNvSpPr/>
          <p:nvPr/>
        </p:nvSpPr>
        <p:spPr>
          <a:xfrm>
            <a:off x="3314699" y="2225711"/>
            <a:ext cx="716973" cy="13255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4092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D984BD1-9D88-7A7E-95C0-39AB6310B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6B7A25-7D9F-2655-41EB-F9274FE4A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problema das dependências de longo prazo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60FF3FD-0963-BC17-8992-4327E5058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4" y="1825624"/>
            <a:ext cx="5953125" cy="503237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pt-BR" dirty="0"/>
              <a:t>Para prever </a:t>
            </a:r>
            <a:r>
              <a:rPr lang="pt-BR" b="1" dirty="0">
                <a:solidFill>
                  <a:schemeClr val="accent2"/>
                </a:solidFill>
              </a:rPr>
              <a:t>“italiano”</a:t>
            </a:r>
            <a:r>
              <a:rPr lang="pt-BR" dirty="0"/>
              <a:t>, a rede precisa lembrar de uma </a:t>
            </a:r>
            <a:r>
              <a:rPr lang="pt-BR" b="1" dirty="0">
                <a:solidFill>
                  <a:srgbClr val="7030A0"/>
                </a:solidFill>
              </a:rPr>
              <a:t>informação muito antiga</a:t>
            </a:r>
            <a:r>
              <a:rPr lang="pt-BR" dirty="0"/>
              <a:t> da sequência, a palavra </a:t>
            </a:r>
            <a:r>
              <a:rPr lang="pt-BR" b="1" dirty="0">
                <a:solidFill>
                  <a:schemeClr val="accent2"/>
                </a:solidFill>
              </a:rPr>
              <a:t>“Roma”</a:t>
            </a:r>
            <a:r>
              <a:rPr lang="pt-BR" dirty="0"/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pt-BR" dirty="0"/>
              <a:t>Durante o treinamento, o </a:t>
            </a:r>
            <a:r>
              <a:rPr lang="pt-BR" b="1" dirty="0">
                <a:solidFill>
                  <a:srgbClr val="00B050"/>
                </a:solidFill>
              </a:rPr>
              <a:t>erro</a:t>
            </a:r>
            <a:r>
              <a:rPr lang="pt-BR" dirty="0"/>
              <a:t> precisa ser </a:t>
            </a:r>
            <a:r>
              <a:rPr lang="pt-BR" b="1" dirty="0" err="1">
                <a:solidFill>
                  <a:srgbClr val="00B050"/>
                </a:solidFill>
              </a:rPr>
              <a:t>retropropagado</a:t>
            </a:r>
            <a:r>
              <a:rPr lang="pt-BR" dirty="0"/>
              <a:t> por </a:t>
            </a:r>
            <a:r>
              <a:rPr lang="pt-BR" b="1" dirty="0">
                <a:solidFill>
                  <a:srgbClr val="00B050"/>
                </a:solidFill>
              </a:rPr>
              <a:t>vários instantes de tempo</a:t>
            </a:r>
            <a:r>
              <a:rPr lang="pt-BR" dirty="0"/>
              <a:t>, o que pode fazer com que o </a:t>
            </a:r>
            <a:r>
              <a:rPr lang="pt-BR" b="1" dirty="0">
                <a:solidFill>
                  <a:srgbClr val="7030A0"/>
                </a:solidFill>
              </a:rPr>
              <a:t>gradiente desapareça</a:t>
            </a:r>
            <a:r>
              <a:rPr lang="pt-BR" dirty="0"/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EB82918D-ADE2-AAB7-1AE4-7AF0D762FD32}"/>
              </a:ext>
            </a:extLst>
          </p:cNvPr>
          <p:cNvSpPr/>
          <p:nvPr/>
        </p:nvSpPr>
        <p:spPr>
          <a:xfrm>
            <a:off x="4322619" y="2597510"/>
            <a:ext cx="779318" cy="10139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4D27DDD-946D-AB8C-ED06-3C325B14C52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32" y="2597510"/>
            <a:ext cx="5885468" cy="2740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0407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9FCAA46-FB18-7F4A-9CA9-0600DE6F2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0D115FB-FCD8-EC8B-4716-893C9868673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32" y="2597510"/>
            <a:ext cx="5885468" cy="27404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791B03-E616-FD43-80C5-5DF812B2B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problema das dependências de longo prazo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C1404A6-E7DD-907F-A21B-91BD8A91F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9158" y="1825624"/>
            <a:ext cx="5992842" cy="5032375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7030A0"/>
                </a:solidFill>
              </a:rPr>
              <a:t>Quanto maior a distância temporal</a:t>
            </a:r>
            <a:r>
              <a:rPr lang="pt-BR" dirty="0"/>
              <a:t>, </a:t>
            </a:r>
            <a:r>
              <a:rPr lang="pt-BR" b="1" dirty="0">
                <a:solidFill>
                  <a:schemeClr val="accent2"/>
                </a:solidFill>
              </a:rPr>
              <a:t>mais difícil é para uma RNN tradicional </a:t>
            </a:r>
            <a:r>
              <a:rPr lang="pt-BR" dirty="0"/>
              <a:t>manter a informação relevante, ou seja, </a:t>
            </a:r>
            <a:r>
              <a:rPr lang="pt-BR" b="1" dirty="0">
                <a:solidFill>
                  <a:schemeClr val="accent1"/>
                </a:solidFill>
              </a:rPr>
              <a:t>se lembrar do passado distante</a:t>
            </a:r>
            <a:r>
              <a:rPr lang="pt-BR" dirty="0"/>
              <a:t>.</a:t>
            </a:r>
          </a:p>
          <a:p>
            <a:pPr marL="0" indent="0">
              <a:buNone/>
            </a:pPr>
            <a:endParaRPr lang="pt-BR" dirty="0"/>
          </a:p>
          <a:p>
            <a:pPr marL="0" indent="0" algn="ctr">
              <a:buNone/>
            </a:pPr>
            <a:r>
              <a:rPr lang="pt-BR" dirty="0"/>
              <a:t>Como permitir que a rede preserve </a:t>
            </a:r>
            <a:r>
              <a:rPr lang="pt-BR" b="1" dirty="0">
                <a:solidFill>
                  <a:schemeClr val="accent2"/>
                </a:solidFill>
              </a:rPr>
              <a:t>informações importantes</a:t>
            </a:r>
            <a:r>
              <a:rPr lang="pt-BR" dirty="0"/>
              <a:t> </a:t>
            </a:r>
            <a:r>
              <a:rPr lang="pt-BR" b="1" dirty="0">
                <a:solidFill>
                  <a:srgbClr val="00B050"/>
                </a:solidFill>
              </a:rPr>
              <a:t>por muito mais tempo</a:t>
            </a:r>
            <a:r>
              <a:rPr lang="pt-BR" dirty="0"/>
              <a:t>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ADCDC70A-B3DA-C5F7-B8FF-163E59F072E4}"/>
              </a:ext>
            </a:extLst>
          </p:cNvPr>
          <p:cNvSpPr/>
          <p:nvPr/>
        </p:nvSpPr>
        <p:spPr>
          <a:xfrm>
            <a:off x="4322619" y="2618292"/>
            <a:ext cx="779318" cy="10139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410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9FCAA46-FB18-7F4A-9CA9-0600DE6F2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791B03-E616-FD43-80C5-5DF812B2B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problema das dependências de longo prazo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C1404A6-E7DD-907F-A21B-91BD8A91F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11353800" cy="5032375"/>
          </a:xfrm>
        </p:spPr>
        <p:txBody>
          <a:bodyPr>
            <a:normAutofit/>
          </a:bodyPr>
          <a:lstStyle/>
          <a:p>
            <a:r>
              <a:rPr lang="pt-BR" dirty="0"/>
              <a:t>Para </a:t>
            </a:r>
            <a:r>
              <a:rPr lang="pt-BR" b="1" dirty="0">
                <a:solidFill>
                  <a:schemeClr val="accent2"/>
                </a:solidFill>
              </a:rPr>
              <a:t>diminuir o problema das dependências de longo prazo</a:t>
            </a:r>
            <a:r>
              <a:rPr lang="pt-BR" dirty="0"/>
              <a:t>, causado pelo desaparecimento ou explosão do gradiente, foram propostas </a:t>
            </a:r>
            <a:r>
              <a:rPr lang="pt-BR" b="1" dirty="0">
                <a:solidFill>
                  <a:srgbClr val="00B050"/>
                </a:solidFill>
              </a:rPr>
              <a:t>arquiteturas com mecanismos de memória</a:t>
            </a:r>
            <a:r>
              <a:rPr lang="pt-BR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err="1"/>
              <a:t>Long</a:t>
            </a:r>
            <a:r>
              <a:rPr lang="pt-BR" dirty="0"/>
              <a:t> Short-</a:t>
            </a:r>
            <a:r>
              <a:rPr lang="pt-BR" dirty="0" err="1"/>
              <a:t>Term</a:t>
            </a:r>
            <a:r>
              <a:rPr lang="pt-BR" dirty="0"/>
              <a:t> </a:t>
            </a:r>
            <a:r>
              <a:rPr lang="pt-BR" dirty="0" err="1"/>
              <a:t>Memory</a:t>
            </a:r>
            <a:r>
              <a:rPr lang="pt-BR" dirty="0"/>
              <a:t> (LSTM)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err="1"/>
              <a:t>Gated</a:t>
            </a:r>
            <a:r>
              <a:rPr lang="pt-BR" dirty="0"/>
              <a:t> </a:t>
            </a:r>
            <a:r>
              <a:rPr lang="pt-BR" dirty="0" err="1"/>
              <a:t>Recurrent</a:t>
            </a:r>
            <a:r>
              <a:rPr lang="pt-BR" dirty="0"/>
              <a:t> Unit (GRU)</a:t>
            </a:r>
          </a:p>
          <a:p>
            <a:r>
              <a:rPr lang="pt-BR" dirty="0"/>
              <a:t>Essas redes </a:t>
            </a:r>
            <a:r>
              <a:rPr lang="pt-BR" b="1" dirty="0">
                <a:solidFill>
                  <a:srgbClr val="7030A0"/>
                </a:solidFill>
              </a:rPr>
              <a:t>criam caminhos ao longo do tempo</a:t>
            </a:r>
            <a:r>
              <a:rPr lang="pt-BR" dirty="0"/>
              <a:t> cujas </a:t>
            </a:r>
            <a:r>
              <a:rPr lang="pt-BR" b="1" dirty="0">
                <a:solidFill>
                  <a:schemeClr val="accent2"/>
                </a:solidFill>
              </a:rPr>
              <a:t>derivadas podem ser controladas</a:t>
            </a:r>
            <a:r>
              <a:rPr lang="pt-BR" dirty="0"/>
              <a:t> para não desaparecer nem explodir.</a:t>
            </a:r>
          </a:p>
          <a:p>
            <a:r>
              <a:rPr lang="pt-BR" dirty="0"/>
              <a:t>Elas utilizam </a:t>
            </a:r>
            <a:r>
              <a:rPr lang="pt-BR" b="1" dirty="0"/>
              <a:t>portas (</a:t>
            </a:r>
            <a:r>
              <a:rPr lang="pt-BR" b="1" i="1" dirty="0" err="1"/>
              <a:t>gates</a:t>
            </a:r>
            <a:r>
              <a:rPr lang="pt-BR" b="1" dirty="0"/>
              <a:t>)</a:t>
            </a:r>
            <a:r>
              <a:rPr lang="pt-BR" dirty="0"/>
              <a:t> para </a:t>
            </a:r>
            <a:r>
              <a:rPr lang="pt-BR" b="1" dirty="0">
                <a:solidFill>
                  <a:schemeClr val="accent1"/>
                </a:solidFill>
              </a:rPr>
              <a:t>controlar</a:t>
            </a:r>
            <a:r>
              <a:rPr lang="pt-BR" dirty="0"/>
              <a:t> quais </a:t>
            </a:r>
            <a:r>
              <a:rPr lang="pt-BR" b="1" dirty="0">
                <a:solidFill>
                  <a:schemeClr val="accent1"/>
                </a:solidFill>
              </a:rPr>
              <a:t>informações</a:t>
            </a:r>
            <a:r>
              <a:rPr lang="pt-BR" dirty="0"/>
              <a:t> devem ser: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armazenadas (o que lembrar),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esquecidas ou mantidas,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 expostas na saída (quando usar uma informação armazenada).</a:t>
            </a:r>
          </a:p>
        </p:txBody>
      </p:sp>
    </p:spTree>
    <p:extLst>
      <p:ext uri="{BB962C8B-B14F-4D97-AF65-F5344CB8AC3E}">
        <p14:creationId xmlns:p14="http://schemas.microsoft.com/office/powerpoint/2010/main" val="3862650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5FE4D3-51CB-D07E-2D42-B438EA185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Long</a:t>
            </a:r>
            <a:r>
              <a:rPr lang="pt-BR" i="1" dirty="0"/>
              <a:t>-short </a:t>
            </a:r>
            <a:r>
              <a:rPr lang="pt-BR" i="1" dirty="0" err="1"/>
              <a:t>term</a:t>
            </a:r>
            <a:r>
              <a:rPr lang="pt-BR" i="1" dirty="0"/>
              <a:t> </a:t>
            </a:r>
            <a:r>
              <a:rPr lang="pt-BR" i="1" dirty="0" err="1"/>
              <a:t>memory</a:t>
            </a:r>
            <a:r>
              <a:rPr lang="pt-BR" i="1" dirty="0"/>
              <a:t> </a:t>
            </a:r>
            <a:r>
              <a:rPr lang="pt-BR" dirty="0"/>
              <a:t>(LSTM)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0BCFCB7-6C37-0809-93AB-AF4180361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8156" y="1825624"/>
            <a:ext cx="4473845" cy="5032375"/>
          </a:xfrm>
        </p:spPr>
        <p:txBody>
          <a:bodyPr/>
          <a:lstStyle/>
          <a:p>
            <a:r>
              <a:rPr lang="pt-BR" dirty="0"/>
              <a:t>Introduzida por </a:t>
            </a:r>
            <a:r>
              <a:rPr lang="pt-BR" dirty="0" err="1"/>
              <a:t>Hochreiter</a:t>
            </a:r>
            <a:r>
              <a:rPr lang="pt-BR" dirty="0"/>
              <a:t> e </a:t>
            </a:r>
            <a:r>
              <a:rPr lang="pt-BR" dirty="0" err="1"/>
              <a:t>Schmidhuber</a:t>
            </a:r>
            <a:r>
              <a:rPr lang="pt-BR" dirty="0"/>
              <a:t> em 1997.</a:t>
            </a:r>
          </a:p>
          <a:p>
            <a:r>
              <a:rPr lang="pt-BR" dirty="0"/>
              <a:t>Funcionam muito bem em </a:t>
            </a:r>
            <a:r>
              <a:rPr lang="pt-BR" b="1" dirty="0">
                <a:solidFill>
                  <a:schemeClr val="accent2"/>
                </a:solidFill>
              </a:rPr>
              <a:t>diversos problemas que envolvem dados sequenciais</a:t>
            </a:r>
            <a:r>
              <a:rPr lang="pt-BR" dirty="0"/>
              <a:t>.</a:t>
            </a:r>
          </a:p>
          <a:p>
            <a:r>
              <a:rPr lang="pt-BR" dirty="0"/>
              <a:t>São amplamente utilizadas atualmente.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767CEB79-6A0F-ABB3-2CE7-334D403DD862}"/>
                  </a:ext>
                </a:extLst>
              </p:cNvPr>
              <p:cNvSpPr txBox="1"/>
              <p:nvPr/>
            </p:nvSpPr>
            <p:spPr>
              <a:xfrm>
                <a:off x="0" y="6611778"/>
                <a:ext cx="317503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000" b="1" dirty="0"/>
                  <a:t>OBS</a:t>
                </a:r>
                <a:r>
                  <a:rPr lang="pt-BR" sz="1000" dirty="0"/>
                  <a:t>.: Para facilitar a notação, usamos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000" dirty="0"/>
                  <a:t> </a:t>
                </a:r>
                <a:r>
                  <a:rPr lang="en-US" sz="1000" dirty="0" err="1"/>
                  <a:t>ao</a:t>
                </a:r>
                <a:r>
                  <a:rPr lang="en-US" sz="1000" dirty="0"/>
                  <a:t> </a:t>
                </a:r>
                <a:r>
                  <a:rPr lang="en-US" sz="1000" dirty="0" err="1"/>
                  <a:t>inves</a:t>
                </a:r>
                <a:r>
                  <a:rPr lang="en-US" sz="1000" dirty="0"/>
                  <a:t> de </a:t>
                </a:r>
                <a14:m>
                  <m:oMath xmlns:m="http://schemas.openxmlformats.org/officeDocument/2006/math">
                    <m:r>
                      <a:rPr lang="pt-BR" sz="1000" b="1" i="1" smtClean="0"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begChr m:val="["/>
                        <m:endChr m:val="]"/>
                        <m:ctrlPr>
                          <a:rPr lang="pt-BR" sz="1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sz="1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7CEB79-6A0F-ABB3-2CE7-334D403DD8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611778"/>
                <a:ext cx="3175036" cy="246221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5624"/>
            <a:ext cx="7882811" cy="452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6705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5FE4D3-51CB-D07E-2D42-B438EA185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Long</a:t>
            </a:r>
            <a:r>
              <a:rPr lang="pt-BR" i="1" dirty="0"/>
              <a:t>-short </a:t>
            </a:r>
            <a:r>
              <a:rPr lang="pt-BR" i="1" dirty="0" err="1"/>
              <a:t>term</a:t>
            </a:r>
            <a:r>
              <a:rPr lang="pt-BR" i="1" dirty="0"/>
              <a:t> </a:t>
            </a:r>
            <a:r>
              <a:rPr lang="pt-BR" i="1" dirty="0" err="1"/>
              <a:t>memory</a:t>
            </a:r>
            <a:r>
              <a:rPr lang="pt-BR" i="1" dirty="0"/>
              <a:t> </a:t>
            </a:r>
            <a:r>
              <a:rPr lang="pt-BR" dirty="0"/>
              <a:t>(LSTM)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0BCFCB7-6C37-0809-93AB-AF4180361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8156" y="1825624"/>
            <a:ext cx="4473845" cy="5032375"/>
          </a:xfrm>
        </p:spPr>
        <p:txBody>
          <a:bodyPr/>
          <a:lstStyle/>
          <a:p>
            <a:r>
              <a:rPr lang="pt-BR" dirty="0"/>
              <a:t>Elas </a:t>
            </a:r>
            <a:r>
              <a:rPr lang="pt-BR" b="1" dirty="0">
                <a:solidFill>
                  <a:schemeClr val="accent1"/>
                </a:solidFill>
              </a:rPr>
              <a:t>capturam padrões de longo e curto prazo</a:t>
            </a:r>
            <a:r>
              <a:rPr lang="pt-BR" dirty="0"/>
              <a:t> de uma sequência de dados. </a:t>
            </a:r>
          </a:p>
          <a:p>
            <a:r>
              <a:rPr lang="pt-BR" dirty="0"/>
              <a:t>Assim como as </a:t>
            </a:r>
            <a:r>
              <a:rPr lang="pt-BR" dirty="0" err="1"/>
              <a:t>RNNs</a:t>
            </a:r>
            <a:r>
              <a:rPr lang="pt-BR" dirty="0"/>
              <a:t> tradicionais, elas </a:t>
            </a:r>
            <a:r>
              <a:rPr lang="pt-BR" b="1" dirty="0">
                <a:solidFill>
                  <a:srgbClr val="7030A0"/>
                </a:solidFill>
              </a:rPr>
              <a:t>precisam ser desdobradas</a:t>
            </a:r>
            <a:r>
              <a:rPr lang="pt-BR" dirty="0"/>
              <a:t> no tempo para serem </a:t>
            </a:r>
            <a:r>
              <a:rPr lang="pt-BR" b="1" dirty="0">
                <a:solidFill>
                  <a:srgbClr val="7030A0"/>
                </a:solidFill>
              </a:rPr>
              <a:t>treinadas</a:t>
            </a:r>
            <a:r>
              <a:rPr lang="pt-BR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767CEB79-6A0F-ABB3-2CE7-334D403DD862}"/>
                  </a:ext>
                </a:extLst>
              </p:cNvPr>
              <p:cNvSpPr txBox="1"/>
              <p:nvPr/>
            </p:nvSpPr>
            <p:spPr>
              <a:xfrm>
                <a:off x="0" y="6611778"/>
                <a:ext cx="317503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000" b="1" dirty="0"/>
                  <a:t>OBS</a:t>
                </a:r>
                <a:r>
                  <a:rPr lang="pt-BR" sz="1000" dirty="0"/>
                  <a:t>.: Para facilitar a notação, usamos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000" dirty="0"/>
                  <a:t> </a:t>
                </a:r>
                <a:r>
                  <a:rPr lang="en-US" sz="1000" dirty="0" err="1"/>
                  <a:t>ao</a:t>
                </a:r>
                <a:r>
                  <a:rPr lang="en-US" sz="1000" dirty="0"/>
                  <a:t> </a:t>
                </a:r>
                <a:r>
                  <a:rPr lang="en-US" sz="1000" dirty="0" err="1"/>
                  <a:t>inves</a:t>
                </a:r>
                <a:r>
                  <a:rPr lang="en-US" sz="1000" dirty="0"/>
                  <a:t> de </a:t>
                </a:r>
                <a14:m>
                  <m:oMath xmlns:m="http://schemas.openxmlformats.org/officeDocument/2006/math">
                    <m:r>
                      <a:rPr lang="pt-BR" sz="1000" b="1" i="1" smtClean="0"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begChr m:val="["/>
                        <m:endChr m:val="]"/>
                        <m:ctrlPr>
                          <a:rPr lang="pt-BR" sz="1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sz="1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7CEB79-6A0F-ABB3-2CE7-334D403DD8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611778"/>
                <a:ext cx="3175036" cy="246221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m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5624"/>
            <a:ext cx="7882811" cy="452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380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0A8604B-8785-D978-9325-685488A93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A21FDD-8B38-01BA-02A2-E93917D46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Long</a:t>
            </a:r>
            <a:r>
              <a:rPr lang="pt-BR" i="1" dirty="0"/>
              <a:t>-short </a:t>
            </a:r>
            <a:r>
              <a:rPr lang="pt-BR" i="1" dirty="0" err="1"/>
              <a:t>term</a:t>
            </a:r>
            <a:r>
              <a:rPr lang="pt-BR" i="1" dirty="0"/>
              <a:t> </a:t>
            </a:r>
            <a:r>
              <a:rPr lang="pt-BR" i="1" dirty="0" err="1"/>
              <a:t>memory</a:t>
            </a:r>
            <a:r>
              <a:rPr lang="pt-BR" dirty="0"/>
              <a:t> (LSTM)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789EFBE-5969-6A4D-8EA1-2E41201F5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6035" y="1825624"/>
            <a:ext cx="6235967" cy="5032375"/>
          </a:xfrm>
        </p:spPr>
        <p:txBody>
          <a:bodyPr>
            <a:normAutofit/>
          </a:bodyPr>
          <a:lstStyle/>
          <a:p>
            <a:r>
              <a:rPr lang="pt-BR" dirty="0"/>
              <a:t>A </a:t>
            </a:r>
            <a:r>
              <a:rPr lang="pt-BR" b="1" dirty="0">
                <a:solidFill>
                  <a:srgbClr val="7030A0"/>
                </a:solidFill>
              </a:rPr>
              <a:t>unidade de processamento</a:t>
            </a:r>
            <a:r>
              <a:rPr lang="pt-BR" dirty="0"/>
              <a:t> (neurônio) da LSTM é mais </a:t>
            </a:r>
            <a:r>
              <a:rPr lang="pt-BR" b="1" dirty="0">
                <a:solidFill>
                  <a:srgbClr val="7030A0"/>
                </a:solidFill>
              </a:rPr>
              <a:t>complexa</a:t>
            </a:r>
            <a:r>
              <a:rPr lang="pt-BR" dirty="0"/>
              <a:t> e é chamada de </a:t>
            </a:r>
            <a:r>
              <a:rPr lang="pt-BR" b="1" dirty="0">
                <a:solidFill>
                  <a:srgbClr val="7030A0"/>
                </a:solidFill>
              </a:rPr>
              <a:t>célula (de memória)</a:t>
            </a:r>
            <a:r>
              <a:rPr lang="pt-BR" dirty="0"/>
              <a:t>.</a:t>
            </a:r>
          </a:p>
          <a:p>
            <a:r>
              <a:rPr lang="pt-BR" dirty="0"/>
              <a:t>Uma célula LSTM é composta por </a:t>
            </a:r>
            <a:r>
              <a:rPr lang="pt-BR" b="1" dirty="0">
                <a:solidFill>
                  <a:schemeClr val="accent2"/>
                </a:solidFill>
              </a:rPr>
              <a:t>4 camadas totalmente conectadas</a:t>
            </a:r>
            <a:r>
              <a:rPr lang="pt-BR" dirty="0"/>
              <a:t>, que formam </a:t>
            </a:r>
            <a:r>
              <a:rPr lang="pt-BR" b="1" dirty="0"/>
              <a:t>3 portas</a:t>
            </a:r>
            <a:r>
              <a:rPr lang="pt-BR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i="1" dirty="0" err="1"/>
              <a:t>Forget</a:t>
            </a:r>
            <a:r>
              <a:rPr lang="pt-BR" b="1" i="1" dirty="0"/>
              <a:t> </a:t>
            </a:r>
            <a:r>
              <a:rPr lang="pt-BR" b="1" i="1" dirty="0" err="1"/>
              <a:t>gate</a:t>
            </a:r>
            <a:r>
              <a:rPr lang="pt-BR" dirty="0"/>
              <a:t> (porta de esquecimento)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i="1" dirty="0"/>
              <a:t>Input </a:t>
            </a:r>
            <a:r>
              <a:rPr lang="pt-BR" b="1" i="1" dirty="0" err="1"/>
              <a:t>gate</a:t>
            </a:r>
            <a:r>
              <a:rPr lang="pt-BR" dirty="0"/>
              <a:t> (porta de entrada)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i="1" dirty="0"/>
              <a:t>Output </a:t>
            </a:r>
            <a:r>
              <a:rPr lang="pt-BR" b="1" i="1" dirty="0" err="1"/>
              <a:t>gate</a:t>
            </a:r>
            <a:r>
              <a:rPr lang="pt-BR" dirty="0"/>
              <a:t> (porta de saída)</a:t>
            </a:r>
          </a:p>
          <a:p>
            <a:r>
              <a:rPr lang="pt-BR" dirty="0"/>
              <a:t>A informação na célula é </a:t>
            </a:r>
            <a:r>
              <a:rPr lang="pt-BR" b="1" dirty="0">
                <a:solidFill>
                  <a:srgbClr val="00B050"/>
                </a:solidFill>
              </a:rPr>
              <a:t>protegida e controlada</a:t>
            </a:r>
            <a:r>
              <a:rPr lang="pt-BR" dirty="0"/>
              <a:t> por meio </a:t>
            </a:r>
            <a:r>
              <a:rPr lang="pt-BR" dirty="0" smtClean="0"/>
              <a:t>destas </a:t>
            </a:r>
            <a:r>
              <a:rPr lang="pt-BR" dirty="0"/>
              <a:t>3 portas.</a:t>
            </a:r>
          </a:p>
          <a:p>
            <a:endParaRPr lang="pt-BR" dirty="0"/>
          </a:p>
          <a:p>
            <a:endParaRPr lang="pt-BR" dirty="0"/>
          </a:p>
        </p:txBody>
      </p:sp>
      <p:grpSp>
        <p:nvGrpSpPr>
          <p:cNvPr id="5" name="Grupo 4"/>
          <p:cNvGrpSpPr/>
          <p:nvPr/>
        </p:nvGrpSpPr>
        <p:grpSpPr>
          <a:xfrm>
            <a:off x="635838" y="2424223"/>
            <a:ext cx="5320197" cy="3228140"/>
            <a:chOff x="697831" y="2222745"/>
            <a:chExt cx="5320197" cy="3228140"/>
          </a:xfrm>
        </p:grpSpPr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xmlns="" id="{E0180B18-707C-9189-F385-D0DD145061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831" y="2222745"/>
              <a:ext cx="5320197" cy="3228140"/>
            </a:xfrm>
            <a:prstGeom prst="rect">
              <a:avLst/>
            </a:prstGeom>
          </p:spPr>
        </p:pic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xmlns="" id="{9B1DA347-BBC4-AE49-41A5-6D28C39A35B8}"/>
                </a:ext>
              </a:extLst>
            </p:cNvPr>
            <p:cNvSpPr/>
            <p:nvPr/>
          </p:nvSpPr>
          <p:spPr>
            <a:xfrm>
              <a:off x="1678193" y="2893806"/>
              <a:ext cx="484094" cy="182584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xmlns="" id="{BC6A37ED-D7FF-0A9B-246C-6A1327E19771}"/>
                </a:ext>
              </a:extLst>
            </p:cNvPr>
            <p:cNvSpPr txBox="1"/>
            <p:nvPr/>
          </p:nvSpPr>
          <p:spPr>
            <a:xfrm>
              <a:off x="1371600" y="2361749"/>
              <a:ext cx="109728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dirty="0"/>
                <a:t>Porta de esquecimento</a:t>
              </a:r>
              <a:endParaRPr lang="en-US" sz="1100" dirty="0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xmlns="" id="{D841BE1E-2151-5C15-382E-E4E866E97366}"/>
                </a:ext>
              </a:extLst>
            </p:cNvPr>
            <p:cNvSpPr/>
            <p:nvPr/>
          </p:nvSpPr>
          <p:spPr>
            <a:xfrm>
              <a:off x="2259105" y="3603812"/>
              <a:ext cx="1312433" cy="111584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xmlns="" id="{9FE171E2-98E2-80BF-7246-2FA7AC491881}"/>
                </a:ext>
              </a:extLst>
            </p:cNvPr>
            <p:cNvSpPr txBox="1"/>
            <p:nvPr/>
          </p:nvSpPr>
          <p:spPr>
            <a:xfrm>
              <a:off x="2366681" y="4776881"/>
              <a:ext cx="109728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dirty="0"/>
                <a:t>Porta de entrada</a:t>
              </a:r>
              <a:endParaRPr lang="en-US" sz="1100" dirty="0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xmlns="" id="{B5D41BF3-5175-2D98-868F-9949FD2DD01F}"/>
                </a:ext>
              </a:extLst>
            </p:cNvPr>
            <p:cNvSpPr/>
            <p:nvPr/>
          </p:nvSpPr>
          <p:spPr>
            <a:xfrm>
              <a:off x="3668355" y="3162748"/>
              <a:ext cx="1140313" cy="155690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xmlns="" id="{5690B213-E976-D58E-3664-2CC432FE0432}"/>
                </a:ext>
              </a:extLst>
            </p:cNvPr>
            <p:cNvSpPr txBox="1"/>
            <p:nvPr/>
          </p:nvSpPr>
          <p:spPr>
            <a:xfrm>
              <a:off x="3626869" y="4820825"/>
              <a:ext cx="109728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dirty="0"/>
                <a:t>Porta de saída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919202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C3E673-1103-7EA7-9CAE-C63E5DA9C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Long</a:t>
            </a:r>
            <a:r>
              <a:rPr lang="pt-BR" i="1" dirty="0"/>
              <a:t>-short </a:t>
            </a:r>
            <a:r>
              <a:rPr lang="pt-BR" i="1" dirty="0" err="1"/>
              <a:t>term</a:t>
            </a:r>
            <a:r>
              <a:rPr lang="pt-BR" i="1" dirty="0"/>
              <a:t> </a:t>
            </a:r>
            <a:r>
              <a:rPr lang="pt-BR" i="1" dirty="0" err="1"/>
              <a:t>memory</a:t>
            </a:r>
            <a:r>
              <a:rPr lang="pt-BR" dirty="0"/>
              <a:t> (LSTM)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F6C3165D-F5CE-BE8B-AF39-F79FAD0B84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04854" y="1825624"/>
                <a:ext cx="6287147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Uma célula LSTM possui dois estados: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o estado interno da célula,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pt-BR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e o estado oculto da célula,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/>
                  <a:t> é a memória de longo prazo.</a:t>
                </a:r>
              </a:p>
              <a:p>
                <a:r>
                  <a:rPr lang="pt-B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/>
                  <a:t> é memória de curto prazo e a saída da célula.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C3165D-F5CE-BE8B-AF39-F79FAD0B84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04854" y="1825624"/>
                <a:ext cx="6287147" cy="5032375"/>
              </a:xfrm>
              <a:blipFill>
                <a:blip r:embed="rId2"/>
                <a:stretch>
                  <a:fillRect l="-1746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5">
            <a:extLst>
              <a:ext uri="{FF2B5EF4-FFF2-40B4-BE49-F238E27FC236}">
                <a16:creationId xmlns:a16="http://schemas.microsoft.com/office/drawing/2014/main" xmlns="" id="{E6F33E3F-21F0-98F8-7A75-265BBFA1F4F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88" y="2312161"/>
            <a:ext cx="5131773" cy="315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8177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A6D7632-DD0B-773B-931F-622479528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91B612C-6F65-E184-0E1E-387461C17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as portas funcionam?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CA3812A4-BB08-CF51-52EF-8F212B136A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5670" y="1825624"/>
                <a:ext cx="7106331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As portas são uma forma de </a:t>
                </a:r>
                <a:r>
                  <a:rPr lang="pt-BR" b="1" dirty="0">
                    <a:solidFill>
                      <a:srgbClr val="7030A0"/>
                    </a:solidFill>
                  </a:rPr>
                  <a:t>permitir </a:t>
                </a:r>
                <a:r>
                  <a:rPr lang="pt-BR" dirty="0"/>
                  <a:t>a </a:t>
                </a:r>
                <a:r>
                  <a:rPr lang="pt-BR" b="1" dirty="0">
                    <a:solidFill>
                      <a:srgbClr val="00B050"/>
                    </a:solidFill>
                  </a:rPr>
                  <a:t>passagem ou não de informações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Imaginem uma das 3 camadas </a:t>
                </a:r>
                <a:r>
                  <a:rPr lang="pt-BR" dirty="0" smtClean="0"/>
                  <a:t>com </a:t>
                </a:r>
                <a:r>
                  <a:rPr lang="pt-BR" dirty="0"/>
                  <a:t>função de ativação sigmoide da célula LSTM.</a:t>
                </a:r>
              </a:p>
              <a:p>
                <a:r>
                  <a:rPr lang="pt-BR" dirty="0"/>
                  <a:t>A camada gera um </a:t>
                </a:r>
                <a:r>
                  <a:rPr lang="pt-BR" b="1" dirty="0">
                    <a:solidFill>
                      <a:schemeClr val="accent1"/>
                    </a:solidFill>
                  </a:rPr>
                  <a:t>vetor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/>
                  <a:t>, com </a:t>
                </a:r>
                <a:r>
                  <a:rPr lang="pt-BR" b="1" dirty="0">
                    <a:solidFill>
                      <a:schemeClr val="accent1"/>
                    </a:solidFill>
                  </a:rPr>
                  <a:t>elementos</a:t>
                </a:r>
                <a:r>
                  <a:rPr lang="pt-BR" dirty="0"/>
                  <a:t> </a:t>
                </a:r>
                <a:r>
                  <a:rPr lang="pt-BR" b="1" dirty="0">
                    <a:solidFill>
                      <a:schemeClr val="accent1"/>
                    </a:solidFill>
                  </a:rPr>
                  <a:t>assumindo valores entre 0 e 1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Uma </a:t>
                </a:r>
                <a:r>
                  <a:rPr lang="pt-BR" b="1" dirty="0">
                    <a:solidFill>
                      <a:schemeClr val="accent2"/>
                    </a:solidFill>
                  </a:rPr>
                  <a:t>operação de multiplicação elemento a elemento</a:t>
                </a:r>
                <a:r>
                  <a:rPr lang="pt-BR" dirty="0"/>
                  <a:t> decide </a:t>
                </a:r>
                <a:r>
                  <a:rPr lang="pt-BR" b="1" dirty="0">
                    <a:solidFill>
                      <a:srgbClr val="7030A0"/>
                    </a:solidFill>
                  </a:rPr>
                  <a:t>o quanto da entrada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/>
                  <a:t> passa para a saída,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A porta </a:t>
                </a:r>
                <a:r>
                  <a:rPr lang="pt-BR" b="1" dirty="0">
                    <a:solidFill>
                      <a:srgbClr val="00B050"/>
                    </a:solidFill>
                  </a:rPr>
                  <a:t>aprende</a:t>
                </a:r>
                <a:r>
                  <a:rPr lang="pt-BR" dirty="0"/>
                  <a:t> </a:t>
                </a:r>
                <a:r>
                  <a:rPr lang="pt-BR" dirty="0" smtClean="0"/>
                  <a:t>(através dos </a:t>
                </a:r>
                <a:r>
                  <a:rPr lang="pt-BR" b="1" dirty="0">
                    <a:solidFill>
                      <a:srgbClr val="00B050"/>
                    </a:solidFill>
                  </a:rPr>
                  <a:t>pesos</a:t>
                </a:r>
                <a:r>
                  <a:rPr lang="pt-BR" dirty="0"/>
                  <a:t>) o quanto de cada elemento deve ser permitido passar.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A3812A4-BB08-CF51-52EF-8F212B136A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5670" y="1825624"/>
                <a:ext cx="7106331" cy="5032375"/>
              </a:xfrm>
              <a:blipFill rotWithShape="0">
                <a:blip r:embed="rId3"/>
                <a:stretch>
                  <a:fillRect l="-1544" t="-1937" r="-188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xmlns="" id="{070CEDC2-429E-FD22-6690-830CD30AF0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4853161"/>
              </p:ext>
            </p:extLst>
          </p:nvPr>
        </p:nvGraphicFramePr>
        <p:xfrm>
          <a:off x="838200" y="4746082"/>
          <a:ext cx="684618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4618">
                  <a:extLst>
                    <a:ext uri="{9D8B030D-6E8A-4147-A177-3AD203B41FA5}">
                      <a16:colId xmlns:a16="http://schemas.microsoft.com/office/drawing/2014/main" xmlns="" val="37986754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0.58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934049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-0.32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183629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656619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1.24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751490427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xmlns="" id="{8B26B905-DC25-9DA7-2367-B16D6608B5DA}"/>
              </a:ext>
            </a:extLst>
          </p:cNvPr>
          <p:cNvSpPr/>
          <p:nvPr/>
        </p:nvSpPr>
        <p:spPr>
          <a:xfrm>
            <a:off x="1748784" y="5351237"/>
            <a:ext cx="273050" cy="2730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x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xmlns="" id="{5E348D4B-93D4-C098-7AF9-B153BE1F7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1257650"/>
              </p:ext>
            </p:extLst>
          </p:nvPr>
        </p:nvGraphicFramePr>
        <p:xfrm>
          <a:off x="2247800" y="4746082"/>
          <a:ext cx="684618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4618">
                  <a:extLst>
                    <a:ext uri="{9D8B030D-6E8A-4147-A177-3AD203B41FA5}">
                      <a16:colId xmlns:a16="http://schemas.microsoft.com/office/drawing/2014/main" xmlns="" val="37986754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934049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0.99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183629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0.01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656619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0.95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75149042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32B1D0E7-53E6-C236-1C2B-B2CE4AE3DE25}"/>
              </a:ext>
            </a:extLst>
          </p:cNvPr>
          <p:cNvSpPr txBox="1"/>
          <p:nvPr/>
        </p:nvSpPr>
        <p:spPr>
          <a:xfrm>
            <a:off x="3045720" y="519537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=</a:t>
            </a:r>
            <a:endParaRPr lang="en-US" sz="3200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xmlns="" id="{01F8917B-8816-341A-558C-A1CAEB0704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5979028"/>
              </p:ext>
            </p:extLst>
          </p:nvPr>
        </p:nvGraphicFramePr>
        <p:xfrm>
          <a:off x="3548871" y="4746082"/>
          <a:ext cx="920346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0346">
                  <a:extLst>
                    <a:ext uri="{9D8B030D-6E8A-4147-A177-3AD203B41FA5}">
                      <a16:colId xmlns:a16="http://schemas.microsoft.com/office/drawing/2014/main" xmlns="" val="37986754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0.116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934049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-0.3168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183629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0.001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656619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1.178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75149042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="" id="{53BADD3D-2C82-CCC1-B891-BEB0379E4781}"/>
                  </a:ext>
                </a:extLst>
              </p:cNvPr>
              <p:cNvSpPr txBox="1"/>
              <p:nvPr/>
            </p:nvSpPr>
            <p:spPr>
              <a:xfrm>
                <a:off x="951312" y="4318900"/>
                <a:ext cx="4583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3BADD3D-2C82-CCC1-B891-BEB0379E47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312" y="4318900"/>
                <a:ext cx="45839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xmlns="" id="{BF8D9E77-C242-804E-69C9-0B2514AE0614}"/>
                  </a:ext>
                </a:extLst>
              </p:cNvPr>
              <p:cNvSpPr txBox="1"/>
              <p:nvPr/>
            </p:nvSpPr>
            <p:spPr>
              <a:xfrm>
                <a:off x="2366605" y="4324531"/>
                <a:ext cx="4808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F8D9E77-C242-804E-69C9-0B2514AE0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6605" y="4324531"/>
                <a:ext cx="480836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xmlns="" id="{98D3637C-D10A-1278-EAC9-E3EAAC103B78}"/>
                  </a:ext>
                </a:extLst>
              </p:cNvPr>
              <p:cNvSpPr txBox="1"/>
              <p:nvPr/>
            </p:nvSpPr>
            <p:spPr>
              <a:xfrm>
                <a:off x="3821137" y="4318900"/>
                <a:ext cx="4632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8D3637C-D10A-1278-EAC9-E3EAAC103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137" y="4318900"/>
                <a:ext cx="463204" cy="369332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m 4">
            <a:extLst>
              <a:ext uri="{FF2B5EF4-FFF2-40B4-BE49-F238E27FC236}">
                <a16:creationId xmlns:a16="http://schemas.microsoft.com/office/drawing/2014/main" xmlns="" id="{BB5F7986-EAE8-359B-3AAD-10594FC9B15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98434"/>
            <a:ext cx="3552340" cy="183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7501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Long</a:t>
            </a:r>
            <a:r>
              <a:rPr lang="pt-BR" i="1" dirty="0"/>
              <a:t>-short </a:t>
            </a:r>
            <a:r>
              <a:rPr lang="pt-BR" i="1" dirty="0" err="1"/>
              <a:t>term</a:t>
            </a:r>
            <a:r>
              <a:rPr lang="pt-BR" i="1" dirty="0"/>
              <a:t> </a:t>
            </a:r>
            <a:r>
              <a:rPr lang="pt-BR" i="1" dirty="0" err="1"/>
              <a:t>memory</a:t>
            </a:r>
            <a:r>
              <a:rPr lang="pt-BR" dirty="0"/>
              <a:t> (LSTM)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5741381" y="1825624"/>
                <a:ext cx="6450619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A </a:t>
                </a:r>
                <a:r>
                  <a:rPr lang="pt-BR" b="1" dirty="0">
                    <a:solidFill>
                      <a:schemeClr val="accent1"/>
                    </a:solidFill>
                  </a:rPr>
                  <a:t>porta de esquecimento</a:t>
                </a:r>
                <a:r>
                  <a:rPr lang="pt-BR" dirty="0">
                    <a:solidFill>
                      <a:schemeClr val="tx1"/>
                    </a:solidFill>
                  </a:rPr>
                  <a:t> (controlada pelo vetor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) controla </a:t>
                </a:r>
                <a:r>
                  <a:rPr lang="pt-BR" b="1" dirty="0">
                    <a:solidFill>
                      <a:schemeClr val="accent2"/>
                    </a:solidFill>
                  </a:rPr>
                  <a:t>quais partes </a:t>
                </a:r>
                <a:r>
                  <a:rPr lang="pt-BR" dirty="0">
                    <a:solidFill>
                      <a:schemeClr val="tx1"/>
                    </a:solidFill>
                  </a:rPr>
                  <a:t>da </a:t>
                </a:r>
                <a:r>
                  <a:rPr lang="pt-BR" b="1" dirty="0">
                    <a:solidFill>
                      <a:srgbClr val="7030A0"/>
                    </a:solidFill>
                  </a:rPr>
                  <a:t>informação passada</a:t>
                </a:r>
                <a:r>
                  <a:rPr lang="pt-BR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, devem ser </a:t>
                </a:r>
                <a:r>
                  <a:rPr lang="pt-BR" b="1" dirty="0">
                    <a:solidFill>
                      <a:srgbClr val="00B050"/>
                    </a:solidFill>
                  </a:rPr>
                  <a:t>apagadas ou mantidas</a:t>
                </a:r>
                <a:r>
                  <a:rPr lang="pt-BR" dirty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pt-BR" dirty="0"/>
                  <a:t>A </a:t>
                </a:r>
                <a:r>
                  <a:rPr lang="pt-BR" b="1" dirty="0">
                    <a:solidFill>
                      <a:schemeClr val="accent1"/>
                    </a:solidFill>
                  </a:rPr>
                  <a:t>porta de entrada</a:t>
                </a:r>
                <a:r>
                  <a:rPr lang="pt-BR" dirty="0">
                    <a:solidFill>
                      <a:schemeClr val="tx1"/>
                    </a:solidFill>
                  </a:rPr>
                  <a:t> (controlada pelo vetor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) controla </a:t>
                </a:r>
                <a:r>
                  <a:rPr lang="pt-BR" b="1" dirty="0">
                    <a:solidFill>
                      <a:schemeClr val="accent2"/>
                    </a:solidFill>
                  </a:rPr>
                  <a:t>quais partes </a:t>
                </a:r>
                <a:r>
                  <a:rPr lang="pt-BR" dirty="0"/>
                  <a:t>de </a:t>
                </a:r>
                <a:r>
                  <a:rPr lang="pt-BR" b="1" dirty="0">
                    <a:solidFill>
                      <a:srgbClr val="7030A0"/>
                    </a:solidFill>
                  </a:rPr>
                  <a:t>novas informações (memórias)</a:t>
                </a:r>
                <a:r>
                  <a:rPr lang="pt-BR" dirty="0"/>
                  <a:t>,</a:t>
                </a:r>
                <a:r>
                  <a:rPr lang="pt-BR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</m:acc>
                      </m:e>
                      <m:sub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, devem ser </a:t>
                </a:r>
                <a:r>
                  <a:rPr lang="pt-BR" b="1" dirty="0">
                    <a:solidFill>
                      <a:srgbClr val="00B050"/>
                    </a:solidFill>
                  </a:rPr>
                  <a:t>adicionadas</a:t>
                </a:r>
                <a:r>
                  <a:rPr lang="pt-BR" dirty="0">
                    <a:solidFill>
                      <a:schemeClr val="tx1"/>
                    </a:solidFill>
                  </a:rPr>
                  <a:t> 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pt-BR" dirty="0"/>
                  <a:t>A </a:t>
                </a:r>
                <a:r>
                  <a:rPr lang="pt-BR" b="1" dirty="0">
                    <a:solidFill>
                      <a:schemeClr val="accent1"/>
                    </a:solidFill>
                  </a:rPr>
                  <a:t>porta de saída</a:t>
                </a:r>
                <a:r>
                  <a:rPr lang="pt-BR" dirty="0">
                    <a:solidFill>
                      <a:schemeClr val="tx1"/>
                    </a:solidFill>
                  </a:rPr>
                  <a:t> (controlada pelo vetor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𝒐</m:t>
                        </m:r>
                      </m:e>
                      <m:sub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) controla </a:t>
                </a:r>
                <a:r>
                  <a:rPr lang="pt-BR" b="1" dirty="0">
                    <a:solidFill>
                      <a:schemeClr val="accent2"/>
                    </a:solidFill>
                  </a:rPr>
                  <a:t>quais partes </a:t>
                </a:r>
                <a:r>
                  <a:rPr lang="pt-BR" dirty="0">
                    <a:solidFill>
                      <a:schemeClr val="tx1"/>
                    </a:solidFill>
                  </a:rPr>
                  <a:t>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pt-BR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 devem ser </a:t>
                </a:r>
                <a:r>
                  <a:rPr lang="pt-BR" b="1" dirty="0">
                    <a:solidFill>
                      <a:srgbClr val="00B050"/>
                    </a:solidFill>
                  </a:rPr>
                  <a:t>expostas </a:t>
                </a:r>
                <a:r>
                  <a:rPr lang="pt-BR" b="1" dirty="0" smtClean="0">
                    <a:solidFill>
                      <a:srgbClr val="00B050"/>
                    </a:solidFill>
                  </a:rPr>
                  <a:t>na saída</a:t>
                </a:r>
                <a:r>
                  <a:rPr lang="pt-BR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41381" y="1825624"/>
                <a:ext cx="6450619" cy="5032375"/>
              </a:xfrm>
              <a:blipFill rotWithShape="0">
                <a:blip r:embed="rId3"/>
                <a:stretch>
                  <a:fillRect l="-1701" t="-1937" r="-302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upo 3"/>
          <p:cNvGrpSpPr/>
          <p:nvPr/>
        </p:nvGrpSpPr>
        <p:grpSpPr>
          <a:xfrm>
            <a:off x="336708" y="2419245"/>
            <a:ext cx="5133277" cy="3164098"/>
            <a:chOff x="584681" y="2224681"/>
            <a:chExt cx="5133277" cy="3164098"/>
          </a:xfrm>
        </p:grpSpPr>
        <p:pic>
          <p:nvPicPr>
            <p:cNvPr id="5" name="Imagem 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681" y="2224681"/>
              <a:ext cx="5133277" cy="3164098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xmlns="" id="{5B538100-869E-9015-E39A-A1340D4D0515}"/>
                </a:ext>
              </a:extLst>
            </p:cNvPr>
            <p:cNvSpPr/>
            <p:nvPr/>
          </p:nvSpPr>
          <p:spPr>
            <a:xfrm>
              <a:off x="1627322" y="2893806"/>
              <a:ext cx="534965" cy="182584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xmlns="" id="{45DD632F-0686-568D-5F9B-260BA967E010}"/>
                </a:ext>
              </a:extLst>
            </p:cNvPr>
            <p:cNvSpPr txBox="1"/>
            <p:nvPr/>
          </p:nvSpPr>
          <p:spPr>
            <a:xfrm>
              <a:off x="1371600" y="2361749"/>
              <a:ext cx="109728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dirty="0"/>
                <a:t>Porta de esquecimento</a:t>
              </a:r>
              <a:endParaRPr lang="en-US" sz="1100" dirty="0"/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xmlns="" id="{AA82173B-E627-D5F4-C24A-C8EFB8591AF2}"/>
                </a:ext>
              </a:extLst>
            </p:cNvPr>
            <p:cNvSpPr/>
            <p:nvPr/>
          </p:nvSpPr>
          <p:spPr>
            <a:xfrm>
              <a:off x="2259105" y="3456122"/>
              <a:ext cx="1312433" cy="126353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xmlns="" id="{B738DFC6-B08A-BCAF-A6DC-558964B054EF}"/>
                </a:ext>
              </a:extLst>
            </p:cNvPr>
            <p:cNvSpPr txBox="1"/>
            <p:nvPr/>
          </p:nvSpPr>
          <p:spPr>
            <a:xfrm>
              <a:off x="2366681" y="4776881"/>
              <a:ext cx="109728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dirty="0"/>
                <a:t>Porta de entrada</a:t>
              </a:r>
              <a:endParaRPr lang="en-US" sz="1100" dirty="0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xmlns="" id="{724DFD49-F8A1-B391-4C4D-9D392820E8F5}"/>
                </a:ext>
              </a:extLst>
            </p:cNvPr>
            <p:cNvSpPr/>
            <p:nvPr/>
          </p:nvSpPr>
          <p:spPr>
            <a:xfrm>
              <a:off x="3652858" y="3192651"/>
              <a:ext cx="1140312" cy="152700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xmlns="" id="{256C62AF-7481-CE0B-1BB2-B4A93CE957B9}"/>
                </a:ext>
              </a:extLst>
            </p:cNvPr>
            <p:cNvSpPr txBox="1"/>
            <p:nvPr/>
          </p:nvSpPr>
          <p:spPr>
            <a:xfrm>
              <a:off x="3626869" y="4820825"/>
              <a:ext cx="109728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dirty="0"/>
                <a:t>Porta de saída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7727670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6586379-E466-E661-270D-8BE5BF3F1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580765-C6E3-77E8-073B-A8B3F6BA3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as portas funcionam?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8B06E7DB-3A45-270A-379C-5B53CF58BB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67375" y="1825624"/>
                <a:ext cx="6400800" cy="5032375"/>
              </a:xfrm>
            </p:spPr>
            <p:txBody>
              <a:bodyPr>
                <a:normAutofit/>
              </a:bodyPr>
              <a:lstStyle/>
              <a:p>
                <a:r>
                  <a:rPr lang="pt-BR" b="1" dirty="0"/>
                  <a:t>Porta de entrada</a:t>
                </a:r>
                <a:r>
                  <a:rPr lang="pt-BR" dirty="0"/>
                  <a:t>: uma </a:t>
                </a:r>
                <a:r>
                  <a:rPr lang="pt-BR" b="1" dirty="0">
                    <a:solidFill>
                      <a:srgbClr val="00B050"/>
                    </a:solidFill>
                  </a:rPr>
                  <a:t>nova informação</a:t>
                </a:r>
                <a:r>
                  <a:rPr lang="pt-BR" dirty="0"/>
                  <a:t> é </a:t>
                </a:r>
                <a:r>
                  <a:rPr lang="pt-BR" b="1" dirty="0">
                    <a:solidFill>
                      <a:srgbClr val="7030A0"/>
                    </a:solidFill>
                  </a:rPr>
                  <a:t>adicionada</a:t>
                </a:r>
                <a:r>
                  <a:rPr lang="pt-BR" dirty="0"/>
                  <a:t> à </a:t>
                </a:r>
                <a:r>
                  <a:rPr lang="pt-BR" b="1" dirty="0">
                    <a:solidFill>
                      <a:schemeClr val="accent1"/>
                    </a:solidFill>
                  </a:rPr>
                  <a:t>memória de longo prazo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pt-BR" dirty="0"/>
                  <a:t>, sempre que </a:t>
                </a:r>
                <a:r>
                  <a:rPr lang="pt-BR" b="1" dirty="0">
                    <a:solidFill>
                      <a:schemeClr val="accent2"/>
                    </a:solidFill>
                  </a:rPr>
                  <a:t>um elemento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pt-BR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pt-BR" b="1" dirty="0">
                    <a:solidFill>
                      <a:schemeClr val="accent2"/>
                    </a:solidFill>
                  </a:rPr>
                  <a:t> tender a 1</a:t>
                </a:r>
                <a:r>
                  <a:rPr lang="pt-BR" dirty="0"/>
                  <a:t>.</a:t>
                </a:r>
              </a:p>
              <a:p>
                <a:r>
                  <a:rPr lang="pt-BR" b="1" dirty="0"/>
                  <a:t>Porta de esquecimento</a:t>
                </a:r>
                <a:r>
                  <a:rPr lang="pt-BR" dirty="0"/>
                  <a:t>: uma </a:t>
                </a:r>
                <a:r>
                  <a:rPr lang="pt-BR" b="1" dirty="0">
                    <a:solidFill>
                      <a:srgbClr val="00B050"/>
                    </a:solidFill>
                  </a:rPr>
                  <a:t>informação de longo prazo</a:t>
                </a:r>
                <a:r>
                  <a:rPr lang="pt-BR" dirty="0"/>
                  <a:t> é </a:t>
                </a:r>
                <a:r>
                  <a:rPr lang="pt-BR" b="1" dirty="0">
                    <a:solidFill>
                      <a:srgbClr val="7030A0"/>
                    </a:solidFill>
                  </a:rPr>
                  <a:t>descartada</a:t>
                </a:r>
                <a:r>
                  <a:rPr lang="pt-BR" dirty="0"/>
                  <a:t> da </a:t>
                </a:r>
                <a:r>
                  <a:rPr lang="pt-BR" b="1" dirty="0">
                    <a:solidFill>
                      <a:schemeClr val="accent1"/>
                    </a:solidFill>
                  </a:rPr>
                  <a:t>memória de longo prazo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pt-BR" dirty="0"/>
                  <a:t>, sempre que </a:t>
                </a:r>
                <a:r>
                  <a:rPr lang="pt-BR" b="1" dirty="0">
                    <a:solidFill>
                      <a:schemeClr val="accent2"/>
                    </a:solidFill>
                  </a:rPr>
                  <a:t>um elemento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pt-BR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pt-BR" b="1" dirty="0">
                    <a:solidFill>
                      <a:schemeClr val="accent2"/>
                    </a:solidFill>
                  </a:rPr>
                  <a:t> tender a 0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06E7DB-3A45-270A-379C-5B53CF58BB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67375" y="1825624"/>
                <a:ext cx="6400800" cy="5032375"/>
              </a:xfrm>
              <a:blipFill>
                <a:blip r:embed="rId3"/>
                <a:stretch>
                  <a:fillRect l="-1714" t="-1937" r="-2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upo 3">
            <a:extLst>
              <a:ext uri="{FF2B5EF4-FFF2-40B4-BE49-F238E27FC236}">
                <a16:creationId xmlns:a16="http://schemas.microsoft.com/office/drawing/2014/main" xmlns="" id="{28925255-2033-E562-5006-471EA9D29CCE}"/>
              </a:ext>
            </a:extLst>
          </p:cNvPr>
          <p:cNvGrpSpPr/>
          <p:nvPr/>
        </p:nvGrpSpPr>
        <p:grpSpPr>
          <a:xfrm>
            <a:off x="131225" y="2429518"/>
            <a:ext cx="5133277" cy="3164098"/>
            <a:chOff x="584681" y="2224681"/>
            <a:chExt cx="5133277" cy="316409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xmlns="" id="{EC25FC48-58E7-B559-5B12-596F007AAE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681" y="2224681"/>
              <a:ext cx="5133277" cy="3164098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xmlns="" id="{C3E50261-8EF0-729C-2E8C-D20829E397C2}"/>
                </a:ext>
              </a:extLst>
            </p:cNvPr>
            <p:cNvSpPr/>
            <p:nvPr/>
          </p:nvSpPr>
          <p:spPr>
            <a:xfrm>
              <a:off x="1627322" y="2893806"/>
              <a:ext cx="534965" cy="182584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xmlns="" id="{46FD26D3-71D3-A60C-E0EE-CA25D27B76AD}"/>
                </a:ext>
              </a:extLst>
            </p:cNvPr>
            <p:cNvSpPr txBox="1"/>
            <p:nvPr/>
          </p:nvSpPr>
          <p:spPr>
            <a:xfrm>
              <a:off x="1371600" y="2361749"/>
              <a:ext cx="109728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dirty="0"/>
                <a:t>Porta de esquecimento</a:t>
              </a:r>
              <a:endParaRPr lang="en-US" sz="1100" dirty="0"/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xmlns="" id="{FF90DD8F-312C-6128-D7F9-6758A78D3E05}"/>
                </a:ext>
              </a:extLst>
            </p:cNvPr>
            <p:cNvSpPr/>
            <p:nvPr/>
          </p:nvSpPr>
          <p:spPr>
            <a:xfrm>
              <a:off x="2259105" y="3456122"/>
              <a:ext cx="1312433" cy="126353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xmlns="" id="{B822F81E-E7E9-78B7-979D-5948EDFFFE01}"/>
                </a:ext>
              </a:extLst>
            </p:cNvPr>
            <p:cNvSpPr txBox="1"/>
            <p:nvPr/>
          </p:nvSpPr>
          <p:spPr>
            <a:xfrm>
              <a:off x="2366681" y="4776881"/>
              <a:ext cx="109728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dirty="0"/>
                <a:t>Porta de entrada</a:t>
              </a:r>
              <a:endParaRPr lang="en-US" sz="1100" dirty="0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xmlns="" id="{6D604DA9-1158-4638-9555-AC2DFEC3B7FE}"/>
                </a:ext>
              </a:extLst>
            </p:cNvPr>
            <p:cNvSpPr/>
            <p:nvPr/>
          </p:nvSpPr>
          <p:spPr>
            <a:xfrm>
              <a:off x="3652858" y="3192651"/>
              <a:ext cx="1140312" cy="152700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xmlns="" id="{BF5BE9D3-9B2F-4871-C5F9-B471DE6FFE8F}"/>
                </a:ext>
              </a:extLst>
            </p:cNvPr>
            <p:cNvSpPr txBox="1"/>
            <p:nvPr/>
          </p:nvSpPr>
          <p:spPr>
            <a:xfrm>
              <a:off x="3626869" y="4820825"/>
              <a:ext cx="109728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dirty="0"/>
                <a:t>Porta de saída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801053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E1FD865-7758-8250-A67E-67962788E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87E05B-91D0-82AC-6DC0-9D016FC4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as portas funcionam?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2768F3B9-2D69-B2FC-20A9-E2305A81CE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72125" y="1825624"/>
                <a:ext cx="6496049" cy="5032375"/>
              </a:xfrm>
            </p:spPr>
            <p:txBody>
              <a:bodyPr>
                <a:normAutofit/>
              </a:bodyPr>
              <a:lstStyle/>
              <a:p>
                <a:r>
                  <a:rPr lang="pt-BR" b="1" dirty="0"/>
                  <a:t>Porta de saída</a:t>
                </a:r>
                <a:r>
                  <a:rPr lang="pt-BR" dirty="0"/>
                  <a:t>: </a:t>
                </a:r>
                <a:r>
                  <a:rPr lang="pt-BR" b="1" dirty="0">
                    <a:solidFill>
                      <a:srgbClr val="00B050"/>
                    </a:solidFill>
                  </a:rPr>
                  <a:t>uma informação de longo prazo</a:t>
                </a:r>
                <a:r>
                  <a:rPr lang="pt-BR" dirty="0"/>
                  <a:t> é </a:t>
                </a:r>
                <a:r>
                  <a:rPr lang="pt-BR" b="1" dirty="0">
                    <a:solidFill>
                      <a:srgbClr val="7030A0"/>
                    </a:solidFill>
                  </a:rPr>
                  <a:t>exposta</a:t>
                </a:r>
                <a:r>
                  <a:rPr lang="pt-BR" dirty="0"/>
                  <a:t> na </a:t>
                </a:r>
                <a:r>
                  <a:rPr lang="pt-BR" b="1" dirty="0">
                    <a:solidFill>
                      <a:schemeClr val="accent1"/>
                    </a:solidFill>
                  </a:rPr>
                  <a:t>saída da célula</a:t>
                </a:r>
                <a:r>
                  <a:rPr lang="pt-BR" dirty="0"/>
                  <a:t> sempre que </a:t>
                </a:r>
                <a:r>
                  <a:rPr lang="pt-BR" b="1" dirty="0">
                    <a:solidFill>
                      <a:schemeClr val="accent2"/>
                    </a:solidFill>
                  </a:rPr>
                  <a:t>um elemento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𝒐</m:t>
                        </m:r>
                      </m:e>
                      <m:sub>
                        <m:r>
                          <a:rPr lang="pt-BR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pt-BR" b="1" dirty="0">
                    <a:solidFill>
                      <a:schemeClr val="accent2"/>
                    </a:solidFill>
                  </a:rPr>
                  <a:t> tender a 1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Em resumo, uma </a:t>
                </a:r>
                <a:r>
                  <a:rPr lang="pt-BR" b="1" dirty="0">
                    <a:solidFill>
                      <a:schemeClr val="accent1"/>
                    </a:solidFill>
                  </a:rPr>
                  <a:t>célula</a:t>
                </a:r>
                <a:r>
                  <a:rPr lang="pt-BR" dirty="0"/>
                  <a:t> LSTM </a:t>
                </a:r>
                <a:r>
                  <a:rPr lang="pt-BR" b="1" dirty="0">
                    <a:solidFill>
                      <a:schemeClr val="accent1"/>
                    </a:solidFill>
                  </a:rPr>
                  <a:t>aprende a reconhecer</a:t>
                </a:r>
                <a:r>
                  <a:rPr lang="pt-BR" dirty="0"/>
                  <a:t> uma </a:t>
                </a:r>
                <a:r>
                  <a:rPr lang="pt-BR" b="1" dirty="0">
                    <a:solidFill>
                      <a:srgbClr val="00B050"/>
                    </a:solidFill>
                  </a:rPr>
                  <a:t>informação importante</a:t>
                </a:r>
                <a:r>
                  <a:rPr lang="pt-BR" dirty="0"/>
                  <a:t>, </a:t>
                </a:r>
                <a:r>
                  <a:rPr lang="pt-BR" b="1" dirty="0">
                    <a:solidFill>
                      <a:srgbClr val="00B050"/>
                    </a:solidFill>
                  </a:rPr>
                  <a:t>armazená-la</a:t>
                </a:r>
                <a:r>
                  <a:rPr lang="pt-BR" dirty="0"/>
                  <a:t> no estado de longo prazo, </a:t>
                </a:r>
                <a:r>
                  <a:rPr lang="pt-BR" b="1" dirty="0">
                    <a:solidFill>
                      <a:srgbClr val="00B050"/>
                    </a:solidFill>
                  </a:rPr>
                  <a:t>preservá-la</a:t>
                </a:r>
                <a:r>
                  <a:rPr lang="pt-BR" dirty="0"/>
                  <a:t> pelo tempo que for necessário e </a:t>
                </a:r>
                <a:r>
                  <a:rPr lang="pt-BR" b="1" dirty="0">
                    <a:solidFill>
                      <a:srgbClr val="00B050"/>
                    </a:solidFill>
                  </a:rPr>
                  <a:t>expô-la</a:t>
                </a:r>
                <a:r>
                  <a:rPr lang="pt-BR" dirty="0"/>
                  <a:t> sempre que necessário.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68F3B9-2D69-B2FC-20A9-E2305A81CE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72125" y="1825624"/>
                <a:ext cx="6496049" cy="5032375"/>
              </a:xfrm>
              <a:blipFill>
                <a:blip r:embed="rId3"/>
                <a:stretch>
                  <a:fillRect l="-1689" t="-1937" r="-26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upo 3">
            <a:extLst>
              <a:ext uri="{FF2B5EF4-FFF2-40B4-BE49-F238E27FC236}">
                <a16:creationId xmlns:a16="http://schemas.microsoft.com/office/drawing/2014/main" xmlns="" id="{30A49084-94B6-B8E7-59B3-CC070B24B2C0}"/>
              </a:ext>
            </a:extLst>
          </p:cNvPr>
          <p:cNvGrpSpPr/>
          <p:nvPr/>
        </p:nvGrpSpPr>
        <p:grpSpPr>
          <a:xfrm>
            <a:off x="131225" y="2429518"/>
            <a:ext cx="5133277" cy="3164098"/>
            <a:chOff x="584681" y="2224681"/>
            <a:chExt cx="5133277" cy="316409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xmlns="" id="{253079B4-18BC-BF80-BE7B-CE83181297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681" y="2224681"/>
              <a:ext cx="5133277" cy="3164098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xmlns="" id="{E4B9BA39-662D-46CA-6EB3-1A11A0E5E48C}"/>
                </a:ext>
              </a:extLst>
            </p:cNvPr>
            <p:cNvSpPr/>
            <p:nvPr/>
          </p:nvSpPr>
          <p:spPr>
            <a:xfrm>
              <a:off x="1627322" y="2893806"/>
              <a:ext cx="534965" cy="182584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xmlns="" id="{C3885B0C-C367-A49E-C294-BC6208B0CBEA}"/>
                </a:ext>
              </a:extLst>
            </p:cNvPr>
            <p:cNvSpPr txBox="1"/>
            <p:nvPr/>
          </p:nvSpPr>
          <p:spPr>
            <a:xfrm>
              <a:off x="1371600" y="2361749"/>
              <a:ext cx="109728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dirty="0"/>
                <a:t>Porta de esquecimento</a:t>
              </a:r>
              <a:endParaRPr lang="en-US" sz="1100" dirty="0"/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xmlns="" id="{DEECB2F0-6815-65A7-784A-725403118CDC}"/>
                </a:ext>
              </a:extLst>
            </p:cNvPr>
            <p:cNvSpPr/>
            <p:nvPr/>
          </p:nvSpPr>
          <p:spPr>
            <a:xfrm>
              <a:off x="2259105" y="3456122"/>
              <a:ext cx="1312433" cy="126353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xmlns="" id="{A0AD30D6-6C15-8675-00A9-F79CE9B8FB1A}"/>
                </a:ext>
              </a:extLst>
            </p:cNvPr>
            <p:cNvSpPr txBox="1"/>
            <p:nvPr/>
          </p:nvSpPr>
          <p:spPr>
            <a:xfrm>
              <a:off x="2366681" y="4776881"/>
              <a:ext cx="109728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dirty="0"/>
                <a:t>Porta de entrada</a:t>
              </a:r>
              <a:endParaRPr lang="en-US" sz="1100" dirty="0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xmlns="" id="{276E1BF6-AAEA-804C-8249-ACF259021E97}"/>
                </a:ext>
              </a:extLst>
            </p:cNvPr>
            <p:cNvSpPr/>
            <p:nvPr/>
          </p:nvSpPr>
          <p:spPr>
            <a:xfrm>
              <a:off x="3652858" y="3192651"/>
              <a:ext cx="1140312" cy="152700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xmlns="" id="{E176483C-CF62-64B2-3BAE-3BC5ACE74909}"/>
                </a:ext>
              </a:extLst>
            </p:cNvPr>
            <p:cNvSpPr txBox="1"/>
            <p:nvPr/>
          </p:nvSpPr>
          <p:spPr>
            <a:xfrm>
              <a:off x="3626869" y="4820825"/>
              <a:ext cx="109728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dirty="0"/>
                <a:t>Porta de saída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36944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A9546B0-E611-8DE0-67E8-AC0E006F9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Dinâmica das portas em uma célula LSTM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EE102919-44DD-475F-D93A-6A393403DF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61320" y="1825624"/>
                <a:ext cx="6809755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/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/>
                  <a:t> for sempre </a:t>
                </a:r>
                <a:r>
                  <a:rPr lang="pt-BR" b="1" dirty="0"/>
                  <a:t>1</a:t>
                </a:r>
                <a:r>
                  <a:rPr lang="pt-BR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/>
                  <a:t> for sempre </a:t>
                </a:r>
                <a:r>
                  <a:rPr lang="pt-BR" b="1" dirty="0"/>
                  <a:t>0</a:t>
                </a:r>
                <a:r>
                  <a:rPr lang="pt-BR" dirty="0"/>
                  <a:t>, então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  <a:p>
                <a:r>
                  <a:rPr lang="pt-BR" dirty="0"/>
                  <a:t>Ou seja, o </a:t>
                </a:r>
                <a:r>
                  <a:rPr lang="pt-BR" b="1" dirty="0"/>
                  <a:t>estado interno da célula</a:t>
                </a:r>
                <a:r>
                  <a:rPr lang="pt-BR" dirty="0"/>
                  <a:t> </a:t>
                </a:r>
                <a:r>
                  <a:rPr lang="pt-BR" b="1" dirty="0">
                    <a:solidFill>
                      <a:srgbClr val="00B050"/>
                    </a:solidFill>
                  </a:rPr>
                  <a:t>permanecerá constante para sempre</a:t>
                </a:r>
                <a:r>
                  <a:rPr lang="pt-BR" dirty="0"/>
                  <a:t>, passando inalterado para cada passo de tempo subsequente.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É assim que a memória de longo prazo é mantida.</a:t>
                </a:r>
              </a:p>
              <a:p>
                <a:r>
                  <a:rPr lang="pt-BR" dirty="0" smtClean="0"/>
                  <a:t>Assim, </a:t>
                </a:r>
                <a:r>
                  <a:rPr lang="pt-BR" dirty="0"/>
                  <a:t>as </a:t>
                </a:r>
                <a:r>
                  <a:rPr lang="pt-BR" b="1" dirty="0">
                    <a:solidFill>
                      <a:schemeClr val="accent2"/>
                    </a:solidFill>
                  </a:rPr>
                  <a:t>portas de entrada e de esquecimento</a:t>
                </a:r>
                <a:r>
                  <a:rPr lang="pt-BR" dirty="0"/>
                  <a:t> dão ao modelo a </a:t>
                </a:r>
                <a:r>
                  <a:rPr lang="pt-BR" b="1" dirty="0">
                    <a:solidFill>
                      <a:srgbClr val="7030A0"/>
                    </a:solidFill>
                  </a:rPr>
                  <a:t>capacidade de aprender quando (e o quanto) manter ou não</a:t>
                </a:r>
                <a:r>
                  <a:rPr lang="pt-BR" dirty="0"/>
                  <a:t> esse valor inalterado em resposta a entradas subsequentes.</a:t>
                </a:r>
                <a:endParaRPr lang="en-US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E102919-44DD-475F-D93A-6A393403DF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61320" y="1825624"/>
                <a:ext cx="6809755" cy="5032375"/>
              </a:xfrm>
              <a:blipFill rotWithShape="0">
                <a:blip r:embed="rId2"/>
                <a:stretch>
                  <a:fillRect l="-1610" t="-2663" r="-196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upo 3">
            <a:extLst>
              <a:ext uri="{FF2B5EF4-FFF2-40B4-BE49-F238E27FC236}">
                <a16:creationId xmlns:a16="http://schemas.microsoft.com/office/drawing/2014/main" xmlns="" id="{177CA027-CFCC-FCF8-FD37-50222E2DAA65}"/>
              </a:ext>
            </a:extLst>
          </p:cNvPr>
          <p:cNvGrpSpPr/>
          <p:nvPr/>
        </p:nvGrpSpPr>
        <p:grpSpPr>
          <a:xfrm>
            <a:off x="131225" y="2429518"/>
            <a:ext cx="5133277" cy="3164098"/>
            <a:chOff x="584681" y="2224681"/>
            <a:chExt cx="5133277" cy="316409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xmlns="" id="{32060EE7-289F-5B75-AB76-73E333DE63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681" y="2224681"/>
              <a:ext cx="5133277" cy="3164098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xmlns="" id="{56302AEA-37ED-B440-6221-CCAC9091219A}"/>
                </a:ext>
              </a:extLst>
            </p:cNvPr>
            <p:cNvSpPr/>
            <p:nvPr/>
          </p:nvSpPr>
          <p:spPr>
            <a:xfrm>
              <a:off x="1627322" y="2893806"/>
              <a:ext cx="534965" cy="182584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xmlns="" id="{31C094EB-7488-FB9B-1E9C-03B1C6C799F0}"/>
                </a:ext>
              </a:extLst>
            </p:cNvPr>
            <p:cNvSpPr txBox="1"/>
            <p:nvPr/>
          </p:nvSpPr>
          <p:spPr>
            <a:xfrm>
              <a:off x="1371600" y="2361749"/>
              <a:ext cx="109728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dirty="0"/>
                <a:t>Porta de esquecimento</a:t>
              </a:r>
              <a:endParaRPr lang="en-US" sz="1100" dirty="0"/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xmlns="" id="{DF703A9D-5199-717A-7731-5781954D7F20}"/>
                </a:ext>
              </a:extLst>
            </p:cNvPr>
            <p:cNvSpPr/>
            <p:nvPr/>
          </p:nvSpPr>
          <p:spPr>
            <a:xfrm>
              <a:off x="2259105" y="3456122"/>
              <a:ext cx="1312433" cy="126353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xmlns="" id="{C8FC18C0-A7EF-FB6B-7E12-D72DD3F13622}"/>
                </a:ext>
              </a:extLst>
            </p:cNvPr>
            <p:cNvSpPr txBox="1"/>
            <p:nvPr/>
          </p:nvSpPr>
          <p:spPr>
            <a:xfrm>
              <a:off x="2366681" y="4776881"/>
              <a:ext cx="109728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dirty="0"/>
                <a:t>Porta de entrada</a:t>
              </a:r>
              <a:endParaRPr lang="en-US" sz="1100" dirty="0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xmlns="" id="{D6C3AADC-9B70-D706-CC6D-0DC43A127731}"/>
                </a:ext>
              </a:extLst>
            </p:cNvPr>
            <p:cNvSpPr/>
            <p:nvPr/>
          </p:nvSpPr>
          <p:spPr>
            <a:xfrm>
              <a:off x="3652858" y="3192651"/>
              <a:ext cx="1140312" cy="152700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xmlns="" id="{6E3A303C-5914-D4DD-FEA0-76EC3BB8CCF4}"/>
                </a:ext>
              </a:extLst>
            </p:cNvPr>
            <p:cNvSpPr txBox="1"/>
            <p:nvPr/>
          </p:nvSpPr>
          <p:spPr>
            <a:xfrm>
              <a:off x="3626869" y="4820825"/>
              <a:ext cx="109728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dirty="0"/>
                <a:t>Porta de saída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382116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BD5BAE2-6A9C-5F01-525B-45AB07730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Dinâmica das portas em uma célula LSTM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CD67E614-DAEB-F5E1-30D0-2E4A5E8BE3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63802" y="1825624"/>
                <a:ext cx="6428198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/>
                  <a:t>Sempre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𝒐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/>
                  <a:t> for próximo de </a:t>
                </a:r>
                <a:r>
                  <a:rPr lang="pt-BR" b="1" dirty="0"/>
                  <a:t>1</a:t>
                </a:r>
                <a:r>
                  <a:rPr lang="pt-BR" dirty="0"/>
                  <a:t>, permitimos que o </a:t>
                </a:r>
                <a:r>
                  <a:rPr lang="pt-BR" b="1" dirty="0">
                    <a:solidFill>
                      <a:srgbClr val="7030A0"/>
                    </a:solidFill>
                  </a:rPr>
                  <a:t>estado interno atual da célula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/>
                  <a:t>, </a:t>
                </a:r>
                <a:r>
                  <a:rPr lang="pt-BR" b="1" dirty="0">
                    <a:solidFill>
                      <a:srgbClr val="00B050"/>
                    </a:solidFill>
                  </a:rPr>
                  <a:t>impacte os instantes de tempo subsequentes</a:t>
                </a:r>
                <a:r>
                  <a:rPr lang="pt-BR" dirty="0"/>
                  <a:t> via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/>
                  <a:t>. </a:t>
                </a:r>
              </a:p>
              <a:p>
                <a:r>
                  <a:rPr lang="pt-BR" dirty="0"/>
                  <a:t>Por outro lado, 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𝒐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/>
                  <a:t> for próximo de </a:t>
                </a:r>
                <a:r>
                  <a:rPr lang="pt-BR" b="1" dirty="0"/>
                  <a:t>0</a:t>
                </a:r>
                <a:r>
                  <a:rPr lang="pt-BR" dirty="0"/>
                  <a:t>, impedimos que o </a:t>
                </a:r>
                <a:r>
                  <a:rPr lang="pt-BR" b="1" dirty="0">
                    <a:solidFill>
                      <a:srgbClr val="7030A0"/>
                    </a:solidFill>
                  </a:rPr>
                  <a:t>estado interno atual da célula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/>
                  <a:t>, </a:t>
                </a:r>
                <a:r>
                  <a:rPr lang="pt-BR" b="1" dirty="0">
                    <a:solidFill>
                      <a:srgbClr val="00B050"/>
                    </a:solidFill>
                  </a:rPr>
                  <a:t>impacte os instantes de tempo subsequentes.</a:t>
                </a:r>
              </a:p>
              <a:p>
                <a:r>
                  <a:rPr lang="pt-BR" dirty="0"/>
                  <a:t>Assim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𝒐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pt-B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dirty="0"/>
                  <a:t>: </a:t>
                </a:r>
                <a:r>
                  <a:rPr lang="en-US" dirty="0" smtClean="0"/>
                  <a:t>a </a:t>
                </a:r>
                <a:r>
                  <a:rPr lang="en-US" b="1" dirty="0" err="1" smtClean="0"/>
                  <a:t>informação</a:t>
                </a:r>
                <a:r>
                  <a:rPr lang="en-US" b="1" dirty="0" smtClean="0"/>
                  <a:t>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b="1" dirty="0" smtClean="0"/>
                  <a:t> é </a:t>
                </a:r>
                <a:r>
                  <a:rPr lang="en-US" b="1" dirty="0" err="1"/>
                  <a:t>importante</a:t>
                </a:r>
                <a:r>
                  <a:rPr lang="en-US" b="1" dirty="0"/>
                  <a:t> </a:t>
                </a:r>
                <a:r>
                  <a:rPr lang="en-US" dirty="0"/>
                  <a:t>para o </a:t>
                </a:r>
                <a:r>
                  <a:rPr lang="en-US" dirty="0" err="1"/>
                  <a:t>futuro</a:t>
                </a:r>
                <a:r>
                  <a:rPr lang="en-US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𝒐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pt-B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dirty="0"/>
                  <a:t>: </a:t>
                </a:r>
                <a:r>
                  <a:rPr lang="en-US" dirty="0" smtClean="0"/>
                  <a:t>a </a:t>
                </a:r>
                <a:r>
                  <a:rPr lang="en-US" b="1" dirty="0" err="1" smtClean="0"/>
                  <a:t>informação</a:t>
                </a:r>
                <a:r>
                  <a:rPr lang="en-US" b="1" dirty="0" smtClean="0"/>
                  <a:t>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b="1" dirty="0" smtClean="0"/>
                  <a:t> </a:t>
                </a:r>
                <a:r>
                  <a:rPr lang="en-US" b="1" dirty="0" err="1" smtClean="0"/>
                  <a:t>não</a:t>
                </a:r>
                <a:r>
                  <a:rPr lang="en-US" b="1" dirty="0" smtClean="0"/>
                  <a:t> </a:t>
                </a:r>
                <a:r>
                  <a:rPr lang="en-US" b="1" dirty="0"/>
                  <a:t>é </a:t>
                </a:r>
                <a:r>
                  <a:rPr lang="en-US" b="1" dirty="0" err="1"/>
                  <a:t>relevante</a:t>
                </a:r>
                <a:r>
                  <a:rPr lang="en-US" dirty="0"/>
                  <a:t> para </a:t>
                </a:r>
                <a:r>
                  <a:rPr lang="en-US" dirty="0" err="1"/>
                  <a:t>os</a:t>
                </a:r>
                <a:r>
                  <a:rPr lang="en-US" dirty="0"/>
                  <a:t> </a:t>
                </a:r>
                <a:r>
                  <a:rPr lang="en-US" dirty="0" err="1"/>
                  <a:t>próximos</a:t>
                </a:r>
                <a:r>
                  <a:rPr lang="en-US" dirty="0"/>
                  <a:t> </a:t>
                </a:r>
                <a:r>
                  <a:rPr lang="en-US" dirty="0" err="1"/>
                  <a:t>estados</a:t>
                </a:r>
                <a:r>
                  <a:rPr lang="en-US" dirty="0"/>
                  <a:t>.</a:t>
                </a: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D67E614-DAEB-F5E1-30D0-2E4A5E8BE3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63802" y="1825624"/>
                <a:ext cx="6428198" cy="5032375"/>
              </a:xfrm>
              <a:blipFill rotWithShape="0">
                <a:blip r:embed="rId2"/>
                <a:stretch>
                  <a:fillRect l="-1708" t="-266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upo 3">
            <a:extLst>
              <a:ext uri="{FF2B5EF4-FFF2-40B4-BE49-F238E27FC236}">
                <a16:creationId xmlns:a16="http://schemas.microsoft.com/office/drawing/2014/main" xmlns="" id="{79E4F418-670A-DED4-CF7C-05F26F21CCCB}"/>
              </a:ext>
            </a:extLst>
          </p:cNvPr>
          <p:cNvGrpSpPr/>
          <p:nvPr/>
        </p:nvGrpSpPr>
        <p:grpSpPr>
          <a:xfrm>
            <a:off x="223692" y="2408970"/>
            <a:ext cx="5133277" cy="3164098"/>
            <a:chOff x="584681" y="2224681"/>
            <a:chExt cx="5133277" cy="316409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xmlns="" id="{035911D9-7242-6F9F-9F6D-8C568A0F1E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681" y="2224681"/>
              <a:ext cx="5133277" cy="3164098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xmlns="" id="{89568A9D-6534-78D5-9441-295D48B12F12}"/>
                </a:ext>
              </a:extLst>
            </p:cNvPr>
            <p:cNvSpPr/>
            <p:nvPr/>
          </p:nvSpPr>
          <p:spPr>
            <a:xfrm>
              <a:off x="1627322" y="2893806"/>
              <a:ext cx="534965" cy="182584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xmlns="" id="{3820B776-09FD-3576-AAD3-BD2DD712BEDE}"/>
                </a:ext>
              </a:extLst>
            </p:cNvPr>
            <p:cNvSpPr txBox="1"/>
            <p:nvPr/>
          </p:nvSpPr>
          <p:spPr>
            <a:xfrm>
              <a:off x="1371600" y="2361749"/>
              <a:ext cx="109728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dirty="0"/>
                <a:t>Porta de esquecimento</a:t>
              </a:r>
              <a:endParaRPr lang="en-US" sz="1100" dirty="0"/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xmlns="" id="{18B8C167-A714-6FEF-845B-8A21565C6038}"/>
                </a:ext>
              </a:extLst>
            </p:cNvPr>
            <p:cNvSpPr/>
            <p:nvPr/>
          </p:nvSpPr>
          <p:spPr>
            <a:xfrm>
              <a:off x="2259105" y="3456122"/>
              <a:ext cx="1312433" cy="126353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xmlns="" id="{D7A11C8E-1A5D-C6CB-FB98-99CBC8D5BFFC}"/>
                </a:ext>
              </a:extLst>
            </p:cNvPr>
            <p:cNvSpPr txBox="1"/>
            <p:nvPr/>
          </p:nvSpPr>
          <p:spPr>
            <a:xfrm>
              <a:off x="2366681" y="4776881"/>
              <a:ext cx="109728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dirty="0"/>
                <a:t>Porta de entrada</a:t>
              </a:r>
              <a:endParaRPr lang="en-US" sz="1100" dirty="0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xmlns="" id="{694C4716-9A87-CC7F-64FE-06EDC9867093}"/>
                </a:ext>
              </a:extLst>
            </p:cNvPr>
            <p:cNvSpPr/>
            <p:nvPr/>
          </p:nvSpPr>
          <p:spPr>
            <a:xfrm>
              <a:off x="3652858" y="3192651"/>
              <a:ext cx="1140312" cy="152700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xmlns="" id="{A6A3A084-0B5C-153E-599D-70B15346BEA3}"/>
                </a:ext>
              </a:extLst>
            </p:cNvPr>
            <p:cNvSpPr txBox="1"/>
            <p:nvPr/>
          </p:nvSpPr>
          <p:spPr>
            <a:xfrm>
              <a:off x="3626869" y="4820825"/>
              <a:ext cx="109728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dirty="0"/>
                <a:t>Porta de saída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6205074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F0908E-61BC-4EE3-3C23-07FB350F4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Porta de esquecimento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2AB8871D-05B3-0B5D-B7A9-8B87B3BFA9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09130" y="1825624"/>
                <a:ext cx="6382872" cy="5032375"/>
              </a:xfrm>
            </p:spPr>
            <p:txBody>
              <a:bodyPr>
                <a:normAutofit/>
              </a:bodyPr>
              <a:lstStyle/>
              <a:p>
                <a:r>
                  <a:rPr lang="pt-BR" b="1" dirty="0">
                    <a:solidFill>
                      <a:schemeClr val="accent2"/>
                    </a:solidFill>
                  </a:rPr>
                  <a:t>Controla</a:t>
                </a:r>
                <a:r>
                  <a:rPr lang="pt-BR" dirty="0"/>
                  <a:t> quais </a:t>
                </a:r>
                <a:r>
                  <a:rPr lang="pt-BR" b="1" dirty="0">
                    <a:solidFill>
                      <a:schemeClr val="accent2"/>
                    </a:solidFill>
                  </a:rPr>
                  <a:t>informações</a:t>
                </a:r>
                <a:r>
                  <a:rPr lang="pt-BR" dirty="0"/>
                  <a:t> devem ser </a:t>
                </a:r>
                <a:r>
                  <a:rPr lang="pt-BR" b="1" dirty="0">
                    <a:solidFill>
                      <a:srgbClr val="7030A0"/>
                    </a:solidFill>
                  </a:rPr>
                  <a:t>descartadas</a:t>
                </a:r>
                <a:r>
                  <a:rPr lang="pt-BR" dirty="0"/>
                  <a:t> do estado de longo prazo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</m:e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2400" b="0" i="0" smtClean="0">
                                        <a:latin typeface="Cambria Math" panose="02040503050406030204" pitchFamily="18" charset="0"/>
                                      </a:rPr>
                                      <m:t>esquece</m:t>
                                    </m:r>
                                    <m:r>
                                      <a:rPr lang="pt-BR" sz="2400" b="0" i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pt-BR" sz="2400" b="0" i="0" smtClean="0">
                                        <a:latin typeface="Cambria Math" panose="02040503050406030204" pitchFamily="18" charset="0"/>
                                      </a:rPr>
                                      <m:t>completamente</m:t>
                                    </m:r>
                                    <m:r>
                                      <a:rPr lang="pt-BR" sz="2400" b="0" i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400" b="1" i="1" smtClean="0">
                                            <a:latin typeface="Cambria Math" panose="02040503050406030204" pitchFamily="18" charset="0"/>
                                          </a:rPr>
                                          <m:t>𝒄</m:t>
                                        </m:r>
                                      </m:e>
                                      <m:sub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</m:e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         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pt-BR" sz="2400" b="0" i="0" smtClean="0">
                                        <a:latin typeface="Cambria Math" panose="02040503050406030204" pitchFamily="18" charset="0"/>
                                      </a:rPr>
                                      <m:t>mant</m:t>
                                    </m:r>
                                    <m:r>
                                      <a:rPr lang="pt-BR" sz="2400" b="0" i="0" smtClean="0">
                                        <a:latin typeface="Cambria Math" panose="02040503050406030204" pitchFamily="18" charset="0"/>
                                      </a:rPr>
                                      <m:t>é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pt-BR" sz="2400" b="0" i="0" smtClean="0"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  <m:r>
                                      <a:rPr lang="pt-BR" sz="2400" b="0" i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pt-BR" sz="2400" b="0" i="0" smtClean="0"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  <m:r>
                                      <a:rPr lang="pt-BR" sz="2400" b="0" i="0" smtClean="0">
                                        <a:latin typeface="Cambria Math" panose="02040503050406030204" pitchFamily="18" charset="0"/>
                                      </a:rPr>
                                      <m:t>%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pt-BR" sz="2400" b="0" i="0" smtClean="0">
                                        <a:latin typeface="Cambria Math" panose="02040503050406030204" pitchFamily="18" charset="0"/>
                                      </a:rPr>
                                      <m:t>de</m:t>
                                    </m:r>
                                    <m:r>
                                      <a:rPr lang="pt-BR" sz="2400" b="0" i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400" b="1" i="1" smtClean="0">
                                            <a:latin typeface="Cambria Math" panose="02040503050406030204" pitchFamily="18" charset="0"/>
                                          </a:rPr>
                                          <m:t>𝒄</m:t>
                                        </m:r>
                                      </m:e>
                                      <m:sub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  <a:p>
                <a:r>
                  <a:rPr lang="pt-BR" dirty="0"/>
                  <a:t>Porta controlada pela entrada atual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/>
                  <a:t> e pela saída anterior da célula,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Exemplo aplicado ao PLN: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O </a:t>
                </a:r>
                <a:r>
                  <a:rPr lang="pt-BR" b="1" dirty="0"/>
                  <a:t>estado de longo prazo</a:t>
                </a:r>
                <a:r>
                  <a:rPr lang="pt-BR" dirty="0"/>
                  <a:t> </a:t>
                </a:r>
                <a:r>
                  <a:rPr lang="pt-BR" b="1" dirty="0">
                    <a:solidFill>
                      <a:schemeClr val="accent1"/>
                    </a:solidFill>
                  </a:rPr>
                  <a:t>mantém</a:t>
                </a:r>
                <a:r>
                  <a:rPr lang="pt-BR" dirty="0"/>
                  <a:t> o </a:t>
                </a:r>
                <a:r>
                  <a:rPr lang="pt-BR" b="1" dirty="0">
                    <a:solidFill>
                      <a:srgbClr val="00B050"/>
                    </a:solidFill>
                  </a:rPr>
                  <a:t>gênero do sujeito</a:t>
                </a:r>
                <a:r>
                  <a:rPr lang="pt-BR" dirty="0"/>
                  <a:t> </a:t>
                </a:r>
                <a:r>
                  <a:rPr lang="pt-BR" dirty="0" smtClean="0"/>
                  <a:t>de uma </a:t>
                </a:r>
                <a:r>
                  <a:rPr lang="pt-BR" dirty="0"/>
                  <a:t>frase para usar os pronomes corretos.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Ao ver um </a:t>
                </a:r>
                <a:r>
                  <a:rPr lang="pt-BR" b="1" dirty="0">
                    <a:solidFill>
                      <a:srgbClr val="00B050"/>
                    </a:solidFill>
                  </a:rPr>
                  <a:t>novo sujeito</a:t>
                </a:r>
                <a:r>
                  <a:rPr lang="pt-BR" dirty="0"/>
                  <a:t>, a célula </a:t>
                </a:r>
                <a:r>
                  <a:rPr lang="pt-BR" b="1" dirty="0">
                    <a:solidFill>
                      <a:schemeClr val="accent1"/>
                    </a:solidFill>
                  </a:rPr>
                  <a:t>esquece</a:t>
                </a:r>
                <a:r>
                  <a:rPr lang="pt-BR" dirty="0"/>
                  <a:t> o gênero do sujeito anterior.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AB8871D-05B3-0B5D-B7A9-8B87B3BFA9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09130" y="1825624"/>
                <a:ext cx="6382872" cy="5032375"/>
              </a:xfrm>
              <a:blipFill rotWithShape="0">
                <a:blip r:embed="rId3"/>
                <a:stretch>
                  <a:fillRect l="-1719" t="-1937" r="-3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m 5">
            <a:extLst>
              <a:ext uri="{FF2B5EF4-FFF2-40B4-BE49-F238E27FC236}">
                <a16:creationId xmlns:a16="http://schemas.microsoft.com/office/drawing/2014/main" xmlns="" id="{BCAB297B-CDDB-7EF5-2A7E-0434E34079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183" y="2387448"/>
            <a:ext cx="5131773" cy="315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0605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1B4BE9-24E6-DBC5-186F-61B6FA668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Porta de entrada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7D2F9DE0-B3FD-2A90-3146-043295CAFD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38826" y="1825624"/>
                <a:ext cx="6353174" cy="5032375"/>
              </a:xfrm>
            </p:spPr>
            <p:txBody>
              <a:bodyPr>
                <a:normAutofit/>
              </a:bodyPr>
              <a:lstStyle/>
              <a:p>
                <a:r>
                  <a:rPr lang="pt-BR" b="1" dirty="0" smtClean="0">
                    <a:solidFill>
                      <a:schemeClr val="accent2"/>
                    </a:solidFill>
                  </a:rPr>
                  <a:t>Controla</a:t>
                </a:r>
                <a:r>
                  <a:rPr lang="pt-BR" dirty="0"/>
                  <a:t> </a:t>
                </a:r>
                <a:r>
                  <a:rPr lang="pt-BR" b="1" dirty="0">
                    <a:solidFill>
                      <a:srgbClr val="0070C0"/>
                    </a:solidFill>
                  </a:rPr>
                  <a:t>o quanto atualizar o estado antigo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, com um novo candidato,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pt-BR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</m:acc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1" i="1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</m:e>
                                  <m:e>
                                    <m:r>
                                      <a:rPr lang="pt-BR" sz="2400" b="0" i="0" smtClean="0">
                                        <a:latin typeface="Cambria Math" panose="02040503050406030204" pitchFamily="18" charset="0"/>
                                      </a:rPr>
                                      <m:t>                 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pt-BR" sz="2400" b="0" i="0" smtClean="0">
                                        <a:latin typeface="Cambria Math" panose="02040503050406030204" pitchFamily="18" charset="0"/>
                                      </a:rPr>
                                      <m:t>sem</m:t>
                                    </m:r>
                                    <m:r>
                                      <a:rPr lang="pt-BR" sz="2400" b="0" i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pt-BR" sz="2400" b="0" i="0" smtClean="0">
                                        <a:latin typeface="Cambria Math" panose="02040503050406030204" pitchFamily="18" charset="0"/>
                                      </a:rPr>
                                      <m:t>atualiza</m:t>
                                    </m:r>
                                    <m:r>
                                      <a:rPr lang="pt-BR" sz="2400" b="0" i="0" smtClean="0">
                                        <a:latin typeface="Cambria Math" panose="02040503050406030204" pitchFamily="18" charset="0"/>
                                      </a:rPr>
                                      <m:t>çã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pt-BR" sz="2400" b="0" i="0" smtClean="0">
                                        <a:latin typeface="Cambria Math" panose="02040503050406030204" pitchFamily="18" charset="0"/>
                                      </a:rPr>
                                      <m:t>o</m:t>
                                    </m:r>
                                  </m:e>
                                </m:mr>
                              </m:m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</m:e>
                                  <m:e>
                                    <m: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pt-BR" sz="2400" b="0" i="0" smtClean="0">
                                        <a:latin typeface="Cambria Math" panose="02040503050406030204" pitchFamily="18" charset="0"/>
                                      </a:rPr>
                                      <m:t>atualiza</m:t>
                                    </m:r>
                                    <m:sSub>
                                      <m:sSubPr>
                                        <m:ctrlP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400" b="1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pt-BR" sz="2400" b="1" i="1">
                                            <a:latin typeface="Cambria Math" panose="02040503050406030204" pitchFamily="18" charset="0"/>
                                          </a:rPr>
                                          <m:t>𝒄</m:t>
                                        </m:r>
                                      </m:e>
                                      <m:sub>
                                        <m: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pt-BR" sz="2400" b="0" i="0" smtClean="0">
                                        <a:latin typeface="Cambria Math" panose="02040503050406030204" pitchFamily="18" charset="0"/>
                                      </a:rPr>
                                      <m:t>com</m:t>
                                    </m:r>
                                    <m:r>
                                      <a:rPr lang="pt-BR" sz="2400" b="0" i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pt-BR" sz="2400" b="0" i="0" smtClean="0"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  <m:r>
                                      <a:rPr lang="pt-BR" sz="2400" b="0" i="0" smtClean="0">
                                        <a:latin typeface="Cambria Math" panose="02040503050406030204" pitchFamily="18" charset="0"/>
                                      </a:rPr>
                                      <m:t>%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pt-BR" sz="2400" b="0" i="0" smtClean="0">
                                        <a:latin typeface="Cambria Math" panose="02040503050406030204" pitchFamily="18" charset="0"/>
                                      </a:rPr>
                                      <m:t>de</m:t>
                                    </m:r>
                                    <m:sSub>
                                      <m:sSubPr>
                                        <m:ctrlP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pt-BR" sz="24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𝒄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pt-BR" sz="2000" dirty="0"/>
              </a:p>
              <a:p>
                <a:r>
                  <a:rPr lang="pt-BR" dirty="0"/>
                  <a:t>Também controlada 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No exemplo de PNL: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b="1" dirty="0">
                    <a:solidFill>
                      <a:schemeClr val="accent1"/>
                    </a:solidFill>
                  </a:rPr>
                  <a:t>Adiciona</a:t>
                </a:r>
                <a:r>
                  <a:rPr lang="pt-BR" dirty="0"/>
                  <a:t> o </a:t>
                </a:r>
                <a:r>
                  <a:rPr lang="pt-BR" b="1" dirty="0">
                    <a:solidFill>
                      <a:srgbClr val="7030A0"/>
                    </a:solidFill>
                  </a:rPr>
                  <a:t>gênero do novo sujeito</a:t>
                </a:r>
                <a:r>
                  <a:rPr lang="pt-BR" dirty="0"/>
                  <a:t> </a:t>
                </a:r>
                <a:r>
                  <a:rPr lang="pt-BR" dirty="0" smtClean="0"/>
                  <a:t>da frase ao </a:t>
                </a:r>
                <a:r>
                  <a:rPr lang="pt-BR" b="1" dirty="0">
                    <a:solidFill>
                      <a:schemeClr val="accent1"/>
                    </a:solidFill>
                  </a:rPr>
                  <a:t>estado de longo prazo</a:t>
                </a:r>
                <a:r>
                  <a:rPr lang="pt-BR" dirty="0"/>
                  <a:t> da célula para </a:t>
                </a:r>
                <a:r>
                  <a:rPr lang="pt-BR" b="1" dirty="0">
                    <a:solidFill>
                      <a:srgbClr val="00B050"/>
                    </a:solidFill>
                  </a:rPr>
                  <a:t>substituir</a:t>
                </a:r>
                <a:r>
                  <a:rPr lang="pt-BR" dirty="0"/>
                  <a:t> o antigo </a:t>
                </a:r>
                <a:r>
                  <a:rPr lang="pt-BR" b="1" dirty="0">
                    <a:solidFill>
                      <a:srgbClr val="00B050"/>
                    </a:solidFill>
                  </a:rPr>
                  <a:t>que foi esquecido</a:t>
                </a:r>
                <a:r>
                  <a:rPr lang="pt-BR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D2F9DE0-B3FD-2A90-3146-043295CAFD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38826" y="1825624"/>
                <a:ext cx="6353174" cy="5032375"/>
              </a:xfrm>
              <a:blipFill rotWithShape="0">
                <a:blip r:embed="rId3"/>
                <a:stretch>
                  <a:fillRect l="-1727" t="-1937" r="-57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9028197-6E3A-D453-E14C-79F999DC2F8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182" y="2338664"/>
            <a:ext cx="5131773" cy="315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9337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1C7D1F2-6CA4-20EA-CC21-706A3BBFA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3B3B1D-D2B0-1301-7FA6-4831F5728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Porta de saída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0A65D47D-498E-037A-E3AD-6F97600C32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14975" y="1825624"/>
                <a:ext cx="6677026" cy="5032375"/>
              </a:xfrm>
            </p:spPr>
            <p:txBody>
              <a:bodyPr>
                <a:normAutofit fontScale="92500"/>
              </a:bodyPr>
              <a:lstStyle/>
              <a:p>
                <a:r>
                  <a:rPr lang="pt-BR" dirty="0"/>
                  <a:t>A </a:t>
                </a:r>
                <a:r>
                  <a:rPr lang="pt-BR" b="1" dirty="0">
                    <a:solidFill>
                      <a:srgbClr val="7030A0"/>
                    </a:solidFill>
                  </a:rPr>
                  <a:t>saída da célula</a:t>
                </a:r>
                <a:r>
                  <a:rPr lang="pt-BR" dirty="0"/>
                  <a:t> é uma </a:t>
                </a:r>
                <a:r>
                  <a:rPr lang="pt-BR" b="1" dirty="0">
                    <a:solidFill>
                      <a:srgbClr val="00B050"/>
                    </a:solidFill>
                  </a:rPr>
                  <a:t>versão filtrada</a:t>
                </a:r>
                <a:r>
                  <a:rPr lang="pt-BR" dirty="0"/>
                  <a:t> do </a:t>
                </a:r>
                <a:r>
                  <a:rPr lang="pt-BR" b="1" dirty="0">
                    <a:solidFill>
                      <a:srgbClr val="7030A0"/>
                    </a:solidFill>
                  </a:rPr>
                  <a:t>estado da célula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/>
                  <a:t>, controlada 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/>
                  <a:t> é passado através de uma função </a:t>
                </a:r>
                <a:r>
                  <a:rPr lang="pt-BR" i="1" dirty="0" err="1"/>
                  <a:t>tanh</a:t>
                </a:r>
                <a:r>
                  <a:rPr lang="pt-BR" dirty="0"/>
                  <a:t>, que comprime seus valores entre -1 e 1.</a:t>
                </a:r>
              </a:p>
              <a:p>
                <a:r>
                  <a:rPr lang="pt-BR" dirty="0"/>
                  <a:t>Em seguida, a </a:t>
                </a:r>
                <a:r>
                  <a:rPr lang="pt-BR" b="1" dirty="0">
                    <a:solidFill>
                      <a:schemeClr val="accent2"/>
                    </a:solidFill>
                  </a:rPr>
                  <a:t>porta decide</a:t>
                </a:r>
                <a:r>
                  <a:rPr lang="pt-BR" dirty="0"/>
                  <a:t> </a:t>
                </a:r>
                <a:r>
                  <a:rPr lang="pt-BR" b="1" dirty="0">
                    <a:solidFill>
                      <a:schemeClr val="accent2"/>
                    </a:solidFill>
                  </a:rPr>
                  <a:t>o quanto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pt-BR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pt-BR" b="1" dirty="0">
                    <a:solidFill>
                      <a:schemeClr val="accent2"/>
                    </a:solidFill>
                  </a:rPr>
                  <a:t> será exposto na saída</a:t>
                </a:r>
                <a:endParaRPr lang="pt-BR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1" i="1">
                              <a:latin typeface="Cambria Math" panose="02040503050406030204" pitchFamily="18" charset="0"/>
                            </a:rPr>
                            <m:t>𝒐</m:t>
                          </m:r>
                        </m:e>
                        <m:sub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1" i="1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</m:e>
                                  <m:e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                                 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sem</m:t>
                                    </m:r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sa</m:t>
                                    </m:r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í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da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</m:e>
                                  <m:e>
                                    <m: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         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passa</m:t>
                                    </m:r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%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do</m:t>
                                    </m:r>
                                    <m: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pt-BR" sz="2400">
                                        <a:latin typeface="Cambria Math" panose="02040503050406030204" pitchFamily="18" charset="0"/>
                                      </a:rPr>
                                      <m:t>estado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pt-BR" sz="2000" dirty="0"/>
              </a:p>
              <a:p>
                <a:r>
                  <a:rPr lang="pt-BR" dirty="0"/>
                  <a:t>No exemplo de PLN: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 célula </a:t>
                </a:r>
                <a:r>
                  <a:rPr lang="pt-BR" b="1" dirty="0">
                    <a:solidFill>
                      <a:schemeClr val="accent1"/>
                    </a:solidFill>
                  </a:rPr>
                  <a:t>armazena</a:t>
                </a:r>
                <a:r>
                  <a:rPr lang="pt-BR" dirty="0"/>
                  <a:t> que o </a:t>
                </a:r>
                <a:r>
                  <a:rPr lang="pt-BR" b="1" dirty="0">
                    <a:solidFill>
                      <a:schemeClr val="accent1"/>
                    </a:solidFill>
                  </a:rPr>
                  <a:t>sujeito é plural</a:t>
                </a:r>
                <a:r>
                  <a:rPr lang="pt-BR" dirty="0"/>
                  <a:t>. Quando um </a:t>
                </a:r>
                <a:r>
                  <a:rPr lang="pt-BR" b="1" dirty="0">
                    <a:solidFill>
                      <a:schemeClr val="accent1"/>
                    </a:solidFill>
                  </a:rPr>
                  <a:t>verbo aparece</a:t>
                </a:r>
                <a:r>
                  <a:rPr lang="pt-BR" dirty="0"/>
                  <a:t>, a porta de saída </a:t>
                </a:r>
                <a:r>
                  <a:rPr lang="pt-BR" b="1" dirty="0">
                    <a:solidFill>
                      <a:schemeClr val="accent1"/>
                    </a:solidFill>
                  </a:rPr>
                  <a:t>libera</a:t>
                </a:r>
                <a:r>
                  <a:rPr lang="pt-BR" dirty="0"/>
                  <a:t> essa </a:t>
                </a:r>
                <a:r>
                  <a:rPr lang="pt-BR" b="1" dirty="0">
                    <a:solidFill>
                      <a:schemeClr val="accent1"/>
                    </a:solidFill>
                  </a:rPr>
                  <a:t>informação</a:t>
                </a:r>
                <a:r>
                  <a:rPr lang="pt-BR" dirty="0"/>
                  <a:t> para </a:t>
                </a:r>
                <a:r>
                  <a:rPr lang="pt-BR" b="1" dirty="0">
                    <a:solidFill>
                      <a:srgbClr val="00B050"/>
                    </a:solidFill>
                  </a:rPr>
                  <a:t>escolher a conjugação correta </a:t>
                </a:r>
                <a:r>
                  <a:rPr lang="pt-BR" b="1" dirty="0">
                    <a:solidFill>
                      <a:srgbClr val="7030A0"/>
                    </a:solidFill>
                  </a:rPr>
                  <a:t>e influenciar passos subsequentes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65D47D-498E-037A-E3AD-6F97600C32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14975" y="1825624"/>
                <a:ext cx="6677026" cy="5032375"/>
              </a:xfrm>
              <a:blipFill>
                <a:blip r:embed="rId3"/>
                <a:stretch>
                  <a:fillRect l="-1461" t="-1816" r="-1461" b="-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m 5">
            <a:extLst>
              <a:ext uri="{FF2B5EF4-FFF2-40B4-BE49-F238E27FC236}">
                <a16:creationId xmlns:a16="http://schemas.microsoft.com/office/drawing/2014/main" xmlns="" id="{91C409A5-CDD8-0D53-406F-0AE1480763A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13" y="2505406"/>
            <a:ext cx="5131773" cy="316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38841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772FAD1-4DBD-A371-7565-6081A1219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9476E6C-21FE-5575-46B7-F6F5257A0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44200" cy="1325563"/>
          </a:xfrm>
        </p:spPr>
        <p:txBody>
          <a:bodyPr/>
          <a:lstStyle/>
          <a:p>
            <a:r>
              <a:rPr lang="pt-BR" dirty="0" smtClean="0"/>
              <a:t>Resumo das equações </a:t>
            </a:r>
            <a:r>
              <a:rPr lang="pt-BR" dirty="0"/>
              <a:t>de atualização da célula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xmlns="" id="{7B42820C-05C1-F0F4-4D04-180E613444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353800" cy="5032376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pt-BR" noProof="0" dirty="0"/>
                  <a:t>Vetor da porta de esquecimento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1" i="1" noProof="0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pt-BR" sz="2400" i="1" noProof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sz="2400" i="1" noProof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pt-BR" sz="24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4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400" i="1" noProof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1" i="1" noProof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pt-BR" sz="2400" i="1" noProof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pt-BR" sz="2400" i="1" noProof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pt-BR" sz="24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pt-BR" sz="2400" i="1" noProof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1" i="1" noProof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pt-BR" sz="2400" i="1" noProof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pt-BR" sz="24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1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pt-BR" sz="24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pt-BR" sz="24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24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1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pt-BR" sz="24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pt-BR" sz="24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400" noProof="0" dirty="0"/>
              </a:p>
              <a:p>
                <a:r>
                  <a:rPr lang="pt-BR" noProof="0" dirty="0"/>
                  <a:t>Vetor da porta de entrada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1" i="1" noProof="0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pt-BR" sz="2400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sz="2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pt-BR" sz="24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4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4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1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pt-BR" sz="24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pt-BR" sz="24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pt-BR" sz="24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pt-BR" sz="24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1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pt-BR" sz="24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pt-BR" sz="24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1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pt-BR" sz="24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pt-BR" sz="24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24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1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pt-BR" sz="24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t-BR" sz="24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noProof="0" dirty="0"/>
              </a:p>
              <a:p>
                <a:r>
                  <a:rPr lang="pt-BR" noProof="0" dirty="0"/>
                  <a:t>Vetor da porta de saída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600" b="1" i="1" smtClean="0">
                              <a:latin typeface="Cambria Math" panose="02040503050406030204" pitchFamily="18" charset="0"/>
                            </a:rPr>
                            <m:t>𝒐</m:t>
                          </m:r>
                        </m:e>
                        <m:sub>
                          <m:r>
                            <a:rPr lang="pt-BR" sz="2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sz="2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pt-BR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pt-BR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pt-BR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pt-BR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pt-BR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pt-BR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pt-BR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pt-BR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pt-BR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pt-BR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r>
                        <a:rPr lang="pt-BR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noProof="0" dirty="0"/>
              </a:p>
              <a:p>
                <a:r>
                  <a:rPr lang="pt-BR" noProof="0" dirty="0"/>
                  <a:t>Vetor de informação candidata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pt-BR" sz="2400" b="1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400" b="1" i="1" noProof="0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</m:acc>
                        </m:e>
                        <m:sub>
                          <m:r>
                            <a:rPr lang="pt-BR" sz="2400" i="1" noProof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sz="2400" i="1" noProof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sz="240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400" i="0" noProof="0" smtClean="0">
                              <a:latin typeface="Cambria Math" panose="02040503050406030204" pitchFamily="18" charset="0"/>
                            </a:rPr>
                            <m:t>tanh</m:t>
                          </m:r>
                        </m:fName>
                        <m:e>
                          <m:d>
                            <m:dPr>
                              <m:ctrlPr>
                                <a:rPr lang="pt-BR" sz="24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sz="2400" i="1" noProof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400" i="1" noProof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1" i="1" noProof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pt-BR" sz="2400" i="1" noProof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pt-BR" sz="2400" i="1" noProof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pt-BR" sz="2400" i="1" noProof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pt-BR" sz="2400" i="1" noProof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1" i="1" noProof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pt-BR" sz="2400" i="1" noProof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pt-BR" sz="2400" i="1" noProof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1" i="1" noProof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𝑾</m:t>
                                  </m:r>
                                </m:e>
                                <m:sub>
                                  <m:r>
                                    <a:rPr lang="pt-BR" sz="24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pt-BR" sz="24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400" i="1" noProof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1" i="1" noProof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pt-BR" sz="24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pt-BR" sz="24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400" noProof="0" dirty="0"/>
              </a:p>
              <a:p>
                <a:r>
                  <a:rPr lang="pt-BR" noProof="0" dirty="0"/>
                  <a:t>Vetor de estado de longo prazo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1" i="1" noProof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pt-BR" sz="2400" i="1" noProof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sz="2400" i="1" noProof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pt-BR" sz="2400" i="1" noProof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pt-BR" sz="2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pt-BR" sz="2400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1" i="1" noProof="0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pt-BR" sz="2400" i="1" noProof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sz="24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1" i="1" noProof="0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pt-BR" sz="2400" i="1" noProof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pt-BR" sz="2400" i="1" noProof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pt-BR" sz="2400" b="0" i="0" noProof="0" smtClean="0">
                              <a:latin typeface="Cambria Math" panose="02040503050406030204" pitchFamily="18" charset="0"/>
                            </a:rPr>
                            <m:t>controla</m:t>
                          </m:r>
                          <m:r>
                            <a:rPr lang="pt-BR" sz="2400" b="0" i="0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2400" b="0" i="0" noProof="0" smtClean="0"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a:rPr lang="pt-BR" sz="2400" b="0" i="0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2400" b="0" i="0" noProof="0" smtClean="0">
                              <a:latin typeface="Cambria Math" panose="02040503050406030204" pitchFamily="18" charset="0"/>
                            </a:rPr>
                            <m:t>esquecimento</m:t>
                          </m:r>
                          <m:r>
                            <a:rPr lang="pt-BR" sz="2400" b="0" i="0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2400" b="0" i="0" noProof="0" smtClean="0">
                              <a:latin typeface="Cambria Math" panose="02040503050406030204" pitchFamily="18" charset="0"/>
                            </a:rPr>
                            <m:t>da</m:t>
                          </m:r>
                          <m:r>
                            <a:rPr lang="pt-BR" sz="2400" b="0" i="0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2400" b="0" i="0" noProof="0" smtClean="0">
                              <a:latin typeface="Cambria Math" panose="02040503050406030204" pitchFamily="18" charset="0"/>
                            </a:rPr>
                            <m:t>informa</m:t>
                          </m:r>
                          <m:r>
                            <a:rPr lang="pt-BR" sz="2400" b="0" i="0" noProof="0" smtClean="0">
                              <a:latin typeface="Cambria Math" panose="02040503050406030204" pitchFamily="18" charset="0"/>
                            </a:rPr>
                            <m:t>çã</m:t>
                          </m:r>
                          <m:r>
                            <m:rPr>
                              <m:sty m:val="p"/>
                            </m:rPr>
                            <a:rPr lang="pt-BR" sz="2400" b="0" i="0" noProof="0" smtClean="0"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a:rPr lang="pt-BR" sz="2400" b="0" i="0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2400" b="0" i="0" noProof="0" smtClean="0">
                              <a:latin typeface="Cambria Math" panose="02040503050406030204" pitchFamily="18" charset="0"/>
                            </a:rPr>
                            <m:t>anterior</m:t>
                          </m:r>
                        </m:lim>
                      </m:limLow>
                      <m:r>
                        <a:rPr lang="pt-BR" sz="2400" i="1" noProof="0">
                          <a:latin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pt-BR" sz="2400" i="1" noProof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pt-BR" sz="2400" i="1" noProof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pt-BR" sz="24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pt-BR" sz="2400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1" i="1" noProof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e>
                                    <m:sub>
                                      <m:r>
                                        <a:rPr lang="pt-BR" sz="2400" i="1" noProof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acc>
                                    <m:accPr>
                                      <m:chr m:val="̃"/>
                                      <m:ctrlPr>
                                        <a:rPr lang="pt-BR" sz="2400" b="1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sz="2400" b="1" i="1" noProof="0"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pt-BR" sz="2400" i="1" noProof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groupChr>
                          <m:r>
                            <a:rPr lang="pt-BR" sz="2400" b="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pt-BR" sz="2400" b="0" i="0" noProof="0" smtClean="0">
                              <a:latin typeface="Cambria Math" panose="02040503050406030204" pitchFamily="18" charset="0"/>
                            </a:rPr>
                            <m:t>controla</m:t>
                          </m:r>
                          <m:r>
                            <a:rPr lang="pt-BR" sz="2400" b="0" i="0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2400" b="0" i="0" noProof="0" smtClean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pt-BR" sz="2400" b="0" i="0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2400" b="0" i="0" noProof="0" smtClean="0">
                              <a:latin typeface="Cambria Math" panose="02040503050406030204" pitchFamily="18" charset="0"/>
                            </a:rPr>
                            <m:t>entrada</m:t>
                          </m:r>
                          <m:r>
                            <a:rPr lang="pt-BR" sz="2400" b="0" i="0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2400" b="0" i="0" noProof="0" smtClean="0">
                              <a:latin typeface="Cambria Math" panose="02040503050406030204" pitchFamily="18" charset="0"/>
                            </a:rPr>
                            <m:t>de</m:t>
                          </m:r>
                          <m:r>
                            <a:rPr lang="pt-BR" sz="2400" b="0" i="0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2400" b="0" i="0" noProof="0" smtClean="0">
                              <a:latin typeface="Cambria Math" panose="02040503050406030204" pitchFamily="18" charset="0"/>
                            </a:rPr>
                            <m:t>nova</m:t>
                          </m:r>
                          <m:r>
                            <a:rPr lang="pt-BR" sz="2400" noProof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2400" noProof="0">
                              <a:latin typeface="Cambria Math" panose="02040503050406030204" pitchFamily="18" charset="0"/>
                            </a:rPr>
                            <m:t>informa</m:t>
                          </m:r>
                          <m:r>
                            <a:rPr lang="pt-BR" sz="2400" noProof="0">
                              <a:latin typeface="Cambria Math" panose="02040503050406030204" pitchFamily="18" charset="0"/>
                            </a:rPr>
                            <m:t>çã</m:t>
                          </m:r>
                          <m:r>
                            <m:rPr>
                              <m:sty m:val="p"/>
                            </m:rPr>
                            <a:rPr lang="pt-BR" sz="2400" noProof="0">
                              <a:latin typeface="Cambria Math" panose="02040503050406030204" pitchFamily="18" charset="0"/>
                            </a:rPr>
                            <m:t>o</m:t>
                          </m:r>
                        </m:lim>
                      </m:limLow>
                    </m:oMath>
                  </m:oMathPara>
                </a14:m>
                <a:endParaRPr lang="pt-BR" sz="2400" noProof="0" dirty="0"/>
              </a:p>
              <a:p>
                <a:r>
                  <a:rPr lang="pt-BR" noProof="0" dirty="0"/>
                  <a:t>Vetor de estado de curto prazo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1" i="1" noProof="0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pt-BR" sz="2400" i="1" noProof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sz="2400" i="1" noProof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pt-BR" sz="2400" noProof="0">
                          <a:latin typeface="Cambria Math" panose="02040503050406030204" pitchFamily="18" charset="0"/>
                        </a:rPr>
                        <m:t>tanh</m:t>
                      </m:r>
                      <m:d>
                        <m:dPr>
                          <m:ctrlPr>
                            <a:rPr lang="pt-BR" sz="2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1" i="1" noProof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pt-BR" sz="2400" i="1" noProof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pt-BR" sz="24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⊙</m:t>
                          </m:r>
                          <m:r>
                            <a:rPr lang="pt-BR" sz="2400" b="1" i="1" noProof="0" smtClean="0">
                              <a:latin typeface="Cambria Math" panose="02040503050406030204" pitchFamily="18" charset="0"/>
                            </a:rPr>
                            <m:t>𝒐</m:t>
                          </m:r>
                        </m:e>
                        <m:sub>
                          <m:r>
                            <a:rPr lang="pt-BR" sz="2400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sz="2400" b="0" i="1" noProof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400" noProof="0" dirty="0"/>
              </a:p>
              <a:p>
                <a:pPr marL="0" indent="0">
                  <a:buNone/>
                </a:pPr>
                <a:r>
                  <a:rPr lang="pt-BR" sz="2400" dirty="0"/>
                  <a:t>o</a:t>
                </a:r>
                <a:r>
                  <a:rPr lang="pt-BR" sz="2400" noProof="0" dirty="0" err="1"/>
                  <a:t>nde</a:t>
                </a:r>
                <a:r>
                  <a:rPr lang="pt-BR" sz="2400" noProof="0" dirty="0"/>
                  <a:t> </a:t>
                </a:r>
                <a14:m>
                  <m:oMath xmlns:m="http://schemas.openxmlformats.org/officeDocument/2006/math">
                    <m:r>
                      <a:rPr lang="pt-BR" sz="24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⊙</m:t>
                    </m:r>
                  </m:oMath>
                </a14:m>
                <a:r>
                  <a:rPr lang="pt-BR" sz="2400" noProof="0" dirty="0"/>
                  <a:t> é o operador de multiplicação elemento a elemento.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B42820C-05C1-F0F4-4D04-180E613444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353800" cy="5032376"/>
              </a:xfrm>
              <a:blipFill>
                <a:blip r:embed="rId3"/>
                <a:stretch>
                  <a:fillRect l="-859" t="-3027" b="-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m 2">
            <a:extLst>
              <a:ext uri="{FF2B5EF4-FFF2-40B4-BE49-F238E27FC236}">
                <a16:creationId xmlns:a16="http://schemas.microsoft.com/office/drawing/2014/main" xmlns="" id="{F34C26FC-7CB2-C5BB-4322-287A8FC71D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4676" y="2274888"/>
            <a:ext cx="3368249" cy="207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2122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CA9160B-0A9F-1A85-6B15-1990ABAB5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Long</a:t>
            </a:r>
            <a:r>
              <a:rPr lang="pt-BR" i="1" dirty="0"/>
              <a:t>-short </a:t>
            </a:r>
            <a:r>
              <a:rPr lang="pt-BR" i="1" dirty="0" err="1"/>
              <a:t>term</a:t>
            </a:r>
            <a:r>
              <a:rPr lang="pt-BR" i="1" dirty="0"/>
              <a:t> </a:t>
            </a:r>
            <a:r>
              <a:rPr lang="pt-BR" i="1" dirty="0" err="1"/>
              <a:t>memory</a:t>
            </a:r>
            <a:r>
              <a:rPr lang="pt-BR" i="1" dirty="0"/>
              <a:t> </a:t>
            </a:r>
            <a:r>
              <a:rPr lang="pt-BR" dirty="0"/>
              <a:t>(LSTM)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65A0CB09-932B-8FCE-FD61-796D1203C8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142518" cy="5032375"/>
              </a:xfrm>
            </p:spPr>
            <p:txBody>
              <a:bodyPr/>
              <a:lstStyle/>
              <a:p>
                <a:r>
                  <a:rPr lang="pt-BR" dirty="0"/>
                  <a:t>Resumindo, uma célula LSTM pode: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aprender a </a:t>
                </a:r>
                <a:r>
                  <a:rPr lang="pt-BR" b="1" dirty="0">
                    <a:solidFill>
                      <a:srgbClr val="7030A0"/>
                    </a:solidFill>
                  </a:rPr>
                  <a:t>reconhecer uma entrada </a:t>
                </a:r>
                <a:r>
                  <a:rPr lang="pt-BR" b="1">
                    <a:solidFill>
                      <a:srgbClr val="7030A0"/>
                    </a:solidFill>
                  </a:rPr>
                  <a:t>importante</a:t>
                </a:r>
                <a:r>
                  <a:rPr lang="pt-BR"/>
                  <a:t> </a:t>
                </a:r>
                <a:r>
                  <a:rPr lang="pt-BR" b="1">
                    <a:solidFill>
                      <a:schemeClr val="accent1"/>
                    </a:solidFill>
                  </a:rPr>
                  <a:t>e </a:t>
                </a:r>
                <a:r>
                  <a:rPr lang="pt-BR" b="1" dirty="0">
                    <a:solidFill>
                      <a:schemeClr val="accent1"/>
                    </a:solidFill>
                  </a:rPr>
                  <a:t>armazená-la</a:t>
                </a:r>
                <a:r>
                  <a:rPr lang="pt-BR" dirty="0"/>
                  <a:t> (totalmente ou parcialmente) no estado de longo prazo,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/>
                  <a:t>, 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pt-BR" dirty="0"/>
                  <a:t>Essas são as funções da </a:t>
                </a:r>
                <a:r>
                  <a:rPr lang="pt-BR" b="1" dirty="0">
                    <a:solidFill>
                      <a:srgbClr val="7030A0"/>
                    </a:solidFill>
                  </a:rPr>
                  <a:t>porta de entrada</a:t>
                </a:r>
                <a:endParaRPr lang="pt-BR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b="1" dirty="0">
                    <a:solidFill>
                      <a:srgbClr val="00B050"/>
                    </a:solidFill>
                  </a:rPr>
                  <a:t>preservá-la</a:t>
                </a:r>
                <a:r>
                  <a:rPr lang="pt-BR" dirty="0"/>
                  <a:t> pelo tempo que for necessário 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pt-BR" dirty="0"/>
                  <a:t>Essa é a função da </a:t>
                </a:r>
                <a:r>
                  <a:rPr lang="pt-BR" b="1" dirty="0">
                    <a:solidFill>
                      <a:srgbClr val="00B050"/>
                    </a:solidFill>
                  </a:rPr>
                  <a:t>porta de esquecimento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e </a:t>
                </a:r>
                <a:r>
                  <a:rPr lang="pt-BR" b="1" dirty="0">
                    <a:solidFill>
                      <a:schemeClr val="accent2"/>
                    </a:solidFill>
                  </a:rPr>
                  <a:t>expô-la</a:t>
                </a:r>
                <a:r>
                  <a:rPr lang="pt-BR" dirty="0"/>
                  <a:t> sempre que necessário 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pt-BR" dirty="0"/>
                  <a:t>Essa é a função da </a:t>
                </a:r>
                <a:r>
                  <a:rPr lang="pt-BR" b="1" dirty="0">
                    <a:solidFill>
                      <a:schemeClr val="accent2"/>
                    </a:solidFill>
                  </a:rPr>
                  <a:t>porta de saída</a:t>
                </a:r>
                <a:endParaRPr lang="en-US" b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A0CB09-932B-8FCE-FD61-796D1203C8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142518" cy="5032375"/>
              </a:xfrm>
              <a:blipFill>
                <a:blip r:embed="rId3"/>
                <a:stretch>
                  <a:fillRect l="-985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>
            <a:extLst>
              <a:ext uri="{FF2B5EF4-FFF2-40B4-BE49-F238E27FC236}">
                <a16:creationId xmlns:a16="http://schemas.microsoft.com/office/drawing/2014/main" xmlns="" id="{CF2120A0-D981-B947-4CAC-B115BE5EB6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5675" y="3877765"/>
            <a:ext cx="4505325" cy="2777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8728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2A2A55-F68E-8442-C0DD-A2410B7AC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Principais</a:t>
            </a:r>
            <a:r>
              <a:rPr lang="en-US" dirty="0"/>
              <a:t> </a:t>
            </a:r>
            <a:r>
              <a:rPr lang="en-US" dirty="0" err="1"/>
              <a:t>desvantagens</a:t>
            </a:r>
            <a:r>
              <a:rPr lang="en-US" dirty="0"/>
              <a:t> de LSTMs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4BBE798D-84FA-D85F-AF66-CCB3774595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353801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As saídas das portas </a:t>
                </a:r>
                <a:r>
                  <a:rPr lang="pt-BR" b="1" dirty="0">
                    <a:solidFill>
                      <a:schemeClr val="accent2"/>
                    </a:solidFill>
                  </a:rPr>
                  <a:t>nunca são realmente 0 ou 1</a:t>
                </a:r>
                <a:r>
                  <a:rPr lang="pt-BR" dirty="0"/>
                  <a:t>.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Assim, o </a:t>
                </a:r>
                <a:r>
                  <a:rPr lang="pt-BR" b="1" dirty="0">
                    <a:solidFill>
                      <a:srgbClr val="00B050"/>
                    </a:solidFill>
                  </a:rPr>
                  <a:t>conteúdo da célula </a:t>
                </a:r>
                <a:r>
                  <a:rPr lang="pt-BR" b="1" dirty="0">
                    <a:solidFill>
                      <a:srgbClr val="FF0000"/>
                    </a:solidFill>
                  </a:rPr>
                  <a:t>inevitavelmente </a:t>
                </a:r>
                <a:r>
                  <a:rPr lang="pt-BR" b="1" dirty="0">
                    <a:solidFill>
                      <a:srgbClr val="00B050"/>
                    </a:solidFill>
                  </a:rPr>
                  <a:t>se corrompe após um longo período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Portanto, ainda apresenta </a:t>
                </a:r>
                <a:r>
                  <a:rPr lang="pt-BR" b="1" dirty="0">
                    <a:solidFill>
                      <a:srgbClr val="7030A0"/>
                    </a:solidFill>
                  </a:rPr>
                  <a:t>dificuldades com dependências temporais muito longas</a:t>
                </a:r>
                <a:r>
                  <a:rPr lang="pt-BR" dirty="0"/>
                  <a:t>.</a:t>
                </a:r>
              </a:p>
              <a:p>
                <a:r>
                  <a:rPr lang="en-US" dirty="0"/>
                  <a:t>Alta </a:t>
                </a:r>
                <a:r>
                  <a:rPr lang="en-US" b="1" dirty="0" err="1">
                    <a:solidFill>
                      <a:schemeClr val="accent2"/>
                    </a:solidFill>
                  </a:rPr>
                  <a:t>complexidade</a:t>
                </a:r>
                <a:r>
                  <a:rPr lang="en-US" b="1" dirty="0">
                    <a:solidFill>
                      <a:schemeClr val="accent2"/>
                    </a:solidFill>
                  </a:rPr>
                  <a:t> </a:t>
                </a:r>
                <a:r>
                  <a:rPr lang="en-US" b="1" dirty="0" err="1">
                    <a:solidFill>
                      <a:schemeClr val="accent2"/>
                    </a:solidFill>
                  </a:rPr>
                  <a:t>computacional</a:t>
                </a:r>
                <a:r>
                  <a:rPr lang="en-US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b="1" dirty="0">
                    <a:solidFill>
                      <a:srgbClr val="00B050"/>
                    </a:solidFill>
                  </a:rPr>
                  <a:t>Muito mais parâmetros</a:t>
                </a:r>
                <a:r>
                  <a:rPr lang="pt-BR" dirty="0"/>
                  <a:t> do que as </a:t>
                </a:r>
                <a:r>
                  <a:rPr lang="pt-BR" dirty="0" err="1"/>
                  <a:t>RNNs</a:t>
                </a:r>
                <a:r>
                  <a:rPr lang="pt-BR" dirty="0"/>
                  <a:t> tradicionais.</a:t>
                </a:r>
              </a:p>
              <a:p>
                <a:r>
                  <a:rPr lang="en-US" b="1" dirty="0" err="1">
                    <a:solidFill>
                      <a:schemeClr val="accent2"/>
                    </a:solidFill>
                  </a:rPr>
                  <a:t>Dificuldade</a:t>
                </a:r>
                <a:r>
                  <a:rPr lang="en-US" b="1" dirty="0">
                    <a:solidFill>
                      <a:schemeClr val="accent2"/>
                    </a:solidFill>
                  </a:rPr>
                  <a:t> de </a:t>
                </a:r>
                <a:r>
                  <a:rPr lang="en-US" b="1" dirty="0" err="1">
                    <a:solidFill>
                      <a:schemeClr val="accent2"/>
                    </a:solidFill>
                  </a:rPr>
                  <a:t>paralelização</a:t>
                </a:r>
                <a:endParaRPr lang="en-US" b="1" dirty="0">
                  <a:solidFill>
                    <a:schemeClr val="accent2"/>
                  </a:solidFill>
                </a:endParaRP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b="1" dirty="0">
                    <a:solidFill>
                      <a:srgbClr val="00B050"/>
                    </a:solidFill>
                  </a:rPr>
                  <a:t>Processamento sequencial</a:t>
                </a:r>
                <a:r>
                  <a:rPr lang="pt-BR" dirty="0"/>
                  <a:t>: a célula depende de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pt-BR" dirty="0"/>
                  <a:t> para calcular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Difícil explorar paralelismo em GPU.</a:t>
                </a:r>
              </a:p>
              <a:p>
                <a:r>
                  <a:rPr lang="pt-BR" dirty="0"/>
                  <a:t>Hoje é </a:t>
                </a:r>
                <a:r>
                  <a:rPr lang="pt-BR" b="1" dirty="0">
                    <a:solidFill>
                      <a:schemeClr val="accent2"/>
                    </a:solidFill>
                  </a:rPr>
                  <a:t>superada em muitos cenários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 err="1"/>
                  <a:t>Modelos</a:t>
                </a:r>
                <a:r>
                  <a:rPr lang="en-US" dirty="0"/>
                  <a:t> </a:t>
                </a:r>
                <a:r>
                  <a:rPr lang="en-US" dirty="0" err="1"/>
                  <a:t>mais</a:t>
                </a:r>
                <a:r>
                  <a:rPr lang="en-US" dirty="0"/>
                  <a:t> </a:t>
                </a:r>
                <a:r>
                  <a:rPr lang="en-US" dirty="0" err="1" smtClean="0"/>
                  <a:t>modernos</a:t>
                </a:r>
                <a:r>
                  <a:rPr lang="en-US" dirty="0" smtClean="0"/>
                  <a:t>, </a:t>
                </a:r>
                <a:r>
                  <a:rPr lang="en-US" dirty="0" err="1" smtClean="0"/>
                  <a:t>como</a:t>
                </a:r>
                <a:r>
                  <a:rPr lang="en-US" dirty="0" smtClean="0"/>
                  <a:t> </a:t>
                </a:r>
                <a:r>
                  <a:rPr lang="en-US" i="1" dirty="0"/>
                  <a:t>Transformers</a:t>
                </a:r>
                <a:r>
                  <a:rPr lang="en-US" dirty="0"/>
                  <a:t> com </a:t>
                </a:r>
                <a:r>
                  <a:rPr lang="en-US" i="1" dirty="0" smtClean="0"/>
                  <a:t>attention</a:t>
                </a:r>
                <a:r>
                  <a:rPr lang="en-US" dirty="0" smtClean="0"/>
                  <a:t>,</a:t>
                </a:r>
                <a:r>
                  <a:rPr lang="en-US" i="1" dirty="0" smtClean="0"/>
                  <a:t> </a:t>
                </a:r>
                <a:r>
                  <a:rPr lang="en-US" dirty="0" err="1" smtClean="0"/>
                  <a:t>apresentam</a:t>
                </a:r>
                <a:r>
                  <a:rPr lang="en-US" dirty="0" smtClean="0"/>
                  <a:t> </a:t>
                </a:r>
                <a:r>
                  <a:rPr lang="en-US" b="1" dirty="0">
                    <a:solidFill>
                      <a:srgbClr val="00B050"/>
                    </a:solidFill>
                  </a:rPr>
                  <a:t>m</a:t>
                </a:r>
                <a:r>
                  <a:rPr lang="pt-BR" b="1" dirty="0" err="1">
                    <a:solidFill>
                      <a:srgbClr val="00B050"/>
                    </a:solidFill>
                  </a:rPr>
                  <a:t>elhor</a:t>
                </a:r>
                <a:r>
                  <a:rPr lang="pt-BR" b="1" dirty="0">
                    <a:solidFill>
                      <a:srgbClr val="00B050"/>
                    </a:solidFill>
                  </a:rPr>
                  <a:t> paralelização</a:t>
                </a:r>
                <a:r>
                  <a:rPr lang="pt-BR" dirty="0"/>
                  <a:t> e </a:t>
                </a:r>
                <a:r>
                  <a:rPr lang="pt-BR" b="1" dirty="0">
                    <a:solidFill>
                      <a:srgbClr val="7030A0"/>
                    </a:solidFill>
                  </a:rPr>
                  <a:t>capturam de dependências globais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BBE798D-84FA-D85F-AF66-CCB3774595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353801" cy="5032375"/>
              </a:xfrm>
              <a:blipFill rotWithShape="0">
                <a:blip r:embed="rId3"/>
                <a:stretch>
                  <a:fillRect l="-913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999936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25464" y="2120092"/>
            <a:ext cx="11499741" cy="269988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6000" dirty="0"/>
              <a:t>Será que conseguimos algo quase tão bom quanto uma LSTM, porém mais simples?</a:t>
            </a:r>
          </a:p>
        </p:txBody>
      </p:sp>
    </p:spTree>
    <p:extLst>
      <p:ext uri="{BB962C8B-B14F-4D97-AF65-F5344CB8AC3E}">
        <p14:creationId xmlns:p14="http://schemas.microsoft.com/office/powerpoint/2010/main" val="139422401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D02D76-2EBA-1393-BE09-7CDA497C6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Gated</a:t>
            </a:r>
            <a:r>
              <a:rPr lang="pt-BR" i="1" dirty="0"/>
              <a:t> </a:t>
            </a:r>
            <a:r>
              <a:rPr lang="pt-BR" i="1" dirty="0" err="1"/>
              <a:t>recurrent</a:t>
            </a:r>
            <a:r>
              <a:rPr lang="pt-BR" i="1" dirty="0"/>
              <a:t> </a:t>
            </a:r>
            <a:r>
              <a:rPr lang="pt-BR" i="1" dirty="0" err="1"/>
              <a:t>unit</a:t>
            </a:r>
            <a:r>
              <a:rPr lang="pt-BR" dirty="0"/>
              <a:t> (GRU)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EBE64A2-9011-342C-7697-75B6C4877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4481" y="1825624"/>
            <a:ext cx="6777518" cy="5032375"/>
          </a:xfrm>
        </p:spPr>
        <p:txBody>
          <a:bodyPr>
            <a:normAutofit/>
          </a:bodyPr>
          <a:lstStyle/>
          <a:p>
            <a:r>
              <a:rPr lang="pt-BR" dirty="0"/>
              <a:t>Com o sucesso das </a:t>
            </a:r>
            <a:r>
              <a:rPr lang="pt-BR" dirty="0" err="1"/>
              <a:t>LSTMs</a:t>
            </a:r>
            <a:r>
              <a:rPr lang="pt-BR" dirty="0"/>
              <a:t> em capturar dependências de longo prazo, novas arquiteturas foram propostas com o objetivo de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reduzir a quantidade de parâmetros,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reduzir o custo computacional,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reduzir o consumo de memória,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 acelerar o treinamento </a:t>
            </a:r>
          </a:p>
          <a:p>
            <a:pPr marL="0" indent="0">
              <a:buNone/>
            </a:pPr>
            <a:r>
              <a:rPr lang="pt-BR" dirty="0" smtClean="0"/>
              <a:t>em relação </a:t>
            </a:r>
            <a:r>
              <a:rPr lang="pt-BR" dirty="0"/>
              <a:t>às </a:t>
            </a:r>
            <a:r>
              <a:rPr lang="pt-BR" dirty="0" err="1"/>
              <a:t>LSTMs</a:t>
            </a:r>
            <a:r>
              <a:rPr lang="pt-BR" dirty="0"/>
              <a:t>.</a:t>
            </a:r>
          </a:p>
          <a:p>
            <a:r>
              <a:rPr lang="pt-BR" dirty="0"/>
              <a:t>Assim, as </a:t>
            </a:r>
            <a:r>
              <a:rPr lang="pt-BR" dirty="0" err="1"/>
              <a:t>GRUs</a:t>
            </a:r>
            <a:r>
              <a:rPr lang="pt-BR" dirty="0"/>
              <a:t> foram </a:t>
            </a:r>
            <a:r>
              <a:rPr lang="pt-BR" b="1" dirty="0">
                <a:solidFill>
                  <a:srgbClr val="7030A0"/>
                </a:solidFill>
              </a:rPr>
              <a:t>propostas em 2014</a:t>
            </a:r>
            <a:r>
              <a:rPr lang="pt-BR" dirty="0"/>
              <a:t> por </a:t>
            </a:r>
            <a:r>
              <a:rPr lang="pt-BR" dirty="0" err="1"/>
              <a:t>Kyunghyun</a:t>
            </a:r>
            <a:r>
              <a:rPr lang="pt-BR" dirty="0"/>
              <a:t> Cho e colegas com esse objetivo.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F31EEDFF-2831-68EB-4816-26ECD567CF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29" y="2837154"/>
            <a:ext cx="4929495" cy="2712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6729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D02D76-2EBA-1393-BE09-7CDA497C6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Gated</a:t>
            </a:r>
            <a:r>
              <a:rPr lang="pt-BR" i="1" dirty="0"/>
              <a:t> </a:t>
            </a:r>
            <a:r>
              <a:rPr lang="pt-BR" i="1" dirty="0" err="1"/>
              <a:t>recurrent</a:t>
            </a:r>
            <a:r>
              <a:rPr lang="pt-BR" i="1" dirty="0"/>
              <a:t> </a:t>
            </a:r>
            <a:r>
              <a:rPr lang="pt-BR" i="1" dirty="0" err="1"/>
              <a:t>unit</a:t>
            </a:r>
            <a:r>
              <a:rPr lang="pt-BR" dirty="0"/>
              <a:t> (GRU)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7EBE64A2-9011-342C-7697-75B6C48776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14481" y="1825624"/>
                <a:ext cx="6777518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As </a:t>
                </a:r>
                <a:r>
                  <a:rPr lang="pt-BR" dirty="0" err="1"/>
                  <a:t>GRUs</a:t>
                </a:r>
                <a:r>
                  <a:rPr lang="pt-BR" dirty="0"/>
                  <a:t> são uma </a:t>
                </a:r>
                <a:r>
                  <a:rPr lang="pt-BR" b="1" dirty="0">
                    <a:solidFill>
                      <a:schemeClr val="accent2"/>
                    </a:solidFill>
                  </a:rPr>
                  <a:t>versão simplificada</a:t>
                </a:r>
                <a:r>
                  <a:rPr lang="pt-BR" dirty="0"/>
                  <a:t> da célula de memória LSTM.</a:t>
                </a:r>
              </a:p>
              <a:p>
                <a:r>
                  <a:rPr lang="pt-BR" dirty="0"/>
                  <a:t>Em geral, </a:t>
                </a:r>
                <a:r>
                  <a:rPr lang="pt-BR" b="1" dirty="0">
                    <a:solidFill>
                      <a:schemeClr val="accent2"/>
                    </a:solidFill>
                  </a:rPr>
                  <a:t>atingem desempenho comparável</a:t>
                </a:r>
                <a:r>
                  <a:rPr lang="pt-BR" dirty="0"/>
                  <a:t> às </a:t>
                </a:r>
                <a:r>
                  <a:rPr lang="pt-BR" dirty="0" err="1"/>
                  <a:t>LSTMs</a:t>
                </a:r>
                <a:r>
                  <a:rPr lang="pt-BR" dirty="0"/>
                  <a:t>, mas com a vantagem de terem </a:t>
                </a:r>
                <a:r>
                  <a:rPr lang="pt-BR" b="1" dirty="0">
                    <a:solidFill>
                      <a:srgbClr val="00B050"/>
                    </a:solidFill>
                  </a:rPr>
                  <a:t>menos parâmetros</a:t>
                </a:r>
                <a:r>
                  <a:rPr lang="pt-BR" dirty="0"/>
                  <a:t>, serem </a:t>
                </a:r>
                <a:r>
                  <a:rPr lang="pt-BR" b="1" dirty="0">
                    <a:solidFill>
                      <a:srgbClr val="00B050"/>
                    </a:solidFill>
                  </a:rPr>
                  <a:t>menos complexas</a:t>
                </a:r>
                <a:r>
                  <a:rPr lang="pt-BR" dirty="0"/>
                  <a:t> e serem </a:t>
                </a:r>
                <a:r>
                  <a:rPr lang="pt-BR" b="1" dirty="0">
                    <a:solidFill>
                      <a:srgbClr val="00B050"/>
                    </a:solidFill>
                  </a:rPr>
                  <a:t>treinadas mais rapidamente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Elas têm </a:t>
                </a:r>
                <a:r>
                  <a:rPr lang="pt-BR" b="1" dirty="0">
                    <a:solidFill>
                      <a:srgbClr val="7030A0"/>
                    </a:solidFill>
                  </a:rPr>
                  <a:t>apenas</a:t>
                </a:r>
                <a:r>
                  <a:rPr lang="pt-BR" dirty="0"/>
                  <a:t> </a:t>
                </a:r>
                <a:r>
                  <a:rPr lang="pt-BR" b="1" dirty="0">
                    <a:solidFill>
                      <a:srgbClr val="0070C0"/>
                    </a:solidFill>
                  </a:rPr>
                  <a:t>duas portas</a:t>
                </a:r>
                <a:r>
                  <a:rPr lang="pt-BR" dirty="0"/>
                  <a:t>: a de </a:t>
                </a:r>
                <a:r>
                  <a:rPr lang="pt-BR" i="1" dirty="0"/>
                  <a:t>reset</a:t>
                </a:r>
                <a:r>
                  <a:rPr lang="pt-BR" dirty="0"/>
                  <a:t> e a de atualização (controladas 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).</a:t>
                </a:r>
              </a:p>
              <a:p>
                <a:r>
                  <a:rPr lang="pt-BR" dirty="0"/>
                  <a:t>Além disso, elas </a:t>
                </a:r>
                <a:r>
                  <a:rPr lang="pt-BR" b="1" dirty="0">
                    <a:solidFill>
                      <a:srgbClr val="0070C0"/>
                    </a:solidFill>
                  </a:rPr>
                  <a:t>incorporam a </a:t>
                </a:r>
                <a:r>
                  <a:rPr lang="pt-BR" b="1" dirty="0">
                    <a:solidFill>
                      <a:srgbClr val="7030A0"/>
                    </a:solidFill>
                  </a:rPr>
                  <a:t>memória de longo prazo</a:t>
                </a:r>
                <a:r>
                  <a:rPr lang="pt-BR" b="1" dirty="0">
                    <a:solidFill>
                      <a:srgbClr val="0070C0"/>
                    </a:solidFill>
                  </a:rPr>
                  <a:t> no próprio estado oculto</a:t>
                </a:r>
                <a:r>
                  <a:rPr lang="pt-BR" dirty="0"/>
                  <a:t>.</a:t>
                </a:r>
              </a:p>
              <a:p>
                <a:endParaRPr lang="pt-BR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BE64A2-9011-342C-7697-75B6C48776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14481" y="1825624"/>
                <a:ext cx="6777518" cy="5032375"/>
              </a:xfrm>
              <a:blipFill>
                <a:blip r:embed="rId3"/>
                <a:stretch>
                  <a:fillRect l="-1619" t="-1937" r="-25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m 4">
            <a:extLst>
              <a:ext uri="{FF2B5EF4-FFF2-40B4-BE49-F238E27FC236}">
                <a16:creationId xmlns:a16="http://schemas.microsoft.com/office/drawing/2014/main" xmlns="" id="{1E32847C-0C70-9E63-F12B-02171460BC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29" y="2837154"/>
            <a:ext cx="4929495" cy="2712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1373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C18896D-0E5F-15B7-8FA2-57B111C58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AEF6DB-1474-DD6E-AD8C-CD2405CD3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Gated</a:t>
            </a:r>
            <a:r>
              <a:rPr lang="pt-BR" i="1" dirty="0"/>
              <a:t> </a:t>
            </a:r>
            <a:r>
              <a:rPr lang="pt-BR" i="1" dirty="0" err="1"/>
              <a:t>recurrent</a:t>
            </a:r>
            <a:r>
              <a:rPr lang="pt-BR" i="1" dirty="0"/>
              <a:t> </a:t>
            </a:r>
            <a:r>
              <a:rPr lang="pt-BR" i="1" dirty="0" err="1"/>
              <a:t>unit</a:t>
            </a:r>
            <a:r>
              <a:rPr lang="pt-BR" dirty="0"/>
              <a:t> (GRU)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B084B8E4-F0D0-B986-4782-CE0C6EF5C4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87092" y="1825624"/>
                <a:ext cx="6304908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A </a:t>
                </a:r>
                <a:r>
                  <a:rPr lang="pt-BR" b="1" dirty="0">
                    <a:solidFill>
                      <a:schemeClr val="accent2"/>
                    </a:solidFill>
                  </a:rPr>
                  <a:t>porta de atualização</a:t>
                </a:r>
                <a:r>
                  <a:rPr lang="pt-BR" dirty="0"/>
                  <a:t> é responsável pela </a:t>
                </a:r>
                <a:r>
                  <a:rPr lang="pt-BR" b="1" dirty="0">
                    <a:solidFill>
                      <a:schemeClr val="accent1"/>
                    </a:solidFill>
                  </a:rPr>
                  <a:t>memória de longo prazo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Ela é a </a:t>
                </a:r>
                <a:r>
                  <a:rPr lang="pt-BR" b="1" dirty="0">
                    <a:solidFill>
                      <a:srgbClr val="00B050"/>
                    </a:solidFill>
                  </a:rPr>
                  <a:t>combinação</a:t>
                </a:r>
                <a:r>
                  <a:rPr lang="pt-BR" dirty="0"/>
                  <a:t> das </a:t>
                </a:r>
                <a:r>
                  <a:rPr lang="pt-BR" b="1" dirty="0">
                    <a:solidFill>
                      <a:srgbClr val="00B050"/>
                    </a:solidFill>
                  </a:rPr>
                  <a:t>portas de esquecimento</a:t>
                </a:r>
                <a:r>
                  <a:rPr lang="pt-BR" dirty="0"/>
                  <a:t> e de </a:t>
                </a:r>
                <a:r>
                  <a:rPr lang="pt-BR" b="1" dirty="0">
                    <a:solidFill>
                      <a:srgbClr val="00B050"/>
                    </a:solidFill>
                  </a:rPr>
                  <a:t>entrada</a:t>
                </a:r>
                <a:r>
                  <a:rPr lang="pt-BR" dirty="0"/>
                  <a:t> da LSTM.</a:t>
                </a:r>
              </a:p>
              <a:p>
                <a:r>
                  <a:rPr lang="pt-BR" dirty="0"/>
                  <a:t>Um </a:t>
                </a:r>
                <a:r>
                  <a:rPr lang="pt-BR" b="1" dirty="0">
                    <a:solidFill>
                      <a:srgbClr val="7030A0"/>
                    </a:solidFill>
                  </a:rPr>
                  <a:t>único vetor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/>
                  <a:t>, </a:t>
                </a:r>
                <a:r>
                  <a:rPr lang="pt-BR" b="1" dirty="0">
                    <a:solidFill>
                      <a:srgbClr val="7030A0"/>
                    </a:solidFill>
                  </a:rPr>
                  <a:t>controla</a:t>
                </a:r>
                <a:r>
                  <a:rPr lang="pt-BR" dirty="0"/>
                  <a:t> tanto a </a:t>
                </a:r>
                <a:r>
                  <a:rPr lang="pt-BR" b="1" dirty="0">
                    <a:solidFill>
                      <a:srgbClr val="7030A0"/>
                    </a:solidFill>
                  </a:rPr>
                  <a:t>porta de esquecimento</a:t>
                </a:r>
                <a:r>
                  <a:rPr lang="pt-BR" dirty="0"/>
                  <a:t> quanto a </a:t>
                </a:r>
                <a:r>
                  <a:rPr lang="pt-BR" b="1" dirty="0">
                    <a:solidFill>
                      <a:srgbClr val="7030A0"/>
                    </a:solidFill>
                  </a:rPr>
                  <a:t>porta de entrada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84B8E4-F0D0-B986-4782-CE0C6EF5C4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87092" y="1825624"/>
                <a:ext cx="6304908" cy="5032375"/>
              </a:xfrm>
              <a:blipFill>
                <a:blip r:embed="rId3"/>
                <a:stretch>
                  <a:fillRect l="-1741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m 4">
            <a:extLst>
              <a:ext uri="{FF2B5EF4-FFF2-40B4-BE49-F238E27FC236}">
                <a16:creationId xmlns:a16="http://schemas.microsoft.com/office/drawing/2014/main" xmlns="" id="{1E70865A-8BA1-07F3-6790-5184F2C371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438" y="2617109"/>
            <a:ext cx="4926724" cy="299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7611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1B75B47-CDB0-8D01-C24B-627D81FFF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C1009E-6742-3978-C9F4-B66C1CFBE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Gated</a:t>
            </a:r>
            <a:r>
              <a:rPr lang="pt-BR" i="1" dirty="0"/>
              <a:t> </a:t>
            </a:r>
            <a:r>
              <a:rPr lang="pt-BR" i="1" dirty="0" err="1"/>
              <a:t>recurrent</a:t>
            </a:r>
            <a:r>
              <a:rPr lang="pt-BR" i="1" dirty="0"/>
              <a:t> </a:t>
            </a:r>
            <a:r>
              <a:rPr lang="pt-BR" i="1" dirty="0" err="1"/>
              <a:t>unit</a:t>
            </a:r>
            <a:r>
              <a:rPr lang="pt-BR" dirty="0"/>
              <a:t> (GRU)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FCFD774B-6AD0-3D5A-6E43-1615AD14A6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95900" y="1825624"/>
                <a:ext cx="6896100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pt-BR" dirty="0"/>
                  <a:t>, a </a:t>
                </a:r>
                <a:r>
                  <a:rPr lang="pt-BR" b="1" dirty="0">
                    <a:solidFill>
                      <a:schemeClr val="accent2"/>
                    </a:solidFill>
                  </a:rPr>
                  <a:t>porta de esquecimento </a:t>
                </a:r>
                <a:r>
                  <a:rPr lang="pt-BR" dirty="0"/>
                  <a:t>é </a:t>
                </a:r>
                <a:r>
                  <a:rPr lang="pt-BR" b="1" dirty="0">
                    <a:solidFill>
                      <a:schemeClr val="accent2"/>
                    </a:solidFill>
                  </a:rPr>
                  <a:t>aberta</a:t>
                </a:r>
                <a:r>
                  <a:rPr lang="pt-BR" dirty="0"/>
                  <a:t> e a </a:t>
                </a:r>
                <a:r>
                  <a:rPr lang="pt-BR" b="1" dirty="0">
                    <a:solidFill>
                      <a:schemeClr val="accent1"/>
                    </a:solidFill>
                  </a:rPr>
                  <a:t>porta de entrada</a:t>
                </a:r>
                <a:r>
                  <a:rPr lang="pt-BR" dirty="0"/>
                  <a:t> é </a:t>
                </a:r>
                <a:r>
                  <a:rPr lang="pt-BR" b="1" dirty="0">
                    <a:solidFill>
                      <a:schemeClr val="accent1"/>
                    </a:solidFill>
                  </a:rPr>
                  <a:t>fechada</a:t>
                </a:r>
                <a:r>
                  <a:rPr lang="pt-BR" dirty="0"/>
                  <a:t> (</a:t>
                </a:r>
                <a14:m>
                  <m:oMath xmlns:m="http://schemas.openxmlformats.org/officeDocument/2006/math">
                    <m:r>
                      <a:rPr lang="pt-BR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pt-BR" dirty="0"/>
                  <a:t>).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Retem-se o estado anterior,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pt-BR" dirty="0"/>
                  <a:t>, a </a:t>
                </a:r>
                <a:r>
                  <a:rPr lang="pt-BR" b="1" dirty="0">
                    <a:solidFill>
                      <a:schemeClr val="accent2"/>
                    </a:solidFill>
                  </a:rPr>
                  <a:t>porta de esquecimento</a:t>
                </a:r>
                <a:r>
                  <a:rPr lang="pt-BR" dirty="0"/>
                  <a:t> é </a:t>
                </a:r>
                <a:r>
                  <a:rPr lang="pt-BR" b="1" dirty="0">
                    <a:solidFill>
                      <a:schemeClr val="accent2"/>
                    </a:solidFill>
                  </a:rPr>
                  <a:t>fechada</a:t>
                </a:r>
                <a:r>
                  <a:rPr lang="pt-BR" dirty="0"/>
                  <a:t> e a </a:t>
                </a:r>
                <a:r>
                  <a:rPr lang="pt-BR" b="1" dirty="0">
                    <a:solidFill>
                      <a:schemeClr val="accent1"/>
                    </a:solidFill>
                  </a:rPr>
                  <a:t>porta de entrada</a:t>
                </a:r>
                <a:r>
                  <a:rPr lang="pt-BR" dirty="0"/>
                  <a:t> é </a:t>
                </a:r>
                <a:r>
                  <a:rPr lang="pt-BR" b="1" dirty="0">
                    <a:solidFill>
                      <a:schemeClr val="accent1"/>
                    </a:solidFill>
                  </a:rPr>
                  <a:t>aberta</a:t>
                </a:r>
                <a:r>
                  <a:rPr lang="pt-BR" dirty="0"/>
                  <a:t> (</a:t>
                </a:r>
                <a14:m>
                  <m:oMath xmlns:m="http://schemas.openxmlformats.org/officeDocument/2006/math">
                    <m:r>
                      <a:rPr lang="pt-BR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pt-BR" dirty="0"/>
                  <a:t>).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O estado oculto passa a ser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</m:acc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Em outras palavras, sempre que uma </a:t>
                </a:r>
                <a:r>
                  <a:rPr lang="pt-BR" b="1" dirty="0">
                    <a:solidFill>
                      <a:srgbClr val="00B050"/>
                    </a:solidFill>
                  </a:rPr>
                  <a:t>informação precisa ser armazenada</a:t>
                </a:r>
                <a:r>
                  <a:rPr lang="pt-BR" dirty="0"/>
                  <a:t>, o </a:t>
                </a:r>
                <a:r>
                  <a:rPr lang="pt-BR" b="1" dirty="0">
                    <a:solidFill>
                      <a:schemeClr val="accent1"/>
                    </a:solidFill>
                  </a:rPr>
                  <a:t>local</a:t>
                </a:r>
                <a:r>
                  <a:rPr lang="pt-BR" dirty="0"/>
                  <a:t> (i.e., elemento) </a:t>
                </a:r>
                <a:r>
                  <a:rPr lang="pt-BR" b="1" dirty="0">
                    <a:solidFill>
                      <a:srgbClr val="00B050"/>
                    </a:solidFill>
                  </a:rPr>
                  <a:t>onde ela será armazenada é apagado primeiro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FD774B-6AD0-3D5A-6E43-1615AD14A6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95900" y="1825624"/>
                <a:ext cx="6896100" cy="5032375"/>
              </a:xfrm>
              <a:blipFill>
                <a:blip r:embed="rId3"/>
                <a:stretch>
                  <a:fillRect l="-1592" t="-1937" r="-2034" b="-2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>
            <a:extLst>
              <a:ext uri="{FF2B5EF4-FFF2-40B4-BE49-F238E27FC236}">
                <a16:creationId xmlns:a16="http://schemas.microsoft.com/office/drawing/2014/main" xmlns="" id="{B2F3CC40-49C1-A17A-D102-481B76DDA4A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63" y="2636159"/>
            <a:ext cx="4926724" cy="299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550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CF3733C-58C8-E4B7-FC35-0AEFAEF04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097EC14-5D3D-1ECB-B8D3-E899D7B33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Gated</a:t>
            </a:r>
            <a:r>
              <a:rPr lang="pt-BR" i="1" dirty="0"/>
              <a:t> </a:t>
            </a:r>
            <a:r>
              <a:rPr lang="pt-BR" i="1" dirty="0" err="1"/>
              <a:t>recurrent</a:t>
            </a:r>
            <a:r>
              <a:rPr lang="pt-BR" i="1" dirty="0"/>
              <a:t> </a:t>
            </a:r>
            <a:r>
              <a:rPr lang="pt-BR" i="1" dirty="0" err="1"/>
              <a:t>unit</a:t>
            </a:r>
            <a:r>
              <a:rPr lang="pt-BR" dirty="0"/>
              <a:t> (GRU)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30C49AE4-0F34-2E99-C4AF-643B19DB56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67374" y="1825624"/>
                <a:ext cx="6524625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A porta de </a:t>
                </a:r>
                <a:r>
                  <a:rPr lang="pt-BR" i="1" dirty="0"/>
                  <a:t>reset</a:t>
                </a:r>
                <a:r>
                  <a:rPr lang="pt-BR" dirty="0"/>
                  <a:t> é responsável pela </a:t>
                </a:r>
                <a:r>
                  <a:rPr lang="pt-BR" b="1" dirty="0">
                    <a:solidFill>
                      <a:schemeClr val="accent2"/>
                    </a:solidFill>
                  </a:rPr>
                  <a:t>memória de curto prazo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Ela decide </a:t>
                </a:r>
                <a:r>
                  <a:rPr lang="pt-BR" b="1" dirty="0">
                    <a:solidFill>
                      <a:schemeClr val="accent1"/>
                    </a:solidFill>
                  </a:rPr>
                  <a:t>quanta informação passada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, será </a:t>
                </a:r>
                <a:r>
                  <a:rPr lang="pt-BR" b="1" dirty="0">
                    <a:solidFill>
                      <a:schemeClr val="accent1"/>
                    </a:solidFill>
                  </a:rPr>
                  <a:t>mantida ou descartada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A célula GRU </a:t>
                </a:r>
                <a:r>
                  <a:rPr lang="pt-BR" b="1" dirty="0">
                    <a:solidFill>
                      <a:srgbClr val="00B050"/>
                    </a:solidFill>
                  </a:rPr>
                  <a:t>não tem uma porta de saída</a:t>
                </a:r>
                <a:r>
                  <a:rPr lang="pt-BR" dirty="0"/>
                  <a:t>. </a:t>
                </a:r>
                <a:endParaRPr lang="pt-BR" b="1" dirty="0">
                  <a:solidFill>
                    <a:schemeClr val="accent2"/>
                  </a:solidFill>
                </a:endParaRPr>
              </a:p>
              <a:p>
                <a:r>
                  <a:rPr lang="pt-BR" b="1" dirty="0">
                    <a:solidFill>
                      <a:schemeClr val="accent2"/>
                    </a:solidFill>
                  </a:rPr>
                  <a:t>O vetor de estado oculto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/>
                  <a:t>, </a:t>
                </a:r>
                <a:r>
                  <a:rPr lang="pt-BR" b="1" dirty="0">
                    <a:solidFill>
                      <a:schemeClr val="accent2"/>
                    </a:solidFill>
                  </a:rPr>
                  <a:t>completo é apresentado na saída</a:t>
                </a:r>
                <a:r>
                  <a:rPr lang="pt-BR" dirty="0"/>
                  <a:t> da célula a cada passo de tempo.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C49AE4-0F34-2E99-C4AF-643B19DB56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67374" y="1825624"/>
                <a:ext cx="6524625" cy="5032375"/>
              </a:xfrm>
              <a:blipFill>
                <a:blip r:embed="rId3"/>
                <a:stretch>
                  <a:fillRect l="-1682" t="-1937" r="-1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m 4">
            <a:extLst>
              <a:ext uri="{FF2B5EF4-FFF2-40B4-BE49-F238E27FC236}">
                <a16:creationId xmlns:a16="http://schemas.microsoft.com/office/drawing/2014/main" xmlns="" id="{88CDDFE4-456B-9ED2-0DB9-E39DD3E4A5B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3" y="2636159"/>
            <a:ext cx="4926724" cy="299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74278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6F46201-70AB-3101-010F-37663AAAB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31D9534-0BDC-5AAE-8B8A-DE28FBF11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779" y="1230330"/>
            <a:ext cx="11598442" cy="439734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6000" dirty="0"/>
              <a:t>Como as células LSTM e GRU minimizam o problema do desaparecimento do gradiente e, consequentemente, mantém a memória de longo prazo?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161994258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17C2CC-E86F-6285-9CEE-AEE63628E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Desaparecimento do gradiente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72691B0C-DF41-453D-2999-4912A83FED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71586" y="1825624"/>
                <a:ext cx="6920414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/>
                  <a:t>As células de </a:t>
                </a:r>
                <a:r>
                  <a:rPr lang="pt-BR" dirty="0" err="1"/>
                  <a:t>RNNs</a:t>
                </a:r>
                <a:r>
                  <a:rPr lang="pt-BR" dirty="0"/>
                  <a:t> tradicionais apresentam um </a:t>
                </a:r>
                <a:r>
                  <a:rPr lang="pt-BR" b="1" dirty="0">
                    <a:solidFill>
                      <a:srgbClr val="7030A0"/>
                    </a:solidFill>
                  </a:rPr>
                  <a:t>caminho </a:t>
                </a:r>
                <a:r>
                  <a:rPr lang="pt-BR" b="1" dirty="0">
                    <a:solidFill>
                      <a:srgbClr val="00B050"/>
                    </a:solidFill>
                  </a:rPr>
                  <a:t>não-linear</a:t>
                </a:r>
                <a:r>
                  <a:rPr lang="pt-BR" b="1" dirty="0">
                    <a:solidFill>
                      <a:srgbClr val="7030A0"/>
                    </a:solidFill>
                  </a:rPr>
                  <a:t> para a retropropagação do gradiente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O </a:t>
                </a:r>
                <a:r>
                  <a:rPr lang="pt-BR" b="1" dirty="0">
                    <a:solidFill>
                      <a:schemeClr val="accent1"/>
                    </a:solidFill>
                  </a:rPr>
                  <a:t>novo estado da célula</a:t>
                </a:r>
                <a:r>
                  <a:rPr lang="pt-BR" dirty="0"/>
                  <a:t> </a:t>
                </a:r>
                <a:r>
                  <a:rPr lang="pt-BR" b="1" dirty="0">
                    <a:solidFill>
                      <a:srgbClr val="00B050"/>
                    </a:solidFill>
                  </a:rPr>
                  <a:t>passa por uma função </a:t>
                </a:r>
                <a:r>
                  <a:rPr lang="pt-BR" b="1" dirty="0" err="1">
                    <a:solidFill>
                      <a:srgbClr val="00B050"/>
                    </a:solidFill>
                  </a:rPr>
                  <a:t>tanh</a:t>
                </a:r>
                <a:endParaRPr lang="pt-BR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>
                              <a:latin typeface="Cambria Math" panose="02040503050406030204" pitchFamily="18" charset="0"/>
                            </a:rPr>
                            <m:t>tanh</m:t>
                          </m:r>
                        </m:fName>
                        <m:e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  <m:r>
                        <a:rPr lang="pt-BR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r>
                  <a:rPr lang="pt-BR" dirty="0"/>
                  <a:t>Como sabemos, a derivada da função </a:t>
                </a:r>
                <a:r>
                  <a:rPr lang="pt-BR" dirty="0" err="1"/>
                  <a:t>tanh</a:t>
                </a:r>
                <a:r>
                  <a:rPr lang="pt-BR" dirty="0"/>
                  <a:t> tem um valor máximo igual 1. </a:t>
                </a:r>
              </a:p>
              <a:p>
                <a:r>
                  <a:rPr lang="pt-BR" dirty="0"/>
                  <a:t>Como vimos, o resultado é que o </a:t>
                </a:r>
                <a:r>
                  <a:rPr lang="pt-BR" b="1" dirty="0">
                    <a:solidFill>
                      <a:srgbClr val="7030A0"/>
                    </a:solidFill>
                  </a:rPr>
                  <a:t>gradiente diminui exponencialmente</a:t>
                </a:r>
                <a:r>
                  <a:rPr lang="pt-BR" dirty="0"/>
                  <a:t> à medida que volta no tempo, </a:t>
                </a:r>
                <a:r>
                  <a:rPr lang="pt-BR" b="1" dirty="0">
                    <a:solidFill>
                      <a:schemeClr val="accent2"/>
                    </a:solidFill>
                  </a:rPr>
                  <a:t>impedindo que a rede aprenda dependências de longo prazo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691B0C-DF41-453D-2999-4912A83FED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71586" y="1825624"/>
                <a:ext cx="6920414" cy="5032375"/>
              </a:xfrm>
              <a:blipFill>
                <a:blip r:embed="rId2"/>
                <a:stretch>
                  <a:fillRect l="-1586" t="-2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45A00CD-C690-0519-A0B6-48532CE3E9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258" y="3177798"/>
            <a:ext cx="4689828" cy="232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42794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7AA2CFE-86F0-EADA-5F6B-21779E0DE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846F83-8A94-AC30-CA13-A79DBA57A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Desaparecimento do gradiente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04731FB8-17E6-6325-5B4E-B3F89A3E62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59837" y="1825624"/>
                <a:ext cx="6132162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 smtClean="0"/>
                  <a:t>Já as células de </a:t>
                </a:r>
                <a:r>
                  <a:rPr lang="pt-BR" dirty="0" err="1"/>
                  <a:t>LSTMs</a:t>
                </a:r>
                <a:r>
                  <a:rPr lang="pt-BR" dirty="0"/>
                  <a:t> e </a:t>
                </a:r>
                <a:r>
                  <a:rPr lang="pt-BR" dirty="0" err="1"/>
                  <a:t>GRUs</a:t>
                </a:r>
                <a:r>
                  <a:rPr lang="pt-BR" dirty="0"/>
                  <a:t> </a:t>
                </a:r>
                <a:r>
                  <a:rPr lang="pt-BR" b="1" dirty="0">
                    <a:solidFill>
                      <a:srgbClr val="7030A0"/>
                    </a:solidFill>
                  </a:rPr>
                  <a:t>modificam o estado da célula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/>
                  <a:t>, </a:t>
                </a:r>
                <a:r>
                  <a:rPr lang="pt-BR" b="1" dirty="0">
                    <a:solidFill>
                      <a:srgbClr val="00B050"/>
                    </a:solidFill>
                  </a:rPr>
                  <a:t>por meio de um caminho controlável</a:t>
                </a:r>
                <a:r>
                  <a:rPr lang="pt-BR" dirty="0">
                    <a:solidFill>
                      <a:schemeClr val="tx1"/>
                    </a:solidFill>
                  </a:rPr>
                  <a:t> (por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pt-B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 smtClean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pt-B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 smtClean="0">
                    <a:solidFill>
                      <a:schemeClr val="tx1"/>
                    </a:solidFill>
                  </a:rPr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 smtClean="0">
                    <a:solidFill>
                      <a:schemeClr val="tx1"/>
                    </a:solidFill>
                  </a:rPr>
                  <a:t>) </a:t>
                </a:r>
                <a:r>
                  <a:rPr lang="pt-BR" dirty="0"/>
                  <a:t>que </a:t>
                </a:r>
                <a:r>
                  <a:rPr lang="pt-BR" b="1" dirty="0">
                    <a:solidFill>
                      <a:schemeClr val="accent2"/>
                    </a:solidFill>
                  </a:rPr>
                  <a:t>contém</a:t>
                </a:r>
                <a:r>
                  <a:rPr lang="pt-BR" dirty="0"/>
                  <a:t> </a:t>
                </a:r>
                <a:r>
                  <a:rPr lang="pt-BR" b="1" dirty="0">
                    <a:solidFill>
                      <a:schemeClr val="accent2"/>
                    </a:solidFill>
                  </a:rPr>
                  <a:t>apenas</a:t>
                </a:r>
                <a:r>
                  <a:rPr lang="pt-BR" dirty="0"/>
                  <a:t> </a:t>
                </a:r>
                <a:r>
                  <a:rPr lang="pt-BR" b="1" dirty="0">
                    <a:solidFill>
                      <a:schemeClr val="accent2"/>
                    </a:solidFill>
                  </a:rPr>
                  <a:t>interações lineares</a:t>
                </a:r>
                <a:endParaRPr lang="pt-BR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acc>
                            <m:accPr>
                              <m:chr m:val="̃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</m:acc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</a:rPr>
                        <m:t>LSTM</m:t>
                      </m:r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pt-BR" dirty="0" smtClean="0">
                    <a:latin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acc>
                          <m:accPr>
                            <m:chr m:val="̃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</m:acc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 smtClean="0">
                    <a:latin typeface="Cambria Math" panose="02040503050406030204" pitchFamily="18" charset="0"/>
                  </a:rPr>
                  <a:t> (GRU)</a:t>
                </a:r>
                <a:endParaRPr lang="pt-BR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/>
                  <a:t> </a:t>
                </a:r>
                <a:r>
                  <a:rPr lang="pt-BR" dirty="0" smtClean="0"/>
                  <a:t>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 smtClean="0"/>
                  <a:t> são atualizados </a:t>
                </a:r>
                <a:r>
                  <a:rPr lang="pt-BR" dirty="0"/>
                  <a:t>usando-se </a:t>
                </a:r>
                <a:r>
                  <a:rPr lang="pt-BR" b="1" dirty="0"/>
                  <a:t>uma</a:t>
                </a:r>
                <a:r>
                  <a:rPr lang="pt-BR" dirty="0"/>
                  <a:t> </a:t>
                </a:r>
                <a:r>
                  <a:rPr lang="pt-BR" b="1" dirty="0"/>
                  <a:t>soma e multiplicações elemento a elemento</a:t>
                </a:r>
                <a:r>
                  <a:rPr lang="pt-BR" dirty="0"/>
                  <a:t>, </a:t>
                </a:r>
                <a:r>
                  <a:rPr lang="pt-BR" b="1" dirty="0">
                    <a:solidFill>
                      <a:srgbClr val="7030A0"/>
                    </a:solidFill>
                  </a:rPr>
                  <a:t>sem passar por transformações não lineares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4731FB8-17E6-6325-5B4E-B3F89A3E62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59837" y="1825624"/>
                <a:ext cx="6132162" cy="5032375"/>
              </a:xfrm>
              <a:blipFill rotWithShape="0">
                <a:blip r:embed="rId2"/>
                <a:stretch>
                  <a:fillRect l="-1789" t="-1937" r="-29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C6B5183E-9AC1-0221-501F-8EC3C14578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655" y="1690688"/>
            <a:ext cx="3888430" cy="239352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3540DDFD-8900-4E48-7C98-3C262F3FE9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655" y="4350851"/>
            <a:ext cx="3888430" cy="214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96956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7AA2CFE-86F0-EADA-5F6B-21779E0DE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846F83-8A94-AC30-CA13-A79DBA57A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Desaparecimento do gradiente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4731FB8-17E6-6325-5B4E-B3F89A3E6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4480" y="1825624"/>
            <a:ext cx="6777519" cy="5032375"/>
          </a:xfrm>
        </p:spPr>
        <p:txBody>
          <a:bodyPr>
            <a:normAutofit/>
          </a:bodyPr>
          <a:lstStyle/>
          <a:p>
            <a:r>
              <a:rPr lang="pt-BR" dirty="0"/>
              <a:t>Esse </a:t>
            </a:r>
            <a:r>
              <a:rPr lang="pt-BR" b="1" dirty="0">
                <a:solidFill>
                  <a:srgbClr val="00B050"/>
                </a:solidFill>
              </a:rPr>
              <a:t>caminho controlável</a:t>
            </a:r>
            <a:r>
              <a:rPr lang="pt-BR" dirty="0"/>
              <a:t> </a:t>
            </a:r>
            <a:r>
              <a:rPr lang="pt-BR" b="1" dirty="0">
                <a:solidFill>
                  <a:srgbClr val="7030A0"/>
                </a:solidFill>
              </a:rPr>
              <a:t>permite que os gradientes retrocedam</a:t>
            </a:r>
            <a:r>
              <a:rPr lang="pt-BR" dirty="0"/>
              <a:t> </a:t>
            </a:r>
            <a:r>
              <a:rPr lang="pt-BR" b="1" dirty="0">
                <a:solidFill>
                  <a:schemeClr val="accent1"/>
                </a:solidFill>
              </a:rPr>
              <a:t>por longos instantes de tempo </a:t>
            </a:r>
            <a:r>
              <a:rPr lang="pt-BR" dirty="0" smtClean="0"/>
              <a:t>sem </a:t>
            </a:r>
            <a:r>
              <a:rPr lang="pt-BR" b="1" dirty="0" smtClean="0">
                <a:solidFill>
                  <a:schemeClr val="accent1"/>
                </a:solidFill>
              </a:rPr>
              <a:t>desaparecer</a:t>
            </a:r>
            <a:r>
              <a:rPr lang="pt-BR" dirty="0" smtClean="0"/>
              <a:t>.</a:t>
            </a:r>
            <a:endParaRPr lang="pt-BR" dirty="0"/>
          </a:p>
          <a:p>
            <a:r>
              <a:rPr lang="pt-BR" dirty="0"/>
              <a:t>A rede </a:t>
            </a:r>
            <a:r>
              <a:rPr lang="pt-BR" b="1" dirty="0">
                <a:solidFill>
                  <a:srgbClr val="00B050"/>
                </a:solidFill>
              </a:rPr>
              <a:t>aprende</a:t>
            </a:r>
            <a:r>
              <a:rPr lang="pt-BR" dirty="0">
                <a:solidFill>
                  <a:srgbClr val="00B050"/>
                </a:solidFill>
              </a:rPr>
              <a:t> </a:t>
            </a:r>
            <a:r>
              <a:rPr lang="pt-BR" dirty="0"/>
              <a:t>a decidir quando deixar o </a:t>
            </a:r>
            <a:r>
              <a:rPr lang="pt-BR" b="1" dirty="0">
                <a:solidFill>
                  <a:schemeClr val="accent2"/>
                </a:solidFill>
              </a:rPr>
              <a:t>gradiente desaparecer </a:t>
            </a:r>
            <a:r>
              <a:rPr lang="pt-BR" dirty="0"/>
              <a:t>e quando </a:t>
            </a:r>
            <a:r>
              <a:rPr lang="pt-BR" b="1" dirty="0">
                <a:solidFill>
                  <a:schemeClr val="accent2"/>
                </a:solidFill>
              </a:rPr>
              <a:t>preservá-lo</a:t>
            </a:r>
            <a:r>
              <a:rPr lang="pt-BR" dirty="0"/>
              <a:t>.</a:t>
            </a:r>
          </a:p>
          <a:p>
            <a:r>
              <a:rPr lang="pt-BR" dirty="0"/>
              <a:t>Portanto, as portas permitem que a rede decida o que guardar e o que descartar.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C6B5183E-9AC1-0221-501F-8EC3C145787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3888430" cy="239352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xmlns="" id="{8D22978F-A98B-7B35-B4FF-07AD9BDAC9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350851"/>
            <a:ext cx="3888430" cy="214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54662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6F46201-70AB-3101-010F-37663AAAB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31D9534-0BDC-5AAE-8B8A-DE28FBF11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351" y="2890341"/>
            <a:ext cx="11291298" cy="107731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6000" dirty="0"/>
              <a:t>Diferentes aplicações para as </a:t>
            </a:r>
            <a:r>
              <a:rPr lang="pt-BR" sz="6000" dirty="0" err="1"/>
              <a:t>RNNs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85363786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75519F-4E97-D41B-FEDC-5985815D8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Aplicação: um-para-um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3FB7023-EEE1-0137-9550-E8D35802B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1" y="1825624"/>
            <a:ext cx="5971952" cy="5032375"/>
          </a:xfrm>
        </p:spPr>
        <p:txBody>
          <a:bodyPr/>
          <a:lstStyle/>
          <a:p>
            <a:r>
              <a:rPr lang="pt-BR" dirty="0"/>
              <a:t>Rede neural de alimentação direta tradicional.</a:t>
            </a:r>
          </a:p>
          <a:p>
            <a:r>
              <a:rPr lang="pt-BR" dirty="0"/>
              <a:t>Entrada e saída de tamanhos fixos.</a:t>
            </a:r>
          </a:p>
          <a:p>
            <a:r>
              <a:rPr lang="pt-BR" dirty="0"/>
              <a:t>Não há dados sequenciais envolvidos.</a:t>
            </a:r>
          </a:p>
          <a:p>
            <a:r>
              <a:rPr lang="pt-BR" dirty="0"/>
              <a:t>Exemplo de uso: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Classificação de imagens.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Entrada: imagem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Saída: classe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15122A6D-DC79-2AF9-1085-14936C685310}"/>
              </a:ext>
            </a:extLst>
          </p:cNvPr>
          <p:cNvGrpSpPr/>
          <p:nvPr/>
        </p:nvGrpSpPr>
        <p:grpSpPr>
          <a:xfrm>
            <a:off x="2466087" y="1895280"/>
            <a:ext cx="393407" cy="4188675"/>
            <a:chOff x="1754370" y="1988288"/>
            <a:chExt cx="393407" cy="418867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xmlns="" id="{01948E46-812A-1E66-F7BB-490F2947AA8F}"/>
                </a:ext>
              </a:extLst>
            </p:cNvPr>
            <p:cNvSpPr/>
            <p:nvPr/>
          </p:nvSpPr>
          <p:spPr>
            <a:xfrm>
              <a:off x="1754372" y="1988288"/>
              <a:ext cx="393405" cy="108452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9DBCB693-614D-5B50-C07B-DA27AF31D3BA}"/>
                </a:ext>
              </a:extLst>
            </p:cNvPr>
            <p:cNvSpPr/>
            <p:nvPr/>
          </p:nvSpPr>
          <p:spPr>
            <a:xfrm>
              <a:off x="1754371" y="3540365"/>
              <a:ext cx="393405" cy="1084521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A514DA19-CE6F-9767-CCCD-49466007DF08}"/>
                </a:ext>
              </a:extLst>
            </p:cNvPr>
            <p:cNvSpPr/>
            <p:nvPr/>
          </p:nvSpPr>
          <p:spPr>
            <a:xfrm>
              <a:off x="1754370" y="5092442"/>
              <a:ext cx="393405" cy="1084521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xmlns="" id="{8AC2FB4A-7CD4-042C-9701-B24C1E6C7FE3}"/>
                </a:ext>
              </a:extLst>
            </p:cNvPr>
            <p:cNvCxnSpPr>
              <a:stCxn id="5" idx="0"/>
              <a:endCxn id="4" idx="2"/>
            </p:cNvCxnSpPr>
            <p:nvPr/>
          </p:nvCxnSpPr>
          <p:spPr>
            <a:xfrm flipV="1">
              <a:off x="1951074" y="3072809"/>
              <a:ext cx="1" cy="4675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xmlns="" id="{960CE189-87E8-01A6-FFCA-A4F6919BBAE0}"/>
                </a:ext>
              </a:extLst>
            </p:cNvPr>
            <p:cNvCxnSpPr>
              <a:cxnSpLocks/>
              <a:stCxn id="6" idx="0"/>
              <a:endCxn id="5" idx="2"/>
            </p:cNvCxnSpPr>
            <p:nvPr/>
          </p:nvCxnSpPr>
          <p:spPr>
            <a:xfrm flipV="1">
              <a:off x="1951073" y="4624886"/>
              <a:ext cx="1" cy="4675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xmlns="" id="{624E2679-792C-F87E-14FB-2AF9E64F6E79}"/>
                    </a:ext>
                  </a:extLst>
                </p:cNvPr>
                <p:cNvSpPr txBox="1"/>
                <p:nvPr/>
              </p:nvSpPr>
              <p:spPr>
                <a:xfrm>
                  <a:off x="1754370" y="5450036"/>
                  <a:ext cx="39340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24E2679-792C-F87E-14FB-2AF9E64F6E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4370" y="5450036"/>
                  <a:ext cx="393406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xmlns="" id="{1668DFCE-0DD9-DC2F-2185-D32B6C069879}"/>
                    </a:ext>
                  </a:extLst>
                </p:cNvPr>
                <p:cNvSpPr txBox="1"/>
                <p:nvPr/>
              </p:nvSpPr>
              <p:spPr>
                <a:xfrm>
                  <a:off x="1754370" y="2340014"/>
                  <a:ext cx="39340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668DFCE-0DD9-DC2F-2185-D32B6C0698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4370" y="2340014"/>
                  <a:ext cx="393406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xmlns="" id="{8A95AB21-C2EA-0465-36B4-A7DEBD773301}"/>
              </a:ext>
            </a:extLst>
          </p:cNvPr>
          <p:cNvGrpSpPr/>
          <p:nvPr/>
        </p:nvGrpSpPr>
        <p:grpSpPr>
          <a:xfrm>
            <a:off x="3532515" y="5802560"/>
            <a:ext cx="4106535" cy="831618"/>
            <a:chOff x="3532515" y="5802560"/>
            <a:chExt cx="4106535" cy="831618"/>
          </a:xfrm>
        </p:grpSpPr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xmlns="" id="{1AEF0F1E-D18A-69B9-8100-6562DDA956F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19601" y="6110958"/>
              <a:ext cx="180000" cy="496217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xmlns="" id="{F0205C4C-EF1E-AD08-1638-F516E21033EF}"/>
                </a:ext>
              </a:extLst>
            </p:cNvPr>
            <p:cNvSpPr txBox="1"/>
            <p:nvPr/>
          </p:nvSpPr>
          <p:spPr>
            <a:xfrm>
              <a:off x="3799601" y="6083955"/>
              <a:ext cx="9795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Camada recorrente</a:t>
              </a:r>
              <a:endParaRPr lang="en-US" sz="1400" dirty="0"/>
            </a:p>
          </p:txBody>
        </p:sp>
        <p:sp>
          <p:nvSpPr>
            <p:cNvPr id="11" name="Rectangle 4">
              <a:extLst>
                <a:ext uri="{FF2B5EF4-FFF2-40B4-BE49-F238E27FC236}">
                  <a16:creationId xmlns:a16="http://schemas.microsoft.com/office/drawing/2014/main" xmlns="" id="{7944A1DE-4D0F-01A0-4EE6-F5FEC92F3E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36410" y="6110958"/>
              <a:ext cx="180000" cy="496217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aixaDeTexto 11">
                  <a:extLst>
                    <a:ext uri="{FF2B5EF4-FFF2-40B4-BE49-F238E27FC236}">
                      <a16:creationId xmlns:a16="http://schemas.microsoft.com/office/drawing/2014/main" xmlns="" id="{7A758A03-28F9-6577-A08D-C8D03DF0D316}"/>
                    </a:ext>
                  </a:extLst>
                </p:cNvPr>
                <p:cNvSpPr txBox="1"/>
                <p:nvPr/>
              </p:nvSpPr>
              <p:spPr>
                <a:xfrm>
                  <a:off x="5100378" y="6110958"/>
                  <a:ext cx="1316809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1400" dirty="0"/>
                    <a:t>Amostra do </a:t>
                  </a:r>
                  <a14:m>
                    <m:oMath xmlns:m="http://schemas.openxmlformats.org/officeDocument/2006/math"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a14:m>
                  <a:r>
                    <a:rPr lang="pt-BR" sz="1400" dirty="0"/>
                    <a:t>-ésimo passo</a:t>
                  </a:r>
                  <a:endParaRPr lang="en-US" sz="1400" dirty="0"/>
                </a:p>
              </p:txBody>
            </p:sp>
          </mc:Choice>
          <mc:Fallback xmlns="">
            <p:sp>
              <p:nvSpPr>
                <p:cNvPr id="12" name="CaixaDeTexto 11">
                  <a:extLst>
                    <a:ext uri="{FF2B5EF4-FFF2-40B4-BE49-F238E27FC236}">
                      <a16:creationId xmlns:a16="http://schemas.microsoft.com/office/drawing/2014/main" id="{7A758A03-28F9-6577-A08D-C8D03DF0D3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0378" y="6110958"/>
                  <a:ext cx="1316809" cy="523220"/>
                </a:xfrm>
                <a:prstGeom prst="rect">
                  <a:avLst/>
                </a:prstGeom>
                <a:blipFill>
                  <a:blip r:embed="rId4"/>
                  <a:stretch>
                    <a:fillRect t="-1163" b="-116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Rectangle 4">
              <a:extLst>
                <a:ext uri="{FF2B5EF4-FFF2-40B4-BE49-F238E27FC236}">
                  <a16:creationId xmlns:a16="http://schemas.microsoft.com/office/drawing/2014/main" xmlns="" id="{4E0EEB81-462A-7BAE-2557-C9EAD8B473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2049" y="6110958"/>
              <a:ext cx="180000" cy="49621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aixaDeTexto 16">
                  <a:extLst>
                    <a:ext uri="{FF2B5EF4-FFF2-40B4-BE49-F238E27FC236}">
                      <a16:creationId xmlns:a16="http://schemas.microsoft.com/office/drawing/2014/main" xmlns="" id="{C1A456E8-254D-7BB3-D272-3FBC9FB4B353}"/>
                    </a:ext>
                  </a:extLst>
                </p:cNvPr>
                <p:cNvSpPr txBox="1"/>
                <p:nvPr/>
              </p:nvSpPr>
              <p:spPr>
                <a:xfrm>
                  <a:off x="6562049" y="6083955"/>
                  <a:ext cx="1077001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1400" dirty="0"/>
                    <a:t>Saída do </a:t>
                  </a:r>
                  <a14:m>
                    <m:oMath xmlns:m="http://schemas.openxmlformats.org/officeDocument/2006/math"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a14:m>
                  <a:r>
                    <a:rPr lang="pt-BR" sz="1400" dirty="0"/>
                    <a:t>-ésimo passo</a:t>
                  </a:r>
                  <a:endParaRPr lang="en-US" sz="1400" dirty="0"/>
                </a:p>
              </p:txBody>
            </p:sp>
          </mc:Choice>
          <mc:Fallback xmlns="">
            <p:sp>
              <p:nvSpPr>
                <p:cNvPr id="17" name="CaixaDeTexto 16">
                  <a:extLst>
                    <a:ext uri="{FF2B5EF4-FFF2-40B4-BE49-F238E27FC236}">
                      <a16:creationId xmlns:a16="http://schemas.microsoft.com/office/drawing/2014/main" id="{C1A456E8-254D-7BB3-D272-3FBC9FB4B3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2049" y="6083955"/>
                  <a:ext cx="1077001" cy="523220"/>
                </a:xfrm>
                <a:prstGeom prst="rect">
                  <a:avLst/>
                </a:prstGeom>
                <a:blipFill>
                  <a:blip r:embed="rId5"/>
                  <a:stretch>
                    <a:fillRect l="-1130" t="-2326" r="-565" b="-116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xmlns="" id="{3029FE31-547D-0852-38F2-23F0748C5331}"/>
                </a:ext>
              </a:extLst>
            </p:cNvPr>
            <p:cNvSpPr txBox="1"/>
            <p:nvPr/>
          </p:nvSpPr>
          <p:spPr>
            <a:xfrm>
              <a:off x="3532515" y="5802560"/>
              <a:ext cx="8775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b="1" dirty="0"/>
                <a:t>Legenda:</a:t>
              </a:r>
              <a:endParaRPr 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12919767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A56FE1B-2F4B-3642-C94B-B94B9E919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A24085D-74A3-7DF1-5CE0-BB50E2AA9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Aplicação: um-para-vários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10758ED-F051-FFC1-8759-DD2BFDD23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7400" y="1825624"/>
            <a:ext cx="6200553" cy="5032375"/>
          </a:xfrm>
        </p:spPr>
        <p:txBody>
          <a:bodyPr>
            <a:normAutofit/>
          </a:bodyPr>
          <a:lstStyle/>
          <a:p>
            <a:r>
              <a:rPr lang="pt-BR" dirty="0"/>
              <a:t>Entrada de tamanho fixo.</a:t>
            </a:r>
          </a:p>
          <a:p>
            <a:r>
              <a:rPr lang="pt-BR" dirty="0"/>
              <a:t>Saída de tamanho variável (sequência).</a:t>
            </a:r>
          </a:p>
          <a:p>
            <a:r>
              <a:rPr lang="pt-BR" dirty="0"/>
              <a:t>Rede do tipo vetor para sequência</a:t>
            </a:r>
          </a:p>
          <a:p>
            <a:r>
              <a:rPr lang="pt-BR" dirty="0"/>
              <a:t>Exemplo de uso: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Legendas de imagens.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Entrada: uma imagem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Saída: sequência de palavras descrevendo a imagem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Geração de música.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pt-BR" dirty="0"/>
              <a:t>Entrada: um vetor que representa um gênero musical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pt-BR" dirty="0"/>
              <a:t>Saída: as amostras de </a:t>
            </a:r>
            <a:r>
              <a:rPr lang="en-US" dirty="0" err="1"/>
              <a:t>áudio</a:t>
            </a:r>
            <a:r>
              <a:rPr lang="en-US" dirty="0"/>
              <a:t> da </a:t>
            </a:r>
            <a:r>
              <a:rPr lang="en-US" dirty="0" err="1"/>
              <a:t>música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173BC90E-401F-9CA8-D485-C705D4BC18A0}"/>
              </a:ext>
            </a:extLst>
          </p:cNvPr>
          <p:cNvSpPr/>
          <p:nvPr/>
        </p:nvSpPr>
        <p:spPr>
          <a:xfrm>
            <a:off x="2551814" y="1825625"/>
            <a:ext cx="393405" cy="10845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9B4DE169-2DEC-FD02-39D3-4ED036488B2C}"/>
              </a:ext>
            </a:extLst>
          </p:cNvPr>
          <p:cNvSpPr/>
          <p:nvPr/>
        </p:nvSpPr>
        <p:spPr>
          <a:xfrm>
            <a:off x="2551813" y="3377702"/>
            <a:ext cx="393405" cy="108452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B071E458-90CC-1CD9-F668-0F83E5EC2B49}"/>
              </a:ext>
            </a:extLst>
          </p:cNvPr>
          <p:cNvSpPr/>
          <p:nvPr/>
        </p:nvSpPr>
        <p:spPr>
          <a:xfrm>
            <a:off x="2551812" y="4929779"/>
            <a:ext cx="393405" cy="108452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74C9AC7C-2534-C237-037C-6BFE9DD1441F}"/>
              </a:ext>
            </a:extLst>
          </p:cNvPr>
          <p:cNvCxnSpPr>
            <a:stCxn id="5" idx="0"/>
            <a:endCxn id="4" idx="2"/>
          </p:cNvCxnSpPr>
          <p:nvPr/>
        </p:nvCxnSpPr>
        <p:spPr>
          <a:xfrm flipV="1">
            <a:off x="2748516" y="2910146"/>
            <a:ext cx="1" cy="467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949FE849-8DE0-FC82-5C8D-E6F4F451D705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flipV="1">
            <a:off x="2748515" y="4462223"/>
            <a:ext cx="1" cy="467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BF0B0C31-83B7-B86A-1FDA-929B051F4519}"/>
                  </a:ext>
                </a:extLst>
              </p:cNvPr>
              <p:cNvSpPr txBox="1"/>
              <p:nvPr/>
            </p:nvSpPr>
            <p:spPr>
              <a:xfrm>
                <a:off x="2551812" y="5287373"/>
                <a:ext cx="3934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F0B0C31-83B7-B86A-1FDA-929B051F4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1812" y="5287373"/>
                <a:ext cx="39340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id="{5C4EB947-2B00-01B1-897A-ECEC27DA1157}"/>
                  </a:ext>
                </a:extLst>
              </p:cNvPr>
              <p:cNvSpPr txBox="1"/>
              <p:nvPr/>
            </p:nvSpPr>
            <p:spPr>
              <a:xfrm>
                <a:off x="2551812" y="2177351"/>
                <a:ext cx="3934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4EB947-2B00-01B1-897A-ECEC27DA1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1812" y="2177351"/>
                <a:ext cx="393406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4195ADE5-EFD2-2CE4-120C-33F17F06CF8E}"/>
              </a:ext>
            </a:extLst>
          </p:cNvPr>
          <p:cNvSpPr/>
          <p:nvPr/>
        </p:nvSpPr>
        <p:spPr>
          <a:xfrm>
            <a:off x="3342167" y="3377702"/>
            <a:ext cx="393405" cy="108452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8BE88036-7171-C33B-3FF7-46CC4F7712FE}"/>
              </a:ext>
            </a:extLst>
          </p:cNvPr>
          <p:cNvSpPr/>
          <p:nvPr/>
        </p:nvSpPr>
        <p:spPr>
          <a:xfrm>
            <a:off x="4127204" y="3377702"/>
            <a:ext cx="393405" cy="108452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B91DF6AC-A6FD-8CCC-389D-EA539B1BD52C}"/>
              </a:ext>
            </a:extLst>
          </p:cNvPr>
          <p:cNvSpPr/>
          <p:nvPr/>
        </p:nvSpPr>
        <p:spPr>
          <a:xfrm>
            <a:off x="3342166" y="1825625"/>
            <a:ext cx="393405" cy="10845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DB7CDD93-437A-87E6-0718-836C2DF6B602}"/>
              </a:ext>
            </a:extLst>
          </p:cNvPr>
          <p:cNvSpPr/>
          <p:nvPr/>
        </p:nvSpPr>
        <p:spPr>
          <a:xfrm>
            <a:off x="4127204" y="1819756"/>
            <a:ext cx="393405" cy="10845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E681BE14-7B2A-5CF4-E10E-A7DEB61B11C4}"/>
                  </a:ext>
                </a:extLst>
              </p:cNvPr>
              <p:cNvSpPr txBox="1"/>
              <p:nvPr/>
            </p:nvSpPr>
            <p:spPr>
              <a:xfrm>
                <a:off x="3336851" y="2177351"/>
                <a:ext cx="3934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681BE14-7B2A-5CF4-E10E-A7DEB61B11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6851" y="2177351"/>
                <a:ext cx="393406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id="{CBEA5730-C4C7-738D-E0EB-6B0AC22615B6}"/>
                  </a:ext>
                </a:extLst>
              </p:cNvPr>
              <p:cNvSpPr txBox="1"/>
              <p:nvPr/>
            </p:nvSpPr>
            <p:spPr>
              <a:xfrm>
                <a:off x="4127203" y="2177351"/>
                <a:ext cx="3934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BEA5730-C4C7-738D-E0EB-6B0AC2261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7203" y="2177351"/>
                <a:ext cx="393406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56B2A9D7-DA78-68D1-4F93-5197D873212F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2945218" y="3919963"/>
            <a:ext cx="3969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B6A2E247-2561-B91B-B93F-32FFD3EDDC5F}"/>
              </a:ext>
            </a:extLst>
          </p:cNvPr>
          <p:cNvCxnSpPr>
            <a:stCxn id="7" idx="3"/>
            <a:endCxn id="10" idx="1"/>
          </p:cNvCxnSpPr>
          <p:nvPr/>
        </p:nvCxnSpPr>
        <p:spPr>
          <a:xfrm>
            <a:off x="3735572" y="3919963"/>
            <a:ext cx="3916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xmlns="" id="{6F1616EF-3A72-1259-59E2-590EFB39D927}"/>
              </a:ext>
            </a:extLst>
          </p:cNvPr>
          <p:cNvCxnSpPr>
            <a:stCxn id="7" idx="0"/>
            <a:endCxn id="11" idx="2"/>
          </p:cNvCxnSpPr>
          <p:nvPr/>
        </p:nvCxnSpPr>
        <p:spPr>
          <a:xfrm flipH="1" flipV="1">
            <a:off x="3538869" y="2910146"/>
            <a:ext cx="1" cy="467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xmlns="" id="{7B138E64-74E4-4721-F500-DB7B5398D8BA}"/>
              </a:ext>
            </a:extLst>
          </p:cNvPr>
          <p:cNvCxnSpPr>
            <a:stCxn id="10" idx="0"/>
            <a:endCxn id="12" idx="2"/>
          </p:cNvCxnSpPr>
          <p:nvPr/>
        </p:nvCxnSpPr>
        <p:spPr>
          <a:xfrm flipV="1">
            <a:off x="4323907" y="2904277"/>
            <a:ext cx="0" cy="473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226899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3444CC4-1F8D-1221-E0A5-2DD7F9D11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47A3C2-C6DB-13A0-B8F1-546D0E455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Aplicação: vários-para-um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26CAEBD-083F-C12D-7B6A-7E3651A6C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7698" y="1825624"/>
            <a:ext cx="6570256" cy="5032375"/>
          </a:xfrm>
        </p:spPr>
        <p:txBody>
          <a:bodyPr>
            <a:normAutofit/>
          </a:bodyPr>
          <a:lstStyle/>
          <a:p>
            <a:r>
              <a:rPr lang="pt-BR" dirty="0"/>
              <a:t>Entrada de tamanho variável (sequência).</a:t>
            </a:r>
          </a:p>
          <a:p>
            <a:r>
              <a:rPr lang="pt-BR" dirty="0"/>
              <a:t>Saída de tamanho fixo.</a:t>
            </a:r>
          </a:p>
          <a:p>
            <a:r>
              <a:rPr lang="pt-BR" dirty="0"/>
              <a:t>Rede do tipo sequência para vetor.</a:t>
            </a:r>
          </a:p>
          <a:p>
            <a:r>
              <a:rPr lang="pt-BR" dirty="0"/>
              <a:t>Exemplo de uso: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Classificação de sentimentos: por exemplo, classificar o sentimento de uma crítica </a:t>
            </a:r>
            <a:r>
              <a:rPr lang="pt-BR" dirty="0" smtClean="0"/>
              <a:t>de filme</a:t>
            </a:r>
            <a:r>
              <a:rPr lang="pt-BR" dirty="0"/>
              <a:t>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Entrada: sequência de palavras correspondentes à crítica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Saída: pontuação da crítica: 0 [odiou] até 1 [amou]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C9302BEE-2F04-7DDD-4454-3518684E7D47}"/>
              </a:ext>
            </a:extLst>
          </p:cNvPr>
          <p:cNvSpPr/>
          <p:nvPr/>
        </p:nvSpPr>
        <p:spPr>
          <a:xfrm>
            <a:off x="3563678" y="1819756"/>
            <a:ext cx="393405" cy="10845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5C42A486-679A-4E3B-7913-6F218BD23A83}"/>
              </a:ext>
            </a:extLst>
          </p:cNvPr>
          <p:cNvSpPr/>
          <p:nvPr/>
        </p:nvSpPr>
        <p:spPr>
          <a:xfrm>
            <a:off x="1988288" y="3377702"/>
            <a:ext cx="393405" cy="108452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84137C4D-A821-FEC0-D8F6-AE7B0C2954FE}"/>
              </a:ext>
            </a:extLst>
          </p:cNvPr>
          <p:cNvSpPr/>
          <p:nvPr/>
        </p:nvSpPr>
        <p:spPr>
          <a:xfrm>
            <a:off x="1988287" y="4929779"/>
            <a:ext cx="393405" cy="108452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03ADAD61-EE48-411E-977D-6A94581807B9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flipV="1">
            <a:off x="2184990" y="4462223"/>
            <a:ext cx="1" cy="467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D438ACA1-F975-B9C5-FACB-89F4912E372A}"/>
                  </a:ext>
                </a:extLst>
              </p:cNvPr>
              <p:cNvSpPr txBox="1"/>
              <p:nvPr/>
            </p:nvSpPr>
            <p:spPr>
              <a:xfrm>
                <a:off x="1988287" y="5287373"/>
                <a:ext cx="3934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438ACA1-F975-B9C5-FACB-89F4912E3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8287" y="5287373"/>
                <a:ext cx="39340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id="{7E8B84A3-F2D0-4ED5-997A-BF31055ECC10}"/>
                  </a:ext>
                </a:extLst>
              </p:cNvPr>
              <p:cNvSpPr txBox="1"/>
              <p:nvPr/>
            </p:nvSpPr>
            <p:spPr>
              <a:xfrm>
                <a:off x="3550387" y="2164863"/>
                <a:ext cx="3934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E8B84A3-F2D0-4ED5-997A-BF31055EC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0387" y="2164863"/>
                <a:ext cx="393406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706B4863-BE44-D743-50A1-A3EEBEF19A35}"/>
              </a:ext>
            </a:extLst>
          </p:cNvPr>
          <p:cNvSpPr/>
          <p:nvPr/>
        </p:nvSpPr>
        <p:spPr>
          <a:xfrm>
            <a:off x="2778642" y="3377702"/>
            <a:ext cx="393405" cy="108452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E3232E91-DB17-6760-4C7B-BAFB26A059DE}"/>
              </a:ext>
            </a:extLst>
          </p:cNvPr>
          <p:cNvSpPr/>
          <p:nvPr/>
        </p:nvSpPr>
        <p:spPr>
          <a:xfrm>
            <a:off x="3563679" y="3377702"/>
            <a:ext cx="393405" cy="108452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E5FC7DDE-A424-45F8-3EC3-88B4FA815788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2381693" y="3919963"/>
            <a:ext cx="3969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3996B64A-481D-45A0-6C85-EF8B17685CE6}"/>
              </a:ext>
            </a:extLst>
          </p:cNvPr>
          <p:cNvCxnSpPr>
            <a:stCxn id="7" idx="3"/>
            <a:endCxn id="10" idx="1"/>
          </p:cNvCxnSpPr>
          <p:nvPr/>
        </p:nvCxnSpPr>
        <p:spPr>
          <a:xfrm>
            <a:off x="3172047" y="3919963"/>
            <a:ext cx="3916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xmlns="" id="{E23C1344-9F0C-C2A8-439A-E28032095064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3760382" y="2904277"/>
            <a:ext cx="0" cy="473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8B36DB85-1904-3FAD-DB09-F697141543B7}"/>
              </a:ext>
            </a:extLst>
          </p:cNvPr>
          <p:cNvSpPr/>
          <p:nvPr/>
        </p:nvSpPr>
        <p:spPr>
          <a:xfrm>
            <a:off x="2778642" y="4935648"/>
            <a:ext cx="393405" cy="108452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="" id="{BAFB01E3-9980-BEE6-183B-C3D6A9366013}"/>
                  </a:ext>
                </a:extLst>
              </p:cNvPr>
              <p:cNvSpPr txBox="1"/>
              <p:nvPr/>
            </p:nvSpPr>
            <p:spPr>
              <a:xfrm>
                <a:off x="2778642" y="5293242"/>
                <a:ext cx="3934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AFB01E3-9980-BEE6-183B-C3D6A9366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8642" y="5293242"/>
                <a:ext cx="39340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85D741A9-7260-51BF-BD2E-69E1839284AD}"/>
              </a:ext>
            </a:extLst>
          </p:cNvPr>
          <p:cNvSpPr/>
          <p:nvPr/>
        </p:nvSpPr>
        <p:spPr>
          <a:xfrm>
            <a:off x="3550388" y="4935648"/>
            <a:ext cx="393405" cy="108452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xmlns="" id="{A840B1E8-BB78-B6D2-D8D6-825201C6243F}"/>
                  </a:ext>
                </a:extLst>
              </p:cNvPr>
              <p:cNvSpPr txBox="1"/>
              <p:nvPr/>
            </p:nvSpPr>
            <p:spPr>
              <a:xfrm>
                <a:off x="3550388" y="5293242"/>
                <a:ext cx="3934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840B1E8-BB78-B6D2-D8D6-825201C62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0388" y="5293242"/>
                <a:ext cx="39340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xmlns="" id="{03AA0414-818E-6F6B-1BE6-D96E6EE87D8B}"/>
              </a:ext>
            </a:extLst>
          </p:cNvPr>
          <p:cNvCxnSpPr>
            <a:cxnSpLocks/>
            <a:stCxn id="18" idx="0"/>
            <a:endCxn id="7" idx="2"/>
          </p:cNvCxnSpPr>
          <p:nvPr/>
        </p:nvCxnSpPr>
        <p:spPr>
          <a:xfrm flipV="1">
            <a:off x="2975345" y="4462223"/>
            <a:ext cx="0" cy="473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xmlns="" id="{86CC9551-6E4F-358E-26ED-41D46B38457B}"/>
              </a:ext>
            </a:extLst>
          </p:cNvPr>
          <p:cNvCxnSpPr>
            <a:cxnSpLocks/>
            <a:stCxn id="22" idx="0"/>
            <a:endCxn id="10" idx="2"/>
          </p:cNvCxnSpPr>
          <p:nvPr/>
        </p:nvCxnSpPr>
        <p:spPr>
          <a:xfrm flipV="1">
            <a:off x="3747091" y="4462223"/>
            <a:ext cx="13291" cy="473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508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0F404BC-1C10-75A1-B4B9-0F07ABD96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B0E4F9-E85F-5499-E6C5-4B935396A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Aplicação: vários-para-vários síncrono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D63A1C2-4E07-2232-684D-8A7C66D92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5891" y="1825624"/>
            <a:ext cx="6422062" cy="5032375"/>
          </a:xfrm>
        </p:spPr>
        <p:txBody>
          <a:bodyPr>
            <a:normAutofit/>
          </a:bodyPr>
          <a:lstStyle/>
          <a:p>
            <a:r>
              <a:rPr lang="pt-BR" dirty="0"/>
              <a:t>Entrada de tamanho variável (sequência).</a:t>
            </a:r>
          </a:p>
          <a:p>
            <a:r>
              <a:rPr lang="pt-BR" dirty="0"/>
              <a:t>Saída de tamanho variável (sequência).</a:t>
            </a:r>
          </a:p>
          <a:p>
            <a:r>
              <a:rPr lang="pt-BR" dirty="0"/>
              <a:t>Rede do tipo sequência para sequência</a:t>
            </a:r>
          </a:p>
          <a:p>
            <a:r>
              <a:rPr lang="pt-BR" dirty="0"/>
              <a:t>Entrada e saída sincronizadas.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Comprimentos de entrada e saída são iguais.</a:t>
            </a:r>
          </a:p>
          <a:p>
            <a:r>
              <a:rPr lang="pt-BR" dirty="0"/>
              <a:t>Exemplo de uso: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Classificação de vídeo quadro a quadro.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 smtClean="0"/>
              <a:t>Monitoramento de </a:t>
            </a:r>
            <a:r>
              <a:rPr lang="pt-BR" dirty="0"/>
              <a:t>tráfego: 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pt-BR" dirty="0"/>
              <a:t>Entrada: sequência de imagens da vista de um semáforo.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pt-BR" dirty="0"/>
              <a:t>Saída: quantidade de carros em cada imagem.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995F72F-2BD9-38FB-B83A-AB47646799CC}"/>
              </a:ext>
            </a:extLst>
          </p:cNvPr>
          <p:cNvSpPr/>
          <p:nvPr/>
        </p:nvSpPr>
        <p:spPr>
          <a:xfrm>
            <a:off x="1988288" y="3377702"/>
            <a:ext cx="393405" cy="108452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A8E543B-2A6C-76EE-A90B-AF59A3BC4B35}"/>
              </a:ext>
            </a:extLst>
          </p:cNvPr>
          <p:cNvSpPr/>
          <p:nvPr/>
        </p:nvSpPr>
        <p:spPr>
          <a:xfrm>
            <a:off x="1988287" y="4929779"/>
            <a:ext cx="393405" cy="108452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D9813126-B789-1A77-F6A1-7A11925203A8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flipV="1">
            <a:off x="2184990" y="4462223"/>
            <a:ext cx="1" cy="467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150A4A27-B2A2-9AEE-E4C4-3E3FD4C84292}"/>
                  </a:ext>
                </a:extLst>
              </p:cNvPr>
              <p:cNvSpPr txBox="1"/>
              <p:nvPr/>
            </p:nvSpPr>
            <p:spPr>
              <a:xfrm>
                <a:off x="1988287" y="5287373"/>
                <a:ext cx="3934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50A4A27-B2A2-9AEE-E4C4-3E3FD4C842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8287" y="5287373"/>
                <a:ext cx="39340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558C9C3B-60A4-C64D-B49B-1B1C9E194593}"/>
              </a:ext>
            </a:extLst>
          </p:cNvPr>
          <p:cNvSpPr/>
          <p:nvPr/>
        </p:nvSpPr>
        <p:spPr>
          <a:xfrm>
            <a:off x="2778642" y="3377702"/>
            <a:ext cx="393405" cy="108452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7676B9C2-12DC-9ABF-3BAF-AC571AACC871}"/>
              </a:ext>
            </a:extLst>
          </p:cNvPr>
          <p:cNvSpPr/>
          <p:nvPr/>
        </p:nvSpPr>
        <p:spPr>
          <a:xfrm>
            <a:off x="3563679" y="3377702"/>
            <a:ext cx="393405" cy="108452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46A19DB0-6685-2AD8-373E-D2F68ECAF744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2381693" y="3919963"/>
            <a:ext cx="3969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E1E13E0C-1119-C2C4-FCB5-4819B3CCF11B}"/>
              </a:ext>
            </a:extLst>
          </p:cNvPr>
          <p:cNvCxnSpPr>
            <a:stCxn id="7" idx="3"/>
            <a:endCxn id="10" idx="1"/>
          </p:cNvCxnSpPr>
          <p:nvPr/>
        </p:nvCxnSpPr>
        <p:spPr>
          <a:xfrm>
            <a:off x="3172047" y="3919963"/>
            <a:ext cx="3916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6AE3F7AB-D78A-57A0-6D37-1952662B3091}"/>
              </a:ext>
            </a:extLst>
          </p:cNvPr>
          <p:cNvSpPr/>
          <p:nvPr/>
        </p:nvSpPr>
        <p:spPr>
          <a:xfrm>
            <a:off x="2778642" y="4935648"/>
            <a:ext cx="393405" cy="108452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="" id="{8A6FCE55-45B7-948C-5BF5-B5109D06298E}"/>
                  </a:ext>
                </a:extLst>
              </p:cNvPr>
              <p:cNvSpPr txBox="1"/>
              <p:nvPr/>
            </p:nvSpPr>
            <p:spPr>
              <a:xfrm>
                <a:off x="2778642" y="5293242"/>
                <a:ext cx="3934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A6FCE55-45B7-948C-5BF5-B5109D0629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8642" y="5293242"/>
                <a:ext cx="39340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628D5E02-FAD3-DE67-0AFB-5246C0981DBF}"/>
              </a:ext>
            </a:extLst>
          </p:cNvPr>
          <p:cNvSpPr/>
          <p:nvPr/>
        </p:nvSpPr>
        <p:spPr>
          <a:xfrm>
            <a:off x="3550388" y="4935648"/>
            <a:ext cx="393405" cy="108452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xmlns="" id="{360B5F50-7612-CF7D-5752-6D6B29496A45}"/>
                  </a:ext>
                </a:extLst>
              </p:cNvPr>
              <p:cNvSpPr txBox="1"/>
              <p:nvPr/>
            </p:nvSpPr>
            <p:spPr>
              <a:xfrm>
                <a:off x="3550388" y="5293242"/>
                <a:ext cx="3934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60B5F50-7612-CF7D-5752-6D6B29496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0388" y="5293242"/>
                <a:ext cx="39340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xmlns="" id="{134BE841-89F2-A2C4-C9B5-D0DB8124B0D6}"/>
              </a:ext>
            </a:extLst>
          </p:cNvPr>
          <p:cNvCxnSpPr>
            <a:cxnSpLocks/>
            <a:stCxn id="18" idx="0"/>
            <a:endCxn id="7" idx="2"/>
          </p:cNvCxnSpPr>
          <p:nvPr/>
        </p:nvCxnSpPr>
        <p:spPr>
          <a:xfrm flipV="1">
            <a:off x="2975345" y="4462223"/>
            <a:ext cx="0" cy="473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xmlns="" id="{93135856-AF84-67C1-10D1-525E750AED6A}"/>
              </a:ext>
            </a:extLst>
          </p:cNvPr>
          <p:cNvCxnSpPr>
            <a:cxnSpLocks/>
            <a:stCxn id="22" idx="0"/>
            <a:endCxn id="10" idx="2"/>
          </p:cNvCxnSpPr>
          <p:nvPr/>
        </p:nvCxnSpPr>
        <p:spPr>
          <a:xfrm flipV="1">
            <a:off x="3747091" y="4462223"/>
            <a:ext cx="13291" cy="473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EA502664-2B02-D8DD-2049-E6242569B361}"/>
              </a:ext>
            </a:extLst>
          </p:cNvPr>
          <p:cNvSpPr/>
          <p:nvPr/>
        </p:nvSpPr>
        <p:spPr>
          <a:xfrm>
            <a:off x="1974998" y="1825625"/>
            <a:ext cx="393405" cy="10845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xmlns="" id="{8A70192F-4EE8-A08F-E106-F257ECAA7DA0}"/>
              </a:ext>
            </a:extLst>
          </p:cNvPr>
          <p:cNvCxnSpPr>
            <a:endCxn id="8" idx="2"/>
          </p:cNvCxnSpPr>
          <p:nvPr/>
        </p:nvCxnSpPr>
        <p:spPr>
          <a:xfrm flipV="1">
            <a:off x="2171700" y="2910146"/>
            <a:ext cx="1" cy="467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A02AA77B-A4A9-98E6-A431-1FF627F50371}"/>
                  </a:ext>
                </a:extLst>
              </p:cNvPr>
              <p:cNvSpPr txBox="1"/>
              <p:nvPr/>
            </p:nvSpPr>
            <p:spPr>
              <a:xfrm>
                <a:off x="1974996" y="2177351"/>
                <a:ext cx="3934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02AA77B-A4A9-98E6-A431-1FF627F503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4996" y="2177351"/>
                <a:ext cx="393406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A69FB649-89CE-B9B7-1DA9-70653D12A0EB}"/>
              </a:ext>
            </a:extLst>
          </p:cNvPr>
          <p:cNvSpPr/>
          <p:nvPr/>
        </p:nvSpPr>
        <p:spPr>
          <a:xfrm>
            <a:off x="2765350" y="1825625"/>
            <a:ext cx="393405" cy="10845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0535F41B-B1EC-9A7E-FDFC-47DBBCE4E7BC}"/>
              </a:ext>
            </a:extLst>
          </p:cNvPr>
          <p:cNvSpPr/>
          <p:nvPr/>
        </p:nvSpPr>
        <p:spPr>
          <a:xfrm>
            <a:off x="3550388" y="1819756"/>
            <a:ext cx="393405" cy="10845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id="{323C9920-DB11-694B-4711-8E46CF485FF0}"/>
                  </a:ext>
                </a:extLst>
              </p:cNvPr>
              <p:cNvSpPr txBox="1"/>
              <p:nvPr/>
            </p:nvSpPr>
            <p:spPr>
              <a:xfrm>
                <a:off x="2760035" y="2177351"/>
                <a:ext cx="3934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23C9920-DB11-694B-4711-8E46CF485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035" y="2177351"/>
                <a:ext cx="393406" cy="369332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="" id="{A1E7D38B-069D-1161-9EB1-AE548F7B17FD}"/>
                  </a:ext>
                </a:extLst>
              </p:cNvPr>
              <p:cNvSpPr txBox="1"/>
              <p:nvPr/>
            </p:nvSpPr>
            <p:spPr>
              <a:xfrm>
                <a:off x="3550387" y="2177351"/>
                <a:ext cx="3934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1E7D38B-069D-1161-9EB1-AE548F7B1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0387" y="2177351"/>
                <a:ext cx="393406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xmlns="" id="{6E3989D9-DC44-B559-A01E-848ADB238AD5}"/>
              </a:ext>
            </a:extLst>
          </p:cNvPr>
          <p:cNvCxnSpPr>
            <a:endCxn id="13" idx="2"/>
          </p:cNvCxnSpPr>
          <p:nvPr/>
        </p:nvCxnSpPr>
        <p:spPr>
          <a:xfrm flipH="1" flipV="1">
            <a:off x="2962053" y="2910146"/>
            <a:ext cx="1" cy="467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xmlns="" id="{374BD4A0-F2CD-47D6-7C05-F5BABD485877}"/>
              </a:ext>
            </a:extLst>
          </p:cNvPr>
          <p:cNvCxnSpPr>
            <a:endCxn id="16" idx="2"/>
          </p:cNvCxnSpPr>
          <p:nvPr/>
        </p:nvCxnSpPr>
        <p:spPr>
          <a:xfrm flipV="1">
            <a:off x="3747091" y="2904277"/>
            <a:ext cx="0" cy="473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026594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92F80CB-9E3E-541A-008D-49B810D2E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693B55B-5A45-B168-45F1-33C226DBC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Aplicação: vários-para-vários assíncrono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CC483E7-E17F-0BD3-09E3-C6956FD7A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37" y="1825624"/>
            <a:ext cx="6248363" cy="5032375"/>
          </a:xfrm>
        </p:spPr>
        <p:txBody>
          <a:bodyPr>
            <a:normAutofit lnSpcReduction="10000"/>
          </a:bodyPr>
          <a:lstStyle/>
          <a:p>
            <a:r>
              <a:rPr lang="pt-BR" dirty="0"/>
              <a:t>Entrada de tamanho variável (sequência).</a:t>
            </a:r>
          </a:p>
          <a:p>
            <a:r>
              <a:rPr lang="pt-BR" dirty="0"/>
              <a:t>Saída de tamanho variável (sequência).</a:t>
            </a:r>
          </a:p>
          <a:p>
            <a:r>
              <a:rPr lang="pt-BR" dirty="0"/>
              <a:t>Rede do tipo </a:t>
            </a:r>
            <a:r>
              <a:rPr lang="pt-BR" i="1" dirty="0" err="1"/>
              <a:t>encoder</a:t>
            </a:r>
            <a:r>
              <a:rPr lang="pt-BR" dirty="0"/>
              <a:t>/</a:t>
            </a:r>
            <a:r>
              <a:rPr lang="pt-BR" i="1" dirty="0" err="1"/>
              <a:t>decoder</a:t>
            </a:r>
            <a:r>
              <a:rPr lang="pt-BR" dirty="0"/>
              <a:t>.</a:t>
            </a:r>
          </a:p>
          <a:p>
            <a:r>
              <a:rPr lang="pt-BR" dirty="0"/>
              <a:t>Entrada e saída não são sincronizadas.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Comprimentos de entrada e saída não são necessariamente iguais.</a:t>
            </a:r>
          </a:p>
          <a:p>
            <a:r>
              <a:rPr lang="pt-BR" dirty="0"/>
              <a:t>Exemplo de uso: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Tradução automática</a:t>
            </a:r>
            <a:endParaRPr lang="pt-BR" i="1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Entrada: sequência de palavras em uma língua.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Saída: sequência de palavras em outra língua.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i="1" dirty="0" err="1"/>
              <a:t>chatbots</a:t>
            </a:r>
            <a:endParaRPr lang="pt-B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798C9BC5-15E8-FB86-A2FF-03CF2C96CB13}"/>
              </a:ext>
            </a:extLst>
          </p:cNvPr>
          <p:cNvSpPr/>
          <p:nvPr/>
        </p:nvSpPr>
        <p:spPr>
          <a:xfrm>
            <a:off x="1857517" y="3429000"/>
            <a:ext cx="393405" cy="108452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63577D96-6FE7-F60B-ED7E-0CE5B6852522}"/>
              </a:ext>
            </a:extLst>
          </p:cNvPr>
          <p:cNvSpPr/>
          <p:nvPr/>
        </p:nvSpPr>
        <p:spPr>
          <a:xfrm>
            <a:off x="2647871" y="3429000"/>
            <a:ext cx="393405" cy="108452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C8E04DD1-F3A6-5114-B79F-4BC65F8FEA96}"/>
              </a:ext>
            </a:extLst>
          </p:cNvPr>
          <p:cNvSpPr/>
          <p:nvPr/>
        </p:nvSpPr>
        <p:spPr>
          <a:xfrm>
            <a:off x="3432908" y="3429000"/>
            <a:ext cx="393405" cy="108452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544DBCE3-F503-E62D-06A2-1F1E871B411F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2250922" y="3971261"/>
            <a:ext cx="3969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96DD0089-EB3B-2E96-D1AD-99C175C43B5D}"/>
              </a:ext>
            </a:extLst>
          </p:cNvPr>
          <p:cNvCxnSpPr>
            <a:stCxn id="7" idx="3"/>
            <a:endCxn id="10" idx="1"/>
          </p:cNvCxnSpPr>
          <p:nvPr/>
        </p:nvCxnSpPr>
        <p:spPr>
          <a:xfrm>
            <a:off x="3041276" y="3971261"/>
            <a:ext cx="3916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8EBFA63A-7A7F-C301-161E-58CB3778B150}"/>
              </a:ext>
            </a:extLst>
          </p:cNvPr>
          <p:cNvSpPr/>
          <p:nvPr/>
        </p:nvSpPr>
        <p:spPr>
          <a:xfrm>
            <a:off x="4217946" y="1871053"/>
            <a:ext cx="393405" cy="10845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xmlns="" id="{C88EB1AD-6975-BCC1-C82D-8CF2AB176F0A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4414648" y="2955574"/>
            <a:ext cx="1" cy="467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9C6940C0-6ABE-A439-AED8-8F3DA6633B44}"/>
                  </a:ext>
                </a:extLst>
              </p:cNvPr>
              <p:cNvSpPr txBox="1"/>
              <p:nvPr/>
            </p:nvSpPr>
            <p:spPr>
              <a:xfrm>
                <a:off x="4217944" y="2222779"/>
                <a:ext cx="3934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C6940C0-6ABE-A439-AED8-8F3DA6633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7944" y="2222779"/>
                <a:ext cx="393406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A6970E72-E9CD-203F-5D6D-CD2520CE5E69}"/>
              </a:ext>
            </a:extLst>
          </p:cNvPr>
          <p:cNvSpPr/>
          <p:nvPr/>
        </p:nvSpPr>
        <p:spPr>
          <a:xfrm>
            <a:off x="2634579" y="1876923"/>
            <a:ext cx="393405" cy="10845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DFFB94F9-963A-CC29-C51E-098A134A1737}"/>
              </a:ext>
            </a:extLst>
          </p:cNvPr>
          <p:cNvSpPr/>
          <p:nvPr/>
        </p:nvSpPr>
        <p:spPr>
          <a:xfrm>
            <a:off x="3419617" y="1871054"/>
            <a:ext cx="393405" cy="10845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id="{C270900E-2C0E-C040-BAF6-1BBA1B85CAE2}"/>
                  </a:ext>
                </a:extLst>
              </p:cNvPr>
              <p:cNvSpPr txBox="1"/>
              <p:nvPr/>
            </p:nvSpPr>
            <p:spPr>
              <a:xfrm>
                <a:off x="2629264" y="2228649"/>
                <a:ext cx="3934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270900E-2C0E-C040-BAF6-1BBA1B85CA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9264" y="2228649"/>
                <a:ext cx="393406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="" id="{53791838-1266-112F-718E-55D7F92583EF}"/>
                  </a:ext>
                </a:extLst>
              </p:cNvPr>
              <p:cNvSpPr txBox="1"/>
              <p:nvPr/>
            </p:nvSpPr>
            <p:spPr>
              <a:xfrm>
                <a:off x="3419616" y="2228649"/>
                <a:ext cx="3934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3791838-1266-112F-718E-55D7F9258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616" y="2228649"/>
                <a:ext cx="393406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xmlns="" id="{085B9A2E-6534-2437-D967-5DF1514BF9F3}"/>
              </a:ext>
            </a:extLst>
          </p:cNvPr>
          <p:cNvCxnSpPr>
            <a:endCxn id="13" idx="2"/>
          </p:cNvCxnSpPr>
          <p:nvPr/>
        </p:nvCxnSpPr>
        <p:spPr>
          <a:xfrm flipH="1" flipV="1">
            <a:off x="2831282" y="2961444"/>
            <a:ext cx="1" cy="467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xmlns="" id="{2668834C-FD74-F5C2-962C-47E7E949C549}"/>
              </a:ext>
            </a:extLst>
          </p:cNvPr>
          <p:cNvCxnSpPr>
            <a:endCxn id="16" idx="2"/>
          </p:cNvCxnSpPr>
          <p:nvPr/>
        </p:nvCxnSpPr>
        <p:spPr>
          <a:xfrm flipV="1">
            <a:off x="3616320" y="2955575"/>
            <a:ext cx="0" cy="473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078DBB0-1AC8-EAEA-D2B3-81EBA1BC73AB}"/>
              </a:ext>
            </a:extLst>
          </p:cNvPr>
          <p:cNvSpPr/>
          <p:nvPr/>
        </p:nvSpPr>
        <p:spPr>
          <a:xfrm>
            <a:off x="268836" y="3429000"/>
            <a:ext cx="393405" cy="108452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7B7F1159-D526-3036-9F30-22158503DAFC}"/>
              </a:ext>
            </a:extLst>
          </p:cNvPr>
          <p:cNvSpPr/>
          <p:nvPr/>
        </p:nvSpPr>
        <p:spPr>
          <a:xfrm>
            <a:off x="1059190" y="3429000"/>
            <a:ext cx="393405" cy="108452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xmlns="" id="{1E7B0A6F-5745-009B-E429-C10DA86AAFB2}"/>
              </a:ext>
            </a:extLst>
          </p:cNvPr>
          <p:cNvCxnSpPr>
            <a:stCxn id="4" idx="3"/>
            <a:endCxn id="15" idx="1"/>
          </p:cNvCxnSpPr>
          <p:nvPr/>
        </p:nvCxnSpPr>
        <p:spPr>
          <a:xfrm>
            <a:off x="662241" y="3971261"/>
            <a:ext cx="3969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xmlns="" id="{102BBC63-2BC0-6A02-4BFE-A72CD982FBB0}"/>
              </a:ext>
            </a:extLst>
          </p:cNvPr>
          <p:cNvCxnSpPr>
            <a:stCxn id="15" idx="3"/>
          </p:cNvCxnSpPr>
          <p:nvPr/>
        </p:nvCxnSpPr>
        <p:spPr>
          <a:xfrm>
            <a:off x="1452595" y="3971261"/>
            <a:ext cx="3916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5D3FFC8E-6BAF-6DF7-526E-C081A5A48F93}"/>
              </a:ext>
            </a:extLst>
          </p:cNvPr>
          <p:cNvSpPr/>
          <p:nvPr/>
        </p:nvSpPr>
        <p:spPr>
          <a:xfrm>
            <a:off x="264847" y="4995807"/>
            <a:ext cx="393405" cy="108452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xmlns="" id="{1401AD97-C582-4298-BF25-40AEF15257C9}"/>
              </a:ext>
            </a:extLst>
          </p:cNvPr>
          <p:cNvCxnSpPr>
            <a:cxnSpLocks/>
            <a:stCxn id="31" idx="0"/>
            <a:endCxn id="4" idx="2"/>
          </p:cNvCxnSpPr>
          <p:nvPr/>
        </p:nvCxnSpPr>
        <p:spPr>
          <a:xfrm flipV="1">
            <a:off x="461550" y="4513521"/>
            <a:ext cx="3989" cy="482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xmlns="" id="{0ECCB039-D660-E729-AA13-2E270370247F}"/>
                  </a:ext>
                </a:extLst>
              </p:cNvPr>
              <p:cNvSpPr txBox="1"/>
              <p:nvPr/>
            </p:nvSpPr>
            <p:spPr>
              <a:xfrm>
                <a:off x="295415" y="5338671"/>
                <a:ext cx="3934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ECCB039-D660-E729-AA13-2E2703702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415" y="5338671"/>
                <a:ext cx="39340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61795796-1CB2-CAB5-F67E-063C07C2A635}"/>
              </a:ext>
            </a:extLst>
          </p:cNvPr>
          <p:cNvSpPr/>
          <p:nvPr/>
        </p:nvSpPr>
        <p:spPr>
          <a:xfrm>
            <a:off x="1059190" y="5025933"/>
            <a:ext cx="393405" cy="108452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xmlns="" id="{FC51BB95-2E57-AE1B-0448-EEF63C3319E4}"/>
                  </a:ext>
                </a:extLst>
              </p:cNvPr>
              <p:cNvSpPr txBox="1"/>
              <p:nvPr/>
            </p:nvSpPr>
            <p:spPr>
              <a:xfrm>
                <a:off x="1085770" y="5344540"/>
                <a:ext cx="3934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C51BB95-2E57-AE1B-0448-EEF63C331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770" y="5344540"/>
                <a:ext cx="39340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xmlns="" id="{C5443291-1F22-B419-C44A-99E58D94E756}"/>
              </a:ext>
            </a:extLst>
          </p:cNvPr>
          <p:cNvSpPr/>
          <p:nvPr/>
        </p:nvSpPr>
        <p:spPr>
          <a:xfrm>
            <a:off x="1857516" y="4986946"/>
            <a:ext cx="393405" cy="108452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xmlns="" id="{94029703-0659-3912-FB5F-EE18C24BD3C7}"/>
                  </a:ext>
                </a:extLst>
              </p:cNvPr>
              <p:cNvSpPr txBox="1"/>
              <p:nvPr/>
            </p:nvSpPr>
            <p:spPr>
              <a:xfrm>
                <a:off x="1857516" y="5344540"/>
                <a:ext cx="3934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4029703-0659-3912-FB5F-EE18C24BD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7516" y="5344540"/>
                <a:ext cx="39340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xmlns="" id="{049CB08D-F5AA-E52C-D64E-AC29F0A74978}"/>
              </a:ext>
            </a:extLst>
          </p:cNvPr>
          <p:cNvCxnSpPr>
            <a:cxnSpLocks/>
            <a:stCxn id="34" idx="0"/>
            <a:endCxn id="15" idx="2"/>
          </p:cNvCxnSpPr>
          <p:nvPr/>
        </p:nvCxnSpPr>
        <p:spPr>
          <a:xfrm flipV="1">
            <a:off x="1255893" y="4513521"/>
            <a:ext cx="0" cy="512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xmlns="" id="{8D3C2576-5153-3012-FA03-0337C7695948}"/>
              </a:ext>
            </a:extLst>
          </p:cNvPr>
          <p:cNvCxnSpPr>
            <a:cxnSpLocks/>
            <a:stCxn id="36" idx="0"/>
            <a:endCxn id="5" idx="2"/>
          </p:cNvCxnSpPr>
          <p:nvPr/>
        </p:nvCxnSpPr>
        <p:spPr>
          <a:xfrm flipV="1">
            <a:off x="2054219" y="4513521"/>
            <a:ext cx="1" cy="473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ectangle 9">
            <a:extLst>
              <a:ext uri="{FF2B5EF4-FFF2-40B4-BE49-F238E27FC236}">
                <a16:creationId xmlns:a16="http://schemas.microsoft.com/office/drawing/2014/main" xmlns="" id="{26BA397E-5740-263D-B08B-906451E582EA}"/>
              </a:ext>
            </a:extLst>
          </p:cNvPr>
          <p:cNvSpPr/>
          <p:nvPr/>
        </p:nvSpPr>
        <p:spPr>
          <a:xfrm>
            <a:off x="4216969" y="3429000"/>
            <a:ext cx="393405" cy="108452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20">
            <a:extLst>
              <a:ext uri="{FF2B5EF4-FFF2-40B4-BE49-F238E27FC236}">
                <a16:creationId xmlns:a16="http://schemas.microsoft.com/office/drawing/2014/main" xmlns="" id="{C43B1F7D-195A-9A30-C98A-8808DEDB70A1}"/>
              </a:ext>
            </a:extLst>
          </p:cNvPr>
          <p:cNvCxnSpPr>
            <a:endCxn id="6" idx="1"/>
          </p:cNvCxnSpPr>
          <p:nvPr/>
        </p:nvCxnSpPr>
        <p:spPr>
          <a:xfrm>
            <a:off x="3825337" y="3971261"/>
            <a:ext cx="3916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xmlns="" id="{5367D5C5-083B-1D09-F4AB-A3D1E257E22D}"/>
              </a:ext>
            </a:extLst>
          </p:cNvPr>
          <p:cNvSpPr/>
          <p:nvPr/>
        </p:nvSpPr>
        <p:spPr>
          <a:xfrm>
            <a:off x="5013526" y="1865183"/>
            <a:ext cx="393405" cy="10845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0">
            <a:extLst>
              <a:ext uri="{FF2B5EF4-FFF2-40B4-BE49-F238E27FC236}">
                <a16:creationId xmlns:a16="http://schemas.microsoft.com/office/drawing/2014/main" xmlns="" id="{885B04B9-C592-171E-A0A1-B25B746EACB5}"/>
              </a:ext>
            </a:extLst>
          </p:cNvPr>
          <p:cNvCxnSpPr>
            <a:cxnSpLocks/>
            <a:endCxn id="14" idx="2"/>
          </p:cNvCxnSpPr>
          <p:nvPr/>
        </p:nvCxnSpPr>
        <p:spPr>
          <a:xfrm flipV="1">
            <a:off x="5210228" y="2949704"/>
            <a:ext cx="1" cy="467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1">
                <a:extLst>
                  <a:ext uri="{FF2B5EF4-FFF2-40B4-BE49-F238E27FC236}">
                    <a16:creationId xmlns:a16="http://schemas.microsoft.com/office/drawing/2014/main" xmlns="" id="{180B069D-B5EE-8B0D-ED92-AF0BA5BBA75C}"/>
                  </a:ext>
                </a:extLst>
              </p:cNvPr>
              <p:cNvSpPr txBox="1"/>
              <p:nvPr/>
            </p:nvSpPr>
            <p:spPr>
              <a:xfrm>
                <a:off x="5013524" y="2216909"/>
                <a:ext cx="3934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1">
                <a:extLst>
                  <a:ext uri="{FF2B5EF4-FFF2-40B4-BE49-F238E27FC236}">
                    <a16:creationId xmlns:a16="http://schemas.microsoft.com/office/drawing/2014/main" id="{180B069D-B5EE-8B0D-ED92-AF0BA5BBA7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524" y="2216909"/>
                <a:ext cx="393406" cy="369332"/>
              </a:xfrm>
              <a:prstGeom prst="rect">
                <a:avLst/>
              </a:prstGeom>
              <a:blipFill>
                <a:blip r:embed="rId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9">
            <a:extLst>
              <a:ext uri="{FF2B5EF4-FFF2-40B4-BE49-F238E27FC236}">
                <a16:creationId xmlns:a16="http://schemas.microsoft.com/office/drawing/2014/main" xmlns="" id="{E10C2FC0-915E-3754-CB58-210B42F3F1CC}"/>
              </a:ext>
            </a:extLst>
          </p:cNvPr>
          <p:cNvSpPr/>
          <p:nvPr/>
        </p:nvSpPr>
        <p:spPr>
          <a:xfrm>
            <a:off x="5012549" y="3423130"/>
            <a:ext cx="393405" cy="108452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0">
            <a:extLst>
              <a:ext uri="{FF2B5EF4-FFF2-40B4-BE49-F238E27FC236}">
                <a16:creationId xmlns:a16="http://schemas.microsoft.com/office/drawing/2014/main" xmlns="" id="{BF33D4D8-000A-D268-E3D6-DBE55534455E}"/>
              </a:ext>
            </a:extLst>
          </p:cNvPr>
          <p:cNvCxnSpPr>
            <a:endCxn id="22" idx="1"/>
          </p:cNvCxnSpPr>
          <p:nvPr/>
        </p:nvCxnSpPr>
        <p:spPr>
          <a:xfrm>
            <a:off x="4620917" y="3965391"/>
            <a:ext cx="3916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etângulo 25">
            <a:extLst>
              <a:ext uri="{FF2B5EF4-FFF2-40B4-BE49-F238E27FC236}">
                <a16:creationId xmlns:a16="http://schemas.microsoft.com/office/drawing/2014/main" xmlns="" id="{D7B5CC2B-59F2-0721-6F7F-1F194BA7EDF4}"/>
              </a:ext>
            </a:extLst>
          </p:cNvPr>
          <p:cNvSpPr/>
          <p:nvPr/>
        </p:nvSpPr>
        <p:spPr>
          <a:xfrm>
            <a:off x="120378" y="3305301"/>
            <a:ext cx="2219329" cy="2916389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xmlns="" id="{CDD4DB52-5878-5675-CF1D-C88AD8295959}"/>
              </a:ext>
            </a:extLst>
          </p:cNvPr>
          <p:cNvSpPr txBox="1"/>
          <p:nvPr/>
        </p:nvSpPr>
        <p:spPr>
          <a:xfrm>
            <a:off x="688821" y="6195027"/>
            <a:ext cx="956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encoder</a:t>
            </a:r>
            <a:endParaRPr lang="en-US" dirty="0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xmlns="" id="{7F7DEE5D-466F-66F4-91E6-234AF002DE61}"/>
              </a:ext>
            </a:extLst>
          </p:cNvPr>
          <p:cNvSpPr/>
          <p:nvPr/>
        </p:nvSpPr>
        <p:spPr>
          <a:xfrm>
            <a:off x="2464880" y="1734092"/>
            <a:ext cx="3112355" cy="2916389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xmlns="" id="{534B0A90-B886-D96D-37BA-01A7E49780CA}"/>
              </a:ext>
            </a:extLst>
          </p:cNvPr>
          <p:cNvSpPr txBox="1"/>
          <p:nvPr/>
        </p:nvSpPr>
        <p:spPr>
          <a:xfrm>
            <a:off x="3542560" y="4632875"/>
            <a:ext cx="956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decoder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11313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F7E2B09C-6D56-4C9F-A364-B904CCE2F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Exemplo: </a:t>
            </a:r>
            <a:r>
              <a:rPr lang="pt-BR" dirty="0" err="1">
                <a:hlinkClick r:id="rId3"/>
              </a:rPr>
              <a:t>rnn.ipynb</a:t>
            </a:r>
            <a:endParaRPr lang="en-US" dirty="0"/>
          </a:p>
          <a:p>
            <a:pPr marL="0" indent="0">
              <a:buNone/>
            </a:pPr>
            <a:endParaRPr lang="pt-BR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627C64FD-88E0-EC8E-2A34-0D5737B4C854}"/>
              </a:ext>
            </a:extLst>
          </p:cNvPr>
          <p:cNvGrpSpPr/>
          <p:nvPr/>
        </p:nvGrpSpPr>
        <p:grpSpPr>
          <a:xfrm>
            <a:off x="1752685" y="2681262"/>
            <a:ext cx="8371070" cy="2659743"/>
            <a:chOff x="1752685" y="2681262"/>
            <a:chExt cx="8371070" cy="2659743"/>
          </a:xfrm>
        </p:grpSpPr>
        <p:pic>
          <p:nvPicPr>
            <p:cNvPr id="12" name="Picture 4" descr="Project Jupyter | Try Jupyter">
              <a:extLst>
                <a:ext uri="{FF2B5EF4-FFF2-40B4-BE49-F238E27FC236}">
                  <a16:creationId xmlns:a16="http://schemas.microsoft.com/office/drawing/2014/main" xmlns="" id="{FF92EA36-91E7-292B-D7A0-2D4D83A10F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1027" y="3102450"/>
              <a:ext cx="3461657" cy="18173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8" descr="Google Colaboratory Colab - Guía Completa Español - Marketing Branding">
              <a:extLst>
                <a:ext uri="{FF2B5EF4-FFF2-40B4-BE49-F238E27FC236}">
                  <a16:creationId xmlns:a16="http://schemas.microsoft.com/office/drawing/2014/main" xmlns="" id="{46F1718A-89E6-9E63-E40B-2B19852D6AA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65" r="10641"/>
            <a:stretch/>
          </p:blipFill>
          <p:spPr bwMode="auto">
            <a:xfrm>
              <a:off x="6792684" y="2681262"/>
              <a:ext cx="3331071" cy="26597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0" descr="IT12A01: FUNDAMENTALS OF PYTHON PROGRAMMING (SF) (SYNCHRONOUS E-LEARNING) -  NTUC LearningHub">
              <a:extLst>
                <a:ext uri="{FF2B5EF4-FFF2-40B4-BE49-F238E27FC236}">
                  <a16:creationId xmlns:a16="http://schemas.microsoft.com/office/drawing/2014/main" xmlns="" id="{33F6B1B4-9B79-D634-3E35-33F24609C84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319" r="20198"/>
            <a:stretch/>
          </p:blipFill>
          <p:spPr bwMode="auto">
            <a:xfrm>
              <a:off x="1752685" y="3176833"/>
              <a:ext cx="1894114" cy="18779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Sinal de Adição 7">
              <a:extLst>
                <a:ext uri="{FF2B5EF4-FFF2-40B4-BE49-F238E27FC236}">
                  <a16:creationId xmlns:a16="http://schemas.microsoft.com/office/drawing/2014/main" xmlns="" id="{6959EE6C-DCDB-E78B-5C50-EBD3FF3049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46799" y="3545037"/>
              <a:ext cx="468000" cy="468000"/>
            </a:xfrm>
            <a:prstGeom prst="mathPlu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Sinal de Adição 10">
              <a:extLst>
                <a:ext uri="{FF2B5EF4-FFF2-40B4-BE49-F238E27FC236}">
                  <a16:creationId xmlns:a16="http://schemas.microsoft.com/office/drawing/2014/main" xmlns="" id="{30A21FDB-ABA6-9FD5-49EF-7762414AEF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96043" y="3467980"/>
              <a:ext cx="468000" cy="468000"/>
            </a:xfrm>
            <a:prstGeom prst="mathPlu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405788333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FD0E11-3B37-4336-5BF0-C8C033354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de exercícios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2CB14AB-72E4-05EB-962C-F8B4618D0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>
                <a:hlinkClick r:id="rId3"/>
              </a:rPr>
              <a:t>Lista #11 - RNN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21703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Perguntas?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377300566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265570461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C8F1BEC-82EA-8E7D-59D1-DE7E34F44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C86FB9B7-731C-2994-71E3-590F6E30894D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Figuras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361963078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xmlns="" id="{388A46A3-09D1-BF84-46BF-5DD0CFCB54BB}"/>
              </a:ext>
            </a:extLst>
          </p:cNvPr>
          <p:cNvGrpSpPr/>
          <p:nvPr/>
        </p:nvGrpSpPr>
        <p:grpSpPr>
          <a:xfrm>
            <a:off x="3630565" y="1067128"/>
            <a:ext cx="2259869" cy="4507363"/>
            <a:chOff x="3630565" y="1067128"/>
            <a:chExt cx="2259869" cy="45073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xmlns="" id="{6023DD78-A989-E94C-DAE1-B296D3C4E21C}"/>
                    </a:ext>
                  </a:extLst>
                </p:cNvPr>
                <p:cNvSpPr/>
                <p:nvPr/>
              </p:nvSpPr>
              <p:spPr>
                <a:xfrm>
                  <a:off x="3656800" y="1710993"/>
                  <a:ext cx="468000" cy="468000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6023DD78-A989-E94C-DAE1-B296D3C4E2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6800" y="1710993"/>
                  <a:ext cx="468000" cy="468000"/>
                </a:xfrm>
                <a:prstGeom prst="rect">
                  <a:avLst/>
                </a:prstGeom>
                <a:blipFill>
                  <a:blip r:embed="rId2"/>
                  <a:stretch>
                    <a:fillRect l="-89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xmlns="" id="{3D42FE05-5457-F925-05EF-0E3701418F8C}"/>
                    </a:ext>
                  </a:extLst>
                </p:cNvPr>
                <p:cNvSpPr/>
                <p:nvPr/>
              </p:nvSpPr>
              <p:spPr>
                <a:xfrm>
                  <a:off x="3650268" y="4478548"/>
                  <a:ext cx="468000" cy="468000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3D42FE05-5457-F925-05EF-0E3701418F8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0268" y="4478548"/>
                  <a:ext cx="468000" cy="468000"/>
                </a:xfrm>
                <a:prstGeom prst="rect">
                  <a:avLst/>
                </a:prstGeom>
                <a:blipFill>
                  <a:blip r:embed="rId3"/>
                  <a:stretch>
                    <a:fillRect l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xmlns="" id="{28D2664B-9505-156A-4753-DDE3DEC9FD22}"/>
                    </a:ext>
                  </a:extLst>
                </p:cNvPr>
                <p:cNvSpPr/>
                <p:nvPr/>
              </p:nvSpPr>
              <p:spPr>
                <a:xfrm>
                  <a:off x="4665362" y="3198065"/>
                  <a:ext cx="468000" cy="468000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28D2664B-9505-156A-4753-DDE3DEC9FD2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5362" y="3198065"/>
                  <a:ext cx="468000" cy="468000"/>
                </a:xfrm>
                <a:prstGeom prst="rect">
                  <a:avLst/>
                </a:prstGeom>
                <a:blipFill>
                  <a:blip r:embed="rId4"/>
                  <a:stretch>
                    <a:fillRect l="-89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Oval 7">
              <a:extLst>
                <a:ext uri="{FF2B5EF4-FFF2-40B4-BE49-F238E27FC236}">
                  <a16:creationId xmlns:a16="http://schemas.microsoft.com/office/drawing/2014/main" xmlns="" id="{BAAA4727-42FC-D852-70A3-FE7D6EFC060F}"/>
                </a:ext>
              </a:extLst>
            </p:cNvPr>
            <p:cNvSpPr/>
            <p:nvPr/>
          </p:nvSpPr>
          <p:spPr>
            <a:xfrm>
              <a:off x="3672040" y="1067128"/>
              <a:ext cx="432000" cy="4320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b="1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xmlns="" id="{4F0F4DCF-1128-7141-872A-5150C966E5B4}"/>
                </a:ext>
              </a:extLst>
            </p:cNvPr>
            <p:cNvSpPr/>
            <p:nvPr/>
          </p:nvSpPr>
          <p:spPr>
            <a:xfrm>
              <a:off x="3672040" y="3216065"/>
              <a:ext cx="432000" cy="4320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xmlns="" id="{9B044B29-E334-B283-ECE9-172FFEED329B}"/>
                </a:ext>
              </a:extLst>
            </p:cNvPr>
            <p:cNvSpPr/>
            <p:nvPr/>
          </p:nvSpPr>
          <p:spPr>
            <a:xfrm>
              <a:off x="3672040" y="5142491"/>
              <a:ext cx="432000" cy="4320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Diamond 10">
                  <a:extLst>
                    <a:ext uri="{FF2B5EF4-FFF2-40B4-BE49-F238E27FC236}">
                      <a16:creationId xmlns:a16="http://schemas.microsoft.com/office/drawing/2014/main" xmlns="" id="{312629E1-FE97-AB15-90EC-002877C4697A}"/>
                    </a:ext>
                  </a:extLst>
                </p:cNvPr>
                <p:cNvSpPr/>
                <p:nvPr/>
              </p:nvSpPr>
              <p:spPr>
                <a:xfrm>
                  <a:off x="4167544" y="2511444"/>
                  <a:ext cx="546518" cy="468000"/>
                </a:xfrm>
                <a:prstGeom prst="diamond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Diamond 10">
                  <a:extLst>
                    <a:ext uri="{FF2B5EF4-FFF2-40B4-BE49-F238E27FC236}">
                      <a16:creationId xmlns:a16="http://schemas.microsoft.com/office/drawing/2014/main" id="{312629E1-FE97-AB15-90EC-002877C4697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7544" y="2511444"/>
                  <a:ext cx="546518" cy="468000"/>
                </a:xfrm>
                <a:prstGeom prst="diamond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xmlns="" id="{CA3B853E-0B5B-6325-4CC5-A2C4E5EE4A2A}"/>
                    </a:ext>
                  </a:extLst>
                </p:cNvPr>
                <p:cNvSpPr/>
                <p:nvPr/>
              </p:nvSpPr>
              <p:spPr>
                <a:xfrm>
                  <a:off x="3664496" y="3850605"/>
                  <a:ext cx="432000" cy="432000"/>
                </a:xfrm>
                <a:prstGeom prst="ellipse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pt-BR" sz="1400" b="0" i="0" smtClean="0">
                            <a:latin typeface="Cambria Math" panose="02040503050406030204" pitchFamily="18" charset="0"/>
                          </a:rPr>
                          <m:t>tanh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CA3B853E-0B5B-6325-4CC5-A2C4E5EE4A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4496" y="3850605"/>
                  <a:ext cx="432000" cy="432000"/>
                </a:xfrm>
                <a:prstGeom prst="ellipse">
                  <a:avLst/>
                </a:prstGeom>
                <a:blipFill>
                  <a:blip r:embed="rId6"/>
                  <a:stretch>
                    <a:fillRect l="-97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xmlns="" id="{43F79C63-8A97-3798-0A1A-3B97F54CBEDF}"/>
                </a:ext>
              </a:extLst>
            </p:cNvPr>
            <p:cNvCxnSpPr>
              <a:stCxn id="10" idx="0"/>
              <a:endCxn id="6" idx="2"/>
            </p:cNvCxnSpPr>
            <p:nvPr/>
          </p:nvCxnSpPr>
          <p:spPr>
            <a:xfrm flipH="1" flipV="1">
              <a:off x="3884268" y="4946548"/>
              <a:ext cx="3772" cy="195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xmlns="" id="{1DE13DB6-EB3A-33B1-B9CD-0D058C9C2D69}"/>
                </a:ext>
              </a:extLst>
            </p:cNvPr>
            <p:cNvCxnSpPr/>
            <p:nvPr/>
          </p:nvCxnSpPr>
          <p:spPr>
            <a:xfrm flipH="1" flipV="1">
              <a:off x="3888040" y="4282605"/>
              <a:ext cx="3772" cy="195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xmlns="" id="{E68AB800-6BC7-A115-99F7-7F9B7DBA3E4F}"/>
                </a:ext>
              </a:extLst>
            </p:cNvPr>
            <p:cNvCxnSpPr/>
            <p:nvPr/>
          </p:nvCxnSpPr>
          <p:spPr>
            <a:xfrm flipH="1" flipV="1">
              <a:off x="3884268" y="3654662"/>
              <a:ext cx="3772" cy="195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xmlns="" id="{19812C75-10B2-9725-A4FB-608050339CDD}"/>
                </a:ext>
              </a:extLst>
            </p:cNvPr>
            <p:cNvCxnSpPr>
              <a:stCxn id="9" idx="0"/>
              <a:endCxn id="5" idx="2"/>
            </p:cNvCxnSpPr>
            <p:nvPr/>
          </p:nvCxnSpPr>
          <p:spPr>
            <a:xfrm flipV="1">
              <a:off x="3888040" y="2178993"/>
              <a:ext cx="2760" cy="10370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Connector: Elbow 16">
              <a:extLst>
                <a:ext uri="{FF2B5EF4-FFF2-40B4-BE49-F238E27FC236}">
                  <a16:creationId xmlns:a16="http://schemas.microsoft.com/office/drawing/2014/main" xmlns="" id="{245F456D-9193-75AC-AD0C-F0AEF65F581F}"/>
                </a:ext>
              </a:extLst>
            </p:cNvPr>
            <p:cNvCxnSpPr>
              <a:stCxn id="11" idx="3"/>
              <a:endCxn id="7" idx="0"/>
            </p:cNvCxnSpPr>
            <p:nvPr/>
          </p:nvCxnSpPr>
          <p:spPr>
            <a:xfrm>
              <a:off x="4714062" y="2745444"/>
              <a:ext cx="185300" cy="452621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xmlns="" id="{D7679F52-FF4E-A676-77F3-69261169E611}"/>
                </a:ext>
              </a:extLst>
            </p:cNvPr>
            <p:cNvCxnSpPr>
              <a:stCxn id="11" idx="1"/>
            </p:cNvCxnSpPr>
            <p:nvPr/>
          </p:nvCxnSpPr>
          <p:spPr>
            <a:xfrm flipH="1">
              <a:off x="3900740" y="2745444"/>
              <a:ext cx="266804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Connector: Elbow 18">
              <a:extLst>
                <a:ext uri="{FF2B5EF4-FFF2-40B4-BE49-F238E27FC236}">
                  <a16:creationId xmlns:a16="http://schemas.microsoft.com/office/drawing/2014/main" xmlns="" id="{48139367-BD98-8B0F-B273-9E6711E213AE}"/>
                </a:ext>
              </a:extLst>
            </p:cNvPr>
            <p:cNvCxnSpPr>
              <a:cxnSpLocks/>
              <a:stCxn id="7" idx="2"/>
              <a:endCxn id="12" idx="6"/>
            </p:cNvCxnSpPr>
            <p:nvPr/>
          </p:nvCxnSpPr>
          <p:spPr>
            <a:xfrm rot="5400000">
              <a:off x="4297659" y="3464902"/>
              <a:ext cx="400540" cy="802866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xmlns="" id="{F8353AC8-4824-D852-D532-76B054942D98}"/>
                </a:ext>
              </a:extLst>
            </p:cNvPr>
            <p:cNvCxnSpPr/>
            <p:nvPr/>
          </p:nvCxnSpPr>
          <p:spPr>
            <a:xfrm flipH="1" flipV="1">
              <a:off x="3890883" y="1508453"/>
              <a:ext cx="3772" cy="195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xmlns="" id="{03C120BA-79E8-ADD5-3D67-6C901D8D1494}"/>
                    </a:ext>
                  </a:extLst>
                </p:cNvPr>
                <p:cNvSpPr txBox="1"/>
                <p:nvPr/>
              </p:nvSpPr>
              <p:spPr>
                <a:xfrm>
                  <a:off x="3641198" y="1083900"/>
                  <a:ext cx="57874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18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1800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3C120BA-79E8-ADD5-3D67-6C901D8D14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1198" y="1083900"/>
                  <a:ext cx="578748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3158" t="-6667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xmlns="" id="{B9898A35-5D27-3AFD-DCEC-B3870EE9A20C}"/>
                    </a:ext>
                  </a:extLst>
                </p:cNvPr>
                <p:cNvSpPr txBox="1"/>
                <p:nvPr/>
              </p:nvSpPr>
              <p:spPr>
                <a:xfrm>
                  <a:off x="3630565" y="5177044"/>
                  <a:ext cx="57874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9898A35-5D27-3AFD-DCEC-B3870EE9A2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0565" y="5177044"/>
                  <a:ext cx="578748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xmlns="" id="{2EAF4EBF-06B1-79A7-1B72-595DB550A38F}"/>
                    </a:ext>
                  </a:extLst>
                </p:cNvPr>
                <p:cNvSpPr txBox="1"/>
                <p:nvPr/>
              </p:nvSpPr>
              <p:spPr>
                <a:xfrm>
                  <a:off x="3634353" y="3236362"/>
                  <a:ext cx="57874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8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EAF4EBF-06B1-79A7-1B72-595DB550A3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4353" y="3236362"/>
                  <a:ext cx="578748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4211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xmlns="" id="{EF8E314D-D94B-E03E-107A-3344F9B3AAC5}"/>
                    </a:ext>
                  </a:extLst>
                </p:cNvPr>
                <p:cNvSpPr txBox="1"/>
                <p:nvPr/>
              </p:nvSpPr>
              <p:spPr>
                <a:xfrm>
                  <a:off x="4905741" y="2755189"/>
                  <a:ext cx="98469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8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F8E314D-D94B-E03E-107A-3344F9B3AA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5741" y="2755189"/>
                  <a:ext cx="984693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2484"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4011427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6BDBFA4-777B-82AF-1A9B-F48A28DB9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xmlns="" id="{382B2D82-0D27-C941-539F-498F105E3DA0}"/>
              </a:ext>
            </a:extLst>
          </p:cNvPr>
          <p:cNvGrpSpPr/>
          <p:nvPr/>
        </p:nvGrpSpPr>
        <p:grpSpPr>
          <a:xfrm>
            <a:off x="3630565" y="1067128"/>
            <a:ext cx="2259869" cy="4507363"/>
            <a:chOff x="3630565" y="1067128"/>
            <a:chExt cx="2259869" cy="45073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xmlns="" id="{DF055540-C990-1A9A-9C94-41EB929A64A7}"/>
                    </a:ext>
                  </a:extLst>
                </p:cNvPr>
                <p:cNvSpPr/>
                <p:nvPr/>
              </p:nvSpPr>
              <p:spPr>
                <a:xfrm>
                  <a:off x="3656800" y="1710993"/>
                  <a:ext cx="468000" cy="468000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6023DD78-A989-E94C-DAE1-B296D3C4E2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6800" y="1710993"/>
                  <a:ext cx="468000" cy="468000"/>
                </a:xfrm>
                <a:prstGeom prst="rect">
                  <a:avLst/>
                </a:prstGeom>
                <a:blipFill>
                  <a:blip r:embed="rId2"/>
                  <a:stretch>
                    <a:fillRect l="-89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xmlns="" id="{042FA5CD-9CE3-87BD-4B6D-3A2AA78339A7}"/>
                    </a:ext>
                  </a:extLst>
                </p:cNvPr>
                <p:cNvSpPr/>
                <p:nvPr/>
              </p:nvSpPr>
              <p:spPr>
                <a:xfrm>
                  <a:off x="3650268" y="4478548"/>
                  <a:ext cx="468000" cy="468000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3D42FE05-5457-F925-05EF-0E3701418F8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0268" y="4478548"/>
                  <a:ext cx="468000" cy="468000"/>
                </a:xfrm>
                <a:prstGeom prst="rect">
                  <a:avLst/>
                </a:prstGeom>
                <a:blipFill>
                  <a:blip r:embed="rId3"/>
                  <a:stretch>
                    <a:fillRect l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xmlns="" id="{2F14954C-7EC0-B9F4-6F9E-53AC300DD5FF}"/>
                    </a:ext>
                  </a:extLst>
                </p:cNvPr>
                <p:cNvSpPr/>
                <p:nvPr/>
              </p:nvSpPr>
              <p:spPr>
                <a:xfrm>
                  <a:off x="4665362" y="3198065"/>
                  <a:ext cx="468000" cy="468000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28D2664B-9505-156A-4753-DDE3DEC9FD2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5362" y="3198065"/>
                  <a:ext cx="468000" cy="468000"/>
                </a:xfrm>
                <a:prstGeom prst="rect">
                  <a:avLst/>
                </a:prstGeom>
                <a:blipFill>
                  <a:blip r:embed="rId4"/>
                  <a:stretch>
                    <a:fillRect l="-89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Oval 7">
              <a:extLst>
                <a:ext uri="{FF2B5EF4-FFF2-40B4-BE49-F238E27FC236}">
                  <a16:creationId xmlns:a16="http://schemas.microsoft.com/office/drawing/2014/main" xmlns="" id="{7DA2C43F-1B49-FEC7-FAE7-A0ACA4D4234B}"/>
                </a:ext>
              </a:extLst>
            </p:cNvPr>
            <p:cNvSpPr/>
            <p:nvPr/>
          </p:nvSpPr>
          <p:spPr>
            <a:xfrm>
              <a:off x="3672040" y="1067128"/>
              <a:ext cx="432000" cy="4320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b="1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xmlns="" id="{2029031C-EE39-DC4A-38B6-6AB3AA7D2240}"/>
                </a:ext>
              </a:extLst>
            </p:cNvPr>
            <p:cNvSpPr/>
            <p:nvPr/>
          </p:nvSpPr>
          <p:spPr>
            <a:xfrm>
              <a:off x="3672040" y="3216065"/>
              <a:ext cx="432000" cy="4320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xmlns="" id="{9C4F7EB3-D0C6-9F8D-7706-7CD68BAC8D89}"/>
                </a:ext>
              </a:extLst>
            </p:cNvPr>
            <p:cNvSpPr/>
            <p:nvPr/>
          </p:nvSpPr>
          <p:spPr>
            <a:xfrm>
              <a:off x="3672040" y="5142491"/>
              <a:ext cx="432000" cy="4320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Diamond 10">
                  <a:extLst>
                    <a:ext uri="{FF2B5EF4-FFF2-40B4-BE49-F238E27FC236}">
                      <a16:creationId xmlns:a16="http://schemas.microsoft.com/office/drawing/2014/main" xmlns="" id="{D5082C2A-8327-CEDD-4900-C2D931D47946}"/>
                    </a:ext>
                  </a:extLst>
                </p:cNvPr>
                <p:cNvSpPr/>
                <p:nvPr/>
              </p:nvSpPr>
              <p:spPr>
                <a:xfrm>
                  <a:off x="4167544" y="2511444"/>
                  <a:ext cx="546518" cy="468000"/>
                </a:xfrm>
                <a:prstGeom prst="diamond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Diamond 10">
                  <a:extLst>
                    <a:ext uri="{FF2B5EF4-FFF2-40B4-BE49-F238E27FC236}">
                      <a16:creationId xmlns:a16="http://schemas.microsoft.com/office/drawing/2014/main" id="{312629E1-FE97-AB15-90EC-002877C4697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7544" y="2511444"/>
                  <a:ext cx="546518" cy="468000"/>
                </a:xfrm>
                <a:prstGeom prst="diamond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xmlns="" id="{802244E2-BFC4-2AD6-2773-81CB8869D482}"/>
                    </a:ext>
                  </a:extLst>
                </p:cNvPr>
                <p:cNvSpPr/>
                <p:nvPr/>
              </p:nvSpPr>
              <p:spPr>
                <a:xfrm>
                  <a:off x="3664496" y="3850605"/>
                  <a:ext cx="432000" cy="432000"/>
                </a:xfrm>
                <a:prstGeom prst="ellipse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(.)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802244E2-BFC4-2AD6-2773-81CB8869D48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4496" y="3850605"/>
                  <a:ext cx="432000" cy="432000"/>
                </a:xfrm>
                <a:prstGeom prst="ellipse">
                  <a:avLst/>
                </a:prstGeom>
                <a:blipFill>
                  <a:blip r:embed="rId6"/>
                  <a:stretch>
                    <a:fillRect l="-1389" r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xmlns="" id="{4A43B19B-1AF9-B52D-782E-9684B3C10C01}"/>
                </a:ext>
              </a:extLst>
            </p:cNvPr>
            <p:cNvCxnSpPr>
              <a:stCxn id="10" idx="0"/>
              <a:endCxn id="6" idx="2"/>
            </p:cNvCxnSpPr>
            <p:nvPr/>
          </p:nvCxnSpPr>
          <p:spPr>
            <a:xfrm flipH="1" flipV="1">
              <a:off x="3884268" y="4946548"/>
              <a:ext cx="3772" cy="195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xmlns="" id="{CFEE0C87-5541-88B8-CF13-7700BB245BE2}"/>
                </a:ext>
              </a:extLst>
            </p:cNvPr>
            <p:cNvCxnSpPr/>
            <p:nvPr/>
          </p:nvCxnSpPr>
          <p:spPr>
            <a:xfrm flipH="1" flipV="1">
              <a:off x="3888040" y="4282605"/>
              <a:ext cx="3772" cy="195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xmlns="" id="{A3B9126E-856B-A481-2BDC-2BCDB3E8C46B}"/>
                </a:ext>
              </a:extLst>
            </p:cNvPr>
            <p:cNvCxnSpPr/>
            <p:nvPr/>
          </p:nvCxnSpPr>
          <p:spPr>
            <a:xfrm flipH="1" flipV="1">
              <a:off x="3884268" y="3654662"/>
              <a:ext cx="3772" cy="195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xmlns="" id="{4B365E45-03C9-2E0C-E041-90FBE73656A7}"/>
                </a:ext>
              </a:extLst>
            </p:cNvPr>
            <p:cNvCxnSpPr>
              <a:stCxn id="9" idx="0"/>
              <a:endCxn id="5" idx="2"/>
            </p:cNvCxnSpPr>
            <p:nvPr/>
          </p:nvCxnSpPr>
          <p:spPr>
            <a:xfrm flipV="1">
              <a:off x="3888040" y="2178993"/>
              <a:ext cx="2760" cy="10370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Connector: Elbow 16">
              <a:extLst>
                <a:ext uri="{FF2B5EF4-FFF2-40B4-BE49-F238E27FC236}">
                  <a16:creationId xmlns:a16="http://schemas.microsoft.com/office/drawing/2014/main" xmlns="" id="{0F1A1930-40E8-C197-F80E-372AB039654C}"/>
                </a:ext>
              </a:extLst>
            </p:cNvPr>
            <p:cNvCxnSpPr>
              <a:stCxn id="11" idx="3"/>
              <a:endCxn id="7" idx="0"/>
            </p:cNvCxnSpPr>
            <p:nvPr/>
          </p:nvCxnSpPr>
          <p:spPr>
            <a:xfrm>
              <a:off x="4714062" y="2745444"/>
              <a:ext cx="185300" cy="452621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xmlns="" id="{A68586CC-B615-4023-89FD-BE8617ECB8DA}"/>
                </a:ext>
              </a:extLst>
            </p:cNvPr>
            <p:cNvCxnSpPr>
              <a:stCxn id="11" idx="1"/>
            </p:cNvCxnSpPr>
            <p:nvPr/>
          </p:nvCxnSpPr>
          <p:spPr>
            <a:xfrm flipH="1">
              <a:off x="3900740" y="2745444"/>
              <a:ext cx="266804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Connector: Elbow 18">
              <a:extLst>
                <a:ext uri="{FF2B5EF4-FFF2-40B4-BE49-F238E27FC236}">
                  <a16:creationId xmlns:a16="http://schemas.microsoft.com/office/drawing/2014/main" xmlns="" id="{D1722F0A-10F9-92E8-89F5-5A6C1427DC3A}"/>
                </a:ext>
              </a:extLst>
            </p:cNvPr>
            <p:cNvCxnSpPr>
              <a:cxnSpLocks/>
              <a:stCxn id="7" idx="2"/>
              <a:endCxn id="12" idx="6"/>
            </p:cNvCxnSpPr>
            <p:nvPr/>
          </p:nvCxnSpPr>
          <p:spPr>
            <a:xfrm rot="5400000">
              <a:off x="4297659" y="3464902"/>
              <a:ext cx="400540" cy="802866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xmlns="" id="{65341A0C-7341-971A-6542-8F7BD907C5F2}"/>
                </a:ext>
              </a:extLst>
            </p:cNvPr>
            <p:cNvCxnSpPr/>
            <p:nvPr/>
          </p:nvCxnSpPr>
          <p:spPr>
            <a:xfrm flipH="1" flipV="1">
              <a:off x="3890883" y="1508453"/>
              <a:ext cx="3772" cy="195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xmlns="" id="{1479DF22-88BC-7AF2-D47B-E7EDAA7CB1FB}"/>
                    </a:ext>
                  </a:extLst>
                </p:cNvPr>
                <p:cNvSpPr txBox="1"/>
                <p:nvPr/>
              </p:nvSpPr>
              <p:spPr>
                <a:xfrm>
                  <a:off x="3641198" y="1083900"/>
                  <a:ext cx="57874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18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1800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3C120BA-79E8-ADD5-3D67-6C901D8D14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1198" y="1083900"/>
                  <a:ext cx="578748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3158" t="-6667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xmlns="" id="{29FB4D8B-3A52-D2C4-EB21-AFAB1BD12521}"/>
                    </a:ext>
                  </a:extLst>
                </p:cNvPr>
                <p:cNvSpPr txBox="1"/>
                <p:nvPr/>
              </p:nvSpPr>
              <p:spPr>
                <a:xfrm>
                  <a:off x="3630565" y="5177044"/>
                  <a:ext cx="57874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9898A35-5D27-3AFD-DCEC-B3870EE9A2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0565" y="5177044"/>
                  <a:ext cx="578748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xmlns="" id="{DE891D50-0373-CCDA-A4D1-7C229656E91C}"/>
                    </a:ext>
                  </a:extLst>
                </p:cNvPr>
                <p:cNvSpPr txBox="1"/>
                <p:nvPr/>
              </p:nvSpPr>
              <p:spPr>
                <a:xfrm>
                  <a:off x="3634353" y="3236362"/>
                  <a:ext cx="57874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8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EAF4EBF-06B1-79A7-1B72-595DB550A3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4353" y="3236362"/>
                  <a:ext cx="578748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4211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xmlns="" id="{45D6AF3B-B78D-5F77-466B-A91F78E4DCA6}"/>
                    </a:ext>
                  </a:extLst>
                </p:cNvPr>
                <p:cNvSpPr txBox="1"/>
                <p:nvPr/>
              </p:nvSpPr>
              <p:spPr>
                <a:xfrm>
                  <a:off x="4905741" y="2755189"/>
                  <a:ext cx="98469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8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F8E314D-D94B-E03E-107A-3344F9B3AA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5741" y="2755189"/>
                  <a:ext cx="984693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2484"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Agrupar 49">
            <a:extLst>
              <a:ext uri="{FF2B5EF4-FFF2-40B4-BE49-F238E27FC236}">
                <a16:creationId xmlns:a16="http://schemas.microsoft.com/office/drawing/2014/main" xmlns="" id="{68106E7F-C424-D8F9-32BD-AB1D97C0EBF4}"/>
              </a:ext>
            </a:extLst>
          </p:cNvPr>
          <p:cNvGrpSpPr/>
          <p:nvPr/>
        </p:nvGrpSpPr>
        <p:grpSpPr>
          <a:xfrm>
            <a:off x="7876500" y="320782"/>
            <a:ext cx="2259869" cy="5225594"/>
            <a:chOff x="7876500" y="320782"/>
            <a:chExt cx="2259869" cy="52255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Rectangle 4">
                  <a:extLst>
                    <a:ext uri="{FF2B5EF4-FFF2-40B4-BE49-F238E27FC236}">
                      <a16:creationId xmlns:a16="http://schemas.microsoft.com/office/drawing/2014/main" xmlns="" id="{76A85B48-7380-2CCD-FF64-7ADAA61C49CD}"/>
                    </a:ext>
                  </a:extLst>
                </p:cNvPr>
                <p:cNvSpPr/>
                <p:nvPr/>
              </p:nvSpPr>
              <p:spPr>
                <a:xfrm>
                  <a:off x="7902735" y="1601766"/>
                  <a:ext cx="468000" cy="477825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" name="Rectangle 4">
                  <a:extLst>
                    <a:ext uri="{FF2B5EF4-FFF2-40B4-BE49-F238E27FC236}">
                      <a16:creationId xmlns:a16="http://schemas.microsoft.com/office/drawing/2014/main" id="{76A85B48-7380-2CCD-FF64-7ADAA61C49C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02735" y="1601766"/>
                  <a:ext cx="468000" cy="477825"/>
                </a:xfrm>
                <a:prstGeom prst="rect">
                  <a:avLst/>
                </a:prstGeom>
                <a:blipFill>
                  <a:blip r:embed="rId11"/>
                  <a:stretch>
                    <a:fillRect l="-89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5">
                  <a:extLst>
                    <a:ext uri="{FF2B5EF4-FFF2-40B4-BE49-F238E27FC236}">
                      <a16:creationId xmlns:a16="http://schemas.microsoft.com/office/drawing/2014/main" xmlns="" id="{381AC555-FEB7-CFA8-583A-EFB748428BC7}"/>
                    </a:ext>
                  </a:extLst>
                </p:cNvPr>
                <p:cNvSpPr/>
                <p:nvPr/>
              </p:nvSpPr>
              <p:spPr>
                <a:xfrm>
                  <a:off x="7896203" y="4427424"/>
                  <a:ext cx="468000" cy="477825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" name="Rectangle 5">
                  <a:extLst>
                    <a:ext uri="{FF2B5EF4-FFF2-40B4-BE49-F238E27FC236}">
                      <a16:creationId xmlns:a16="http://schemas.microsoft.com/office/drawing/2014/main" id="{381AC555-FEB7-CFA8-583A-EFB748428BC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6203" y="4427424"/>
                  <a:ext cx="468000" cy="477825"/>
                </a:xfrm>
                <a:prstGeom prst="rect">
                  <a:avLst/>
                </a:prstGeom>
                <a:blipFill>
                  <a:blip r:embed="rId12"/>
                  <a:stretch>
                    <a:fillRect l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6">
                  <a:extLst>
                    <a:ext uri="{FF2B5EF4-FFF2-40B4-BE49-F238E27FC236}">
                      <a16:creationId xmlns:a16="http://schemas.microsoft.com/office/drawing/2014/main" xmlns="" id="{81A71E86-23EC-43BE-4CDC-F69180FEC82F}"/>
                    </a:ext>
                  </a:extLst>
                </p:cNvPr>
                <p:cNvSpPr/>
                <p:nvPr/>
              </p:nvSpPr>
              <p:spPr>
                <a:xfrm>
                  <a:off x="8911297" y="3120058"/>
                  <a:ext cx="468000" cy="477825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Rectangle 6">
                  <a:extLst>
                    <a:ext uri="{FF2B5EF4-FFF2-40B4-BE49-F238E27FC236}">
                      <a16:creationId xmlns:a16="http://schemas.microsoft.com/office/drawing/2014/main" id="{81A71E86-23EC-43BE-4CDC-F69180FEC82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1297" y="3120058"/>
                  <a:ext cx="468000" cy="477825"/>
                </a:xfrm>
                <a:prstGeom prst="rect">
                  <a:avLst/>
                </a:prstGeom>
                <a:blipFill>
                  <a:blip r:embed="rId13"/>
                  <a:stretch>
                    <a:fillRect l="-102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Oval 7">
              <a:extLst>
                <a:ext uri="{FF2B5EF4-FFF2-40B4-BE49-F238E27FC236}">
                  <a16:creationId xmlns:a16="http://schemas.microsoft.com/office/drawing/2014/main" xmlns="" id="{CA988B7A-1B0B-82F5-9415-E8E6402D7314}"/>
                </a:ext>
              </a:extLst>
            </p:cNvPr>
            <p:cNvSpPr/>
            <p:nvPr/>
          </p:nvSpPr>
          <p:spPr>
            <a:xfrm>
              <a:off x="7925595" y="320782"/>
              <a:ext cx="432000" cy="44107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b="1" dirty="0"/>
            </a:p>
          </p:txBody>
        </p:sp>
        <p:sp>
          <p:nvSpPr>
            <p:cNvPr id="28" name="Oval 8">
              <a:extLst>
                <a:ext uri="{FF2B5EF4-FFF2-40B4-BE49-F238E27FC236}">
                  <a16:creationId xmlns:a16="http://schemas.microsoft.com/office/drawing/2014/main" xmlns="" id="{AAE1E49D-9B08-0B79-5467-F9E05E71413E}"/>
                </a:ext>
              </a:extLst>
            </p:cNvPr>
            <p:cNvSpPr/>
            <p:nvPr/>
          </p:nvSpPr>
          <p:spPr>
            <a:xfrm>
              <a:off x="7917975" y="3138436"/>
              <a:ext cx="432000" cy="44107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29" name="Oval 9">
              <a:extLst>
                <a:ext uri="{FF2B5EF4-FFF2-40B4-BE49-F238E27FC236}">
                  <a16:creationId xmlns:a16="http://schemas.microsoft.com/office/drawing/2014/main" xmlns="" id="{B8BE4B74-3C6A-2E82-FCA0-6556493DD525}"/>
                </a:ext>
              </a:extLst>
            </p:cNvPr>
            <p:cNvSpPr/>
            <p:nvPr/>
          </p:nvSpPr>
          <p:spPr>
            <a:xfrm>
              <a:off x="7917975" y="5105306"/>
              <a:ext cx="432000" cy="44107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Diamond 10">
                  <a:extLst>
                    <a:ext uri="{FF2B5EF4-FFF2-40B4-BE49-F238E27FC236}">
                      <a16:creationId xmlns:a16="http://schemas.microsoft.com/office/drawing/2014/main" xmlns="" id="{C3D54E13-140B-5E52-0B82-E85F5AEF036A}"/>
                    </a:ext>
                  </a:extLst>
                </p:cNvPr>
                <p:cNvSpPr/>
                <p:nvPr/>
              </p:nvSpPr>
              <p:spPr>
                <a:xfrm>
                  <a:off x="8413479" y="2419022"/>
                  <a:ext cx="546518" cy="477825"/>
                </a:xfrm>
                <a:prstGeom prst="diamond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Diamond 10">
                  <a:extLst>
                    <a:ext uri="{FF2B5EF4-FFF2-40B4-BE49-F238E27FC236}">
                      <a16:creationId xmlns:a16="http://schemas.microsoft.com/office/drawing/2014/main" id="{C3D54E13-140B-5E52-0B82-E85F5AEF036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13479" y="2419022"/>
                  <a:ext cx="546518" cy="477825"/>
                </a:xfrm>
                <a:prstGeom prst="diamond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Oval 11">
                  <a:extLst>
                    <a:ext uri="{FF2B5EF4-FFF2-40B4-BE49-F238E27FC236}">
                      <a16:creationId xmlns:a16="http://schemas.microsoft.com/office/drawing/2014/main" xmlns="" id="{3A515DFD-2273-43CA-BC90-55C35DE12AE2}"/>
                    </a:ext>
                  </a:extLst>
                </p:cNvPr>
                <p:cNvSpPr/>
                <p:nvPr/>
              </p:nvSpPr>
              <p:spPr>
                <a:xfrm>
                  <a:off x="7910431" y="3786298"/>
                  <a:ext cx="432000" cy="441070"/>
                </a:xfrm>
                <a:prstGeom prst="ellipse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(.)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1" name="Oval 11">
                  <a:extLst>
                    <a:ext uri="{FF2B5EF4-FFF2-40B4-BE49-F238E27FC236}">
                      <a16:creationId xmlns:a16="http://schemas.microsoft.com/office/drawing/2014/main" id="{3A515DFD-2273-43CA-BC90-55C35DE12AE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10431" y="3786298"/>
                  <a:ext cx="432000" cy="441070"/>
                </a:xfrm>
                <a:prstGeom prst="ellipse">
                  <a:avLst/>
                </a:prstGeom>
                <a:blipFill>
                  <a:blip r:embed="rId15"/>
                  <a:stretch>
                    <a:fillRect l="-2778" r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Arrow Connector 12">
              <a:extLst>
                <a:ext uri="{FF2B5EF4-FFF2-40B4-BE49-F238E27FC236}">
                  <a16:creationId xmlns:a16="http://schemas.microsoft.com/office/drawing/2014/main" xmlns="" id="{4C7F79EF-BDDD-A3E9-801D-ECB66DFEA188}"/>
                </a:ext>
              </a:extLst>
            </p:cNvPr>
            <p:cNvCxnSpPr>
              <a:stCxn id="29" idx="0"/>
              <a:endCxn id="4" idx="2"/>
            </p:cNvCxnSpPr>
            <p:nvPr/>
          </p:nvCxnSpPr>
          <p:spPr>
            <a:xfrm flipH="1" flipV="1">
              <a:off x="8130203" y="4905250"/>
              <a:ext cx="3772" cy="2000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13">
              <a:extLst>
                <a:ext uri="{FF2B5EF4-FFF2-40B4-BE49-F238E27FC236}">
                  <a16:creationId xmlns:a16="http://schemas.microsoft.com/office/drawing/2014/main" xmlns="" id="{B5CF0874-65C0-A04C-D46E-1D31438CA4BA}"/>
                </a:ext>
              </a:extLst>
            </p:cNvPr>
            <p:cNvCxnSpPr/>
            <p:nvPr/>
          </p:nvCxnSpPr>
          <p:spPr>
            <a:xfrm flipH="1" flipV="1">
              <a:off x="8133975" y="4227367"/>
              <a:ext cx="3772" cy="2000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14">
              <a:extLst>
                <a:ext uri="{FF2B5EF4-FFF2-40B4-BE49-F238E27FC236}">
                  <a16:creationId xmlns:a16="http://schemas.microsoft.com/office/drawing/2014/main" xmlns="" id="{B7FC0459-C9D3-5EC5-CA8E-F63D1801A265}"/>
                </a:ext>
              </a:extLst>
            </p:cNvPr>
            <p:cNvCxnSpPr/>
            <p:nvPr/>
          </p:nvCxnSpPr>
          <p:spPr>
            <a:xfrm flipH="1" flipV="1">
              <a:off x="8130203" y="3586241"/>
              <a:ext cx="3772" cy="2000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Arrow Connector 15">
              <a:extLst>
                <a:ext uri="{FF2B5EF4-FFF2-40B4-BE49-F238E27FC236}">
                  <a16:creationId xmlns:a16="http://schemas.microsoft.com/office/drawing/2014/main" xmlns="" id="{62627B63-6154-491C-CEF1-B37C66D42BAF}"/>
                </a:ext>
              </a:extLst>
            </p:cNvPr>
            <p:cNvCxnSpPr>
              <a:stCxn id="28" idx="0"/>
              <a:endCxn id="3" idx="2"/>
            </p:cNvCxnSpPr>
            <p:nvPr/>
          </p:nvCxnSpPr>
          <p:spPr>
            <a:xfrm flipV="1">
              <a:off x="8133975" y="2079591"/>
              <a:ext cx="2760" cy="10588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Connector: Elbow 16">
              <a:extLst>
                <a:ext uri="{FF2B5EF4-FFF2-40B4-BE49-F238E27FC236}">
                  <a16:creationId xmlns:a16="http://schemas.microsoft.com/office/drawing/2014/main" xmlns="" id="{3519258D-B8C1-DE2B-9AB3-D478E3C893D8}"/>
                </a:ext>
              </a:extLst>
            </p:cNvPr>
            <p:cNvCxnSpPr>
              <a:stCxn id="30" idx="3"/>
              <a:endCxn id="21" idx="0"/>
            </p:cNvCxnSpPr>
            <p:nvPr/>
          </p:nvCxnSpPr>
          <p:spPr>
            <a:xfrm>
              <a:off x="8959997" y="2657934"/>
              <a:ext cx="185300" cy="46212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17">
              <a:extLst>
                <a:ext uri="{FF2B5EF4-FFF2-40B4-BE49-F238E27FC236}">
                  <a16:creationId xmlns:a16="http://schemas.microsoft.com/office/drawing/2014/main" xmlns="" id="{9079B4A8-8566-C8E3-FD26-1AD2E579A563}"/>
                </a:ext>
              </a:extLst>
            </p:cNvPr>
            <p:cNvCxnSpPr>
              <a:stCxn id="30" idx="1"/>
            </p:cNvCxnSpPr>
            <p:nvPr/>
          </p:nvCxnSpPr>
          <p:spPr>
            <a:xfrm flipH="1">
              <a:off x="8146675" y="2657934"/>
              <a:ext cx="266804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Connector: Elbow 18">
              <a:extLst>
                <a:ext uri="{FF2B5EF4-FFF2-40B4-BE49-F238E27FC236}">
                  <a16:creationId xmlns:a16="http://schemas.microsoft.com/office/drawing/2014/main" xmlns="" id="{FB5A9D70-A6BA-5543-5036-B306037D4314}"/>
                </a:ext>
              </a:extLst>
            </p:cNvPr>
            <p:cNvCxnSpPr>
              <a:cxnSpLocks/>
              <a:stCxn id="21" idx="2"/>
              <a:endCxn id="31" idx="6"/>
            </p:cNvCxnSpPr>
            <p:nvPr/>
          </p:nvCxnSpPr>
          <p:spPr>
            <a:xfrm rot="5400000">
              <a:off x="8539389" y="3400925"/>
              <a:ext cx="408949" cy="802866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19">
              <a:extLst>
                <a:ext uri="{FF2B5EF4-FFF2-40B4-BE49-F238E27FC236}">
                  <a16:creationId xmlns:a16="http://schemas.microsoft.com/office/drawing/2014/main" xmlns="" id="{165E681B-13AF-F55B-80BE-0268B15154D6}"/>
                </a:ext>
              </a:extLst>
            </p:cNvPr>
            <p:cNvCxnSpPr>
              <a:cxnSpLocks/>
              <a:stCxn id="3" idx="0"/>
              <a:endCxn id="44" idx="4"/>
            </p:cNvCxnSpPr>
            <p:nvPr/>
          </p:nvCxnSpPr>
          <p:spPr>
            <a:xfrm flipV="1">
              <a:off x="8136735" y="1376596"/>
              <a:ext cx="3848" cy="22517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21">
                  <a:extLst>
                    <a:ext uri="{FF2B5EF4-FFF2-40B4-BE49-F238E27FC236}">
                      <a16:creationId xmlns:a16="http://schemas.microsoft.com/office/drawing/2014/main" xmlns="" id="{D1348BBD-068C-A363-3005-B1289B8D89CD}"/>
                    </a:ext>
                  </a:extLst>
                </p:cNvPr>
                <p:cNvSpPr txBox="1"/>
                <p:nvPr/>
              </p:nvSpPr>
              <p:spPr>
                <a:xfrm>
                  <a:off x="7895191" y="332534"/>
                  <a:ext cx="578748" cy="3770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18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1800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40" name="TextBox 21">
                  <a:extLst>
                    <a:ext uri="{FF2B5EF4-FFF2-40B4-BE49-F238E27FC236}">
                      <a16:creationId xmlns:a16="http://schemas.microsoft.com/office/drawing/2014/main" id="{D1348BBD-068C-A363-3005-B1289B8D89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5191" y="332534"/>
                  <a:ext cx="578748" cy="377086"/>
                </a:xfrm>
                <a:prstGeom prst="rect">
                  <a:avLst/>
                </a:prstGeom>
                <a:blipFill>
                  <a:blip r:embed="rId16"/>
                  <a:stretch>
                    <a:fillRect l="-4211" t="-6557"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22">
                  <a:extLst>
                    <a:ext uri="{FF2B5EF4-FFF2-40B4-BE49-F238E27FC236}">
                      <a16:creationId xmlns:a16="http://schemas.microsoft.com/office/drawing/2014/main" xmlns="" id="{61AF4ACA-82A7-38B5-1AA0-CF7EA98E07ED}"/>
                    </a:ext>
                  </a:extLst>
                </p:cNvPr>
                <p:cNvSpPr txBox="1"/>
                <p:nvPr/>
              </p:nvSpPr>
              <p:spPr>
                <a:xfrm>
                  <a:off x="7876500" y="5140585"/>
                  <a:ext cx="578748" cy="3770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41" name="TextBox 22">
                  <a:extLst>
                    <a:ext uri="{FF2B5EF4-FFF2-40B4-BE49-F238E27FC236}">
                      <a16:creationId xmlns:a16="http://schemas.microsoft.com/office/drawing/2014/main" id="{61AF4ACA-82A7-38B5-1AA0-CF7EA98E07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76500" y="5140585"/>
                  <a:ext cx="578748" cy="377086"/>
                </a:xfrm>
                <a:prstGeom prst="rect">
                  <a:avLst/>
                </a:prstGeom>
                <a:blipFill>
                  <a:blip r:embed="rId17"/>
                  <a:stretch>
                    <a:fillRect b="-129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23">
                  <a:extLst>
                    <a:ext uri="{FF2B5EF4-FFF2-40B4-BE49-F238E27FC236}">
                      <a16:creationId xmlns:a16="http://schemas.microsoft.com/office/drawing/2014/main" xmlns="" id="{566E3115-AE91-024B-A6A4-0767F86DE0D5}"/>
                    </a:ext>
                  </a:extLst>
                </p:cNvPr>
                <p:cNvSpPr txBox="1"/>
                <p:nvPr/>
              </p:nvSpPr>
              <p:spPr>
                <a:xfrm>
                  <a:off x="7880288" y="3159159"/>
                  <a:ext cx="578748" cy="3770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8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42" name="TextBox 23">
                  <a:extLst>
                    <a:ext uri="{FF2B5EF4-FFF2-40B4-BE49-F238E27FC236}">
                      <a16:creationId xmlns:a16="http://schemas.microsoft.com/office/drawing/2014/main" id="{566E3115-AE91-024B-A6A4-0767F86DE0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0288" y="3159159"/>
                  <a:ext cx="578748" cy="377086"/>
                </a:xfrm>
                <a:prstGeom prst="rect">
                  <a:avLst/>
                </a:prstGeom>
                <a:blipFill>
                  <a:blip r:embed="rId18"/>
                  <a:stretch>
                    <a:fillRect l="-4211" b="-129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24">
                  <a:extLst>
                    <a:ext uri="{FF2B5EF4-FFF2-40B4-BE49-F238E27FC236}">
                      <a16:creationId xmlns:a16="http://schemas.microsoft.com/office/drawing/2014/main" xmlns="" id="{9E370B18-E5BE-A9AC-F9B6-139BB6C7D877}"/>
                    </a:ext>
                  </a:extLst>
                </p:cNvPr>
                <p:cNvSpPr txBox="1"/>
                <p:nvPr/>
              </p:nvSpPr>
              <p:spPr>
                <a:xfrm>
                  <a:off x="9151676" y="2667884"/>
                  <a:ext cx="984693" cy="3770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8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43" name="TextBox 24">
                  <a:extLst>
                    <a:ext uri="{FF2B5EF4-FFF2-40B4-BE49-F238E27FC236}">
                      <a16:creationId xmlns:a16="http://schemas.microsoft.com/office/drawing/2014/main" id="{9E370B18-E5BE-A9AC-F9B6-139BB6C7D8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51676" y="2667884"/>
                  <a:ext cx="984693" cy="377086"/>
                </a:xfrm>
                <a:prstGeom prst="rect">
                  <a:avLst/>
                </a:prstGeom>
                <a:blipFill>
                  <a:blip r:embed="rId19"/>
                  <a:stretch>
                    <a:fillRect l="-2469" b="-129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Oval 11">
                  <a:extLst>
                    <a:ext uri="{FF2B5EF4-FFF2-40B4-BE49-F238E27FC236}">
                      <a16:creationId xmlns:a16="http://schemas.microsoft.com/office/drawing/2014/main" xmlns="" id="{7A4582A7-DB9A-8D9D-8E97-BCEC8C6FBEEA}"/>
                    </a:ext>
                  </a:extLst>
                </p:cNvPr>
                <p:cNvSpPr/>
                <p:nvPr/>
              </p:nvSpPr>
              <p:spPr>
                <a:xfrm>
                  <a:off x="7924583" y="935526"/>
                  <a:ext cx="432000" cy="441070"/>
                </a:xfrm>
                <a:prstGeom prst="ellipse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(.)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44" name="Oval 11">
                  <a:extLst>
                    <a:ext uri="{FF2B5EF4-FFF2-40B4-BE49-F238E27FC236}">
                      <a16:creationId xmlns:a16="http://schemas.microsoft.com/office/drawing/2014/main" id="{7A4582A7-DB9A-8D9D-8E97-BCEC8C6FBEE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4583" y="935526"/>
                  <a:ext cx="432000" cy="441070"/>
                </a:xfrm>
                <a:prstGeom prst="ellipse">
                  <a:avLst/>
                </a:prstGeom>
                <a:blipFill>
                  <a:blip r:embed="rId20"/>
                  <a:stretch>
                    <a:fillRect l="-1389" r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Straight Arrow Connector 19">
              <a:extLst>
                <a:ext uri="{FF2B5EF4-FFF2-40B4-BE49-F238E27FC236}">
                  <a16:creationId xmlns:a16="http://schemas.microsoft.com/office/drawing/2014/main" xmlns="" id="{08F3B26B-77C0-F7A6-9D1B-EFA91EC5706D}"/>
                </a:ext>
              </a:extLst>
            </p:cNvPr>
            <p:cNvCxnSpPr>
              <a:cxnSpLocks/>
              <a:stCxn id="44" idx="0"/>
              <a:endCxn id="27" idx="4"/>
            </p:cNvCxnSpPr>
            <p:nvPr/>
          </p:nvCxnSpPr>
          <p:spPr>
            <a:xfrm flipV="1">
              <a:off x="8140583" y="761852"/>
              <a:ext cx="1012" cy="1736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5395537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65">
            <a:extLst>
              <a:ext uri="{FF2B5EF4-FFF2-40B4-BE49-F238E27FC236}">
                <a16:creationId xmlns:a16="http://schemas.microsoft.com/office/drawing/2014/main" xmlns="" id="{22ECFCAF-AE04-0921-2229-1CAFB376C6C4}"/>
              </a:ext>
            </a:extLst>
          </p:cNvPr>
          <p:cNvGrpSpPr/>
          <p:nvPr/>
        </p:nvGrpSpPr>
        <p:grpSpPr>
          <a:xfrm>
            <a:off x="776817" y="1394981"/>
            <a:ext cx="7495804" cy="4521741"/>
            <a:chOff x="776817" y="1394981"/>
            <a:chExt cx="7495804" cy="45217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xmlns="" id="{D50E87A4-4DE1-5096-E2D7-2696ABAE4BD9}"/>
                    </a:ext>
                  </a:extLst>
                </p:cNvPr>
                <p:cNvSpPr/>
                <p:nvPr/>
              </p:nvSpPr>
              <p:spPr>
                <a:xfrm>
                  <a:off x="783349" y="2053224"/>
                  <a:ext cx="468000" cy="468000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D50E87A4-4DE1-5096-E2D7-2696ABAE4BD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349" y="2053224"/>
                  <a:ext cx="468000" cy="468000"/>
                </a:xfrm>
                <a:prstGeom prst="rect">
                  <a:avLst/>
                </a:prstGeom>
                <a:blipFill>
                  <a:blip r:embed="rId2"/>
                  <a:stretch>
                    <a:fillRect l="-103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xmlns="" id="{5A8CCC43-1D42-7F2F-E428-E85BBDA67D37}"/>
                    </a:ext>
                  </a:extLst>
                </p:cNvPr>
                <p:cNvSpPr/>
                <p:nvPr/>
              </p:nvSpPr>
              <p:spPr>
                <a:xfrm>
                  <a:off x="776817" y="4820779"/>
                  <a:ext cx="468000" cy="468000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5A8CCC43-1D42-7F2F-E428-E85BBDA67D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17" y="4820779"/>
                  <a:ext cx="468000" cy="468000"/>
                </a:xfrm>
                <a:prstGeom prst="rect">
                  <a:avLst/>
                </a:prstGeom>
                <a:blipFill>
                  <a:blip r:embed="rId3"/>
                  <a:stretch>
                    <a:fillRect l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xmlns="" id="{60C4F936-CDC1-6A01-F955-FDED61DA084A}"/>
                    </a:ext>
                  </a:extLst>
                </p:cNvPr>
                <p:cNvSpPr/>
                <p:nvPr/>
              </p:nvSpPr>
              <p:spPr>
                <a:xfrm>
                  <a:off x="1791911" y="3540296"/>
                  <a:ext cx="468000" cy="468000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60C4F936-CDC1-6A01-F955-FDED61DA084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1911" y="3540296"/>
                  <a:ext cx="468000" cy="468000"/>
                </a:xfrm>
                <a:prstGeom prst="rect">
                  <a:avLst/>
                </a:prstGeom>
                <a:blipFill>
                  <a:blip r:embed="rId4"/>
                  <a:stretch>
                    <a:fillRect l="-102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xmlns="" id="{410E7DC3-8E48-A5D7-D205-DC7611FFE8EE}"/>
                    </a:ext>
                  </a:extLst>
                </p:cNvPr>
                <p:cNvSpPr/>
                <p:nvPr/>
              </p:nvSpPr>
              <p:spPr>
                <a:xfrm>
                  <a:off x="798589" y="1409359"/>
                  <a:ext cx="432000" cy="432000"/>
                </a:xfrm>
                <a:prstGeom prst="ellipse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pt-BR" sz="16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1600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600" b="1" dirty="0"/>
                </a:p>
              </p:txBody>
            </p:sp>
          </mc:Choice>
          <mc:Fallback xmlns="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410E7DC3-8E48-A5D7-D205-DC7611FFE8E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589" y="1409359"/>
                  <a:ext cx="432000" cy="432000"/>
                </a:xfrm>
                <a:prstGeom prst="ellipse">
                  <a:avLst/>
                </a:prstGeom>
                <a:blipFill>
                  <a:blip r:embed="rId5"/>
                  <a:stretch>
                    <a:fillRect l="-12500" r="-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xmlns="" id="{967F25C8-3A9B-7637-C6F3-B9857C012763}"/>
                    </a:ext>
                  </a:extLst>
                </p:cNvPr>
                <p:cNvSpPr/>
                <p:nvPr/>
              </p:nvSpPr>
              <p:spPr>
                <a:xfrm>
                  <a:off x="798589" y="3558296"/>
                  <a:ext cx="432000" cy="432000"/>
                </a:xfrm>
                <a:prstGeom prst="ellipse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6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600" b="1" dirty="0"/>
                </a:p>
              </p:txBody>
            </p:sp>
          </mc:Choice>
          <mc:Fallback xmlns="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967F25C8-3A9B-7637-C6F3-B9857C01276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589" y="3558296"/>
                  <a:ext cx="432000" cy="432000"/>
                </a:xfrm>
                <a:prstGeom prst="ellipse">
                  <a:avLst/>
                </a:prstGeom>
                <a:blipFill>
                  <a:blip r:embed="rId6"/>
                  <a:stretch>
                    <a:fillRect l="-13889" r="-694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xmlns="" id="{CC6B1917-7E5F-F008-0FC7-4FE6D71A2353}"/>
                    </a:ext>
                  </a:extLst>
                </p:cNvPr>
                <p:cNvSpPr/>
                <p:nvPr/>
              </p:nvSpPr>
              <p:spPr>
                <a:xfrm>
                  <a:off x="798589" y="5484722"/>
                  <a:ext cx="432000" cy="432000"/>
                </a:xfrm>
                <a:prstGeom prst="ellipse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6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CC6B1917-7E5F-F008-0FC7-4FE6D71A235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589" y="5484722"/>
                  <a:ext cx="432000" cy="432000"/>
                </a:xfrm>
                <a:prstGeom prst="ellipse">
                  <a:avLst/>
                </a:prstGeom>
                <a:blipFill>
                  <a:blip r:embed="rId7"/>
                  <a:stretch>
                    <a:fillRect l="-6944" r="-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Diamond 10">
                  <a:extLst>
                    <a:ext uri="{FF2B5EF4-FFF2-40B4-BE49-F238E27FC236}">
                      <a16:creationId xmlns:a16="http://schemas.microsoft.com/office/drawing/2014/main" xmlns="" id="{60284885-263A-F227-A49B-F9CB80C834EB}"/>
                    </a:ext>
                  </a:extLst>
                </p:cNvPr>
                <p:cNvSpPr/>
                <p:nvPr/>
              </p:nvSpPr>
              <p:spPr>
                <a:xfrm>
                  <a:off x="1294093" y="2853675"/>
                  <a:ext cx="546518" cy="468000"/>
                </a:xfrm>
                <a:prstGeom prst="diamond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Diamond 10">
                  <a:extLst>
                    <a:ext uri="{FF2B5EF4-FFF2-40B4-BE49-F238E27FC236}">
                      <a16:creationId xmlns:a16="http://schemas.microsoft.com/office/drawing/2014/main" id="{60284885-263A-F227-A49B-F9CB80C834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4093" y="2853675"/>
                  <a:ext cx="546518" cy="468000"/>
                </a:xfrm>
                <a:prstGeom prst="diamond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xmlns="" id="{079DA998-9F52-469B-DD25-D55FBEE92922}"/>
                    </a:ext>
                  </a:extLst>
                </p:cNvPr>
                <p:cNvSpPr/>
                <p:nvPr/>
              </p:nvSpPr>
              <p:spPr>
                <a:xfrm>
                  <a:off x="791045" y="4192836"/>
                  <a:ext cx="432000" cy="432000"/>
                </a:xfrm>
                <a:prstGeom prst="ellipse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(.)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079DA998-9F52-469B-DD25-D55FBEE9292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1045" y="4192836"/>
                  <a:ext cx="432000" cy="432000"/>
                </a:xfrm>
                <a:prstGeom prst="ellipse">
                  <a:avLst/>
                </a:prstGeom>
                <a:blipFill>
                  <a:blip r:embed="rId9"/>
                  <a:stretch>
                    <a:fillRect l="-5556" r="-2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xmlns="" id="{6E1ADF88-3F46-3F6C-D44A-25CFCFF58380}"/>
                </a:ext>
              </a:extLst>
            </p:cNvPr>
            <p:cNvCxnSpPr>
              <a:stCxn id="10" idx="0"/>
              <a:endCxn id="6" idx="2"/>
            </p:cNvCxnSpPr>
            <p:nvPr/>
          </p:nvCxnSpPr>
          <p:spPr>
            <a:xfrm flipH="1" flipV="1">
              <a:off x="1010817" y="5288779"/>
              <a:ext cx="3772" cy="195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xmlns="" id="{4213198D-DC17-2470-5AB4-FBACBBC41374}"/>
                </a:ext>
              </a:extLst>
            </p:cNvPr>
            <p:cNvCxnSpPr/>
            <p:nvPr/>
          </p:nvCxnSpPr>
          <p:spPr>
            <a:xfrm flipH="1" flipV="1">
              <a:off x="1014589" y="4624836"/>
              <a:ext cx="3772" cy="195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xmlns="" id="{E2EEB733-16FD-5318-5CC4-8001B20FED06}"/>
                </a:ext>
              </a:extLst>
            </p:cNvPr>
            <p:cNvCxnSpPr/>
            <p:nvPr/>
          </p:nvCxnSpPr>
          <p:spPr>
            <a:xfrm flipH="1" flipV="1">
              <a:off x="1010817" y="3996893"/>
              <a:ext cx="3772" cy="195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xmlns="" id="{134D4DC2-A277-FD4E-40F5-DE2014B8CF64}"/>
                </a:ext>
              </a:extLst>
            </p:cNvPr>
            <p:cNvCxnSpPr>
              <a:stCxn id="9" idx="0"/>
              <a:endCxn id="5" idx="2"/>
            </p:cNvCxnSpPr>
            <p:nvPr/>
          </p:nvCxnSpPr>
          <p:spPr>
            <a:xfrm flipV="1">
              <a:off x="1014589" y="2521224"/>
              <a:ext cx="2760" cy="10370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Connector: Elbow 16">
              <a:extLst>
                <a:ext uri="{FF2B5EF4-FFF2-40B4-BE49-F238E27FC236}">
                  <a16:creationId xmlns:a16="http://schemas.microsoft.com/office/drawing/2014/main" xmlns="" id="{80866249-EC15-EB3A-E296-1474E5364721}"/>
                </a:ext>
              </a:extLst>
            </p:cNvPr>
            <p:cNvCxnSpPr>
              <a:stCxn id="11" idx="3"/>
              <a:endCxn id="7" idx="0"/>
            </p:cNvCxnSpPr>
            <p:nvPr/>
          </p:nvCxnSpPr>
          <p:spPr>
            <a:xfrm>
              <a:off x="1840611" y="3087675"/>
              <a:ext cx="185300" cy="452621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xmlns="" id="{2DC952F7-2D10-9433-7DE4-21443557DCB2}"/>
                </a:ext>
              </a:extLst>
            </p:cNvPr>
            <p:cNvCxnSpPr>
              <a:stCxn id="11" idx="1"/>
            </p:cNvCxnSpPr>
            <p:nvPr/>
          </p:nvCxnSpPr>
          <p:spPr>
            <a:xfrm flipH="1">
              <a:off x="1027289" y="3087675"/>
              <a:ext cx="266804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Connector: Elbow 18">
              <a:extLst>
                <a:ext uri="{FF2B5EF4-FFF2-40B4-BE49-F238E27FC236}">
                  <a16:creationId xmlns:a16="http://schemas.microsoft.com/office/drawing/2014/main" xmlns="" id="{CA1FB7FE-64DA-AD96-0437-50FF891D4C76}"/>
                </a:ext>
              </a:extLst>
            </p:cNvPr>
            <p:cNvCxnSpPr>
              <a:cxnSpLocks/>
              <a:stCxn id="7" idx="2"/>
              <a:endCxn id="12" idx="6"/>
            </p:cNvCxnSpPr>
            <p:nvPr/>
          </p:nvCxnSpPr>
          <p:spPr>
            <a:xfrm rot="5400000">
              <a:off x="1424208" y="3807133"/>
              <a:ext cx="400540" cy="802866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xmlns="" id="{0D7B5B44-7EE7-8F6D-8655-20CC522D805D}"/>
                </a:ext>
              </a:extLst>
            </p:cNvPr>
            <p:cNvCxnSpPr/>
            <p:nvPr/>
          </p:nvCxnSpPr>
          <p:spPr>
            <a:xfrm flipH="1" flipV="1">
              <a:off x="1017432" y="1850684"/>
              <a:ext cx="3772" cy="195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xmlns="" id="{3F732168-587A-F518-C9A0-C396F786016E}"/>
                    </a:ext>
                  </a:extLst>
                </p:cNvPr>
                <p:cNvSpPr/>
                <p:nvPr/>
              </p:nvSpPr>
              <p:spPr>
                <a:xfrm>
                  <a:off x="3830878" y="2053224"/>
                  <a:ext cx="468000" cy="468000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3F732168-587A-F518-C9A0-C396F786016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0878" y="2053224"/>
                  <a:ext cx="468000" cy="468000"/>
                </a:xfrm>
                <a:prstGeom prst="rect">
                  <a:avLst/>
                </a:prstGeom>
                <a:blipFill>
                  <a:blip r:embed="rId10"/>
                  <a:stretch>
                    <a:fillRect l="-89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xmlns="" id="{DF8C03E3-8716-2E6D-369B-AC1813574A57}"/>
                    </a:ext>
                  </a:extLst>
                </p:cNvPr>
                <p:cNvSpPr/>
                <p:nvPr/>
              </p:nvSpPr>
              <p:spPr>
                <a:xfrm>
                  <a:off x="3824346" y="4820779"/>
                  <a:ext cx="468000" cy="468000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DF8C03E3-8716-2E6D-369B-AC1813574A5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4346" y="4820779"/>
                  <a:ext cx="468000" cy="468000"/>
                </a:xfrm>
                <a:prstGeom prst="rect">
                  <a:avLst/>
                </a:prstGeom>
                <a:blipFill>
                  <a:blip r:embed="rId11"/>
                  <a:stretch>
                    <a:fillRect l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xmlns="" id="{E2D972F1-922C-BE5B-4DE2-1F83A9F1643F}"/>
                    </a:ext>
                  </a:extLst>
                </p:cNvPr>
                <p:cNvSpPr/>
                <p:nvPr/>
              </p:nvSpPr>
              <p:spPr>
                <a:xfrm>
                  <a:off x="4550964" y="3540296"/>
                  <a:ext cx="468000" cy="468000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E2D972F1-922C-BE5B-4DE2-1F83A9F1643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0964" y="3540296"/>
                  <a:ext cx="468000" cy="468000"/>
                </a:xfrm>
                <a:prstGeom prst="rect">
                  <a:avLst/>
                </a:prstGeom>
                <a:blipFill>
                  <a:blip r:embed="rId12"/>
                  <a:stretch>
                    <a:fillRect l="-103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Oval 24">
              <a:extLst>
                <a:ext uri="{FF2B5EF4-FFF2-40B4-BE49-F238E27FC236}">
                  <a16:creationId xmlns:a16="http://schemas.microsoft.com/office/drawing/2014/main" xmlns="" id="{AD295B7E-C267-873F-E0E0-6F754810CBE3}"/>
                </a:ext>
              </a:extLst>
            </p:cNvPr>
            <p:cNvSpPr/>
            <p:nvPr/>
          </p:nvSpPr>
          <p:spPr>
            <a:xfrm>
              <a:off x="3846118" y="1409359"/>
              <a:ext cx="432000" cy="4320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xmlns="" id="{48BC489B-02C6-E486-E972-34A1CF1476C7}"/>
                </a:ext>
              </a:extLst>
            </p:cNvPr>
            <p:cNvSpPr/>
            <p:nvPr/>
          </p:nvSpPr>
          <p:spPr>
            <a:xfrm>
              <a:off x="3846118" y="3558296"/>
              <a:ext cx="432000" cy="4320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xmlns="" id="{22F39AD1-94B7-7A64-F11A-A209AC4FBCED}"/>
                </a:ext>
              </a:extLst>
            </p:cNvPr>
            <p:cNvSpPr/>
            <p:nvPr/>
          </p:nvSpPr>
          <p:spPr>
            <a:xfrm>
              <a:off x="3846118" y="5484722"/>
              <a:ext cx="432000" cy="4320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5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xmlns="" id="{9ADE25A5-BE1D-ABA0-A628-A6BB52EC7BCB}"/>
                    </a:ext>
                  </a:extLst>
                </p:cNvPr>
                <p:cNvSpPr/>
                <p:nvPr/>
              </p:nvSpPr>
              <p:spPr>
                <a:xfrm>
                  <a:off x="3838574" y="4192836"/>
                  <a:ext cx="432000" cy="432000"/>
                </a:xfrm>
                <a:prstGeom prst="ellipse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(.)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9ADE25A5-BE1D-ABA0-A628-A6BB52EC7BC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8574" y="4192836"/>
                  <a:ext cx="432000" cy="432000"/>
                </a:xfrm>
                <a:prstGeom prst="ellipse">
                  <a:avLst/>
                </a:prstGeom>
                <a:blipFill>
                  <a:blip r:embed="rId13"/>
                  <a:stretch>
                    <a:fillRect l="-2778" r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xmlns="" id="{A265BF78-156E-E80F-64A8-219A58A58CD7}"/>
                </a:ext>
              </a:extLst>
            </p:cNvPr>
            <p:cNvCxnSpPr>
              <a:cxnSpLocks/>
              <a:stCxn id="27" idx="0"/>
              <a:endCxn id="23" idx="2"/>
            </p:cNvCxnSpPr>
            <p:nvPr/>
          </p:nvCxnSpPr>
          <p:spPr>
            <a:xfrm flipH="1" flipV="1">
              <a:off x="4058346" y="5288779"/>
              <a:ext cx="3772" cy="195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xmlns="" id="{DBAA1E31-4ACF-4A4A-4878-2FDC1544D4AC}"/>
                </a:ext>
              </a:extLst>
            </p:cNvPr>
            <p:cNvCxnSpPr/>
            <p:nvPr/>
          </p:nvCxnSpPr>
          <p:spPr>
            <a:xfrm flipH="1" flipV="1">
              <a:off x="4062118" y="4624836"/>
              <a:ext cx="3772" cy="195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xmlns="" id="{556BC459-E07F-8B38-40B7-C40DE6F65CCC}"/>
                </a:ext>
              </a:extLst>
            </p:cNvPr>
            <p:cNvCxnSpPr/>
            <p:nvPr/>
          </p:nvCxnSpPr>
          <p:spPr>
            <a:xfrm flipH="1" flipV="1">
              <a:off x="4058346" y="3996893"/>
              <a:ext cx="3772" cy="195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xmlns="" id="{C1BDF5E7-1B84-C21C-89E8-5BBB07E38580}"/>
                </a:ext>
              </a:extLst>
            </p:cNvPr>
            <p:cNvCxnSpPr>
              <a:stCxn id="26" idx="0"/>
              <a:endCxn id="22" idx="2"/>
            </p:cNvCxnSpPr>
            <p:nvPr/>
          </p:nvCxnSpPr>
          <p:spPr>
            <a:xfrm flipV="1">
              <a:off x="4062118" y="2521224"/>
              <a:ext cx="2760" cy="10370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xmlns="" id="{8712AE4D-2FE9-5832-6870-304083EF637F}"/>
                </a:ext>
              </a:extLst>
            </p:cNvPr>
            <p:cNvCxnSpPr>
              <a:cxnSpLocks/>
              <a:endCxn id="24" idx="0"/>
            </p:cNvCxnSpPr>
            <p:nvPr/>
          </p:nvCxnSpPr>
          <p:spPr>
            <a:xfrm>
              <a:off x="4062118" y="3066699"/>
              <a:ext cx="722846" cy="473597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xmlns="" id="{2B4E3A99-2587-3850-4484-D40AF1A376B3}"/>
                </a:ext>
              </a:extLst>
            </p:cNvPr>
            <p:cNvCxnSpPr/>
            <p:nvPr/>
          </p:nvCxnSpPr>
          <p:spPr>
            <a:xfrm flipH="1" flipV="1">
              <a:off x="4064961" y="1850684"/>
              <a:ext cx="3772" cy="195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Connector: Elbow 38">
              <a:extLst>
                <a:ext uri="{FF2B5EF4-FFF2-40B4-BE49-F238E27FC236}">
                  <a16:creationId xmlns:a16="http://schemas.microsoft.com/office/drawing/2014/main" xmlns="" id="{5EE8A078-E420-65CE-F198-2ACDE8F319E7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 rot="16200000" flipH="1">
              <a:off x="3512189" y="4082450"/>
              <a:ext cx="273167" cy="379603"/>
            </a:xfrm>
            <a:prstGeom prst="bentConnector2">
              <a:avLst/>
            </a:prstGeom>
            <a:ln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xmlns="" id="{B64B2562-9B66-F9DC-AC17-84E794F0C2A4}"/>
                    </a:ext>
                  </a:extLst>
                </p:cNvPr>
                <p:cNvSpPr/>
                <p:nvPr/>
              </p:nvSpPr>
              <p:spPr>
                <a:xfrm>
                  <a:off x="5273850" y="2053224"/>
                  <a:ext cx="468000" cy="468000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B64B2562-9B66-F9DC-AC17-84E794F0C2A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3850" y="2053224"/>
                  <a:ext cx="468000" cy="468000"/>
                </a:xfrm>
                <a:prstGeom prst="rect">
                  <a:avLst/>
                </a:prstGeom>
                <a:blipFill>
                  <a:blip r:embed="rId14"/>
                  <a:stretch>
                    <a:fillRect l="-89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xmlns="" id="{C935B77A-2A90-8654-7AA4-487ED72D18B7}"/>
                    </a:ext>
                  </a:extLst>
                </p:cNvPr>
                <p:cNvSpPr/>
                <p:nvPr/>
              </p:nvSpPr>
              <p:spPr>
                <a:xfrm>
                  <a:off x="5267318" y="4820779"/>
                  <a:ext cx="468000" cy="468000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C935B77A-2A90-8654-7AA4-487ED72D18B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7318" y="4820779"/>
                  <a:ext cx="468000" cy="468000"/>
                </a:xfrm>
                <a:prstGeom prst="rect">
                  <a:avLst/>
                </a:prstGeom>
                <a:blipFill>
                  <a:blip r:embed="rId15"/>
                  <a:stretch>
                    <a:fillRect l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xmlns="" id="{CD41D7EC-FEBE-0970-5028-78102734AEDB}"/>
                    </a:ext>
                  </a:extLst>
                </p:cNvPr>
                <p:cNvSpPr/>
                <p:nvPr/>
              </p:nvSpPr>
              <p:spPr>
                <a:xfrm>
                  <a:off x="6022511" y="3540296"/>
                  <a:ext cx="468000" cy="468000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CD41D7EC-FEBE-0970-5028-78102734AED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2511" y="3540296"/>
                  <a:ext cx="468000" cy="468000"/>
                </a:xfrm>
                <a:prstGeom prst="rect">
                  <a:avLst/>
                </a:prstGeom>
                <a:blipFill>
                  <a:blip r:embed="rId16"/>
                  <a:stretch>
                    <a:fillRect l="-102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Oval 46">
              <a:extLst>
                <a:ext uri="{FF2B5EF4-FFF2-40B4-BE49-F238E27FC236}">
                  <a16:creationId xmlns:a16="http://schemas.microsoft.com/office/drawing/2014/main" xmlns="" id="{08C12D3D-1458-CB06-00FF-813305E88984}"/>
                </a:ext>
              </a:extLst>
            </p:cNvPr>
            <p:cNvSpPr/>
            <p:nvPr/>
          </p:nvSpPr>
          <p:spPr>
            <a:xfrm>
              <a:off x="5289090" y="1409359"/>
              <a:ext cx="432000" cy="4320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xmlns="" id="{2AC7B9B4-2A7C-64AA-026F-7DB52BAED14B}"/>
                </a:ext>
              </a:extLst>
            </p:cNvPr>
            <p:cNvSpPr/>
            <p:nvPr/>
          </p:nvSpPr>
          <p:spPr>
            <a:xfrm>
              <a:off x="5289090" y="3558296"/>
              <a:ext cx="432000" cy="4320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xmlns="" id="{033A37FD-3D2D-1C32-A21B-3476BA69473A}"/>
                </a:ext>
              </a:extLst>
            </p:cNvPr>
            <p:cNvSpPr/>
            <p:nvPr/>
          </p:nvSpPr>
          <p:spPr>
            <a:xfrm>
              <a:off x="5289090" y="5484722"/>
              <a:ext cx="432000" cy="4320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xmlns="" id="{39CDF73B-805C-E8B7-7546-C55D8F1C08F4}"/>
                    </a:ext>
                  </a:extLst>
                </p:cNvPr>
                <p:cNvSpPr/>
                <p:nvPr/>
              </p:nvSpPr>
              <p:spPr>
                <a:xfrm>
                  <a:off x="5281546" y="4192836"/>
                  <a:ext cx="432000" cy="432000"/>
                </a:xfrm>
                <a:prstGeom prst="ellipse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(.)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39CDF73B-805C-E8B7-7546-C55D8F1C08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1546" y="4192836"/>
                  <a:ext cx="432000" cy="432000"/>
                </a:xfrm>
                <a:prstGeom prst="ellipse">
                  <a:avLst/>
                </a:prstGeom>
                <a:blipFill>
                  <a:blip r:embed="rId17"/>
                  <a:stretch>
                    <a:fillRect l="-1389" r="-97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xmlns="" id="{D03D73B0-F40C-EA41-E76B-E7EB0E170398}"/>
                </a:ext>
              </a:extLst>
            </p:cNvPr>
            <p:cNvCxnSpPr>
              <a:stCxn id="49" idx="0"/>
              <a:endCxn id="45" idx="2"/>
            </p:cNvCxnSpPr>
            <p:nvPr/>
          </p:nvCxnSpPr>
          <p:spPr>
            <a:xfrm flipH="1" flipV="1">
              <a:off x="5501318" y="5288779"/>
              <a:ext cx="3772" cy="195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xmlns="" id="{001566B3-ACB2-0F70-F410-8B26149B92AA}"/>
                </a:ext>
              </a:extLst>
            </p:cNvPr>
            <p:cNvCxnSpPr/>
            <p:nvPr/>
          </p:nvCxnSpPr>
          <p:spPr>
            <a:xfrm flipH="1" flipV="1">
              <a:off x="5505090" y="4624836"/>
              <a:ext cx="3772" cy="195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xmlns="" id="{A2E71A66-C086-B192-CBF8-A6ADCDE67B96}"/>
                </a:ext>
              </a:extLst>
            </p:cNvPr>
            <p:cNvCxnSpPr/>
            <p:nvPr/>
          </p:nvCxnSpPr>
          <p:spPr>
            <a:xfrm flipH="1" flipV="1">
              <a:off x="5501318" y="3996893"/>
              <a:ext cx="3772" cy="195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xmlns="" id="{44DBF132-C67B-43B1-8396-02C753C33482}"/>
                </a:ext>
              </a:extLst>
            </p:cNvPr>
            <p:cNvCxnSpPr>
              <a:stCxn id="48" idx="0"/>
              <a:endCxn id="44" idx="2"/>
            </p:cNvCxnSpPr>
            <p:nvPr/>
          </p:nvCxnSpPr>
          <p:spPr>
            <a:xfrm flipV="1">
              <a:off x="5505090" y="2521224"/>
              <a:ext cx="2760" cy="10370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Connector: Elbow 55">
              <a:extLst>
                <a:ext uri="{FF2B5EF4-FFF2-40B4-BE49-F238E27FC236}">
                  <a16:creationId xmlns:a16="http://schemas.microsoft.com/office/drawing/2014/main" xmlns="" id="{06DC19FF-C6CB-E2FF-D08F-2EED992C1F16}"/>
                </a:ext>
              </a:extLst>
            </p:cNvPr>
            <p:cNvCxnSpPr>
              <a:cxnSpLocks/>
              <a:endCxn id="46" idx="0"/>
            </p:cNvCxnSpPr>
            <p:nvPr/>
          </p:nvCxnSpPr>
          <p:spPr>
            <a:xfrm>
              <a:off x="5509819" y="3066699"/>
              <a:ext cx="746692" cy="473597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xmlns="" id="{81526F28-5C26-E6E7-DB90-96E6E4383D7E}"/>
                </a:ext>
              </a:extLst>
            </p:cNvPr>
            <p:cNvCxnSpPr/>
            <p:nvPr/>
          </p:nvCxnSpPr>
          <p:spPr>
            <a:xfrm flipH="1" flipV="1">
              <a:off x="5507933" y="1850684"/>
              <a:ext cx="3772" cy="195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Connector: Elbow 61">
              <a:extLst>
                <a:ext uri="{FF2B5EF4-FFF2-40B4-BE49-F238E27FC236}">
                  <a16:creationId xmlns:a16="http://schemas.microsoft.com/office/drawing/2014/main" xmlns="" id="{47D4ECCA-1B5E-7F2C-A9FC-B18B5CB0BADE}"/>
                </a:ext>
              </a:extLst>
            </p:cNvPr>
            <p:cNvCxnSpPr>
              <a:stCxn id="24" idx="2"/>
              <a:endCxn id="51" idx="2"/>
            </p:cNvCxnSpPr>
            <p:nvPr/>
          </p:nvCxnSpPr>
          <p:spPr>
            <a:xfrm rot="16200000" flipH="1">
              <a:off x="4832985" y="3960275"/>
              <a:ext cx="400540" cy="496582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xmlns="" id="{6F8EB797-5698-E042-FF57-E65BBC096EB6}"/>
                    </a:ext>
                  </a:extLst>
                </p:cNvPr>
                <p:cNvSpPr/>
                <p:nvPr/>
              </p:nvSpPr>
              <p:spPr>
                <a:xfrm>
                  <a:off x="6813706" y="2038846"/>
                  <a:ext cx="468000" cy="468000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6F8EB797-5698-E042-FF57-E65BBC096E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3706" y="2038846"/>
                  <a:ext cx="468000" cy="468000"/>
                </a:xfrm>
                <a:prstGeom prst="rect">
                  <a:avLst/>
                </a:prstGeom>
                <a:blipFill>
                  <a:blip r:embed="rId18"/>
                  <a:stretch>
                    <a:fillRect l="-89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xmlns="" id="{41D8D43E-E48E-C188-72E9-121AEB1D37C4}"/>
                    </a:ext>
                  </a:extLst>
                </p:cNvPr>
                <p:cNvSpPr/>
                <p:nvPr/>
              </p:nvSpPr>
              <p:spPr>
                <a:xfrm>
                  <a:off x="6807174" y="4806401"/>
                  <a:ext cx="468000" cy="468000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41D8D43E-E48E-C188-72E9-121AEB1D37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7174" y="4806401"/>
                  <a:ext cx="468000" cy="468000"/>
                </a:xfrm>
                <a:prstGeom prst="rect">
                  <a:avLst/>
                </a:prstGeom>
                <a:blipFill>
                  <a:blip r:embed="rId19"/>
                  <a:stretch>
                    <a:fillRect l="-51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xmlns="" id="{473AF7E6-4193-2A83-11DB-56A80EAC8C6E}"/>
                    </a:ext>
                  </a:extLst>
                </p:cNvPr>
                <p:cNvSpPr/>
                <p:nvPr/>
              </p:nvSpPr>
              <p:spPr>
                <a:xfrm>
                  <a:off x="7584143" y="3525918"/>
                  <a:ext cx="468000" cy="468000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473AF7E6-4193-2A83-11DB-56A80EAC8C6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4143" y="3525918"/>
                  <a:ext cx="468000" cy="468000"/>
                </a:xfrm>
                <a:prstGeom prst="rect">
                  <a:avLst/>
                </a:prstGeom>
                <a:blipFill>
                  <a:blip r:embed="rId20"/>
                  <a:stretch>
                    <a:fillRect l="-89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1" name="Oval 70">
              <a:extLst>
                <a:ext uri="{FF2B5EF4-FFF2-40B4-BE49-F238E27FC236}">
                  <a16:creationId xmlns:a16="http://schemas.microsoft.com/office/drawing/2014/main" xmlns="" id="{4CE11F32-F73C-593D-2BB1-23924A5693E0}"/>
                </a:ext>
              </a:extLst>
            </p:cNvPr>
            <p:cNvSpPr/>
            <p:nvPr/>
          </p:nvSpPr>
          <p:spPr>
            <a:xfrm>
              <a:off x="6828946" y="1394981"/>
              <a:ext cx="432000" cy="4320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xmlns="" id="{795687D3-C897-50E8-7FD2-2C5BAA88152E}"/>
                </a:ext>
              </a:extLst>
            </p:cNvPr>
            <p:cNvSpPr/>
            <p:nvPr/>
          </p:nvSpPr>
          <p:spPr>
            <a:xfrm>
              <a:off x="6828946" y="3543918"/>
              <a:ext cx="432000" cy="4320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xmlns="" id="{62CE4D63-E952-565F-A041-5FE4F250C5CE}"/>
                </a:ext>
              </a:extLst>
            </p:cNvPr>
            <p:cNvSpPr/>
            <p:nvPr/>
          </p:nvSpPr>
          <p:spPr>
            <a:xfrm>
              <a:off x="6828946" y="5470344"/>
              <a:ext cx="432000" cy="4320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xmlns="" id="{86EEAEB3-B546-95C8-F54D-9562C3C46A5C}"/>
                    </a:ext>
                  </a:extLst>
                </p:cNvPr>
                <p:cNvSpPr/>
                <p:nvPr/>
              </p:nvSpPr>
              <p:spPr>
                <a:xfrm>
                  <a:off x="6821402" y="4178458"/>
                  <a:ext cx="432000" cy="432000"/>
                </a:xfrm>
                <a:prstGeom prst="ellipse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(.)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86EEAEB3-B546-95C8-F54D-9562C3C46A5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1402" y="4178458"/>
                  <a:ext cx="432000" cy="432000"/>
                </a:xfrm>
                <a:prstGeom prst="ellipse">
                  <a:avLst/>
                </a:prstGeom>
                <a:blipFill>
                  <a:blip r:embed="rId21"/>
                  <a:stretch>
                    <a:fillRect l="-1389" r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xmlns="" id="{3080287C-8306-9C65-7A6F-2D218C99C919}"/>
                </a:ext>
              </a:extLst>
            </p:cNvPr>
            <p:cNvCxnSpPr>
              <a:stCxn id="73" idx="0"/>
              <a:endCxn id="69" idx="2"/>
            </p:cNvCxnSpPr>
            <p:nvPr/>
          </p:nvCxnSpPr>
          <p:spPr>
            <a:xfrm flipH="1" flipV="1">
              <a:off x="7041174" y="5274401"/>
              <a:ext cx="3772" cy="195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xmlns="" id="{554A301A-E6EA-C46C-78E5-5942556E42DF}"/>
                </a:ext>
              </a:extLst>
            </p:cNvPr>
            <p:cNvCxnSpPr/>
            <p:nvPr/>
          </p:nvCxnSpPr>
          <p:spPr>
            <a:xfrm flipH="1" flipV="1">
              <a:off x="7044946" y="4610458"/>
              <a:ext cx="3772" cy="195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xmlns="" id="{F1FBB8CC-7B58-3828-8D59-845FC6145CD3}"/>
                </a:ext>
              </a:extLst>
            </p:cNvPr>
            <p:cNvCxnSpPr/>
            <p:nvPr/>
          </p:nvCxnSpPr>
          <p:spPr>
            <a:xfrm flipH="1" flipV="1">
              <a:off x="7041174" y="3982515"/>
              <a:ext cx="3772" cy="195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xmlns="" id="{112EE4C8-C51C-8DBB-3C89-672F8D8D53B5}"/>
                </a:ext>
              </a:extLst>
            </p:cNvPr>
            <p:cNvCxnSpPr>
              <a:stCxn id="72" idx="0"/>
              <a:endCxn id="68" idx="2"/>
            </p:cNvCxnSpPr>
            <p:nvPr/>
          </p:nvCxnSpPr>
          <p:spPr>
            <a:xfrm flipV="1">
              <a:off x="7044946" y="2506846"/>
              <a:ext cx="2760" cy="10370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Connector: Elbow 78">
              <a:extLst>
                <a:ext uri="{FF2B5EF4-FFF2-40B4-BE49-F238E27FC236}">
                  <a16:creationId xmlns:a16="http://schemas.microsoft.com/office/drawing/2014/main" xmlns="" id="{CBB9CBD8-9F5B-3611-67FF-D958304DF83A}"/>
                </a:ext>
              </a:extLst>
            </p:cNvPr>
            <p:cNvCxnSpPr>
              <a:cxnSpLocks/>
              <a:endCxn id="70" idx="0"/>
            </p:cNvCxnSpPr>
            <p:nvPr/>
          </p:nvCxnSpPr>
          <p:spPr>
            <a:xfrm>
              <a:off x="7044946" y="3039760"/>
              <a:ext cx="773197" cy="486158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xmlns="" id="{729D2BFC-99F1-AA14-B4EB-0843932843B9}"/>
                </a:ext>
              </a:extLst>
            </p:cNvPr>
            <p:cNvCxnSpPr/>
            <p:nvPr/>
          </p:nvCxnSpPr>
          <p:spPr>
            <a:xfrm flipH="1" flipV="1">
              <a:off x="7047789" y="1836306"/>
              <a:ext cx="3772" cy="195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Connector: Elbow 81">
              <a:extLst>
                <a:ext uri="{FF2B5EF4-FFF2-40B4-BE49-F238E27FC236}">
                  <a16:creationId xmlns:a16="http://schemas.microsoft.com/office/drawing/2014/main" xmlns="" id="{45188B31-976F-6366-AAD8-A63C479F343F}"/>
                </a:ext>
              </a:extLst>
            </p:cNvPr>
            <p:cNvCxnSpPr>
              <a:stCxn id="46" idx="2"/>
              <a:endCxn id="74" idx="2"/>
            </p:cNvCxnSpPr>
            <p:nvPr/>
          </p:nvCxnSpPr>
          <p:spPr>
            <a:xfrm rot="16200000" flipH="1">
              <a:off x="6345875" y="3918931"/>
              <a:ext cx="386162" cy="564891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Connector: Elbow 84">
              <a:extLst>
                <a:ext uri="{FF2B5EF4-FFF2-40B4-BE49-F238E27FC236}">
                  <a16:creationId xmlns:a16="http://schemas.microsoft.com/office/drawing/2014/main" xmlns="" id="{693E3011-495E-7E76-8871-F30E1F5C8088}"/>
                </a:ext>
              </a:extLst>
            </p:cNvPr>
            <p:cNvCxnSpPr>
              <a:cxnSpLocks/>
              <a:stCxn id="70" idx="2"/>
            </p:cNvCxnSpPr>
            <p:nvPr/>
          </p:nvCxnSpPr>
          <p:spPr>
            <a:xfrm rot="16200000" flipH="1">
              <a:off x="7833653" y="3978408"/>
              <a:ext cx="423458" cy="454478"/>
            </a:xfrm>
            <a:prstGeom prst="bentConnector2">
              <a:avLst/>
            </a:prstGeom>
            <a:ln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6" name="Arrow: Right 85">
              <a:extLst>
                <a:ext uri="{FF2B5EF4-FFF2-40B4-BE49-F238E27FC236}">
                  <a16:creationId xmlns:a16="http://schemas.microsoft.com/office/drawing/2014/main" xmlns="" id="{19912397-A908-9D98-7A8E-1257E21D0881}"/>
                </a:ext>
              </a:extLst>
            </p:cNvPr>
            <p:cNvSpPr/>
            <p:nvPr/>
          </p:nvSpPr>
          <p:spPr>
            <a:xfrm>
              <a:off x="2672771" y="3651918"/>
              <a:ext cx="447018" cy="216000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xmlns="" id="{7038FDD0-F92D-0792-1189-9D15218C870B}"/>
                </a:ext>
              </a:extLst>
            </p:cNvPr>
            <p:cNvSpPr txBox="1"/>
            <p:nvPr/>
          </p:nvSpPr>
          <p:spPr>
            <a:xfrm>
              <a:off x="2259911" y="3843004"/>
              <a:ext cx="12180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desenrolando</a:t>
              </a:r>
              <a:endParaRPr lang="en-US" sz="1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xmlns="" id="{377E887F-EDBB-0313-5CE7-0FFA5FC4E09D}"/>
                    </a:ext>
                  </a:extLst>
                </p:cNvPr>
                <p:cNvSpPr txBox="1"/>
                <p:nvPr/>
              </p:nvSpPr>
              <p:spPr>
                <a:xfrm>
                  <a:off x="3573467" y="5569917"/>
                  <a:ext cx="1004707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10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000" b="1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77E887F-EDBB-0313-5CE7-0FFA5FC4E0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3467" y="5569917"/>
                  <a:ext cx="1004707" cy="246221"/>
                </a:xfrm>
                <a:prstGeom prst="rect">
                  <a:avLst/>
                </a:prstGeom>
                <a:blipFill>
                  <a:blip r:embed="rId22"/>
                  <a:stretch>
                    <a:fillRect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xmlns="" id="{E4EC7983-6440-106E-40A4-B9271A9AD72F}"/>
                    </a:ext>
                  </a:extLst>
                </p:cNvPr>
                <p:cNvSpPr txBox="1"/>
                <p:nvPr/>
              </p:nvSpPr>
              <p:spPr>
                <a:xfrm>
                  <a:off x="5018964" y="5577611"/>
                  <a:ext cx="1004707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10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000" b="1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E4EC7983-6440-106E-40A4-B9271A9AD7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8964" y="5577611"/>
                  <a:ext cx="1004707" cy="246221"/>
                </a:xfrm>
                <a:prstGeom prst="rect">
                  <a:avLst/>
                </a:prstGeom>
                <a:blipFill>
                  <a:blip r:embed="rId23"/>
                  <a:stretch>
                    <a:fillRect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xmlns="" id="{DD5EA899-4635-3E2A-C4DF-7472C47377E5}"/>
                    </a:ext>
                  </a:extLst>
                </p:cNvPr>
                <p:cNvSpPr txBox="1"/>
                <p:nvPr/>
              </p:nvSpPr>
              <p:spPr>
                <a:xfrm>
                  <a:off x="6560093" y="5566725"/>
                  <a:ext cx="1004707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10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000" b="1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DD5EA899-4635-3E2A-C4DF-7472C47377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0093" y="5566725"/>
                  <a:ext cx="1004707" cy="246221"/>
                </a:xfrm>
                <a:prstGeom prst="rect">
                  <a:avLst/>
                </a:prstGeom>
                <a:blipFill>
                  <a:blip r:embed="rId24"/>
                  <a:stretch>
                    <a:fillRect b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xmlns="" id="{4F88E0E9-05F4-B69C-9592-D8DDF331EB10}"/>
                    </a:ext>
                  </a:extLst>
                </p:cNvPr>
                <p:cNvSpPr txBox="1"/>
                <p:nvPr/>
              </p:nvSpPr>
              <p:spPr>
                <a:xfrm>
                  <a:off x="3584650" y="3645334"/>
                  <a:ext cx="1004707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0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pt-BR" sz="10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000" b="1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4F88E0E9-05F4-B69C-9592-D8DDF331EB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4650" y="3645334"/>
                  <a:ext cx="1004707" cy="246221"/>
                </a:xfrm>
                <a:prstGeom prst="rect">
                  <a:avLst/>
                </a:prstGeom>
                <a:blipFill>
                  <a:blip r:embed="rId25"/>
                  <a:stretch>
                    <a:fillRect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xmlns="" id="{86F263A7-30BD-E91C-D8BD-5BF37E71E050}"/>
                    </a:ext>
                  </a:extLst>
                </p:cNvPr>
                <p:cNvSpPr txBox="1"/>
                <p:nvPr/>
              </p:nvSpPr>
              <p:spPr>
                <a:xfrm>
                  <a:off x="5024626" y="3637725"/>
                  <a:ext cx="1004707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0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pt-BR" sz="10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000" b="1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86F263A7-30BD-E91C-D8BD-5BF37E71E0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4626" y="3637725"/>
                  <a:ext cx="1004707" cy="246221"/>
                </a:xfrm>
                <a:prstGeom prst="rect">
                  <a:avLst/>
                </a:prstGeom>
                <a:blipFill>
                  <a:blip r:embed="rId26"/>
                  <a:stretch>
                    <a:fillRect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xmlns="" id="{EEA3AB4B-4256-3B9E-5840-580E6B1EDB73}"/>
                    </a:ext>
                  </a:extLst>
                </p:cNvPr>
                <p:cNvSpPr txBox="1"/>
                <p:nvPr/>
              </p:nvSpPr>
              <p:spPr>
                <a:xfrm>
                  <a:off x="6560092" y="3621567"/>
                  <a:ext cx="1004707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0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pt-BR" sz="10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000" b="1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EEA3AB4B-4256-3B9E-5840-580E6B1EDB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0092" y="3621567"/>
                  <a:ext cx="1004707" cy="246221"/>
                </a:xfrm>
                <a:prstGeom prst="rect">
                  <a:avLst/>
                </a:prstGeom>
                <a:blipFill>
                  <a:blip r:embed="rId27"/>
                  <a:stretch>
                    <a:fillRect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xmlns="" id="{DB33A7FE-46D7-DEBB-AF6F-0E2BF6B23F69}"/>
                    </a:ext>
                  </a:extLst>
                </p:cNvPr>
                <p:cNvSpPr txBox="1"/>
                <p:nvPr/>
              </p:nvSpPr>
              <p:spPr>
                <a:xfrm>
                  <a:off x="3582991" y="1493574"/>
                  <a:ext cx="1004707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pt-BR" sz="10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1000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  <m:r>
                          <a:rPr lang="pt-BR" sz="10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000" b="1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DB33A7FE-46D7-DEBB-AF6F-0E2BF6B23F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2991" y="1493574"/>
                  <a:ext cx="1004707" cy="246221"/>
                </a:xfrm>
                <a:prstGeom prst="rect">
                  <a:avLst/>
                </a:prstGeom>
                <a:blipFill>
                  <a:blip r:embed="rId28"/>
                  <a:stretch>
                    <a:fillRect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xmlns="" id="{EF26E3FE-6209-F4AA-637B-22DC9834FEA1}"/>
                    </a:ext>
                  </a:extLst>
                </p:cNvPr>
                <p:cNvSpPr txBox="1"/>
                <p:nvPr/>
              </p:nvSpPr>
              <p:spPr>
                <a:xfrm>
                  <a:off x="5033255" y="1486992"/>
                  <a:ext cx="1004707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pt-BR" sz="10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10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  <m:r>
                          <a:rPr lang="pt-BR" sz="10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000" b="1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EF26E3FE-6209-F4AA-637B-22DC9834FE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3255" y="1486992"/>
                  <a:ext cx="1004707" cy="246221"/>
                </a:xfrm>
                <a:prstGeom prst="rect">
                  <a:avLst/>
                </a:prstGeom>
                <a:blipFill>
                  <a:blip r:embed="rId29"/>
                  <a:stretch>
                    <a:fillRect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xmlns="" id="{C00EA537-BE98-DE0B-50F5-FFC11DA371D0}"/>
                    </a:ext>
                  </a:extLst>
                </p:cNvPr>
                <p:cNvSpPr txBox="1"/>
                <p:nvPr/>
              </p:nvSpPr>
              <p:spPr>
                <a:xfrm>
                  <a:off x="6567235" y="1481955"/>
                  <a:ext cx="1004707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pt-BR" sz="10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10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  <m:r>
                          <a:rPr lang="pt-BR" sz="10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000" b="1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C00EA537-BE98-DE0B-50F5-FFC11DA371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7235" y="1481955"/>
                  <a:ext cx="1004707" cy="246221"/>
                </a:xfrm>
                <a:prstGeom prst="rect">
                  <a:avLst/>
                </a:prstGeom>
                <a:blipFill>
                  <a:blip r:embed="rId30"/>
                  <a:stretch>
                    <a:fillRect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4207752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5FD3EB3-5EBF-59B6-185F-3A0830768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CE6F6907-3D96-B227-166E-896DA60436B6}"/>
              </a:ext>
            </a:extLst>
          </p:cNvPr>
          <p:cNvGrpSpPr/>
          <p:nvPr/>
        </p:nvGrpSpPr>
        <p:grpSpPr>
          <a:xfrm>
            <a:off x="3458971" y="1394981"/>
            <a:ext cx="4813650" cy="4521741"/>
            <a:chOff x="3458971" y="1394981"/>
            <a:chExt cx="4813650" cy="45217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xmlns="" id="{9037E731-6093-52C9-FF64-477D5D5902E5}"/>
                    </a:ext>
                  </a:extLst>
                </p:cNvPr>
                <p:cNvSpPr/>
                <p:nvPr/>
              </p:nvSpPr>
              <p:spPr>
                <a:xfrm>
                  <a:off x="3830878" y="2053224"/>
                  <a:ext cx="468000" cy="468000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9037E731-6093-52C9-FF64-477D5D5902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0878" y="2053224"/>
                  <a:ext cx="468000" cy="468000"/>
                </a:xfrm>
                <a:prstGeom prst="rect">
                  <a:avLst/>
                </a:prstGeom>
                <a:blipFill>
                  <a:blip r:embed="rId2"/>
                  <a:stretch>
                    <a:fillRect l="-89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xmlns="" id="{DF0C5B7A-BCE3-F052-50EC-9B88A67812E2}"/>
                    </a:ext>
                  </a:extLst>
                </p:cNvPr>
                <p:cNvSpPr/>
                <p:nvPr/>
              </p:nvSpPr>
              <p:spPr>
                <a:xfrm>
                  <a:off x="3824346" y="4820779"/>
                  <a:ext cx="468000" cy="468000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DF0C5B7A-BCE3-F052-50EC-9B88A67812E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4346" y="4820779"/>
                  <a:ext cx="468000" cy="468000"/>
                </a:xfrm>
                <a:prstGeom prst="rect">
                  <a:avLst/>
                </a:prstGeom>
                <a:blipFill>
                  <a:blip r:embed="rId3"/>
                  <a:stretch>
                    <a:fillRect l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xmlns="" id="{58741BD0-606E-9F1C-3E99-578839912D3F}"/>
                    </a:ext>
                  </a:extLst>
                </p:cNvPr>
                <p:cNvSpPr/>
                <p:nvPr/>
              </p:nvSpPr>
              <p:spPr>
                <a:xfrm>
                  <a:off x="4550964" y="3540296"/>
                  <a:ext cx="468000" cy="468000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58741BD0-606E-9F1C-3E99-578839912D3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0964" y="3540296"/>
                  <a:ext cx="468000" cy="468000"/>
                </a:xfrm>
                <a:prstGeom prst="rect">
                  <a:avLst/>
                </a:prstGeom>
                <a:blipFill>
                  <a:blip r:embed="rId4"/>
                  <a:stretch>
                    <a:fillRect l="-103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Oval 24">
              <a:extLst>
                <a:ext uri="{FF2B5EF4-FFF2-40B4-BE49-F238E27FC236}">
                  <a16:creationId xmlns:a16="http://schemas.microsoft.com/office/drawing/2014/main" xmlns="" id="{B46C2697-6BEA-7C20-191A-6BD4799A3BDB}"/>
                </a:ext>
              </a:extLst>
            </p:cNvPr>
            <p:cNvSpPr/>
            <p:nvPr/>
          </p:nvSpPr>
          <p:spPr>
            <a:xfrm>
              <a:off x="3846118" y="1409359"/>
              <a:ext cx="432000" cy="4320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xmlns="" id="{18FB23CC-D060-A350-089A-54E8CB7ADFEE}"/>
                </a:ext>
              </a:extLst>
            </p:cNvPr>
            <p:cNvSpPr/>
            <p:nvPr/>
          </p:nvSpPr>
          <p:spPr>
            <a:xfrm>
              <a:off x="3846118" y="3558296"/>
              <a:ext cx="432000" cy="4320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xmlns="" id="{F2369338-A44F-7A99-25FB-2434D64DDD85}"/>
                </a:ext>
              </a:extLst>
            </p:cNvPr>
            <p:cNvSpPr/>
            <p:nvPr/>
          </p:nvSpPr>
          <p:spPr>
            <a:xfrm>
              <a:off x="3846118" y="5484722"/>
              <a:ext cx="432000" cy="4320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5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xmlns="" id="{E6544A4A-65E5-3677-5B6F-90CE14CBC247}"/>
                    </a:ext>
                  </a:extLst>
                </p:cNvPr>
                <p:cNvSpPr/>
                <p:nvPr/>
              </p:nvSpPr>
              <p:spPr>
                <a:xfrm>
                  <a:off x="3838574" y="4192836"/>
                  <a:ext cx="432000" cy="432000"/>
                </a:xfrm>
                <a:prstGeom prst="ellipse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40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(.)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E6544A4A-65E5-3677-5B6F-90CE14CBC24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8574" y="4192836"/>
                  <a:ext cx="432000" cy="432000"/>
                </a:xfrm>
                <a:prstGeom prst="ellipse">
                  <a:avLst/>
                </a:prstGeom>
                <a:blipFill>
                  <a:blip r:embed="rId5"/>
                  <a:stretch>
                    <a:fillRect l="-2778" r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xmlns="" id="{ED20FD6C-87CA-F9A4-BF29-4A9DDE387B47}"/>
                </a:ext>
              </a:extLst>
            </p:cNvPr>
            <p:cNvCxnSpPr>
              <a:cxnSpLocks/>
              <a:stCxn id="27" idx="0"/>
              <a:endCxn id="23" idx="2"/>
            </p:cNvCxnSpPr>
            <p:nvPr/>
          </p:nvCxnSpPr>
          <p:spPr>
            <a:xfrm flipH="1" flipV="1">
              <a:off x="4058346" y="5288779"/>
              <a:ext cx="3772" cy="195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xmlns="" id="{33BBAECB-E07B-3C9A-CF9F-4D33D251BB64}"/>
                </a:ext>
              </a:extLst>
            </p:cNvPr>
            <p:cNvCxnSpPr/>
            <p:nvPr/>
          </p:nvCxnSpPr>
          <p:spPr>
            <a:xfrm flipH="1" flipV="1">
              <a:off x="4062118" y="4624836"/>
              <a:ext cx="3772" cy="195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xmlns="" id="{3613390A-F0EF-6DC1-FE10-D768AD8F70A2}"/>
                </a:ext>
              </a:extLst>
            </p:cNvPr>
            <p:cNvCxnSpPr/>
            <p:nvPr/>
          </p:nvCxnSpPr>
          <p:spPr>
            <a:xfrm flipH="1" flipV="1">
              <a:off x="4058346" y="3996893"/>
              <a:ext cx="3772" cy="195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xmlns="" id="{CFF5E1B4-9351-9FFE-87AA-72B9EDEF149C}"/>
                </a:ext>
              </a:extLst>
            </p:cNvPr>
            <p:cNvCxnSpPr>
              <a:stCxn id="26" idx="0"/>
              <a:endCxn id="22" idx="2"/>
            </p:cNvCxnSpPr>
            <p:nvPr/>
          </p:nvCxnSpPr>
          <p:spPr>
            <a:xfrm flipV="1">
              <a:off x="4062118" y="2521224"/>
              <a:ext cx="2760" cy="10370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xmlns="" id="{F5B52639-55A0-BC72-2057-1160DF41D5A9}"/>
                </a:ext>
              </a:extLst>
            </p:cNvPr>
            <p:cNvCxnSpPr>
              <a:cxnSpLocks/>
              <a:endCxn id="24" idx="0"/>
            </p:cNvCxnSpPr>
            <p:nvPr/>
          </p:nvCxnSpPr>
          <p:spPr>
            <a:xfrm>
              <a:off x="4062118" y="3066699"/>
              <a:ext cx="722846" cy="473597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xmlns="" id="{5B7DEA0A-FC6B-AA97-CF60-3AD7C50CACAF}"/>
                </a:ext>
              </a:extLst>
            </p:cNvPr>
            <p:cNvCxnSpPr/>
            <p:nvPr/>
          </p:nvCxnSpPr>
          <p:spPr>
            <a:xfrm flipH="1" flipV="1">
              <a:off x="4064961" y="1850684"/>
              <a:ext cx="3772" cy="195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Connector: Elbow 38">
              <a:extLst>
                <a:ext uri="{FF2B5EF4-FFF2-40B4-BE49-F238E27FC236}">
                  <a16:creationId xmlns:a16="http://schemas.microsoft.com/office/drawing/2014/main" xmlns="" id="{2F4252DA-9D7D-1337-D118-43C1F1ED2820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 rot="16200000" flipH="1">
              <a:off x="3512189" y="4082450"/>
              <a:ext cx="273167" cy="379603"/>
            </a:xfrm>
            <a:prstGeom prst="bentConnector2">
              <a:avLst/>
            </a:prstGeom>
            <a:ln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xmlns="" id="{95E93986-12E0-00EE-A36A-3CCFDB7284C9}"/>
                    </a:ext>
                  </a:extLst>
                </p:cNvPr>
                <p:cNvSpPr/>
                <p:nvPr/>
              </p:nvSpPr>
              <p:spPr>
                <a:xfrm>
                  <a:off x="5273850" y="2053224"/>
                  <a:ext cx="468000" cy="468000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95E93986-12E0-00EE-A36A-3CCFDB7284C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3850" y="2053224"/>
                  <a:ext cx="468000" cy="468000"/>
                </a:xfrm>
                <a:prstGeom prst="rect">
                  <a:avLst/>
                </a:prstGeom>
                <a:blipFill>
                  <a:blip r:embed="rId6"/>
                  <a:stretch>
                    <a:fillRect l="-89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xmlns="" id="{7CDFC847-46C3-2DA1-011C-F5DCADB42DCC}"/>
                    </a:ext>
                  </a:extLst>
                </p:cNvPr>
                <p:cNvSpPr/>
                <p:nvPr/>
              </p:nvSpPr>
              <p:spPr>
                <a:xfrm>
                  <a:off x="5267318" y="4820779"/>
                  <a:ext cx="468000" cy="468000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7CDFC847-46C3-2DA1-011C-F5DCADB42DC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7318" y="4820779"/>
                  <a:ext cx="468000" cy="468000"/>
                </a:xfrm>
                <a:prstGeom prst="rect">
                  <a:avLst/>
                </a:prstGeom>
                <a:blipFill>
                  <a:blip r:embed="rId7"/>
                  <a:stretch>
                    <a:fillRect l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xmlns="" id="{C9003F32-FF22-F8C7-D909-D98E50A379E8}"/>
                    </a:ext>
                  </a:extLst>
                </p:cNvPr>
                <p:cNvSpPr/>
                <p:nvPr/>
              </p:nvSpPr>
              <p:spPr>
                <a:xfrm>
                  <a:off x="6022511" y="3540296"/>
                  <a:ext cx="468000" cy="468000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C9003F32-FF22-F8C7-D909-D98E50A379E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2511" y="3540296"/>
                  <a:ext cx="468000" cy="468000"/>
                </a:xfrm>
                <a:prstGeom prst="rect">
                  <a:avLst/>
                </a:prstGeom>
                <a:blipFill>
                  <a:blip r:embed="rId8"/>
                  <a:stretch>
                    <a:fillRect l="-102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Oval 46">
              <a:extLst>
                <a:ext uri="{FF2B5EF4-FFF2-40B4-BE49-F238E27FC236}">
                  <a16:creationId xmlns:a16="http://schemas.microsoft.com/office/drawing/2014/main" xmlns="" id="{CDFD11FA-B131-9D81-4E0A-363A3400B3AF}"/>
                </a:ext>
              </a:extLst>
            </p:cNvPr>
            <p:cNvSpPr/>
            <p:nvPr/>
          </p:nvSpPr>
          <p:spPr>
            <a:xfrm>
              <a:off x="5289090" y="1409359"/>
              <a:ext cx="432000" cy="4320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xmlns="" id="{5A71F691-F9B4-DBCD-5A2F-F4FE6ED218F1}"/>
                </a:ext>
              </a:extLst>
            </p:cNvPr>
            <p:cNvSpPr/>
            <p:nvPr/>
          </p:nvSpPr>
          <p:spPr>
            <a:xfrm>
              <a:off x="5289090" y="3558296"/>
              <a:ext cx="432000" cy="4320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xmlns="" id="{C4236D7E-FDB3-350E-288B-59C66F3B92DE}"/>
                </a:ext>
              </a:extLst>
            </p:cNvPr>
            <p:cNvSpPr/>
            <p:nvPr/>
          </p:nvSpPr>
          <p:spPr>
            <a:xfrm>
              <a:off x="5289090" y="5484722"/>
              <a:ext cx="432000" cy="4320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xmlns="" id="{2D680CE4-4C2C-EAB2-8166-DAA2E76F1D54}"/>
                    </a:ext>
                  </a:extLst>
                </p:cNvPr>
                <p:cNvSpPr/>
                <p:nvPr/>
              </p:nvSpPr>
              <p:spPr>
                <a:xfrm>
                  <a:off x="5281546" y="4192836"/>
                  <a:ext cx="432000" cy="432000"/>
                </a:xfrm>
                <a:prstGeom prst="ellipse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(.)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2D680CE4-4C2C-EAB2-8166-DAA2E76F1D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1546" y="4192836"/>
                  <a:ext cx="432000" cy="432000"/>
                </a:xfrm>
                <a:prstGeom prst="ellipse">
                  <a:avLst/>
                </a:prstGeom>
                <a:blipFill>
                  <a:blip r:embed="rId9"/>
                  <a:stretch>
                    <a:fillRect l="-1389" r="-97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xmlns="" id="{267136A0-6D98-74F4-BC06-E399AA2C8CA1}"/>
                </a:ext>
              </a:extLst>
            </p:cNvPr>
            <p:cNvCxnSpPr>
              <a:stCxn id="49" idx="0"/>
              <a:endCxn id="45" idx="2"/>
            </p:cNvCxnSpPr>
            <p:nvPr/>
          </p:nvCxnSpPr>
          <p:spPr>
            <a:xfrm flipH="1" flipV="1">
              <a:off x="5501318" y="5288779"/>
              <a:ext cx="3772" cy="195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xmlns="" id="{C17629BF-E3F8-1CFE-9840-ACD35AE829D2}"/>
                </a:ext>
              </a:extLst>
            </p:cNvPr>
            <p:cNvCxnSpPr/>
            <p:nvPr/>
          </p:nvCxnSpPr>
          <p:spPr>
            <a:xfrm flipH="1" flipV="1">
              <a:off x="5505090" y="4624836"/>
              <a:ext cx="3772" cy="195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xmlns="" id="{4F6C6731-5C72-4F8C-3D3F-D0A75C98A7AF}"/>
                </a:ext>
              </a:extLst>
            </p:cNvPr>
            <p:cNvCxnSpPr/>
            <p:nvPr/>
          </p:nvCxnSpPr>
          <p:spPr>
            <a:xfrm flipH="1" flipV="1">
              <a:off x="5501318" y="3996893"/>
              <a:ext cx="3772" cy="195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xmlns="" id="{49EC2415-5780-09A1-6E95-25715135C6AF}"/>
                </a:ext>
              </a:extLst>
            </p:cNvPr>
            <p:cNvCxnSpPr>
              <a:stCxn id="48" idx="0"/>
              <a:endCxn id="44" idx="2"/>
            </p:cNvCxnSpPr>
            <p:nvPr/>
          </p:nvCxnSpPr>
          <p:spPr>
            <a:xfrm flipV="1">
              <a:off x="5505090" y="2521224"/>
              <a:ext cx="2760" cy="10370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Connector: Elbow 55">
              <a:extLst>
                <a:ext uri="{FF2B5EF4-FFF2-40B4-BE49-F238E27FC236}">
                  <a16:creationId xmlns:a16="http://schemas.microsoft.com/office/drawing/2014/main" xmlns="" id="{285042DD-1CE7-8819-4A4D-023EA751F111}"/>
                </a:ext>
              </a:extLst>
            </p:cNvPr>
            <p:cNvCxnSpPr>
              <a:cxnSpLocks/>
              <a:endCxn id="46" idx="0"/>
            </p:cNvCxnSpPr>
            <p:nvPr/>
          </p:nvCxnSpPr>
          <p:spPr>
            <a:xfrm>
              <a:off x="5509819" y="3066699"/>
              <a:ext cx="746692" cy="473597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xmlns="" id="{9556B928-D372-CFDD-293D-ACBEEC241F4C}"/>
                </a:ext>
              </a:extLst>
            </p:cNvPr>
            <p:cNvCxnSpPr/>
            <p:nvPr/>
          </p:nvCxnSpPr>
          <p:spPr>
            <a:xfrm flipH="1" flipV="1">
              <a:off x="5507933" y="1850684"/>
              <a:ext cx="3772" cy="195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Connector: Elbow 61">
              <a:extLst>
                <a:ext uri="{FF2B5EF4-FFF2-40B4-BE49-F238E27FC236}">
                  <a16:creationId xmlns:a16="http://schemas.microsoft.com/office/drawing/2014/main" xmlns="" id="{312DFA69-9ADD-E60D-49A2-C5E09A907A21}"/>
                </a:ext>
              </a:extLst>
            </p:cNvPr>
            <p:cNvCxnSpPr>
              <a:stCxn id="24" idx="2"/>
              <a:endCxn id="51" idx="2"/>
            </p:cNvCxnSpPr>
            <p:nvPr/>
          </p:nvCxnSpPr>
          <p:spPr>
            <a:xfrm rot="16200000" flipH="1">
              <a:off x="4832985" y="3960275"/>
              <a:ext cx="400540" cy="496582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xmlns="" id="{FB57FCA5-4AE7-F1D4-5313-E7C61D1521CC}"/>
                    </a:ext>
                  </a:extLst>
                </p:cNvPr>
                <p:cNvSpPr/>
                <p:nvPr/>
              </p:nvSpPr>
              <p:spPr>
                <a:xfrm>
                  <a:off x="6813706" y="2038846"/>
                  <a:ext cx="468000" cy="468000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FB57FCA5-4AE7-F1D4-5313-E7C61D1521C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3706" y="2038846"/>
                  <a:ext cx="468000" cy="468000"/>
                </a:xfrm>
                <a:prstGeom prst="rect">
                  <a:avLst/>
                </a:prstGeom>
                <a:blipFill>
                  <a:blip r:embed="rId10"/>
                  <a:stretch>
                    <a:fillRect l="-89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xmlns="" id="{7D97202F-5367-82C3-A597-F264450888D6}"/>
                    </a:ext>
                  </a:extLst>
                </p:cNvPr>
                <p:cNvSpPr/>
                <p:nvPr/>
              </p:nvSpPr>
              <p:spPr>
                <a:xfrm>
                  <a:off x="6807174" y="4806401"/>
                  <a:ext cx="468000" cy="468000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7D97202F-5367-82C3-A597-F264450888D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7174" y="4806401"/>
                  <a:ext cx="468000" cy="468000"/>
                </a:xfrm>
                <a:prstGeom prst="rect">
                  <a:avLst/>
                </a:prstGeom>
                <a:blipFill>
                  <a:blip r:embed="rId11"/>
                  <a:stretch>
                    <a:fillRect l="-51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xmlns="" id="{616304BC-E218-7F40-A5FE-AF61796A5FF8}"/>
                    </a:ext>
                  </a:extLst>
                </p:cNvPr>
                <p:cNvSpPr/>
                <p:nvPr/>
              </p:nvSpPr>
              <p:spPr>
                <a:xfrm>
                  <a:off x="7584143" y="3525918"/>
                  <a:ext cx="468000" cy="468000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616304BC-E218-7F40-A5FE-AF61796A5F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4143" y="3525918"/>
                  <a:ext cx="468000" cy="468000"/>
                </a:xfrm>
                <a:prstGeom prst="rect">
                  <a:avLst/>
                </a:prstGeom>
                <a:blipFill>
                  <a:blip r:embed="rId12"/>
                  <a:stretch>
                    <a:fillRect l="-89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1" name="Oval 70">
              <a:extLst>
                <a:ext uri="{FF2B5EF4-FFF2-40B4-BE49-F238E27FC236}">
                  <a16:creationId xmlns:a16="http://schemas.microsoft.com/office/drawing/2014/main" xmlns="" id="{09273FA2-4059-259C-EA18-EB97F916DE67}"/>
                </a:ext>
              </a:extLst>
            </p:cNvPr>
            <p:cNvSpPr/>
            <p:nvPr/>
          </p:nvSpPr>
          <p:spPr>
            <a:xfrm>
              <a:off x="6828946" y="1394981"/>
              <a:ext cx="432000" cy="4320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xmlns="" id="{DFF6184A-A6ED-0D56-4E38-4F6CDA7A0E2B}"/>
                </a:ext>
              </a:extLst>
            </p:cNvPr>
            <p:cNvSpPr/>
            <p:nvPr/>
          </p:nvSpPr>
          <p:spPr>
            <a:xfrm>
              <a:off x="6828946" y="3543918"/>
              <a:ext cx="432000" cy="4320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xmlns="" id="{2121102B-C918-3940-6CF1-E75935317C81}"/>
                </a:ext>
              </a:extLst>
            </p:cNvPr>
            <p:cNvSpPr/>
            <p:nvPr/>
          </p:nvSpPr>
          <p:spPr>
            <a:xfrm>
              <a:off x="6828946" y="5470344"/>
              <a:ext cx="432000" cy="4320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xmlns="" id="{64F9467F-B7FB-69CB-D6EF-0437402FB82C}"/>
                    </a:ext>
                  </a:extLst>
                </p:cNvPr>
                <p:cNvSpPr/>
                <p:nvPr/>
              </p:nvSpPr>
              <p:spPr>
                <a:xfrm>
                  <a:off x="6821402" y="4178458"/>
                  <a:ext cx="432000" cy="432000"/>
                </a:xfrm>
                <a:prstGeom prst="ellipse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(.)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64F9467F-B7FB-69CB-D6EF-0437402FB82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1402" y="4178458"/>
                  <a:ext cx="432000" cy="432000"/>
                </a:xfrm>
                <a:prstGeom prst="ellipse">
                  <a:avLst/>
                </a:prstGeom>
                <a:blipFill>
                  <a:blip r:embed="rId13"/>
                  <a:stretch>
                    <a:fillRect l="-1389" r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xmlns="" id="{722BA7B2-AE96-181C-AD84-36105B49ABE7}"/>
                </a:ext>
              </a:extLst>
            </p:cNvPr>
            <p:cNvCxnSpPr>
              <a:stCxn id="73" idx="0"/>
              <a:endCxn id="69" idx="2"/>
            </p:cNvCxnSpPr>
            <p:nvPr/>
          </p:nvCxnSpPr>
          <p:spPr>
            <a:xfrm flipH="1" flipV="1">
              <a:off x="7041174" y="5274401"/>
              <a:ext cx="3772" cy="195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xmlns="" id="{6C64B0C0-12C6-3252-D13D-AA422EA7C3B0}"/>
                </a:ext>
              </a:extLst>
            </p:cNvPr>
            <p:cNvCxnSpPr/>
            <p:nvPr/>
          </p:nvCxnSpPr>
          <p:spPr>
            <a:xfrm flipH="1" flipV="1">
              <a:off x="7044946" y="4610458"/>
              <a:ext cx="3772" cy="195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xmlns="" id="{E4CA3838-A40C-8B9E-1D6B-F85B59667588}"/>
                </a:ext>
              </a:extLst>
            </p:cNvPr>
            <p:cNvCxnSpPr/>
            <p:nvPr/>
          </p:nvCxnSpPr>
          <p:spPr>
            <a:xfrm flipH="1" flipV="1">
              <a:off x="7041174" y="3982515"/>
              <a:ext cx="3772" cy="195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xmlns="" id="{39487332-3618-8A01-F0BB-84D13D9712FF}"/>
                </a:ext>
              </a:extLst>
            </p:cNvPr>
            <p:cNvCxnSpPr>
              <a:stCxn id="72" idx="0"/>
              <a:endCxn id="68" idx="2"/>
            </p:cNvCxnSpPr>
            <p:nvPr/>
          </p:nvCxnSpPr>
          <p:spPr>
            <a:xfrm flipV="1">
              <a:off x="7044946" y="2506846"/>
              <a:ext cx="2760" cy="10370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Connector: Elbow 78">
              <a:extLst>
                <a:ext uri="{FF2B5EF4-FFF2-40B4-BE49-F238E27FC236}">
                  <a16:creationId xmlns:a16="http://schemas.microsoft.com/office/drawing/2014/main" xmlns="" id="{71DB84C7-7B11-1862-C76C-54F0E7671AAD}"/>
                </a:ext>
              </a:extLst>
            </p:cNvPr>
            <p:cNvCxnSpPr>
              <a:cxnSpLocks/>
              <a:endCxn id="70" idx="0"/>
            </p:cNvCxnSpPr>
            <p:nvPr/>
          </p:nvCxnSpPr>
          <p:spPr>
            <a:xfrm>
              <a:off x="7044946" y="3039760"/>
              <a:ext cx="773197" cy="486158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xmlns="" id="{D5054840-0F89-8CAA-CC7A-84281836C332}"/>
                </a:ext>
              </a:extLst>
            </p:cNvPr>
            <p:cNvCxnSpPr/>
            <p:nvPr/>
          </p:nvCxnSpPr>
          <p:spPr>
            <a:xfrm flipH="1" flipV="1">
              <a:off x="7047789" y="1836306"/>
              <a:ext cx="3772" cy="195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Connector: Elbow 81">
              <a:extLst>
                <a:ext uri="{FF2B5EF4-FFF2-40B4-BE49-F238E27FC236}">
                  <a16:creationId xmlns:a16="http://schemas.microsoft.com/office/drawing/2014/main" xmlns="" id="{169FFFE1-DA65-0934-D4DB-A1388A72A745}"/>
                </a:ext>
              </a:extLst>
            </p:cNvPr>
            <p:cNvCxnSpPr>
              <a:stCxn id="46" idx="2"/>
              <a:endCxn id="74" idx="2"/>
            </p:cNvCxnSpPr>
            <p:nvPr/>
          </p:nvCxnSpPr>
          <p:spPr>
            <a:xfrm rot="16200000" flipH="1">
              <a:off x="6345875" y="3918931"/>
              <a:ext cx="386162" cy="564891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Connector: Elbow 84">
              <a:extLst>
                <a:ext uri="{FF2B5EF4-FFF2-40B4-BE49-F238E27FC236}">
                  <a16:creationId xmlns:a16="http://schemas.microsoft.com/office/drawing/2014/main" xmlns="" id="{5317DB74-CA78-5EF6-06B9-38C66CF38F67}"/>
                </a:ext>
              </a:extLst>
            </p:cNvPr>
            <p:cNvCxnSpPr>
              <a:cxnSpLocks/>
              <a:stCxn id="70" idx="2"/>
            </p:cNvCxnSpPr>
            <p:nvPr/>
          </p:nvCxnSpPr>
          <p:spPr>
            <a:xfrm rot="16200000" flipH="1">
              <a:off x="7833653" y="3978408"/>
              <a:ext cx="423458" cy="454478"/>
            </a:xfrm>
            <a:prstGeom prst="bentConnector2">
              <a:avLst/>
            </a:prstGeom>
            <a:ln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xmlns="" id="{77F60FEF-A404-8FB2-5EE7-81C000751BF6}"/>
                    </a:ext>
                  </a:extLst>
                </p:cNvPr>
                <p:cNvSpPr txBox="1"/>
                <p:nvPr/>
              </p:nvSpPr>
              <p:spPr>
                <a:xfrm>
                  <a:off x="3573467" y="5569917"/>
                  <a:ext cx="1004707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10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−1]</m:t>
                        </m:r>
                      </m:oMath>
                    </m:oMathPara>
                  </a14:m>
                  <a:endParaRPr lang="en-US" sz="1000" b="1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77F60FEF-A404-8FB2-5EE7-81C000751B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3467" y="5569917"/>
                  <a:ext cx="1004707" cy="246221"/>
                </a:xfrm>
                <a:prstGeom prst="rect">
                  <a:avLst/>
                </a:prstGeom>
                <a:blipFill>
                  <a:blip r:embed="rId14"/>
                  <a:stretch>
                    <a:fillRect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xmlns="" id="{4E37C70B-1CCE-C852-EA6E-B0EA32D80266}"/>
                    </a:ext>
                  </a:extLst>
                </p:cNvPr>
                <p:cNvSpPr txBox="1"/>
                <p:nvPr/>
              </p:nvSpPr>
              <p:spPr>
                <a:xfrm>
                  <a:off x="5018964" y="5577611"/>
                  <a:ext cx="1004707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10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000" b="1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E37C70B-1CCE-C852-EA6E-B0EA32D802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8964" y="5577611"/>
                  <a:ext cx="1004707" cy="246221"/>
                </a:xfrm>
                <a:prstGeom prst="rect">
                  <a:avLst/>
                </a:prstGeom>
                <a:blipFill>
                  <a:blip r:embed="rId15"/>
                  <a:stretch>
                    <a:fillRect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xmlns="" id="{C7DCB563-40B7-B6A4-D465-0D1BADFA0CCF}"/>
                    </a:ext>
                  </a:extLst>
                </p:cNvPr>
                <p:cNvSpPr txBox="1"/>
                <p:nvPr/>
              </p:nvSpPr>
              <p:spPr>
                <a:xfrm>
                  <a:off x="6560093" y="5566725"/>
                  <a:ext cx="1004707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10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+1]</m:t>
                        </m:r>
                      </m:oMath>
                    </m:oMathPara>
                  </a14:m>
                  <a:endParaRPr lang="en-US" sz="1000" b="1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C7DCB563-40B7-B6A4-D465-0D1BADFA0C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0093" y="5566725"/>
                  <a:ext cx="1004707" cy="246221"/>
                </a:xfrm>
                <a:prstGeom prst="rect">
                  <a:avLst/>
                </a:prstGeom>
                <a:blipFill>
                  <a:blip r:embed="rId16"/>
                  <a:stretch>
                    <a:fillRect b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xmlns="" id="{5A0C2E9F-587C-97B2-5025-2264937181F7}"/>
                    </a:ext>
                  </a:extLst>
                </p:cNvPr>
                <p:cNvSpPr txBox="1"/>
                <p:nvPr/>
              </p:nvSpPr>
              <p:spPr>
                <a:xfrm>
                  <a:off x="3584650" y="3645334"/>
                  <a:ext cx="1004707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0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pt-BR" sz="10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−1]</m:t>
                        </m:r>
                      </m:oMath>
                    </m:oMathPara>
                  </a14:m>
                  <a:endParaRPr lang="en-US" sz="1000" b="1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5A0C2E9F-587C-97B2-5025-2264937181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4650" y="3645334"/>
                  <a:ext cx="1004707" cy="246221"/>
                </a:xfrm>
                <a:prstGeom prst="rect">
                  <a:avLst/>
                </a:prstGeom>
                <a:blipFill>
                  <a:blip r:embed="rId17"/>
                  <a:stretch>
                    <a:fillRect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xmlns="" id="{17395D95-79E5-D78E-09A6-D0FADC418687}"/>
                    </a:ext>
                  </a:extLst>
                </p:cNvPr>
                <p:cNvSpPr txBox="1"/>
                <p:nvPr/>
              </p:nvSpPr>
              <p:spPr>
                <a:xfrm>
                  <a:off x="5024626" y="3637725"/>
                  <a:ext cx="1004707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0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pt-BR" sz="10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000" b="1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17395D95-79E5-D78E-09A6-D0FADC4186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4626" y="3637725"/>
                  <a:ext cx="1004707" cy="246221"/>
                </a:xfrm>
                <a:prstGeom prst="rect">
                  <a:avLst/>
                </a:prstGeom>
                <a:blipFill>
                  <a:blip r:embed="rId18"/>
                  <a:stretch>
                    <a:fillRect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xmlns="" id="{E06A6EBF-4AE5-6650-6BFA-221AD79ED5F5}"/>
                    </a:ext>
                  </a:extLst>
                </p:cNvPr>
                <p:cNvSpPr txBox="1"/>
                <p:nvPr/>
              </p:nvSpPr>
              <p:spPr>
                <a:xfrm>
                  <a:off x="6560092" y="3621567"/>
                  <a:ext cx="1004707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0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pt-BR" sz="10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+1]</m:t>
                        </m:r>
                      </m:oMath>
                    </m:oMathPara>
                  </a14:m>
                  <a:endParaRPr lang="en-US" sz="1000" b="1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E06A6EBF-4AE5-6650-6BFA-221AD79ED5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0092" y="3621567"/>
                  <a:ext cx="1004707" cy="246221"/>
                </a:xfrm>
                <a:prstGeom prst="rect">
                  <a:avLst/>
                </a:prstGeom>
                <a:blipFill>
                  <a:blip r:embed="rId19"/>
                  <a:stretch>
                    <a:fillRect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xmlns="" id="{65384143-FEF8-7CF0-F802-2CC38B7C25D8}"/>
                    </a:ext>
                  </a:extLst>
                </p:cNvPr>
                <p:cNvSpPr txBox="1"/>
                <p:nvPr/>
              </p:nvSpPr>
              <p:spPr>
                <a:xfrm>
                  <a:off x="3582991" y="1493574"/>
                  <a:ext cx="1004707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pt-BR" sz="10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10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  <m:r>
                          <a:rPr lang="pt-BR" sz="10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−1]</m:t>
                        </m:r>
                      </m:oMath>
                    </m:oMathPara>
                  </a14:m>
                  <a:endParaRPr lang="en-US" sz="1000" b="1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65384143-FEF8-7CF0-F802-2CC38B7C25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2991" y="1493574"/>
                  <a:ext cx="1004707" cy="246221"/>
                </a:xfrm>
                <a:prstGeom prst="rect">
                  <a:avLst/>
                </a:prstGeom>
                <a:blipFill>
                  <a:blip r:embed="rId20"/>
                  <a:stretch>
                    <a:fillRect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xmlns="" id="{E3AD042C-4051-B4C6-A8B2-8015CF873920}"/>
                    </a:ext>
                  </a:extLst>
                </p:cNvPr>
                <p:cNvSpPr txBox="1"/>
                <p:nvPr/>
              </p:nvSpPr>
              <p:spPr>
                <a:xfrm>
                  <a:off x="5033255" y="1486992"/>
                  <a:ext cx="1004707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pt-BR" sz="10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10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  <m:r>
                          <a:rPr lang="pt-BR" sz="10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000" b="1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E3AD042C-4051-B4C6-A8B2-8015CF8739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3255" y="1486992"/>
                  <a:ext cx="1004707" cy="246221"/>
                </a:xfrm>
                <a:prstGeom prst="rect">
                  <a:avLst/>
                </a:prstGeom>
                <a:blipFill>
                  <a:blip r:embed="rId21"/>
                  <a:stretch>
                    <a:fillRect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xmlns="" id="{8312CF0C-65D9-B808-C295-661A2F44742D}"/>
                    </a:ext>
                  </a:extLst>
                </p:cNvPr>
                <p:cNvSpPr txBox="1"/>
                <p:nvPr/>
              </p:nvSpPr>
              <p:spPr>
                <a:xfrm>
                  <a:off x="6567235" y="1481955"/>
                  <a:ext cx="1004707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pt-BR" sz="10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10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  <m:r>
                          <a:rPr lang="pt-BR" sz="10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+1]</m:t>
                        </m:r>
                      </m:oMath>
                    </m:oMathPara>
                  </a14:m>
                  <a:endParaRPr lang="en-US" sz="1000" b="1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8312CF0C-65D9-B808-C295-661A2F4474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7235" y="1481955"/>
                  <a:ext cx="1004707" cy="246221"/>
                </a:xfrm>
                <a:prstGeom prst="rect">
                  <a:avLst/>
                </a:prstGeom>
                <a:blipFill>
                  <a:blip r:embed="rId22"/>
                  <a:stretch>
                    <a:fillRect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142946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AFC46F5-9D39-3200-9315-7E41F8A21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roup 99">
            <a:extLst>
              <a:ext uri="{FF2B5EF4-FFF2-40B4-BE49-F238E27FC236}">
                <a16:creationId xmlns:a16="http://schemas.microsoft.com/office/drawing/2014/main" xmlns="" id="{5848EDA5-D183-93CF-2EA4-41FF8DEF531E}"/>
              </a:ext>
            </a:extLst>
          </p:cNvPr>
          <p:cNvGrpSpPr/>
          <p:nvPr/>
        </p:nvGrpSpPr>
        <p:grpSpPr>
          <a:xfrm>
            <a:off x="3532909" y="1911927"/>
            <a:ext cx="3090150" cy="2613440"/>
            <a:chOff x="3532909" y="1911927"/>
            <a:chExt cx="3090150" cy="261344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xmlns="" id="{C0534D28-CEEB-F347-7428-695FCFDD6FD0}"/>
                </a:ext>
              </a:extLst>
            </p:cNvPr>
            <p:cNvSpPr/>
            <p:nvPr/>
          </p:nvSpPr>
          <p:spPr>
            <a:xfrm>
              <a:off x="3532909" y="3034145"/>
              <a:ext cx="540000" cy="40491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A</a:t>
              </a:r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026D259C-2F42-013A-4513-8545895EBC0A}"/>
                </a:ext>
              </a:extLst>
            </p:cNvPr>
            <p:cNvSpPr/>
            <p:nvPr/>
          </p:nvSpPr>
          <p:spPr>
            <a:xfrm>
              <a:off x="4371108" y="3039176"/>
              <a:ext cx="540000" cy="40491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A</a:t>
              </a:r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22DC3002-17E7-8F70-DAB0-4CE49CBA033A}"/>
                </a:ext>
              </a:extLst>
            </p:cNvPr>
            <p:cNvSpPr/>
            <p:nvPr/>
          </p:nvSpPr>
          <p:spPr>
            <a:xfrm>
              <a:off x="5209307" y="3034145"/>
              <a:ext cx="540000" cy="40491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A</a:t>
              </a:r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8EF0ACA0-1266-E99E-2733-10E832A0C15D}"/>
                </a:ext>
              </a:extLst>
            </p:cNvPr>
            <p:cNvSpPr/>
            <p:nvPr/>
          </p:nvSpPr>
          <p:spPr>
            <a:xfrm>
              <a:off x="6047506" y="3039504"/>
              <a:ext cx="540000" cy="40491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A</a:t>
              </a:r>
              <a:endParaRPr lang="en-US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xmlns="" id="{F7F6D4AE-C331-40DD-5100-DC5C7B3F44A9}"/>
                </a:ext>
              </a:extLst>
            </p:cNvPr>
            <p:cNvCxnSpPr>
              <a:stCxn id="3" idx="3"/>
              <a:endCxn id="5" idx="1"/>
            </p:cNvCxnSpPr>
            <p:nvPr/>
          </p:nvCxnSpPr>
          <p:spPr>
            <a:xfrm>
              <a:off x="4072909" y="3236604"/>
              <a:ext cx="298199" cy="50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xmlns="" id="{386C2C92-0CC5-ADC3-4EEC-0177DFD60A37}"/>
                </a:ext>
              </a:extLst>
            </p:cNvPr>
            <p:cNvCxnSpPr>
              <a:stCxn id="5" idx="3"/>
              <a:endCxn id="6" idx="1"/>
            </p:cNvCxnSpPr>
            <p:nvPr/>
          </p:nvCxnSpPr>
          <p:spPr>
            <a:xfrm flipV="1">
              <a:off x="4911108" y="3236604"/>
              <a:ext cx="298199" cy="50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xmlns="" id="{EFF6839D-CACE-9E2F-A029-736CE3391E11}"/>
                </a:ext>
              </a:extLst>
            </p:cNvPr>
            <p:cNvCxnSpPr>
              <a:stCxn id="6" idx="3"/>
              <a:endCxn id="7" idx="1"/>
            </p:cNvCxnSpPr>
            <p:nvPr/>
          </p:nvCxnSpPr>
          <p:spPr>
            <a:xfrm>
              <a:off x="5749307" y="3236604"/>
              <a:ext cx="298199" cy="535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xmlns="" id="{8A25C4F4-BDDD-1357-5894-BBBEAB136FDF}"/>
                    </a:ext>
                  </a:extLst>
                </p:cNvPr>
                <p:cNvSpPr/>
                <p:nvPr/>
              </p:nvSpPr>
              <p:spPr>
                <a:xfrm>
                  <a:off x="3595091" y="3751117"/>
                  <a:ext cx="415636" cy="404918"/>
                </a:xfrm>
                <a:prstGeom prst="ellipse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8A25C4F4-BDDD-1357-5894-BBBEAB136FD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5091" y="3751117"/>
                  <a:ext cx="415636" cy="404918"/>
                </a:xfrm>
                <a:prstGeom prst="ellipse">
                  <a:avLst/>
                </a:prstGeom>
                <a:blipFill>
                  <a:blip r:embed="rId2"/>
                  <a:stretch>
                    <a:fillRect l="-5797"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xmlns="" id="{2FDBCC82-BD5A-68A7-87A4-4A651886FB80}"/>
                </a:ext>
              </a:extLst>
            </p:cNvPr>
            <p:cNvCxnSpPr>
              <a:stCxn id="14" idx="0"/>
              <a:endCxn id="3" idx="2"/>
            </p:cNvCxnSpPr>
            <p:nvPr/>
          </p:nvCxnSpPr>
          <p:spPr>
            <a:xfrm flipV="1">
              <a:off x="3802909" y="3439063"/>
              <a:ext cx="0" cy="3120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xmlns="" id="{52722EC4-648E-315C-70C6-C19E306B6E14}"/>
                    </a:ext>
                  </a:extLst>
                </p:cNvPr>
                <p:cNvSpPr/>
                <p:nvPr/>
              </p:nvSpPr>
              <p:spPr>
                <a:xfrm>
                  <a:off x="4432962" y="3751117"/>
                  <a:ext cx="415636" cy="404918"/>
                </a:xfrm>
                <a:prstGeom prst="ellipse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52722EC4-648E-315C-70C6-C19E306B6E1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2962" y="3751117"/>
                  <a:ext cx="415636" cy="404918"/>
                </a:xfrm>
                <a:prstGeom prst="ellipse">
                  <a:avLst/>
                </a:prstGeom>
                <a:blipFill>
                  <a:blip r:embed="rId3"/>
                  <a:stretch>
                    <a:fillRect l="-4348"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xmlns="" id="{B83D5045-507C-09DE-9249-D35934725844}"/>
                </a:ext>
              </a:extLst>
            </p:cNvPr>
            <p:cNvCxnSpPr>
              <a:stCxn id="17" idx="0"/>
            </p:cNvCxnSpPr>
            <p:nvPr/>
          </p:nvCxnSpPr>
          <p:spPr>
            <a:xfrm flipV="1">
              <a:off x="4640780" y="3439063"/>
              <a:ext cx="0" cy="3120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xmlns="" id="{C5E5668A-3613-7850-70F3-C9B8E4A52FF1}"/>
                    </a:ext>
                  </a:extLst>
                </p:cNvPr>
                <p:cNvSpPr/>
                <p:nvPr/>
              </p:nvSpPr>
              <p:spPr>
                <a:xfrm>
                  <a:off x="5270834" y="3751117"/>
                  <a:ext cx="415636" cy="404918"/>
                </a:xfrm>
                <a:prstGeom prst="ellipse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C5E5668A-3613-7850-70F3-C9B8E4A52F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0834" y="3751117"/>
                  <a:ext cx="415636" cy="404918"/>
                </a:xfrm>
                <a:prstGeom prst="ellipse">
                  <a:avLst/>
                </a:prstGeom>
                <a:blipFill>
                  <a:blip r:embed="rId4"/>
                  <a:stretch>
                    <a:fillRect l="-5797"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xmlns="" id="{F7E15D01-6FDB-794A-E003-736262810557}"/>
                </a:ext>
              </a:extLst>
            </p:cNvPr>
            <p:cNvCxnSpPr>
              <a:stCxn id="19" idx="0"/>
            </p:cNvCxnSpPr>
            <p:nvPr/>
          </p:nvCxnSpPr>
          <p:spPr>
            <a:xfrm flipV="1">
              <a:off x="5478652" y="3439063"/>
              <a:ext cx="0" cy="3120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xmlns="" id="{0031823E-FE60-1D2D-F19F-55B0E209D968}"/>
                    </a:ext>
                  </a:extLst>
                </p:cNvPr>
                <p:cNvSpPr/>
                <p:nvPr/>
              </p:nvSpPr>
              <p:spPr>
                <a:xfrm>
                  <a:off x="6129160" y="3751117"/>
                  <a:ext cx="415636" cy="404918"/>
                </a:xfrm>
                <a:prstGeom prst="ellipse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0031823E-FE60-1D2D-F19F-55B0E209D96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9160" y="3751117"/>
                  <a:ext cx="415636" cy="404918"/>
                </a:xfrm>
                <a:prstGeom prst="ellipse">
                  <a:avLst/>
                </a:prstGeom>
                <a:blipFill>
                  <a:blip r:embed="rId5"/>
                  <a:stretch>
                    <a:fillRect l="-4286" r="-28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xmlns="" id="{4F964C84-B656-9E27-A3FA-BB652F5F18AF}"/>
                </a:ext>
              </a:extLst>
            </p:cNvPr>
            <p:cNvCxnSpPr>
              <a:stCxn id="21" idx="0"/>
            </p:cNvCxnSpPr>
            <p:nvPr/>
          </p:nvCxnSpPr>
          <p:spPr>
            <a:xfrm flipV="1">
              <a:off x="6336978" y="3439063"/>
              <a:ext cx="0" cy="3120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xmlns="" id="{D3E890DB-71EF-713A-14D8-3C24E4337EE1}"/>
                </a:ext>
              </a:extLst>
            </p:cNvPr>
            <p:cNvSpPr txBox="1"/>
            <p:nvPr/>
          </p:nvSpPr>
          <p:spPr>
            <a:xfrm>
              <a:off x="3634433" y="4156035"/>
              <a:ext cx="3369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O</a:t>
              </a:r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xmlns="" id="{57B34361-3900-1266-3D58-C3384D25DB7D}"/>
                </a:ext>
              </a:extLst>
            </p:cNvPr>
            <p:cNvSpPr txBox="1"/>
            <p:nvPr/>
          </p:nvSpPr>
          <p:spPr>
            <a:xfrm>
              <a:off x="4391414" y="4151004"/>
              <a:ext cx="5196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céu</a:t>
              </a:r>
              <a:endParaRPr lang="en-US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xmlns="" id="{D8BB3D9F-5B39-1045-1636-9A97CDA0FC7A}"/>
                </a:ext>
              </a:extLst>
            </p:cNvPr>
            <p:cNvSpPr txBox="1"/>
            <p:nvPr/>
          </p:nvSpPr>
          <p:spPr>
            <a:xfrm>
              <a:off x="5310176" y="41510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é</a:t>
              </a:r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xmlns="" id="{73D30054-6A82-5512-0EE4-37AF61A11200}"/>
                </a:ext>
              </a:extLst>
            </p:cNvPr>
            <p:cNvSpPr txBox="1"/>
            <p:nvPr/>
          </p:nvSpPr>
          <p:spPr>
            <a:xfrm>
              <a:off x="6062841" y="4150676"/>
              <a:ext cx="560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azul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xmlns="" id="{F87D58A6-2B88-2E5E-90B2-E06F40638232}"/>
                    </a:ext>
                  </a:extLst>
                </p:cNvPr>
                <p:cNvSpPr/>
                <p:nvPr/>
              </p:nvSpPr>
              <p:spPr>
                <a:xfrm>
                  <a:off x="3596985" y="2317173"/>
                  <a:ext cx="415636" cy="404918"/>
                </a:xfrm>
                <a:prstGeom prst="ellipse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4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F87D58A6-2B88-2E5E-90B2-E06F406382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6985" y="2317173"/>
                  <a:ext cx="415636" cy="404918"/>
                </a:xfrm>
                <a:prstGeom prst="ellipse">
                  <a:avLst/>
                </a:prstGeom>
                <a:blipFill>
                  <a:blip r:embed="rId6"/>
                  <a:stretch>
                    <a:fillRect l="-11594" r="-43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xmlns="" id="{6439B11B-0286-EBCA-49E0-335FE5EBE8FA}"/>
                </a:ext>
              </a:extLst>
            </p:cNvPr>
            <p:cNvCxnSpPr>
              <a:stCxn id="3" idx="0"/>
              <a:endCxn id="64" idx="4"/>
            </p:cNvCxnSpPr>
            <p:nvPr/>
          </p:nvCxnSpPr>
          <p:spPr>
            <a:xfrm flipV="1">
              <a:off x="3802909" y="2722091"/>
              <a:ext cx="1894" cy="31205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xmlns="" id="{E08AEBD1-432B-3013-BE2F-DF9CF8403889}"/>
                    </a:ext>
                  </a:extLst>
                </p:cNvPr>
                <p:cNvSpPr/>
                <p:nvPr/>
              </p:nvSpPr>
              <p:spPr>
                <a:xfrm>
                  <a:off x="4433052" y="2317173"/>
                  <a:ext cx="415636" cy="404918"/>
                </a:xfrm>
                <a:prstGeom prst="ellipse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4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E08AEBD1-432B-3013-BE2F-DF9CF840388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3052" y="2317173"/>
                  <a:ext cx="415636" cy="404918"/>
                </a:xfrm>
                <a:prstGeom prst="ellipse">
                  <a:avLst/>
                </a:prstGeom>
                <a:blipFill>
                  <a:blip r:embed="rId7"/>
                  <a:stretch>
                    <a:fillRect l="-10145" r="-57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xmlns="" id="{28850714-0B6D-B080-5A71-750BA6C67D95}"/>
                    </a:ext>
                  </a:extLst>
                </p:cNvPr>
                <p:cNvSpPr/>
                <p:nvPr/>
              </p:nvSpPr>
              <p:spPr>
                <a:xfrm>
                  <a:off x="5273181" y="2317173"/>
                  <a:ext cx="415636" cy="404918"/>
                </a:xfrm>
                <a:prstGeom prst="ellipse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4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28850714-0B6D-B080-5A71-750BA6C67D9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3181" y="2317173"/>
                  <a:ext cx="415636" cy="404918"/>
                </a:xfrm>
                <a:prstGeom prst="ellipse">
                  <a:avLst/>
                </a:prstGeom>
                <a:blipFill>
                  <a:blip r:embed="rId8"/>
                  <a:stretch>
                    <a:fillRect l="-11594" r="-43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Oval 82">
                  <a:extLst>
                    <a:ext uri="{FF2B5EF4-FFF2-40B4-BE49-F238E27FC236}">
                      <a16:creationId xmlns:a16="http://schemas.microsoft.com/office/drawing/2014/main" xmlns="" id="{DF32C4FF-E000-6153-5A85-CFD8746E3222}"/>
                    </a:ext>
                  </a:extLst>
                </p:cNvPr>
                <p:cNvSpPr/>
                <p:nvPr/>
              </p:nvSpPr>
              <p:spPr>
                <a:xfrm>
                  <a:off x="6108331" y="2317173"/>
                  <a:ext cx="415636" cy="404918"/>
                </a:xfrm>
                <a:prstGeom prst="ellipse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4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3" name="Oval 82">
                  <a:extLst>
                    <a:ext uri="{FF2B5EF4-FFF2-40B4-BE49-F238E27FC236}">
                      <a16:creationId xmlns:a16="http://schemas.microsoft.com/office/drawing/2014/main" id="{DF32C4FF-E000-6153-5A85-CFD8746E322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08331" y="2317173"/>
                  <a:ext cx="415636" cy="404918"/>
                </a:xfrm>
                <a:prstGeom prst="ellipse">
                  <a:avLst/>
                </a:prstGeom>
                <a:blipFill>
                  <a:blip r:embed="rId9"/>
                  <a:stretch>
                    <a:fillRect l="-11594" r="-43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xmlns="" id="{F40667E5-8E58-C310-CBFB-57422FB0D492}"/>
                </a:ext>
              </a:extLst>
            </p:cNvPr>
            <p:cNvSpPr txBox="1"/>
            <p:nvPr/>
          </p:nvSpPr>
          <p:spPr>
            <a:xfrm>
              <a:off x="3553215" y="1912255"/>
              <a:ext cx="5196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céu</a:t>
              </a:r>
              <a:endParaRPr lang="en-US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xmlns="" id="{65A7BAD0-E22A-00A7-79D3-E281691F9BFA}"/>
                </a:ext>
              </a:extLst>
            </p:cNvPr>
            <p:cNvSpPr txBox="1"/>
            <p:nvPr/>
          </p:nvSpPr>
          <p:spPr>
            <a:xfrm>
              <a:off x="4513541" y="191225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é</a:t>
              </a:r>
              <a:endParaRPr lang="en-US" dirty="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xmlns="" id="{0347D807-1FF8-98CB-58CE-4939C4B01C91}"/>
                </a:ext>
              </a:extLst>
            </p:cNvPr>
            <p:cNvSpPr txBox="1"/>
            <p:nvPr/>
          </p:nvSpPr>
          <p:spPr>
            <a:xfrm>
              <a:off x="5183078" y="1911927"/>
              <a:ext cx="560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azul</a:t>
              </a:r>
              <a:endParaRPr lang="en-US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xmlns="" id="{7159E20A-C910-CA52-1ABE-5C094C505360}"/>
                </a:ext>
              </a:extLst>
            </p:cNvPr>
            <p:cNvSpPr txBox="1"/>
            <p:nvPr/>
          </p:nvSpPr>
          <p:spPr>
            <a:xfrm>
              <a:off x="6148539" y="1911927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...</a:t>
              </a:r>
              <a:endParaRPr lang="en-US" dirty="0"/>
            </a:p>
          </p:txBody>
        </p: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xmlns="" id="{4D2EEB39-53FF-4D7F-6AAD-272D9A605970}"/>
                </a:ext>
              </a:extLst>
            </p:cNvPr>
            <p:cNvCxnSpPr>
              <a:stCxn id="5" idx="0"/>
              <a:endCxn id="67" idx="4"/>
            </p:cNvCxnSpPr>
            <p:nvPr/>
          </p:nvCxnSpPr>
          <p:spPr>
            <a:xfrm flipH="1" flipV="1">
              <a:off x="4640870" y="2722091"/>
              <a:ext cx="238" cy="3170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xmlns="" id="{7925EE7B-7FE6-D157-299F-C4532C92625C}"/>
                </a:ext>
              </a:extLst>
            </p:cNvPr>
            <p:cNvCxnSpPr>
              <a:stCxn id="6" idx="0"/>
              <a:endCxn id="81" idx="4"/>
            </p:cNvCxnSpPr>
            <p:nvPr/>
          </p:nvCxnSpPr>
          <p:spPr>
            <a:xfrm flipV="1">
              <a:off x="5479307" y="2722091"/>
              <a:ext cx="1692" cy="31205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xmlns="" id="{1A59467C-A62E-94C1-6003-D3BD8B84751F}"/>
                </a:ext>
              </a:extLst>
            </p:cNvPr>
            <p:cNvCxnSpPr>
              <a:stCxn id="7" idx="0"/>
              <a:endCxn id="83" idx="4"/>
            </p:cNvCxnSpPr>
            <p:nvPr/>
          </p:nvCxnSpPr>
          <p:spPr>
            <a:xfrm flipH="1" flipV="1">
              <a:off x="6316149" y="2722091"/>
              <a:ext cx="1357" cy="31741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0113389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5573694-5604-5578-962F-15A2E6C1A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xmlns="" id="{2E164ADA-3029-B0E6-C546-EC28E23B01A5}"/>
              </a:ext>
            </a:extLst>
          </p:cNvPr>
          <p:cNvGrpSpPr/>
          <p:nvPr/>
        </p:nvGrpSpPr>
        <p:grpSpPr>
          <a:xfrm>
            <a:off x="3470087" y="1912255"/>
            <a:ext cx="5837554" cy="2626162"/>
            <a:chOff x="3470087" y="1912255"/>
            <a:chExt cx="5837554" cy="262616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xmlns="" id="{2CA71C07-A927-7553-9A53-EA7C1F0FD54D}"/>
                </a:ext>
              </a:extLst>
            </p:cNvPr>
            <p:cNvSpPr/>
            <p:nvPr/>
          </p:nvSpPr>
          <p:spPr>
            <a:xfrm>
              <a:off x="3532909" y="3034145"/>
              <a:ext cx="540000" cy="40491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A</a:t>
              </a:r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D5756A99-BCC4-DB10-974D-9BC155740184}"/>
                </a:ext>
              </a:extLst>
            </p:cNvPr>
            <p:cNvSpPr/>
            <p:nvPr/>
          </p:nvSpPr>
          <p:spPr>
            <a:xfrm>
              <a:off x="4371108" y="3039176"/>
              <a:ext cx="540000" cy="40491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A</a:t>
              </a:r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0F4C5972-08B6-39F9-5752-5DEFC6E9A590}"/>
                </a:ext>
              </a:extLst>
            </p:cNvPr>
            <p:cNvSpPr/>
            <p:nvPr/>
          </p:nvSpPr>
          <p:spPr>
            <a:xfrm>
              <a:off x="5209307" y="3044536"/>
              <a:ext cx="540000" cy="40491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A</a:t>
              </a:r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20920392-DFDC-1C8D-8962-1C191C9B874E}"/>
                </a:ext>
              </a:extLst>
            </p:cNvPr>
            <p:cNvSpPr/>
            <p:nvPr/>
          </p:nvSpPr>
          <p:spPr>
            <a:xfrm>
              <a:off x="6805709" y="3057913"/>
              <a:ext cx="540000" cy="40491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A</a:t>
              </a:r>
              <a:endParaRPr lang="en-US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xmlns="" id="{CC4000C8-59B4-CB55-CF73-071EADD1E13A}"/>
                </a:ext>
              </a:extLst>
            </p:cNvPr>
            <p:cNvCxnSpPr>
              <a:stCxn id="3" idx="3"/>
              <a:endCxn id="5" idx="1"/>
            </p:cNvCxnSpPr>
            <p:nvPr/>
          </p:nvCxnSpPr>
          <p:spPr>
            <a:xfrm>
              <a:off x="4072909" y="3236604"/>
              <a:ext cx="298199" cy="50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xmlns="" id="{816E4A48-D71F-43E1-A17C-7346F79DEE88}"/>
                </a:ext>
              </a:extLst>
            </p:cNvPr>
            <p:cNvCxnSpPr>
              <a:stCxn id="5" idx="3"/>
              <a:endCxn id="6" idx="1"/>
            </p:cNvCxnSpPr>
            <p:nvPr/>
          </p:nvCxnSpPr>
          <p:spPr>
            <a:xfrm>
              <a:off x="4911108" y="3241635"/>
              <a:ext cx="298199" cy="53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xmlns="" id="{1E77AE6D-1F96-FB35-1187-485D66AD36CD}"/>
                </a:ext>
              </a:extLst>
            </p:cNvPr>
            <p:cNvCxnSpPr>
              <a:cxnSpLocks/>
              <a:endCxn id="7" idx="1"/>
            </p:cNvCxnSpPr>
            <p:nvPr/>
          </p:nvCxnSpPr>
          <p:spPr>
            <a:xfrm>
              <a:off x="6507510" y="3255013"/>
              <a:ext cx="298199" cy="535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xmlns="" id="{BEF50F89-3F9C-B7A0-D32B-766398AF529D}"/>
                    </a:ext>
                  </a:extLst>
                </p:cNvPr>
                <p:cNvSpPr/>
                <p:nvPr/>
              </p:nvSpPr>
              <p:spPr>
                <a:xfrm>
                  <a:off x="3595091" y="3751117"/>
                  <a:ext cx="415636" cy="404918"/>
                </a:xfrm>
                <a:prstGeom prst="ellipse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BEF50F89-3F9C-B7A0-D32B-766398AF529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5091" y="3751117"/>
                  <a:ext cx="415636" cy="404918"/>
                </a:xfrm>
                <a:prstGeom prst="ellipse">
                  <a:avLst/>
                </a:prstGeom>
                <a:blipFill>
                  <a:blip r:embed="rId2"/>
                  <a:stretch>
                    <a:fillRect l="-5797"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xmlns="" id="{5536ECC4-8EDC-BF81-A381-67C4AA33FE42}"/>
                </a:ext>
              </a:extLst>
            </p:cNvPr>
            <p:cNvCxnSpPr>
              <a:stCxn id="14" idx="0"/>
              <a:endCxn id="3" idx="2"/>
            </p:cNvCxnSpPr>
            <p:nvPr/>
          </p:nvCxnSpPr>
          <p:spPr>
            <a:xfrm flipV="1">
              <a:off x="3802909" y="3439063"/>
              <a:ext cx="0" cy="3120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xmlns="" id="{EA1B6128-BF0B-0502-7C92-F80DC5E8DF84}"/>
                    </a:ext>
                  </a:extLst>
                </p:cNvPr>
                <p:cNvSpPr/>
                <p:nvPr/>
              </p:nvSpPr>
              <p:spPr>
                <a:xfrm>
                  <a:off x="4432962" y="3751117"/>
                  <a:ext cx="415636" cy="404918"/>
                </a:xfrm>
                <a:prstGeom prst="ellipse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EA1B6128-BF0B-0502-7C92-F80DC5E8DF8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2962" y="3751117"/>
                  <a:ext cx="415636" cy="404918"/>
                </a:xfrm>
                <a:prstGeom prst="ellipse">
                  <a:avLst/>
                </a:prstGeom>
                <a:blipFill>
                  <a:blip r:embed="rId3"/>
                  <a:stretch>
                    <a:fillRect l="-4348"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xmlns="" id="{4832C06D-CF74-766F-FFC2-610ACF8FC042}"/>
                </a:ext>
              </a:extLst>
            </p:cNvPr>
            <p:cNvCxnSpPr>
              <a:stCxn id="17" idx="0"/>
            </p:cNvCxnSpPr>
            <p:nvPr/>
          </p:nvCxnSpPr>
          <p:spPr>
            <a:xfrm flipV="1">
              <a:off x="4640780" y="3439063"/>
              <a:ext cx="0" cy="3120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xmlns="" id="{E5CA2E1F-C39D-CBA3-A6E1-D4C1F4AF373C}"/>
                    </a:ext>
                  </a:extLst>
                </p:cNvPr>
                <p:cNvSpPr/>
                <p:nvPr/>
              </p:nvSpPr>
              <p:spPr>
                <a:xfrm>
                  <a:off x="5270834" y="3761508"/>
                  <a:ext cx="415636" cy="404918"/>
                </a:xfrm>
                <a:prstGeom prst="ellipse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E5CA2E1F-C39D-CBA3-A6E1-D4C1F4AF37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0834" y="3761508"/>
                  <a:ext cx="415636" cy="404918"/>
                </a:xfrm>
                <a:prstGeom prst="ellipse">
                  <a:avLst/>
                </a:prstGeom>
                <a:blipFill>
                  <a:blip r:embed="rId4"/>
                  <a:stretch>
                    <a:fillRect l="-5797" r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xmlns="" id="{90D394B9-6B7A-EE4E-A95D-801F9C111BDA}"/>
                </a:ext>
              </a:extLst>
            </p:cNvPr>
            <p:cNvCxnSpPr>
              <a:stCxn id="19" idx="0"/>
            </p:cNvCxnSpPr>
            <p:nvPr/>
          </p:nvCxnSpPr>
          <p:spPr>
            <a:xfrm flipV="1">
              <a:off x="5478652" y="3449454"/>
              <a:ext cx="0" cy="3120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xmlns="" id="{278B2A68-FDF3-D539-0397-EB5939ABFA5D}"/>
                    </a:ext>
                  </a:extLst>
                </p:cNvPr>
                <p:cNvSpPr/>
                <p:nvPr/>
              </p:nvSpPr>
              <p:spPr>
                <a:xfrm>
                  <a:off x="6887363" y="3769526"/>
                  <a:ext cx="415636" cy="404918"/>
                </a:xfrm>
                <a:prstGeom prst="ellipse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278B2A68-FDF3-D539-0397-EB5939ABFA5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7363" y="3769526"/>
                  <a:ext cx="415636" cy="404918"/>
                </a:xfrm>
                <a:prstGeom prst="ellipse">
                  <a:avLst/>
                </a:prstGeom>
                <a:blipFill>
                  <a:blip r:embed="rId5"/>
                  <a:stretch>
                    <a:fillRect l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xmlns="" id="{0E40F23A-D8D4-25F6-DDDB-17B95E9C8E39}"/>
                </a:ext>
              </a:extLst>
            </p:cNvPr>
            <p:cNvCxnSpPr>
              <a:stCxn id="21" idx="0"/>
            </p:cNvCxnSpPr>
            <p:nvPr/>
          </p:nvCxnSpPr>
          <p:spPr>
            <a:xfrm flipV="1">
              <a:off x="7095181" y="3457472"/>
              <a:ext cx="0" cy="3120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xmlns="" id="{EB19DA87-A58F-46A6-EDE2-943BC4C3D386}"/>
                </a:ext>
              </a:extLst>
            </p:cNvPr>
            <p:cNvSpPr txBox="1"/>
            <p:nvPr/>
          </p:nvSpPr>
          <p:spPr>
            <a:xfrm>
              <a:off x="3609879" y="416139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de</a:t>
              </a:r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xmlns="" id="{C6D6550D-0169-2E65-9876-AB1FF91B3C6B}"/>
                </a:ext>
              </a:extLst>
            </p:cNvPr>
            <p:cNvSpPr txBox="1"/>
            <p:nvPr/>
          </p:nvSpPr>
          <p:spPr>
            <a:xfrm>
              <a:off x="4328259" y="4161395"/>
              <a:ext cx="7217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Roma</a:t>
              </a:r>
              <a:endParaRPr lang="en-US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xmlns="" id="{B1F4A0A2-8071-5489-B1DC-AE37EE9B6CC4}"/>
                </a:ext>
              </a:extLst>
            </p:cNvPr>
            <p:cNvSpPr txBox="1"/>
            <p:nvPr/>
          </p:nvSpPr>
          <p:spPr>
            <a:xfrm>
              <a:off x="5373693" y="4161395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.</a:t>
              </a:r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xmlns="" id="{233D19E0-8BC8-DCF3-25F7-112FD8019AAF}"/>
                </a:ext>
              </a:extLst>
            </p:cNvPr>
            <p:cNvSpPr txBox="1"/>
            <p:nvPr/>
          </p:nvSpPr>
          <p:spPr>
            <a:xfrm>
              <a:off x="6966518" y="416908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é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xmlns="" id="{F36D6E33-7BC5-5E4C-56CB-E03DF0F68ED7}"/>
                    </a:ext>
                  </a:extLst>
                </p:cNvPr>
                <p:cNvSpPr/>
                <p:nvPr/>
              </p:nvSpPr>
              <p:spPr>
                <a:xfrm>
                  <a:off x="3596985" y="2317173"/>
                  <a:ext cx="415636" cy="404918"/>
                </a:xfrm>
                <a:prstGeom prst="ellipse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4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F36D6E33-7BC5-5E4C-56CB-E03DF0F68ED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6985" y="2317173"/>
                  <a:ext cx="415636" cy="404918"/>
                </a:xfrm>
                <a:prstGeom prst="ellipse">
                  <a:avLst/>
                </a:prstGeom>
                <a:blipFill>
                  <a:blip r:embed="rId6"/>
                  <a:stretch>
                    <a:fillRect l="-11594" r="-43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xmlns="" id="{DEE5256F-F5BF-0D94-50CE-460735EE0070}"/>
                </a:ext>
              </a:extLst>
            </p:cNvPr>
            <p:cNvCxnSpPr>
              <a:stCxn id="3" idx="0"/>
              <a:endCxn id="64" idx="4"/>
            </p:cNvCxnSpPr>
            <p:nvPr/>
          </p:nvCxnSpPr>
          <p:spPr>
            <a:xfrm flipV="1">
              <a:off x="3802909" y="2722091"/>
              <a:ext cx="1894" cy="31205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xmlns="" id="{D5CB3226-5F82-6A5B-41B1-CC0280509CB6}"/>
                    </a:ext>
                  </a:extLst>
                </p:cNvPr>
                <p:cNvSpPr/>
                <p:nvPr/>
              </p:nvSpPr>
              <p:spPr>
                <a:xfrm>
                  <a:off x="4433052" y="2317173"/>
                  <a:ext cx="415636" cy="404918"/>
                </a:xfrm>
                <a:prstGeom prst="ellipse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4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D5CB3226-5F82-6A5B-41B1-CC0280509C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3052" y="2317173"/>
                  <a:ext cx="415636" cy="404918"/>
                </a:xfrm>
                <a:prstGeom prst="ellipse">
                  <a:avLst/>
                </a:prstGeom>
                <a:blipFill>
                  <a:blip r:embed="rId7"/>
                  <a:stretch>
                    <a:fillRect l="-10145" r="-57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xmlns="" id="{A4595E6A-8A12-4BE5-B8A9-4620252A3DF7}"/>
                    </a:ext>
                  </a:extLst>
                </p:cNvPr>
                <p:cNvSpPr/>
                <p:nvPr/>
              </p:nvSpPr>
              <p:spPr>
                <a:xfrm>
                  <a:off x="5273181" y="2327564"/>
                  <a:ext cx="415636" cy="404918"/>
                </a:xfrm>
                <a:prstGeom prst="ellipse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4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A4595E6A-8A12-4BE5-B8A9-4620252A3DF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3181" y="2327564"/>
                  <a:ext cx="415636" cy="404918"/>
                </a:xfrm>
                <a:prstGeom prst="ellipse">
                  <a:avLst/>
                </a:prstGeom>
                <a:blipFill>
                  <a:blip r:embed="rId8"/>
                  <a:stretch>
                    <a:fillRect l="-11594" r="-43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Oval 82">
                  <a:extLst>
                    <a:ext uri="{FF2B5EF4-FFF2-40B4-BE49-F238E27FC236}">
                      <a16:creationId xmlns:a16="http://schemas.microsoft.com/office/drawing/2014/main" xmlns="" id="{DB641876-7756-4556-5D5B-3FF6052D5D67}"/>
                    </a:ext>
                  </a:extLst>
                </p:cNvPr>
                <p:cNvSpPr/>
                <p:nvPr/>
              </p:nvSpPr>
              <p:spPr>
                <a:xfrm>
                  <a:off x="6866534" y="2335582"/>
                  <a:ext cx="415636" cy="404918"/>
                </a:xfrm>
                <a:prstGeom prst="ellipse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4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3" name="Oval 82">
                  <a:extLst>
                    <a:ext uri="{FF2B5EF4-FFF2-40B4-BE49-F238E27FC236}">
                      <a16:creationId xmlns:a16="http://schemas.microsoft.com/office/drawing/2014/main" id="{DB641876-7756-4556-5D5B-3FF6052D5D6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6534" y="2335582"/>
                  <a:ext cx="415636" cy="404918"/>
                </a:xfrm>
                <a:prstGeom prst="ellipse">
                  <a:avLst/>
                </a:prstGeom>
                <a:blipFill>
                  <a:blip r:embed="rId9"/>
                  <a:stretch>
                    <a:fillRect l="-10000" r="-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xmlns="" id="{6F325E6A-0D08-A66B-C255-CB42FFF9995F}"/>
                </a:ext>
              </a:extLst>
            </p:cNvPr>
            <p:cNvSpPr txBox="1"/>
            <p:nvPr/>
          </p:nvSpPr>
          <p:spPr>
            <a:xfrm>
              <a:off x="3470087" y="1912255"/>
              <a:ext cx="7217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Roma</a:t>
              </a:r>
              <a:endParaRPr lang="en-US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xmlns="" id="{9AF428C7-99F7-79EE-905C-5BFFD1D6B794}"/>
                </a:ext>
              </a:extLst>
            </p:cNvPr>
            <p:cNvSpPr txBox="1"/>
            <p:nvPr/>
          </p:nvSpPr>
          <p:spPr>
            <a:xfrm>
              <a:off x="4513541" y="1912255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.</a:t>
              </a:r>
              <a:endParaRPr lang="en-US" dirty="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xmlns="" id="{DD2D0EBE-EFA3-2C35-531F-42E1FB1848CF}"/>
                </a:ext>
              </a:extLst>
            </p:cNvPr>
            <p:cNvSpPr txBox="1"/>
            <p:nvPr/>
          </p:nvSpPr>
          <p:spPr>
            <a:xfrm>
              <a:off x="5151905" y="1922318"/>
              <a:ext cx="6848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Nasci</a:t>
              </a:r>
              <a:endParaRPr lang="en-US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xmlns="" id="{D18C53F0-5275-B2B1-41F3-3E7649629DDA}"/>
                </a:ext>
              </a:extLst>
            </p:cNvPr>
            <p:cNvSpPr txBox="1"/>
            <p:nvPr/>
          </p:nvSpPr>
          <p:spPr>
            <a:xfrm>
              <a:off x="6906742" y="1930336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o</a:t>
              </a:r>
              <a:endParaRPr lang="en-US" dirty="0"/>
            </a:p>
          </p:txBody>
        </p: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xmlns="" id="{DE520B99-8262-A48A-55C7-26AE0E413875}"/>
                </a:ext>
              </a:extLst>
            </p:cNvPr>
            <p:cNvCxnSpPr>
              <a:stCxn id="5" idx="0"/>
              <a:endCxn id="67" idx="4"/>
            </p:cNvCxnSpPr>
            <p:nvPr/>
          </p:nvCxnSpPr>
          <p:spPr>
            <a:xfrm flipH="1" flipV="1">
              <a:off x="4640870" y="2722091"/>
              <a:ext cx="238" cy="3170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xmlns="" id="{2C8AC8EA-926E-E9E1-49ED-DCA004E88087}"/>
                </a:ext>
              </a:extLst>
            </p:cNvPr>
            <p:cNvCxnSpPr>
              <a:stCxn id="6" idx="0"/>
              <a:endCxn id="81" idx="4"/>
            </p:cNvCxnSpPr>
            <p:nvPr/>
          </p:nvCxnSpPr>
          <p:spPr>
            <a:xfrm flipV="1">
              <a:off x="5479307" y="2732482"/>
              <a:ext cx="1692" cy="31205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xmlns="" id="{871252BB-9DB8-A8D2-D42B-16B83AE1A7C8}"/>
                </a:ext>
              </a:extLst>
            </p:cNvPr>
            <p:cNvCxnSpPr>
              <a:stCxn id="7" idx="0"/>
              <a:endCxn id="83" idx="4"/>
            </p:cNvCxnSpPr>
            <p:nvPr/>
          </p:nvCxnSpPr>
          <p:spPr>
            <a:xfrm flipH="1" flipV="1">
              <a:off x="7074352" y="2740500"/>
              <a:ext cx="1357" cy="31741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xmlns="" id="{42C90E03-64F0-F10B-EC25-ED11EC008951}"/>
                </a:ext>
              </a:extLst>
            </p:cNvPr>
            <p:cNvSpPr/>
            <p:nvPr/>
          </p:nvSpPr>
          <p:spPr>
            <a:xfrm>
              <a:off x="7654226" y="3052554"/>
              <a:ext cx="540000" cy="40491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A</a:t>
              </a:r>
              <a:endParaRPr lang="en-US" dirty="0"/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xmlns="" id="{022EED10-87AA-5C00-4822-C3520E39F05F}"/>
                </a:ext>
              </a:extLst>
            </p:cNvPr>
            <p:cNvCxnSpPr>
              <a:cxnSpLocks/>
              <a:endCxn id="2" idx="1"/>
            </p:cNvCxnSpPr>
            <p:nvPr/>
          </p:nvCxnSpPr>
          <p:spPr>
            <a:xfrm>
              <a:off x="7356027" y="3249654"/>
              <a:ext cx="298199" cy="535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xmlns="" id="{96C5BE88-049C-7EB4-1781-EEA2A0A41860}"/>
                </a:ext>
              </a:extLst>
            </p:cNvPr>
            <p:cNvSpPr/>
            <p:nvPr/>
          </p:nvSpPr>
          <p:spPr>
            <a:xfrm>
              <a:off x="7735880" y="3764167"/>
              <a:ext cx="415636" cy="404918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xmlns="" id="{083CB2E8-EF82-839D-F96B-B6727E29EFA5}"/>
                </a:ext>
              </a:extLst>
            </p:cNvPr>
            <p:cNvCxnSpPr>
              <a:stCxn id="8" idx="0"/>
            </p:cNvCxnSpPr>
            <p:nvPr/>
          </p:nvCxnSpPr>
          <p:spPr>
            <a:xfrm flipV="1">
              <a:off x="7943698" y="3452113"/>
              <a:ext cx="0" cy="3120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DFE4C0D3-DCC2-D3B6-B855-67D6DC13EFF3}"/>
                </a:ext>
              </a:extLst>
            </p:cNvPr>
            <p:cNvSpPr txBox="1"/>
            <p:nvPr/>
          </p:nvSpPr>
          <p:spPr>
            <a:xfrm>
              <a:off x="7823504" y="4163726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o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xmlns="" id="{23F9A3F4-2E58-124C-03D9-237E2903604B}"/>
                    </a:ext>
                  </a:extLst>
                </p:cNvPr>
                <p:cNvSpPr/>
                <p:nvPr/>
              </p:nvSpPr>
              <p:spPr>
                <a:xfrm>
                  <a:off x="7715051" y="2330223"/>
                  <a:ext cx="415636" cy="404918"/>
                </a:xfrm>
                <a:prstGeom prst="ellipse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4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23F9A3F4-2E58-124C-03D9-237E2903604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5051" y="2330223"/>
                  <a:ext cx="415636" cy="404918"/>
                </a:xfrm>
                <a:prstGeom prst="ellipse">
                  <a:avLst/>
                </a:prstGeom>
                <a:blipFill>
                  <a:blip r:embed="rId10"/>
                  <a:stretch>
                    <a:fillRect l="-11594" r="-43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E9C8EE0E-F481-3EAF-0B16-38FF89D122F2}"/>
                </a:ext>
              </a:extLst>
            </p:cNvPr>
            <p:cNvSpPr txBox="1"/>
            <p:nvPr/>
          </p:nvSpPr>
          <p:spPr>
            <a:xfrm>
              <a:off x="7500115" y="1953491"/>
              <a:ext cx="8823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italiano</a:t>
              </a:r>
              <a:endParaRPr lang="en-US" dirty="0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xmlns="" id="{777CB690-B844-9432-D277-3DAEF181FA47}"/>
                </a:ext>
              </a:extLst>
            </p:cNvPr>
            <p:cNvCxnSpPr>
              <a:stCxn id="2" idx="0"/>
              <a:endCxn id="15" idx="4"/>
            </p:cNvCxnSpPr>
            <p:nvPr/>
          </p:nvCxnSpPr>
          <p:spPr>
            <a:xfrm flipH="1" flipV="1">
              <a:off x="7922869" y="2735141"/>
              <a:ext cx="1357" cy="31741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xmlns="" id="{B342B593-E0A1-FA17-862E-41D6D0D679FC}"/>
                </a:ext>
              </a:extLst>
            </p:cNvPr>
            <p:cNvCxnSpPr>
              <a:cxnSpLocks/>
            </p:cNvCxnSpPr>
            <p:nvPr/>
          </p:nvCxnSpPr>
          <p:spPr>
            <a:xfrm>
              <a:off x="5749307" y="3252027"/>
              <a:ext cx="298199" cy="535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781F298F-67A3-70DF-C0A7-49BE483D54BE}"/>
                </a:ext>
              </a:extLst>
            </p:cNvPr>
            <p:cNvSpPr txBox="1"/>
            <p:nvPr/>
          </p:nvSpPr>
          <p:spPr>
            <a:xfrm>
              <a:off x="6096000" y="3018393"/>
              <a:ext cx="3633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...</a:t>
              </a:r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xmlns="" id="{804F6421-1237-F1A2-5E79-FE7BCA610A48}"/>
                </a:ext>
              </a:extLst>
            </p:cNvPr>
            <p:cNvSpPr/>
            <p:nvPr/>
          </p:nvSpPr>
          <p:spPr>
            <a:xfrm>
              <a:off x="8501386" y="3047195"/>
              <a:ext cx="540000" cy="40491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A</a:t>
              </a:r>
              <a:endParaRPr lang="en-US" dirty="0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xmlns="" id="{BF98A6BA-A4C3-1228-F3C0-DD2836B87CD4}"/>
                </a:ext>
              </a:extLst>
            </p:cNvPr>
            <p:cNvCxnSpPr>
              <a:cxnSpLocks/>
              <a:endCxn id="26" idx="1"/>
            </p:cNvCxnSpPr>
            <p:nvPr/>
          </p:nvCxnSpPr>
          <p:spPr>
            <a:xfrm>
              <a:off x="8203187" y="3244295"/>
              <a:ext cx="298199" cy="535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xmlns="" id="{592DE97E-7082-B851-330D-322A2228597A}"/>
                </a:ext>
              </a:extLst>
            </p:cNvPr>
            <p:cNvSpPr/>
            <p:nvPr/>
          </p:nvSpPr>
          <p:spPr>
            <a:xfrm>
              <a:off x="8583040" y="3758808"/>
              <a:ext cx="415636" cy="404918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900" dirty="0"/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xmlns="" id="{0EAB2269-9766-9629-F24D-AD449A7D529B}"/>
                </a:ext>
              </a:extLst>
            </p:cNvPr>
            <p:cNvCxnSpPr>
              <a:stCxn id="28" idx="0"/>
            </p:cNvCxnSpPr>
            <p:nvPr/>
          </p:nvCxnSpPr>
          <p:spPr>
            <a:xfrm flipV="1">
              <a:off x="8790858" y="3446754"/>
              <a:ext cx="0" cy="3120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8D037400-C2BB-9BDD-2FCF-C6DD77FA2016}"/>
                </a:ext>
              </a:extLst>
            </p:cNvPr>
            <p:cNvSpPr txBox="1"/>
            <p:nvPr/>
          </p:nvSpPr>
          <p:spPr>
            <a:xfrm>
              <a:off x="8368747" y="4152971"/>
              <a:ext cx="8823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italiano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xmlns="" id="{4991E1B3-322B-85B2-8F5E-1AA5F8458D09}"/>
                    </a:ext>
                  </a:extLst>
                </p:cNvPr>
                <p:cNvSpPr/>
                <p:nvPr/>
              </p:nvSpPr>
              <p:spPr>
                <a:xfrm>
                  <a:off x="8562211" y="2324864"/>
                  <a:ext cx="415636" cy="404918"/>
                </a:xfrm>
                <a:prstGeom prst="ellipse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4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4991E1B3-322B-85B2-8F5E-1AA5F8458D0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62211" y="2324864"/>
                  <a:ext cx="415636" cy="404918"/>
                </a:xfrm>
                <a:prstGeom prst="ellipse">
                  <a:avLst/>
                </a:prstGeom>
                <a:blipFill>
                  <a:blip r:embed="rId10"/>
                  <a:stretch>
                    <a:fillRect l="-11594" r="-43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xmlns="" id="{2A561BD5-0CAE-FB6F-CB1A-2A227C613163}"/>
                </a:ext>
              </a:extLst>
            </p:cNvPr>
            <p:cNvCxnSpPr>
              <a:stCxn id="26" idx="0"/>
              <a:endCxn id="31" idx="4"/>
            </p:cNvCxnSpPr>
            <p:nvPr/>
          </p:nvCxnSpPr>
          <p:spPr>
            <a:xfrm flipH="1" flipV="1">
              <a:off x="8770029" y="2729782"/>
              <a:ext cx="1357" cy="31741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xmlns="" id="{B150E44D-343B-AC49-B71A-0BE368DAD0F9}"/>
                    </a:ext>
                  </a:extLst>
                </p:cNvPr>
                <p:cNvSpPr txBox="1"/>
                <p:nvPr/>
              </p:nvSpPr>
              <p:spPr>
                <a:xfrm>
                  <a:off x="7459294" y="3840668"/>
                  <a:ext cx="1011404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150E44D-343B-AC49-B71A-0BE368DAD0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59294" y="3840668"/>
                  <a:ext cx="1011404" cy="246221"/>
                </a:xfrm>
                <a:prstGeom prst="rect">
                  <a:avLst/>
                </a:prstGeom>
                <a:blipFill>
                  <a:blip r:embed="rId11"/>
                  <a:stretch>
                    <a:fillRect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xmlns="" id="{208D4C2E-77B0-7513-CAC1-139708606D42}"/>
                    </a:ext>
                  </a:extLst>
                </p:cNvPr>
                <p:cNvSpPr txBox="1"/>
                <p:nvPr/>
              </p:nvSpPr>
              <p:spPr>
                <a:xfrm>
                  <a:off x="8296237" y="3851672"/>
                  <a:ext cx="1011404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208D4C2E-77B0-7513-CAC1-139708606D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6237" y="3851672"/>
                  <a:ext cx="1011404" cy="246221"/>
                </a:xfrm>
                <a:prstGeom prst="rect">
                  <a:avLst/>
                </a:prstGeom>
                <a:blipFill>
                  <a:blip r:embed="rId12"/>
                  <a:stretch>
                    <a:fillRect b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xmlns="" id="{48B2946E-9ED7-EB8C-9669-04C9C3EA8A23}"/>
                </a:ext>
              </a:extLst>
            </p:cNvPr>
            <p:cNvSpPr txBox="1"/>
            <p:nvPr/>
          </p:nvSpPr>
          <p:spPr>
            <a:xfrm>
              <a:off x="8648842" y="1930336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.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6419297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861A8E6-4B10-4A75-B9D7-6D57BC91B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C80F7944-C56A-4918-32CC-D4E7982F8ACD}"/>
              </a:ext>
            </a:extLst>
          </p:cNvPr>
          <p:cNvGrpSpPr/>
          <p:nvPr/>
        </p:nvGrpSpPr>
        <p:grpSpPr>
          <a:xfrm>
            <a:off x="7045381" y="2909386"/>
            <a:ext cx="5001376" cy="2479740"/>
            <a:chOff x="7045381" y="2909386"/>
            <a:chExt cx="5001376" cy="24797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xmlns="" id="{6952C40A-6BC1-7D50-9FEA-BBFC70E1732F}"/>
                    </a:ext>
                  </a:extLst>
                </p:cNvPr>
                <p:cNvSpPr txBox="1"/>
                <p:nvPr/>
              </p:nvSpPr>
              <p:spPr>
                <a:xfrm>
                  <a:off x="11429537" y="3038594"/>
                  <a:ext cx="61722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952C40A-6BC1-7D50-9FEA-BBFC70E173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29537" y="3038594"/>
                  <a:ext cx="61722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xmlns="" id="{E389E7D6-0E03-C09E-A5BD-EF4F78F47BED}"/>
                </a:ext>
              </a:extLst>
            </p:cNvPr>
            <p:cNvSpPr/>
            <p:nvPr/>
          </p:nvSpPr>
          <p:spPr>
            <a:xfrm>
              <a:off x="8042034" y="2909386"/>
              <a:ext cx="3069771" cy="198120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xmlns="" id="{4B906B69-397B-E0FA-9BAF-87CDB2217708}"/>
                </a:ext>
              </a:extLst>
            </p:cNvPr>
            <p:cNvSpPr/>
            <p:nvPr/>
          </p:nvSpPr>
          <p:spPr>
            <a:xfrm>
              <a:off x="9263573" y="3050897"/>
              <a:ext cx="674915" cy="35922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>
                  <a:solidFill>
                    <a:schemeClr val="tx1"/>
                  </a:solidFill>
                </a:rPr>
                <a:t>tanh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xmlns="" id="{86885ED8-AB22-72C4-5CEA-3CE25FC19B23}"/>
                </a:ext>
              </a:extLst>
            </p:cNvPr>
            <p:cNvCxnSpPr>
              <a:endCxn id="3" idx="1"/>
            </p:cNvCxnSpPr>
            <p:nvPr/>
          </p:nvCxnSpPr>
          <p:spPr>
            <a:xfrm>
              <a:off x="7559040" y="3223260"/>
              <a:ext cx="1704533" cy="7252"/>
            </a:xfrm>
            <a:prstGeom prst="line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xmlns="" id="{22EBD8D7-1711-1660-5F56-EBD07F649D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68376" y="3230511"/>
              <a:ext cx="3184" cy="183243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xmlns="" id="{D658E785-464A-A8FA-4EBA-DADD72D51FEB}"/>
                    </a:ext>
                  </a:extLst>
                </p:cNvPr>
                <p:cNvSpPr txBox="1"/>
                <p:nvPr/>
              </p:nvSpPr>
              <p:spPr>
                <a:xfrm>
                  <a:off x="8359766" y="5019794"/>
                  <a:ext cx="61722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658E785-464A-A8FA-4EBA-DADD72D51F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9766" y="5019794"/>
                  <a:ext cx="61722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xmlns="" id="{489BFDFC-AB2B-933B-5EF7-48728379F3B2}"/>
                </a:ext>
              </a:extLst>
            </p:cNvPr>
            <p:cNvCxnSpPr/>
            <p:nvPr/>
          </p:nvCxnSpPr>
          <p:spPr>
            <a:xfrm>
              <a:off x="9938488" y="3230511"/>
              <a:ext cx="1605812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xmlns="" id="{89A2981D-B8A0-3122-77FD-ECBC0C46E0E6}"/>
                    </a:ext>
                  </a:extLst>
                </p:cNvPr>
                <p:cNvSpPr txBox="1"/>
                <p:nvPr/>
              </p:nvSpPr>
              <p:spPr>
                <a:xfrm>
                  <a:off x="7045381" y="3045845"/>
                  <a:ext cx="61722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89A2981D-B8A0-3122-77FD-ECBC0C46E0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5381" y="3045845"/>
                  <a:ext cx="61722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Agrupar 29">
            <a:extLst>
              <a:ext uri="{FF2B5EF4-FFF2-40B4-BE49-F238E27FC236}">
                <a16:creationId xmlns:a16="http://schemas.microsoft.com/office/drawing/2014/main" xmlns="" id="{A0125BEA-E856-3203-44A2-4CB6E4673641}"/>
              </a:ext>
            </a:extLst>
          </p:cNvPr>
          <p:cNvGrpSpPr/>
          <p:nvPr/>
        </p:nvGrpSpPr>
        <p:grpSpPr>
          <a:xfrm>
            <a:off x="260912" y="1662798"/>
            <a:ext cx="4435239" cy="2809250"/>
            <a:chOff x="260912" y="1662798"/>
            <a:chExt cx="4435239" cy="2809250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xmlns="" id="{F843DECB-C956-D955-D499-DD22189CE5D6}"/>
                </a:ext>
              </a:extLst>
            </p:cNvPr>
            <p:cNvSpPr/>
            <p:nvPr/>
          </p:nvSpPr>
          <p:spPr>
            <a:xfrm>
              <a:off x="948207" y="2169156"/>
              <a:ext cx="3069771" cy="198120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xmlns="" id="{7C21CDDD-60F4-254E-D0B1-DD9880058CAE}"/>
                </a:ext>
              </a:extLst>
            </p:cNvPr>
            <p:cNvSpPr/>
            <p:nvPr/>
          </p:nvSpPr>
          <p:spPr>
            <a:xfrm>
              <a:off x="2095472" y="2872797"/>
              <a:ext cx="674915" cy="35922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>
                  <a:solidFill>
                    <a:schemeClr val="tx1"/>
                  </a:solidFill>
                </a:rPr>
                <a:t>tanh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2" name="Connector: Elbow 41">
              <a:extLst>
                <a:ext uri="{FF2B5EF4-FFF2-40B4-BE49-F238E27FC236}">
                  <a16:creationId xmlns:a16="http://schemas.microsoft.com/office/drawing/2014/main" xmlns="" id="{E01C2A5B-A164-6913-FA94-CA99DB0244FA}"/>
                </a:ext>
              </a:extLst>
            </p:cNvPr>
            <p:cNvCxnSpPr>
              <a:cxnSpLocks/>
              <a:endCxn id="40" idx="2"/>
            </p:cNvCxnSpPr>
            <p:nvPr/>
          </p:nvCxnSpPr>
          <p:spPr>
            <a:xfrm rot="5400000" flipH="1" flipV="1">
              <a:off x="1289550" y="3229045"/>
              <a:ext cx="1140399" cy="114636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Connector: Elbow 42">
              <a:extLst>
                <a:ext uri="{FF2B5EF4-FFF2-40B4-BE49-F238E27FC236}">
                  <a16:creationId xmlns:a16="http://schemas.microsoft.com/office/drawing/2014/main" xmlns="" id="{396F9498-A53F-5856-A31E-72DF09B3702B}"/>
                </a:ext>
              </a:extLst>
            </p:cNvPr>
            <p:cNvCxnSpPr>
              <a:cxnSpLocks/>
              <a:stCxn id="40" idx="0"/>
            </p:cNvCxnSpPr>
            <p:nvPr/>
          </p:nvCxnSpPr>
          <p:spPr>
            <a:xfrm rot="5400000" flipH="1" flipV="1">
              <a:off x="3275955" y="1600184"/>
              <a:ext cx="429588" cy="2115638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xmlns="" id="{466E2E6D-A249-7CAB-4045-844CE9311D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85978" y="1773736"/>
              <a:ext cx="0" cy="6694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Connector: Elbow 45">
              <a:extLst>
                <a:ext uri="{FF2B5EF4-FFF2-40B4-BE49-F238E27FC236}">
                  <a16:creationId xmlns:a16="http://schemas.microsoft.com/office/drawing/2014/main" xmlns="" id="{B4EFE449-B504-6CD4-C0C2-B0B6CF080A10}"/>
                </a:ext>
              </a:extLst>
            </p:cNvPr>
            <p:cNvCxnSpPr>
              <a:cxnSpLocks/>
            </p:cNvCxnSpPr>
            <p:nvPr/>
          </p:nvCxnSpPr>
          <p:spPr>
            <a:xfrm>
              <a:off x="578644" y="2434828"/>
              <a:ext cx="1199096" cy="1368028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27">
                  <a:extLst>
                    <a:ext uri="{FF2B5EF4-FFF2-40B4-BE49-F238E27FC236}">
                      <a16:creationId xmlns:a16="http://schemas.microsoft.com/office/drawing/2014/main" xmlns="" id="{864BEB98-D0A6-8E21-632A-DA567336A9C4}"/>
                    </a:ext>
                  </a:extLst>
                </p:cNvPr>
                <p:cNvSpPr txBox="1"/>
                <p:nvPr/>
              </p:nvSpPr>
              <p:spPr>
                <a:xfrm>
                  <a:off x="260912" y="2073875"/>
                  <a:ext cx="61722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27">
                  <a:extLst>
                    <a:ext uri="{FF2B5EF4-FFF2-40B4-BE49-F238E27FC236}">
                      <a16:creationId xmlns:a16="http://schemas.microsoft.com/office/drawing/2014/main" id="{864BEB98-D0A6-8E21-632A-DA567336A9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0912" y="2073875"/>
                  <a:ext cx="617220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26">
                  <a:extLst>
                    <a:ext uri="{FF2B5EF4-FFF2-40B4-BE49-F238E27FC236}">
                      <a16:creationId xmlns:a16="http://schemas.microsoft.com/office/drawing/2014/main" xmlns="" id="{23C0A7C0-E234-D21C-25F8-B0FE9763391F}"/>
                    </a:ext>
                  </a:extLst>
                </p:cNvPr>
                <p:cNvSpPr txBox="1"/>
                <p:nvPr/>
              </p:nvSpPr>
              <p:spPr>
                <a:xfrm>
                  <a:off x="4078931" y="2065496"/>
                  <a:ext cx="61722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26">
                  <a:extLst>
                    <a:ext uri="{FF2B5EF4-FFF2-40B4-BE49-F238E27FC236}">
                      <a16:creationId xmlns:a16="http://schemas.microsoft.com/office/drawing/2014/main" id="{23C0A7C0-E234-D21C-25F8-B0FE976339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78931" y="2065496"/>
                  <a:ext cx="617220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26">
                  <a:extLst>
                    <a:ext uri="{FF2B5EF4-FFF2-40B4-BE49-F238E27FC236}">
                      <a16:creationId xmlns:a16="http://schemas.microsoft.com/office/drawing/2014/main" xmlns="" id="{5B72E209-48BF-DCE5-F02F-5A30F57B54CA}"/>
                    </a:ext>
                  </a:extLst>
                </p:cNvPr>
                <p:cNvSpPr txBox="1"/>
                <p:nvPr/>
              </p:nvSpPr>
              <p:spPr>
                <a:xfrm>
                  <a:off x="3486809" y="1662798"/>
                  <a:ext cx="61722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26">
                  <a:extLst>
                    <a:ext uri="{FF2B5EF4-FFF2-40B4-BE49-F238E27FC236}">
                      <a16:creationId xmlns:a16="http://schemas.microsoft.com/office/drawing/2014/main" id="{5B72E209-48BF-DCE5-F02F-5A30F57B54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86809" y="1662798"/>
                  <a:ext cx="617220" cy="369332"/>
                </a:xfrm>
                <a:prstGeom prst="rect">
                  <a:avLst/>
                </a:prstGeom>
                <a:blipFill>
                  <a:blip r:embed="rId9"/>
                  <a:stretch>
                    <a:fillRect t="-6667" r="-15842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3">
                  <a:extLst>
                    <a:ext uri="{FF2B5EF4-FFF2-40B4-BE49-F238E27FC236}">
                      <a16:creationId xmlns:a16="http://schemas.microsoft.com/office/drawing/2014/main" xmlns="" id="{0E57B151-E333-76CA-A791-FC163B5574D4}"/>
                    </a:ext>
                  </a:extLst>
                </p:cNvPr>
                <p:cNvSpPr txBox="1"/>
                <p:nvPr/>
              </p:nvSpPr>
              <p:spPr>
                <a:xfrm>
                  <a:off x="824364" y="4102716"/>
                  <a:ext cx="61722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3">
                  <a:extLst>
                    <a:ext uri="{FF2B5EF4-FFF2-40B4-BE49-F238E27FC236}">
                      <a16:creationId xmlns:a16="http://schemas.microsoft.com/office/drawing/2014/main" id="{0E57B151-E333-76CA-A791-FC163B5574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364" y="4102716"/>
                  <a:ext cx="617220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4503089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80909C4-DA03-1F5F-0403-1DEE60B8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xmlns="" id="{348B5B75-FB28-2E80-145D-B7B4D142BE9D}"/>
              </a:ext>
            </a:extLst>
          </p:cNvPr>
          <p:cNvSpPr/>
          <p:nvPr/>
        </p:nvSpPr>
        <p:spPr>
          <a:xfrm>
            <a:off x="4301176" y="2438400"/>
            <a:ext cx="3522024" cy="19812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xmlns="" id="{84CE6692-2FDA-8E8D-AB8D-4C22F39EF85B}"/>
                  </a:ext>
                </a:extLst>
              </p:cNvPr>
              <p:cNvSpPr/>
              <p:nvPr/>
            </p:nvSpPr>
            <p:spPr>
              <a:xfrm>
                <a:off x="4558205" y="3736102"/>
                <a:ext cx="332510" cy="297872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4CE6692-2FDA-8E8D-AB8D-4C22F39EF8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8205" y="3736102"/>
                <a:ext cx="332510" cy="29787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xmlns="" id="{6ACD58FC-A360-C11A-7C44-B9487691833B}"/>
                  </a:ext>
                </a:extLst>
              </p:cNvPr>
              <p:cNvSpPr/>
              <p:nvPr/>
            </p:nvSpPr>
            <p:spPr>
              <a:xfrm>
                <a:off x="5122344" y="3736102"/>
                <a:ext cx="332510" cy="297872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ACD58FC-A360-C11A-7C44-B948769183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2344" y="3736102"/>
                <a:ext cx="332510" cy="29787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xmlns="" id="{BE5C8D3A-0A6E-2136-613E-58C2566A481B}"/>
                  </a:ext>
                </a:extLst>
              </p:cNvPr>
              <p:cNvSpPr/>
              <p:nvPr/>
            </p:nvSpPr>
            <p:spPr>
              <a:xfrm>
                <a:off x="6540167" y="3738898"/>
                <a:ext cx="332510" cy="297872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E5C8D3A-0A6E-2136-613E-58C2566A48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167" y="3738898"/>
                <a:ext cx="332510" cy="29787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44C478EC-B109-7888-038E-8DBF57461B91}"/>
              </a:ext>
            </a:extLst>
          </p:cNvPr>
          <p:cNvSpPr/>
          <p:nvPr/>
        </p:nvSpPr>
        <p:spPr>
          <a:xfrm>
            <a:off x="5686483" y="3736102"/>
            <a:ext cx="614781" cy="29787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solidFill>
                  <a:schemeClr val="tx1"/>
                </a:solidFill>
              </a:rPr>
              <a:t>tanh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FFC53C9F-10FB-711C-2512-7250BF72FAA1}"/>
              </a:ext>
            </a:extLst>
          </p:cNvPr>
          <p:cNvGrpSpPr/>
          <p:nvPr/>
        </p:nvGrpSpPr>
        <p:grpSpPr>
          <a:xfrm>
            <a:off x="6922167" y="2849398"/>
            <a:ext cx="627482" cy="369332"/>
            <a:chOff x="6108367" y="2910505"/>
            <a:chExt cx="627482" cy="369332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xmlns="" id="{CE50EACA-BDC6-7C2A-E8C3-F5699FD5BCD0}"/>
                </a:ext>
              </a:extLst>
            </p:cNvPr>
            <p:cNvSpPr/>
            <p:nvPr/>
          </p:nvSpPr>
          <p:spPr>
            <a:xfrm>
              <a:off x="6108367" y="2964609"/>
              <a:ext cx="614781" cy="29787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37990D6E-A5C5-CDF4-C0D9-387966509DC6}"/>
                </a:ext>
              </a:extLst>
            </p:cNvPr>
            <p:cNvSpPr txBox="1"/>
            <p:nvPr/>
          </p:nvSpPr>
          <p:spPr>
            <a:xfrm>
              <a:off x="6108701" y="2910505"/>
              <a:ext cx="6271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dirty="0" err="1">
                  <a:solidFill>
                    <a:schemeClr val="tx1"/>
                  </a:solidFill>
                </a:rPr>
                <a:t>tanh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xmlns="" id="{74B85D8D-87CD-87BC-E833-CE9988D869DD}"/>
              </a:ext>
            </a:extLst>
          </p:cNvPr>
          <p:cNvSpPr/>
          <p:nvPr/>
        </p:nvSpPr>
        <p:spPr>
          <a:xfrm>
            <a:off x="4587935" y="2579263"/>
            <a:ext cx="273050" cy="2730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x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A878B83A-9006-D2B3-60B8-E2D14A5914D1}"/>
              </a:ext>
            </a:extLst>
          </p:cNvPr>
          <p:cNvCxnSpPr>
            <a:stCxn id="8" idx="0"/>
            <a:endCxn id="17" idx="4"/>
          </p:cNvCxnSpPr>
          <p:nvPr/>
        </p:nvCxnSpPr>
        <p:spPr>
          <a:xfrm flipV="1">
            <a:off x="4724460" y="2852313"/>
            <a:ext cx="0" cy="883789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xmlns="" id="{43F4CC40-6B8A-C2D7-30F9-5E2A663458EB}"/>
              </a:ext>
            </a:extLst>
          </p:cNvPr>
          <p:cNvCxnSpPr>
            <a:cxnSpLocks/>
            <a:endCxn id="11" idx="2"/>
          </p:cNvCxnSpPr>
          <p:nvPr/>
        </p:nvCxnSpPr>
        <p:spPr>
          <a:xfrm rot="5400000" flipH="1" flipV="1">
            <a:off x="5288165" y="3260341"/>
            <a:ext cx="641827" cy="2194687"/>
          </a:xfrm>
          <a:prstGeom prst="bentConnector3">
            <a:avLst>
              <a:gd name="adj1" fmla="val 67289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xmlns="" id="{584D7DD5-AF06-660E-B8AB-56FEBD03D05B}"/>
              </a:ext>
            </a:extLst>
          </p:cNvPr>
          <p:cNvCxnSpPr>
            <a:cxnSpLocks/>
          </p:cNvCxnSpPr>
          <p:nvPr/>
        </p:nvCxnSpPr>
        <p:spPr>
          <a:xfrm>
            <a:off x="4724460" y="4033974"/>
            <a:ext cx="0" cy="21161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xmlns="" id="{76F3A98F-48B9-9CD1-B9F1-E75DD2E8FE3C}"/>
              </a:ext>
            </a:extLst>
          </p:cNvPr>
          <p:cNvCxnSpPr>
            <a:cxnSpLocks/>
          </p:cNvCxnSpPr>
          <p:nvPr/>
        </p:nvCxnSpPr>
        <p:spPr>
          <a:xfrm>
            <a:off x="5283260" y="4033974"/>
            <a:ext cx="0" cy="21161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xmlns="" id="{72E979E6-DCC4-331B-D941-6882D88766DC}"/>
              </a:ext>
            </a:extLst>
          </p:cNvPr>
          <p:cNvCxnSpPr>
            <a:cxnSpLocks/>
          </p:cNvCxnSpPr>
          <p:nvPr/>
        </p:nvCxnSpPr>
        <p:spPr>
          <a:xfrm>
            <a:off x="5988110" y="4033974"/>
            <a:ext cx="0" cy="21161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xmlns="" id="{BCF5E98C-CA06-9023-8D8F-DC58885C84A8}"/>
              </a:ext>
            </a:extLst>
          </p:cNvPr>
          <p:cNvSpPr/>
          <p:nvPr/>
        </p:nvSpPr>
        <p:spPr>
          <a:xfrm>
            <a:off x="5856481" y="3328952"/>
            <a:ext cx="273050" cy="2730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x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xmlns="" id="{6EAF062E-2592-CB45-36A5-2A33D358D8BF}"/>
              </a:ext>
            </a:extLst>
          </p:cNvPr>
          <p:cNvCxnSpPr>
            <a:cxnSpLocks/>
            <a:stCxn id="12" idx="0"/>
            <a:endCxn id="37" idx="4"/>
          </p:cNvCxnSpPr>
          <p:nvPr/>
        </p:nvCxnSpPr>
        <p:spPr>
          <a:xfrm flipH="1" flipV="1">
            <a:off x="5993006" y="3602002"/>
            <a:ext cx="868" cy="134100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xmlns="" id="{52EAE681-2114-E3E3-C3A4-320425997F09}"/>
              </a:ext>
            </a:extLst>
          </p:cNvPr>
          <p:cNvSpPr/>
          <p:nvPr/>
        </p:nvSpPr>
        <p:spPr>
          <a:xfrm>
            <a:off x="5853141" y="2580426"/>
            <a:ext cx="273050" cy="2730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+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xmlns="" id="{D1D65BD3-E604-D135-F107-EC4CC81E93DD}"/>
              </a:ext>
            </a:extLst>
          </p:cNvPr>
          <p:cNvCxnSpPr>
            <a:cxnSpLocks/>
            <a:stCxn id="37" idx="0"/>
            <a:endCxn id="48" idx="4"/>
          </p:cNvCxnSpPr>
          <p:nvPr/>
        </p:nvCxnSpPr>
        <p:spPr>
          <a:xfrm flipH="1" flipV="1">
            <a:off x="5989666" y="2853476"/>
            <a:ext cx="3340" cy="475476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xmlns="" id="{C9DC9C7A-C05F-76B8-966F-44753826D4BF}"/>
              </a:ext>
            </a:extLst>
          </p:cNvPr>
          <p:cNvSpPr/>
          <p:nvPr/>
        </p:nvSpPr>
        <p:spPr>
          <a:xfrm>
            <a:off x="7100175" y="3328952"/>
            <a:ext cx="273050" cy="2730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x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xmlns="" id="{A822FBB9-C029-EAAD-530F-8A6805EE47F8}"/>
              </a:ext>
            </a:extLst>
          </p:cNvPr>
          <p:cNvCxnSpPr>
            <a:cxnSpLocks/>
          </p:cNvCxnSpPr>
          <p:nvPr/>
        </p:nvCxnSpPr>
        <p:spPr>
          <a:xfrm flipH="1" flipV="1">
            <a:off x="7236075" y="3192538"/>
            <a:ext cx="625" cy="14400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xmlns="" id="{6BFA24E6-0E52-669D-D3F8-9864EDC5552B}"/>
              </a:ext>
            </a:extLst>
          </p:cNvPr>
          <p:cNvCxnSpPr>
            <a:cxnSpLocks/>
            <a:endCxn id="17" idx="2"/>
          </p:cNvCxnSpPr>
          <p:nvPr/>
        </p:nvCxnSpPr>
        <p:spPr>
          <a:xfrm flipV="1">
            <a:off x="4012696" y="2715788"/>
            <a:ext cx="575239" cy="16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xmlns="" id="{0BF0A013-C46F-87B6-A913-AB6006AD99D3}"/>
              </a:ext>
            </a:extLst>
          </p:cNvPr>
          <p:cNvCxnSpPr>
            <a:cxnSpLocks/>
            <a:stCxn id="17" idx="6"/>
            <a:endCxn id="48" idx="2"/>
          </p:cNvCxnSpPr>
          <p:nvPr/>
        </p:nvCxnSpPr>
        <p:spPr>
          <a:xfrm>
            <a:off x="4860985" y="2715788"/>
            <a:ext cx="992156" cy="116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xmlns="" id="{BBA55220-0A3C-FB05-7E36-C68DDF50F072}"/>
              </a:ext>
            </a:extLst>
          </p:cNvPr>
          <p:cNvCxnSpPr>
            <a:cxnSpLocks/>
          </p:cNvCxnSpPr>
          <p:nvPr/>
        </p:nvCxnSpPr>
        <p:spPr>
          <a:xfrm>
            <a:off x="6126191" y="2715788"/>
            <a:ext cx="1980000" cy="1163"/>
          </a:xfrm>
          <a:prstGeom prst="line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xmlns="" id="{CF73AECF-36D3-CBDF-5806-CA480B4C4499}"/>
              </a:ext>
            </a:extLst>
          </p:cNvPr>
          <p:cNvCxnSpPr>
            <a:cxnSpLocks/>
          </p:cNvCxnSpPr>
          <p:nvPr/>
        </p:nvCxnSpPr>
        <p:spPr>
          <a:xfrm flipH="1" flipV="1">
            <a:off x="7232357" y="2715838"/>
            <a:ext cx="625" cy="18000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xmlns="" id="{A0680E3E-2512-6A1A-E3EA-44839A3E0D64}"/>
              </a:ext>
            </a:extLst>
          </p:cNvPr>
          <p:cNvCxnSpPr>
            <a:cxnSpLocks/>
            <a:endCxn id="52" idx="2"/>
          </p:cNvCxnSpPr>
          <p:nvPr/>
        </p:nvCxnSpPr>
        <p:spPr>
          <a:xfrm flipV="1">
            <a:off x="6706422" y="3465477"/>
            <a:ext cx="393753" cy="270625"/>
          </a:xfrm>
          <a:prstGeom prst="bentConnector3">
            <a:avLst>
              <a:gd name="adj1" fmla="val 162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xmlns="" id="{A4015C41-4587-E1BF-7A8F-3DF236C02ABD}"/>
              </a:ext>
            </a:extLst>
          </p:cNvPr>
          <p:cNvCxnSpPr>
            <a:stCxn id="10" idx="0"/>
            <a:endCxn id="37" idx="2"/>
          </p:cNvCxnSpPr>
          <p:nvPr/>
        </p:nvCxnSpPr>
        <p:spPr>
          <a:xfrm rot="5400000" flipH="1" flipV="1">
            <a:off x="5437228" y="3316849"/>
            <a:ext cx="270625" cy="567882"/>
          </a:xfrm>
          <a:prstGeom prst="bentConnector2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xmlns="" id="{089EBFBE-86AF-DCA0-9896-A6D5E6FBA8F6}"/>
              </a:ext>
            </a:extLst>
          </p:cNvPr>
          <p:cNvCxnSpPr>
            <a:cxnSpLocks/>
          </p:cNvCxnSpPr>
          <p:nvPr/>
        </p:nvCxnSpPr>
        <p:spPr>
          <a:xfrm>
            <a:off x="7233694" y="4241954"/>
            <a:ext cx="876634" cy="0"/>
          </a:xfrm>
          <a:prstGeom prst="line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xmlns="" id="{10EF1A2A-AF97-E7D2-178C-FFE80B3251D1}"/>
              </a:ext>
            </a:extLst>
          </p:cNvPr>
          <p:cNvCxnSpPr>
            <a:cxnSpLocks/>
            <a:endCxn id="52" idx="4"/>
          </p:cNvCxnSpPr>
          <p:nvPr/>
        </p:nvCxnSpPr>
        <p:spPr>
          <a:xfrm flipV="1">
            <a:off x="7236700" y="3602002"/>
            <a:ext cx="0" cy="63995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xmlns="" id="{C0636B7D-2A5C-4392-28D4-DBDF85E54A2A}"/>
              </a:ext>
            </a:extLst>
          </p:cNvPr>
          <p:cNvCxnSpPr>
            <a:cxnSpLocks/>
          </p:cNvCxnSpPr>
          <p:nvPr/>
        </p:nvCxnSpPr>
        <p:spPr>
          <a:xfrm flipV="1">
            <a:off x="7650185" y="2204176"/>
            <a:ext cx="0" cy="46800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xmlns="" id="{F7CB8566-5FA8-4AE1-E1A3-37AA355FE51D}"/>
              </a:ext>
            </a:extLst>
          </p:cNvPr>
          <p:cNvCxnSpPr>
            <a:cxnSpLocks/>
          </p:cNvCxnSpPr>
          <p:nvPr/>
        </p:nvCxnSpPr>
        <p:spPr>
          <a:xfrm flipH="1" flipV="1">
            <a:off x="7650185" y="2756590"/>
            <a:ext cx="625" cy="147600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xmlns="" id="{A6D9F0B4-913F-1EED-8A29-810518E05463}"/>
              </a:ext>
            </a:extLst>
          </p:cNvPr>
          <p:cNvSpPr/>
          <p:nvPr/>
        </p:nvSpPr>
        <p:spPr>
          <a:xfrm>
            <a:off x="492094" y="2438176"/>
            <a:ext cx="3522024" cy="19812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6000" dirty="0"/>
              <a:t>A</a:t>
            </a:r>
            <a:endParaRPr lang="en-US" dirty="0"/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xmlns="" id="{092FA1F5-FD24-F58C-C0EA-B1FA15F86729}"/>
              </a:ext>
            </a:extLst>
          </p:cNvPr>
          <p:cNvCxnSpPr>
            <a:cxnSpLocks/>
          </p:cNvCxnSpPr>
          <p:nvPr/>
        </p:nvCxnSpPr>
        <p:spPr>
          <a:xfrm>
            <a:off x="4012696" y="2715788"/>
            <a:ext cx="212435" cy="0"/>
          </a:xfrm>
          <a:prstGeom prst="line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xmlns="" id="{C2AF8E87-6151-A661-474A-AD4443F2A4DC}"/>
              </a:ext>
            </a:extLst>
          </p:cNvPr>
          <p:cNvCxnSpPr>
            <a:cxnSpLocks/>
          </p:cNvCxnSpPr>
          <p:nvPr/>
        </p:nvCxnSpPr>
        <p:spPr>
          <a:xfrm flipV="1">
            <a:off x="3971971" y="4234824"/>
            <a:ext cx="575239" cy="16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xmlns="" id="{E38F9929-0D9E-7BAE-3976-F3AACAC47318}"/>
              </a:ext>
            </a:extLst>
          </p:cNvPr>
          <p:cNvCxnSpPr>
            <a:cxnSpLocks/>
          </p:cNvCxnSpPr>
          <p:nvPr/>
        </p:nvCxnSpPr>
        <p:spPr>
          <a:xfrm>
            <a:off x="3971971" y="4238634"/>
            <a:ext cx="212435" cy="0"/>
          </a:xfrm>
          <a:prstGeom prst="line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xmlns="" id="{0549E296-9BF6-1073-36A7-44A6BC84E646}"/>
              </a:ext>
            </a:extLst>
          </p:cNvPr>
          <p:cNvSpPr/>
          <p:nvPr/>
        </p:nvSpPr>
        <p:spPr>
          <a:xfrm>
            <a:off x="8083166" y="2438176"/>
            <a:ext cx="3522024" cy="19812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6000" dirty="0"/>
              <a:t>A</a:t>
            </a:r>
            <a:endParaRPr lang="en-US" dirty="0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xmlns="" id="{3F4FFE22-901A-5ECB-8DD0-DE274D49C1CE}"/>
              </a:ext>
            </a:extLst>
          </p:cNvPr>
          <p:cNvCxnSpPr>
            <a:cxnSpLocks/>
          </p:cNvCxnSpPr>
          <p:nvPr/>
        </p:nvCxnSpPr>
        <p:spPr>
          <a:xfrm>
            <a:off x="11572921" y="4241954"/>
            <a:ext cx="212435" cy="0"/>
          </a:xfrm>
          <a:prstGeom prst="line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xmlns="" id="{63C39462-6C16-B627-F0AA-034DBCEEAFBA}"/>
              </a:ext>
            </a:extLst>
          </p:cNvPr>
          <p:cNvCxnSpPr>
            <a:cxnSpLocks/>
          </p:cNvCxnSpPr>
          <p:nvPr/>
        </p:nvCxnSpPr>
        <p:spPr>
          <a:xfrm>
            <a:off x="11606773" y="2715942"/>
            <a:ext cx="212435" cy="0"/>
          </a:xfrm>
          <a:prstGeom prst="line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xmlns="" id="{74B7AA29-1794-6E8C-61F5-28A8A04CC1A1}"/>
                  </a:ext>
                </a:extLst>
              </p:cNvPr>
              <p:cNvSpPr txBox="1"/>
              <p:nvPr/>
            </p:nvSpPr>
            <p:spPr>
              <a:xfrm>
                <a:off x="234415" y="4579126"/>
                <a:ext cx="10245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4B7AA29-1794-6E8C-61F5-28A8A04CC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415" y="4579126"/>
                <a:ext cx="1024570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xmlns="" id="{922EF61C-EF99-D374-EA91-A8D137ADC993}"/>
              </a:ext>
            </a:extLst>
          </p:cNvPr>
          <p:cNvCxnSpPr>
            <a:cxnSpLocks/>
          </p:cNvCxnSpPr>
          <p:nvPr/>
        </p:nvCxnSpPr>
        <p:spPr>
          <a:xfrm flipV="1">
            <a:off x="702412" y="4392609"/>
            <a:ext cx="0" cy="2880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xmlns="" id="{A2DA2877-36E8-DE52-7D68-11E5A3DA45FF}"/>
              </a:ext>
            </a:extLst>
          </p:cNvPr>
          <p:cNvCxnSpPr>
            <a:cxnSpLocks/>
          </p:cNvCxnSpPr>
          <p:nvPr/>
        </p:nvCxnSpPr>
        <p:spPr>
          <a:xfrm flipV="1">
            <a:off x="8276770" y="4392609"/>
            <a:ext cx="0" cy="2880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xmlns="" id="{E7D096F0-65EF-76A1-E864-DEFDD7B1DF2E}"/>
              </a:ext>
            </a:extLst>
          </p:cNvPr>
          <p:cNvCxnSpPr>
            <a:cxnSpLocks/>
          </p:cNvCxnSpPr>
          <p:nvPr/>
        </p:nvCxnSpPr>
        <p:spPr>
          <a:xfrm flipV="1">
            <a:off x="11404780" y="2212072"/>
            <a:ext cx="0" cy="273953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xmlns="" id="{43419660-66CC-40DA-03A8-9CA6E7C0AF37}"/>
              </a:ext>
            </a:extLst>
          </p:cNvPr>
          <p:cNvCxnSpPr>
            <a:cxnSpLocks/>
          </p:cNvCxnSpPr>
          <p:nvPr/>
        </p:nvCxnSpPr>
        <p:spPr>
          <a:xfrm flipV="1">
            <a:off x="3693922" y="2204176"/>
            <a:ext cx="0" cy="23400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67B8102E-31B3-C3A9-13A3-0364FF9802EB}"/>
                  </a:ext>
                </a:extLst>
              </p:cNvPr>
              <p:cNvSpPr/>
              <p:nvPr/>
            </p:nvSpPr>
            <p:spPr>
              <a:xfrm>
                <a:off x="2646845" y="5294767"/>
                <a:ext cx="375794" cy="297872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7B8102E-31B3-C3A9-13A3-0364FF9802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6845" y="5294767"/>
                <a:ext cx="375794" cy="29787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4483E7F-A937-DCD5-593D-9BF0A521317D}"/>
              </a:ext>
            </a:extLst>
          </p:cNvPr>
          <p:cNvSpPr txBox="1"/>
          <p:nvPr/>
        </p:nvSpPr>
        <p:spPr>
          <a:xfrm>
            <a:off x="1991126" y="5592639"/>
            <a:ext cx="17050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Camada densa com ativação sigmoide</a:t>
            </a:r>
            <a:endParaRPr lang="en-US" sz="14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A10A206D-DE0F-FE1C-4415-C2DFE8541DE1}"/>
              </a:ext>
            </a:extLst>
          </p:cNvPr>
          <p:cNvSpPr/>
          <p:nvPr/>
        </p:nvSpPr>
        <p:spPr>
          <a:xfrm>
            <a:off x="5608613" y="5288522"/>
            <a:ext cx="273050" cy="2730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601EEF9-98B3-9F64-F85F-07641BA1F0E3}"/>
              </a:ext>
            </a:extLst>
          </p:cNvPr>
          <p:cNvSpPr txBox="1"/>
          <p:nvPr/>
        </p:nvSpPr>
        <p:spPr>
          <a:xfrm>
            <a:off x="5139666" y="5533393"/>
            <a:ext cx="12109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 err="1"/>
              <a:t>operação</a:t>
            </a:r>
            <a:r>
              <a:rPr lang="en-US" sz="1400" dirty="0"/>
              <a:t> </a:t>
            </a:r>
            <a:r>
              <a:rPr lang="en-US" sz="1400" dirty="0" err="1"/>
              <a:t>pontual</a:t>
            </a:r>
            <a:endParaRPr lang="en-US" sz="14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4CCF47AF-2D48-1D6C-D27B-0CC557A4D3BC}"/>
              </a:ext>
            </a:extLst>
          </p:cNvPr>
          <p:cNvCxnSpPr>
            <a:cxnSpLocks/>
          </p:cNvCxnSpPr>
          <p:nvPr/>
        </p:nvCxnSpPr>
        <p:spPr>
          <a:xfrm>
            <a:off x="6637778" y="5441203"/>
            <a:ext cx="576000" cy="0"/>
          </a:xfrm>
          <a:prstGeom prst="line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4D46D6C-FBD0-36BF-A4A0-F0AA4C62BC59}"/>
              </a:ext>
            </a:extLst>
          </p:cNvPr>
          <p:cNvSpPr txBox="1"/>
          <p:nvPr/>
        </p:nvSpPr>
        <p:spPr>
          <a:xfrm>
            <a:off x="6275192" y="5531005"/>
            <a:ext cx="12109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 err="1"/>
              <a:t>transferência</a:t>
            </a:r>
            <a:r>
              <a:rPr lang="en-US" sz="1400" dirty="0"/>
              <a:t> de </a:t>
            </a:r>
            <a:r>
              <a:rPr lang="en-US" sz="1400" dirty="0" err="1"/>
              <a:t>vetor</a:t>
            </a:r>
            <a:endParaRPr lang="en-US" sz="14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87FE6DA6-5752-4BD9-4B22-C5A902BD5C6B}"/>
              </a:ext>
            </a:extLst>
          </p:cNvPr>
          <p:cNvCxnSpPr>
            <a:cxnSpLocks/>
          </p:cNvCxnSpPr>
          <p:nvPr/>
        </p:nvCxnSpPr>
        <p:spPr>
          <a:xfrm>
            <a:off x="7871574" y="5441203"/>
            <a:ext cx="576000" cy="0"/>
          </a:xfrm>
          <a:prstGeom prst="line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4AA379DA-FDF4-4C2E-212F-301E5D1A6625}"/>
              </a:ext>
            </a:extLst>
          </p:cNvPr>
          <p:cNvCxnSpPr/>
          <p:nvPr/>
        </p:nvCxnSpPr>
        <p:spPr>
          <a:xfrm>
            <a:off x="8134689" y="5434573"/>
            <a:ext cx="0" cy="29041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2C1639E-62C8-EF4F-BC59-06D35F047F64}"/>
              </a:ext>
            </a:extLst>
          </p:cNvPr>
          <p:cNvSpPr txBox="1"/>
          <p:nvPr/>
        </p:nvSpPr>
        <p:spPr>
          <a:xfrm>
            <a:off x="7538311" y="5690289"/>
            <a:ext cx="12109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 err="1"/>
              <a:t>concatenação</a:t>
            </a:r>
            <a:endParaRPr lang="en-US" sz="14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456BE94A-7B45-0DB7-05F1-86A17C409BD0}"/>
              </a:ext>
            </a:extLst>
          </p:cNvPr>
          <p:cNvCxnSpPr>
            <a:cxnSpLocks/>
          </p:cNvCxnSpPr>
          <p:nvPr/>
        </p:nvCxnSpPr>
        <p:spPr>
          <a:xfrm>
            <a:off x="9030310" y="5689985"/>
            <a:ext cx="576000" cy="0"/>
          </a:xfrm>
          <a:prstGeom prst="line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0868D48C-258F-30A1-C079-D3E227346BD5}"/>
              </a:ext>
            </a:extLst>
          </p:cNvPr>
          <p:cNvCxnSpPr/>
          <p:nvPr/>
        </p:nvCxnSpPr>
        <p:spPr>
          <a:xfrm>
            <a:off x="9293364" y="5385798"/>
            <a:ext cx="0" cy="290413"/>
          </a:xfrm>
          <a:prstGeom prst="line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82CB8A93-557A-5259-EB5A-85D7D4D96AD1}"/>
              </a:ext>
            </a:extLst>
          </p:cNvPr>
          <p:cNvSpPr txBox="1"/>
          <p:nvPr/>
        </p:nvSpPr>
        <p:spPr>
          <a:xfrm>
            <a:off x="8664743" y="5681618"/>
            <a:ext cx="12109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 err="1"/>
              <a:t>cópia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2246AAD0-1376-49ED-6106-0413203680D6}"/>
                  </a:ext>
                </a:extLst>
              </p:cNvPr>
              <p:cNvSpPr txBox="1"/>
              <p:nvPr/>
            </p:nvSpPr>
            <p:spPr>
              <a:xfrm>
                <a:off x="4285614" y="4613929"/>
                <a:ext cx="43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246AAD0-1376-49ED-6106-041320368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614" y="4613929"/>
                <a:ext cx="432000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xmlns="" id="{679AA4D9-0CBE-CBE0-7232-D2B675E04931}"/>
                  </a:ext>
                </a:extLst>
              </p:cNvPr>
              <p:cNvSpPr txBox="1"/>
              <p:nvPr/>
            </p:nvSpPr>
            <p:spPr>
              <a:xfrm>
                <a:off x="7870263" y="4592155"/>
                <a:ext cx="8852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79AA4D9-0CBE-CBE0-7232-D2B675E04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0263" y="4592155"/>
                <a:ext cx="885222" cy="3693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xmlns="" id="{96FA6F2C-8E33-655A-EAEF-0D0E286BD191}"/>
                  </a:ext>
                </a:extLst>
              </p:cNvPr>
              <p:cNvSpPr txBox="1"/>
              <p:nvPr/>
            </p:nvSpPr>
            <p:spPr>
              <a:xfrm>
                <a:off x="10900134" y="1834844"/>
                <a:ext cx="8852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6FA6F2C-8E33-655A-EAEF-0D0E286BD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0134" y="1834844"/>
                <a:ext cx="885222" cy="36933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xmlns="" id="{2E911784-46DC-FD4B-8F99-C5D6064602E6}"/>
                  </a:ext>
                </a:extLst>
              </p:cNvPr>
              <p:cNvSpPr txBox="1"/>
              <p:nvPr/>
            </p:nvSpPr>
            <p:spPr>
              <a:xfrm>
                <a:off x="7229557" y="1834844"/>
                <a:ext cx="8852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E911784-46DC-FD4B-8F99-C5D606460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9557" y="1834844"/>
                <a:ext cx="885222" cy="369332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xmlns="" id="{5276B13D-7144-BE36-299F-CE78D79813D4}"/>
                  </a:ext>
                </a:extLst>
              </p:cNvPr>
              <p:cNvSpPr txBox="1"/>
              <p:nvPr/>
            </p:nvSpPr>
            <p:spPr>
              <a:xfrm>
                <a:off x="3237173" y="1834844"/>
                <a:ext cx="8852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276B13D-7144-BE36-299F-CE78D7981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173" y="1834844"/>
                <a:ext cx="885222" cy="369332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xmlns="" id="{8A9D5604-42D8-94B0-F0FA-40F8A5FE0687}"/>
              </a:ext>
            </a:extLst>
          </p:cNvPr>
          <p:cNvSpPr/>
          <p:nvPr/>
        </p:nvSpPr>
        <p:spPr>
          <a:xfrm>
            <a:off x="4263911" y="5283385"/>
            <a:ext cx="588587" cy="29787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 err="1">
                <a:solidFill>
                  <a:schemeClr val="tx1"/>
                </a:solidFill>
              </a:rPr>
              <a:t>tanh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36895CF3-782C-C5FB-0D92-D28EF588D039}"/>
              </a:ext>
            </a:extLst>
          </p:cNvPr>
          <p:cNvSpPr txBox="1"/>
          <p:nvPr/>
        </p:nvSpPr>
        <p:spPr>
          <a:xfrm>
            <a:off x="3608193" y="5581257"/>
            <a:ext cx="17050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Camada densa com ativação </a:t>
            </a:r>
            <a:r>
              <a:rPr lang="pt-BR" sz="1400" dirty="0" err="1"/>
              <a:t>tanh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4756579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D4EC042-7CB7-B389-4F07-73C2D81EF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975628" y="1834844"/>
            <a:ext cx="7884560" cy="4465463"/>
            <a:chOff x="1975628" y="1834844"/>
            <a:chExt cx="7884560" cy="4465463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xmlns="" id="{62617247-07D2-6657-99D1-398FE3BE06C0}"/>
                </a:ext>
              </a:extLst>
            </p:cNvPr>
            <p:cNvGrpSpPr/>
            <p:nvPr/>
          </p:nvGrpSpPr>
          <p:grpSpPr>
            <a:xfrm>
              <a:off x="3489806" y="1834844"/>
              <a:ext cx="5319746" cy="3227138"/>
              <a:chOff x="3489806" y="1834844"/>
              <a:chExt cx="5319746" cy="3227138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xmlns="" id="{F9B84FA2-83D7-7AD8-9610-5A415E5EE1A1}"/>
                  </a:ext>
                </a:extLst>
              </p:cNvPr>
              <p:cNvSpPr/>
              <p:nvPr/>
            </p:nvSpPr>
            <p:spPr>
              <a:xfrm>
                <a:off x="4301176" y="2438400"/>
                <a:ext cx="3522024" cy="1981200"/>
              </a:xfrm>
              <a:prstGeom prst="round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xmlns="" id="{62E9A632-1F8F-BB2C-9A7A-07DEA62B46A1}"/>
                      </a:ext>
                    </a:extLst>
                  </p:cNvPr>
                  <p:cNvSpPr/>
                  <p:nvPr/>
                </p:nvSpPr>
                <p:spPr>
                  <a:xfrm>
                    <a:off x="4558205" y="3736102"/>
                    <a:ext cx="332510" cy="297872"/>
                  </a:xfrm>
                  <a:prstGeom prst="rect">
                    <a:avLst/>
                  </a:prstGeom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62E9A632-1F8F-BB2C-9A7A-07DEA62B46A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58205" y="3736102"/>
                    <a:ext cx="332510" cy="29787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xmlns="" id="{9B13C382-E365-0604-E2B1-4396795DE5DD}"/>
                      </a:ext>
                    </a:extLst>
                  </p:cNvPr>
                  <p:cNvSpPr/>
                  <p:nvPr/>
                </p:nvSpPr>
                <p:spPr>
                  <a:xfrm>
                    <a:off x="5122344" y="3736102"/>
                    <a:ext cx="332510" cy="297872"/>
                  </a:xfrm>
                  <a:prstGeom prst="rect">
                    <a:avLst/>
                  </a:prstGeom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9B13C382-E365-0604-E2B1-4396795DE5D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22344" y="3736102"/>
                    <a:ext cx="332510" cy="29787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xmlns="" id="{28298EA5-A736-9895-9469-3658052D65D0}"/>
                      </a:ext>
                    </a:extLst>
                  </p:cNvPr>
                  <p:cNvSpPr/>
                  <p:nvPr/>
                </p:nvSpPr>
                <p:spPr>
                  <a:xfrm>
                    <a:off x="6540167" y="3738898"/>
                    <a:ext cx="332510" cy="297872"/>
                  </a:xfrm>
                  <a:prstGeom prst="rect">
                    <a:avLst/>
                  </a:prstGeom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28298EA5-A736-9895-9469-3658052D65D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40167" y="3738898"/>
                    <a:ext cx="332510" cy="29787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xmlns="" id="{FE2E3973-7BB3-5423-9E41-4A439D4AD2FA}"/>
                  </a:ext>
                </a:extLst>
              </p:cNvPr>
              <p:cNvSpPr/>
              <p:nvPr/>
            </p:nvSpPr>
            <p:spPr>
              <a:xfrm>
                <a:off x="5686483" y="3736102"/>
                <a:ext cx="614781" cy="297872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 err="1">
                    <a:solidFill>
                      <a:schemeClr val="tx1"/>
                    </a:solidFill>
                  </a:rPr>
                  <a:t>tanh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xmlns="" id="{357EC369-9B76-A27D-EDC3-890F0716751F}"/>
                  </a:ext>
                </a:extLst>
              </p:cNvPr>
              <p:cNvGrpSpPr/>
              <p:nvPr/>
            </p:nvGrpSpPr>
            <p:grpSpPr>
              <a:xfrm>
                <a:off x="6922167" y="2849398"/>
                <a:ext cx="627482" cy="369332"/>
                <a:chOff x="6108367" y="2910505"/>
                <a:chExt cx="627482" cy="369332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xmlns="" id="{1105FA2D-CACC-93FD-8147-BCE771CE8357}"/>
                    </a:ext>
                  </a:extLst>
                </p:cNvPr>
                <p:cNvSpPr/>
                <p:nvPr/>
              </p:nvSpPr>
              <p:spPr>
                <a:xfrm>
                  <a:off x="6108367" y="2964609"/>
                  <a:ext cx="614781" cy="297873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 dirty="0"/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xmlns="" id="{007EE48F-7B86-5BD2-1F8C-469594A636F0}"/>
                    </a:ext>
                  </a:extLst>
                </p:cNvPr>
                <p:cNvSpPr txBox="1"/>
                <p:nvPr/>
              </p:nvSpPr>
              <p:spPr>
                <a:xfrm>
                  <a:off x="6108701" y="2910505"/>
                  <a:ext cx="62714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pt-BR" dirty="0" err="1">
                      <a:solidFill>
                        <a:schemeClr val="tx1"/>
                      </a:solidFill>
                    </a:rPr>
                    <a:t>tanh</a:t>
                  </a:r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xmlns="" id="{734FE972-9F06-C11C-3F53-9D4666EC5095}"/>
                  </a:ext>
                </a:extLst>
              </p:cNvPr>
              <p:cNvSpPr/>
              <p:nvPr/>
            </p:nvSpPr>
            <p:spPr>
              <a:xfrm>
                <a:off x="4587935" y="2579263"/>
                <a:ext cx="273050" cy="27305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x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xmlns="" id="{EA318A7D-6AD1-A164-9144-BD5F28A4E7B7}"/>
                  </a:ext>
                </a:extLst>
              </p:cNvPr>
              <p:cNvCxnSpPr>
                <a:stCxn id="8" idx="0"/>
                <a:endCxn id="17" idx="4"/>
              </p:cNvCxnSpPr>
              <p:nvPr/>
            </p:nvCxnSpPr>
            <p:spPr>
              <a:xfrm flipV="1">
                <a:off x="4724460" y="2852313"/>
                <a:ext cx="0" cy="883789"/>
              </a:xfrm>
              <a:prstGeom prst="straightConnector1">
                <a:avLst/>
              </a:prstGeom>
              <a:ln w="1905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Connector: Elbow 29">
                <a:extLst>
                  <a:ext uri="{FF2B5EF4-FFF2-40B4-BE49-F238E27FC236}">
                    <a16:creationId xmlns:a16="http://schemas.microsoft.com/office/drawing/2014/main" xmlns="" id="{AE5B4441-DF89-25A1-3560-8E5404670E96}"/>
                  </a:ext>
                </a:extLst>
              </p:cNvPr>
              <p:cNvCxnSpPr>
                <a:cxnSpLocks/>
                <a:endCxn id="11" idx="2"/>
              </p:cNvCxnSpPr>
              <p:nvPr/>
            </p:nvCxnSpPr>
            <p:spPr>
              <a:xfrm flipV="1">
                <a:off x="4031369" y="4036770"/>
                <a:ext cx="2675053" cy="214575"/>
              </a:xfrm>
              <a:prstGeom prst="bentConnector2">
                <a:avLst/>
              </a:prstGeom>
              <a:ln w="1905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xmlns="" id="{0093E439-25EF-02C4-D9C2-A1FE29C3AD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4460" y="4033974"/>
                <a:ext cx="0" cy="211613"/>
              </a:xfrm>
              <a:prstGeom prst="line">
                <a:avLst/>
              </a:prstGeom>
              <a:ln w="19050">
                <a:headEnd type="triangl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xmlns="" id="{A60E907D-7CA5-2C6C-E31F-2F003AE9D0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83260" y="4033974"/>
                <a:ext cx="0" cy="211613"/>
              </a:xfrm>
              <a:prstGeom prst="line">
                <a:avLst/>
              </a:prstGeom>
              <a:ln w="19050">
                <a:headEnd type="triangl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xmlns="" id="{137E1A15-7B2A-4277-FFA1-74355E9235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88110" y="4033974"/>
                <a:ext cx="0" cy="211613"/>
              </a:xfrm>
              <a:prstGeom prst="line">
                <a:avLst/>
              </a:prstGeom>
              <a:ln w="19050">
                <a:headEnd type="triangl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xmlns="" id="{D93AEA26-EC0B-1E3E-D68C-6CE9227A173D}"/>
                  </a:ext>
                </a:extLst>
              </p:cNvPr>
              <p:cNvSpPr/>
              <p:nvPr/>
            </p:nvSpPr>
            <p:spPr>
              <a:xfrm>
                <a:off x="5856481" y="3328952"/>
                <a:ext cx="273050" cy="27305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x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xmlns="" id="{461F8C01-4628-007D-8EE8-08D26131E8B9}"/>
                  </a:ext>
                </a:extLst>
              </p:cNvPr>
              <p:cNvCxnSpPr>
                <a:cxnSpLocks/>
                <a:stCxn id="12" idx="0"/>
                <a:endCxn id="37" idx="4"/>
              </p:cNvCxnSpPr>
              <p:nvPr/>
            </p:nvCxnSpPr>
            <p:spPr>
              <a:xfrm flipH="1" flipV="1">
                <a:off x="5993006" y="3602002"/>
                <a:ext cx="868" cy="134100"/>
              </a:xfrm>
              <a:prstGeom prst="straightConnector1">
                <a:avLst/>
              </a:prstGeom>
              <a:ln w="1905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xmlns="" id="{F5D0673A-6CCA-67DE-BB0A-0EAB5B641853}"/>
                  </a:ext>
                </a:extLst>
              </p:cNvPr>
              <p:cNvSpPr/>
              <p:nvPr/>
            </p:nvSpPr>
            <p:spPr>
              <a:xfrm>
                <a:off x="5853141" y="2580426"/>
                <a:ext cx="273050" cy="27305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+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xmlns="" id="{34707AEE-8AB6-332F-D775-5D47B6EAB570}"/>
                  </a:ext>
                </a:extLst>
              </p:cNvPr>
              <p:cNvCxnSpPr>
                <a:cxnSpLocks/>
                <a:stCxn id="37" idx="0"/>
                <a:endCxn id="48" idx="4"/>
              </p:cNvCxnSpPr>
              <p:nvPr/>
            </p:nvCxnSpPr>
            <p:spPr>
              <a:xfrm flipH="1" flipV="1">
                <a:off x="5989666" y="2853476"/>
                <a:ext cx="3340" cy="475476"/>
              </a:xfrm>
              <a:prstGeom prst="straightConnector1">
                <a:avLst/>
              </a:prstGeom>
              <a:ln w="1905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xmlns="" id="{E3FDEDCE-1E3B-8147-4D13-A242E9C2B33E}"/>
                  </a:ext>
                </a:extLst>
              </p:cNvPr>
              <p:cNvSpPr/>
              <p:nvPr/>
            </p:nvSpPr>
            <p:spPr>
              <a:xfrm>
                <a:off x="7100175" y="3328952"/>
                <a:ext cx="273050" cy="27305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x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xmlns="" id="{06E60737-7998-C245-9FB1-6B1755A8F2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236075" y="3192538"/>
                <a:ext cx="625" cy="144000"/>
              </a:xfrm>
              <a:prstGeom prst="line">
                <a:avLst/>
              </a:prstGeom>
              <a:ln w="19050">
                <a:headEnd type="triangl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xmlns="" id="{FE690B6A-0885-819C-6118-6C7D093B193B}"/>
                  </a:ext>
                </a:extLst>
              </p:cNvPr>
              <p:cNvCxnSpPr>
                <a:cxnSpLocks/>
                <a:endCxn id="17" idx="2"/>
              </p:cNvCxnSpPr>
              <p:nvPr/>
            </p:nvCxnSpPr>
            <p:spPr>
              <a:xfrm flipV="1">
                <a:off x="4012696" y="2715788"/>
                <a:ext cx="575239" cy="168"/>
              </a:xfrm>
              <a:prstGeom prst="line">
                <a:avLst/>
              </a:prstGeom>
              <a:ln w="1905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xmlns="" id="{4E0DA3A1-C433-12FD-E043-1BB3EB5D0076}"/>
                  </a:ext>
                </a:extLst>
              </p:cNvPr>
              <p:cNvCxnSpPr>
                <a:cxnSpLocks/>
                <a:stCxn id="17" idx="6"/>
                <a:endCxn id="48" idx="2"/>
              </p:cNvCxnSpPr>
              <p:nvPr/>
            </p:nvCxnSpPr>
            <p:spPr>
              <a:xfrm>
                <a:off x="4860985" y="2715788"/>
                <a:ext cx="992156" cy="1163"/>
              </a:xfrm>
              <a:prstGeom prst="line">
                <a:avLst/>
              </a:prstGeom>
              <a:ln w="1905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xmlns="" id="{A63A645C-4CC1-5896-32E8-305EA54E21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26191" y="2715788"/>
                <a:ext cx="1980000" cy="1163"/>
              </a:xfrm>
              <a:prstGeom prst="line">
                <a:avLst/>
              </a:prstGeom>
              <a:ln w="1905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xmlns="" id="{C7FF5E71-FB7D-9609-3FC5-AD13B5F1C3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232357" y="2715838"/>
                <a:ext cx="625" cy="180000"/>
              </a:xfrm>
              <a:prstGeom prst="line">
                <a:avLst/>
              </a:prstGeom>
              <a:ln w="19050">
                <a:headEnd type="triangl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Connector: Elbow 77">
                <a:extLst>
                  <a:ext uri="{FF2B5EF4-FFF2-40B4-BE49-F238E27FC236}">
                    <a16:creationId xmlns:a16="http://schemas.microsoft.com/office/drawing/2014/main" xmlns="" id="{942AD4B1-3DFB-E8BA-0218-D9E850190EBC}"/>
                  </a:ext>
                </a:extLst>
              </p:cNvPr>
              <p:cNvCxnSpPr>
                <a:cxnSpLocks/>
                <a:endCxn id="52" idx="2"/>
              </p:cNvCxnSpPr>
              <p:nvPr/>
            </p:nvCxnSpPr>
            <p:spPr>
              <a:xfrm flipV="1">
                <a:off x="6706422" y="3465477"/>
                <a:ext cx="393753" cy="270625"/>
              </a:xfrm>
              <a:prstGeom prst="bentConnector3">
                <a:avLst>
                  <a:gd name="adj1" fmla="val 1620"/>
                </a:avLst>
              </a:prstGeom>
              <a:ln w="1905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Connector: Elbow 82">
                <a:extLst>
                  <a:ext uri="{FF2B5EF4-FFF2-40B4-BE49-F238E27FC236}">
                    <a16:creationId xmlns:a16="http://schemas.microsoft.com/office/drawing/2014/main" xmlns="" id="{4D8692E4-6CA5-D2CA-A76D-73771408476E}"/>
                  </a:ext>
                </a:extLst>
              </p:cNvPr>
              <p:cNvCxnSpPr>
                <a:stCxn id="10" idx="0"/>
                <a:endCxn id="37" idx="2"/>
              </p:cNvCxnSpPr>
              <p:nvPr/>
            </p:nvCxnSpPr>
            <p:spPr>
              <a:xfrm rot="5400000" flipH="1" flipV="1">
                <a:off x="5437228" y="3316849"/>
                <a:ext cx="270625" cy="567882"/>
              </a:xfrm>
              <a:prstGeom prst="bentConnector2">
                <a:avLst/>
              </a:prstGeom>
              <a:ln w="1905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xmlns="" id="{9FE0230A-FA48-1674-EE72-563556A3AD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3694" y="4241954"/>
                <a:ext cx="876634" cy="0"/>
              </a:xfrm>
              <a:prstGeom prst="line">
                <a:avLst/>
              </a:prstGeom>
              <a:ln w="1905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xmlns="" id="{DD806146-5F28-31BB-C91D-206A9C7C1949}"/>
                  </a:ext>
                </a:extLst>
              </p:cNvPr>
              <p:cNvCxnSpPr>
                <a:cxnSpLocks/>
                <a:endCxn id="52" idx="4"/>
              </p:cNvCxnSpPr>
              <p:nvPr/>
            </p:nvCxnSpPr>
            <p:spPr>
              <a:xfrm flipV="1">
                <a:off x="7236700" y="3602002"/>
                <a:ext cx="0" cy="639952"/>
              </a:xfrm>
              <a:prstGeom prst="line">
                <a:avLst/>
              </a:prstGeom>
              <a:ln w="19050"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xmlns="" id="{97AFC188-C5E0-E364-C3F7-EF901703C4F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50185" y="2204176"/>
                <a:ext cx="0" cy="468000"/>
              </a:xfrm>
              <a:prstGeom prst="straightConnector1">
                <a:avLst/>
              </a:prstGeom>
              <a:ln w="1905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xmlns="" id="{5C32825B-E0C6-9CDA-AFFC-FEF61AC5A16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650185" y="2756590"/>
                <a:ext cx="625" cy="1476000"/>
              </a:xfrm>
              <a:prstGeom prst="line">
                <a:avLst/>
              </a:prstGeom>
              <a:ln w="19050"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xmlns="" id="{CE32A260-F120-9DD1-2C21-2F72B830F80E}"/>
                      </a:ext>
                    </a:extLst>
                  </p:cNvPr>
                  <p:cNvSpPr txBox="1"/>
                  <p:nvPr/>
                </p:nvSpPr>
                <p:spPr>
                  <a:xfrm>
                    <a:off x="3582865" y="4033974"/>
                    <a:ext cx="43200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CE32A260-F120-9DD1-2C21-2F72B830F8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82865" y="4033974"/>
                    <a:ext cx="432000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8169" r="-563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xmlns="" id="{CB757A62-58FF-F46D-A7A5-BC95B2F299AF}"/>
                      </a:ext>
                    </a:extLst>
                  </p:cNvPr>
                  <p:cNvSpPr txBox="1"/>
                  <p:nvPr/>
                </p:nvSpPr>
                <p:spPr>
                  <a:xfrm>
                    <a:off x="8030169" y="2525610"/>
                    <a:ext cx="589341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CB757A62-58FF-F46D-A7A5-BC95B2F299A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30169" y="2525610"/>
                    <a:ext cx="589341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xmlns="" id="{B53DAB36-7F1E-A38E-607F-E5656744709C}"/>
                      </a:ext>
                    </a:extLst>
                  </p:cNvPr>
                  <p:cNvSpPr txBox="1"/>
                  <p:nvPr/>
                </p:nvSpPr>
                <p:spPr>
                  <a:xfrm>
                    <a:off x="7229557" y="1834844"/>
                    <a:ext cx="88522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B53DAB36-7F1E-A38E-607F-E5656744709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29557" y="1834844"/>
                    <a:ext cx="885222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xmlns="" id="{D5B871EC-42BA-BC5E-43FA-B2D29508EEFD}"/>
                      </a:ext>
                    </a:extLst>
                  </p:cNvPr>
                  <p:cNvSpPr txBox="1"/>
                  <p:nvPr/>
                </p:nvSpPr>
                <p:spPr>
                  <a:xfrm>
                    <a:off x="3489806" y="2511465"/>
                    <a:ext cx="591877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D5B871EC-42BA-BC5E-43FA-B2D29508EEF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89806" y="2511465"/>
                    <a:ext cx="591877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xmlns="" id="{B05700EA-ADF6-1501-A886-A487A7F4F0DF}"/>
                      </a:ext>
                    </a:extLst>
                  </p:cNvPr>
                  <p:cNvSpPr txBox="1"/>
                  <p:nvPr/>
                </p:nvSpPr>
                <p:spPr>
                  <a:xfrm>
                    <a:off x="7924330" y="4057288"/>
                    <a:ext cx="88522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B05700EA-ADF6-1501-A886-A487A7F4F0D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24330" y="4057288"/>
                    <a:ext cx="885222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xmlns="" id="{174094E0-AD46-6D7F-26FE-DF8481A5AC18}"/>
                  </a:ext>
                </a:extLst>
              </p:cNvPr>
              <p:cNvCxnSpPr/>
              <p:nvPr/>
            </p:nvCxnSpPr>
            <p:spPr>
              <a:xfrm>
                <a:off x="4558205" y="4251345"/>
                <a:ext cx="0" cy="492105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xmlns="" id="{BABCE601-1CC7-DA51-8E3E-DB40B8174F54}"/>
                      </a:ext>
                    </a:extLst>
                  </p:cNvPr>
                  <p:cNvSpPr txBox="1"/>
                  <p:nvPr/>
                </p:nvSpPr>
                <p:spPr>
                  <a:xfrm>
                    <a:off x="4371935" y="4692650"/>
                    <a:ext cx="43200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BABCE601-1CC7-DA51-8E3E-DB40B8174F5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71935" y="4692650"/>
                    <a:ext cx="432000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ectangle 1">
                  <a:extLst>
                    <a:ext uri="{FF2B5EF4-FFF2-40B4-BE49-F238E27FC236}">
                      <a16:creationId xmlns:a16="http://schemas.microsoft.com/office/drawing/2014/main" xmlns="" id="{67B8102E-31B3-C3A9-13A3-0364FF9802EB}"/>
                    </a:ext>
                  </a:extLst>
                </p:cNvPr>
                <p:cNvSpPr/>
                <p:nvPr/>
              </p:nvSpPr>
              <p:spPr>
                <a:xfrm>
                  <a:off x="2631347" y="5263771"/>
                  <a:ext cx="375794" cy="297872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Rectangle 1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67B8102E-31B3-C3A9-13A3-0364FF9802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1347" y="5263771"/>
                  <a:ext cx="375794" cy="297872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TextBox 2">
              <a:extLst>
                <a:ext uri="{FF2B5EF4-FFF2-40B4-BE49-F238E27FC236}">
                  <a16:creationId xmlns:a16="http://schemas.microsoft.com/office/drawing/2014/main" xmlns="" id="{94483E7F-A937-DCD5-593D-9BF0A521317D}"/>
                </a:ext>
              </a:extLst>
            </p:cNvPr>
            <p:cNvSpPr txBox="1"/>
            <p:nvPr/>
          </p:nvSpPr>
          <p:spPr>
            <a:xfrm>
              <a:off x="1975628" y="5561643"/>
              <a:ext cx="170502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Camada </a:t>
              </a:r>
              <a:r>
                <a:rPr lang="pt-BR" sz="1400" dirty="0" smtClean="0"/>
                <a:t>totalmente conectada com </a:t>
              </a:r>
              <a:r>
                <a:rPr lang="pt-BR" sz="1400" dirty="0"/>
                <a:t>ativação sigmoide</a:t>
              </a:r>
              <a:endParaRPr lang="en-US" sz="1400" dirty="0"/>
            </a:p>
          </p:txBody>
        </p:sp>
        <p:sp>
          <p:nvSpPr>
            <p:cNvPr id="44" name="Oval 3">
              <a:extLst>
                <a:ext uri="{FF2B5EF4-FFF2-40B4-BE49-F238E27FC236}">
                  <a16:creationId xmlns:a16="http://schemas.microsoft.com/office/drawing/2014/main" xmlns="" id="{A10A206D-DE0F-FE1C-4415-C2DFE8541DE1}"/>
                </a:ext>
              </a:extLst>
            </p:cNvPr>
            <p:cNvSpPr/>
            <p:nvPr/>
          </p:nvSpPr>
          <p:spPr>
            <a:xfrm>
              <a:off x="5593115" y="5257526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5" name="TextBox 5">
              <a:extLst>
                <a:ext uri="{FF2B5EF4-FFF2-40B4-BE49-F238E27FC236}">
                  <a16:creationId xmlns:a16="http://schemas.microsoft.com/office/drawing/2014/main" xmlns="" id="{E601EEF9-98B3-9F64-F85F-07641BA1F0E3}"/>
                </a:ext>
              </a:extLst>
            </p:cNvPr>
            <p:cNvSpPr txBox="1"/>
            <p:nvPr/>
          </p:nvSpPr>
          <p:spPr>
            <a:xfrm>
              <a:off x="5124168" y="5560453"/>
              <a:ext cx="1210943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 err="1"/>
                <a:t>operação</a:t>
              </a:r>
              <a:r>
                <a:rPr lang="en-US" sz="1400" dirty="0"/>
                <a:t> </a:t>
              </a:r>
              <a:r>
                <a:rPr lang="en-US" sz="1400" dirty="0" err="1" smtClean="0"/>
                <a:t>elemento</a:t>
              </a:r>
              <a:r>
                <a:rPr lang="en-US" sz="1400" dirty="0" smtClean="0"/>
                <a:t> a </a:t>
              </a:r>
              <a:r>
                <a:rPr lang="en-US" sz="1400" dirty="0" err="1" smtClean="0"/>
                <a:t>elemento</a:t>
              </a:r>
              <a:endParaRPr lang="en-US" sz="1400" dirty="0"/>
            </a:p>
          </p:txBody>
        </p:sp>
        <p:cxnSp>
          <p:nvCxnSpPr>
            <p:cNvPr id="46" name="Straight Connector 8">
              <a:extLst>
                <a:ext uri="{FF2B5EF4-FFF2-40B4-BE49-F238E27FC236}">
                  <a16:creationId xmlns:a16="http://schemas.microsoft.com/office/drawing/2014/main" xmlns="" id="{4CCF47AF-2D48-1D6C-D27B-0CC557A4D3BC}"/>
                </a:ext>
              </a:extLst>
            </p:cNvPr>
            <p:cNvCxnSpPr>
              <a:cxnSpLocks/>
            </p:cNvCxnSpPr>
            <p:nvPr/>
          </p:nvCxnSpPr>
          <p:spPr>
            <a:xfrm>
              <a:off x="6622280" y="5410207"/>
              <a:ext cx="576000" cy="0"/>
            </a:xfrm>
            <a:prstGeom prst="line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TextBox 13">
              <a:extLst>
                <a:ext uri="{FF2B5EF4-FFF2-40B4-BE49-F238E27FC236}">
                  <a16:creationId xmlns:a16="http://schemas.microsoft.com/office/drawing/2014/main" xmlns="" id="{D4D46D6C-FBD0-36BF-A4A0-F0AA4C62BC59}"/>
                </a:ext>
              </a:extLst>
            </p:cNvPr>
            <p:cNvSpPr txBox="1"/>
            <p:nvPr/>
          </p:nvSpPr>
          <p:spPr>
            <a:xfrm>
              <a:off x="6259694" y="5500009"/>
              <a:ext cx="121094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 err="1"/>
                <a:t>transferência</a:t>
              </a:r>
              <a:r>
                <a:rPr lang="en-US" sz="1400" dirty="0"/>
                <a:t> de </a:t>
              </a:r>
              <a:r>
                <a:rPr lang="en-US" sz="1400" dirty="0" err="1"/>
                <a:t>vetor</a:t>
              </a:r>
              <a:endParaRPr lang="en-US" sz="1400" dirty="0"/>
            </a:p>
          </p:txBody>
        </p:sp>
        <p:cxnSp>
          <p:nvCxnSpPr>
            <p:cNvPr id="51" name="Straight Connector 17">
              <a:extLst>
                <a:ext uri="{FF2B5EF4-FFF2-40B4-BE49-F238E27FC236}">
                  <a16:creationId xmlns:a16="http://schemas.microsoft.com/office/drawing/2014/main" xmlns="" id="{87FE6DA6-5752-4BD9-4B22-C5A902BD5C6B}"/>
                </a:ext>
              </a:extLst>
            </p:cNvPr>
            <p:cNvCxnSpPr>
              <a:cxnSpLocks/>
            </p:cNvCxnSpPr>
            <p:nvPr/>
          </p:nvCxnSpPr>
          <p:spPr>
            <a:xfrm>
              <a:off x="7856076" y="5410207"/>
              <a:ext cx="576000" cy="0"/>
            </a:xfrm>
            <a:prstGeom prst="line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20">
              <a:extLst>
                <a:ext uri="{FF2B5EF4-FFF2-40B4-BE49-F238E27FC236}">
                  <a16:creationId xmlns:a16="http://schemas.microsoft.com/office/drawing/2014/main" xmlns="" id="{4AA379DA-FDF4-4C2E-212F-301E5D1A6625}"/>
                </a:ext>
              </a:extLst>
            </p:cNvPr>
            <p:cNvCxnSpPr/>
            <p:nvPr/>
          </p:nvCxnSpPr>
          <p:spPr>
            <a:xfrm>
              <a:off x="8119191" y="5403577"/>
              <a:ext cx="0" cy="29041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21">
              <a:extLst>
                <a:ext uri="{FF2B5EF4-FFF2-40B4-BE49-F238E27FC236}">
                  <a16:creationId xmlns:a16="http://schemas.microsoft.com/office/drawing/2014/main" xmlns="" id="{F2C1639E-62C8-EF4F-BC59-06D35F047F64}"/>
                </a:ext>
              </a:extLst>
            </p:cNvPr>
            <p:cNvSpPr txBox="1"/>
            <p:nvPr/>
          </p:nvSpPr>
          <p:spPr>
            <a:xfrm>
              <a:off x="7522813" y="5659293"/>
              <a:ext cx="121094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 err="1"/>
                <a:t>c</a:t>
              </a:r>
              <a:r>
                <a:rPr lang="en-US" sz="1400" dirty="0" err="1" smtClean="0"/>
                <a:t>oncatenação</a:t>
              </a:r>
              <a:r>
                <a:rPr lang="en-US" sz="1400" dirty="0" smtClean="0"/>
                <a:t> de </a:t>
              </a:r>
              <a:r>
                <a:rPr lang="en-US" sz="1400" dirty="0" err="1" smtClean="0"/>
                <a:t>vetores</a:t>
              </a:r>
              <a:endParaRPr lang="en-US" sz="1400" dirty="0"/>
            </a:p>
          </p:txBody>
        </p:sp>
        <p:cxnSp>
          <p:nvCxnSpPr>
            <p:cNvPr id="55" name="Straight Connector 22">
              <a:extLst>
                <a:ext uri="{FF2B5EF4-FFF2-40B4-BE49-F238E27FC236}">
                  <a16:creationId xmlns:a16="http://schemas.microsoft.com/office/drawing/2014/main" xmlns="" id="{456BE94A-7B45-0DB7-05F1-86A17C409BD0}"/>
                </a:ext>
              </a:extLst>
            </p:cNvPr>
            <p:cNvCxnSpPr>
              <a:cxnSpLocks/>
            </p:cNvCxnSpPr>
            <p:nvPr/>
          </p:nvCxnSpPr>
          <p:spPr>
            <a:xfrm>
              <a:off x="9014812" y="5658989"/>
              <a:ext cx="576000" cy="0"/>
            </a:xfrm>
            <a:prstGeom prst="line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Connector 23">
              <a:extLst>
                <a:ext uri="{FF2B5EF4-FFF2-40B4-BE49-F238E27FC236}">
                  <a16:creationId xmlns:a16="http://schemas.microsoft.com/office/drawing/2014/main" xmlns="" id="{0868D48C-258F-30A1-C079-D3E227346BD5}"/>
                </a:ext>
              </a:extLst>
            </p:cNvPr>
            <p:cNvCxnSpPr/>
            <p:nvPr/>
          </p:nvCxnSpPr>
          <p:spPr>
            <a:xfrm>
              <a:off x="9277866" y="5354802"/>
              <a:ext cx="0" cy="290413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24">
              <a:extLst>
                <a:ext uri="{FF2B5EF4-FFF2-40B4-BE49-F238E27FC236}">
                  <a16:creationId xmlns:a16="http://schemas.microsoft.com/office/drawing/2014/main" xmlns="" id="{82CB8A93-557A-5259-EB5A-85D7D4D96AD1}"/>
                </a:ext>
              </a:extLst>
            </p:cNvPr>
            <p:cNvSpPr txBox="1"/>
            <p:nvPr/>
          </p:nvSpPr>
          <p:spPr>
            <a:xfrm>
              <a:off x="8649245" y="5650622"/>
              <a:ext cx="121094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 err="1"/>
                <a:t>c</a:t>
              </a:r>
              <a:r>
                <a:rPr lang="en-US" sz="1400" dirty="0" err="1" smtClean="0"/>
                <a:t>ópia</a:t>
              </a:r>
              <a:r>
                <a:rPr lang="en-US" sz="1400" dirty="0" smtClean="0"/>
                <a:t> de </a:t>
              </a:r>
              <a:r>
                <a:rPr lang="en-US" sz="1400" dirty="0" err="1" smtClean="0"/>
                <a:t>vetor</a:t>
              </a:r>
              <a:endParaRPr lang="en-US" sz="1400" dirty="0"/>
            </a:p>
          </p:txBody>
        </p:sp>
        <p:sp>
          <p:nvSpPr>
            <p:cNvPr id="59" name="Rectangle 37">
              <a:extLst>
                <a:ext uri="{FF2B5EF4-FFF2-40B4-BE49-F238E27FC236}">
                  <a16:creationId xmlns:a16="http://schemas.microsoft.com/office/drawing/2014/main" xmlns="" id="{8A9D5604-42D8-94B0-F0FA-40F8A5FE0687}"/>
                </a:ext>
              </a:extLst>
            </p:cNvPr>
            <p:cNvSpPr/>
            <p:nvPr/>
          </p:nvSpPr>
          <p:spPr>
            <a:xfrm>
              <a:off x="4248413" y="5252389"/>
              <a:ext cx="588587" cy="297872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 err="1">
                  <a:solidFill>
                    <a:schemeClr val="tx1"/>
                  </a:solidFill>
                </a:rPr>
                <a:t>tanh</a:t>
              </a:r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60" name="TextBox 39">
              <a:extLst>
                <a:ext uri="{FF2B5EF4-FFF2-40B4-BE49-F238E27FC236}">
                  <a16:creationId xmlns:a16="http://schemas.microsoft.com/office/drawing/2014/main" xmlns="" id="{36895CF3-782C-C5FB-0D92-D28EF588D039}"/>
                </a:ext>
              </a:extLst>
            </p:cNvPr>
            <p:cNvSpPr txBox="1"/>
            <p:nvPr/>
          </p:nvSpPr>
          <p:spPr>
            <a:xfrm>
              <a:off x="3592695" y="5550261"/>
              <a:ext cx="170502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Camada </a:t>
              </a:r>
              <a:r>
                <a:rPr lang="pt-BR" sz="1400" dirty="0" smtClean="0"/>
                <a:t>totalmente conectada com </a:t>
              </a:r>
              <a:r>
                <a:rPr lang="pt-BR" sz="1400" dirty="0"/>
                <a:t>ativação </a:t>
              </a:r>
              <a:r>
                <a:rPr lang="pt-BR" sz="1400" dirty="0" err="1"/>
                <a:t>tanh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1436747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D4EC042-7CB7-B389-4F07-73C2D81EF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xmlns="" id="{62617247-07D2-6657-99D1-398FE3BE06C0}"/>
              </a:ext>
            </a:extLst>
          </p:cNvPr>
          <p:cNvGrpSpPr/>
          <p:nvPr/>
        </p:nvGrpSpPr>
        <p:grpSpPr>
          <a:xfrm>
            <a:off x="3489806" y="1834844"/>
            <a:ext cx="5319746" cy="3227138"/>
            <a:chOff x="3489806" y="1834844"/>
            <a:chExt cx="5319746" cy="3227138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xmlns="" id="{F9B84FA2-83D7-7AD8-9610-5A415E5EE1A1}"/>
                </a:ext>
              </a:extLst>
            </p:cNvPr>
            <p:cNvSpPr/>
            <p:nvPr/>
          </p:nvSpPr>
          <p:spPr>
            <a:xfrm>
              <a:off x="4301176" y="2438400"/>
              <a:ext cx="3522024" cy="198120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xmlns="" id="{62E9A632-1F8F-BB2C-9A7A-07DEA62B46A1}"/>
                    </a:ext>
                  </a:extLst>
                </p:cNvPr>
                <p:cNvSpPr/>
                <p:nvPr/>
              </p:nvSpPr>
              <p:spPr>
                <a:xfrm>
                  <a:off x="4558205" y="3736102"/>
                  <a:ext cx="332510" cy="297872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62E9A632-1F8F-BB2C-9A7A-07DEA62B46A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8205" y="3736102"/>
                  <a:ext cx="332510" cy="29787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xmlns="" id="{9B13C382-E365-0604-E2B1-4396795DE5DD}"/>
                    </a:ext>
                  </a:extLst>
                </p:cNvPr>
                <p:cNvSpPr/>
                <p:nvPr/>
              </p:nvSpPr>
              <p:spPr>
                <a:xfrm>
                  <a:off x="5122344" y="3736102"/>
                  <a:ext cx="332510" cy="297872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9B13C382-E365-0604-E2B1-4396795DE5D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2344" y="3736102"/>
                  <a:ext cx="332510" cy="29787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xmlns="" id="{28298EA5-A736-9895-9469-3658052D65D0}"/>
                    </a:ext>
                  </a:extLst>
                </p:cNvPr>
                <p:cNvSpPr/>
                <p:nvPr/>
              </p:nvSpPr>
              <p:spPr>
                <a:xfrm>
                  <a:off x="6540167" y="3738898"/>
                  <a:ext cx="332510" cy="297872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28298EA5-A736-9895-9469-3658052D65D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0167" y="3738898"/>
                  <a:ext cx="332510" cy="29787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FE2E3973-7BB3-5423-9E41-4A439D4AD2FA}"/>
                </a:ext>
              </a:extLst>
            </p:cNvPr>
            <p:cNvSpPr/>
            <p:nvPr/>
          </p:nvSpPr>
          <p:spPr>
            <a:xfrm>
              <a:off x="5686483" y="3736102"/>
              <a:ext cx="614781" cy="297872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>
                  <a:solidFill>
                    <a:schemeClr val="tx1"/>
                  </a:solidFill>
                </a:rPr>
                <a:t>tanh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xmlns="" id="{357EC369-9B76-A27D-EDC3-890F0716751F}"/>
                </a:ext>
              </a:extLst>
            </p:cNvPr>
            <p:cNvGrpSpPr/>
            <p:nvPr/>
          </p:nvGrpSpPr>
          <p:grpSpPr>
            <a:xfrm>
              <a:off x="6922167" y="2849398"/>
              <a:ext cx="627482" cy="369332"/>
              <a:chOff x="6108367" y="2910505"/>
              <a:chExt cx="627482" cy="369332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xmlns="" id="{1105FA2D-CACC-93FD-8147-BCE771CE8357}"/>
                  </a:ext>
                </a:extLst>
              </p:cNvPr>
              <p:cNvSpPr/>
              <p:nvPr/>
            </p:nvSpPr>
            <p:spPr>
              <a:xfrm>
                <a:off x="6108367" y="2964609"/>
                <a:ext cx="614781" cy="29787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id="{007EE48F-7B86-5BD2-1F8C-469594A636F0}"/>
                  </a:ext>
                </a:extLst>
              </p:cNvPr>
              <p:cNvSpPr txBox="1"/>
              <p:nvPr/>
            </p:nvSpPr>
            <p:spPr>
              <a:xfrm>
                <a:off x="6108701" y="2910505"/>
                <a:ext cx="6271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dirty="0" err="1">
                    <a:solidFill>
                      <a:schemeClr val="tx1"/>
                    </a:solidFill>
                  </a:rPr>
                  <a:t>tanh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7" name="Oval 16">
              <a:extLst>
                <a:ext uri="{FF2B5EF4-FFF2-40B4-BE49-F238E27FC236}">
                  <a16:creationId xmlns:a16="http://schemas.microsoft.com/office/drawing/2014/main" xmlns="" id="{734FE972-9F06-C11C-3F53-9D4666EC5095}"/>
                </a:ext>
              </a:extLst>
            </p:cNvPr>
            <p:cNvSpPr/>
            <p:nvPr/>
          </p:nvSpPr>
          <p:spPr>
            <a:xfrm>
              <a:off x="4587935" y="2579263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xmlns="" id="{EA318A7D-6AD1-A164-9144-BD5F28A4E7B7}"/>
                </a:ext>
              </a:extLst>
            </p:cNvPr>
            <p:cNvCxnSpPr>
              <a:stCxn id="8" idx="0"/>
              <a:endCxn id="17" idx="4"/>
            </p:cNvCxnSpPr>
            <p:nvPr/>
          </p:nvCxnSpPr>
          <p:spPr>
            <a:xfrm flipV="1">
              <a:off x="4724460" y="2852313"/>
              <a:ext cx="0" cy="883789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Connector: Elbow 29">
              <a:extLst>
                <a:ext uri="{FF2B5EF4-FFF2-40B4-BE49-F238E27FC236}">
                  <a16:creationId xmlns:a16="http://schemas.microsoft.com/office/drawing/2014/main" xmlns="" id="{AE5B4441-DF89-25A1-3560-8E5404670E96}"/>
                </a:ext>
              </a:extLst>
            </p:cNvPr>
            <p:cNvCxnSpPr>
              <a:cxnSpLocks/>
              <a:endCxn id="11" idx="2"/>
            </p:cNvCxnSpPr>
            <p:nvPr/>
          </p:nvCxnSpPr>
          <p:spPr>
            <a:xfrm flipV="1">
              <a:off x="4031369" y="4036770"/>
              <a:ext cx="2675053" cy="214575"/>
            </a:xfrm>
            <a:prstGeom prst="bentConnector2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xmlns="" id="{0093E439-25EF-02C4-D9C2-A1FE29C3AD6E}"/>
                </a:ext>
              </a:extLst>
            </p:cNvPr>
            <p:cNvCxnSpPr>
              <a:cxnSpLocks/>
            </p:cNvCxnSpPr>
            <p:nvPr/>
          </p:nvCxnSpPr>
          <p:spPr>
            <a:xfrm>
              <a:off x="4724460" y="4033974"/>
              <a:ext cx="0" cy="211613"/>
            </a:xfrm>
            <a:prstGeom prst="line">
              <a:avLst/>
            </a:prstGeom>
            <a:ln w="19050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xmlns="" id="{A60E907D-7CA5-2C6C-E31F-2F003AE9D096}"/>
                </a:ext>
              </a:extLst>
            </p:cNvPr>
            <p:cNvCxnSpPr>
              <a:cxnSpLocks/>
            </p:cNvCxnSpPr>
            <p:nvPr/>
          </p:nvCxnSpPr>
          <p:spPr>
            <a:xfrm>
              <a:off x="5283260" y="4033974"/>
              <a:ext cx="0" cy="211613"/>
            </a:xfrm>
            <a:prstGeom prst="line">
              <a:avLst/>
            </a:prstGeom>
            <a:ln w="19050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xmlns="" id="{137E1A15-7B2A-4277-FFA1-74355E9235EA}"/>
                </a:ext>
              </a:extLst>
            </p:cNvPr>
            <p:cNvCxnSpPr>
              <a:cxnSpLocks/>
            </p:cNvCxnSpPr>
            <p:nvPr/>
          </p:nvCxnSpPr>
          <p:spPr>
            <a:xfrm>
              <a:off x="5988110" y="4033974"/>
              <a:ext cx="0" cy="211613"/>
            </a:xfrm>
            <a:prstGeom prst="line">
              <a:avLst/>
            </a:prstGeom>
            <a:ln w="19050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xmlns="" id="{D93AEA26-EC0B-1E3E-D68C-6CE9227A173D}"/>
                </a:ext>
              </a:extLst>
            </p:cNvPr>
            <p:cNvSpPr/>
            <p:nvPr/>
          </p:nvSpPr>
          <p:spPr>
            <a:xfrm>
              <a:off x="5856481" y="3328952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xmlns="" id="{461F8C01-4628-007D-8EE8-08D26131E8B9}"/>
                </a:ext>
              </a:extLst>
            </p:cNvPr>
            <p:cNvCxnSpPr>
              <a:cxnSpLocks/>
              <a:stCxn id="12" idx="0"/>
              <a:endCxn id="37" idx="4"/>
            </p:cNvCxnSpPr>
            <p:nvPr/>
          </p:nvCxnSpPr>
          <p:spPr>
            <a:xfrm flipH="1" flipV="1">
              <a:off x="5993006" y="3602002"/>
              <a:ext cx="868" cy="134100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xmlns="" id="{F5D0673A-6CCA-67DE-BB0A-0EAB5B641853}"/>
                </a:ext>
              </a:extLst>
            </p:cNvPr>
            <p:cNvSpPr/>
            <p:nvPr/>
          </p:nvSpPr>
          <p:spPr>
            <a:xfrm>
              <a:off x="5853141" y="2580426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+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xmlns="" id="{34707AEE-8AB6-332F-D775-5D47B6EAB570}"/>
                </a:ext>
              </a:extLst>
            </p:cNvPr>
            <p:cNvCxnSpPr>
              <a:cxnSpLocks/>
              <a:stCxn id="37" idx="0"/>
              <a:endCxn id="48" idx="4"/>
            </p:cNvCxnSpPr>
            <p:nvPr/>
          </p:nvCxnSpPr>
          <p:spPr>
            <a:xfrm flipH="1" flipV="1">
              <a:off x="5989666" y="2853476"/>
              <a:ext cx="3340" cy="475476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Oval 51">
              <a:extLst>
                <a:ext uri="{FF2B5EF4-FFF2-40B4-BE49-F238E27FC236}">
                  <a16:creationId xmlns:a16="http://schemas.microsoft.com/office/drawing/2014/main" xmlns="" id="{E3FDEDCE-1E3B-8147-4D13-A242E9C2B33E}"/>
                </a:ext>
              </a:extLst>
            </p:cNvPr>
            <p:cNvSpPr/>
            <p:nvPr/>
          </p:nvSpPr>
          <p:spPr>
            <a:xfrm>
              <a:off x="7100175" y="3328952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xmlns="" id="{06E60737-7998-C245-9FB1-6B1755A8F2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36075" y="3192538"/>
              <a:ext cx="625" cy="144000"/>
            </a:xfrm>
            <a:prstGeom prst="line">
              <a:avLst/>
            </a:prstGeom>
            <a:ln w="19050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xmlns="" id="{FE690B6A-0885-819C-6118-6C7D093B193B}"/>
                </a:ext>
              </a:extLst>
            </p:cNvPr>
            <p:cNvCxnSpPr>
              <a:cxnSpLocks/>
              <a:endCxn id="17" idx="2"/>
            </p:cNvCxnSpPr>
            <p:nvPr/>
          </p:nvCxnSpPr>
          <p:spPr>
            <a:xfrm flipV="1">
              <a:off x="4012696" y="2715788"/>
              <a:ext cx="575239" cy="168"/>
            </a:xfrm>
            <a:prstGeom prst="line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xmlns="" id="{4E0DA3A1-C433-12FD-E043-1BB3EB5D0076}"/>
                </a:ext>
              </a:extLst>
            </p:cNvPr>
            <p:cNvCxnSpPr>
              <a:cxnSpLocks/>
              <a:stCxn id="17" idx="6"/>
              <a:endCxn id="48" idx="2"/>
            </p:cNvCxnSpPr>
            <p:nvPr/>
          </p:nvCxnSpPr>
          <p:spPr>
            <a:xfrm>
              <a:off x="4860985" y="2715788"/>
              <a:ext cx="992156" cy="1163"/>
            </a:xfrm>
            <a:prstGeom prst="line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xmlns="" id="{A63A645C-4CC1-5896-32E8-305EA54E21C7}"/>
                </a:ext>
              </a:extLst>
            </p:cNvPr>
            <p:cNvCxnSpPr>
              <a:cxnSpLocks/>
            </p:cNvCxnSpPr>
            <p:nvPr/>
          </p:nvCxnSpPr>
          <p:spPr>
            <a:xfrm>
              <a:off x="6126191" y="2715788"/>
              <a:ext cx="1980000" cy="1163"/>
            </a:xfrm>
            <a:prstGeom prst="line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xmlns="" id="{C7FF5E71-FB7D-9609-3FC5-AD13B5F1C3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32357" y="2715838"/>
              <a:ext cx="625" cy="180000"/>
            </a:xfrm>
            <a:prstGeom prst="line">
              <a:avLst/>
            </a:prstGeom>
            <a:ln w="19050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Connector: Elbow 77">
              <a:extLst>
                <a:ext uri="{FF2B5EF4-FFF2-40B4-BE49-F238E27FC236}">
                  <a16:creationId xmlns:a16="http://schemas.microsoft.com/office/drawing/2014/main" xmlns="" id="{942AD4B1-3DFB-E8BA-0218-D9E850190EBC}"/>
                </a:ext>
              </a:extLst>
            </p:cNvPr>
            <p:cNvCxnSpPr>
              <a:cxnSpLocks/>
              <a:endCxn id="52" idx="2"/>
            </p:cNvCxnSpPr>
            <p:nvPr/>
          </p:nvCxnSpPr>
          <p:spPr>
            <a:xfrm flipV="1">
              <a:off x="6706422" y="3465477"/>
              <a:ext cx="393753" cy="270625"/>
            </a:xfrm>
            <a:prstGeom prst="bentConnector3">
              <a:avLst>
                <a:gd name="adj1" fmla="val 1620"/>
              </a:avLst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Connector: Elbow 82">
              <a:extLst>
                <a:ext uri="{FF2B5EF4-FFF2-40B4-BE49-F238E27FC236}">
                  <a16:creationId xmlns:a16="http://schemas.microsoft.com/office/drawing/2014/main" xmlns="" id="{4D8692E4-6CA5-D2CA-A76D-73771408476E}"/>
                </a:ext>
              </a:extLst>
            </p:cNvPr>
            <p:cNvCxnSpPr>
              <a:stCxn id="10" idx="0"/>
              <a:endCxn id="37" idx="2"/>
            </p:cNvCxnSpPr>
            <p:nvPr/>
          </p:nvCxnSpPr>
          <p:spPr>
            <a:xfrm rot="5400000" flipH="1" flipV="1">
              <a:off x="5437228" y="3316849"/>
              <a:ext cx="270625" cy="567882"/>
            </a:xfrm>
            <a:prstGeom prst="bentConnector2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xmlns="" id="{9FE0230A-FA48-1674-EE72-563556A3AD37}"/>
                </a:ext>
              </a:extLst>
            </p:cNvPr>
            <p:cNvCxnSpPr>
              <a:cxnSpLocks/>
            </p:cNvCxnSpPr>
            <p:nvPr/>
          </p:nvCxnSpPr>
          <p:spPr>
            <a:xfrm>
              <a:off x="7233694" y="4241954"/>
              <a:ext cx="876634" cy="0"/>
            </a:xfrm>
            <a:prstGeom prst="line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xmlns="" id="{DD806146-5F28-31BB-C91D-206A9C7C1949}"/>
                </a:ext>
              </a:extLst>
            </p:cNvPr>
            <p:cNvCxnSpPr>
              <a:cxnSpLocks/>
              <a:endCxn id="52" idx="4"/>
            </p:cNvCxnSpPr>
            <p:nvPr/>
          </p:nvCxnSpPr>
          <p:spPr>
            <a:xfrm flipV="1">
              <a:off x="7236700" y="3602002"/>
              <a:ext cx="0" cy="639952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xmlns="" id="{97AFC188-C5E0-E364-C3F7-EF901703C4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185" y="2204176"/>
              <a:ext cx="0" cy="468000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xmlns="" id="{5C32825B-E0C6-9CDA-AFFC-FEF61AC5A1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50185" y="2756590"/>
              <a:ext cx="625" cy="147600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xmlns="" id="{CE32A260-F120-9DD1-2C21-2F72B830F80E}"/>
                    </a:ext>
                  </a:extLst>
                </p:cNvPr>
                <p:cNvSpPr txBox="1"/>
                <p:nvPr/>
              </p:nvSpPr>
              <p:spPr>
                <a:xfrm>
                  <a:off x="3582865" y="4033974"/>
                  <a:ext cx="432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E32A260-F120-9DD1-2C21-2F72B830F8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2865" y="4033974"/>
                  <a:ext cx="432000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28169" r="-563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xmlns="" id="{CB757A62-58FF-F46D-A7A5-BC95B2F299AF}"/>
                    </a:ext>
                  </a:extLst>
                </p:cNvPr>
                <p:cNvSpPr txBox="1"/>
                <p:nvPr/>
              </p:nvSpPr>
              <p:spPr>
                <a:xfrm>
                  <a:off x="8030169" y="2525610"/>
                  <a:ext cx="58934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B757A62-58FF-F46D-A7A5-BC95B2F299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30169" y="2525610"/>
                  <a:ext cx="589341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xmlns="" id="{B53DAB36-7F1E-A38E-607F-E5656744709C}"/>
                    </a:ext>
                  </a:extLst>
                </p:cNvPr>
                <p:cNvSpPr txBox="1"/>
                <p:nvPr/>
              </p:nvSpPr>
              <p:spPr>
                <a:xfrm>
                  <a:off x="7229557" y="1834844"/>
                  <a:ext cx="88522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53DAB36-7F1E-A38E-607F-E565674470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9557" y="1834844"/>
                  <a:ext cx="88522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xmlns="" id="{D5B871EC-42BA-BC5E-43FA-B2D29508EEFD}"/>
                    </a:ext>
                  </a:extLst>
                </p:cNvPr>
                <p:cNvSpPr txBox="1"/>
                <p:nvPr/>
              </p:nvSpPr>
              <p:spPr>
                <a:xfrm>
                  <a:off x="3489806" y="2511465"/>
                  <a:ext cx="59187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5B871EC-42BA-BC5E-43FA-B2D29508EE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89806" y="2511465"/>
                  <a:ext cx="59187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xmlns="" id="{B05700EA-ADF6-1501-A886-A487A7F4F0DF}"/>
                    </a:ext>
                  </a:extLst>
                </p:cNvPr>
                <p:cNvSpPr txBox="1"/>
                <p:nvPr/>
              </p:nvSpPr>
              <p:spPr>
                <a:xfrm>
                  <a:off x="7924330" y="4057288"/>
                  <a:ext cx="88522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B05700EA-ADF6-1501-A886-A487A7F4F0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4330" y="4057288"/>
                  <a:ext cx="885222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xmlns="" id="{174094E0-AD46-6D7F-26FE-DF8481A5AC18}"/>
                </a:ext>
              </a:extLst>
            </p:cNvPr>
            <p:cNvCxnSpPr/>
            <p:nvPr/>
          </p:nvCxnSpPr>
          <p:spPr>
            <a:xfrm>
              <a:off x="4558205" y="4251345"/>
              <a:ext cx="0" cy="49210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xmlns="" id="{BABCE601-1CC7-DA51-8E3E-DB40B8174F54}"/>
                    </a:ext>
                  </a:extLst>
                </p:cNvPr>
                <p:cNvSpPr txBox="1"/>
                <p:nvPr/>
              </p:nvSpPr>
              <p:spPr>
                <a:xfrm>
                  <a:off x="4371935" y="4692650"/>
                  <a:ext cx="432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BABCE601-1CC7-DA51-8E3E-DB40B8174F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1935" y="4692650"/>
                  <a:ext cx="432000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3197032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CEF7BC4-3994-CEE8-677F-0741A6B1A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oup 90">
            <a:extLst>
              <a:ext uri="{FF2B5EF4-FFF2-40B4-BE49-F238E27FC236}">
                <a16:creationId xmlns:a16="http://schemas.microsoft.com/office/drawing/2014/main" xmlns="" id="{259B7582-66CD-ED15-2ABE-5F4548CFEC4D}"/>
              </a:ext>
            </a:extLst>
          </p:cNvPr>
          <p:cNvGrpSpPr/>
          <p:nvPr/>
        </p:nvGrpSpPr>
        <p:grpSpPr>
          <a:xfrm>
            <a:off x="6011628" y="1918390"/>
            <a:ext cx="5133274" cy="3158904"/>
            <a:chOff x="3387954" y="1841814"/>
            <a:chExt cx="5133274" cy="31589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xmlns="" id="{A3C354A2-1F93-E0BA-7BEB-1E8BB1A4752E}"/>
                    </a:ext>
                  </a:extLst>
                </p:cNvPr>
                <p:cNvSpPr txBox="1"/>
                <p:nvPr/>
              </p:nvSpPr>
              <p:spPr>
                <a:xfrm>
                  <a:off x="4348602" y="3074247"/>
                  <a:ext cx="4159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A3C354A2-1F93-E0BA-7BEB-1E8BB1A475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8602" y="3074247"/>
                  <a:ext cx="415947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xmlns="" id="{A1951F4B-38D3-1319-7B2A-ECDDFF348DBB}"/>
                    </a:ext>
                  </a:extLst>
                </p:cNvPr>
                <p:cNvSpPr txBox="1"/>
                <p:nvPr/>
              </p:nvSpPr>
              <p:spPr>
                <a:xfrm>
                  <a:off x="5341440" y="3053867"/>
                  <a:ext cx="3990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A1951F4B-38D3-1319-7B2A-ECDDFF348D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1440" y="3053867"/>
                  <a:ext cx="39908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xmlns="" id="{106D3A33-618E-C1DA-5D91-C0E86025E614}"/>
                    </a:ext>
                  </a:extLst>
                </p:cNvPr>
                <p:cNvSpPr txBox="1"/>
                <p:nvPr/>
              </p:nvSpPr>
              <p:spPr>
                <a:xfrm>
                  <a:off x="6426038" y="3068367"/>
                  <a:ext cx="44146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106D3A33-618E-C1DA-5D91-C0E86025E6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26038" y="3068367"/>
                  <a:ext cx="441468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xmlns="" id="{0AD91B46-B781-DC41-B1E1-4726FC1FB47E}"/>
                    </a:ext>
                  </a:extLst>
                </p:cNvPr>
                <p:cNvSpPr txBox="1"/>
                <p:nvPr/>
              </p:nvSpPr>
              <p:spPr>
                <a:xfrm>
                  <a:off x="6025977" y="3399083"/>
                  <a:ext cx="42550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acc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0AD91B46-B781-DC41-B1E1-4726FC1FB4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5977" y="3399083"/>
                  <a:ext cx="425501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231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xmlns="" id="{23B5C879-86CF-1489-D983-F6C55915B1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185" y="2204176"/>
              <a:ext cx="0" cy="468000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xmlns="" id="{59ED29A8-D33B-A9E0-6FB0-6DA35F11AA6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32357" y="2715838"/>
              <a:ext cx="625" cy="18000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xmlns="" id="{C9ED7EA8-2248-C549-C0D3-4789E31F21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50185" y="2756590"/>
              <a:ext cx="625" cy="147600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xmlns="" id="{F26C059A-6E06-5777-5754-23C200926D83}"/>
                    </a:ext>
                  </a:extLst>
                </p:cNvPr>
                <p:cNvSpPr/>
                <p:nvPr/>
              </p:nvSpPr>
              <p:spPr>
                <a:xfrm>
                  <a:off x="4558205" y="3736102"/>
                  <a:ext cx="332510" cy="297872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F26C059A-6E06-5777-5754-23C200926D8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8205" y="3736102"/>
                  <a:ext cx="332510" cy="29787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xmlns="" id="{D5E7D54C-7034-1BD8-63C6-5043FC65A28D}"/>
                    </a:ext>
                  </a:extLst>
                </p:cNvPr>
                <p:cNvSpPr/>
                <p:nvPr/>
              </p:nvSpPr>
              <p:spPr>
                <a:xfrm>
                  <a:off x="5122344" y="3736102"/>
                  <a:ext cx="332510" cy="297872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D5E7D54C-7034-1BD8-63C6-5043FC65A28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2344" y="3736102"/>
                  <a:ext cx="332510" cy="29787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xmlns="" id="{177514C8-D2E4-86D6-AF82-FAF60A44C33A}"/>
                    </a:ext>
                  </a:extLst>
                </p:cNvPr>
                <p:cNvSpPr/>
                <p:nvPr/>
              </p:nvSpPr>
              <p:spPr>
                <a:xfrm>
                  <a:off x="6540167" y="3738898"/>
                  <a:ext cx="332510" cy="297872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177514C8-D2E4-86D6-AF82-FAF60A44C3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0167" y="3738898"/>
                  <a:ext cx="332510" cy="29787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6F8531BB-5842-5BAF-1D3A-682398D284D2}"/>
                </a:ext>
              </a:extLst>
            </p:cNvPr>
            <p:cNvSpPr/>
            <p:nvPr/>
          </p:nvSpPr>
          <p:spPr>
            <a:xfrm>
              <a:off x="5686483" y="3736102"/>
              <a:ext cx="614781" cy="297872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>
                  <a:solidFill>
                    <a:schemeClr val="tx1"/>
                  </a:solidFill>
                </a:rPr>
                <a:t>tanh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xmlns="" id="{C7E17DBB-C7BC-494A-E992-8DE8D288F40F}"/>
                </a:ext>
              </a:extLst>
            </p:cNvPr>
            <p:cNvGrpSpPr/>
            <p:nvPr/>
          </p:nvGrpSpPr>
          <p:grpSpPr>
            <a:xfrm>
              <a:off x="6922167" y="2849398"/>
              <a:ext cx="627482" cy="369332"/>
              <a:chOff x="6108367" y="2910505"/>
              <a:chExt cx="627482" cy="369332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xmlns="" id="{9AE3C16C-5A7A-867F-EC09-5B9B011DE1C6}"/>
                  </a:ext>
                </a:extLst>
              </p:cNvPr>
              <p:cNvSpPr/>
              <p:nvPr/>
            </p:nvSpPr>
            <p:spPr>
              <a:xfrm>
                <a:off x="6108367" y="2964609"/>
                <a:ext cx="614781" cy="29787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id="{1D4D654B-F301-B853-EA77-8F8D3F0CAF86}"/>
                  </a:ext>
                </a:extLst>
              </p:cNvPr>
              <p:cNvSpPr txBox="1"/>
              <p:nvPr/>
            </p:nvSpPr>
            <p:spPr>
              <a:xfrm>
                <a:off x="6108701" y="2910505"/>
                <a:ext cx="6271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dirty="0" err="1">
                    <a:solidFill>
                      <a:schemeClr val="tx1"/>
                    </a:solidFill>
                  </a:rPr>
                  <a:t>tanh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xmlns="" id="{D2F697DC-DE68-5F5D-A5BE-F745A119CF71}"/>
                </a:ext>
              </a:extLst>
            </p:cNvPr>
            <p:cNvCxnSpPr>
              <a:stCxn id="8" idx="0"/>
              <a:endCxn id="17" idx="4"/>
            </p:cNvCxnSpPr>
            <p:nvPr/>
          </p:nvCxnSpPr>
          <p:spPr>
            <a:xfrm flipV="1">
              <a:off x="4724460" y="2852313"/>
              <a:ext cx="0" cy="883789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Connector: Elbow 29">
              <a:extLst>
                <a:ext uri="{FF2B5EF4-FFF2-40B4-BE49-F238E27FC236}">
                  <a16:creationId xmlns:a16="http://schemas.microsoft.com/office/drawing/2014/main" xmlns="" id="{8BAC7E3D-1CA3-518E-DD58-B30975FF74A6}"/>
                </a:ext>
              </a:extLst>
            </p:cNvPr>
            <p:cNvCxnSpPr>
              <a:cxnSpLocks/>
              <a:endCxn id="11" idx="2"/>
            </p:cNvCxnSpPr>
            <p:nvPr/>
          </p:nvCxnSpPr>
          <p:spPr>
            <a:xfrm rot="5400000" flipH="1" flipV="1">
              <a:off x="5288165" y="3260341"/>
              <a:ext cx="641827" cy="2194687"/>
            </a:xfrm>
            <a:prstGeom prst="bentConnector3">
              <a:avLst>
                <a:gd name="adj1" fmla="val 67289"/>
              </a:avLst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xmlns="" id="{B3565DE1-2C94-76FF-7E49-46F7EA406B1F}"/>
                </a:ext>
              </a:extLst>
            </p:cNvPr>
            <p:cNvCxnSpPr>
              <a:cxnSpLocks/>
            </p:cNvCxnSpPr>
            <p:nvPr/>
          </p:nvCxnSpPr>
          <p:spPr>
            <a:xfrm>
              <a:off x="4724460" y="4033974"/>
              <a:ext cx="0" cy="21161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xmlns="" id="{1ABDDD09-DD98-0666-3795-306DBE0ECE9F}"/>
                </a:ext>
              </a:extLst>
            </p:cNvPr>
            <p:cNvCxnSpPr>
              <a:cxnSpLocks/>
            </p:cNvCxnSpPr>
            <p:nvPr/>
          </p:nvCxnSpPr>
          <p:spPr>
            <a:xfrm>
              <a:off x="5283260" y="4033974"/>
              <a:ext cx="0" cy="21161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xmlns="" id="{7F61B55E-723D-2358-27DC-A1C3C16D2B69}"/>
                </a:ext>
              </a:extLst>
            </p:cNvPr>
            <p:cNvCxnSpPr>
              <a:cxnSpLocks/>
            </p:cNvCxnSpPr>
            <p:nvPr/>
          </p:nvCxnSpPr>
          <p:spPr>
            <a:xfrm>
              <a:off x="5988110" y="4033974"/>
              <a:ext cx="0" cy="21161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xmlns="" id="{2A4E816D-7056-ACB4-28DE-1431775F31B9}"/>
                </a:ext>
              </a:extLst>
            </p:cNvPr>
            <p:cNvSpPr/>
            <p:nvPr/>
          </p:nvSpPr>
          <p:spPr>
            <a:xfrm>
              <a:off x="5856481" y="3328952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xmlns="" id="{CF3F4951-741E-7175-755B-F847FABD1A53}"/>
                </a:ext>
              </a:extLst>
            </p:cNvPr>
            <p:cNvCxnSpPr>
              <a:cxnSpLocks/>
              <a:stCxn id="12" idx="0"/>
              <a:endCxn id="37" idx="4"/>
            </p:cNvCxnSpPr>
            <p:nvPr/>
          </p:nvCxnSpPr>
          <p:spPr>
            <a:xfrm flipH="1" flipV="1">
              <a:off x="5993006" y="3602002"/>
              <a:ext cx="868" cy="1341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xmlns="" id="{0C9119F5-BC18-B506-6AE3-54BED2ACDE1D}"/>
                </a:ext>
              </a:extLst>
            </p:cNvPr>
            <p:cNvCxnSpPr>
              <a:cxnSpLocks/>
              <a:stCxn id="37" idx="0"/>
              <a:endCxn id="48" idx="4"/>
            </p:cNvCxnSpPr>
            <p:nvPr/>
          </p:nvCxnSpPr>
          <p:spPr>
            <a:xfrm flipH="1" flipV="1">
              <a:off x="5989666" y="2853476"/>
              <a:ext cx="3340" cy="475476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Oval 51">
              <a:extLst>
                <a:ext uri="{FF2B5EF4-FFF2-40B4-BE49-F238E27FC236}">
                  <a16:creationId xmlns:a16="http://schemas.microsoft.com/office/drawing/2014/main" xmlns="" id="{9A90CFC2-367F-DDD0-0347-A75CC3C46DD8}"/>
                </a:ext>
              </a:extLst>
            </p:cNvPr>
            <p:cNvSpPr/>
            <p:nvPr/>
          </p:nvSpPr>
          <p:spPr>
            <a:xfrm>
              <a:off x="7100175" y="3328952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xmlns="" id="{742EAAEE-4BC0-0FF8-1B29-921257A94C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36075" y="3192538"/>
              <a:ext cx="625" cy="14400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Connector: Elbow 77">
              <a:extLst>
                <a:ext uri="{FF2B5EF4-FFF2-40B4-BE49-F238E27FC236}">
                  <a16:creationId xmlns:a16="http://schemas.microsoft.com/office/drawing/2014/main" xmlns="" id="{6B39DB6C-853E-9EC6-5E8B-6D4F3DB4B58F}"/>
                </a:ext>
              </a:extLst>
            </p:cNvPr>
            <p:cNvCxnSpPr>
              <a:cxnSpLocks/>
              <a:endCxn id="52" idx="2"/>
            </p:cNvCxnSpPr>
            <p:nvPr/>
          </p:nvCxnSpPr>
          <p:spPr>
            <a:xfrm flipV="1">
              <a:off x="6706422" y="3465477"/>
              <a:ext cx="393753" cy="270625"/>
            </a:xfrm>
            <a:prstGeom prst="bentConnector3">
              <a:avLst>
                <a:gd name="adj1" fmla="val 1620"/>
              </a:avLst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Connector: Elbow 82">
              <a:extLst>
                <a:ext uri="{FF2B5EF4-FFF2-40B4-BE49-F238E27FC236}">
                  <a16:creationId xmlns:a16="http://schemas.microsoft.com/office/drawing/2014/main" xmlns="" id="{55E9DF20-2BAA-AD3A-BF01-C8B2A79EBCBF}"/>
                </a:ext>
              </a:extLst>
            </p:cNvPr>
            <p:cNvCxnSpPr>
              <a:stCxn id="10" idx="0"/>
              <a:endCxn id="37" idx="2"/>
            </p:cNvCxnSpPr>
            <p:nvPr/>
          </p:nvCxnSpPr>
          <p:spPr>
            <a:xfrm rot="5400000" flipH="1" flipV="1">
              <a:off x="5437228" y="3316849"/>
              <a:ext cx="270625" cy="567882"/>
            </a:xfrm>
            <a:prstGeom prst="bentConnector2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xmlns="" id="{F73F4CFE-21DF-A9CF-A0E3-BE6FCD93FD2F}"/>
                </a:ext>
              </a:extLst>
            </p:cNvPr>
            <p:cNvCxnSpPr>
              <a:cxnSpLocks/>
            </p:cNvCxnSpPr>
            <p:nvPr/>
          </p:nvCxnSpPr>
          <p:spPr>
            <a:xfrm>
              <a:off x="7233694" y="4241954"/>
              <a:ext cx="876634" cy="0"/>
            </a:xfrm>
            <a:prstGeom prst="line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xmlns="" id="{3B2DE638-D898-6EEE-FDE9-EF6483D3EE43}"/>
                </a:ext>
              </a:extLst>
            </p:cNvPr>
            <p:cNvCxnSpPr>
              <a:cxnSpLocks/>
              <a:endCxn id="52" idx="4"/>
            </p:cNvCxnSpPr>
            <p:nvPr/>
          </p:nvCxnSpPr>
          <p:spPr>
            <a:xfrm flipV="1">
              <a:off x="7236700" y="3602002"/>
              <a:ext cx="0" cy="639952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xmlns="" id="{B4FC16DB-E8FC-F794-ADC0-7F23CD1719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71971" y="4247524"/>
              <a:ext cx="575239" cy="168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xmlns="" id="{842C10F0-6ADD-9912-2061-FB7E19CE2DD3}"/>
                </a:ext>
              </a:extLst>
            </p:cNvPr>
            <p:cNvSpPr/>
            <p:nvPr/>
          </p:nvSpPr>
          <p:spPr>
            <a:xfrm>
              <a:off x="4301176" y="2438400"/>
              <a:ext cx="3522024" cy="19812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88000"/>
              </a:schemeClr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xmlns="" id="{290DB68F-D678-91AC-FDAB-0432895FD9FC}"/>
                </a:ext>
              </a:extLst>
            </p:cNvPr>
            <p:cNvSpPr/>
            <p:nvPr/>
          </p:nvSpPr>
          <p:spPr>
            <a:xfrm>
              <a:off x="4587935" y="2579263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xmlns="" id="{2189D1DB-4B5F-E20F-5E70-0649D2A09125}"/>
                </a:ext>
              </a:extLst>
            </p:cNvPr>
            <p:cNvSpPr/>
            <p:nvPr/>
          </p:nvSpPr>
          <p:spPr>
            <a:xfrm>
              <a:off x="5853141" y="2580426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+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xmlns="" id="{2F17F637-CDA3-BC2F-CEC0-EDA23BDF1793}"/>
                </a:ext>
              </a:extLst>
            </p:cNvPr>
            <p:cNvCxnSpPr>
              <a:cxnSpLocks/>
              <a:endCxn id="17" idx="2"/>
            </p:cNvCxnSpPr>
            <p:nvPr/>
          </p:nvCxnSpPr>
          <p:spPr>
            <a:xfrm flipV="1">
              <a:off x="4012696" y="2715788"/>
              <a:ext cx="575239" cy="168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xmlns="" id="{B7F0BCAC-2A6C-C3FC-BFC1-52890A7CFAFB}"/>
                </a:ext>
              </a:extLst>
            </p:cNvPr>
            <p:cNvCxnSpPr>
              <a:cxnSpLocks/>
              <a:stCxn id="17" idx="6"/>
              <a:endCxn id="48" idx="2"/>
            </p:cNvCxnSpPr>
            <p:nvPr/>
          </p:nvCxnSpPr>
          <p:spPr>
            <a:xfrm>
              <a:off x="4860985" y="2715788"/>
              <a:ext cx="992156" cy="1163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xmlns="" id="{DB10787B-CA55-FACA-097A-B384CCF2FC57}"/>
                </a:ext>
              </a:extLst>
            </p:cNvPr>
            <p:cNvCxnSpPr>
              <a:cxnSpLocks/>
            </p:cNvCxnSpPr>
            <p:nvPr/>
          </p:nvCxnSpPr>
          <p:spPr>
            <a:xfrm>
              <a:off x="6126191" y="2715788"/>
              <a:ext cx="1980000" cy="1163"/>
            </a:xfrm>
            <a:prstGeom prst="line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xmlns="" id="{C4A866C9-4A28-7252-015B-A2E419706176}"/>
                    </a:ext>
                  </a:extLst>
                </p:cNvPr>
                <p:cNvSpPr txBox="1"/>
                <p:nvPr/>
              </p:nvSpPr>
              <p:spPr>
                <a:xfrm>
                  <a:off x="3399976" y="2480066"/>
                  <a:ext cx="6619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4A866C9-4A28-7252-015B-A2E4197061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9976" y="2480066"/>
                  <a:ext cx="661976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xmlns="" id="{426498C2-0A02-0FDF-4FCF-947527EBD09A}"/>
                    </a:ext>
                  </a:extLst>
                </p:cNvPr>
                <p:cNvSpPr txBox="1"/>
                <p:nvPr/>
              </p:nvSpPr>
              <p:spPr>
                <a:xfrm>
                  <a:off x="8039200" y="2529630"/>
                  <a:ext cx="44236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26498C2-0A02-0FDF-4FCF-947527EBD0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39200" y="2529630"/>
                  <a:ext cx="442365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xmlns="" id="{12B529DB-2BE0-6E9C-4EBB-DBD7BFF2CD32}"/>
                    </a:ext>
                  </a:extLst>
                </p:cNvPr>
                <p:cNvSpPr txBox="1"/>
                <p:nvPr/>
              </p:nvSpPr>
              <p:spPr>
                <a:xfrm>
                  <a:off x="3387954" y="4062549"/>
                  <a:ext cx="69083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12B529DB-2BE0-6E9C-4EBB-DBD7BFF2CD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7954" y="4062549"/>
                  <a:ext cx="690830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xmlns="" id="{EB1DAE0C-E746-36F2-7A7D-C331502D001C}"/>
                    </a:ext>
                  </a:extLst>
                </p:cNvPr>
                <p:cNvSpPr txBox="1"/>
                <p:nvPr/>
              </p:nvSpPr>
              <p:spPr>
                <a:xfrm>
                  <a:off x="8050010" y="4070439"/>
                  <a:ext cx="4712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EB1DAE0C-E746-36F2-7A7D-C331502D00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0010" y="4070439"/>
                  <a:ext cx="471218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xmlns="" id="{CE10D406-319D-3BE3-1B60-7827B12CBF7C}"/>
                    </a:ext>
                  </a:extLst>
                </p:cNvPr>
                <p:cNvSpPr txBox="1"/>
                <p:nvPr/>
              </p:nvSpPr>
              <p:spPr>
                <a:xfrm>
                  <a:off x="7423392" y="1841814"/>
                  <a:ext cx="4712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CE10D406-319D-3BE3-1B60-7827B12CBF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3392" y="1841814"/>
                  <a:ext cx="471218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xmlns="" id="{35F8E290-BD3E-780B-C51B-6AB841AA0F43}"/>
                    </a:ext>
                  </a:extLst>
                </p:cNvPr>
                <p:cNvSpPr txBox="1"/>
                <p:nvPr/>
              </p:nvSpPr>
              <p:spPr>
                <a:xfrm>
                  <a:off x="4288133" y="4631386"/>
                  <a:ext cx="4583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35F8E290-BD3E-780B-C51B-6AB841AA0F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8133" y="4631386"/>
                  <a:ext cx="458394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Agrupar 13">
            <a:extLst>
              <a:ext uri="{FF2B5EF4-FFF2-40B4-BE49-F238E27FC236}">
                <a16:creationId xmlns:a16="http://schemas.microsoft.com/office/drawing/2014/main" xmlns="" id="{EE45A31D-EB0C-6D89-2D47-756B80675F45}"/>
              </a:ext>
            </a:extLst>
          </p:cNvPr>
          <p:cNvGrpSpPr/>
          <p:nvPr/>
        </p:nvGrpSpPr>
        <p:grpSpPr>
          <a:xfrm>
            <a:off x="510827" y="2688275"/>
            <a:ext cx="3550826" cy="1751496"/>
            <a:chOff x="510827" y="2688275"/>
            <a:chExt cx="3550826" cy="1751496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xmlns="" id="{61EA366A-638B-19A2-FADF-869CD901FD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748" y="2934602"/>
              <a:ext cx="396000" cy="168"/>
            </a:xfrm>
            <a:prstGeom prst="line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xmlns="" id="{EBC88C9A-7E93-26B5-43AD-0D21BC813E6A}"/>
                    </a:ext>
                  </a:extLst>
                </p:cNvPr>
                <p:cNvSpPr/>
                <p:nvPr/>
              </p:nvSpPr>
              <p:spPr>
                <a:xfrm>
                  <a:off x="1240764" y="3348906"/>
                  <a:ext cx="332510" cy="297872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EBC88C9A-7E93-26B5-43AD-0D21BC813E6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0764" y="3348906"/>
                  <a:ext cx="332510" cy="29787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Oval 31">
              <a:extLst>
                <a:ext uri="{FF2B5EF4-FFF2-40B4-BE49-F238E27FC236}">
                  <a16:creationId xmlns:a16="http://schemas.microsoft.com/office/drawing/2014/main" xmlns="" id="{1A354AC7-6F14-F502-309B-B6DF3115DCEC}"/>
                </a:ext>
              </a:extLst>
            </p:cNvPr>
            <p:cNvSpPr/>
            <p:nvPr/>
          </p:nvSpPr>
          <p:spPr>
            <a:xfrm>
              <a:off x="1270494" y="2795317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xmlns="" id="{4155F256-7522-763D-F307-222BEC825F1D}"/>
                </a:ext>
              </a:extLst>
            </p:cNvPr>
            <p:cNvCxnSpPr>
              <a:stCxn id="31" idx="0"/>
              <a:endCxn id="32" idx="4"/>
            </p:cNvCxnSpPr>
            <p:nvPr/>
          </p:nvCxnSpPr>
          <p:spPr>
            <a:xfrm flipV="1">
              <a:off x="1407019" y="3068367"/>
              <a:ext cx="0" cy="280539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xmlns="" id="{B515080E-515E-F684-8C15-0D9EE9C6B308}"/>
                </a:ext>
              </a:extLst>
            </p:cNvPr>
            <p:cNvCxnSpPr/>
            <p:nvPr/>
          </p:nvCxnSpPr>
          <p:spPr>
            <a:xfrm flipV="1">
              <a:off x="1407019" y="3646778"/>
              <a:ext cx="0" cy="280539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Right Brace 42">
              <a:extLst>
                <a:ext uri="{FF2B5EF4-FFF2-40B4-BE49-F238E27FC236}">
                  <a16:creationId xmlns:a16="http://schemas.microsoft.com/office/drawing/2014/main" xmlns="" id="{7FDD430D-62DC-C54E-5726-B5316B0CD7AC}"/>
                </a:ext>
              </a:extLst>
            </p:cNvPr>
            <p:cNvSpPr/>
            <p:nvPr/>
          </p:nvSpPr>
          <p:spPr>
            <a:xfrm rot="5400000">
              <a:off x="1304308" y="3414477"/>
              <a:ext cx="205421" cy="1238994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xmlns="" id="{EC283BF4-C291-0D01-D34B-CCB67EF0B6CC}"/>
                </a:ext>
              </a:extLst>
            </p:cNvPr>
            <p:cNvSpPr txBox="1"/>
            <p:nvPr/>
          </p:nvSpPr>
          <p:spPr>
            <a:xfrm>
              <a:off x="1047098" y="4070439"/>
              <a:ext cx="693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porta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xmlns="" id="{F288BC0B-701F-DD40-E539-EE9ACBCA5489}"/>
                    </a:ext>
                  </a:extLst>
                </p:cNvPr>
                <p:cNvSpPr txBox="1"/>
                <p:nvPr/>
              </p:nvSpPr>
              <p:spPr>
                <a:xfrm>
                  <a:off x="510827" y="2688275"/>
                  <a:ext cx="4583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F288BC0B-701F-DD40-E539-EE9ACBCA54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827" y="2688275"/>
                  <a:ext cx="458394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xmlns="" id="{EEDC5D6C-3289-0D8E-9DDB-6C9470087026}"/>
                    </a:ext>
                  </a:extLst>
                </p:cNvPr>
                <p:cNvSpPr txBox="1"/>
                <p:nvPr/>
              </p:nvSpPr>
              <p:spPr>
                <a:xfrm>
                  <a:off x="1343793" y="3006885"/>
                  <a:ext cx="27178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𝒈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pt-BR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𝑾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pt-BR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EEDC5D6C-3289-0D8E-9DDB-6C94700870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3793" y="3006885"/>
                  <a:ext cx="2717860" cy="369332"/>
                </a:xfrm>
                <a:prstGeom prst="rect">
                  <a:avLst/>
                </a:prstGeom>
                <a:blipFill>
                  <a:blip r:embed="rId19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xmlns="" id="{4D40272D-BABB-2719-28B7-93A8B8650926}"/>
                    </a:ext>
                  </a:extLst>
                </p:cNvPr>
                <p:cNvSpPr txBox="1"/>
                <p:nvPr/>
              </p:nvSpPr>
              <p:spPr>
                <a:xfrm>
                  <a:off x="1880017" y="2709477"/>
                  <a:ext cx="4632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4D40272D-BABB-2719-28B7-93A8B86509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80017" y="2709477"/>
                  <a:ext cx="463204" cy="369332"/>
                </a:xfrm>
                <a:prstGeom prst="rect">
                  <a:avLst/>
                </a:prstGeom>
                <a:blipFill>
                  <a:blip r:embed="rId20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Connector 41">
              <a:extLst>
                <a:ext uri="{FF2B5EF4-FFF2-40B4-BE49-F238E27FC236}">
                  <a16:creationId xmlns:a16="http://schemas.microsoft.com/office/drawing/2014/main" xmlns="" id="{4351BED6-9CC8-9034-67A1-1A6D7E93D2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48023" y="2934602"/>
              <a:ext cx="396000" cy="168"/>
            </a:xfrm>
            <a:prstGeom prst="line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4836208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681C906-BA12-06E8-B408-AC0076449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FCF6190C-3568-243C-A1F8-FA1F0809E3B8}"/>
              </a:ext>
            </a:extLst>
          </p:cNvPr>
          <p:cNvGrpSpPr/>
          <p:nvPr/>
        </p:nvGrpSpPr>
        <p:grpSpPr>
          <a:xfrm>
            <a:off x="3387954" y="1841814"/>
            <a:ext cx="5133274" cy="3158904"/>
            <a:chOff x="3387954" y="1841814"/>
            <a:chExt cx="5133274" cy="3158904"/>
          </a:xfrm>
        </p:grpSpPr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xmlns="" id="{39A730AB-F009-09B7-7FB0-EE9AFB00CB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185" y="2204176"/>
              <a:ext cx="0" cy="468000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xmlns="" id="{E5CFBB8F-7F83-05F4-5991-D9B2A3C177C2}"/>
                </a:ext>
              </a:extLst>
            </p:cNvPr>
            <p:cNvCxnSpPr>
              <a:cxnSpLocks/>
              <a:stCxn id="17" idx="6"/>
              <a:endCxn id="48" idx="2"/>
            </p:cNvCxnSpPr>
            <p:nvPr/>
          </p:nvCxnSpPr>
          <p:spPr>
            <a:xfrm>
              <a:off x="4860985" y="2715788"/>
              <a:ext cx="992156" cy="1163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Connector: Elbow 29">
              <a:extLst>
                <a:ext uri="{FF2B5EF4-FFF2-40B4-BE49-F238E27FC236}">
                  <a16:creationId xmlns:a16="http://schemas.microsoft.com/office/drawing/2014/main" xmlns="" id="{4329F69A-78DB-87D6-4B31-68E94E84869A}"/>
                </a:ext>
              </a:extLst>
            </p:cNvPr>
            <p:cNvCxnSpPr>
              <a:cxnSpLocks/>
              <a:endCxn id="11" idx="2"/>
            </p:cNvCxnSpPr>
            <p:nvPr/>
          </p:nvCxnSpPr>
          <p:spPr>
            <a:xfrm rot="5400000" flipH="1" flipV="1">
              <a:off x="5288165" y="3260341"/>
              <a:ext cx="641827" cy="2194687"/>
            </a:xfrm>
            <a:prstGeom prst="bentConnector3">
              <a:avLst>
                <a:gd name="adj1" fmla="val 67289"/>
              </a:avLst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xmlns="" id="{9309C712-EF05-B2E0-6A0E-9B6B6D832F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50185" y="2756590"/>
              <a:ext cx="625" cy="147600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xmlns="" id="{55605F55-30EA-A9AD-82E9-A71DA52E29E0}"/>
                </a:ext>
              </a:extLst>
            </p:cNvPr>
            <p:cNvSpPr/>
            <p:nvPr/>
          </p:nvSpPr>
          <p:spPr>
            <a:xfrm>
              <a:off x="5856481" y="3328952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xmlns="" id="{0AFE4F1F-C8AF-2071-1411-B9B18B7B0704}"/>
                </a:ext>
              </a:extLst>
            </p:cNvPr>
            <p:cNvSpPr/>
            <p:nvPr/>
          </p:nvSpPr>
          <p:spPr>
            <a:xfrm>
              <a:off x="7100175" y="3328952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xmlns="" id="{4BF2B54E-88E4-6623-837A-40C288275A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36075" y="3192538"/>
              <a:ext cx="625" cy="14400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xmlns="" id="{D05F7E73-ADBE-A779-2E49-69EE3D2EF593}"/>
                    </a:ext>
                  </a:extLst>
                </p:cNvPr>
                <p:cNvSpPr/>
                <p:nvPr/>
              </p:nvSpPr>
              <p:spPr>
                <a:xfrm>
                  <a:off x="5122344" y="3736102"/>
                  <a:ext cx="332510" cy="297872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D05F7E73-ADBE-A779-2E49-69EE3D2EF59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2344" y="3736102"/>
                  <a:ext cx="332510" cy="29787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xmlns="" id="{6AFE5021-0A6E-22A6-DF4A-B232EDC28847}"/>
                    </a:ext>
                  </a:extLst>
                </p:cNvPr>
                <p:cNvSpPr/>
                <p:nvPr/>
              </p:nvSpPr>
              <p:spPr>
                <a:xfrm>
                  <a:off x="6540167" y="3738898"/>
                  <a:ext cx="332510" cy="297872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6AFE5021-0A6E-22A6-DF4A-B232EDC2884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0167" y="3738898"/>
                  <a:ext cx="332510" cy="29787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62691682-17D1-2759-4AEA-95CB4A2AC442}"/>
                </a:ext>
              </a:extLst>
            </p:cNvPr>
            <p:cNvSpPr/>
            <p:nvPr/>
          </p:nvSpPr>
          <p:spPr>
            <a:xfrm>
              <a:off x="5686483" y="3736102"/>
              <a:ext cx="614781" cy="297872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>
                  <a:solidFill>
                    <a:schemeClr val="tx1"/>
                  </a:solidFill>
                </a:rPr>
                <a:t>tanh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xmlns="" id="{1E1B6485-D533-DFBA-CFB6-2D9F4A32B5BC}"/>
                </a:ext>
              </a:extLst>
            </p:cNvPr>
            <p:cNvCxnSpPr>
              <a:cxnSpLocks/>
            </p:cNvCxnSpPr>
            <p:nvPr/>
          </p:nvCxnSpPr>
          <p:spPr>
            <a:xfrm>
              <a:off x="5283260" y="4033974"/>
              <a:ext cx="0" cy="21161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xmlns="" id="{7920B390-AA70-127C-665E-BCD4AFAB2692}"/>
                </a:ext>
              </a:extLst>
            </p:cNvPr>
            <p:cNvCxnSpPr>
              <a:cxnSpLocks/>
            </p:cNvCxnSpPr>
            <p:nvPr/>
          </p:nvCxnSpPr>
          <p:spPr>
            <a:xfrm>
              <a:off x="5988110" y="4033974"/>
              <a:ext cx="0" cy="21161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xmlns="" id="{8347C514-5C0A-87D8-490F-8BE6DE17F058}"/>
                </a:ext>
              </a:extLst>
            </p:cNvPr>
            <p:cNvCxnSpPr>
              <a:cxnSpLocks/>
              <a:stCxn id="12" idx="0"/>
              <a:endCxn id="37" idx="4"/>
            </p:cNvCxnSpPr>
            <p:nvPr/>
          </p:nvCxnSpPr>
          <p:spPr>
            <a:xfrm flipH="1" flipV="1">
              <a:off x="5993006" y="3602002"/>
              <a:ext cx="868" cy="1341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Connector: Elbow 77">
              <a:extLst>
                <a:ext uri="{FF2B5EF4-FFF2-40B4-BE49-F238E27FC236}">
                  <a16:creationId xmlns:a16="http://schemas.microsoft.com/office/drawing/2014/main" xmlns="" id="{D209583F-0F66-13DA-E8B1-65163BB76534}"/>
                </a:ext>
              </a:extLst>
            </p:cNvPr>
            <p:cNvCxnSpPr>
              <a:cxnSpLocks/>
              <a:endCxn id="52" idx="2"/>
            </p:cNvCxnSpPr>
            <p:nvPr/>
          </p:nvCxnSpPr>
          <p:spPr>
            <a:xfrm flipV="1">
              <a:off x="6706422" y="3465477"/>
              <a:ext cx="393753" cy="270625"/>
            </a:xfrm>
            <a:prstGeom prst="bentConnector3">
              <a:avLst>
                <a:gd name="adj1" fmla="val 1620"/>
              </a:avLst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Connector: Elbow 82">
              <a:extLst>
                <a:ext uri="{FF2B5EF4-FFF2-40B4-BE49-F238E27FC236}">
                  <a16:creationId xmlns:a16="http://schemas.microsoft.com/office/drawing/2014/main" xmlns="" id="{9FFD6D3A-4074-C913-6F99-8172D8284BB8}"/>
                </a:ext>
              </a:extLst>
            </p:cNvPr>
            <p:cNvCxnSpPr>
              <a:stCxn id="10" idx="0"/>
              <a:endCxn id="37" idx="2"/>
            </p:cNvCxnSpPr>
            <p:nvPr/>
          </p:nvCxnSpPr>
          <p:spPr>
            <a:xfrm rot="5400000" flipH="1" flipV="1">
              <a:off x="5437228" y="3316849"/>
              <a:ext cx="270625" cy="567882"/>
            </a:xfrm>
            <a:prstGeom prst="bentConnector2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xmlns="" id="{C6132C55-7CE0-B243-9524-22263E32A9FD}"/>
                </a:ext>
              </a:extLst>
            </p:cNvPr>
            <p:cNvCxnSpPr>
              <a:cxnSpLocks/>
            </p:cNvCxnSpPr>
            <p:nvPr/>
          </p:nvCxnSpPr>
          <p:spPr>
            <a:xfrm>
              <a:off x="7233694" y="4241954"/>
              <a:ext cx="876634" cy="0"/>
            </a:xfrm>
            <a:prstGeom prst="line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xmlns="" id="{FF5609EE-16ED-D9C9-C8B6-08BF97D17108}"/>
                </a:ext>
              </a:extLst>
            </p:cNvPr>
            <p:cNvCxnSpPr>
              <a:cxnSpLocks/>
              <a:endCxn id="52" idx="4"/>
            </p:cNvCxnSpPr>
            <p:nvPr/>
          </p:nvCxnSpPr>
          <p:spPr>
            <a:xfrm flipV="1">
              <a:off x="7236700" y="3602002"/>
              <a:ext cx="0" cy="639952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xmlns="" id="{BBCF3E7F-5361-B4DC-E106-88F2D362536D}"/>
                    </a:ext>
                  </a:extLst>
                </p:cNvPr>
                <p:cNvSpPr txBox="1"/>
                <p:nvPr/>
              </p:nvSpPr>
              <p:spPr>
                <a:xfrm>
                  <a:off x="8050010" y="4070439"/>
                  <a:ext cx="4712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BBCF3E7F-5361-B4DC-E106-88F2D36253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0010" y="4070439"/>
                  <a:ext cx="471218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Oval 47">
              <a:extLst>
                <a:ext uri="{FF2B5EF4-FFF2-40B4-BE49-F238E27FC236}">
                  <a16:creationId xmlns:a16="http://schemas.microsoft.com/office/drawing/2014/main" xmlns="" id="{F8D1C230-9AD6-9DC7-AED1-35225D1F83CD}"/>
                </a:ext>
              </a:extLst>
            </p:cNvPr>
            <p:cNvSpPr/>
            <p:nvPr/>
          </p:nvSpPr>
          <p:spPr>
            <a:xfrm>
              <a:off x="5853141" y="2580426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+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xmlns="" id="{DC5D7F9A-1009-06DB-C683-3F0A389F7B42}"/>
                </a:ext>
              </a:extLst>
            </p:cNvPr>
            <p:cNvCxnSpPr>
              <a:cxnSpLocks/>
            </p:cNvCxnSpPr>
            <p:nvPr/>
          </p:nvCxnSpPr>
          <p:spPr>
            <a:xfrm>
              <a:off x="6126191" y="2715788"/>
              <a:ext cx="1980000" cy="1163"/>
            </a:xfrm>
            <a:prstGeom prst="line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xmlns="" id="{4F12F6A6-D554-126C-3ECA-862ED1EAA5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32357" y="2715838"/>
              <a:ext cx="625" cy="18000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xmlns="" id="{1CC77F96-16FB-3864-7DB1-07277106DE8B}"/>
                </a:ext>
              </a:extLst>
            </p:cNvPr>
            <p:cNvGrpSpPr/>
            <p:nvPr/>
          </p:nvGrpSpPr>
          <p:grpSpPr>
            <a:xfrm>
              <a:off x="6922167" y="2849398"/>
              <a:ext cx="627482" cy="369332"/>
              <a:chOff x="6108367" y="2910505"/>
              <a:chExt cx="627482" cy="369332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xmlns="" id="{822B40A6-CAB4-62EA-370C-1357CAED5D30}"/>
                  </a:ext>
                </a:extLst>
              </p:cNvPr>
              <p:cNvSpPr/>
              <p:nvPr/>
            </p:nvSpPr>
            <p:spPr>
              <a:xfrm>
                <a:off x="6108367" y="2964609"/>
                <a:ext cx="614781" cy="29787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id="{2AE3BC04-7F37-C331-64C8-47928CB17AE3}"/>
                  </a:ext>
                </a:extLst>
              </p:cNvPr>
              <p:cNvSpPr txBox="1"/>
              <p:nvPr/>
            </p:nvSpPr>
            <p:spPr>
              <a:xfrm>
                <a:off x="6108701" y="2910505"/>
                <a:ext cx="6271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dirty="0" err="1">
                    <a:solidFill>
                      <a:schemeClr val="tx1"/>
                    </a:solidFill>
                  </a:rPr>
                  <a:t>tanh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xmlns="" id="{2C216754-64A0-2413-BC8A-9899491730A4}"/>
                </a:ext>
              </a:extLst>
            </p:cNvPr>
            <p:cNvCxnSpPr>
              <a:cxnSpLocks/>
              <a:stCxn id="37" idx="0"/>
              <a:endCxn id="48" idx="4"/>
            </p:cNvCxnSpPr>
            <p:nvPr/>
          </p:nvCxnSpPr>
          <p:spPr>
            <a:xfrm flipH="1" flipV="1">
              <a:off x="5989666" y="2853476"/>
              <a:ext cx="3340" cy="475476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xmlns="" id="{A6114FA9-48A9-7AB5-089D-28FB8F3DD455}"/>
                    </a:ext>
                  </a:extLst>
                </p:cNvPr>
                <p:cNvSpPr txBox="1"/>
                <p:nvPr/>
              </p:nvSpPr>
              <p:spPr>
                <a:xfrm>
                  <a:off x="8039200" y="2529630"/>
                  <a:ext cx="4423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6114FA9-48A9-7AB5-089D-28FB8F3DD4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39200" y="2529630"/>
                  <a:ext cx="442364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xmlns="" id="{2BBC2FE9-36F7-2933-C887-72273FF6AA32}"/>
                </a:ext>
              </a:extLst>
            </p:cNvPr>
            <p:cNvSpPr/>
            <p:nvPr/>
          </p:nvSpPr>
          <p:spPr>
            <a:xfrm>
              <a:off x="4301176" y="2438400"/>
              <a:ext cx="3522024" cy="19812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88000"/>
              </a:schemeClr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xmlns="" id="{7ACF06C9-EDD8-B72E-3A6F-2D9C18CE4477}"/>
                </a:ext>
              </a:extLst>
            </p:cNvPr>
            <p:cNvCxnSpPr>
              <a:cxnSpLocks/>
              <a:endCxn id="17" idx="2"/>
            </p:cNvCxnSpPr>
            <p:nvPr/>
          </p:nvCxnSpPr>
          <p:spPr>
            <a:xfrm flipV="1">
              <a:off x="4012696" y="2715788"/>
              <a:ext cx="575239" cy="168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xmlns="" id="{FA172608-B764-39AB-FC65-DD74524231B1}"/>
                </a:ext>
              </a:extLst>
            </p:cNvPr>
            <p:cNvSpPr/>
            <p:nvPr/>
          </p:nvSpPr>
          <p:spPr>
            <a:xfrm>
              <a:off x="4587935" y="2579263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xmlns="" id="{7D1E7939-B085-04A7-417C-F8FF5441903B}"/>
                    </a:ext>
                  </a:extLst>
                </p:cNvPr>
                <p:cNvSpPr/>
                <p:nvPr/>
              </p:nvSpPr>
              <p:spPr>
                <a:xfrm>
                  <a:off x="4558205" y="3736102"/>
                  <a:ext cx="332510" cy="297872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7D1E7939-B085-04A7-417C-F8FF544190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8205" y="3736102"/>
                  <a:ext cx="332510" cy="29787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xmlns="" id="{BCBA5E58-1A30-E919-16E9-05C7BCBA30AA}"/>
                </a:ext>
              </a:extLst>
            </p:cNvPr>
            <p:cNvCxnSpPr>
              <a:stCxn id="8" idx="0"/>
              <a:endCxn id="17" idx="4"/>
            </p:cNvCxnSpPr>
            <p:nvPr/>
          </p:nvCxnSpPr>
          <p:spPr>
            <a:xfrm flipV="1">
              <a:off x="4724460" y="2852313"/>
              <a:ext cx="0" cy="883789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xmlns="" id="{449F04FB-A11C-6CDA-54CF-327E7BE7D9EA}"/>
                </a:ext>
              </a:extLst>
            </p:cNvPr>
            <p:cNvCxnSpPr>
              <a:cxnSpLocks/>
            </p:cNvCxnSpPr>
            <p:nvPr/>
          </p:nvCxnSpPr>
          <p:spPr>
            <a:xfrm>
              <a:off x="4724460" y="4033974"/>
              <a:ext cx="0" cy="21161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xmlns="" id="{D866472C-9411-1D10-EBFC-6CE069E407B5}"/>
                </a:ext>
              </a:extLst>
            </p:cNvPr>
            <p:cNvCxnSpPr>
              <a:cxnSpLocks/>
            </p:cNvCxnSpPr>
            <p:nvPr/>
          </p:nvCxnSpPr>
          <p:spPr>
            <a:xfrm>
              <a:off x="3971971" y="4237301"/>
              <a:ext cx="762694" cy="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xmlns="" id="{E4140CD2-4809-10E5-1F86-BDC4132DD5F5}"/>
                    </a:ext>
                  </a:extLst>
                </p:cNvPr>
                <p:cNvSpPr txBox="1"/>
                <p:nvPr/>
              </p:nvSpPr>
              <p:spPr>
                <a:xfrm>
                  <a:off x="3399976" y="2480066"/>
                  <a:ext cx="6619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4140CD2-4809-10E5-1F86-BDC4132DD5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9976" y="2480066"/>
                  <a:ext cx="66197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xmlns="" id="{C92B0883-35DE-44C7-12D4-5B70BF0A6B1F}"/>
                    </a:ext>
                  </a:extLst>
                </p:cNvPr>
                <p:cNvSpPr txBox="1"/>
                <p:nvPr/>
              </p:nvSpPr>
              <p:spPr>
                <a:xfrm>
                  <a:off x="3387954" y="4052158"/>
                  <a:ext cx="69083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92B0883-35DE-44C7-12D4-5B70BF0A6B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7954" y="4052158"/>
                  <a:ext cx="690830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xmlns="" id="{0F98C804-71F7-C250-7524-2D037AFFAAC7}"/>
                    </a:ext>
                  </a:extLst>
                </p:cNvPr>
                <p:cNvSpPr txBox="1"/>
                <p:nvPr/>
              </p:nvSpPr>
              <p:spPr>
                <a:xfrm>
                  <a:off x="7423392" y="1841814"/>
                  <a:ext cx="4712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0F98C804-71F7-C250-7524-2D037AFFAA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3392" y="1841814"/>
                  <a:ext cx="471218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xmlns="" id="{5EEB1DB6-D554-F46E-BF18-2EF32C38355A}"/>
                    </a:ext>
                  </a:extLst>
                </p:cNvPr>
                <p:cNvSpPr txBox="1"/>
                <p:nvPr/>
              </p:nvSpPr>
              <p:spPr>
                <a:xfrm>
                  <a:off x="4288133" y="4631386"/>
                  <a:ext cx="4583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5EEB1DB6-D554-F46E-BF18-2EF32C3835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8133" y="4631386"/>
                  <a:ext cx="458394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xmlns="" id="{0E6AD43A-0C05-5B07-5C6E-D66CA2266A17}"/>
                </a:ext>
              </a:extLst>
            </p:cNvPr>
            <p:cNvCxnSpPr>
              <a:cxnSpLocks/>
              <a:stCxn id="55" idx="0"/>
            </p:cNvCxnSpPr>
            <p:nvPr/>
          </p:nvCxnSpPr>
          <p:spPr>
            <a:xfrm flipH="1" flipV="1">
              <a:off x="4511399" y="4241954"/>
              <a:ext cx="5931" cy="389432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xmlns="" id="{F84839D8-1FE8-558D-F04D-CEBF12FBE230}"/>
                    </a:ext>
                  </a:extLst>
                </p:cNvPr>
                <p:cNvSpPr txBox="1"/>
                <p:nvPr/>
              </p:nvSpPr>
              <p:spPr>
                <a:xfrm>
                  <a:off x="4334939" y="3086237"/>
                  <a:ext cx="45518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84839D8-1FE8-558D-F04D-CEBF12FBE2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4939" y="3086237"/>
                  <a:ext cx="455189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TextBox 1">
              <a:extLst>
                <a:ext uri="{FF2B5EF4-FFF2-40B4-BE49-F238E27FC236}">
                  <a16:creationId xmlns:a16="http://schemas.microsoft.com/office/drawing/2014/main" xmlns="" id="{4748BDEF-2446-FE23-5B2C-793AF909BDCE}"/>
                </a:ext>
              </a:extLst>
            </p:cNvPr>
            <p:cNvSpPr txBox="1"/>
            <p:nvPr/>
          </p:nvSpPr>
          <p:spPr>
            <a:xfrm>
              <a:off x="4384923" y="1911844"/>
              <a:ext cx="11099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porta de esquecimento</a:t>
              </a:r>
              <a:endParaRPr lang="en-US" sz="1200" dirty="0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xmlns="" id="{C85B4195-B372-E787-8F12-B08B80B3B37A}"/>
                </a:ext>
              </a:extLst>
            </p:cNvPr>
            <p:cNvCxnSpPr/>
            <p:nvPr/>
          </p:nvCxnSpPr>
          <p:spPr>
            <a:xfrm flipH="1">
              <a:off x="4782073" y="2353118"/>
              <a:ext cx="157824" cy="18354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2369925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861D64E-2469-FC63-F655-1FF1BC1DD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xmlns="" id="{DDDC66B4-795D-0386-C6A6-872680ACA1CA}"/>
              </a:ext>
            </a:extLst>
          </p:cNvPr>
          <p:cNvGrpSpPr/>
          <p:nvPr/>
        </p:nvGrpSpPr>
        <p:grpSpPr>
          <a:xfrm>
            <a:off x="3387954" y="1841814"/>
            <a:ext cx="5133274" cy="3158904"/>
            <a:chOff x="3387954" y="1841814"/>
            <a:chExt cx="5133274" cy="3158904"/>
          </a:xfrm>
        </p:grpSpPr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xmlns="" id="{41D6A04D-A977-57C6-BBE4-F7117DDBB8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185" y="2204176"/>
              <a:ext cx="0" cy="468000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xmlns="" id="{31835FD8-8AD3-4B0A-A371-E7966EE6A4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36075" y="3192538"/>
              <a:ext cx="625" cy="14400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xmlns="" id="{CA7A50D6-894D-6761-436C-B653D779F630}"/>
                </a:ext>
              </a:extLst>
            </p:cNvPr>
            <p:cNvCxnSpPr>
              <a:cxnSpLocks/>
            </p:cNvCxnSpPr>
            <p:nvPr/>
          </p:nvCxnSpPr>
          <p:spPr>
            <a:xfrm>
              <a:off x="7233694" y="4241954"/>
              <a:ext cx="876634" cy="0"/>
            </a:xfrm>
            <a:prstGeom prst="line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xmlns="" id="{AEF27BDE-C09D-0D68-9C79-DA7E9ED468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32357" y="2715838"/>
              <a:ext cx="625" cy="18000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xmlns="" id="{060D2FD5-A69E-1D6A-534C-B7C9F72F79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50185" y="2756590"/>
              <a:ext cx="625" cy="147600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Oval 51">
              <a:extLst>
                <a:ext uri="{FF2B5EF4-FFF2-40B4-BE49-F238E27FC236}">
                  <a16:creationId xmlns:a16="http://schemas.microsoft.com/office/drawing/2014/main" xmlns="" id="{93D9F307-397C-606E-026E-047B70D57EB5}"/>
                </a:ext>
              </a:extLst>
            </p:cNvPr>
            <p:cNvSpPr/>
            <p:nvPr/>
          </p:nvSpPr>
          <p:spPr>
            <a:xfrm>
              <a:off x="7100175" y="3328952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xmlns="" id="{345AE2C3-FEB2-71A4-AA2C-1F8BD04F7BBA}"/>
                    </a:ext>
                  </a:extLst>
                </p:cNvPr>
                <p:cNvSpPr/>
                <p:nvPr/>
              </p:nvSpPr>
              <p:spPr>
                <a:xfrm>
                  <a:off x="6540167" y="3738898"/>
                  <a:ext cx="332510" cy="297872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345AE2C3-FEB2-71A4-AA2C-1F8BD04F7BB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0167" y="3738898"/>
                  <a:ext cx="332510" cy="29787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8" name="Connector: Elbow 77">
              <a:extLst>
                <a:ext uri="{FF2B5EF4-FFF2-40B4-BE49-F238E27FC236}">
                  <a16:creationId xmlns:a16="http://schemas.microsoft.com/office/drawing/2014/main" xmlns="" id="{6AC76772-952E-8B82-1FFD-D73E6C8944FE}"/>
                </a:ext>
              </a:extLst>
            </p:cNvPr>
            <p:cNvCxnSpPr>
              <a:cxnSpLocks/>
              <a:endCxn id="52" idx="2"/>
            </p:cNvCxnSpPr>
            <p:nvPr/>
          </p:nvCxnSpPr>
          <p:spPr>
            <a:xfrm flipV="1">
              <a:off x="6706422" y="3465477"/>
              <a:ext cx="393753" cy="270625"/>
            </a:xfrm>
            <a:prstGeom prst="bentConnector3">
              <a:avLst>
                <a:gd name="adj1" fmla="val 1620"/>
              </a:avLst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xmlns="" id="{2993F300-F04C-CB11-8596-077DAD6C20A2}"/>
                </a:ext>
              </a:extLst>
            </p:cNvPr>
            <p:cNvCxnSpPr>
              <a:cxnSpLocks/>
              <a:endCxn id="52" idx="4"/>
            </p:cNvCxnSpPr>
            <p:nvPr/>
          </p:nvCxnSpPr>
          <p:spPr>
            <a:xfrm flipV="1">
              <a:off x="7236700" y="3602002"/>
              <a:ext cx="0" cy="639952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xmlns="" id="{30EB91E8-A109-F185-A3B3-750D3FDB2887}"/>
                </a:ext>
              </a:extLst>
            </p:cNvPr>
            <p:cNvGrpSpPr/>
            <p:nvPr/>
          </p:nvGrpSpPr>
          <p:grpSpPr>
            <a:xfrm>
              <a:off x="6922167" y="2849398"/>
              <a:ext cx="627482" cy="369332"/>
              <a:chOff x="6108367" y="2910505"/>
              <a:chExt cx="627482" cy="369332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xmlns="" id="{AABFA6D8-9AE7-2CDF-00A7-00D520C155BE}"/>
                  </a:ext>
                </a:extLst>
              </p:cNvPr>
              <p:cNvSpPr/>
              <p:nvPr/>
            </p:nvSpPr>
            <p:spPr>
              <a:xfrm>
                <a:off x="6108367" y="2964609"/>
                <a:ext cx="614781" cy="29787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id="{39F88B70-CD76-6EAC-06FD-9D255BF40A35}"/>
                  </a:ext>
                </a:extLst>
              </p:cNvPr>
              <p:cNvSpPr txBox="1"/>
              <p:nvPr/>
            </p:nvSpPr>
            <p:spPr>
              <a:xfrm>
                <a:off x="6108701" y="2910505"/>
                <a:ext cx="6271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dirty="0" err="1">
                    <a:solidFill>
                      <a:schemeClr val="tx1"/>
                    </a:solidFill>
                  </a:rPr>
                  <a:t>tanh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30" name="Connector: Elbow 29">
              <a:extLst>
                <a:ext uri="{FF2B5EF4-FFF2-40B4-BE49-F238E27FC236}">
                  <a16:creationId xmlns:a16="http://schemas.microsoft.com/office/drawing/2014/main" xmlns="" id="{061F6089-8AE3-02BC-8033-D7C3B58283FE}"/>
                </a:ext>
              </a:extLst>
            </p:cNvPr>
            <p:cNvCxnSpPr>
              <a:cxnSpLocks/>
              <a:endCxn id="11" idx="2"/>
            </p:cNvCxnSpPr>
            <p:nvPr/>
          </p:nvCxnSpPr>
          <p:spPr>
            <a:xfrm rot="5400000" flipH="1" flipV="1">
              <a:off x="5288165" y="3260341"/>
              <a:ext cx="641827" cy="2194687"/>
            </a:xfrm>
            <a:prstGeom prst="bentConnector3">
              <a:avLst>
                <a:gd name="adj1" fmla="val 67289"/>
              </a:avLst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xmlns="" id="{B9E3D552-CE30-5202-A21A-832984102755}"/>
                </a:ext>
              </a:extLst>
            </p:cNvPr>
            <p:cNvSpPr/>
            <p:nvPr/>
          </p:nvSpPr>
          <p:spPr>
            <a:xfrm>
              <a:off x="4301176" y="2438400"/>
              <a:ext cx="3522024" cy="19812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88000"/>
              </a:schemeClr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xmlns="" id="{F28AF39C-2834-16CA-DBA0-AEBFF348E5C1}"/>
                </a:ext>
              </a:extLst>
            </p:cNvPr>
            <p:cNvCxnSpPr>
              <a:cxnSpLocks/>
              <a:stCxn id="17" idx="6"/>
              <a:endCxn id="48" idx="2"/>
            </p:cNvCxnSpPr>
            <p:nvPr/>
          </p:nvCxnSpPr>
          <p:spPr>
            <a:xfrm>
              <a:off x="4860985" y="2715788"/>
              <a:ext cx="992156" cy="1163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xmlns="" id="{6FE9D677-F8B6-B80A-64A4-6B5F9BBFF1AC}"/>
                </a:ext>
              </a:extLst>
            </p:cNvPr>
            <p:cNvSpPr/>
            <p:nvPr/>
          </p:nvSpPr>
          <p:spPr>
            <a:xfrm>
              <a:off x="5856481" y="3328952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xmlns="" id="{5FF9FAE6-D5F3-4F38-FD2D-96EF300B54DC}"/>
                    </a:ext>
                  </a:extLst>
                </p:cNvPr>
                <p:cNvSpPr/>
                <p:nvPr/>
              </p:nvSpPr>
              <p:spPr>
                <a:xfrm>
                  <a:off x="5122344" y="3736102"/>
                  <a:ext cx="332510" cy="297872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5FF9FAE6-D5F3-4F38-FD2D-96EF300B54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2344" y="3736102"/>
                  <a:ext cx="332510" cy="29787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DDE05879-A92C-038A-26CD-627B3B3BBC9E}"/>
                </a:ext>
              </a:extLst>
            </p:cNvPr>
            <p:cNvSpPr/>
            <p:nvPr/>
          </p:nvSpPr>
          <p:spPr>
            <a:xfrm>
              <a:off x="5686483" y="3736102"/>
              <a:ext cx="614781" cy="297872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>
                  <a:solidFill>
                    <a:schemeClr val="tx1"/>
                  </a:solidFill>
                </a:rPr>
                <a:t>tanh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xmlns="" id="{B369DC99-7E45-4694-C02B-8827A4A578AB}"/>
                </a:ext>
              </a:extLst>
            </p:cNvPr>
            <p:cNvCxnSpPr>
              <a:cxnSpLocks/>
            </p:cNvCxnSpPr>
            <p:nvPr/>
          </p:nvCxnSpPr>
          <p:spPr>
            <a:xfrm>
              <a:off x="5283260" y="4033974"/>
              <a:ext cx="0" cy="21161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xmlns="" id="{904662E6-BA88-D85D-EFCC-CAA961373AEA}"/>
                </a:ext>
              </a:extLst>
            </p:cNvPr>
            <p:cNvCxnSpPr>
              <a:cxnSpLocks/>
            </p:cNvCxnSpPr>
            <p:nvPr/>
          </p:nvCxnSpPr>
          <p:spPr>
            <a:xfrm>
              <a:off x="5988110" y="4033974"/>
              <a:ext cx="0" cy="21161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xmlns="" id="{2263CD92-0FD0-A7D7-9599-9C89CC8A9E39}"/>
                </a:ext>
              </a:extLst>
            </p:cNvPr>
            <p:cNvCxnSpPr>
              <a:cxnSpLocks/>
              <a:stCxn id="12" idx="0"/>
              <a:endCxn id="37" idx="4"/>
            </p:cNvCxnSpPr>
            <p:nvPr/>
          </p:nvCxnSpPr>
          <p:spPr>
            <a:xfrm flipH="1" flipV="1">
              <a:off x="5993006" y="3602002"/>
              <a:ext cx="868" cy="134100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Connector: Elbow 82">
              <a:extLst>
                <a:ext uri="{FF2B5EF4-FFF2-40B4-BE49-F238E27FC236}">
                  <a16:creationId xmlns:a16="http://schemas.microsoft.com/office/drawing/2014/main" xmlns="" id="{77AFBF91-0509-83D7-B0FC-53BB614F4BD3}"/>
                </a:ext>
              </a:extLst>
            </p:cNvPr>
            <p:cNvCxnSpPr>
              <a:stCxn id="10" idx="0"/>
              <a:endCxn id="37" idx="2"/>
            </p:cNvCxnSpPr>
            <p:nvPr/>
          </p:nvCxnSpPr>
          <p:spPr>
            <a:xfrm rot="5400000" flipH="1" flipV="1">
              <a:off x="5437228" y="3316849"/>
              <a:ext cx="270625" cy="567882"/>
            </a:xfrm>
            <a:prstGeom prst="bentConnector2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xmlns="" id="{EAC61687-6D03-CF74-F42B-08A5DC2E29D1}"/>
                    </a:ext>
                  </a:extLst>
                </p:cNvPr>
                <p:cNvSpPr txBox="1"/>
                <p:nvPr/>
              </p:nvSpPr>
              <p:spPr>
                <a:xfrm>
                  <a:off x="8050010" y="4070439"/>
                  <a:ext cx="4712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EAC61687-6D03-CF74-F42B-08A5DC2E29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0010" y="4070439"/>
                  <a:ext cx="471218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Oval 47">
              <a:extLst>
                <a:ext uri="{FF2B5EF4-FFF2-40B4-BE49-F238E27FC236}">
                  <a16:creationId xmlns:a16="http://schemas.microsoft.com/office/drawing/2014/main" xmlns="" id="{AD26CA9E-56A6-4198-D806-3A332FD6EB3F}"/>
                </a:ext>
              </a:extLst>
            </p:cNvPr>
            <p:cNvSpPr/>
            <p:nvPr/>
          </p:nvSpPr>
          <p:spPr>
            <a:xfrm>
              <a:off x="5853141" y="2580426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+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xmlns="" id="{09734D40-9979-E514-4F53-502671E18AD6}"/>
                </a:ext>
              </a:extLst>
            </p:cNvPr>
            <p:cNvCxnSpPr>
              <a:cxnSpLocks/>
            </p:cNvCxnSpPr>
            <p:nvPr/>
          </p:nvCxnSpPr>
          <p:spPr>
            <a:xfrm>
              <a:off x="6126191" y="2715788"/>
              <a:ext cx="1980000" cy="1163"/>
            </a:xfrm>
            <a:prstGeom prst="line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xmlns="" id="{192221E8-98B0-97BB-6D77-9137D6CE5F62}"/>
                </a:ext>
              </a:extLst>
            </p:cNvPr>
            <p:cNvCxnSpPr>
              <a:cxnSpLocks/>
              <a:stCxn id="37" idx="0"/>
              <a:endCxn id="48" idx="4"/>
            </p:cNvCxnSpPr>
            <p:nvPr/>
          </p:nvCxnSpPr>
          <p:spPr>
            <a:xfrm flipH="1" flipV="1">
              <a:off x="5989666" y="2853476"/>
              <a:ext cx="3340" cy="475476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xmlns="" id="{6BE2E37D-C9CD-672F-BC9A-55D75190BBF8}"/>
                    </a:ext>
                  </a:extLst>
                </p:cNvPr>
                <p:cNvSpPr txBox="1"/>
                <p:nvPr/>
              </p:nvSpPr>
              <p:spPr>
                <a:xfrm>
                  <a:off x="8039200" y="2529630"/>
                  <a:ext cx="4423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BE2E37D-C9CD-672F-BC9A-55D75190BB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39200" y="2529630"/>
                  <a:ext cx="442364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xmlns="" id="{95187632-EDBE-4A9F-6F24-A0E1DC2389CF}"/>
                </a:ext>
              </a:extLst>
            </p:cNvPr>
            <p:cNvCxnSpPr>
              <a:cxnSpLocks/>
              <a:endCxn id="17" idx="2"/>
            </p:cNvCxnSpPr>
            <p:nvPr/>
          </p:nvCxnSpPr>
          <p:spPr>
            <a:xfrm flipV="1">
              <a:off x="4012696" y="2715788"/>
              <a:ext cx="575239" cy="168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xmlns="" id="{FB63BB8C-8CDF-507A-D3B3-AEC868E78ACB}"/>
                </a:ext>
              </a:extLst>
            </p:cNvPr>
            <p:cNvSpPr/>
            <p:nvPr/>
          </p:nvSpPr>
          <p:spPr>
            <a:xfrm>
              <a:off x="4587935" y="2579263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xmlns="" id="{3F479985-A1F4-6572-D403-27A06458A8E1}"/>
                    </a:ext>
                  </a:extLst>
                </p:cNvPr>
                <p:cNvSpPr/>
                <p:nvPr/>
              </p:nvSpPr>
              <p:spPr>
                <a:xfrm>
                  <a:off x="4558205" y="3736102"/>
                  <a:ext cx="332510" cy="297872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3F479985-A1F4-6572-D403-27A06458A8E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8205" y="3736102"/>
                  <a:ext cx="332510" cy="29787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xmlns="" id="{9998E1E6-9B24-24E9-20DE-CFED16703223}"/>
                </a:ext>
              </a:extLst>
            </p:cNvPr>
            <p:cNvCxnSpPr>
              <a:stCxn id="8" idx="0"/>
              <a:endCxn id="17" idx="4"/>
            </p:cNvCxnSpPr>
            <p:nvPr/>
          </p:nvCxnSpPr>
          <p:spPr>
            <a:xfrm flipV="1">
              <a:off x="4724460" y="2852313"/>
              <a:ext cx="0" cy="883789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xmlns="" id="{169C3F89-4C87-AF8C-C0CE-A02D4E854092}"/>
                </a:ext>
              </a:extLst>
            </p:cNvPr>
            <p:cNvCxnSpPr>
              <a:cxnSpLocks/>
            </p:cNvCxnSpPr>
            <p:nvPr/>
          </p:nvCxnSpPr>
          <p:spPr>
            <a:xfrm>
              <a:off x="4724460" y="4033974"/>
              <a:ext cx="0" cy="21161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xmlns="" id="{265FA536-7F65-7BCA-9097-19FF4C657AFE}"/>
                </a:ext>
              </a:extLst>
            </p:cNvPr>
            <p:cNvCxnSpPr>
              <a:cxnSpLocks/>
            </p:cNvCxnSpPr>
            <p:nvPr/>
          </p:nvCxnSpPr>
          <p:spPr>
            <a:xfrm>
              <a:off x="3971971" y="4237301"/>
              <a:ext cx="2016000" cy="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xmlns="" id="{AEB3C603-8DDE-BBB3-F8E0-B4A4998EAC0C}"/>
                    </a:ext>
                  </a:extLst>
                </p:cNvPr>
                <p:cNvSpPr txBox="1"/>
                <p:nvPr/>
              </p:nvSpPr>
              <p:spPr>
                <a:xfrm>
                  <a:off x="3399976" y="2480066"/>
                  <a:ext cx="6619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EB3C603-8DDE-BBB3-F8E0-B4A4998EAC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9976" y="2480066"/>
                  <a:ext cx="66197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xmlns="" id="{8628CEEE-8E89-1C4D-2220-FE4E61FFCE88}"/>
                    </a:ext>
                  </a:extLst>
                </p:cNvPr>
                <p:cNvSpPr txBox="1"/>
                <p:nvPr/>
              </p:nvSpPr>
              <p:spPr>
                <a:xfrm>
                  <a:off x="3387954" y="4052158"/>
                  <a:ext cx="69083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8628CEEE-8E89-1C4D-2220-FE4E61FFCE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7954" y="4052158"/>
                  <a:ext cx="690830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xmlns="" id="{1985298A-2856-ABFD-C452-1A9F3EBD0134}"/>
                    </a:ext>
                  </a:extLst>
                </p:cNvPr>
                <p:cNvSpPr txBox="1"/>
                <p:nvPr/>
              </p:nvSpPr>
              <p:spPr>
                <a:xfrm>
                  <a:off x="7423392" y="1841814"/>
                  <a:ext cx="4712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1985298A-2856-ABFD-C452-1A9F3EBD01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3392" y="1841814"/>
                  <a:ext cx="471218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xmlns="" id="{36215880-FBAA-2090-61D8-3381AF0E06BC}"/>
                    </a:ext>
                  </a:extLst>
                </p:cNvPr>
                <p:cNvSpPr txBox="1"/>
                <p:nvPr/>
              </p:nvSpPr>
              <p:spPr>
                <a:xfrm>
                  <a:off x="4288133" y="4631386"/>
                  <a:ext cx="4583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36215880-FBAA-2090-61D8-3381AF0E06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8133" y="4631386"/>
                  <a:ext cx="458394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xmlns="" id="{7D80BECE-9ECC-B9DE-EF50-2C2B2C4AC5DB}"/>
                </a:ext>
              </a:extLst>
            </p:cNvPr>
            <p:cNvCxnSpPr>
              <a:cxnSpLocks/>
              <a:stCxn id="55" idx="0"/>
            </p:cNvCxnSpPr>
            <p:nvPr/>
          </p:nvCxnSpPr>
          <p:spPr>
            <a:xfrm flipH="1" flipV="1">
              <a:off x="4511399" y="4241954"/>
              <a:ext cx="5931" cy="389432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xmlns="" id="{1CBB1F56-3EBF-2506-9BB1-48E8BF989340}"/>
                    </a:ext>
                  </a:extLst>
                </p:cNvPr>
                <p:cNvSpPr txBox="1"/>
                <p:nvPr/>
              </p:nvSpPr>
              <p:spPr>
                <a:xfrm>
                  <a:off x="4334939" y="3086237"/>
                  <a:ext cx="45518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CBB1F56-3EBF-2506-9BB1-48E8BF9893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4939" y="3086237"/>
                  <a:ext cx="455189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xmlns="" id="{CA952064-AD70-94D9-E2DD-B91D4A28DC0F}"/>
                    </a:ext>
                  </a:extLst>
                </p:cNvPr>
                <p:cNvSpPr txBox="1"/>
                <p:nvPr/>
              </p:nvSpPr>
              <p:spPr>
                <a:xfrm>
                  <a:off x="5338207" y="3129437"/>
                  <a:ext cx="410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A952064-AD70-94D9-E2DD-B91D4A28DC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8207" y="3129437"/>
                  <a:ext cx="410304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xmlns="" id="{906BA239-78D0-0FC7-46DA-9E9A58FF0EA2}"/>
                    </a:ext>
                  </a:extLst>
                </p:cNvPr>
                <p:cNvSpPr txBox="1"/>
                <p:nvPr/>
              </p:nvSpPr>
              <p:spPr>
                <a:xfrm>
                  <a:off x="6012344" y="3390696"/>
                  <a:ext cx="4423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</m:acc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906BA239-78D0-0FC7-46DA-9E9A58FF0E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2344" y="3390696"/>
                  <a:ext cx="442364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274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5545564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A234DB3-EF34-ECEA-612A-5AF4DB057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xmlns="" id="{F9BBD2FD-CF73-528D-5800-EBFA500E45CD}"/>
              </a:ext>
            </a:extLst>
          </p:cNvPr>
          <p:cNvGrpSpPr/>
          <p:nvPr/>
        </p:nvGrpSpPr>
        <p:grpSpPr>
          <a:xfrm>
            <a:off x="3387954" y="1841814"/>
            <a:ext cx="5133274" cy="3158904"/>
            <a:chOff x="3387954" y="1841814"/>
            <a:chExt cx="5133274" cy="3158904"/>
          </a:xfrm>
        </p:grpSpPr>
        <p:cxnSp>
          <p:nvCxnSpPr>
            <p:cNvPr id="19" name="Connector: Elbow 18">
              <a:extLst>
                <a:ext uri="{FF2B5EF4-FFF2-40B4-BE49-F238E27FC236}">
                  <a16:creationId xmlns:a16="http://schemas.microsoft.com/office/drawing/2014/main" xmlns="" id="{DF034DC8-C749-090B-EE51-94854F66C6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97177" y="4033973"/>
              <a:ext cx="709244" cy="206124"/>
            </a:xfrm>
            <a:prstGeom prst="bentConnector2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xmlns="" id="{6FE0EB9D-21F9-4127-6D82-435A599952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185" y="2204176"/>
              <a:ext cx="0" cy="468000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xmlns="" id="{13CBD50A-A730-8AFE-B031-D15997274F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32357" y="2715838"/>
              <a:ext cx="625" cy="18000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xmlns="" id="{91D4EC76-045A-4A76-251A-E4E6ACE08988}"/>
                    </a:ext>
                  </a:extLst>
                </p:cNvPr>
                <p:cNvSpPr txBox="1"/>
                <p:nvPr/>
              </p:nvSpPr>
              <p:spPr>
                <a:xfrm>
                  <a:off x="8039200" y="2529630"/>
                  <a:ext cx="4423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1D4EC76-045A-4A76-251A-E4E6ACE089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39200" y="2529630"/>
                  <a:ext cx="44236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xmlns="" id="{689F7505-4009-14AF-E17D-4AAF1B48F2F2}"/>
                    </a:ext>
                  </a:extLst>
                </p:cNvPr>
                <p:cNvSpPr txBox="1"/>
                <p:nvPr/>
              </p:nvSpPr>
              <p:spPr>
                <a:xfrm>
                  <a:off x="7423392" y="1841814"/>
                  <a:ext cx="4712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689F7505-4009-14AF-E17D-4AAF1B48F2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3392" y="1841814"/>
                  <a:ext cx="47121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xmlns="" id="{E5886DE6-1077-206C-D3CA-99E74DEC9394}"/>
                </a:ext>
              </a:extLst>
            </p:cNvPr>
            <p:cNvCxnSpPr>
              <a:cxnSpLocks/>
              <a:stCxn id="17" idx="6"/>
              <a:endCxn id="48" idx="2"/>
            </p:cNvCxnSpPr>
            <p:nvPr/>
          </p:nvCxnSpPr>
          <p:spPr>
            <a:xfrm>
              <a:off x="4860985" y="2715788"/>
              <a:ext cx="992156" cy="1163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xmlns="" id="{CFF05A71-582D-9191-9743-99F9C78418F2}"/>
                </a:ext>
              </a:extLst>
            </p:cNvPr>
            <p:cNvSpPr/>
            <p:nvPr/>
          </p:nvSpPr>
          <p:spPr>
            <a:xfrm>
              <a:off x="5853141" y="2580426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+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xmlns="" id="{654B79FE-0697-96CC-0810-CAF4594A53DB}"/>
                </a:ext>
              </a:extLst>
            </p:cNvPr>
            <p:cNvCxnSpPr>
              <a:cxnSpLocks/>
            </p:cNvCxnSpPr>
            <p:nvPr/>
          </p:nvCxnSpPr>
          <p:spPr>
            <a:xfrm>
              <a:off x="6126191" y="2715788"/>
              <a:ext cx="1980000" cy="1163"/>
            </a:xfrm>
            <a:prstGeom prst="line">
              <a:avLst/>
            </a:prstGeom>
            <a:ln w="19050">
              <a:solidFill>
                <a:schemeClr val="dk1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xmlns="" id="{C15C5B51-0C20-185B-0040-A8999AD745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50185" y="2756590"/>
              <a:ext cx="625" cy="147600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Oval 51">
              <a:extLst>
                <a:ext uri="{FF2B5EF4-FFF2-40B4-BE49-F238E27FC236}">
                  <a16:creationId xmlns:a16="http://schemas.microsoft.com/office/drawing/2014/main" xmlns="" id="{4A337265-AB1F-6C47-6023-FD5F7C1D768B}"/>
                </a:ext>
              </a:extLst>
            </p:cNvPr>
            <p:cNvSpPr/>
            <p:nvPr/>
          </p:nvSpPr>
          <p:spPr>
            <a:xfrm>
              <a:off x="7100175" y="3328952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xmlns="" id="{FA8CE05B-78DD-6CF4-4CBF-4D95C037C8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36075" y="3192538"/>
              <a:ext cx="625" cy="14400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xmlns="" id="{35C35CCD-5DF6-163D-A028-0291F843D86F}"/>
                    </a:ext>
                  </a:extLst>
                </p:cNvPr>
                <p:cNvSpPr/>
                <p:nvPr/>
              </p:nvSpPr>
              <p:spPr>
                <a:xfrm>
                  <a:off x="6540167" y="3738898"/>
                  <a:ext cx="332510" cy="297872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35C35CCD-5DF6-163D-A028-0291F843D86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0167" y="3738898"/>
                  <a:ext cx="332510" cy="29787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8" name="Connector: Elbow 77">
              <a:extLst>
                <a:ext uri="{FF2B5EF4-FFF2-40B4-BE49-F238E27FC236}">
                  <a16:creationId xmlns:a16="http://schemas.microsoft.com/office/drawing/2014/main" xmlns="" id="{EE08F870-46C7-6BA5-D892-5DC0823B8B82}"/>
                </a:ext>
              </a:extLst>
            </p:cNvPr>
            <p:cNvCxnSpPr>
              <a:cxnSpLocks/>
              <a:endCxn id="52" idx="2"/>
            </p:cNvCxnSpPr>
            <p:nvPr/>
          </p:nvCxnSpPr>
          <p:spPr>
            <a:xfrm flipV="1">
              <a:off x="6706422" y="3465477"/>
              <a:ext cx="393753" cy="270625"/>
            </a:xfrm>
            <a:prstGeom prst="bentConnector3">
              <a:avLst>
                <a:gd name="adj1" fmla="val 1620"/>
              </a:avLst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xmlns="" id="{70F127C9-AC3F-6FC7-7015-EB3F874395B3}"/>
                </a:ext>
              </a:extLst>
            </p:cNvPr>
            <p:cNvCxnSpPr>
              <a:cxnSpLocks/>
            </p:cNvCxnSpPr>
            <p:nvPr/>
          </p:nvCxnSpPr>
          <p:spPr>
            <a:xfrm>
              <a:off x="7233694" y="4241954"/>
              <a:ext cx="876634" cy="0"/>
            </a:xfrm>
            <a:prstGeom prst="line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xmlns="" id="{2DEFA638-D7CB-D2C1-F61C-49C9439A7FA6}"/>
                </a:ext>
              </a:extLst>
            </p:cNvPr>
            <p:cNvCxnSpPr>
              <a:cxnSpLocks/>
              <a:endCxn id="52" idx="4"/>
            </p:cNvCxnSpPr>
            <p:nvPr/>
          </p:nvCxnSpPr>
          <p:spPr>
            <a:xfrm flipV="1">
              <a:off x="7236700" y="3602002"/>
              <a:ext cx="0" cy="639952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xmlns="" id="{80D1BF60-4C30-885A-46CD-5A06FD769BC1}"/>
                    </a:ext>
                  </a:extLst>
                </p:cNvPr>
                <p:cNvSpPr txBox="1"/>
                <p:nvPr/>
              </p:nvSpPr>
              <p:spPr>
                <a:xfrm>
                  <a:off x="8050010" y="4070439"/>
                  <a:ext cx="4712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80D1BF60-4C30-885A-46CD-5A06FD769B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0010" y="4070439"/>
                  <a:ext cx="471218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xmlns="" id="{E8A0CBF4-F2C9-5D9E-588A-3326EE3EECF4}"/>
                </a:ext>
              </a:extLst>
            </p:cNvPr>
            <p:cNvGrpSpPr/>
            <p:nvPr/>
          </p:nvGrpSpPr>
          <p:grpSpPr>
            <a:xfrm>
              <a:off x="6922167" y="2849398"/>
              <a:ext cx="627482" cy="369332"/>
              <a:chOff x="6108367" y="2910505"/>
              <a:chExt cx="627482" cy="369332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xmlns="" id="{107CF738-51F4-26CF-4AAC-343FF70BC94C}"/>
                  </a:ext>
                </a:extLst>
              </p:cNvPr>
              <p:cNvSpPr/>
              <p:nvPr/>
            </p:nvSpPr>
            <p:spPr>
              <a:xfrm>
                <a:off x="6108367" y="2964609"/>
                <a:ext cx="614781" cy="29787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id="{4C4917B0-970A-52A6-4BF6-4C187C5F5E93}"/>
                  </a:ext>
                </a:extLst>
              </p:cNvPr>
              <p:cNvSpPr txBox="1"/>
              <p:nvPr/>
            </p:nvSpPr>
            <p:spPr>
              <a:xfrm>
                <a:off x="6108701" y="2910505"/>
                <a:ext cx="6271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dirty="0" err="1">
                    <a:solidFill>
                      <a:schemeClr val="tx1"/>
                    </a:solidFill>
                  </a:rPr>
                  <a:t>tanh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xmlns="" id="{F3CB2341-7DBA-D4E4-B23F-BF0D44A485D8}"/>
                </a:ext>
              </a:extLst>
            </p:cNvPr>
            <p:cNvCxnSpPr>
              <a:cxnSpLocks/>
              <a:endCxn id="17" idx="2"/>
            </p:cNvCxnSpPr>
            <p:nvPr/>
          </p:nvCxnSpPr>
          <p:spPr>
            <a:xfrm flipV="1">
              <a:off x="4012696" y="2715788"/>
              <a:ext cx="575239" cy="168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xmlns="" id="{AA8D110F-2064-E200-21EE-AF61992464EC}"/>
                </a:ext>
              </a:extLst>
            </p:cNvPr>
            <p:cNvSpPr/>
            <p:nvPr/>
          </p:nvSpPr>
          <p:spPr>
            <a:xfrm>
              <a:off x="4587935" y="2579263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xmlns="" id="{23647E35-392E-B810-6545-AEF318DFD74D}"/>
                    </a:ext>
                  </a:extLst>
                </p:cNvPr>
                <p:cNvSpPr/>
                <p:nvPr/>
              </p:nvSpPr>
              <p:spPr>
                <a:xfrm>
                  <a:off x="4558205" y="3736102"/>
                  <a:ext cx="332510" cy="297872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23647E35-392E-B810-6545-AEF318DFD7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8205" y="3736102"/>
                  <a:ext cx="332510" cy="29787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xmlns="" id="{4CDC89E9-0430-8EEF-44E8-B1162A3894FA}"/>
                </a:ext>
              </a:extLst>
            </p:cNvPr>
            <p:cNvCxnSpPr>
              <a:stCxn id="8" idx="0"/>
              <a:endCxn id="17" idx="4"/>
            </p:cNvCxnSpPr>
            <p:nvPr/>
          </p:nvCxnSpPr>
          <p:spPr>
            <a:xfrm flipV="1">
              <a:off x="4724460" y="2852313"/>
              <a:ext cx="0" cy="883789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xmlns="" id="{CF52A80A-7364-7C4A-491B-E886D001446E}"/>
                </a:ext>
              </a:extLst>
            </p:cNvPr>
            <p:cNvCxnSpPr>
              <a:cxnSpLocks/>
            </p:cNvCxnSpPr>
            <p:nvPr/>
          </p:nvCxnSpPr>
          <p:spPr>
            <a:xfrm>
              <a:off x="4724460" y="4033974"/>
              <a:ext cx="0" cy="21161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xmlns="" id="{B7E1AAE5-0DE3-43D5-FD4E-3B36E025A6DD}"/>
                    </a:ext>
                  </a:extLst>
                </p:cNvPr>
                <p:cNvSpPr txBox="1"/>
                <p:nvPr/>
              </p:nvSpPr>
              <p:spPr>
                <a:xfrm>
                  <a:off x="3399976" y="2480066"/>
                  <a:ext cx="6619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B7E1AAE5-0DE3-43D5-FD4E-3B36E025A6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9976" y="2480066"/>
                  <a:ext cx="66197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xmlns="" id="{346BD185-FE16-6426-012D-3F5E5BC1B0BF}"/>
                    </a:ext>
                  </a:extLst>
                </p:cNvPr>
                <p:cNvSpPr txBox="1"/>
                <p:nvPr/>
              </p:nvSpPr>
              <p:spPr>
                <a:xfrm>
                  <a:off x="3387954" y="4052158"/>
                  <a:ext cx="69083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346BD185-FE16-6426-012D-3F5E5BC1B0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7954" y="4052158"/>
                  <a:ext cx="690830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xmlns="" id="{3083DA91-C8EF-B9D3-7A03-4B16B76C739C}"/>
                    </a:ext>
                  </a:extLst>
                </p:cNvPr>
                <p:cNvSpPr txBox="1"/>
                <p:nvPr/>
              </p:nvSpPr>
              <p:spPr>
                <a:xfrm>
                  <a:off x="4288133" y="4631386"/>
                  <a:ext cx="4583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3083DA91-C8EF-B9D3-7A03-4B16B76C73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8133" y="4631386"/>
                  <a:ext cx="458394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xmlns="" id="{466CBD43-63E2-FE59-CAE9-5B06AEA54494}"/>
                    </a:ext>
                  </a:extLst>
                </p:cNvPr>
                <p:cNvSpPr txBox="1"/>
                <p:nvPr/>
              </p:nvSpPr>
              <p:spPr>
                <a:xfrm>
                  <a:off x="4334939" y="3086237"/>
                  <a:ext cx="4159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66CBD43-63E2-FE59-CAE9-5B06AEA544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4939" y="3086237"/>
                  <a:ext cx="415947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xmlns="" id="{27D3300A-C524-4BB3-938B-E7ABEAA66485}"/>
                </a:ext>
              </a:extLst>
            </p:cNvPr>
            <p:cNvSpPr/>
            <p:nvPr/>
          </p:nvSpPr>
          <p:spPr>
            <a:xfrm>
              <a:off x="4301176" y="2438400"/>
              <a:ext cx="3522024" cy="19812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88000"/>
              </a:schemeClr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xmlns="" id="{05C896E5-693F-A300-F512-729F492C7D88}"/>
                </a:ext>
              </a:extLst>
            </p:cNvPr>
            <p:cNvSpPr/>
            <p:nvPr/>
          </p:nvSpPr>
          <p:spPr>
            <a:xfrm>
              <a:off x="5856481" y="3252752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xmlns="" id="{5D3A246B-9585-73E3-9594-FF1ACEFC8834}"/>
                    </a:ext>
                  </a:extLst>
                </p:cNvPr>
                <p:cNvSpPr/>
                <p:nvPr/>
              </p:nvSpPr>
              <p:spPr>
                <a:xfrm>
                  <a:off x="5122344" y="3736102"/>
                  <a:ext cx="332510" cy="297872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5D3A246B-9585-73E3-9594-FF1ACEFC88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2344" y="3736102"/>
                  <a:ext cx="332510" cy="29787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76A4B15F-241C-8207-6750-4AC1C26C03EF}"/>
                </a:ext>
              </a:extLst>
            </p:cNvPr>
            <p:cNvSpPr/>
            <p:nvPr/>
          </p:nvSpPr>
          <p:spPr>
            <a:xfrm>
              <a:off x="5686483" y="3736102"/>
              <a:ext cx="614781" cy="297872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>
                  <a:solidFill>
                    <a:schemeClr val="tx1"/>
                  </a:solidFill>
                </a:rPr>
                <a:t>tanh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xmlns="" id="{4CB04675-C1B8-179E-063A-83532350B5B6}"/>
                </a:ext>
              </a:extLst>
            </p:cNvPr>
            <p:cNvCxnSpPr>
              <a:cxnSpLocks/>
            </p:cNvCxnSpPr>
            <p:nvPr/>
          </p:nvCxnSpPr>
          <p:spPr>
            <a:xfrm>
              <a:off x="5283260" y="4033974"/>
              <a:ext cx="0" cy="21161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xmlns="" id="{17CE081A-B21A-762E-73B2-73F86C9D8550}"/>
                </a:ext>
              </a:extLst>
            </p:cNvPr>
            <p:cNvCxnSpPr>
              <a:cxnSpLocks/>
            </p:cNvCxnSpPr>
            <p:nvPr/>
          </p:nvCxnSpPr>
          <p:spPr>
            <a:xfrm>
              <a:off x="5988110" y="4033974"/>
              <a:ext cx="0" cy="21161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xmlns="" id="{2C2883E7-1C60-5FCB-605F-9E00B531F42A}"/>
                </a:ext>
              </a:extLst>
            </p:cNvPr>
            <p:cNvCxnSpPr>
              <a:cxnSpLocks/>
              <a:stCxn id="12" idx="0"/>
              <a:endCxn id="37" idx="4"/>
            </p:cNvCxnSpPr>
            <p:nvPr/>
          </p:nvCxnSpPr>
          <p:spPr>
            <a:xfrm flipH="1" flipV="1">
              <a:off x="5993006" y="3525802"/>
              <a:ext cx="868" cy="2103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Connector: Elbow 82">
              <a:extLst>
                <a:ext uri="{FF2B5EF4-FFF2-40B4-BE49-F238E27FC236}">
                  <a16:creationId xmlns:a16="http://schemas.microsoft.com/office/drawing/2014/main" xmlns="" id="{8C799CC9-8CDC-AC46-4D9C-14D8CB6E28DC}"/>
                </a:ext>
              </a:extLst>
            </p:cNvPr>
            <p:cNvCxnSpPr>
              <a:stCxn id="10" idx="0"/>
              <a:endCxn id="37" idx="2"/>
            </p:cNvCxnSpPr>
            <p:nvPr/>
          </p:nvCxnSpPr>
          <p:spPr>
            <a:xfrm rot="5400000" flipH="1" flipV="1">
              <a:off x="5399128" y="3278749"/>
              <a:ext cx="346825" cy="567882"/>
            </a:xfrm>
            <a:prstGeom prst="bentConnector2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xmlns="" id="{E2DCA249-8B08-434F-AA72-F87E61B41222}"/>
                </a:ext>
              </a:extLst>
            </p:cNvPr>
            <p:cNvCxnSpPr>
              <a:cxnSpLocks/>
              <a:stCxn id="37" idx="0"/>
              <a:endCxn id="48" idx="4"/>
            </p:cNvCxnSpPr>
            <p:nvPr/>
          </p:nvCxnSpPr>
          <p:spPr>
            <a:xfrm flipH="1" flipV="1">
              <a:off x="5989666" y="2853476"/>
              <a:ext cx="3340" cy="399276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xmlns="" id="{BDC3B73C-A49D-04B7-5662-8E7514E23CD8}"/>
                </a:ext>
              </a:extLst>
            </p:cNvPr>
            <p:cNvSpPr txBox="1"/>
            <p:nvPr/>
          </p:nvSpPr>
          <p:spPr>
            <a:xfrm>
              <a:off x="6106421" y="1896928"/>
              <a:ext cx="11099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porta de entrada</a:t>
              </a:r>
              <a:endParaRPr lang="en-US" sz="1200" dirty="0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xmlns="" id="{3B80609F-3EC0-40F6-4D37-14444E24FA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6673" y="2356574"/>
              <a:ext cx="442406" cy="97237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xmlns="" id="{9077C205-DBA7-D8FC-2C97-C88478ADBE7F}"/>
                </a:ext>
              </a:extLst>
            </p:cNvPr>
            <p:cNvCxnSpPr>
              <a:cxnSpLocks/>
            </p:cNvCxnSpPr>
            <p:nvPr/>
          </p:nvCxnSpPr>
          <p:spPr>
            <a:xfrm>
              <a:off x="3971971" y="4237301"/>
              <a:ext cx="2016139" cy="4653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xmlns="" id="{868098FF-7972-7827-660D-CE72BBD2AC48}"/>
                </a:ext>
              </a:extLst>
            </p:cNvPr>
            <p:cNvCxnSpPr>
              <a:cxnSpLocks/>
              <a:stCxn id="55" idx="0"/>
            </p:cNvCxnSpPr>
            <p:nvPr/>
          </p:nvCxnSpPr>
          <p:spPr>
            <a:xfrm flipH="1" flipV="1">
              <a:off x="4511399" y="4241954"/>
              <a:ext cx="5931" cy="389432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xmlns="" id="{8C33C103-F223-93E6-D020-D7253E16BE98}"/>
                    </a:ext>
                  </a:extLst>
                </p:cNvPr>
                <p:cNvSpPr txBox="1"/>
                <p:nvPr/>
              </p:nvSpPr>
              <p:spPr>
                <a:xfrm>
                  <a:off x="5307727" y="3030377"/>
                  <a:ext cx="410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C33C103-F223-93E6-D020-D7253E16B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7727" y="3030377"/>
                  <a:ext cx="410304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xmlns="" id="{79AD6FF1-1653-82A9-4E02-91F61C3D7321}"/>
                    </a:ext>
                  </a:extLst>
                </p:cNvPr>
                <p:cNvSpPr txBox="1"/>
                <p:nvPr/>
              </p:nvSpPr>
              <p:spPr>
                <a:xfrm>
                  <a:off x="5983458" y="3389277"/>
                  <a:ext cx="4423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</m:acc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79AD6FF1-1653-82A9-4E02-91F61C3D73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3458" y="3389277"/>
                  <a:ext cx="442364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2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7051480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535DB89-0292-4C5A-F4B1-0C7B0D5D7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xmlns="" id="{1E6693AB-9080-966C-4D58-2EA6DBD07FBC}"/>
              </a:ext>
            </a:extLst>
          </p:cNvPr>
          <p:cNvGrpSpPr/>
          <p:nvPr/>
        </p:nvGrpSpPr>
        <p:grpSpPr>
          <a:xfrm>
            <a:off x="134391" y="1849548"/>
            <a:ext cx="5133274" cy="3158904"/>
            <a:chOff x="3387954" y="1841814"/>
            <a:chExt cx="5133274" cy="3158904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xmlns="" id="{9D484352-76E3-BDB1-D326-EDCC4E24536F}"/>
                </a:ext>
              </a:extLst>
            </p:cNvPr>
            <p:cNvCxnSpPr>
              <a:cxnSpLocks/>
            </p:cNvCxnSpPr>
            <p:nvPr/>
          </p:nvCxnSpPr>
          <p:spPr>
            <a:xfrm>
              <a:off x="4724460" y="4033974"/>
              <a:ext cx="0" cy="21161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xmlns="" id="{45339A55-66C9-1111-90CF-606F78A377CF}"/>
                </a:ext>
              </a:extLst>
            </p:cNvPr>
            <p:cNvCxnSpPr>
              <a:cxnSpLocks/>
            </p:cNvCxnSpPr>
            <p:nvPr/>
          </p:nvCxnSpPr>
          <p:spPr>
            <a:xfrm>
              <a:off x="5283260" y="4033974"/>
              <a:ext cx="0" cy="21161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xmlns="" id="{B36FCAE8-5860-FC81-28DB-F1330525841E}"/>
                </a:ext>
              </a:extLst>
            </p:cNvPr>
            <p:cNvCxnSpPr>
              <a:cxnSpLocks/>
            </p:cNvCxnSpPr>
            <p:nvPr/>
          </p:nvCxnSpPr>
          <p:spPr>
            <a:xfrm>
              <a:off x="5988110" y="4033974"/>
              <a:ext cx="0" cy="21161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xmlns="" id="{CDAD974B-2567-4FED-B1AF-B8BC328A9530}"/>
                </a:ext>
              </a:extLst>
            </p:cNvPr>
            <p:cNvCxnSpPr>
              <a:cxnSpLocks/>
            </p:cNvCxnSpPr>
            <p:nvPr/>
          </p:nvCxnSpPr>
          <p:spPr>
            <a:xfrm>
              <a:off x="6126191" y="2715788"/>
              <a:ext cx="1980000" cy="1163"/>
            </a:xfrm>
            <a:prstGeom prst="line">
              <a:avLst/>
            </a:prstGeom>
            <a:ln w="19050">
              <a:solidFill>
                <a:schemeClr val="dk1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xmlns="" id="{EEF54D2C-3691-135A-5D48-B7BB3D84F1E6}"/>
                </a:ext>
              </a:extLst>
            </p:cNvPr>
            <p:cNvCxnSpPr>
              <a:cxnSpLocks/>
              <a:stCxn id="17" idx="6"/>
              <a:endCxn id="48" idx="2"/>
            </p:cNvCxnSpPr>
            <p:nvPr/>
          </p:nvCxnSpPr>
          <p:spPr>
            <a:xfrm>
              <a:off x="4860985" y="2715788"/>
              <a:ext cx="992156" cy="1163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xmlns="" id="{6CFC43CE-312C-CC1D-0867-9CAB78D3BDC8}"/>
                </a:ext>
              </a:extLst>
            </p:cNvPr>
            <p:cNvSpPr/>
            <p:nvPr/>
          </p:nvSpPr>
          <p:spPr>
            <a:xfrm>
              <a:off x="5853141" y="2580426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+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xmlns="" id="{52054C13-DF96-0311-7938-30530BBE6CA2}"/>
                </a:ext>
              </a:extLst>
            </p:cNvPr>
            <p:cNvCxnSpPr>
              <a:cxnSpLocks/>
              <a:endCxn id="17" idx="2"/>
            </p:cNvCxnSpPr>
            <p:nvPr/>
          </p:nvCxnSpPr>
          <p:spPr>
            <a:xfrm flipV="1">
              <a:off x="4012696" y="2715788"/>
              <a:ext cx="575239" cy="168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xmlns="" id="{6EEDC121-F607-FE73-E57A-90D5378D9C3D}"/>
                </a:ext>
              </a:extLst>
            </p:cNvPr>
            <p:cNvSpPr/>
            <p:nvPr/>
          </p:nvSpPr>
          <p:spPr>
            <a:xfrm>
              <a:off x="4587935" y="2579263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xmlns="" id="{9C8FF9AB-00C9-B769-9AED-2DC857398DF7}"/>
                    </a:ext>
                  </a:extLst>
                </p:cNvPr>
                <p:cNvSpPr/>
                <p:nvPr/>
              </p:nvSpPr>
              <p:spPr>
                <a:xfrm>
                  <a:off x="4558205" y="3736102"/>
                  <a:ext cx="332510" cy="297872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9C8FF9AB-00C9-B769-9AED-2DC857398DF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8205" y="3736102"/>
                  <a:ext cx="332510" cy="29787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xmlns="" id="{254208A2-C0A3-CC7C-102B-529EF10CE5E0}"/>
                </a:ext>
              </a:extLst>
            </p:cNvPr>
            <p:cNvCxnSpPr>
              <a:stCxn id="8" idx="0"/>
              <a:endCxn id="17" idx="4"/>
            </p:cNvCxnSpPr>
            <p:nvPr/>
          </p:nvCxnSpPr>
          <p:spPr>
            <a:xfrm flipV="1">
              <a:off x="4724460" y="2852313"/>
              <a:ext cx="0" cy="883789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xmlns="" id="{67D2E9AC-D0D7-5FF8-3056-16991D60205D}"/>
                    </a:ext>
                  </a:extLst>
                </p:cNvPr>
                <p:cNvSpPr txBox="1"/>
                <p:nvPr/>
              </p:nvSpPr>
              <p:spPr>
                <a:xfrm>
                  <a:off x="3399976" y="2480066"/>
                  <a:ext cx="6619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7D2E9AC-D0D7-5FF8-3056-16991D6020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9976" y="2480066"/>
                  <a:ext cx="661976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xmlns="" id="{79558D3F-5963-20E5-DEAE-BB393D386DFC}"/>
                    </a:ext>
                  </a:extLst>
                </p:cNvPr>
                <p:cNvSpPr txBox="1"/>
                <p:nvPr/>
              </p:nvSpPr>
              <p:spPr>
                <a:xfrm>
                  <a:off x="4334939" y="3086237"/>
                  <a:ext cx="4159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9558D3F-5963-20E5-DEAE-BB393D386D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4939" y="3086237"/>
                  <a:ext cx="415947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Oval 36">
              <a:extLst>
                <a:ext uri="{FF2B5EF4-FFF2-40B4-BE49-F238E27FC236}">
                  <a16:creationId xmlns:a16="http://schemas.microsoft.com/office/drawing/2014/main" xmlns="" id="{41E5331B-7497-3EAB-612D-76B2411DE483}"/>
                </a:ext>
              </a:extLst>
            </p:cNvPr>
            <p:cNvSpPr/>
            <p:nvPr/>
          </p:nvSpPr>
          <p:spPr>
            <a:xfrm>
              <a:off x="5856481" y="3252752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xmlns="" id="{5F79EBCF-B49E-1CFB-4AB2-62E6C0D8D56C}"/>
                    </a:ext>
                  </a:extLst>
                </p:cNvPr>
                <p:cNvSpPr/>
                <p:nvPr/>
              </p:nvSpPr>
              <p:spPr>
                <a:xfrm>
                  <a:off x="5122344" y="3736102"/>
                  <a:ext cx="332510" cy="297872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5F79EBCF-B49E-1CFB-4AB2-62E6C0D8D5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2344" y="3736102"/>
                  <a:ext cx="332510" cy="29787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574A35A4-9645-799F-CFAB-50CBB9BB146C}"/>
                </a:ext>
              </a:extLst>
            </p:cNvPr>
            <p:cNvSpPr/>
            <p:nvPr/>
          </p:nvSpPr>
          <p:spPr>
            <a:xfrm>
              <a:off x="5686483" y="3736102"/>
              <a:ext cx="614781" cy="297872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>
                  <a:solidFill>
                    <a:schemeClr val="tx1"/>
                  </a:solidFill>
                </a:rPr>
                <a:t>tanh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xmlns="" id="{372D9875-E4CD-C4BF-D584-E170D8775680}"/>
                </a:ext>
              </a:extLst>
            </p:cNvPr>
            <p:cNvCxnSpPr>
              <a:cxnSpLocks/>
              <a:stCxn id="12" idx="0"/>
              <a:endCxn id="37" idx="4"/>
            </p:cNvCxnSpPr>
            <p:nvPr/>
          </p:nvCxnSpPr>
          <p:spPr>
            <a:xfrm flipH="1" flipV="1">
              <a:off x="5993006" y="3525802"/>
              <a:ext cx="868" cy="2103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Connector: Elbow 82">
              <a:extLst>
                <a:ext uri="{FF2B5EF4-FFF2-40B4-BE49-F238E27FC236}">
                  <a16:creationId xmlns:a16="http://schemas.microsoft.com/office/drawing/2014/main" xmlns="" id="{60BE383E-58A4-904C-1437-9E2DD4690B12}"/>
                </a:ext>
              </a:extLst>
            </p:cNvPr>
            <p:cNvCxnSpPr>
              <a:stCxn id="10" idx="0"/>
              <a:endCxn id="37" idx="2"/>
            </p:cNvCxnSpPr>
            <p:nvPr/>
          </p:nvCxnSpPr>
          <p:spPr>
            <a:xfrm rot="5400000" flipH="1" flipV="1">
              <a:off x="5399128" y="3278749"/>
              <a:ext cx="346825" cy="567882"/>
            </a:xfrm>
            <a:prstGeom prst="bentConnector2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xmlns="" id="{B44B526B-5C9D-0035-BEF6-CCF89FFA0A78}"/>
                </a:ext>
              </a:extLst>
            </p:cNvPr>
            <p:cNvCxnSpPr>
              <a:cxnSpLocks/>
              <a:stCxn id="37" idx="0"/>
              <a:endCxn id="48" idx="4"/>
            </p:cNvCxnSpPr>
            <p:nvPr/>
          </p:nvCxnSpPr>
          <p:spPr>
            <a:xfrm flipH="1" flipV="1">
              <a:off x="5989666" y="2853476"/>
              <a:ext cx="3340" cy="399276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xmlns="" id="{3CF19B3A-11ED-BF65-8794-A33574BF5B8D}"/>
                    </a:ext>
                  </a:extLst>
                </p:cNvPr>
                <p:cNvSpPr txBox="1"/>
                <p:nvPr/>
              </p:nvSpPr>
              <p:spPr>
                <a:xfrm>
                  <a:off x="5307727" y="3030377"/>
                  <a:ext cx="3990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3CF19B3A-11ED-BF65-8794-A33574BF5B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7727" y="3030377"/>
                  <a:ext cx="399084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xmlns="" id="{084BF1A6-CB8D-11E0-69DF-1D0112A2A4FC}"/>
                    </a:ext>
                  </a:extLst>
                </p:cNvPr>
                <p:cNvSpPr txBox="1"/>
                <p:nvPr/>
              </p:nvSpPr>
              <p:spPr>
                <a:xfrm>
                  <a:off x="5983458" y="3389277"/>
                  <a:ext cx="42550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acc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84BF1A6-CB8D-11E0-69DF-1D0112A2A4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3458" y="3389277"/>
                  <a:ext cx="425501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231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xmlns="" id="{E5E1E212-22FF-F303-C8DD-044D2FD556BD}"/>
                </a:ext>
              </a:extLst>
            </p:cNvPr>
            <p:cNvSpPr/>
            <p:nvPr/>
          </p:nvSpPr>
          <p:spPr>
            <a:xfrm>
              <a:off x="4301176" y="2438400"/>
              <a:ext cx="3522024" cy="19812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88000"/>
              </a:schemeClr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Connector: Elbow 18">
              <a:extLst>
                <a:ext uri="{FF2B5EF4-FFF2-40B4-BE49-F238E27FC236}">
                  <a16:creationId xmlns:a16="http://schemas.microsoft.com/office/drawing/2014/main" xmlns="" id="{FEB49339-2251-0621-3FB2-5F0777E8738C}"/>
                </a:ext>
              </a:extLst>
            </p:cNvPr>
            <p:cNvCxnSpPr>
              <a:cxnSpLocks/>
              <a:stCxn id="50" idx="3"/>
              <a:endCxn id="11" idx="2"/>
            </p:cNvCxnSpPr>
            <p:nvPr/>
          </p:nvCxnSpPr>
          <p:spPr>
            <a:xfrm flipV="1">
              <a:off x="4078784" y="4036770"/>
              <a:ext cx="2627638" cy="200054"/>
            </a:xfrm>
            <a:prstGeom prst="bentConnector2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xmlns="" id="{D8D54B05-5AA3-748E-C625-27B672EE4C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185" y="2204176"/>
              <a:ext cx="0" cy="468000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xmlns="" id="{657E8D60-7374-6BC0-8074-CA18852806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32357" y="2715838"/>
              <a:ext cx="625" cy="180000"/>
            </a:xfrm>
            <a:prstGeom prst="line">
              <a:avLst/>
            </a:prstGeom>
            <a:ln w="19050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xmlns="" id="{4614BDFA-040F-E6C8-3A70-82B16A049EA3}"/>
                    </a:ext>
                  </a:extLst>
                </p:cNvPr>
                <p:cNvSpPr txBox="1"/>
                <p:nvPr/>
              </p:nvSpPr>
              <p:spPr>
                <a:xfrm>
                  <a:off x="8039200" y="2529630"/>
                  <a:ext cx="44236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614BDFA-040F-E6C8-3A70-82B16A049E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39200" y="2529630"/>
                  <a:ext cx="442365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xmlns="" id="{7131B2AC-785B-6A00-6403-4173D30B3DBE}"/>
                    </a:ext>
                  </a:extLst>
                </p:cNvPr>
                <p:cNvSpPr txBox="1"/>
                <p:nvPr/>
              </p:nvSpPr>
              <p:spPr>
                <a:xfrm>
                  <a:off x="7423392" y="1841814"/>
                  <a:ext cx="4712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7131B2AC-785B-6A00-6403-4173D30B3D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3392" y="1841814"/>
                  <a:ext cx="471218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xmlns="" id="{2F1CAFE8-16C4-F79F-5ED8-5BEB2A55D3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50185" y="2756590"/>
              <a:ext cx="625" cy="147600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Oval 51">
              <a:extLst>
                <a:ext uri="{FF2B5EF4-FFF2-40B4-BE49-F238E27FC236}">
                  <a16:creationId xmlns:a16="http://schemas.microsoft.com/office/drawing/2014/main" xmlns="" id="{E3211A3E-6145-4D12-2D22-D70496F90575}"/>
                </a:ext>
              </a:extLst>
            </p:cNvPr>
            <p:cNvSpPr/>
            <p:nvPr/>
          </p:nvSpPr>
          <p:spPr>
            <a:xfrm>
              <a:off x="7100175" y="3328952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xmlns="" id="{19A8E8F3-38BE-87E6-D274-984A801589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36075" y="3192538"/>
              <a:ext cx="625" cy="144000"/>
            </a:xfrm>
            <a:prstGeom prst="line">
              <a:avLst/>
            </a:prstGeom>
            <a:ln w="19050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xmlns="" id="{7B460A71-A162-3B2F-0534-D5097B71597C}"/>
                    </a:ext>
                  </a:extLst>
                </p:cNvPr>
                <p:cNvSpPr/>
                <p:nvPr/>
              </p:nvSpPr>
              <p:spPr>
                <a:xfrm>
                  <a:off x="6540167" y="3738898"/>
                  <a:ext cx="332510" cy="297872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7B460A71-A162-3B2F-0534-D5097B71597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0167" y="3738898"/>
                  <a:ext cx="332510" cy="29787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8" name="Connector: Elbow 77">
              <a:extLst>
                <a:ext uri="{FF2B5EF4-FFF2-40B4-BE49-F238E27FC236}">
                  <a16:creationId xmlns:a16="http://schemas.microsoft.com/office/drawing/2014/main" xmlns="" id="{0D1C2C55-7250-38DB-BDFD-F1FDC6C7AC0F}"/>
                </a:ext>
              </a:extLst>
            </p:cNvPr>
            <p:cNvCxnSpPr>
              <a:cxnSpLocks/>
              <a:endCxn id="52" idx="2"/>
            </p:cNvCxnSpPr>
            <p:nvPr/>
          </p:nvCxnSpPr>
          <p:spPr>
            <a:xfrm flipV="1">
              <a:off x="6706422" y="3465477"/>
              <a:ext cx="393753" cy="270625"/>
            </a:xfrm>
            <a:prstGeom prst="bentConnector3">
              <a:avLst>
                <a:gd name="adj1" fmla="val 1620"/>
              </a:avLst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xmlns="" id="{AA96CA20-B5D2-5828-E8D6-0B6C6EA98888}"/>
                </a:ext>
              </a:extLst>
            </p:cNvPr>
            <p:cNvCxnSpPr>
              <a:cxnSpLocks/>
            </p:cNvCxnSpPr>
            <p:nvPr/>
          </p:nvCxnSpPr>
          <p:spPr>
            <a:xfrm>
              <a:off x="7233694" y="4241954"/>
              <a:ext cx="876634" cy="0"/>
            </a:xfrm>
            <a:prstGeom prst="line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xmlns="" id="{D46B60D4-017B-0910-D204-0D84EE74F3CD}"/>
                </a:ext>
              </a:extLst>
            </p:cNvPr>
            <p:cNvCxnSpPr>
              <a:cxnSpLocks/>
              <a:endCxn id="52" idx="4"/>
            </p:cNvCxnSpPr>
            <p:nvPr/>
          </p:nvCxnSpPr>
          <p:spPr>
            <a:xfrm flipV="1">
              <a:off x="7236700" y="3602002"/>
              <a:ext cx="0" cy="639952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xmlns="" id="{AEB9BA74-F15E-4C0E-554A-8F737160BF12}"/>
                    </a:ext>
                  </a:extLst>
                </p:cNvPr>
                <p:cNvSpPr txBox="1"/>
                <p:nvPr/>
              </p:nvSpPr>
              <p:spPr>
                <a:xfrm>
                  <a:off x="8050010" y="4070439"/>
                  <a:ext cx="4712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AEB9BA74-F15E-4C0E-554A-8F737160BF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0010" y="4070439"/>
                  <a:ext cx="471218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xmlns="" id="{67FE728A-0062-CF04-49C7-136BF8661AD5}"/>
                </a:ext>
              </a:extLst>
            </p:cNvPr>
            <p:cNvGrpSpPr/>
            <p:nvPr/>
          </p:nvGrpSpPr>
          <p:grpSpPr>
            <a:xfrm>
              <a:off x="6922167" y="2849398"/>
              <a:ext cx="627482" cy="369332"/>
              <a:chOff x="6108367" y="2910505"/>
              <a:chExt cx="627482" cy="369332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xmlns="" id="{BC7D8FBB-5A16-AD70-891F-CF9586387C28}"/>
                  </a:ext>
                </a:extLst>
              </p:cNvPr>
              <p:cNvSpPr/>
              <p:nvPr/>
            </p:nvSpPr>
            <p:spPr>
              <a:xfrm>
                <a:off x="6108367" y="2964609"/>
                <a:ext cx="614781" cy="29787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id="{204CF9FF-C56F-CC88-41C7-A4068C357EFC}"/>
                  </a:ext>
                </a:extLst>
              </p:cNvPr>
              <p:cNvSpPr txBox="1"/>
              <p:nvPr/>
            </p:nvSpPr>
            <p:spPr>
              <a:xfrm>
                <a:off x="6108701" y="2910505"/>
                <a:ext cx="6271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dirty="0" err="1">
                    <a:solidFill>
                      <a:schemeClr val="tx1"/>
                    </a:solidFill>
                  </a:rPr>
                  <a:t>tanh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xmlns="" id="{F84BDC07-58AB-814F-9F8F-8414DD043B2C}"/>
                    </a:ext>
                  </a:extLst>
                </p:cNvPr>
                <p:cNvSpPr txBox="1"/>
                <p:nvPr/>
              </p:nvSpPr>
              <p:spPr>
                <a:xfrm>
                  <a:off x="3387954" y="4052158"/>
                  <a:ext cx="69083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84BDC07-58AB-814F-9F8F-8414DD043B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7954" y="4052158"/>
                  <a:ext cx="690830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xmlns="" id="{1F9BEE74-0585-0BF9-6739-9B6E594E5FE2}"/>
                    </a:ext>
                  </a:extLst>
                </p:cNvPr>
                <p:cNvSpPr txBox="1"/>
                <p:nvPr/>
              </p:nvSpPr>
              <p:spPr>
                <a:xfrm>
                  <a:off x="4288133" y="4631386"/>
                  <a:ext cx="4583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1F9BEE74-0585-0BF9-6739-9B6E594E5F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8133" y="4631386"/>
                  <a:ext cx="458394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TextBox 1">
              <a:extLst>
                <a:ext uri="{FF2B5EF4-FFF2-40B4-BE49-F238E27FC236}">
                  <a16:creationId xmlns:a16="http://schemas.microsoft.com/office/drawing/2014/main" xmlns="" id="{EA3F5154-2CA6-DA77-77EC-40A67ED99630}"/>
                </a:ext>
              </a:extLst>
            </p:cNvPr>
            <p:cNvSpPr txBox="1"/>
            <p:nvPr/>
          </p:nvSpPr>
          <p:spPr>
            <a:xfrm>
              <a:off x="5830072" y="1866123"/>
              <a:ext cx="7322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porta de saída</a:t>
              </a:r>
              <a:endParaRPr lang="en-US" sz="1200" dirty="0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xmlns="" id="{92D561B4-41EA-C30D-E56D-D9342BDCD50E}"/>
                </a:ext>
              </a:extLst>
            </p:cNvPr>
            <p:cNvCxnSpPr>
              <a:cxnSpLocks/>
              <a:stCxn id="2" idx="2"/>
            </p:cNvCxnSpPr>
            <p:nvPr/>
          </p:nvCxnSpPr>
          <p:spPr>
            <a:xfrm>
              <a:off x="6196208" y="2327788"/>
              <a:ext cx="884662" cy="105272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xmlns="" id="{1783A325-B082-C554-B2BA-28AD9A80CD2C}"/>
                </a:ext>
              </a:extLst>
            </p:cNvPr>
            <p:cNvCxnSpPr>
              <a:cxnSpLocks/>
              <a:stCxn id="55" idx="0"/>
            </p:cNvCxnSpPr>
            <p:nvPr/>
          </p:nvCxnSpPr>
          <p:spPr>
            <a:xfrm flipH="1" flipV="1">
              <a:off x="4511399" y="4241954"/>
              <a:ext cx="5931" cy="389432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xmlns="" id="{9461D240-8679-EED9-2C4E-0B5228660B56}"/>
                    </a:ext>
                  </a:extLst>
                </p:cNvPr>
                <p:cNvSpPr txBox="1"/>
                <p:nvPr/>
              </p:nvSpPr>
              <p:spPr>
                <a:xfrm>
                  <a:off x="6367806" y="3192172"/>
                  <a:ext cx="4583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𝒐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461D240-8679-EED9-2C4E-0B5228660B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67806" y="3192172"/>
                  <a:ext cx="458394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0111088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535DB89-0292-4C5A-F4B1-0C7B0D5D7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xmlns="" id="{1E6693AB-9080-966C-4D58-2EA6DBD07FBC}"/>
              </a:ext>
            </a:extLst>
          </p:cNvPr>
          <p:cNvGrpSpPr/>
          <p:nvPr/>
        </p:nvGrpSpPr>
        <p:grpSpPr>
          <a:xfrm>
            <a:off x="506345" y="1849548"/>
            <a:ext cx="5133274" cy="3158904"/>
            <a:chOff x="3387954" y="1841814"/>
            <a:chExt cx="5133274" cy="3158904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xmlns="" id="{E5E1E212-22FF-F303-C8DD-044D2FD556BD}"/>
                </a:ext>
              </a:extLst>
            </p:cNvPr>
            <p:cNvSpPr/>
            <p:nvPr/>
          </p:nvSpPr>
          <p:spPr>
            <a:xfrm>
              <a:off x="4301176" y="2438400"/>
              <a:ext cx="3522024" cy="19812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88000"/>
              </a:schemeClr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xmlns="" id="{9D484352-76E3-BDB1-D326-EDCC4E24536F}"/>
                </a:ext>
              </a:extLst>
            </p:cNvPr>
            <p:cNvCxnSpPr>
              <a:cxnSpLocks/>
            </p:cNvCxnSpPr>
            <p:nvPr/>
          </p:nvCxnSpPr>
          <p:spPr>
            <a:xfrm>
              <a:off x="4724460" y="4033974"/>
              <a:ext cx="0" cy="21161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xmlns="" id="{45339A55-66C9-1111-90CF-606F78A377CF}"/>
                </a:ext>
              </a:extLst>
            </p:cNvPr>
            <p:cNvCxnSpPr>
              <a:cxnSpLocks/>
            </p:cNvCxnSpPr>
            <p:nvPr/>
          </p:nvCxnSpPr>
          <p:spPr>
            <a:xfrm>
              <a:off x="5283260" y="4033974"/>
              <a:ext cx="0" cy="21161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xmlns="" id="{B36FCAE8-5860-FC81-28DB-F1330525841E}"/>
                </a:ext>
              </a:extLst>
            </p:cNvPr>
            <p:cNvCxnSpPr>
              <a:cxnSpLocks/>
            </p:cNvCxnSpPr>
            <p:nvPr/>
          </p:nvCxnSpPr>
          <p:spPr>
            <a:xfrm>
              <a:off x="5988110" y="4033974"/>
              <a:ext cx="0" cy="21161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xmlns="" id="{CDAD974B-2567-4FED-B1AF-B8BC328A9530}"/>
                </a:ext>
              </a:extLst>
            </p:cNvPr>
            <p:cNvCxnSpPr>
              <a:cxnSpLocks/>
            </p:cNvCxnSpPr>
            <p:nvPr/>
          </p:nvCxnSpPr>
          <p:spPr>
            <a:xfrm>
              <a:off x="6126191" y="2715788"/>
              <a:ext cx="1980000" cy="1163"/>
            </a:xfrm>
            <a:prstGeom prst="line">
              <a:avLst/>
            </a:prstGeom>
            <a:ln w="19050">
              <a:solidFill>
                <a:schemeClr val="dk1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xmlns="" id="{EEF54D2C-3691-135A-5D48-B7BB3D84F1E6}"/>
                </a:ext>
              </a:extLst>
            </p:cNvPr>
            <p:cNvCxnSpPr>
              <a:cxnSpLocks/>
              <a:stCxn id="17" idx="6"/>
              <a:endCxn id="48" idx="2"/>
            </p:cNvCxnSpPr>
            <p:nvPr/>
          </p:nvCxnSpPr>
          <p:spPr>
            <a:xfrm>
              <a:off x="4860985" y="2715788"/>
              <a:ext cx="992156" cy="1163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xmlns="" id="{6CFC43CE-312C-CC1D-0867-9CAB78D3BDC8}"/>
                </a:ext>
              </a:extLst>
            </p:cNvPr>
            <p:cNvSpPr/>
            <p:nvPr/>
          </p:nvSpPr>
          <p:spPr>
            <a:xfrm>
              <a:off x="5853141" y="2580426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+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xmlns="" id="{52054C13-DF96-0311-7938-30530BBE6CA2}"/>
                </a:ext>
              </a:extLst>
            </p:cNvPr>
            <p:cNvCxnSpPr>
              <a:cxnSpLocks/>
              <a:endCxn id="17" idx="2"/>
            </p:cNvCxnSpPr>
            <p:nvPr/>
          </p:nvCxnSpPr>
          <p:spPr>
            <a:xfrm flipV="1">
              <a:off x="4012696" y="2715788"/>
              <a:ext cx="575239" cy="168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xmlns="" id="{6EEDC121-F607-FE73-E57A-90D5378D9C3D}"/>
                </a:ext>
              </a:extLst>
            </p:cNvPr>
            <p:cNvSpPr/>
            <p:nvPr/>
          </p:nvSpPr>
          <p:spPr>
            <a:xfrm>
              <a:off x="4587935" y="2579263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xmlns="" id="{9C8FF9AB-00C9-B769-9AED-2DC857398DF7}"/>
                    </a:ext>
                  </a:extLst>
                </p:cNvPr>
                <p:cNvSpPr/>
                <p:nvPr/>
              </p:nvSpPr>
              <p:spPr>
                <a:xfrm>
                  <a:off x="4558205" y="3736102"/>
                  <a:ext cx="332510" cy="297872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9C8FF9AB-00C9-B769-9AED-2DC857398DF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8205" y="3736102"/>
                  <a:ext cx="332510" cy="29787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xmlns="" id="{254208A2-C0A3-CC7C-102B-529EF10CE5E0}"/>
                </a:ext>
              </a:extLst>
            </p:cNvPr>
            <p:cNvCxnSpPr>
              <a:stCxn id="8" idx="0"/>
              <a:endCxn id="17" idx="4"/>
            </p:cNvCxnSpPr>
            <p:nvPr/>
          </p:nvCxnSpPr>
          <p:spPr>
            <a:xfrm flipV="1">
              <a:off x="4724460" y="2852313"/>
              <a:ext cx="0" cy="883789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xmlns="" id="{67D2E9AC-D0D7-5FF8-3056-16991D60205D}"/>
                    </a:ext>
                  </a:extLst>
                </p:cNvPr>
                <p:cNvSpPr txBox="1"/>
                <p:nvPr/>
              </p:nvSpPr>
              <p:spPr>
                <a:xfrm>
                  <a:off x="3399976" y="2480066"/>
                  <a:ext cx="6619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7D2E9AC-D0D7-5FF8-3056-16991D6020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9976" y="2480066"/>
                  <a:ext cx="661976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xmlns="" id="{79558D3F-5963-20E5-DEAE-BB393D386DFC}"/>
                    </a:ext>
                  </a:extLst>
                </p:cNvPr>
                <p:cNvSpPr txBox="1"/>
                <p:nvPr/>
              </p:nvSpPr>
              <p:spPr>
                <a:xfrm>
                  <a:off x="4334939" y="3086237"/>
                  <a:ext cx="45518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="" xmlns:a16="http://schemas.microsoft.com/office/drawing/2014/main" xmlns:a14="http://schemas.microsoft.com/office/drawing/2010/main" id="{79558D3F-5963-20E5-DEAE-BB393D386D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4939" y="3086237"/>
                  <a:ext cx="455189" cy="36933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Oval 36">
              <a:extLst>
                <a:ext uri="{FF2B5EF4-FFF2-40B4-BE49-F238E27FC236}">
                  <a16:creationId xmlns:a16="http://schemas.microsoft.com/office/drawing/2014/main" xmlns="" id="{41E5331B-7497-3EAB-612D-76B2411DE483}"/>
                </a:ext>
              </a:extLst>
            </p:cNvPr>
            <p:cNvSpPr/>
            <p:nvPr/>
          </p:nvSpPr>
          <p:spPr>
            <a:xfrm>
              <a:off x="5856481" y="3252752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xmlns="" id="{5F79EBCF-B49E-1CFB-4AB2-62E6C0D8D56C}"/>
                    </a:ext>
                  </a:extLst>
                </p:cNvPr>
                <p:cNvSpPr/>
                <p:nvPr/>
              </p:nvSpPr>
              <p:spPr>
                <a:xfrm>
                  <a:off x="5122344" y="3736102"/>
                  <a:ext cx="332510" cy="297872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5F79EBCF-B49E-1CFB-4AB2-62E6C0D8D5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2344" y="3736102"/>
                  <a:ext cx="332510" cy="29787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574A35A4-9645-799F-CFAB-50CBB9BB146C}"/>
                </a:ext>
              </a:extLst>
            </p:cNvPr>
            <p:cNvSpPr/>
            <p:nvPr/>
          </p:nvSpPr>
          <p:spPr>
            <a:xfrm>
              <a:off x="5686483" y="3736102"/>
              <a:ext cx="614781" cy="297872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>
                  <a:solidFill>
                    <a:schemeClr val="tx1"/>
                  </a:solidFill>
                </a:rPr>
                <a:t>tanh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xmlns="" id="{372D9875-E4CD-C4BF-D584-E170D8775680}"/>
                </a:ext>
              </a:extLst>
            </p:cNvPr>
            <p:cNvCxnSpPr>
              <a:cxnSpLocks/>
              <a:stCxn id="12" idx="0"/>
              <a:endCxn id="37" idx="4"/>
            </p:cNvCxnSpPr>
            <p:nvPr/>
          </p:nvCxnSpPr>
          <p:spPr>
            <a:xfrm flipH="1" flipV="1">
              <a:off x="5993006" y="3525802"/>
              <a:ext cx="868" cy="2103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Connector: Elbow 82">
              <a:extLst>
                <a:ext uri="{FF2B5EF4-FFF2-40B4-BE49-F238E27FC236}">
                  <a16:creationId xmlns:a16="http://schemas.microsoft.com/office/drawing/2014/main" xmlns="" id="{60BE383E-58A4-904C-1437-9E2DD4690B12}"/>
                </a:ext>
              </a:extLst>
            </p:cNvPr>
            <p:cNvCxnSpPr>
              <a:stCxn id="10" idx="0"/>
              <a:endCxn id="37" idx="2"/>
            </p:cNvCxnSpPr>
            <p:nvPr/>
          </p:nvCxnSpPr>
          <p:spPr>
            <a:xfrm rot="5400000" flipH="1" flipV="1">
              <a:off x="5399128" y="3278749"/>
              <a:ext cx="346825" cy="567882"/>
            </a:xfrm>
            <a:prstGeom prst="bentConnector2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xmlns="" id="{B44B526B-5C9D-0035-BEF6-CCF89FFA0A78}"/>
                </a:ext>
              </a:extLst>
            </p:cNvPr>
            <p:cNvCxnSpPr>
              <a:cxnSpLocks/>
              <a:stCxn id="37" idx="0"/>
              <a:endCxn id="48" idx="4"/>
            </p:cNvCxnSpPr>
            <p:nvPr/>
          </p:nvCxnSpPr>
          <p:spPr>
            <a:xfrm flipH="1" flipV="1">
              <a:off x="5989666" y="2853476"/>
              <a:ext cx="3340" cy="399276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xmlns="" id="{3CF19B3A-11ED-BF65-8794-A33574BF5B8D}"/>
                    </a:ext>
                  </a:extLst>
                </p:cNvPr>
                <p:cNvSpPr txBox="1"/>
                <p:nvPr/>
              </p:nvSpPr>
              <p:spPr>
                <a:xfrm>
                  <a:off x="5307727" y="3030377"/>
                  <a:ext cx="410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="" xmlns:a16="http://schemas.microsoft.com/office/drawing/2014/main" xmlns:a14="http://schemas.microsoft.com/office/drawing/2010/main" id="{3CF19B3A-11ED-BF65-8794-A33574BF5B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7727" y="3030377"/>
                  <a:ext cx="410304" cy="369332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xmlns="" id="{084BF1A6-CB8D-11E0-69DF-1D0112A2A4FC}"/>
                    </a:ext>
                  </a:extLst>
                </p:cNvPr>
                <p:cNvSpPr txBox="1"/>
                <p:nvPr/>
              </p:nvSpPr>
              <p:spPr>
                <a:xfrm>
                  <a:off x="5983458" y="3389277"/>
                  <a:ext cx="4423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</m:acc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="" xmlns:a16="http://schemas.microsoft.com/office/drawing/2014/main" xmlns:a14="http://schemas.microsoft.com/office/drawing/2010/main" id="{084BF1A6-CB8D-11E0-69DF-1D0112A2A4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3458" y="3389277"/>
                  <a:ext cx="442364" cy="369332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r="-2778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Connector: Elbow 18">
              <a:extLst>
                <a:ext uri="{FF2B5EF4-FFF2-40B4-BE49-F238E27FC236}">
                  <a16:creationId xmlns:a16="http://schemas.microsoft.com/office/drawing/2014/main" xmlns="" id="{FEB49339-2251-0621-3FB2-5F0777E8738C}"/>
                </a:ext>
              </a:extLst>
            </p:cNvPr>
            <p:cNvCxnSpPr>
              <a:cxnSpLocks/>
              <a:stCxn id="50" idx="3"/>
              <a:endCxn id="11" idx="2"/>
            </p:cNvCxnSpPr>
            <p:nvPr/>
          </p:nvCxnSpPr>
          <p:spPr>
            <a:xfrm flipV="1">
              <a:off x="4078784" y="4036770"/>
              <a:ext cx="2627638" cy="200054"/>
            </a:xfrm>
            <a:prstGeom prst="bentConnector2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xmlns="" id="{D8D54B05-5AA3-748E-C625-27B672EE4C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185" y="2204176"/>
              <a:ext cx="0" cy="468000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xmlns="" id="{657E8D60-7374-6BC0-8074-CA18852806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32357" y="2715838"/>
              <a:ext cx="625" cy="18000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xmlns="" id="{4614BDFA-040F-E6C8-3A70-82B16A049EA3}"/>
                    </a:ext>
                  </a:extLst>
                </p:cNvPr>
                <p:cNvSpPr txBox="1"/>
                <p:nvPr/>
              </p:nvSpPr>
              <p:spPr>
                <a:xfrm>
                  <a:off x="8039200" y="2529630"/>
                  <a:ext cx="44236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614BDFA-040F-E6C8-3A70-82B16A049E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39200" y="2529630"/>
                  <a:ext cx="442365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xmlns="" id="{7131B2AC-785B-6A00-6403-4173D30B3DBE}"/>
                    </a:ext>
                  </a:extLst>
                </p:cNvPr>
                <p:cNvSpPr txBox="1"/>
                <p:nvPr/>
              </p:nvSpPr>
              <p:spPr>
                <a:xfrm>
                  <a:off x="7423392" y="1841814"/>
                  <a:ext cx="4712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7131B2AC-785B-6A00-6403-4173D30B3D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3392" y="1841814"/>
                  <a:ext cx="471218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xmlns="" id="{2F1CAFE8-16C4-F79F-5ED8-5BEB2A55D3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50185" y="2756590"/>
              <a:ext cx="625" cy="147600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Oval 51">
              <a:extLst>
                <a:ext uri="{FF2B5EF4-FFF2-40B4-BE49-F238E27FC236}">
                  <a16:creationId xmlns:a16="http://schemas.microsoft.com/office/drawing/2014/main" xmlns="" id="{E3211A3E-6145-4D12-2D22-D70496F90575}"/>
                </a:ext>
              </a:extLst>
            </p:cNvPr>
            <p:cNvSpPr/>
            <p:nvPr/>
          </p:nvSpPr>
          <p:spPr>
            <a:xfrm>
              <a:off x="7100175" y="3328952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xmlns="" id="{19A8E8F3-38BE-87E6-D274-984A801589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36075" y="3192538"/>
              <a:ext cx="625" cy="14400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xmlns="" id="{7B460A71-A162-3B2F-0534-D5097B71597C}"/>
                    </a:ext>
                  </a:extLst>
                </p:cNvPr>
                <p:cNvSpPr/>
                <p:nvPr/>
              </p:nvSpPr>
              <p:spPr>
                <a:xfrm>
                  <a:off x="6540167" y="3738898"/>
                  <a:ext cx="332510" cy="297872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7B460A71-A162-3B2F-0534-D5097B71597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0167" y="3738898"/>
                  <a:ext cx="332510" cy="29787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8" name="Connector: Elbow 77">
              <a:extLst>
                <a:ext uri="{FF2B5EF4-FFF2-40B4-BE49-F238E27FC236}">
                  <a16:creationId xmlns:a16="http://schemas.microsoft.com/office/drawing/2014/main" xmlns="" id="{0D1C2C55-7250-38DB-BDFD-F1FDC6C7AC0F}"/>
                </a:ext>
              </a:extLst>
            </p:cNvPr>
            <p:cNvCxnSpPr>
              <a:cxnSpLocks/>
              <a:endCxn id="52" idx="2"/>
            </p:cNvCxnSpPr>
            <p:nvPr/>
          </p:nvCxnSpPr>
          <p:spPr>
            <a:xfrm flipV="1">
              <a:off x="6706422" y="3465477"/>
              <a:ext cx="393753" cy="270625"/>
            </a:xfrm>
            <a:prstGeom prst="bentConnector3">
              <a:avLst>
                <a:gd name="adj1" fmla="val 1620"/>
              </a:avLst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xmlns="" id="{AA96CA20-B5D2-5828-E8D6-0B6C6EA98888}"/>
                </a:ext>
              </a:extLst>
            </p:cNvPr>
            <p:cNvCxnSpPr>
              <a:cxnSpLocks/>
            </p:cNvCxnSpPr>
            <p:nvPr/>
          </p:nvCxnSpPr>
          <p:spPr>
            <a:xfrm>
              <a:off x="7233694" y="4241954"/>
              <a:ext cx="876634" cy="0"/>
            </a:xfrm>
            <a:prstGeom prst="line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xmlns="" id="{D46B60D4-017B-0910-D204-0D84EE74F3CD}"/>
                </a:ext>
              </a:extLst>
            </p:cNvPr>
            <p:cNvCxnSpPr>
              <a:cxnSpLocks/>
              <a:endCxn id="52" idx="4"/>
            </p:cNvCxnSpPr>
            <p:nvPr/>
          </p:nvCxnSpPr>
          <p:spPr>
            <a:xfrm flipV="1">
              <a:off x="7236700" y="3602002"/>
              <a:ext cx="0" cy="639952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xmlns="" id="{AEB9BA74-F15E-4C0E-554A-8F737160BF12}"/>
                    </a:ext>
                  </a:extLst>
                </p:cNvPr>
                <p:cNvSpPr txBox="1"/>
                <p:nvPr/>
              </p:nvSpPr>
              <p:spPr>
                <a:xfrm>
                  <a:off x="8050010" y="4070439"/>
                  <a:ext cx="4712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AEB9BA74-F15E-4C0E-554A-8F737160BF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0010" y="4070439"/>
                  <a:ext cx="471218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xmlns="" id="{67FE728A-0062-CF04-49C7-136BF8661AD5}"/>
                </a:ext>
              </a:extLst>
            </p:cNvPr>
            <p:cNvGrpSpPr/>
            <p:nvPr/>
          </p:nvGrpSpPr>
          <p:grpSpPr>
            <a:xfrm>
              <a:off x="6922167" y="2849398"/>
              <a:ext cx="627482" cy="369332"/>
              <a:chOff x="6108367" y="2910505"/>
              <a:chExt cx="627482" cy="369332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xmlns="" id="{BC7D8FBB-5A16-AD70-891F-CF9586387C28}"/>
                  </a:ext>
                </a:extLst>
              </p:cNvPr>
              <p:cNvSpPr/>
              <p:nvPr/>
            </p:nvSpPr>
            <p:spPr>
              <a:xfrm>
                <a:off x="6108367" y="2964609"/>
                <a:ext cx="614781" cy="29787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id="{204CF9FF-C56F-CC88-41C7-A4068C357EFC}"/>
                  </a:ext>
                </a:extLst>
              </p:cNvPr>
              <p:cNvSpPr txBox="1"/>
              <p:nvPr/>
            </p:nvSpPr>
            <p:spPr>
              <a:xfrm>
                <a:off x="6108701" y="2910505"/>
                <a:ext cx="6271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dirty="0" err="1">
                    <a:solidFill>
                      <a:schemeClr val="tx1"/>
                    </a:solidFill>
                  </a:rPr>
                  <a:t>tanh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xmlns="" id="{F84BDC07-58AB-814F-9F8F-8414DD043B2C}"/>
                    </a:ext>
                  </a:extLst>
                </p:cNvPr>
                <p:cNvSpPr txBox="1"/>
                <p:nvPr/>
              </p:nvSpPr>
              <p:spPr>
                <a:xfrm>
                  <a:off x="3387954" y="4052158"/>
                  <a:ext cx="69083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84BDC07-58AB-814F-9F8F-8414DD043B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7954" y="4052158"/>
                  <a:ext cx="690830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xmlns="" id="{1F9BEE74-0585-0BF9-6739-9B6E594E5FE2}"/>
                    </a:ext>
                  </a:extLst>
                </p:cNvPr>
                <p:cNvSpPr txBox="1"/>
                <p:nvPr/>
              </p:nvSpPr>
              <p:spPr>
                <a:xfrm>
                  <a:off x="4288133" y="4631386"/>
                  <a:ext cx="4583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1F9BEE74-0585-0BF9-6739-9B6E594E5F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8133" y="4631386"/>
                  <a:ext cx="458394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xmlns="" id="{1783A325-B082-C554-B2BA-28AD9A80CD2C}"/>
                </a:ext>
              </a:extLst>
            </p:cNvPr>
            <p:cNvCxnSpPr>
              <a:cxnSpLocks/>
              <a:stCxn id="55" idx="0"/>
            </p:cNvCxnSpPr>
            <p:nvPr/>
          </p:nvCxnSpPr>
          <p:spPr>
            <a:xfrm flipH="1" flipV="1">
              <a:off x="4511399" y="4241954"/>
              <a:ext cx="5931" cy="389432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xmlns="" id="{9461D240-8679-EED9-2C4E-0B5228660B56}"/>
                    </a:ext>
                  </a:extLst>
                </p:cNvPr>
                <p:cNvSpPr txBox="1"/>
                <p:nvPr/>
              </p:nvSpPr>
              <p:spPr>
                <a:xfrm>
                  <a:off x="6367806" y="3192172"/>
                  <a:ext cx="4583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𝒐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="" xmlns:a16="http://schemas.microsoft.com/office/drawing/2014/main" xmlns:a14="http://schemas.microsoft.com/office/drawing/2010/main" id="{9461D240-8679-EED9-2C4E-0B5228660B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67806" y="3192172"/>
                  <a:ext cx="458394" cy="369332"/>
                </a:xfrm>
                <a:prstGeom prst="rect">
                  <a:avLst/>
                </a:prstGeom>
                <a:blipFill rotWithShape="0"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5063158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794AEBB-1DB3-0C45-B06E-B6487708D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000551" y="722618"/>
            <a:ext cx="4928922" cy="2713085"/>
            <a:chOff x="3581399" y="2111642"/>
            <a:chExt cx="4928922" cy="2713085"/>
          </a:xfrm>
        </p:grpSpPr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xmlns="" id="{90050B18-8D3F-55EF-2EB2-32D909A3DEA1}"/>
                </a:ext>
              </a:extLst>
            </p:cNvPr>
            <p:cNvSpPr/>
            <p:nvPr/>
          </p:nvSpPr>
          <p:spPr>
            <a:xfrm>
              <a:off x="4301176" y="2438400"/>
              <a:ext cx="3522024" cy="19812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88000"/>
              </a:schemeClr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xmlns="" id="{74C5C52F-9EF8-E099-77E3-78FBC698A9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4149" y="2244873"/>
              <a:ext cx="0" cy="468000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xmlns="" id="{10C8CDDB-6BDF-ED81-4C18-815D38FC460E}"/>
                </a:ext>
              </a:extLst>
            </p:cNvPr>
            <p:cNvSpPr/>
            <p:nvPr/>
          </p:nvSpPr>
          <p:spPr>
            <a:xfrm>
              <a:off x="4733602" y="3187865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xmlns="" id="{C878417F-026D-C5E4-7CD5-9AF914BD3FA8}"/>
                </a:ext>
              </a:extLst>
            </p:cNvPr>
            <p:cNvSpPr/>
            <p:nvPr/>
          </p:nvSpPr>
          <p:spPr>
            <a:xfrm>
              <a:off x="6236481" y="2576348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xmlns="" id="{3690F93B-C813-8543-60EE-FD8C453D5D34}"/>
                </a:ext>
              </a:extLst>
            </p:cNvPr>
            <p:cNvSpPr/>
            <p:nvPr/>
          </p:nvSpPr>
          <p:spPr>
            <a:xfrm>
              <a:off x="7076731" y="3612407"/>
              <a:ext cx="614781" cy="297872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>
                  <a:solidFill>
                    <a:schemeClr val="tx1"/>
                  </a:solidFill>
                </a:rPr>
                <a:t>tanh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xmlns="" id="{D95F8E15-9ACA-85AA-D57F-195E21823AC0}"/>
                </a:ext>
              </a:extLst>
            </p:cNvPr>
            <p:cNvSpPr/>
            <p:nvPr/>
          </p:nvSpPr>
          <p:spPr>
            <a:xfrm>
              <a:off x="7247597" y="2576348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+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xmlns="" id="{DAD0E2EE-D6B9-4EAA-3EA2-01FF5FF7F9A0}"/>
                    </a:ext>
                  </a:extLst>
                </p:cNvPr>
                <p:cNvSpPr txBox="1"/>
                <p:nvPr/>
              </p:nvSpPr>
              <p:spPr>
                <a:xfrm>
                  <a:off x="3581399" y="2520191"/>
                  <a:ext cx="51158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0" name="TextBox 139">
                  <a:extLst>
                    <a:ext uri="{FF2B5EF4-FFF2-40B4-BE49-F238E27FC236}">
                      <a16:creationId xmlns="" xmlns:a16="http://schemas.microsoft.com/office/drawing/2014/main" xmlns:a14="http://schemas.microsoft.com/office/drawing/2010/main" id="{DAD0E2EE-D6B9-4EAA-3EA2-01FF5FF7F9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1399" y="2520191"/>
                  <a:ext cx="511583" cy="369332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r="-15476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1" name="Oval 140">
              <a:extLst>
                <a:ext uri="{FF2B5EF4-FFF2-40B4-BE49-F238E27FC236}">
                  <a16:creationId xmlns:a16="http://schemas.microsoft.com/office/drawing/2014/main" xmlns="" id="{C6E8D3F7-3B24-BD33-C5A8-30120A16C309}"/>
                </a:ext>
              </a:extLst>
            </p:cNvPr>
            <p:cNvSpPr/>
            <p:nvPr/>
          </p:nvSpPr>
          <p:spPr>
            <a:xfrm>
              <a:off x="7247597" y="3086265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Rectangle 141">
                  <a:extLst>
                    <a:ext uri="{FF2B5EF4-FFF2-40B4-BE49-F238E27FC236}">
                      <a16:creationId xmlns:a16="http://schemas.microsoft.com/office/drawing/2014/main" xmlns="" id="{BA9026C2-ACF3-B134-C819-4C9178161B1B}"/>
                    </a:ext>
                  </a:extLst>
                </p:cNvPr>
                <p:cNvSpPr/>
                <p:nvPr/>
              </p:nvSpPr>
              <p:spPr>
                <a:xfrm>
                  <a:off x="6206433" y="3607165"/>
                  <a:ext cx="332510" cy="297872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2" name="Rectangle 141">
                  <a:extLst>
                    <a:ext uri="{FF2B5EF4-FFF2-40B4-BE49-F238E27FC236}">
                      <a16:creationId xmlns="" xmlns:a16="http://schemas.microsoft.com/office/drawing/2014/main" xmlns:a14="http://schemas.microsoft.com/office/drawing/2010/main" id="{BA9026C2-ACF3-B134-C819-4C9178161B1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06433" y="3607165"/>
                  <a:ext cx="332510" cy="297872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Rectangle 142">
                  <a:extLst>
                    <a:ext uri="{FF2B5EF4-FFF2-40B4-BE49-F238E27FC236}">
                      <a16:creationId xmlns:a16="http://schemas.microsoft.com/office/drawing/2014/main" xmlns="" id="{1628C659-015D-1DA5-CA6B-E8B9389E03EE}"/>
                    </a:ext>
                  </a:extLst>
                </p:cNvPr>
                <p:cNvSpPr/>
                <p:nvPr/>
              </p:nvSpPr>
              <p:spPr>
                <a:xfrm>
                  <a:off x="5326611" y="3610051"/>
                  <a:ext cx="332510" cy="297872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3" name="Rectangle 142">
                  <a:extLst>
                    <a:ext uri="{FF2B5EF4-FFF2-40B4-BE49-F238E27FC236}">
                      <a16:creationId xmlns="" xmlns:a16="http://schemas.microsoft.com/office/drawing/2014/main" xmlns:a14="http://schemas.microsoft.com/office/drawing/2010/main" id="{1628C659-015D-1DA5-CA6B-E8B9389E03E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6611" y="3610051"/>
                  <a:ext cx="332510" cy="29787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4" name="Oval 143">
              <a:extLst>
                <a:ext uri="{FF2B5EF4-FFF2-40B4-BE49-F238E27FC236}">
                  <a16:creationId xmlns:a16="http://schemas.microsoft.com/office/drawing/2014/main" xmlns="" id="{A167DEAA-A4BC-3DC5-B475-EBB7590347D8}"/>
                </a:ext>
              </a:extLst>
            </p:cNvPr>
            <p:cNvSpPr/>
            <p:nvPr/>
          </p:nvSpPr>
          <p:spPr>
            <a:xfrm>
              <a:off x="6680078" y="3084943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xmlns="" id="{117D1456-CB87-98A7-0EB1-D7D8E8F96920}"/>
                </a:ext>
              </a:extLst>
            </p:cNvPr>
            <p:cNvCxnSpPr>
              <a:cxnSpLocks/>
              <a:stCxn id="140" idx="3"/>
              <a:endCxn id="137" idx="2"/>
            </p:cNvCxnSpPr>
            <p:nvPr/>
          </p:nvCxnSpPr>
          <p:spPr>
            <a:xfrm>
              <a:off x="4092982" y="2704857"/>
              <a:ext cx="2143499" cy="801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xmlns="" id="{58E46E7A-E1E3-D586-BCF0-E5340AD35998}"/>
                </a:ext>
              </a:extLst>
            </p:cNvPr>
            <p:cNvCxnSpPr>
              <a:cxnSpLocks/>
              <a:stCxn id="142" idx="0"/>
              <a:endCxn id="137" idx="4"/>
            </p:cNvCxnSpPr>
            <p:nvPr/>
          </p:nvCxnSpPr>
          <p:spPr>
            <a:xfrm flipV="1">
              <a:off x="6372688" y="2849398"/>
              <a:ext cx="318" cy="75776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xmlns="" id="{2B2D2713-80F9-8691-6DD2-110DFD52B741}"/>
                </a:ext>
              </a:extLst>
            </p:cNvPr>
            <p:cNvSpPr txBox="1"/>
            <p:nvPr/>
          </p:nvSpPr>
          <p:spPr>
            <a:xfrm>
              <a:off x="6643013" y="3036802"/>
              <a:ext cx="3699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1-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xmlns="" id="{89B28A53-8903-1E7F-2167-9D4D45F09B8D}"/>
                </a:ext>
              </a:extLst>
            </p:cNvPr>
            <p:cNvCxnSpPr>
              <a:stCxn id="137" idx="6"/>
              <a:endCxn id="139" idx="2"/>
            </p:cNvCxnSpPr>
            <p:nvPr/>
          </p:nvCxnSpPr>
          <p:spPr>
            <a:xfrm>
              <a:off x="6509531" y="2712873"/>
              <a:ext cx="73806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xmlns="" id="{D4E7BBA5-09C3-80E0-1CAB-039A11EDF1AE}"/>
                </a:ext>
              </a:extLst>
            </p:cNvPr>
            <p:cNvCxnSpPr>
              <a:stCxn id="141" idx="0"/>
              <a:endCxn id="139" idx="4"/>
            </p:cNvCxnSpPr>
            <p:nvPr/>
          </p:nvCxnSpPr>
          <p:spPr>
            <a:xfrm flipV="1">
              <a:off x="7384122" y="2849398"/>
              <a:ext cx="0" cy="23686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xmlns="" id="{92B680C6-14AA-8FD4-B377-1166A521DAE9}"/>
                </a:ext>
              </a:extLst>
            </p:cNvPr>
            <p:cNvCxnSpPr>
              <a:cxnSpLocks/>
              <a:stCxn id="138" idx="0"/>
              <a:endCxn id="141" idx="4"/>
            </p:cNvCxnSpPr>
            <p:nvPr/>
          </p:nvCxnSpPr>
          <p:spPr>
            <a:xfrm flipV="1">
              <a:off x="7384122" y="3359315"/>
              <a:ext cx="0" cy="253092"/>
            </a:xfrm>
            <a:prstGeom prst="line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xmlns="" id="{629C1E56-B71B-009E-0B81-04D4491F1D52}"/>
                </a:ext>
              </a:extLst>
            </p:cNvPr>
            <p:cNvCxnSpPr>
              <a:cxnSpLocks/>
              <a:stCxn id="139" idx="6"/>
            </p:cNvCxnSpPr>
            <p:nvPr/>
          </p:nvCxnSpPr>
          <p:spPr>
            <a:xfrm>
              <a:off x="7520646" y="2712873"/>
              <a:ext cx="648000" cy="311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xmlns="" id="{13433DA1-D8F5-0EEE-EEC8-A05EC5E55CCC}"/>
                    </a:ext>
                  </a:extLst>
                </p:cNvPr>
                <p:cNvSpPr txBox="1"/>
                <p:nvPr/>
              </p:nvSpPr>
              <p:spPr>
                <a:xfrm>
                  <a:off x="8146477" y="2520191"/>
                  <a:ext cx="3638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="" xmlns:a16="http://schemas.microsoft.com/office/drawing/2014/main" xmlns:a14="http://schemas.microsoft.com/office/drawing/2010/main" id="{13433DA1-D8F5-0EEE-EEC8-A05EC5E55C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46477" y="2520191"/>
                  <a:ext cx="363844" cy="36933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3" name="Connector: Elbow 152">
              <a:extLst>
                <a:ext uri="{FF2B5EF4-FFF2-40B4-BE49-F238E27FC236}">
                  <a16:creationId xmlns:a16="http://schemas.microsoft.com/office/drawing/2014/main" xmlns="" id="{105EEC1D-3C43-F2A9-88AE-42FA04BF1309}"/>
                </a:ext>
              </a:extLst>
            </p:cNvPr>
            <p:cNvCxnSpPr>
              <a:stCxn id="143" idx="0"/>
              <a:endCxn id="136" idx="6"/>
            </p:cNvCxnSpPr>
            <p:nvPr/>
          </p:nvCxnSpPr>
          <p:spPr>
            <a:xfrm rot="16200000" flipV="1">
              <a:off x="5106929" y="3224114"/>
              <a:ext cx="285661" cy="486214"/>
            </a:xfrm>
            <a:prstGeom prst="bentConnector2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xmlns="" id="{2EE7824F-8399-FB24-5842-DC6000E156F9}"/>
                </a:ext>
              </a:extLst>
            </p:cNvPr>
            <p:cNvCxnSpPr/>
            <p:nvPr/>
          </p:nvCxnSpPr>
          <p:spPr>
            <a:xfrm flipV="1">
              <a:off x="4870127" y="2712873"/>
              <a:ext cx="0" cy="474992"/>
            </a:xfrm>
            <a:prstGeom prst="line">
              <a:avLst/>
            </a:prstGeom>
            <a:ln w="19050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5" name="Connector: Elbow 154">
              <a:extLst>
                <a:ext uri="{FF2B5EF4-FFF2-40B4-BE49-F238E27FC236}">
                  <a16:creationId xmlns:a16="http://schemas.microsoft.com/office/drawing/2014/main" xmlns="" id="{BB4CE004-4534-6E2D-73FA-39554F4B499D}"/>
                </a:ext>
              </a:extLst>
            </p:cNvPr>
            <p:cNvCxnSpPr>
              <a:stCxn id="136" idx="4"/>
              <a:endCxn id="138" idx="2"/>
            </p:cNvCxnSpPr>
            <p:nvPr/>
          </p:nvCxnSpPr>
          <p:spPr>
            <a:xfrm rot="16200000" flipH="1">
              <a:off x="5902442" y="2428599"/>
              <a:ext cx="449364" cy="2513995"/>
            </a:xfrm>
            <a:prstGeom prst="bentConnector3">
              <a:avLst>
                <a:gd name="adj1" fmla="val 171009"/>
              </a:avLst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TextBox 155">
                  <a:extLst>
                    <a:ext uri="{FF2B5EF4-FFF2-40B4-BE49-F238E27FC236}">
                      <a16:creationId xmlns:a16="http://schemas.microsoft.com/office/drawing/2014/main" xmlns="" id="{62C37C40-4525-A06C-71DB-6F6890D83DE4}"/>
                    </a:ext>
                  </a:extLst>
                </p:cNvPr>
                <p:cNvSpPr txBox="1"/>
                <p:nvPr/>
              </p:nvSpPr>
              <p:spPr>
                <a:xfrm>
                  <a:off x="4270792" y="4455395"/>
                  <a:ext cx="4583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6" name="TextBox 155">
                  <a:extLst>
                    <a:ext uri="{FF2B5EF4-FFF2-40B4-BE49-F238E27FC236}">
                      <a16:creationId xmlns="" xmlns:a16="http://schemas.microsoft.com/office/drawing/2014/main" xmlns:a14="http://schemas.microsoft.com/office/drawing/2010/main" id="{62C37C40-4525-A06C-71DB-6F6890D83D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0792" y="4455395"/>
                  <a:ext cx="458394" cy="369332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7" name="Connector: Elbow 156">
              <a:extLst>
                <a:ext uri="{FF2B5EF4-FFF2-40B4-BE49-F238E27FC236}">
                  <a16:creationId xmlns:a16="http://schemas.microsoft.com/office/drawing/2014/main" xmlns="" id="{F21A6FE6-B20A-D2B8-1A2A-BF0CD68E032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79325" y="2625890"/>
              <a:ext cx="320409" cy="2889186"/>
            </a:xfrm>
            <a:prstGeom prst="bentConnector2">
              <a:avLst/>
            </a:prstGeom>
            <a:ln w="19050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xmlns="" id="{6C9CC7CA-AB4F-1D5E-EE6E-AA03D2E71EB1}"/>
                </a:ext>
              </a:extLst>
            </p:cNvPr>
            <p:cNvCxnSpPr/>
            <p:nvPr/>
          </p:nvCxnSpPr>
          <p:spPr>
            <a:xfrm flipV="1">
              <a:off x="4502150" y="2712873"/>
              <a:ext cx="0" cy="111141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nector: Elbow 158">
              <a:extLst>
                <a:ext uri="{FF2B5EF4-FFF2-40B4-BE49-F238E27FC236}">
                  <a16:creationId xmlns:a16="http://schemas.microsoft.com/office/drawing/2014/main" xmlns="" id="{CA24E0D2-DBB3-B807-0058-DB1675A40AD5}"/>
                </a:ext>
              </a:extLst>
            </p:cNvPr>
            <p:cNvCxnSpPr>
              <a:cxnSpLocks/>
              <a:stCxn id="160" idx="2"/>
              <a:endCxn id="142" idx="2"/>
            </p:cNvCxnSpPr>
            <p:nvPr/>
          </p:nvCxnSpPr>
          <p:spPr>
            <a:xfrm flipV="1">
              <a:off x="4600574" y="3905037"/>
              <a:ext cx="1772114" cy="124675"/>
            </a:xfrm>
            <a:prstGeom prst="bentConnector2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xmlns="" id="{388429B5-EC77-54D8-F1D7-DD4559DEA260}"/>
                </a:ext>
              </a:extLst>
            </p:cNvPr>
            <p:cNvSpPr/>
            <p:nvPr/>
          </p:nvSpPr>
          <p:spPr>
            <a:xfrm>
              <a:off x="4495799" y="3802856"/>
              <a:ext cx="104775" cy="226856"/>
            </a:xfrm>
            <a:custGeom>
              <a:avLst/>
              <a:gdLst>
                <a:gd name="csX0" fmla="*/ 6107 w 106120"/>
                <a:gd name="csY0" fmla="*/ 0 h 214313"/>
                <a:gd name="csX1" fmla="*/ 10870 w 106120"/>
                <a:gd name="csY1" fmla="*/ 157163 h 214313"/>
                <a:gd name="csX2" fmla="*/ 106120 w 106120"/>
                <a:gd name="csY2" fmla="*/ 214313 h 214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6120" h="214313">
                  <a:moveTo>
                    <a:pt x="6107" y="0"/>
                  </a:moveTo>
                  <a:cubicBezTo>
                    <a:pt x="154" y="60722"/>
                    <a:pt x="-5799" y="121444"/>
                    <a:pt x="10870" y="157163"/>
                  </a:cubicBezTo>
                  <a:cubicBezTo>
                    <a:pt x="27539" y="192882"/>
                    <a:pt x="66829" y="203597"/>
                    <a:pt x="106120" y="214313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xmlns="" id="{EB9F10BE-C0D9-DCE6-20B3-0600C34F7790}"/>
                </a:ext>
              </a:extLst>
            </p:cNvPr>
            <p:cNvCxnSpPr/>
            <p:nvPr/>
          </p:nvCxnSpPr>
          <p:spPr>
            <a:xfrm flipV="1">
              <a:off x="4500561" y="4140756"/>
              <a:ext cx="0" cy="396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xmlns="" id="{1F9CCA16-0915-4D37-C307-5E13D4257933}"/>
                </a:ext>
              </a:extLst>
            </p:cNvPr>
            <p:cNvSpPr/>
            <p:nvPr/>
          </p:nvSpPr>
          <p:spPr>
            <a:xfrm rot="5170363">
              <a:off x="4558343" y="3970802"/>
              <a:ext cx="104775" cy="226856"/>
            </a:xfrm>
            <a:custGeom>
              <a:avLst/>
              <a:gdLst>
                <a:gd name="csX0" fmla="*/ 6107 w 106120"/>
                <a:gd name="csY0" fmla="*/ 0 h 214313"/>
                <a:gd name="csX1" fmla="*/ 10870 w 106120"/>
                <a:gd name="csY1" fmla="*/ 157163 h 214313"/>
                <a:gd name="csX2" fmla="*/ 106120 w 106120"/>
                <a:gd name="csY2" fmla="*/ 214313 h 214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6120" h="214313">
                  <a:moveTo>
                    <a:pt x="6107" y="0"/>
                  </a:moveTo>
                  <a:cubicBezTo>
                    <a:pt x="154" y="60722"/>
                    <a:pt x="-5799" y="121444"/>
                    <a:pt x="10870" y="157163"/>
                  </a:cubicBezTo>
                  <a:cubicBezTo>
                    <a:pt x="27539" y="192882"/>
                    <a:pt x="66829" y="203597"/>
                    <a:pt x="106120" y="214313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xmlns="" id="{2472D226-670D-5BCA-F37F-C3B918721002}"/>
                </a:ext>
              </a:extLst>
            </p:cNvPr>
            <p:cNvCxnSpPr>
              <a:cxnSpLocks/>
              <a:stCxn id="143" idx="2"/>
            </p:cNvCxnSpPr>
            <p:nvPr/>
          </p:nvCxnSpPr>
          <p:spPr>
            <a:xfrm>
              <a:off x="5492866" y="3907923"/>
              <a:ext cx="0" cy="116465"/>
            </a:xfrm>
            <a:prstGeom prst="line">
              <a:avLst/>
            </a:prstGeom>
            <a:ln w="19050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TextBox 163">
                  <a:extLst>
                    <a:ext uri="{FF2B5EF4-FFF2-40B4-BE49-F238E27FC236}">
                      <a16:creationId xmlns:a16="http://schemas.microsoft.com/office/drawing/2014/main" xmlns="" id="{AF66BBF7-1C5B-A091-3F98-EC9EFC352EA7}"/>
                    </a:ext>
                  </a:extLst>
                </p:cNvPr>
                <p:cNvSpPr txBox="1"/>
                <p:nvPr/>
              </p:nvSpPr>
              <p:spPr>
                <a:xfrm>
                  <a:off x="6002906" y="3222817"/>
                  <a:ext cx="43627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64" name="TextBox 163">
                  <a:extLst>
                    <a:ext uri="{FF2B5EF4-FFF2-40B4-BE49-F238E27FC236}">
                      <a16:creationId xmlns="" xmlns:a16="http://schemas.microsoft.com/office/drawing/2014/main" xmlns:a14="http://schemas.microsoft.com/office/drawing/2010/main" id="{AF66BBF7-1C5B-A091-3F98-EC9EFC352E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2906" y="3222817"/>
                  <a:ext cx="436273" cy="369332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xmlns="" id="{3DD599C4-3F95-4407-2AF1-A0D0C08AD7CC}"/>
                    </a:ext>
                  </a:extLst>
                </p:cNvPr>
                <p:cNvSpPr txBox="1"/>
                <p:nvPr/>
              </p:nvSpPr>
              <p:spPr>
                <a:xfrm>
                  <a:off x="5122198" y="3247949"/>
                  <a:ext cx="44877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5" name="TextBox 164">
                  <a:extLst>
                    <a:ext uri="{FF2B5EF4-FFF2-40B4-BE49-F238E27FC236}">
                      <a16:creationId xmlns="" xmlns:a16="http://schemas.microsoft.com/office/drawing/2014/main" xmlns:a14="http://schemas.microsoft.com/office/drawing/2010/main" id="{3DD599C4-3F95-4407-2AF1-A0D0C08AD7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2198" y="3247949"/>
                  <a:ext cx="448777" cy="369332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xmlns="" id="{450F4BB0-A5D6-64C7-220A-31E7EF22B78D}"/>
                    </a:ext>
                  </a:extLst>
                </p:cNvPr>
                <p:cNvSpPr txBox="1"/>
                <p:nvPr/>
              </p:nvSpPr>
              <p:spPr>
                <a:xfrm>
                  <a:off x="7376868" y="3269551"/>
                  <a:ext cx="471218" cy="38375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b="1" i="1" smtClean="0"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e>
                            </m:acc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6" name="TextBox 165">
                  <a:extLst>
                    <a:ext uri="{FF2B5EF4-FFF2-40B4-BE49-F238E27FC236}">
                      <a16:creationId xmlns="" xmlns:a16="http://schemas.microsoft.com/office/drawing/2014/main" xmlns:a14="http://schemas.microsoft.com/office/drawing/2010/main" id="{450F4BB0-A5D6-64C7-220A-31E7EF22B7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6868" y="3269551"/>
                  <a:ext cx="471218" cy="383759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t="-7937" r="-519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3" name="Straight Arrow Connector 172">
              <a:extLst>
                <a:ext uri="{FF2B5EF4-FFF2-40B4-BE49-F238E27FC236}">
                  <a16:creationId xmlns:a16="http://schemas.microsoft.com/office/drawing/2014/main" xmlns="" id="{392EC775-E042-840D-378B-90F1077C2FE0}"/>
                </a:ext>
              </a:extLst>
            </p:cNvPr>
            <p:cNvCxnSpPr>
              <a:cxnSpLocks/>
              <a:endCxn id="144" idx="2"/>
            </p:cNvCxnSpPr>
            <p:nvPr/>
          </p:nvCxnSpPr>
          <p:spPr>
            <a:xfrm>
              <a:off x="6372688" y="3221468"/>
              <a:ext cx="30739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4" name="Straight Arrow Connector 173">
              <a:extLst>
                <a:ext uri="{FF2B5EF4-FFF2-40B4-BE49-F238E27FC236}">
                  <a16:creationId xmlns:a16="http://schemas.microsoft.com/office/drawing/2014/main" xmlns="" id="{52896F66-9320-EEE1-2DE9-C988426FD4C8}"/>
                </a:ext>
              </a:extLst>
            </p:cNvPr>
            <p:cNvCxnSpPr>
              <a:cxnSpLocks/>
              <a:stCxn id="144" idx="6"/>
              <a:endCxn id="141" idx="2"/>
            </p:cNvCxnSpPr>
            <p:nvPr/>
          </p:nvCxnSpPr>
          <p:spPr>
            <a:xfrm>
              <a:off x="6953128" y="3221468"/>
              <a:ext cx="294469" cy="132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151">
                  <a:extLst>
                    <a:ext uri="{FF2B5EF4-FFF2-40B4-BE49-F238E27FC236}">
                      <a16:creationId xmlns:a16="http://schemas.microsoft.com/office/drawing/2014/main" xmlns="" id="{13433DA1-D8F5-0EEE-EEC8-A05EC5E55CCC}"/>
                    </a:ext>
                  </a:extLst>
                </p:cNvPr>
                <p:cNvSpPr txBox="1"/>
                <p:nvPr/>
              </p:nvSpPr>
              <p:spPr>
                <a:xfrm>
                  <a:off x="7964857" y="2111642"/>
                  <a:ext cx="3638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TextBox 151">
                  <a:extLst>
                    <a:ext uri="{FF2B5EF4-FFF2-40B4-BE49-F238E27FC236}">
                      <a16:creationId xmlns="" xmlns:a16="http://schemas.microsoft.com/office/drawing/2014/main" xmlns:a14="http://schemas.microsoft.com/office/drawing/2010/main" id="{13433DA1-D8F5-0EEE-EEC8-A05EC5E55C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4857" y="2111642"/>
                  <a:ext cx="363844" cy="369332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 r="-169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3" name="Agrupar 82">
            <a:extLst>
              <a:ext uri="{FF2B5EF4-FFF2-40B4-BE49-F238E27FC236}">
                <a16:creationId xmlns:a16="http://schemas.microsoft.com/office/drawing/2014/main" xmlns="" id="{3829C9C8-68E0-A161-6783-8325BBD0C9AF}"/>
              </a:ext>
            </a:extLst>
          </p:cNvPr>
          <p:cNvGrpSpPr/>
          <p:nvPr/>
        </p:nvGrpSpPr>
        <p:grpSpPr>
          <a:xfrm>
            <a:off x="1393870" y="3892247"/>
            <a:ext cx="4928922" cy="2713085"/>
            <a:chOff x="1393870" y="3892247"/>
            <a:chExt cx="4928922" cy="2713085"/>
          </a:xfrm>
        </p:grpSpPr>
        <p:sp>
          <p:nvSpPr>
            <p:cNvPr id="5" name="Rectangle: Rounded Corners 133">
              <a:extLst>
                <a:ext uri="{FF2B5EF4-FFF2-40B4-BE49-F238E27FC236}">
                  <a16:creationId xmlns:a16="http://schemas.microsoft.com/office/drawing/2014/main" xmlns="" id="{76B82460-6712-509A-7F39-7E3342D21837}"/>
                </a:ext>
              </a:extLst>
            </p:cNvPr>
            <p:cNvSpPr/>
            <p:nvPr/>
          </p:nvSpPr>
          <p:spPr>
            <a:xfrm>
              <a:off x="2113647" y="4219005"/>
              <a:ext cx="3522024" cy="19812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88000"/>
              </a:schemeClr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" name="Straight Arrow Connector 134">
              <a:extLst>
                <a:ext uri="{FF2B5EF4-FFF2-40B4-BE49-F238E27FC236}">
                  <a16:creationId xmlns:a16="http://schemas.microsoft.com/office/drawing/2014/main" xmlns="" id="{00825B81-BABB-775B-C142-3EB6C20FB5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6620" y="4025478"/>
              <a:ext cx="0" cy="468000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Oval 135">
              <a:extLst>
                <a:ext uri="{FF2B5EF4-FFF2-40B4-BE49-F238E27FC236}">
                  <a16:creationId xmlns:a16="http://schemas.microsoft.com/office/drawing/2014/main" xmlns="" id="{299B97CD-2596-41F1-C944-D841B055FD4F}"/>
                </a:ext>
              </a:extLst>
            </p:cNvPr>
            <p:cNvSpPr/>
            <p:nvPr/>
          </p:nvSpPr>
          <p:spPr>
            <a:xfrm>
              <a:off x="2546073" y="4968470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Oval 136">
              <a:extLst>
                <a:ext uri="{FF2B5EF4-FFF2-40B4-BE49-F238E27FC236}">
                  <a16:creationId xmlns:a16="http://schemas.microsoft.com/office/drawing/2014/main" xmlns="" id="{5A2821D2-04DD-590C-E6EF-7FEB220F2DD9}"/>
                </a:ext>
              </a:extLst>
            </p:cNvPr>
            <p:cNvSpPr/>
            <p:nvPr/>
          </p:nvSpPr>
          <p:spPr>
            <a:xfrm>
              <a:off x="4048952" y="4356953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137">
              <a:extLst>
                <a:ext uri="{FF2B5EF4-FFF2-40B4-BE49-F238E27FC236}">
                  <a16:creationId xmlns:a16="http://schemas.microsoft.com/office/drawing/2014/main" xmlns="" id="{51169341-7C6A-C220-1721-4F73952EEF3F}"/>
                </a:ext>
              </a:extLst>
            </p:cNvPr>
            <p:cNvSpPr/>
            <p:nvPr/>
          </p:nvSpPr>
          <p:spPr>
            <a:xfrm>
              <a:off x="4889202" y="5393012"/>
              <a:ext cx="614781" cy="297872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>
                  <a:solidFill>
                    <a:schemeClr val="tx1"/>
                  </a:solidFill>
                </a:rPr>
                <a:t>tanh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Oval 138">
              <a:extLst>
                <a:ext uri="{FF2B5EF4-FFF2-40B4-BE49-F238E27FC236}">
                  <a16:creationId xmlns:a16="http://schemas.microsoft.com/office/drawing/2014/main" xmlns="" id="{66B6166C-B62E-A0A3-1C8F-5870F25564FC}"/>
                </a:ext>
              </a:extLst>
            </p:cNvPr>
            <p:cNvSpPr/>
            <p:nvPr/>
          </p:nvSpPr>
          <p:spPr>
            <a:xfrm>
              <a:off x="5060068" y="4356953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+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39">
                  <a:extLst>
                    <a:ext uri="{FF2B5EF4-FFF2-40B4-BE49-F238E27FC236}">
                      <a16:creationId xmlns:a16="http://schemas.microsoft.com/office/drawing/2014/main" xmlns="" id="{14D576C3-4CC9-E995-4273-0A0504F1DC54}"/>
                    </a:ext>
                  </a:extLst>
                </p:cNvPr>
                <p:cNvSpPr txBox="1"/>
                <p:nvPr/>
              </p:nvSpPr>
              <p:spPr>
                <a:xfrm>
                  <a:off x="1393870" y="4300796"/>
                  <a:ext cx="51158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39">
                  <a:extLst>
                    <a:ext uri="{FF2B5EF4-FFF2-40B4-BE49-F238E27FC236}">
                      <a16:creationId xmlns:a16="http://schemas.microsoft.com/office/drawing/2014/main" id="{14D576C3-4CC9-E995-4273-0A0504F1DC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3870" y="4300796"/>
                  <a:ext cx="511583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Oval 140">
              <a:extLst>
                <a:ext uri="{FF2B5EF4-FFF2-40B4-BE49-F238E27FC236}">
                  <a16:creationId xmlns:a16="http://schemas.microsoft.com/office/drawing/2014/main" xmlns="" id="{E32641F0-F42D-21EA-BC6A-9B9282C4533E}"/>
                </a:ext>
              </a:extLst>
            </p:cNvPr>
            <p:cNvSpPr/>
            <p:nvPr/>
          </p:nvSpPr>
          <p:spPr>
            <a:xfrm>
              <a:off x="5060068" y="4866870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41">
                  <a:extLst>
                    <a:ext uri="{FF2B5EF4-FFF2-40B4-BE49-F238E27FC236}">
                      <a16:creationId xmlns:a16="http://schemas.microsoft.com/office/drawing/2014/main" xmlns="" id="{C3636391-8219-5A2B-D717-423AC3B27F6E}"/>
                    </a:ext>
                  </a:extLst>
                </p:cNvPr>
                <p:cNvSpPr/>
                <p:nvPr/>
              </p:nvSpPr>
              <p:spPr>
                <a:xfrm>
                  <a:off x="4018904" y="5387770"/>
                  <a:ext cx="332510" cy="297872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Rectangle 141">
                  <a:extLst>
                    <a:ext uri="{FF2B5EF4-FFF2-40B4-BE49-F238E27FC236}">
                      <a16:creationId xmlns:a16="http://schemas.microsoft.com/office/drawing/2014/main" id="{C3636391-8219-5A2B-D717-423AC3B27F6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8904" y="5387770"/>
                  <a:ext cx="332510" cy="29787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42">
                  <a:extLst>
                    <a:ext uri="{FF2B5EF4-FFF2-40B4-BE49-F238E27FC236}">
                      <a16:creationId xmlns:a16="http://schemas.microsoft.com/office/drawing/2014/main" xmlns="" id="{E0E83C28-82ED-F423-E8E9-0253AE0C615B}"/>
                    </a:ext>
                  </a:extLst>
                </p:cNvPr>
                <p:cNvSpPr/>
                <p:nvPr/>
              </p:nvSpPr>
              <p:spPr>
                <a:xfrm>
                  <a:off x="3139082" y="5390656"/>
                  <a:ext cx="332510" cy="297872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Rectangle 142">
                  <a:extLst>
                    <a:ext uri="{FF2B5EF4-FFF2-40B4-BE49-F238E27FC236}">
                      <a16:creationId xmlns:a16="http://schemas.microsoft.com/office/drawing/2014/main" id="{E0E83C28-82ED-F423-E8E9-0253AE0C615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9082" y="5390656"/>
                  <a:ext cx="332510" cy="29787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Oval 143">
              <a:extLst>
                <a:ext uri="{FF2B5EF4-FFF2-40B4-BE49-F238E27FC236}">
                  <a16:creationId xmlns:a16="http://schemas.microsoft.com/office/drawing/2014/main" xmlns="" id="{041396E0-C58E-16C3-3F28-E205627319DE}"/>
                </a:ext>
              </a:extLst>
            </p:cNvPr>
            <p:cNvSpPr/>
            <p:nvPr/>
          </p:nvSpPr>
          <p:spPr>
            <a:xfrm>
              <a:off x="4492549" y="4865548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Straight Connector 144">
              <a:extLst>
                <a:ext uri="{FF2B5EF4-FFF2-40B4-BE49-F238E27FC236}">
                  <a16:creationId xmlns:a16="http://schemas.microsoft.com/office/drawing/2014/main" xmlns="" id="{329DFF21-ACA5-F8F3-FBE8-F05E18912B49}"/>
                </a:ext>
              </a:extLst>
            </p:cNvPr>
            <p:cNvCxnSpPr>
              <a:cxnSpLocks/>
              <a:stCxn id="11" idx="3"/>
              <a:endCxn id="8" idx="2"/>
            </p:cNvCxnSpPr>
            <p:nvPr/>
          </p:nvCxnSpPr>
          <p:spPr>
            <a:xfrm>
              <a:off x="1905453" y="4485462"/>
              <a:ext cx="2143499" cy="801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45">
              <a:extLst>
                <a:ext uri="{FF2B5EF4-FFF2-40B4-BE49-F238E27FC236}">
                  <a16:creationId xmlns:a16="http://schemas.microsoft.com/office/drawing/2014/main" xmlns="" id="{BD8F51DA-A7F5-1B2D-C65A-52E31CC37001}"/>
                </a:ext>
              </a:extLst>
            </p:cNvPr>
            <p:cNvCxnSpPr>
              <a:cxnSpLocks/>
              <a:stCxn id="13" idx="0"/>
              <a:endCxn id="8" idx="4"/>
            </p:cNvCxnSpPr>
            <p:nvPr/>
          </p:nvCxnSpPr>
          <p:spPr>
            <a:xfrm flipV="1">
              <a:off x="4185159" y="4630003"/>
              <a:ext cx="318" cy="75776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46">
              <a:extLst>
                <a:ext uri="{FF2B5EF4-FFF2-40B4-BE49-F238E27FC236}">
                  <a16:creationId xmlns:a16="http://schemas.microsoft.com/office/drawing/2014/main" xmlns="" id="{8DC40D2B-03A4-E6E0-8F28-A1C990D606DB}"/>
                </a:ext>
              </a:extLst>
            </p:cNvPr>
            <p:cNvSpPr txBox="1"/>
            <p:nvPr/>
          </p:nvSpPr>
          <p:spPr>
            <a:xfrm>
              <a:off x="4455484" y="4817407"/>
              <a:ext cx="3699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1-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Straight Connector 147">
              <a:extLst>
                <a:ext uri="{FF2B5EF4-FFF2-40B4-BE49-F238E27FC236}">
                  <a16:creationId xmlns:a16="http://schemas.microsoft.com/office/drawing/2014/main" xmlns="" id="{CDA71C24-089D-2774-5617-65EA4D14DEA6}"/>
                </a:ext>
              </a:extLst>
            </p:cNvPr>
            <p:cNvCxnSpPr>
              <a:stCxn id="8" idx="6"/>
              <a:endCxn id="10" idx="2"/>
            </p:cNvCxnSpPr>
            <p:nvPr/>
          </p:nvCxnSpPr>
          <p:spPr>
            <a:xfrm>
              <a:off x="4322002" y="4493478"/>
              <a:ext cx="73806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48">
              <a:extLst>
                <a:ext uri="{FF2B5EF4-FFF2-40B4-BE49-F238E27FC236}">
                  <a16:creationId xmlns:a16="http://schemas.microsoft.com/office/drawing/2014/main" xmlns="" id="{2C2EE00C-3585-DF73-1A5B-40B6ADF20BE2}"/>
                </a:ext>
              </a:extLst>
            </p:cNvPr>
            <p:cNvCxnSpPr>
              <a:stCxn id="12" idx="0"/>
              <a:endCxn id="10" idx="4"/>
            </p:cNvCxnSpPr>
            <p:nvPr/>
          </p:nvCxnSpPr>
          <p:spPr>
            <a:xfrm flipV="1">
              <a:off x="5196593" y="4630003"/>
              <a:ext cx="0" cy="23686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149">
              <a:extLst>
                <a:ext uri="{FF2B5EF4-FFF2-40B4-BE49-F238E27FC236}">
                  <a16:creationId xmlns:a16="http://schemas.microsoft.com/office/drawing/2014/main" xmlns="" id="{B4CA279F-EB35-30D6-EFCA-25E43EFC16BE}"/>
                </a:ext>
              </a:extLst>
            </p:cNvPr>
            <p:cNvCxnSpPr>
              <a:cxnSpLocks/>
              <a:stCxn id="9" idx="0"/>
              <a:endCxn id="12" idx="4"/>
            </p:cNvCxnSpPr>
            <p:nvPr/>
          </p:nvCxnSpPr>
          <p:spPr>
            <a:xfrm flipV="1">
              <a:off x="5196593" y="5139920"/>
              <a:ext cx="0" cy="253092"/>
            </a:xfrm>
            <a:prstGeom prst="line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150">
              <a:extLst>
                <a:ext uri="{FF2B5EF4-FFF2-40B4-BE49-F238E27FC236}">
                  <a16:creationId xmlns:a16="http://schemas.microsoft.com/office/drawing/2014/main" xmlns="" id="{BDEBB756-37EB-569D-DA71-65F80EDBF030}"/>
                </a:ext>
              </a:extLst>
            </p:cNvPr>
            <p:cNvCxnSpPr>
              <a:cxnSpLocks/>
              <a:stCxn id="10" idx="6"/>
            </p:cNvCxnSpPr>
            <p:nvPr/>
          </p:nvCxnSpPr>
          <p:spPr>
            <a:xfrm>
              <a:off x="5333117" y="4493478"/>
              <a:ext cx="648000" cy="311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151">
                  <a:extLst>
                    <a:ext uri="{FF2B5EF4-FFF2-40B4-BE49-F238E27FC236}">
                      <a16:creationId xmlns:a16="http://schemas.microsoft.com/office/drawing/2014/main" xmlns="" id="{213CE53E-9D45-277F-6053-A932079CC9B1}"/>
                    </a:ext>
                  </a:extLst>
                </p:cNvPr>
                <p:cNvSpPr txBox="1"/>
                <p:nvPr/>
              </p:nvSpPr>
              <p:spPr>
                <a:xfrm>
                  <a:off x="5958948" y="4300796"/>
                  <a:ext cx="3638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151">
                  <a:extLst>
                    <a:ext uri="{FF2B5EF4-FFF2-40B4-BE49-F238E27FC236}">
                      <a16:creationId xmlns:a16="http://schemas.microsoft.com/office/drawing/2014/main" id="{213CE53E-9D45-277F-6053-A932079CC9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58948" y="4300796"/>
                  <a:ext cx="363844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Connector: Elbow 152">
              <a:extLst>
                <a:ext uri="{FF2B5EF4-FFF2-40B4-BE49-F238E27FC236}">
                  <a16:creationId xmlns:a16="http://schemas.microsoft.com/office/drawing/2014/main" xmlns="" id="{4FF11D69-F448-12A8-95B0-78E5BDBD95AA}"/>
                </a:ext>
              </a:extLst>
            </p:cNvPr>
            <p:cNvCxnSpPr>
              <a:stCxn id="14" idx="0"/>
              <a:endCxn id="7" idx="6"/>
            </p:cNvCxnSpPr>
            <p:nvPr/>
          </p:nvCxnSpPr>
          <p:spPr>
            <a:xfrm rot="16200000" flipV="1">
              <a:off x="2919400" y="5004719"/>
              <a:ext cx="285661" cy="486214"/>
            </a:xfrm>
            <a:prstGeom prst="bentConnector2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153">
              <a:extLst>
                <a:ext uri="{FF2B5EF4-FFF2-40B4-BE49-F238E27FC236}">
                  <a16:creationId xmlns:a16="http://schemas.microsoft.com/office/drawing/2014/main" xmlns="" id="{C85D28FD-CBC7-37E0-25B1-EF2F02F553F2}"/>
                </a:ext>
              </a:extLst>
            </p:cNvPr>
            <p:cNvCxnSpPr/>
            <p:nvPr/>
          </p:nvCxnSpPr>
          <p:spPr>
            <a:xfrm flipV="1">
              <a:off x="2682598" y="4493478"/>
              <a:ext cx="0" cy="474992"/>
            </a:xfrm>
            <a:prstGeom prst="line">
              <a:avLst/>
            </a:prstGeom>
            <a:ln w="19050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155">
                  <a:extLst>
                    <a:ext uri="{FF2B5EF4-FFF2-40B4-BE49-F238E27FC236}">
                      <a16:creationId xmlns:a16="http://schemas.microsoft.com/office/drawing/2014/main" xmlns="" id="{6871C6B9-2768-B203-7CBF-BD84246AE9AC}"/>
                    </a:ext>
                  </a:extLst>
                </p:cNvPr>
                <p:cNvSpPr txBox="1"/>
                <p:nvPr/>
              </p:nvSpPr>
              <p:spPr>
                <a:xfrm>
                  <a:off x="2083263" y="6236000"/>
                  <a:ext cx="4583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TextBox 155">
                  <a:extLst>
                    <a:ext uri="{FF2B5EF4-FFF2-40B4-BE49-F238E27FC236}">
                      <a16:creationId xmlns:a16="http://schemas.microsoft.com/office/drawing/2014/main" id="{6871C6B9-2768-B203-7CBF-BD84246AE9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83263" y="6236000"/>
                  <a:ext cx="458394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Connector: Elbow 156">
              <a:extLst>
                <a:ext uri="{FF2B5EF4-FFF2-40B4-BE49-F238E27FC236}">
                  <a16:creationId xmlns:a16="http://schemas.microsoft.com/office/drawing/2014/main" xmlns="" id="{DEC0DAD1-6E1E-2C3D-2296-C329C2DB383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591796" y="4406495"/>
              <a:ext cx="320409" cy="2889186"/>
            </a:xfrm>
            <a:prstGeom prst="bentConnector2">
              <a:avLst/>
            </a:prstGeom>
            <a:ln w="19050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157">
              <a:extLst>
                <a:ext uri="{FF2B5EF4-FFF2-40B4-BE49-F238E27FC236}">
                  <a16:creationId xmlns:a16="http://schemas.microsoft.com/office/drawing/2014/main" xmlns="" id="{4EA62229-0791-55FD-3E6E-71532C8BDCB1}"/>
                </a:ext>
              </a:extLst>
            </p:cNvPr>
            <p:cNvCxnSpPr/>
            <p:nvPr/>
          </p:nvCxnSpPr>
          <p:spPr>
            <a:xfrm flipV="1">
              <a:off x="2314621" y="4493478"/>
              <a:ext cx="0" cy="111141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: Elbow 158">
              <a:extLst>
                <a:ext uri="{FF2B5EF4-FFF2-40B4-BE49-F238E27FC236}">
                  <a16:creationId xmlns:a16="http://schemas.microsoft.com/office/drawing/2014/main" xmlns="" id="{EA1DA73A-2215-EBA2-9BBC-A62FB48161EE}"/>
                </a:ext>
              </a:extLst>
            </p:cNvPr>
            <p:cNvCxnSpPr>
              <a:cxnSpLocks/>
              <a:stCxn id="31" idx="2"/>
              <a:endCxn id="13" idx="2"/>
            </p:cNvCxnSpPr>
            <p:nvPr/>
          </p:nvCxnSpPr>
          <p:spPr>
            <a:xfrm flipV="1">
              <a:off x="2413045" y="5685642"/>
              <a:ext cx="1772114" cy="124675"/>
            </a:xfrm>
            <a:prstGeom prst="bentConnector2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Freeform: Shape 159">
              <a:extLst>
                <a:ext uri="{FF2B5EF4-FFF2-40B4-BE49-F238E27FC236}">
                  <a16:creationId xmlns:a16="http://schemas.microsoft.com/office/drawing/2014/main" xmlns="" id="{894E7D26-6B82-2506-9B0D-661DCACF7BB7}"/>
                </a:ext>
              </a:extLst>
            </p:cNvPr>
            <p:cNvSpPr/>
            <p:nvPr/>
          </p:nvSpPr>
          <p:spPr>
            <a:xfrm>
              <a:off x="2308270" y="5583461"/>
              <a:ext cx="104775" cy="226856"/>
            </a:xfrm>
            <a:custGeom>
              <a:avLst/>
              <a:gdLst>
                <a:gd name="csX0" fmla="*/ 6107 w 106120"/>
                <a:gd name="csY0" fmla="*/ 0 h 214313"/>
                <a:gd name="csX1" fmla="*/ 10870 w 106120"/>
                <a:gd name="csY1" fmla="*/ 157163 h 214313"/>
                <a:gd name="csX2" fmla="*/ 106120 w 106120"/>
                <a:gd name="csY2" fmla="*/ 214313 h 214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6120" h="214313">
                  <a:moveTo>
                    <a:pt x="6107" y="0"/>
                  </a:moveTo>
                  <a:cubicBezTo>
                    <a:pt x="154" y="60722"/>
                    <a:pt x="-5799" y="121444"/>
                    <a:pt x="10870" y="157163"/>
                  </a:cubicBezTo>
                  <a:cubicBezTo>
                    <a:pt x="27539" y="192882"/>
                    <a:pt x="66829" y="203597"/>
                    <a:pt x="106120" y="214313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Connector 160">
              <a:extLst>
                <a:ext uri="{FF2B5EF4-FFF2-40B4-BE49-F238E27FC236}">
                  <a16:creationId xmlns:a16="http://schemas.microsoft.com/office/drawing/2014/main" xmlns="" id="{57BA2596-1AE8-FD32-F75E-AC2C9EB74155}"/>
                </a:ext>
              </a:extLst>
            </p:cNvPr>
            <p:cNvCxnSpPr/>
            <p:nvPr/>
          </p:nvCxnSpPr>
          <p:spPr>
            <a:xfrm flipV="1">
              <a:off x="2313032" y="5921361"/>
              <a:ext cx="0" cy="396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Freeform: Shape 161">
              <a:extLst>
                <a:ext uri="{FF2B5EF4-FFF2-40B4-BE49-F238E27FC236}">
                  <a16:creationId xmlns:a16="http://schemas.microsoft.com/office/drawing/2014/main" xmlns="" id="{A40F716A-DA26-CD3D-F640-06D13B113263}"/>
                </a:ext>
              </a:extLst>
            </p:cNvPr>
            <p:cNvSpPr/>
            <p:nvPr/>
          </p:nvSpPr>
          <p:spPr>
            <a:xfrm rot="5170363">
              <a:off x="2370814" y="5751407"/>
              <a:ext cx="104775" cy="226856"/>
            </a:xfrm>
            <a:custGeom>
              <a:avLst/>
              <a:gdLst>
                <a:gd name="csX0" fmla="*/ 6107 w 106120"/>
                <a:gd name="csY0" fmla="*/ 0 h 214313"/>
                <a:gd name="csX1" fmla="*/ 10870 w 106120"/>
                <a:gd name="csY1" fmla="*/ 157163 h 214313"/>
                <a:gd name="csX2" fmla="*/ 106120 w 106120"/>
                <a:gd name="csY2" fmla="*/ 214313 h 214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6120" h="214313">
                  <a:moveTo>
                    <a:pt x="6107" y="0"/>
                  </a:moveTo>
                  <a:cubicBezTo>
                    <a:pt x="154" y="60722"/>
                    <a:pt x="-5799" y="121444"/>
                    <a:pt x="10870" y="157163"/>
                  </a:cubicBezTo>
                  <a:cubicBezTo>
                    <a:pt x="27539" y="192882"/>
                    <a:pt x="66829" y="203597"/>
                    <a:pt x="106120" y="214313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Connector 162">
              <a:extLst>
                <a:ext uri="{FF2B5EF4-FFF2-40B4-BE49-F238E27FC236}">
                  <a16:creationId xmlns:a16="http://schemas.microsoft.com/office/drawing/2014/main" xmlns="" id="{7AFF4DB5-70AC-A228-2CED-B874D1B909D1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>
              <a:off x="3305337" y="5688528"/>
              <a:ext cx="0" cy="116465"/>
            </a:xfrm>
            <a:prstGeom prst="line">
              <a:avLst/>
            </a:prstGeom>
            <a:ln w="19050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163">
                  <a:extLst>
                    <a:ext uri="{FF2B5EF4-FFF2-40B4-BE49-F238E27FC236}">
                      <a16:creationId xmlns:a16="http://schemas.microsoft.com/office/drawing/2014/main" xmlns="" id="{B67C4B5A-CC33-184B-EE45-86AA186E3AF2}"/>
                    </a:ext>
                  </a:extLst>
                </p:cNvPr>
                <p:cNvSpPr txBox="1"/>
                <p:nvPr/>
              </p:nvSpPr>
              <p:spPr>
                <a:xfrm>
                  <a:off x="3815377" y="5003422"/>
                  <a:ext cx="43627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35" name="TextBox 163">
                  <a:extLst>
                    <a:ext uri="{FF2B5EF4-FFF2-40B4-BE49-F238E27FC236}">
                      <a16:creationId xmlns:a16="http://schemas.microsoft.com/office/drawing/2014/main" id="{B67C4B5A-CC33-184B-EE45-86AA186E3A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5377" y="5003422"/>
                  <a:ext cx="436273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164">
                  <a:extLst>
                    <a:ext uri="{FF2B5EF4-FFF2-40B4-BE49-F238E27FC236}">
                      <a16:creationId xmlns:a16="http://schemas.microsoft.com/office/drawing/2014/main" xmlns="" id="{42109F51-0327-B208-BD2B-4785C4C9A0DD}"/>
                    </a:ext>
                  </a:extLst>
                </p:cNvPr>
                <p:cNvSpPr txBox="1"/>
                <p:nvPr/>
              </p:nvSpPr>
              <p:spPr>
                <a:xfrm>
                  <a:off x="2934669" y="5028554"/>
                  <a:ext cx="44877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164">
                  <a:extLst>
                    <a:ext uri="{FF2B5EF4-FFF2-40B4-BE49-F238E27FC236}">
                      <a16:creationId xmlns:a16="http://schemas.microsoft.com/office/drawing/2014/main" id="{42109F51-0327-B208-BD2B-4785C4C9A0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4669" y="5028554"/>
                  <a:ext cx="448777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165">
                  <a:extLst>
                    <a:ext uri="{FF2B5EF4-FFF2-40B4-BE49-F238E27FC236}">
                      <a16:creationId xmlns:a16="http://schemas.microsoft.com/office/drawing/2014/main" xmlns="" id="{5709A3A4-F24D-A15B-23F3-CB82A893FB70}"/>
                    </a:ext>
                  </a:extLst>
                </p:cNvPr>
                <p:cNvSpPr txBox="1"/>
                <p:nvPr/>
              </p:nvSpPr>
              <p:spPr>
                <a:xfrm>
                  <a:off x="5189339" y="5050156"/>
                  <a:ext cx="471218" cy="38375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b="1" i="1" smtClean="0"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e>
                            </m:acc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165">
                  <a:extLst>
                    <a:ext uri="{FF2B5EF4-FFF2-40B4-BE49-F238E27FC236}">
                      <a16:creationId xmlns:a16="http://schemas.microsoft.com/office/drawing/2014/main" id="{5709A3A4-F24D-A15B-23F3-CB82A893FB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9339" y="5050156"/>
                  <a:ext cx="471218" cy="383759"/>
                </a:xfrm>
                <a:prstGeom prst="rect">
                  <a:avLst/>
                </a:prstGeom>
                <a:blipFill>
                  <a:blip r:embed="rId19"/>
                  <a:stretch>
                    <a:fillRect t="-7937" r="-384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Straight Arrow Connector 172">
              <a:extLst>
                <a:ext uri="{FF2B5EF4-FFF2-40B4-BE49-F238E27FC236}">
                  <a16:creationId xmlns:a16="http://schemas.microsoft.com/office/drawing/2014/main" xmlns="" id="{B6850192-2E70-FA7D-0690-8617CA2A2D95}"/>
                </a:ext>
              </a:extLst>
            </p:cNvPr>
            <p:cNvCxnSpPr>
              <a:cxnSpLocks/>
              <a:endCxn id="15" idx="2"/>
            </p:cNvCxnSpPr>
            <p:nvPr/>
          </p:nvCxnSpPr>
          <p:spPr>
            <a:xfrm>
              <a:off x="4185159" y="5002073"/>
              <a:ext cx="30739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Arrow Connector 173">
              <a:extLst>
                <a:ext uri="{FF2B5EF4-FFF2-40B4-BE49-F238E27FC236}">
                  <a16:creationId xmlns:a16="http://schemas.microsoft.com/office/drawing/2014/main" xmlns="" id="{957CA07F-439B-EA86-6998-D63B28329897}"/>
                </a:ext>
              </a:extLst>
            </p:cNvPr>
            <p:cNvCxnSpPr>
              <a:cxnSpLocks/>
              <a:stCxn id="15" idx="6"/>
              <a:endCxn id="12" idx="2"/>
            </p:cNvCxnSpPr>
            <p:nvPr/>
          </p:nvCxnSpPr>
          <p:spPr>
            <a:xfrm>
              <a:off x="4765599" y="5002073"/>
              <a:ext cx="294469" cy="132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151">
                  <a:extLst>
                    <a:ext uri="{FF2B5EF4-FFF2-40B4-BE49-F238E27FC236}">
                      <a16:creationId xmlns:a16="http://schemas.microsoft.com/office/drawing/2014/main" xmlns="" id="{3CE7FA00-5AD7-0B4D-FAC7-E41D83AD74D4}"/>
                    </a:ext>
                  </a:extLst>
                </p:cNvPr>
                <p:cNvSpPr txBox="1"/>
                <p:nvPr/>
              </p:nvSpPr>
              <p:spPr>
                <a:xfrm>
                  <a:off x="5777328" y="3892247"/>
                  <a:ext cx="3638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7" name="TextBox 151">
                  <a:extLst>
                    <a:ext uri="{FF2B5EF4-FFF2-40B4-BE49-F238E27FC236}">
                      <a16:creationId xmlns:a16="http://schemas.microsoft.com/office/drawing/2014/main" id="{3CE7FA00-5AD7-0B4D-FAC7-E41D83AD74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77328" y="3892247"/>
                  <a:ext cx="363844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9" name="Freeform: Shape 159">
              <a:extLst>
                <a:ext uri="{FF2B5EF4-FFF2-40B4-BE49-F238E27FC236}">
                  <a16:creationId xmlns:a16="http://schemas.microsoft.com/office/drawing/2014/main" xmlns="" id="{3098DFA0-3B06-44D9-2E01-EE616EADE9E3}"/>
                </a:ext>
              </a:extLst>
            </p:cNvPr>
            <p:cNvSpPr/>
            <p:nvPr/>
          </p:nvSpPr>
          <p:spPr>
            <a:xfrm rot="21335253">
              <a:off x="2677364" y="5790626"/>
              <a:ext cx="104775" cy="226856"/>
            </a:xfrm>
            <a:custGeom>
              <a:avLst/>
              <a:gdLst>
                <a:gd name="csX0" fmla="*/ 6107 w 106120"/>
                <a:gd name="csY0" fmla="*/ 0 h 214313"/>
                <a:gd name="csX1" fmla="*/ 10870 w 106120"/>
                <a:gd name="csY1" fmla="*/ 157163 h 214313"/>
                <a:gd name="csX2" fmla="*/ 106120 w 106120"/>
                <a:gd name="csY2" fmla="*/ 214313 h 214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6120" h="214313">
                  <a:moveTo>
                    <a:pt x="6107" y="0"/>
                  </a:moveTo>
                  <a:cubicBezTo>
                    <a:pt x="154" y="60722"/>
                    <a:pt x="-5799" y="121444"/>
                    <a:pt x="10870" y="157163"/>
                  </a:cubicBezTo>
                  <a:cubicBezTo>
                    <a:pt x="27539" y="192882"/>
                    <a:pt x="66829" y="203597"/>
                    <a:pt x="106120" y="214313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1" name="Conector reto 80">
              <a:extLst>
                <a:ext uri="{FF2B5EF4-FFF2-40B4-BE49-F238E27FC236}">
                  <a16:creationId xmlns:a16="http://schemas.microsoft.com/office/drawing/2014/main" xmlns="" id="{BDC6C279-F0D0-F104-A845-992FEF41D8B1}"/>
                </a:ext>
              </a:extLst>
            </p:cNvPr>
            <p:cNvCxnSpPr>
              <a:stCxn id="7" idx="4"/>
              <a:endCxn id="79" idx="0"/>
            </p:cNvCxnSpPr>
            <p:nvPr/>
          </p:nvCxnSpPr>
          <p:spPr>
            <a:xfrm flipH="1">
              <a:off x="2674805" y="5241520"/>
              <a:ext cx="7793" cy="553009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3" name="Agrupar 122">
            <a:extLst>
              <a:ext uri="{FF2B5EF4-FFF2-40B4-BE49-F238E27FC236}">
                <a16:creationId xmlns:a16="http://schemas.microsoft.com/office/drawing/2014/main" xmlns="" id="{A14CA10E-C85E-28AC-674E-E3875C9EB7BE}"/>
              </a:ext>
            </a:extLst>
          </p:cNvPr>
          <p:cNvGrpSpPr/>
          <p:nvPr/>
        </p:nvGrpSpPr>
        <p:grpSpPr>
          <a:xfrm>
            <a:off x="6373737" y="1935366"/>
            <a:ext cx="4928922" cy="2713085"/>
            <a:chOff x="6373737" y="1935366"/>
            <a:chExt cx="4928922" cy="2713085"/>
          </a:xfrm>
        </p:grpSpPr>
        <p:cxnSp>
          <p:nvCxnSpPr>
            <p:cNvPr id="97" name="Straight Arrow Connector 145">
              <a:extLst>
                <a:ext uri="{FF2B5EF4-FFF2-40B4-BE49-F238E27FC236}">
                  <a16:creationId xmlns:a16="http://schemas.microsoft.com/office/drawing/2014/main" xmlns="" id="{FFCE4766-33E0-D27F-4E2E-47FA24C524B1}"/>
                </a:ext>
              </a:extLst>
            </p:cNvPr>
            <p:cNvCxnSpPr>
              <a:cxnSpLocks/>
              <a:stCxn id="93" idx="0"/>
              <a:endCxn id="88" idx="4"/>
            </p:cNvCxnSpPr>
            <p:nvPr/>
          </p:nvCxnSpPr>
          <p:spPr>
            <a:xfrm flipV="1">
              <a:off x="9165026" y="2673122"/>
              <a:ext cx="318" cy="75776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148">
              <a:extLst>
                <a:ext uri="{FF2B5EF4-FFF2-40B4-BE49-F238E27FC236}">
                  <a16:creationId xmlns:a16="http://schemas.microsoft.com/office/drawing/2014/main" xmlns="" id="{07F340C5-8E03-EE50-399C-BF6C3555B23F}"/>
                </a:ext>
              </a:extLst>
            </p:cNvPr>
            <p:cNvCxnSpPr>
              <a:stCxn id="92" idx="0"/>
              <a:endCxn id="90" idx="4"/>
            </p:cNvCxnSpPr>
            <p:nvPr/>
          </p:nvCxnSpPr>
          <p:spPr>
            <a:xfrm flipV="1">
              <a:off x="10176460" y="2673122"/>
              <a:ext cx="0" cy="23686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49">
              <a:extLst>
                <a:ext uri="{FF2B5EF4-FFF2-40B4-BE49-F238E27FC236}">
                  <a16:creationId xmlns:a16="http://schemas.microsoft.com/office/drawing/2014/main" xmlns="" id="{9103FDCA-D84F-37DF-CC5A-91588F757EB0}"/>
                </a:ext>
              </a:extLst>
            </p:cNvPr>
            <p:cNvCxnSpPr>
              <a:cxnSpLocks/>
              <a:stCxn id="89" idx="0"/>
              <a:endCxn id="92" idx="4"/>
            </p:cNvCxnSpPr>
            <p:nvPr/>
          </p:nvCxnSpPr>
          <p:spPr>
            <a:xfrm flipV="1">
              <a:off x="10176460" y="3183039"/>
              <a:ext cx="0" cy="253092"/>
            </a:xfrm>
            <a:prstGeom prst="line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Straight Connector 153">
              <a:extLst>
                <a:ext uri="{FF2B5EF4-FFF2-40B4-BE49-F238E27FC236}">
                  <a16:creationId xmlns:a16="http://schemas.microsoft.com/office/drawing/2014/main" xmlns="" id="{AE75D4EB-B1D4-701F-E710-BDE4E4FBB64F}"/>
                </a:ext>
              </a:extLst>
            </p:cNvPr>
            <p:cNvCxnSpPr/>
            <p:nvPr/>
          </p:nvCxnSpPr>
          <p:spPr>
            <a:xfrm flipV="1">
              <a:off x="7662465" y="2536597"/>
              <a:ext cx="0" cy="474992"/>
            </a:xfrm>
            <a:prstGeom prst="line">
              <a:avLst/>
            </a:prstGeom>
            <a:ln w="19050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Straight Connector 160">
              <a:extLst>
                <a:ext uri="{FF2B5EF4-FFF2-40B4-BE49-F238E27FC236}">
                  <a16:creationId xmlns:a16="http://schemas.microsoft.com/office/drawing/2014/main" xmlns="" id="{D754B5F8-378E-308B-8249-A26A4D326863}"/>
                </a:ext>
              </a:extLst>
            </p:cNvPr>
            <p:cNvCxnSpPr/>
            <p:nvPr/>
          </p:nvCxnSpPr>
          <p:spPr>
            <a:xfrm flipV="1">
              <a:off x="7292899" y="3964480"/>
              <a:ext cx="0" cy="396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62">
              <a:extLst>
                <a:ext uri="{FF2B5EF4-FFF2-40B4-BE49-F238E27FC236}">
                  <a16:creationId xmlns:a16="http://schemas.microsoft.com/office/drawing/2014/main" xmlns="" id="{A30D0A16-E2D1-7E19-1B40-8CC5510F0079}"/>
                </a:ext>
              </a:extLst>
            </p:cNvPr>
            <p:cNvCxnSpPr>
              <a:cxnSpLocks/>
              <a:stCxn id="94" idx="2"/>
            </p:cNvCxnSpPr>
            <p:nvPr/>
          </p:nvCxnSpPr>
          <p:spPr>
            <a:xfrm>
              <a:off x="8285204" y="3731647"/>
              <a:ext cx="0" cy="116465"/>
            </a:xfrm>
            <a:prstGeom prst="line">
              <a:avLst/>
            </a:prstGeom>
            <a:ln w="19050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Straight Arrow Connector 172">
              <a:extLst>
                <a:ext uri="{FF2B5EF4-FFF2-40B4-BE49-F238E27FC236}">
                  <a16:creationId xmlns:a16="http://schemas.microsoft.com/office/drawing/2014/main" xmlns="" id="{17380AA7-33C3-AE39-20FE-857F6BE421A0}"/>
                </a:ext>
              </a:extLst>
            </p:cNvPr>
            <p:cNvCxnSpPr>
              <a:cxnSpLocks/>
              <a:endCxn id="95" idx="2"/>
            </p:cNvCxnSpPr>
            <p:nvPr/>
          </p:nvCxnSpPr>
          <p:spPr>
            <a:xfrm>
              <a:off x="9165026" y="3045192"/>
              <a:ext cx="30739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Straight Arrow Connector 173">
              <a:extLst>
                <a:ext uri="{FF2B5EF4-FFF2-40B4-BE49-F238E27FC236}">
                  <a16:creationId xmlns:a16="http://schemas.microsoft.com/office/drawing/2014/main" xmlns="" id="{8A0D0F86-73AA-4C37-7FD6-7A351477CA6F}"/>
                </a:ext>
              </a:extLst>
            </p:cNvPr>
            <p:cNvCxnSpPr>
              <a:cxnSpLocks/>
              <a:stCxn id="95" idx="6"/>
              <a:endCxn id="92" idx="2"/>
            </p:cNvCxnSpPr>
            <p:nvPr/>
          </p:nvCxnSpPr>
          <p:spPr>
            <a:xfrm>
              <a:off x="9745466" y="3045192"/>
              <a:ext cx="294469" cy="132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0" name="Freeform: Shape 159">
              <a:extLst>
                <a:ext uri="{FF2B5EF4-FFF2-40B4-BE49-F238E27FC236}">
                  <a16:creationId xmlns:a16="http://schemas.microsoft.com/office/drawing/2014/main" xmlns="" id="{817D3687-4C52-A7B6-4116-0DC677950DA9}"/>
                </a:ext>
              </a:extLst>
            </p:cNvPr>
            <p:cNvSpPr/>
            <p:nvPr/>
          </p:nvSpPr>
          <p:spPr>
            <a:xfrm rot="21335253">
              <a:off x="7657231" y="3833745"/>
              <a:ext cx="104775" cy="226856"/>
            </a:xfrm>
            <a:custGeom>
              <a:avLst/>
              <a:gdLst>
                <a:gd name="csX0" fmla="*/ 6107 w 106120"/>
                <a:gd name="csY0" fmla="*/ 0 h 214313"/>
                <a:gd name="csX1" fmla="*/ 10870 w 106120"/>
                <a:gd name="csY1" fmla="*/ 157163 h 214313"/>
                <a:gd name="csX2" fmla="*/ 106120 w 106120"/>
                <a:gd name="csY2" fmla="*/ 214313 h 214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6120" h="214313">
                  <a:moveTo>
                    <a:pt x="6107" y="0"/>
                  </a:moveTo>
                  <a:cubicBezTo>
                    <a:pt x="154" y="60722"/>
                    <a:pt x="-5799" y="121444"/>
                    <a:pt x="10870" y="157163"/>
                  </a:cubicBezTo>
                  <a:cubicBezTo>
                    <a:pt x="27539" y="192882"/>
                    <a:pt x="66829" y="203597"/>
                    <a:pt x="106120" y="214313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Oval 140">
              <a:extLst>
                <a:ext uri="{FF2B5EF4-FFF2-40B4-BE49-F238E27FC236}">
                  <a16:creationId xmlns:a16="http://schemas.microsoft.com/office/drawing/2014/main" xmlns="" id="{3C934291-13E8-1615-4FB3-16C593530C71}"/>
                </a:ext>
              </a:extLst>
            </p:cNvPr>
            <p:cNvSpPr/>
            <p:nvPr/>
          </p:nvSpPr>
          <p:spPr>
            <a:xfrm>
              <a:off x="10039935" y="2909989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5" name="Oval 143">
              <a:extLst>
                <a:ext uri="{FF2B5EF4-FFF2-40B4-BE49-F238E27FC236}">
                  <a16:creationId xmlns:a16="http://schemas.microsoft.com/office/drawing/2014/main" xmlns="" id="{084FC3E3-2BA8-69D2-39C3-09B20D59055D}"/>
                </a:ext>
              </a:extLst>
            </p:cNvPr>
            <p:cNvSpPr/>
            <p:nvPr/>
          </p:nvSpPr>
          <p:spPr>
            <a:xfrm>
              <a:off x="9472416" y="2908667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104" name="Connector: Elbow 152">
              <a:extLst>
                <a:ext uri="{FF2B5EF4-FFF2-40B4-BE49-F238E27FC236}">
                  <a16:creationId xmlns:a16="http://schemas.microsoft.com/office/drawing/2014/main" xmlns="" id="{CE2BFA31-B2A1-3DB2-A292-68B304312768}"/>
                </a:ext>
              </a:extLst>
            </p:cNvPr>
            <p:cNvCxnSpPr>
              <a:stCxn id="94" idx="0"/>
              <a:endCxn id="87" idx="6"/>
            </p:cNvCxnSpPr>
            <p:nvPr/>
          </p:nvCxnSpPr>
          <p:spPr>
            <a:xfrm rot="16200000" flipV="1">
              <a:off x="7899267" y="3047838"/>
              <a:ext cx="285661" cy="486214"/>
            </a:xfrm>
            <a:prstGeom prst="bentConnector2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Connector: Elbow 156">
              <a:extLst>
                <a:ext uri="{FF2B5EF4-FFF2-40B4-BE49-F238E27FC236}">
                  <a16:creationId xmlns:a16="http://schemas.microsoft.com/office/drawing/2014/main" xmlns="" id="{896C1B2B-91E0-847B-9289-47EB59AD80B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571663" y="2449614"/>
              <a:ext cx="320409" cy="2889186"/>
            </a:xfrm>
            <a:prstGeom prst="bentConnector2">
              <a:avLst/>
            </a:prstGeom>
            <a:ln w="19050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Connector: Elbow 158">
              <a:extLst>
                <a:ext uri="{FF2B5EF4-FFF2-40B4-BE49-F238E27FC236}">
                  <a16:creationId xmlns:a16="http://schemas.microsoft.com/office/drawing/2014/main" xmlns="" id="{F0FA5897-623E-2F28-C0F4-4782D5CCDB4D}"/>
                </a:ext>
              </a:extLst>
            </p:cNvPr>
            <p:cNvCxnSpPr>
              <a:cxnSpLocks/>
              <a:stCxn id="110" idx="2"/>
              <a:endCxn id="93" idx="2"/>
            </p:cNvCxnSpPr>
            <p:nvPr/>
          </p:nvCxnSpPr>
          <p:spPr>
            <a:xfrm flipV="1">
              <a:off x="7412984" y="3728761"/>
              <a:ext cx="1752042" cy="123942"/>
            </a:xfrm>
            <a:prstGeom prst="bentConnector2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0" name="Freeform: Shape 159">
              <a:extLst>
                <a:ext uri="{FF2B5EF4-FFF2-40B4-BE49-F238E27FC236}">
                  <a16:creationId xmlns:a16="http://schemas.microsoft.com/office/drawing/2014/main" xmlns="" id="{F41FB465-21CE-CF3A-5C9B-60312CA84496}"/>
                </a:ext>
              </a:extLst>
            </p:cNvPr>
            <p:cNvSpPr/>
            <p:nvPr/>
          </p:nvSpPr>
          <p:spPr>
            <a:xfrm rot="21272626">
              <a:off x="7297661" y="3631342"/>
              <a:ext cx="104775" cy="226856"/>
            </a:xfrm>
            <a:custGeom>
              <a:avLst/>
              <a:gdLst>
                <a:gd name="csX0" fmla="*/ 6107 w 106120"/>
                <a:gd name="csY0" fmla="*/ 0 h 214313"/>
                <a:gd name="csX1" fmla="*/ 10870 w 106120"/>
                <a:gd name="csY1" fmla="*/ 157163 h 214313"/>
                <a:gd name="csX2" fmla="*/ 106120 w 106120"/>
                <a:gd name="csY2" fmla="*/ 214313 h 214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6120" h="214313">
                  <a:moveTo>
                    <a:pt x="6107" y="0"/>
                  </a:moveTo>
                  <a:cubicBezTo>
                    <a:pt x="154" y="60722"/>
                    <a:pt x="-5799" y="121444"/>
                    <a:pt x="10870" y="157163"/>
                  </a:cubicBezTo>
                  <a:cubicBezTo>
                    <a:pt x="27539" y="192882"/>
                    <a:pt x="66829" y="203597"/>
                    <a:pt x="106120" y="214313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1" name="Conector reto 120">
              <a:extLst>
                <a:ext uri="{FF2B5EF4-FFF2-40B4-BE49-F238E27FC236}">
                  <a16:creationId xmlns:a16="http://schemas.microsoft.com/office/drawing/2014/main" xmlns="" id="{C46C344B-1AD9-9C35-4670-EFB6F8B3D4CB}"/>
                </a:ext>
              </a:extLst>
            </p:cNvPr>
            <p:cNvCxnSpPr>
              <a:stCxn id="87" idx="4"/>
              <a:endCxn id="120" idx="0"/>
            </p:cNvCxnSpPr>
            <p:nvPr/>
          </p:nvCxnSpPr>
          <p:spPr>
            <a:xfrm flipH="1">
              <a:off x="7654672" y="3284639"/>
              <a:ext cx="7793" cy="553009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7" name="Oval 135">
              <a:extLst>
                <a:ext uri="{FF2B5EF4-FFF2-40B4-BE49-F238E27FC236}">
                  <a16:creationId xmlns:a16="http://schemas.microsoft.com/office/drawing/2014/main" xmlns="" id="{B7B574ED-AB73-EA18-9CBB-7B7DCF08F2BA}"/>
                </a:ext>
              </a:extLst>
            </p:cNvPr>
            <p:cNvSpPr/>
            <p:nvPr/>
          </p:nvSpPr>
          <p:spPr>
            <a:xfrm>
              <a:off x="7525940" y="3011589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9" name="Rectangle 137">
              <a:extLst>
                <a:ext uri="{FF2B5EF4-FFF2-40B4-BE49-F238E27FC236}">
                  <a16:creationId xmlns:a16="http://schemas.microsoft.com/office/drawing/2014/main" xmlns="" id="{1ADBB6FE-3220-812D-AA74-CBE4E6BDA6FF}"/>
                </a:ext>
              </a:extLst>
            </p:cNvPr>
            <p:cNvSpPr/>
            <p:nvPr/>
          </p:nvSpPr>
          <p:spPr>
            <a:xfrm>
              <a:off x="9869069" y="3436131"/>
              <a:ext cx="614781" cy="297872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>
                  <a:solidFill>
                    <a:schemeClr val="tx1"/>
                  </a:solidFill>
                </a:rPr>
                <a:t>tanh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Rectangle 141">
                  <a:extLst>
                    <a:ext uri="{FF2B5EF4-FFF2-40B4-BE49-F238E27FC236}">
                      <a16:creationId xmlns:a16="http://schemas.microsoft.com/office/drawing/2014/main" xmlns="" id="{AB880D80-7CF8-A920-5EBA-FFE6D639145A}"/>
                    </a:ext>
                  </a:extLst>
                </p:cNvPr>
                <p:cNvSpPr/>
                <p:nvPr/>
              </p:nvSpPr>
              <p:spPr>
                <a:xfrm>
                  <a:off x="8998771" y="3430889"/>
                  <a:ext cx="332510" cy="297872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3" name="Rectangle 141">
                  <a:extLst>
                    <a:ext uri="{FF2B5EF4-FFF2-40B4-BE49-F238E27FC236}">
                      <a16:creationId xmlns:a16="http://schemas.microsoft.com/office/drawing/2014/main" id="{AB880D80-7CF8-A920-5EBA-FFE6D63914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8771" y="3430889"/>
                  <a:ext cx="332510" cy="29787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Rectangle 142">
                  <a:extLst>
                    <a:ext uri="{FF2B5EF4-FFF2-40B4-BE49-F238E27FC236}">
                      <a16:creationId xmlns:a16="http://schemas.microsoft.com/office/drawing/2014/main" xmlns="" id="{4CA8F6E9-E6F7-AFE2-0B59-007659AF56BD}"/>
                    </a:ext>
                  </a:extLst>
                </p:cNvPr>
                <p:cNvSpPr/>
                <p:nvPr/>
              </p:nvSpPr>
              <p:spPr>
                <a:xfrm>
                  <a:off x="8118949" y="3433775"/>
                  <a:ext cx="332510" cy="297872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Rectangle 142">
                  <a:extLst>
                    <a:ext uri="{FF2B5EF4-FFF2-40B4-BE49-F238E27FC236}">
                      <a16:creationId xmlns:a16="http://schemas.microsoft.com/office/drawing/2014/main" id="{4CA8F6E9-E6F7-AFE2-0B59-007659AF56B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18949" y="3433775"/>
                  <a:ext cx="332510" cy="29787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8" name="TextBox 146">
              <a:extLst>
                <a:ext uri="{FF2B5EF4-FFF2-40B4-BE49-F238E27FC236}">
                  <a16:creationId xmlns:a16="http://schemas.microsoft.com/office/drawing/2014/main" xmlns="" id="{E88579DA-24C0-EACC-F7CA-C594474567CA}"/>
                </a:ext>
              </a:extLst>
            </p:cNvPr>
            <p:cNvSpPr txBox="1"/>
            <p:nvPr/>
          </p:nvSpPr>
          <p:spPr>
            <a:xfrm>
              <a:off x="9435351" y="2860526"/>
              <a:ext cx="3699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1-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08" name="Straight Connector 157">
              <a:extLst>
                <a:ext uri="{FF2B5EF4-FFF2-40B4-BE49-F238E27FC236}">
                  <a16:creationId xmlns:a16="http://schemas.microsoft.com/office/drawing/2014/main" xmlns="" id="{864F9693-07A6-4744-FB2C-A4BCBAEDF7FA}"/>
                </a:ext>
              </a:extLst>
            </p:cNvPr>
            <p:cNvCxnSpPr/>
            <p:nvPr/>
          </p:nvCxnSpPr>
          <p:spPr>
            <a:xfrm flipV="1">
              <a:off x="7294488" y="2536597"/>
              <a:ext cx="0" cy="111141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Freeform: Shape 161">
              <a:extLst>
                <a:ext uri="{FF2B5EF4-FFF2-40B4-BE49-F238E27FC236}">
                  <a16:creationId xmlns:a16="http://schemas.microsoft.com/office/drawing/2014/main" xmlns="" id="{1F87D734-F552-E139-FBF4-397A865A6BAE}"/>
                </a:ext>
              </a:extLst>
            </p:cNvPr>
            <p:cNvSpPr/>
            <p:nvPr/>
          </p:nvSpPr>
          <p:spPr>
            <a:xfrm rot="5093909">
              <a:off x="7348300" y="3794526"/>
              <a:ext cx="104775" cy="226856"/>
            </a:xfrm>
            <a:custGeom>
              <a:avLst/>
              <a:gdLst>
                <a:gd name="csX0" fmla="*/ 6107 w 106120"/>
                <a:gd name="csY0" fmla="*/ 0 h 214313"/>
                <a:gd name="csX1" fmla="*/ 10870 w 106120"/>
                <a:gd name="csY1" fmla="*/ 157163 h 214313"/>
                <a:gd name="csX2" fmla="*/ 106120 w 106120"/>
                <a:gd name="csY2" fmla="*/ 214313 h 214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6120" h="214313">
                  <a:moveTo>
                    <a:pt x="6107" y="0"/>
                  </a:moveTo>
                  <a:cubicBezTo>
                    <a:pt x="154" y="60722"/>
                    <a:pt x="-5799" y="121444"/>
                    <a:pt x="10870" y="157163"/>
                  </a:cubicBezTo>
                  <a:cubicBezTo>
                    <a:pt x="27539" y="192882"/>
                    <a:pt x="66829" y="203597"/>
                    <a:pt x="106120" y="214313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TextBox 163">
                  <a:extLst>
                    <a:ext uri="{FF2B5EF4-FFF2-40B4-BE49-F238E27FC236}">
                      <a16:creationId xmlns:a16="http://schemas.microsoft.com/office/drawing/2014/main" xmlns="" id="{DDAE1450-82FA-3CB6-B806-701797994D45}"/>
                    </a:ext>
                  </a:extLst>
                </p:cNvPr>
                <p:cNvSpPr txBox="1"/>
                <p:nvPr/>
              </p:nvSpPr>
              <p:spPr>
                <a:xfrm>
                  <a:off x="8795244" y="3046541"/>
                  <a:ext cx="43627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14" name="TextBox 163">
                  <a:extLst>
                    <a:ext uri="{FF2B5EF4-FFF2-40B4-BE49-F238E27FC236}">
                      <a16:creationId xmlns:a16="http://schemas.microsoft.com/office/drawing/2014/main" id="{DDAE1450-82FA-3CB6-B806-701797994D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5244" y="3046541"/>
                  <a:ext cx="436273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64">
                  <a:extLst>
                    <a:ext uri="{FF2B5EF4-FFF2-40B4-BE49-F238E27FC236}">
                      <a16:creationId xmlns:a16="http://schemas.microsoft.com/office/drawing/2014/main" xmlns="" id="{C32CC159-0AA5-71A0-F4E5-E9352BF7A293}"/>
                    </a:ext>
                  </a:extLst>
                </p:cNvPr>
                <p:cNvSpPr txBox="1"/>
                <p:nvPr/>
              </p:nvSpPr>
              <p:spPr>
                <a:xfrm>
                  <a:off x="7914536" y="3071673"/>
                  <a:ext cx="44877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5" name="TextBox 164">
                  <a:extLst>
                    <a:ext uri="{FF2B5EF4-FFF2-40B4-BE49-F238E27FC236}">
                      <a16:creationId xmlns:a16="http://schemas.microsoft.com/office/drawing/2014/main" id="{C32CC159-0AA5-71A0-F4E5-E9352BF7A2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14536" y="3071673"/>
                  <a:ext cx="448777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TextBox 165">
                  <a:extLst>
                    <a:ext uri="{FF2B5EF4-FFF2-40B4-BE49-F238E27FC236}">
                      <a16:creationId xmlns:a16="http://schemas.microsoft.com/office/drawing/2014/main" xmlns="" id="{88FC8830-6A3A-4A8C-DA3A-F7C924023353}"/>
                    </a:ext>
                  </a:extLst>
                </p:cNvPr>
                <p:cNvSpPr txBox="1"/>
                <p:nvPr/>
              </p:nvSpPr>
              <p:spPr>
                <a:xfrm>
                  <a:off x="10169206" y="3093275"/>
                  <a:ext cx="471218" cy="38375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b="1" i="1" smtClean="0"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e>
                            </m:acc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6" name="TextBox 165">
                  <a:extLst>
                    <a:ext uri="{FF2B5EF4-FFF2-40B4-BE49-F238E27FC236}">
                      <a16:creationId xmlns:a16="http://schemas.microsoft.com/office/drawing/2014/main" id="{88FC8830-6A3A-4A8C-DA3A-F7C9240233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9206" y="3093275"/>
                  <a:ext cx="471218" cy="383759"/>
                </a:xfrm>
                <a:prstGeom prst="rect">
                  <a:avLst/>
                </a:prstGeom>
                <a:blipFill>
                  <a:blip r:embed="rId25"/>
                  <a:stretch>
                    <a:fillRect t="-7937" r="-51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5" name="Rectangle: Rounded Corners 133">
              <a:extLst>
                <a:ext uri="{FF2B5EF4-FFF2-40B4-BE49-F238E27FC236}">
                  <a16:creationId xmlns:a16="http://schemas.microsoft.com/office/drawing/2014/main" xmlns="" id="{C22F73FC-22E6-4C04-4138-C6E4840A457B}"/>
                </a:ext>
              </a:extLst>
            </p:cNvPr>
            <p:cNvSpPr/>
            <p:nvPr/>
          </p:nvSpPr>
          <p:spPr>
            <a:xfrm>
              <a:off x="7093514" y="2262124"/>
              <a:ext cx="3522024" cy="19812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88000"/>
              </a:schemeClr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6" name="Straight Arrow Connector 134">
              <a:extLst>
                <a:ext uri="{FF2B5EF4-FFF2-40B4-BE49-F238E27FC236}">
                  <a16:creationId xmlns:a16="http://schemas.microsoft.com/office/drawing/2014/main" xmlns="" id="{2CC61B4E-8888-D162-6D95-B9FE3B5D36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16487" y="2068597"/>
              <a:ext cx="0" cy="468000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8" name="Oval 136">
              <a:extLst>
                <a:ext uri="{FF2B5EF4-FFF2-40B4-BE49-F238E27FC236}">
                  <a16:creationId xmlns:a16="http://schemas.microsoft.com/office/drawing/2014/main" xmlns="" id="{C68A2736-8717-3DD0-DD01-7B61C8468B69}"/>
                </a:ext>
              </a:extLst>
            </p:cNvPr>
            <p:cNvSpPr/>
            <p:nvPr/>
          </p:nvSpPr>
          <p:spPr>
            <a:xfrm>
              <a:off x="9028819" y="2400072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0" name="Oval 138">
              <a:extLst>
                <a:ext uri="{FF2B5EF4-FFF2-40B4-BE49-F238E27FC236}">
                  <a16:creationId xmlns:a16="http://schemas.microsoft.com/office/drawing/2014/main" xmlns="" id="{28474D35-7F2A-1499-BF67-A56E9CBB2FC6}"/>
                </a:ext>
              </a:extLst>
            </p:cNvPr>
            <p:cNvSpPr/>
            <p:nvPr/>
          </p:nvSpPr>
          <p:spPr>
            <a:xfrm>
              <a:off x="10039935" y="2400072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+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139">
                  <a:extLst>
                    <a:ext uri="{FF2B5EF4-FFF2-40B4-BE49-F238E27FC236}">
                      <a16:creationId xmlns:a16="http://schemas.microsoft.com/office/drawing/2014/main" xmlns="" id="{E0C6E98E-ACF4-9488-A87C-FDDDBD391DC5}"/>
                    </a:ext>
                  </a:extLst>
                </p:cNvPr>
                <p:cNvSpPr txBox="1"/>
                <p:nvPr/>
              </p:nvSpPr>
              <p:spPr>
                <a:xfrm>
                  <a:off x="6373737" y="2343915"/>
                  <a:ext cx="51158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1" name="TextBox 139">
                  <a:extLst>
                    <a:ext uri="{FF2B5EF4-FFF2-40B4-BE49-F238E27FC236}">
                      <a16:creationId xmlns:a16="http://schemas.microsoft.com/office/drawing/2014/main" id="{E0C6E98E-ACF4-9488-A87C-FDDDBD391D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3737" y="2343915"/>
                  <a:ext cx="511583" cy="369332"/>
                </a:xfrm>
                <a:prstGeom prst="rect">
                  <a:avLst/>
                </a:prstGeom>
                <a:blipFill>
                  <a:blip r:embed="rId26"/>
                  <a:stretch>
                    <a:fillRect r="-156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6" name="Straight Connector 144">
              <a:extLst>
                <a:ext uri="{FF2B5EF4-FFF2-40B4-BE49-F238E27FC236}">
                  <a16:creationId xmlns:a16="http://schemas.microsoft.com/office/drawing/2014/main" xmlns="" id="{94081AD1-ED81-9C0E-2BC9-06E7A6BFA20D}"/>
                </a:ext>
              </a:extLst>
            </p:cNvPr>
            <p:cNvCxnSpPr>
              <a:cxnSpLocks/>
              <a:stCxn id="91" idx="3"/>
              <a:endCxn id="88" idx="2"/>
            </p:cNvCxnSpPr>
            <p:nvPr/>
          </p:nvCxnSpPr>
          <p:spPr>
            <a:xfrm>
              <a:off x="6885320" y="2528581"/>
              <a:ext cx="2143499" cy="801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Straight Connector 147">
              <a:extLst>
                <a:ext uri="{FF2B5EF4-FFF2-40B4-BE49-F238E27FC236}">
                  <a16:creationId xmlns:a16="http://schemas.microsoft.com/office/drawing/2014/main" xmlns="" id="{75B733EE-950D-D301-BA46-CA4DC385D6EB}"/>
                </a:ext>
              </a:extLst>
            </p:cNvPr>
            <p:cNvCxnSpPr>
              <a:stCxn id="88" idx="6"/>
              <a:endCxn id="90" idx="2"/>
            </p:cNvCxnSpPr>
            <p:nvPr/>
          </p:nvCxnSpPr>
          <p:spPr>
            <a:xfrm>
              <a:off x="9301869" y="2536597"/>
              <a:ext cx="73806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50">
              <a:extLst>
                <a:ext uri="{FF2B5EF4-FFF2-40B4-BE49-F238E27FC236}">
                  <a16:creationId xmlns:a16="http://schemas.microsoft.com/office/drawing/2014/main" xmlns="" id="{FEFDB515-7ABA-4900-267A-51F10B3F22A9}"/>
                </a:ext>
              </a:extLst>
            </p:cNvPr>
            <p:cNvCxnSpPr>
              <a:cxnSpLocks/>
              <a:stCxn id="90" idx="6"/>
            </p:cNvCxnSpPr>
            <p:nvPr/>
          </p:nvCxnSpPr>
          <p:spPr>
            <a:xfrm>
              <a:off x="10312984" y="2536597"/>
              <a:ext cx="648000" cy="311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51">
                  <a:extLst>
                    <a:ext uri="{FF2B5EF4-FFF2-40B4-BE49-F238E27FC236}">
                      <a16:creationId xmlns:a16="http://schemas.microsoft.com/office/drawing/2014/main" xmlns="" id="{03DA660E-E283-6E20-ED9F-5E2FB81B5106}"/>
                    </a:ext>
                  </a:extLst>
                </p:cNvPr>
                <p:cNvSpPr txBox="1"/>
                <p:nvPr/>
              </p:nvSpPr>
              <p:spPr>
                <a:xfrm>
                  <a:off x="10938815" y="2343915"/>
                  <a:ext cx="3638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3" name="TextBox 151">
                  <a:extLst>
                    <a:ext uri="{FF2B5EF4-FFF2-40B4-BE49-F238E27FC236}">
                      <a16:creationId xmlns:a16="http://schemas.microsoft.com/office/drawing/2014/main" id="{03DA660E-E283-6E20-ED9F-5E2FB81B51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38815" y="2343915"/>
                  <a:ext cx="363844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TextBox 155">
                  <a:extLst>
                    <a:ext uri="{FF2B5EF4-FFF2-40B4-BE49-F238E27FC236}">
                      <a16:creationId xmlns:a16="http://schemas.microsoft.com/office/drawing/2014/main" xmlns="" id="{4887E9F6-207A-7111-1D25-FF90C0EED4DD}"/>
                    </a:ext>
                  </a:extLst>
                </p:cNvPr>
                <p:cNvSpPr txBox="1"/>
                <p:nvPr/>
              </p:nvSpPr>
              <p:spPr>
                <a:xfrm>
                  <a:off x="7063130" y="4279119"/>
                  <a:ext cx="4583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6" name="TextBox 155">
                  <a:extLst>
                    <a:ext uri="{FF2B5EF4-FFF2-40B4-BE49-F238E27FC236}">
                      <a16:creationId xmlns:a16="http://schemas.microsoft.com/office/drawing/2014/main" id="{4887E9F6-207A-7111-1D25-FF90C0EED4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3130" y="4279119"/>
                  <a:ext cx="458394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51">
                  <a:extLst>
                    <a:ext uri="{FF2B5EF4-FFF2-40B4-BE49-F238E27FC236}">
                      <a16:creationId xmlns:a16="http://schemas.microsoft.com/office/drawing/2014/main" xmlns="" id="{6347BF7A-E257-0517-DF8B-551D5E60395D}"/>
                    </a:ext>
                  </a:extLst>
                </p:cNvPr>
                <p:cNvSpPr txBox="1"/>
                <p:nvPr/>
              </p:nvSpPr>
              <p:spPr>
                <a:xfrm>
                  <a:off x="10757195" y="1935366"/>
                  <a:ext cx="3638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9" name="TextBox 151">
                  <a:extLst>
                    <a:ext uri="{FF2B5EF4-FFF2-40B4-BE49-F238E27FC236}">
                      <a16:creationId xmlns:a16="http://schemas.microsoft.com/office/drawing/2014/main" id="{6347BF7A-E257-0517-DF8B-551D5E6039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57195" y="1935366"/>
                  <a:ext cx="363844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3745027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62252F6-7CF6-0CB5-2A37-B62D170C7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rupar 10">
            <a:extLst>
              <a:ext uri="{FF2B5EF4-FFF2-40B4-BE49-F238E27FC236}">
                <a16:creationId xmlns:a16="http://schemas.microsoft.com/office/drawing/2014/main" xmlns="" id="{366F7BF2-C635-C709-4EB5-7F9A5D5B6DBD}"/>
              </a:ext>
            </a:extLst>
          </p:cNvPr>
          <p:cNvGrpSpPr/>
          <p:nvPr/>
        </p:nvGrpSpPr>
        <p:grpSpPr>
          <a:xfrm>
            <a:off x="3105149" y="1848292"/>
            <a:ext cx="4928922" cy="2995485"/>
            <a:chOff x="3105149" y="1848292"/>
            <a:chExt cx="4928922" cy="2995485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xmlns="" id="{BA002826-58F0-2B0D-1038-C97581B5271D}"/>
                </a:ext>
              </a:extLst>
            </p:cNvPr>
            <p:cNvSpPr/>
            <p:nvPr/>
          </p:nvSpPr>
          <p:spPr>
            <a:xfrm>
              <a:off x="3824926" y="2457450"/>
              <a:ext cx="3522024" cy="19812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88000"/>
              </a:schemeClr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xmlns="" id="{1B79736A-236D-E3D9-6C83-C58E440FA7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47899" y="2263923"/>
              <a:ext cx="0" cy="468000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xmlns="" id="{D2414ECA-C1B7-3469-AA7E-EC751760A2ED}"/>
                </a:ext>
              </a:extLst>
            </p:cNvPr>
            <p:cNvSpPr/>
            <p:nvPr/>
          </p:nvSpPr>
          <p:spPr>
            <a:xfrm>
              <a:off x="4257352" y="3206915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xmlns="" id="{ED51A595-29D8-A07D-C3F0-F222BCFA01C8}"/>
                </a:ext>
              </a:extLst>
            </p:cNvPr>
            <p:cNvSpPr/>
            <p:nvPr/>
          </p:nvSpPr>
          <p:spPr>
            <a:xfrm>
              <a:off x="5760231" y="2595398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440BE548-A72A-2BF0-59F6-02658DA115FF}"/>
                </a:ext>
              </a:extLst>
            </p:cNvPr>
            <p:cNvSpPr/>
            <p:nvPr/>
          </p:nvSpPr>
          <p:spPr>
            <a:xfrm>
              <a:off x="6600481" y="3631457"/>
              <a:ext cx="614781" cy="297872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>
                  <a:solidFill>
                    <a:schemeClr val="tx1"/>
                  </a:solidFill>
                </a:rPr>
                <a:t>tanh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xmlns="" id="{E6D8DDBB-3D1C-6DFC-433F-295B122112B7}"/>
                </a:ext>
              </a:extLst>
            </p:cNvPr>
            <p:cNvSpPr/>
            <p:nvPr/>
          </p:nvSpPr>
          <p:spPr>
            <a:xfrm>
              <a:off x="6771347" y="2595398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+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xmlns="" id="{24262BB3-B947-8525-67E1-678650132CEC}"/>
                    </a:ext>
                  </a:extLst>
                </p:cNvPr>
                <p:cNvSpPr txBox="1"/>
                <p:nvPr/>
              </p:nvSpPr>
              <p:spPr>
                <a:xfrm>
                  <a:off x="3105149" y="2539241"/>
                  <a:ext cx="51158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4262BB3-B947-8525-67E1-678650132C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5149" y="2539241"/>
                  <a:ext cx="511583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Oval 3">
              <a:extLst>
                <a:ext uri="{FF2B5EF4-FFF2-40B4-BE49-F238E27FC236}">
                  <a16:creationId xmlns:a16="http://schemas.microsoft.com/office/drawing/2014/main" xmlns="" id="{1A0E8F15-DE4D-390E-F4A4-F035B779E166}"/>
                </a:ext>
              </a:extLst>
            </p:cNvPr>
            <p:cNvSpPr/>
            <p:nvPr/>
          </p:nvSpPr>
          <p:spPr>
            <a:xfrm>
              <a:off x="6771347" y="3105315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xmlns="" id="{9213067C-7827-348E-6613-891F3A96783C}"/>
                    </a:ext>
                  </a:extLst>
                </p:cNvPr>
                <p:cNvSpPr/>
                <p:nvPr/>
              </p:nvSpPr>
              <p:spPr>
                <a:xfrm>
                  <a:off x="5730183" y="3626215"/>
                  <a:ext cx="332510" cy="297872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9213067C-7827-348E-6613-891F3A9678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0183" y="3626215"/>
                  <a:ext cx="332510" cy="29787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xmlns="" id="{D9360C69-650C-8769-4C8B-CFCD0CF33DA6}"/>
                    </a:ext>
                  </a:extLst>
                </p:cNvPr>
                <p:cNvSpPr/>
                <p:nvPr/>
              </p:nvSpPr>
              <p:spPr>
                <a:xfrm>
                  <a:off x="4850361" y="3629101"/>
                  <a:ext cx="332510" cy="297872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D9360C69-650C-8769-4C8B-CFCD0CF33D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50361" y="3629101"/>
                  <a:ext cx="332510" cy="29787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Oval 16">
              <a:extLst>
                <a:ext uri="{FF2B5EF4-FFF2-40B4-BE49-F238E27FC236}">
                  <a16:creationId xmlns:a16="http://schemas.microsoft.com/office/drawing/2014/main" xmlns="" id="{C0629450-C119-502D-C9FE-A91B3C7D5847}"/>
                </a:ext>
              </a:extLst>
            </p:cNvPr>
            <p:cNvSpPr/>
            <p:nvPr/>
          </p:nvSpPr>
          <p:spPr>
            <a:xfrm>
              <a:off x="6203828" y="3103993"/>
              <a:ext cx="273050" cy="273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xmlns="" id="{54C05E61-D20B-738A-2DA6-6C154D176A9D}"/>
                </a:ext>
              </a:extLst>
            </p:cNvPr>
            <p:cNvCxnSpPr>
              <a:cxnSpLocks/>
              <a:stCxn id="5" idx="3"/>
              <a:endCxn id="52" idx="2"/>
            </p:cNvCxnSpPr>
            <p:nvPr/>
          </p:nvCxnSpPr>
          <p:spPr>
            <a:xfrm>
              <a:off x="3616732" y="2723907"/>
              <a:ext cx="2143499" cy="801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xmlns="" id="{AA92D7CB-640B-D967-DC02-4066C5EB26AA}"/>
                </a:ext>
              </a:extLst>
            </p:cNvPr>
            <p:cNvCxnSpPr>
              <a:cxnSpLocks/>
              <a:stCxn id="14" idx="0"/>
              <a:endCxn id="52" idx="4"/>
            </p:cNvCxnSpPr>
            <p:nvPr/>
          </p:nvCxnSpPr>
          <p:spPr>
            <a:xfrm flipV="1">
              <a:off x="5896438" y="2868448"/>
              <a:ext cx="318" cy="75776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xmlns="" id="{0D1B64B4-7D6A-099F-591C-1F74EE2899F3}"/>
                </a:ext>
              </a:extLst>
            </p:cNvPr>
            <p:cNvSpPr txBox="1"/>
            <p:nvPr/>
          </p:nvSpPr>
          <p:spPr>
            <a:xfrm>
              <a:off x="6166763" y="3055852"/>
              <a:ext cx="3699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1-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xmlns="" id="{F1C8C073-B9C6-A980-3D68-03DD6E4321DA}"/>
                </a:ext>
              </a:extLst>
            </p:cNvPr>
            <p:cNvCxnSpPr>
              <a:stCxn id="52" idx="6"/>
              <a:endCxn id="48" idx="2"/>
            </p:cNvCxnSpPr>
            <p:nvPr/>
          </p:nvCxnSpPr>
          <p:spPr>
            <a:xfrm>
              <a:off x="6033281" y="2731923"/>
              <a:ext cx="73806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xmlns="" id="{E2228004-25D2-FC50-BB67-5122D67A3E40}"/>
                </a:ext>
              </a:extLst>
            </p:cNvPr>
            <p:cNvCxnSpPr>
              <a:stCxn id="4" idx="0"/>
              <a:endCxn id="48" idx="4"/>
            </p:cNvCxnSpPr>
            <p:nvPr/>
          </p:nvCxnSpPr>
          <p:spPr>
            <a:xfrm flipV="1">
              <a:off x="6907872" y="2868448"/>
              <a:ext cx="0" cy="23686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xmlns="" id="{8224F3CC-FC36-8E12-DB65-87AA483CCE92}"/>
                </a:ext>
              </a:extLst>
            </p:cNvPr>
            <p:cNvCxnSpPr>
              <a:cxnSpLocks/>
              <a:stCxn id="12" idx="0"/>
              <a:endCxn id="4" idx="4"/>
            </p:cNvCxnSpPr>
            <p:nvPr/>
          </p:nvCxnSpPr>
          <p:spPr>
            <a:xfrm flipV="1">
              <a:off x="6907872" y="3378365"/>
              <a:ext cx="0" cy="253092"/>
            </a:xfrm>
            <a:prstGeom prst="line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xmlns="" id="{FC4C760C-41A3-2B9F-BDBD-EACAF2930C86}"/>
                </a:ext>
              </a:extLst>
            </p:cNvPr>
            <p:cNvCxnSpPr>
              <a:cxnSpLocks/>
              <a:stCxn id="48" idx="6"/>
            </p:cNvCxnSpPr>
            <p:nvPr/>
          </p:nvCxnSpPr>
          <p:spPr>
            <a:xfrm>
              <a:off x="7044396" y="2731923"/>
              <a:ext cx="648000" cy="311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xmlns="" id="{488590DC-E339-4D94-6CCB-A85E1063A95C}"/>
                    </a:ext>
                  </a:extLst>
                </p:cNvPr>
                <p:cNvSpPr txBox="1"/>
                <p:nvPr/>
              </p:nvSpPr>
              <p:spPr>
                <a:xfrm>
                  <a:off x="7670227" y="2539241"/>
                  <a:ext cx="3638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488590DC-E339-4D94-6CCB-A85E1063A9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0227" y="2539241"/>
                  <a:ext cx="363844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7" name="Connector: Elbow 86">
              <a:extLst>
                <a:ext uri="{FF2B5EF4-FFF2-40B4-BE49-F238E27FC236}">
                  <a16:creationId xmlns:a16="http://schemas.microsoft.com/office/drawing/2014/main" xmlns="" id="{540822DA-C440-2FF8-1393-44F98D89EC54}"/>
                </a:ext>
              </a:extLst>
            </p:cNvPr>
            <p:cNvCxnSpPr>
              <a:stCxn id="19" idx="0"/>
              <a:endCxn id="37" idx="6"/>
            </p:cNvCxnSpPr>
            <p:nvPr/>
          </p:nvCxnSpPr>
          <p:spPr>
            <a:xfrm rot="16200000" flipV="1">
              <a:off x="4630679" y="3243164"/>
              <a:ext cx="285661" cy="486214"/>
            </a:xfrm>
            <a:prstGeom prst="bentConnector2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xmlns="" id="{180749C7-0E69-D172-CFA1-210BCB96C9E1}"/>
                </a:ext>
              </a:extLst>
            </p:cNvPr>
            <p:cNvCxnSpPr/>
            <p:nvPr/>
          </p:nvCxnSpPr>
          <p:spPr>
            <a:xfrm flipV="1">
              <a:off x="4393877" y="2731923"/>
              <a:ext cx="0" cy="474992"/>
            </a:xfrm>
            <a:prstGeom prst="line">
              <a:avLst/>
            </a:prstGeom>
            <a:ln w="19050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xmlns="" id="{775ACD4F-2125-CA2F-A6D1-F0CFBF0C345E}"/>
                    </a:ext>
                  </a:extLst>
                </p:cNvPr>
                <p:cNvSpPr txBox="1"/>
                <p:nvPr/>
              </p:nvSpPr>
              <p:spPr>
                <a:xfrm>
                  <a:off x="3794542" y="4474445"/>
                  <a:ext cx="4583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775ACD4F-2125-CA2F-A6D1-F0CFBF0C34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94542" y="4474445"/>
                  <a:ext cx="458394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4" name="Connector: Elbow 103">
              <a:extLst>
                <a:ext uri="{FF2B5EF4-FFF2-40B4-BE49-F238E27FC236}">
                  <a16:creationId xmlns:a16="http://schemas.microsoft.com/office/drawing/2014/main" xmlns="" id="{0DE47F14-750D-68C0-E1AD-B3723EE38EF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303075" y="2644940"/>
              <a:ext cx="320409" cy="2889186"/>
            </a:xfrm>
            <a:prstGeom prst="bentConnector2">
              <a:avLst/>
            </a:prstGeom>
            <a:ln w="19050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xmlns="" id="{716C0B98-441D-08AF-01CE-CB39C12BF5BC}"/>
                </a:ext>
              </a:extLst>
            </p:cNvPr>
            <p:cNvCxnSpPr/>
            <p:nvPr/>
          </p:nvCxnSpPr>
          <p:spPr>
            <a:xfrm flipV="1">
              <a:off x="4025900" y="2731923"/>
              <a:ext cx="0" cy="111141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or: Elbow 110">
              <a:extLst>
                <a:ext uri="{FF2B5EF4-FFF2-40B4-BE49-F238E27FC236}">
                  <a16:creationId xmlns:a16="http://schemas.microsoft.com/office/drawing/2014/main" xmlns="" id="{737121D0-0380-2E97-A3BF-0A624A417999}"/>
                </a:ext>
              </a:extLst>
            </p:cNvPr>
            <p:cNvCxnSpPr>
              <a:cxnSpLocks/>
              <a:stCxn id="114" idx="2"/>
              <a:endCxn id="14" idx="2"/>
            </p:cNvCxnSpPr>
            <p:nvPr/>
          </p:nvCxnSpPr>
          <p:spPr>
            <a:xfrm flipV="1">
              <a:off x="4124324" y="3924087"/>
              <a:ext cx="1772114" cy="124675"/>
            </a:xfrm>
            <a:prstGeom prst="bentConnector2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xmlns="" id="{11A13A5E-D171-20F2-D972-AD32DF855867}"/>
                </a:ext>
              </a:extLst>
            </p:cNvPr>
            <p:cNvSpPr/>
            <p:nvPr/>
          </p:nvSpPr>
          <p:spPr>
            <a:xfrm>
              <a:off x="4019549" y="3821906"/>
              <a:ext cx="104775" cy="226856"/>
            </a:xfrm>
            <a:custGeom>
              <a:avLst/>
              <a:gdLst>
                <a:gd name="csX0" fmla="*/ 6107 w 106120"/>
                <a:gd name="csY0" fmla="*/ 0 h 214313"/>
                <a:gd name="csX1" fmla="*/ 10870 w 106120"/>
                <a:gd name="csY1" fmla="*/ 157163 h 214313"/>
                <a:gd name="csX2" fmla="*/ 106120 w 106120"/>
                <a:gd name="csY2" fmla="*/ 214313 h 214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6120" h="214313">
                  <a:moveTo>
                    <a:pt x="6107" y="0"/>
                  </a:moveTo>
                  <a:cubicBezTo>
                    <a:pt x="154" y="60722"/>
                    <a:pt x="-5799" y="121444"/>
                    <a:pt x="10870" y="157163"/>
                  </a:cubicBezTo>
                  <a:cubicBezTo>
                    <a:pt x="27539" y="192882"/>
                    <a:pt x="66829" y="203597"/>
                    <a:pt x="106120" y="214313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xmlns="" id="{4CA64C18-D2EA-8E55-6B93-5C413921DD43}"/>
                </a:ext>
              </a:extLst>
            </p:cNvPr>
            <p:cNvCxnSpPr/>
            <p:nvPr/>
          </p:nvCxnSpPr>
          <p:spPr>
            <a:xfrm flipV="1">
              <a:off x="4024311" y="4159806"/>
              <a:ext cx="0" cy="396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xmlns="" id="{B1F4FBC4-364C-A19F-A81D-DA38A3FDF67F}"/>
                </a:ext>
              </a:extLst>
            </p:cNvPr>
            <p:cNvSpPr/>
            <p:nvPr/>
          </p:nvSpPr>
          <p:spPr>
            <a:xfrm rot="5170363">
              <a:off x="4082093" y="3989852"/>
              <a:ext cx="104775" cy="226856"/>
            </a:xfrm>
            <a:custGeom>
              <a:avLst/>
              <a:gdLst>
                <a:gd name="csX0" fmla="*/ 6107 w 106120"/>
                <a:gd name="csY0" fmla="*/ 0 h 214313"/>
                <a:gd name="csX1" fmla="*/ 10870 w 106120"/>
                <a:gd name="csY1" fmla="*/ 157163 h 214313"/>
                <a:gd name="csX2" fmla="*/ 106120 w 106120"/>
                <a:gd name="csY2" fmla="*/ 214313 h 214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6120" h="214313">
                  <a:moveTo>
                    <a:pt x="6107" y="0"/>
                  </a:moveTo>
                  <a:cubicBezTo>
                    <a:pt x="154" y="60722"/>
                    <a:pt x="-5799" y="121444"/>
                    <a:pt x="10870" y="157163"/>
                  </a:cubicBezTo>
                  <a:cubicBezTo>
                    <a:pt x="27539" y="192882"/>
                    <a:pt x="66829" y="203597"/>
                    <a:pt x="106120" y="214313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xmlns="" id="{A4AFA3A5-3D61-AD77-0FD5-E05A04A78770}"/>
                </a:ext>
              </a:extLst>
            </p:cNvPr>
            <p:cNvCxnSpPr>
              <a:cxnSpLocks/>
              <a:stCxn id="19" idx="2"/>
            </p:cNvCxnSpPr>
            <p:nvPr/>
          </p:nvCxnSpPr>
          <p:spPr>
            <a:xfrm>
              <a:off x="5016616" y="3926973"/>
              <a:ext cx="0" cy="116465"/>
            </a:xfrm>
            <a:prstGeom prst="line">
              <a:avLst/>
            </a:prstGeom>
            <a:ln w="19050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xmlns="" id="{2ADCA7E5-A076-5B32-BC9D-A16A6D795C3A}"/>
                    </a:ext>
                  </a:extLst>
                </p:cNvPr>
                <p:cNvSpPr txBox="1"/>
                <p:nvPr/>
              </p:nvSpPr>
              <p:spPr>
                <a:xfrm>
                  <a:off x="5526656" y="3241867"/>
                  <a:ext cx="44396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2ADCA7E5-A076-5B32-BC9D-A16A6D795C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6656" y="3241867"/>
                  <a:ext cx="443968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xmlns="" id="{30D44200-682E-3C64-7263-CD46DB66F451}"/>
                    </a:ext>
                  </a:extLst>
                </p:cNvPr>
                <p:cNvSpPr txBox="1"/>
                <p:nvPr/>
              </p:nvSpPr>
              <p:spPr>
                <a:xfrm>
                  <a:off x="4645948" y="3266999"/>
                  <a:ext cx="44877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30D44200-682E-3C64-7263-CD46DB66F4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5948" y="3266999"/>
                  <a:ext cx="44877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xmlns="" id="{6700C2E8-30BB-D3C5-50C9-1951D85495E1}"/>
                    </a:ext>
                  </a:extLst>
                </p:cNvPr>
                <p:cNvSpPr txBox="1"/>
                <p:nvPr/>
              </p:nvSpPr>
              <p:spPr>
                <a:xfrm>
                  <a:off x="6938718" y="3242881"/>
                  <a:ext cx="471218" cy="38375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b="1" i="1" smtClean="0"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e>
                            </m:acc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6700C2E8-30BB-D3C5-50C9-1951D85495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8718" y="3242881"/>
                  <a:ext cx="471218" cy="383759"/>
                </a:xfrm>
                <a:prstGeom prst="rect">
                  <a:avLst/>
                </a:prstGeom>
                <a:blipFill>
                  <a:blip r:embed="rId10"/>
                  <a:stretch>
                    <a:fillRect t="-7937" r="-384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xmlns="" id="{84BBC452-1110-2988-2E65-E445EE63C4C7}"/>
                </a:ext>
              </a:extLst>
            </p:cNvPr>
            <p:cNvSpPr/>
            <p:nvPr/>
          </p:nvSpPr>
          <p:spPr>
            <a:xfrm>
              <a:off x="4190568" y="3050323"/>
              <a:ext cx="1117692" cy="1103399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xmlns="" id="{E3AB5C93-A0FA-4FF5-F0AA-FD75161F0631}"/>
                </a:ext>
              </a:extLst>
            </p:cNvPr>
            <p:cNvSpPr txBox="1"/>
            <p:nvPr/>
          </p:nvSpPr>
          <p:spPr>
            <a:xfrm>
              <a:off x="5359355" y="1848292"/>
              <a:ext cx="9413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porta de atualização</a:t>
              </a:r>
              <a:endParaRPr lang="en-US" sz="1200" dirty="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xmlns="" id="{7B4BB778-3C5D-0F93-B5F7-D66D9C30556C}"/>
                </a:ext>
              </a:extLst>
            </p:cNvPr>
            <p:cNvCxnSpPr>
              <a:cxnSpLocks/>
              <a:endCxn id="6" idx="2"/>
            </p:cNvCxnSpPr>
            <p:nvPr/>
          </p:nvCxnSpPr>
          <p:spPr>
            <a:xfrm flipH="1" flipV="1">
              <a:off x="5830038" y="2309957"/>
              <a:ext cx="646840" cy="191408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027BE59C-84F5-3A6A-1F58-4156CACC3A1F}"/>
                </a:ext>
              </a:extLst>
            </p:cNvPr>
            <p:cNvSpPr txBox="1"/>
            <p:nvPr/>
          </p:nvSpPr>
          <p:spPr>
            <a:xfrm>
              <a:off x="4283136" y="1859260"/>
              <a:ext cx="9413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porta de </a:t>
              </a:r>
              <a:r>
                <a:rPr lang="pt-BR" sz="1200" i="1" dirty="0"/>
                <a:t>reset</a:t>
              </a:r>
              <a:endParaRPr lang="en-US" sz="1200" i="1" dirty="0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xmlns="" id="{F4D7901D-0577-0DF7-A300-F4B8DDD2B08B}"/>
                </a:ext>
              </a:extLst>
            </p:cNvPr>
            <p:cNvCxnSpPr>
              <a:cxnSpLocks/>
              <a:stCxn id="3" idx="0"/>
              <a:endCxn id="9" idx="2"/>
            </p:cNvCxnSpPr>
            <p:nvPr/>
          </p:nvCxnSpPr>
          <p:spPr>
            <a:xfrm flipV="1">
              <a:off x="4749414" y="2320925"/>
              <a:ext cx="4405" cy="729398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xmlns="" id="{8CF85A48-30D2-A843-6627-1DD7BA329BD6}"/>
                </a:ext>
              </a:extLst>
            </p:cNvPr>
            <p:cNvCxnSpPr>
              <a:cxnSpLocks/>
              <a:endCxn id="17" idx="2"/>
            </p:cNvCxnSpPr>
            <p:nvPr/>
          </p:nvCxnSpPr>
          <p:spPr>
            <a:xfrm>
              <a:off x="5896438" y="3240518"/>
              <a:ext cx="30739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xmlns="" id="{353162AA-0266-E2D5-F390-ED75645298B3}"/>
                </a:ext>
              </a:extLst>
            </p:cNvPr>
            <p:cNvCxnSpPr>
              <a:cxnSpLocks/>
              <a:stCxn id="17" idx="6"/>
              <a:endCxn id="4" idx="2"/>
            </p:cNvCxnSpPr>
            <p:nvPr/>
          </p:nvCxnSpPr>
          <p:spPr>
            <a:xfrm>
              <a:off x="6476878" y="3240518"/>
              <a:ext cx="294469" cy="132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151">
                  <a:extLst>
                    <a:ext uri="{FF2B5EF4-FFF2-40B4-BE49-F238E27FC236}">
                      <a16:creationId xmlns:a16="http://schemas.microsoft.com/office/drawing/2014/main" xmlns="" id="{13433DA1-D8F5-0EEE-EEC8-A05EC5E55CCC}"/>
                    </a:ext>
                  </a:extLst>
                </p:cNvPr>
                <p:cNvSpPr txBox="1"/>
                <p:nvPr/>
              </p:nvSpPr>
              <p:spPr>
                <a:xfrm>
                  <a:off x="7467796" y="2133771"/>
                  <a:ext cx="3638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151">
                  <a:extLst>
                    <a:ext uri="{FF2B5EF4-FFF2-40B4-BE49-F238E27FC236}">
                      <a16:creationId xmlns:a16="http://schemas.microsoft.com/office/drawing/2014/main" id="{13433DA1-D8F5-0EEE-EEC8-A05EC5E55C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7796" y="2133771"/>
                  <a:ext cx="363844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4" name="Agrupar 43">
              <a:extLst>
                <a:ext uri="{FF2B5EF4-FFF2-40B4-BE49-F238E27FC236}">
                  <a16:creationId xmlns:a16="http://schemas.microsoft.com/office/drawing/2014/main" xmlns="" id="{A3051DFC-A45B-FD0E-D278-10E63E4DF97B}"/>
                </a:ext>
              </a:extLst>
            </p:cNvPr>
            <p:cNvGrpSpPr/>
            <p:nvPr/>
          </p:nvGrpSpPr>
          <p:grpSpPr>
            <a:xfrm>
              <a:off x="5584607" y="2516381"/>
              <a:ext cx="1717688" cy="1642522"/>
              <a:chOff x="8827837" y="3357993"/>
              <a:chExt cx="1717688" cy="1642522"/>
            </a:xfrm>
          </p:grpSpPr>
          <p:cxnSp>
            <p:nvCxnSpPr>
              <p:cNvPr id="28" name="Conector reto 27">
                <a:extLst>
                  <a:ext uri="{FF2B5EF4-FFF2-40B4-BE49-F238E27FC236}">
                    <a16:creationId xmlns:a16="http://schemas.microsoft.com/office/drawing/2014/main" xmlns="" id="{3C801D42-BBEE-7EA8-C27E-E2E9B59BEF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27837" y="3357993"/>
                <a:ext cx="0" cy="1642522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3" name="Conector reto 32">
                <a:extLst>
                  <a:ext uri="{FF2B5EF4-FFF2-40B4-BE49-F238E27FC236}">
                    <a16:creationId xmlns:a16="http://schemas.microsoft.com/office/drawing/2014/main" xmlns="" id="{B1603849-608A-D0CB-04FF-7FFE5C64EBD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27837" y="3357993"/>
                <a:ext cx="1717688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49" name="Conector reto 48">
              <a:extLst>
                <a:ext uri="{FF2B5EF4-FFF2-40B4-BE49-F238E27FC236}">
                  <a16:creationId xmlns:a16="http://schemas.microsoft.com/office/drawing/2014/main" xmlns="" id="{7ED3F87C-EFFD-4DE1-2450-B47542CF5F92}"/>
                </a:ext>
              </a:extLst>
            </p:cNvPr>
            <p:cNvCxnSpPr/>
            <p:nvPr/>
          </p:nvCxnSpPr>
          <p:spPr>
            <a:xfrm>
              <a:off x="5584607" y="4158903"/>
              <a:ext cx="75600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0" name="Conector reto 49">
              <a:extLst>
                <a:ext uri="{FF2B5EF4-FFF2-40B4-BE49-F238E27FC236}">
                  <a16:creationId xmlns:a16="http://schemas.microsoft.com/office/drawing/2014/main" xmlns="" id="{E34E9718-BF01-738B-8B73-3E583890193A}"/>
                </a:ext>
              </a:extLst>
            </p:cNvPr>
            <p:cNvCxnSpPr/>
            <p:nvPr/>
          </p:nvCxnSpPr>
          <p:spPr>
            <a:xfrm>
              <a:off x="6338693" y="3582688"/>
              <a:ext cx="97200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1" name="Conector reto 50">
              <a:extLst>
                <a:ext uri="{FF2B5EF4-FFF2-40B4-BE49-F238E27FC236}">
                  <a16:creationId xmlns:a16="http://schemas.microsoft.com/office/drawing/2014/main" xmlns="" id="{DEA0A1B2-AC93-F32B-6CCA-266EDCD9B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31156" y="3587184"/>
              <a:ext cx="1783" cy="57600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Conector reto 58">
              <a:extLst>
                <a:ext uri="{FF2B5EF4-FFF2-40B4-BE49-F238E27FC236}">
                  <a16:creationId xmlns:a16="http://schemas.microsoft.com/office/drawing/2014/main" xmlns="" id="{C7A5282E-7541-7BB9-8579-7C168E5DCB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15217" y="2522793"/>
              <a:ext cx="4437" cy="102410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" name="Freeform: Shape 159">
              <a:extLst>
                <a:ext uri="{FF2B5EF4-FFF2-40B4-BE49-F238E27FC236}">
                  <a16:creationId xmlns:a16="http://schemas.microsoft.com/office/drawing/2014/main" xmlns="" id="{01FDC6DC-1E90-1E8B-0DFA-A33BB1DA9614}"/>
                </a:ext>
              </a:extLst>
            </p:cNvPr>
            <p:cNvSpPr/>
            <p:nvPr/>
          </p:nvSpPr>
          <p:spPr>
            <a:xfrm rot="21335253">
              <a:off x="4397003" y="4029071"/>
              <a:ext cx="104775" cy="226856"/>
            </a:xfrm>
            <a:custGeom>
              <a:avLst/>
              <a:gdLst>
                <a:gd name="csX0" fmla="*/ 6107 w 106120"/>
                <a:gd name="csY0" fmla="*/ 0 h 214313"/>
                <a:gd name="csX1" fmla="*/ 10870 w 106120"/>
                <a:gd name="csY1" fmla="*/ 157163 h 214313"/>
                <a:gd name="csX2" fmla="*/ 106120 w 106120"/>
                <a:gd name="csY2" fmla="*/ 214313 h 214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6120" h="214313">
                  <a:moveTo>
                    <a:pt x="6107" y="0"/>
                  </a:moveTo>
                  <a:cubicBezTo>
                    <a:pt x="154" y="60722"/>
                    <a:pt x="-5799" y="121444"/>
                    <a:pt x="10870" y="157163"/>
                  </a:cubicBezTo>
                  <a:cubicBezTo>
                    <a:pt x="27539" y="192882"/>
                    <a:pt x="66829" y="203597"/>
                    <a:pt x="106120" y="214313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xmlns="" id="{E74C7B34-C122-8861-FE4A-62F6E6658992}"/>
                </a:ext>
              </a:extLst>
            </p:cNvPr>
            <p:cNvCxnSpPr>
              <a:endCxn id="2" idx="0"/>
            </p:cNvCxnSpPr>
            <p:nvPr/>
          </p:nvCxnSpPr>
          <p:spPr>
            <a:xfrm flipH="1">
              <a:off x="4394444" y="3479965"/>
              <a:ext cx="7793" cy="553009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7358362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/>
          <p:cNvGrpSpPr/>
          <p:nvPr/>
        </p:nvGrpSpPr>
        <p:grpSpPr>
          <a:xfrm>
            <a:off x="438243" y="2178701"/>
            <a:ext cx="5212640" cy="3419852"/>
            <a:chOff x="438243" y="2178701"/>
            <a:chExt cx="5212640" cy="3419852"/>
          </a:xfrm>
        </p:grpSpPr>
        <p:sp>
          <p:nvSpPr>
            <p:cNvPr id="5" name="Retângulo 4"/>
            <p:cNvSpPr/>
            <p:nvPr/>
          </p:nvSpPr>
          <p:spPr>
            <a:xfrm>
              <a:off x="1132114" y="3641911"/>
              <a:ext cx="972456" cy="75474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mtClean="0"/>
                <a:t>RNN</a:t>
              </a:r>
              <a:endParaRPr lang="pt-BR"/>
            </a:p>
          </p:txBody>
        </p:sp>
        <p:sp>
          <p:nvSpPr>
            <p:cNvPr id="6" name="CaixaDeTexto 5"/>
            <p:cNvSpPr txBox="1"/>
            <p:nvPr/>
          </p:nvSpPr>
          <p:spPr>
            <a:xfrm>
              <a:off x="762000" y="2625271"/>
              <a:ext cx="1712685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O gato subiu no</a:t>
              </a:r>
              <a:endPara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7" name="Conector de seta reta 6"/>
            <p:cNvCxnSpPr>
              <a:stCxn id="6" idx="2"/>
              <a:endCxn id="5" idx="0"/>
            </p:cNvCxnSpPr>
            <p:nvPr/>
          </p:nvCxnSpPr>
          <p:spPr>
            <a:xfrm flipH="1">
              <a:off x="1618342" y="2994603"/>
              <a:ext cx="1" cy="6473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tângulo 7"/>
            <p:cNvSpPr/>
            <p:nvPr/>
          </p:nvSpPr>
          <p:spPr>
            <a:xfrm>
              <a:off x="3233057" y="3305625"/>
              <a:ext cx="1152000" cy="2775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0.6</a:t>
              </a:r>
              <a:endParaRPr lang="pt-BR" dirty="0"/>
            </a:p>
          </p:txBody>
        </p:sp>
        <p:sp>
          <p:nvSpPr>
            <p:cNvPr id="9" name="CaixaDeTexto 8"/>
            <p:cNvSpPr txBox="1"/>
            <p:nvPr/>
          </p:nvSpPr>
          <p:spPr>
            <a:xfrm>
              <a:off x="4362435" y="3259752"/>
              <a:ext cx="934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Telhado</a:t>
              </a:r>
              <a:endPara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Retângulo 9"/>
            <p:cNvSpPr/>
            <p:nvPr/>
          </p:nvSpPr>
          <p:spPr>
            <a:xfrm>
              <a:off x="3244837" y="3728355"/>
              <a:ext cx="504000" cy="27758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0.1</a:t>
              </a:r>
              <a:endParaRPr lang="pt-BR" dirty="0"/>
            </a:p>
          </p:txBody>
        </p:sp>
        <p:sp>
          <p:nvSpPr>
            <p:cNvPr id="11" name="CaixaDeTexto 10"/>
            <p:cNvSpPr txBox="1"/>
            <p:nvPr/>
          </p:nvSpPr>
          <p:spPr>
            <a:xfrm>
              <a:off x="4350655" y="3686504"/>
              <a:ext cx="9727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Hospital</a:t>
              </a:r>
              <a:endPara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Retângulo 11"/>
            <p:cNvSpPr/>
            <p:nvPr/>
          </p:nvSpPr>
          <p:spPr>
            <a:xfrm>
              <a:off x="3244837" y="4153457"/>
              <a:ext cx="720000" cy="27758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0.2</a:t>
              </a:r>
              <a:endParaRPr lang="pt-BR" dirty="0"/>
            </a:p>
          </p:txBody>
        </p:sp>
        <p:sp>
          <p:nvSpPr>
            <p:cNvPr id="13" name="CaixaDeTexto 12"/>
            <p:cNvSpPr txBox="1"/>
            <p:nvPr/>
          </p:nvSpPr>
          <p:spPr>
            <a:xfrm>
              <a:off x="4350655" y="4111606"/>
              <a:ext cx="7124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Muro</a:t>
              </a:r>
              <a:endPara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Retângulo 13"/>
            <p:cNvSpPr/>
            <p:nvPr/>
          </p:nvSpPr>
          <p:spPr>
            <a:xfrm>
              <a:off x="3244837" y="4561505"/>
              <a:ext cx="504000" cy="27758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0.1</a:t>
              </a:r>
              <a:endParaRPr lang="pt-BR" dirty="0"/>
            </a:p>
          </p:txBody>
        </p:sp>
        <p:sp>
          <p:nvSpPr>
            <p:cNvPr id="15" name="CaixaDeTexto 14"/>
            <p:cNvSpPr txBox="1"/>
            <p:nvPr/>
          </p:nvSpPr>
          <p:spPr>
            <a:xfrm>
              <a:off x="4350655" y="4519654"/>
              <a:ext cx="13002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Espaçonave</a:t>
              </a:r>
              <a:endPara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6" name="Conector angulado 15"/>
            <p:cNvCxnSpPr>
              <a:stCxn id="5" idx="3"/>
              <a:endCxn id="8" idx="1"/>
            </p:cNvCxnSpPr>
            <p:nvPr/>
          </p:nvCxnSpPr>
          <p:spPr>
            <a:xfrm flipV="1">
              <a:off x="2104570" y="3444419"/>
              <a:ext cx="1128487" cy="574864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angulado 16"/>
            <p:cNvCxnSpPr>
              <a:stCxn id="5" idx="3"/>
              <a:endCxn id="10" idx="1"/>
            </p:cNvCxnSpPr>
            <p:nvPr/>
          </p:nvCxnSpPr>
          <p:spPr>
            <a:xfrm flipV="1">
              <a:off x="2104570" y="3867149"/>
              <a:ext cx="1140267" cy="152134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angulado 17"/>
            <p:cNvCxnSpPr>
              <a:stCxn id="5" idx="3"/>
              <a:endCxn id="12" idx="1"/>
            </p:cNvCxnSpPr>
            <p:nvPr/>
          </p:nvCxnSpPr>
          <p:spPr>
            <a:xfrm>
              <a:off x="2104570" y="4019283"/>
              <a:ext cx="1140267" cy="272968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angulado 18"/>
            <p:cNvCxnSpPr>
              <a:stCxn id="5" idx="3"/>
              <a:endCxn id="14" idx="1"/>
            </p:cNvCxnSpPr>
            <p:nvPr/>
          </p:nvCxnSpPr>
          <p:spPr>
            <a:xfrm>
              <a:off x="2104570" y="4019283"/>
              <a:ext cx="1140267" cy="681016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CaixaDeTexto 19"/>
            <p:cNvSpPr txBox="1"/>
            <p:nvPr/>
          </p:nvSpPr>
          <p:spPr>
            <a:xfrm>
              <a:off x="438243" y="2178701"/>
              <a:ext cx="23601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 smtClean="0"/>
                <a:t>Palavras anteriores (contexto)</a:t>
              </a:r>
              <a:endParaRPr lang="pt-BR" sz="1400" dirty="0"/>
            </a:p>
          </p:txBody>
        </p:sp>
        <p:sp>
          <p:nvSpPr>
            <p:cNvPr id="21" name="CaixaDeTexto 20"/>
            <p:cNvSpPr txBox="1"/>
            <p:nvPr/>
          </p:nvSpPr>
          <p:spPr>
            <a:xfrm>
              <a:off x="3102427" y="2645949"/>
              <a:ext cx="232228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 smtClean="0"/>
                <a:t>Distribuição de probabilidade da próxima palavra</a:t>
              </a:r>
              <a:endParaRPr lang="pt-BR" sz="1400" dirty="0"/>
            </a:p>
          </p:txBody>
        </p:sp>
        <p:sp>
          <p:nvSpPr>
            <p:cNvPr id="22" name="CaixaDeTexto 21"/>
            <p:cNvSpPr txBox="1"/>
            <p:nvPr/>
          </p:nvSpPr>
          <p:spPr>
            <a:xfrm>
              <a:off x="2974314" y="5075333"/>
              <a:ext cx="232228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 smtClean="0"/>
                <a:t>A palavra com maior probabilidade é escolhida</a:t>
              </a:r>
              <a:endParaRPr lang="pt-BR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277372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11945</TotalTime>
  <Words>4943</Words>
  <Application>Microsoft Office PowerPoint</Application>
  <PresentationFormat>Widescreen</PresentationFormat>
  <Paragraphs>1120</Paragraphs>
  <Slides>100</Slides>
  <Notes>61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100</vt:i4>
      </vt:variant>
    </vt:vector>
  </HeadingPairs>
  <TitlesOfParts>
    <vt:vector size="107" baseType="lpstr">
      <vt:lpstr>Arial</vt:lpstr>
      <vt:lpstr>Calibri</vt:lpstr>
      <vt:lpstr>Calibri Light</vt:lpstr>
      <vt:lpstr>Cambria Math</vt:lpstr>
      <vt:lpstr>Courier New</vt:lpstr>
      <vt:lpstr>Wingdings</vt:lpstr>
      <vt:lpstr>Tema do Office</vt:lpstr>
      <vt:lpstr>C24 – Inteligência Artificial: Redes neurais recorrentes</vt:lpstr>
      <vt:lpstr>Motivação</vt:lpstr>
      <vt:lpstr>Limitação de redes tradicionais</vt:lpstr>
      <vt:lpstr>Apresentação do PowerPoint</vt:lpstr>
      <vt:lpstr>Apresentação do PowerPoint</vt:lpstr>
      <vt:lpstr>Aplicações de redes neurais recorrentes</vt:lpstr>
      <vt:lpstr>Padrões temporais</vt:lpstr>
      <vt:lpstr>Redes recorrentes</vt:lpstr>
      <vt:lpstr>Redes recorrentes</vt:lpstr>
      <vt:lpstr>Redes recorrentes</vt:lpstr>
      <vt:lpstr>Apresentação do PowerPoint</vt:lpstr>
      <vt:lpstr>Neurônio (ou célula) recorrente</vt:lpstr>
      <vt:lpstr>Neurônio (ou célula) recorrente</vt:lpstr>
      <vt:lpstr>Neurônio (ou célula) recorrente</vt:lpstr>
      <vt:lpstr>Neurônio recorrente</vt:lpstr>
      <vt:lpstr>Neurônio recorrente</vt:lpstr>
      <vt:lpstr>Atualização do estado e geração da saída</vt:lpstr>
      <vt:lpstr>Atualização do estado e geração da saída</vt:lpstr>
      <vt:lpstr>Desenrolando uma RNN</vt:lpstr>
      <vt:lpstr>Desenrolando uma RNN</vt:lpstr>
      <vt:lpstr>Desenrolando uma RNN</vt:lpstr>
      <vt:lpstr>Desenrolando uma RNN</vt:lpstr>
      <vt:lpstr>Desenrolando uma RNN</vt:lpstr>
      <vt:lpstr>Treinando uma RNN</vt:lpstr>
      <vt:lpstr>Treinando uma RNN</vt:lpstr>
      <vt:lpstr>Treinando uma RNN</vt:lpstr>
      <vt:lpstr>Treinando uma RNN</vt:lpstr>
      <vt:lpstr>Backpropagation Through Time (BPTT)</vt:lpstr>
      <vt:lpstr>Backpropagation Through Time (BPTT)</vt:lpstr>
      <vt:lpstr>Backpropagation Through Time (BPTT)</vt:lpstr>
      <vt:lpstr>Backpropagation Through Time (BPTT)</vt:lpstr>
      <vt:lpstr>Desaparecimento e explosão do gradiente</vt:lpstr>
      <vt:lpstr>Como mitigar esses problemas?</vt:lpstr>
      <vt:lpstr>Backpropagation Through Time (BPTT)</vt:lpstr>
      <vt:lpstr>Backpropagation Through Time (BPTT)</vt:lpstr>
      <vt:lpstr>Por que o BPTT truncado funciona?</vt:lpstr>
      <vt:lpstr>Por que não usar funções de ativação ReLU?</vt:lpstr>
      <vt:lpstr>Apresentação do PowerPoint</vt:lpstr>
      <vt:lpstr>O problema das dependências de longo prazo</vt:lpstr>
      <vt:lpstr>O problema das dependências de longo prazo</vt:lpstr>
      <vt:lpstr>O problema das dependências de longo prazo</vt:lpstr>
      <vt:lpstr>O problema das dependências de longo prazo</vt:lpstr>
      <vt:lpstr>O problema das dependências de longo prazo</vt:lpstr>
      <vt:lpstr>O problema das dependências de longo prazo</vt:lpstr>
      <vt:lpstr>Long-short term memory (LSTM)</vt:lpstr>
      <vt:lpstr>Long-short term memory (LSTM)</vt:lpstr>
      <vt:lpstr>Long-short term memory (LSTM)</vt:lpstr>
      <vt:lpstr>Long-short term memory (LSTM)</vt:lpstr>
      <vt:lpstr>Como as portas funcionam?</vt:lpstr>
      <vt:lpstr>Long-short term memory (LSTM)</vt:lpstr>
      <vt:lpstr>Como as portas funcionam?</vt:lpstr>
      <vt:lpstr>Como as portas funcionam?</vt:lpstr>
      <vt:lpstr>Dinâmica das portas em uma célula LSTM</vt:lpstr>
      <vt:lpstr>Dinâmica das portas em uma célula LSTM</vt:lpstr>
      <vt:lpstr>Porta de esquecimento</vt:lpstr>
      <vt:lpstr>Porta de entrada</vt:lpstr>
      <vt:lpstr>Porta de saída</vt:lpstr>
      <vt:lpstr>Resumo das equações de atualização da célula</vt:lpstr>
      <vt:lpstr>Long-short term memory (LSTM)</vt:lpstr>
      <vt:lpstr>Principais desvantagens de LSTMs</vt:lpstr>
      <vt:lpstr>Apresentação do PowerPoint</vt:lpstr>
      <vt:lpstr>Gated recurrent unit (GRU)</vt:lpstr>
      <vt:lpstr>Gated recurrent unit (GRU)</vt:lpstr>
      <vt:lpstr>Gated recurrent unit (GRU)</vt:lpstr>
      <vt:lpstr>Gated recurrent unit (GRU)</vt:lpstr>
      <vt:lpstr>Gated recurrent unit (GRU)</vt:lpstr>
      <vt:lpstr>Apresentação do PowerPoint</vt:lpstr>
      <vt:lpstr>Desaparecimento do gradiente</vt:lpstr>
      <vt:lpstr>Desaparecimento do gradiente</vt:lpstr>
      <vt:lpstr>Desaparecimento do gradiente</vt:lpstr>
      <vt:lpstr>Apresentação do PowerPoint</vt:lpstr>
      <vt:lpstr>Aplicação: um-para-um</vt:lpstr>
      <vt:lpstr>Aplicação: um-para-vários</vt:lpstr>
      <vt:lpstr>Aplicação: vários-para-um</vt:lpstr>
      <vt:lpstr>Aplicação: vários-para-vários síncrono</vt:lpstr>
      <vt:lpstr>Aplicação: vários-para-vários assíncrono</vt:lpstr>
      <vt:lpstr>Exemplo</vt:lpstr>
      <vt:lpstr>Lista de exercícios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Felipe Augusto Pereira de Figueiredo</cp:lastModifiedBy>
  <cp:revision>2268</cp:revision>
  <dcterms:created xsi:type="dcterms:W3CDTF">2020-01-20T13:50:05Z</dcterms:created>
  <dcterms:modified xsi:type="dcterms:W3CDTF">2026-10-19T01:44:20Z</dcterms:modified>
</cp:coreProperties>
</file>