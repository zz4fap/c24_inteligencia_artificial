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256" r:id="rId2"/>
    <p:sldId id="315" r:id="rId3"/>
    <p:sldId id="316" r:id="rId4"/>
    <p:sldId id="325" r:id="rId5"/>
    <p:sldId id="605" r:id="rId6"/>
    <p:sldId id="308" r:id="rId7"/>
    <p:sldId id="674" r:id="rId8"/>
    <p:sldId id="317" r:id="rId9"/>
    <p:sldId id="326" r:id="rId10"/>
    <p:sldId id="606" r:id="rId11"/>
    <p:sldId id="328" r:id="rId12"/>
    <p:sldId id="329" r:id="rId13"/>
    <p:sldId id="607" r:id="rId14"/>
    <p:sldId id="620" r:id="rId15"/>
    <p:sldId id="332" r:id="rId16"/>
    <p:sldId id="334" r:id="rId17"/>
    <p:sldId id="622" r:id="rId18"/>
    <p:sldId id="676" r:id="rId19"/>
    <p:sldId id="678" r:id="rId20"/>
    <p:sldId id="618" r:id="rId21"/>
    <p:sldId id="633" r:id="rId22"/>
    <p:sldId id="338" r:id="rId23"/>
    <p:sldId id="630" r:id="rId24"/>
    <p:sldId id="682" r:id="rId25"/>
    <p:sldId id="611" r:id="rId26"/>
    <p:sldId id="623" r:id="rId27"/>
    <p:sldId id="612" r:id="rId28"/>
    <p:sldId id="637" r:id="rId29"/>
    <p:sldId id="638" r:id="rId30"/>
    <p:sldId id="344" r:id="rId31"/>
    <p:sldId id="345" r:id="rId32"/>
    <p:sldId id="640" r:id="rId33"/>
    <p:sldId id="342" r:id="rId34"/>
    <p:sldId id="613" r:id="rId35"/>
    <p:sldId id="346" r:id="rId36"/>
    <p:sldId id="347" r:id="rId37"/>
    <p:sldId id="643" r:id="rId38"/>
    <p:sldId id="349" r:id="rId39"/>
    <p:sldId id="351" r:id="rId40"/>
    <p:sldId id="645" r:id="rId41"/>
    <p:sldId id="352" r:id="rId42"/>
    <p:sldId id="649" r:id="rId43"/>
    <p:sldId id="355" r:id="rId44"/>
    <p:sldId id="650" r:id="rId45"/>
    <p:sldId id="376" r:id="rId46"/>
    <p:sldId id="684" r:id="rId47"/>
    <p:sldId id="655" r:id="rId48"/>
    <p:sldId id="616" r:id="rId49"/>
    <p:sldId id="673" r:id="rId50"/>
    <p:sldId id="659" r:id="rId51"/>
    <p:sldId id="660" r:id="rId52"/>
    <p:sldId id="358" r:id="rId53"/>
    <p:sldId id="362" r:id="rId54"/>
    <p:sldId id="365" r:id="rId55"/>
    <p:sldId id="591" r:id="rId56"/>
    <p:sldId id="366" r:id="rId57"/>
    <p:sldId id="367" r:id="rId58"/>
    <p:sldId id="669" r:id="rId59"/>
    <p:sldId id="368" r:id="rId60"/>
    <p:sldId id="668" r:id="rId61"/>
    <p:sldId id="671" r:id="rId62"/>
    <p:sldId id="672" r:id="rId63"/>
    <p:sldId id="670" r:id="rId64"/>
    <p:sldId id="603" r:id="rId65"/>
    <p:sldId id="381" r:id="rId66"/>
    <p:sldId id="662" r:id="rId67"/>
    <p:sldId id="667" r:id="rId68"/>
    <p:sldId id="595" r:id="rId69"/>
    <p:sldId id="596" r:id="rId70"/>
    <p:sldId id="597" r:id="rId71"/>
    <p:sldId id="598" r:id="rId72"/>
    <p:sldId id="599" r:id="rId73"/>
    <p:sldId id="600" r:id="rId74"/>
    <p:sldId id="588" r:id="rId75"/>
    <p:sldId id="589" r:id="rId76"/>
    <p:sldId id="293" r:id="rId77"/>
    <p:sldId id="306" r:id="rId78"/>
    <p:sldId id="683" r:id="rId79"/>
    <p:sldId id="601" r:id="rId80"/>
    <p:sldId id="686" r:id="rId81"/>
    <p:sldId id="685" r:id="rId82"/>
    <p:sldId id="335" r:id="rId83"/>
    <p:sldId id="590" r:id="rId84"/>
    <p:sldId id="608" r:id="rId85"/>
    <p:sldId id="330" r:id="rId86"/>
    <p:sldId id="340" r:id="rId87"/>
    <p:sldId id="348" r:id="rId88"/>
    <p:sldId id="350" r:id="rId89"/>
    <p:sldId id="353" r:id="rId90"/>
    <p:sldId id="354" r:id="rId91"/>
    <p:sldId id="373" r:id="rId92"/>
    <p:sldId id="647" r:id="rId93"/>
    <p:sldId id="357" r:id="rId94"/>
    <p:sldId id="359" r:id="rId95"/>
    <p:sldId id="592" r:id="rId96"/>
    <p:sldId id="363" r:id="rId97"/>
    <p:sldId id="364" r:id="rId98"/>
    <p:sldId id="654" r:id="rId99"/>
    <p:sldId id="369" r:id="rId100"/>
    <p:sldId id="370" r:id="rId101"/>
    <p:sldId id="675" r:id="rId10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8329" autoAdjust="0"/>
  </p:normalViewPr>
  <p:slideViewPr>
    <p:cSldViewPr snapToGrid="0">
      <p:cViewPr varScale="1">
        <p:scale>
          <a:sx n="86" d="100"/>
          <a:sy n="86" d="100"/>
        </p:scale>
        <p:origin x="1776" y="96"/>
      </p:cViewPr>
      <p:guideLst/>
    </p:cSldViewPr>
  </p:slideViewPr>
  <p:outlineViewPr>
    <p:cViewPr>
      <p:scale>
        <a:sx n="33" d="100"/>
        <a:sy n="33" d="100"/>
      </p:scale>
      <p:origin x="0" y="-8862"/>
    </p:cViewPr>
  </p:outlineViewPr>
  <p:notesTextViewPr>
    <p:cViewPr>
      <p:scale>
        <a:sx n="1" d="1"/>
        <a:sy n="1" d="1"/>
      </p:scale>
      <p:origin x="0" y="-534"/>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108"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6/11/relationships/changesInfo" Target="changesInfos/changesInfo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26/10/2026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26/10/2026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rtl="0"/>
            <a:r>
              <a:rPr lang="en-US" b="1" dirty="0"/>
              <a:t>O </a:t>
            </a:r>
            <a:r>
              <a:rPr lang="en-US" b="1" dirty="0" err="1"/>
              <a:t>que</a:t>
            </a:r>
            <a:r>
              <a:rPr lang="en-US" b="1" dirty="0"/>
              <a:t> o </a:t>
            </a:r>
            <a:r>
              <a:rPr lang="en-US" b="1" dirty="0" err="1"/>
              <a:t>estado</a:t>
            </a:r>
            <a:r>
              <a:rPr lang="en-US" b="1" dirty="0"/>
              <a:t> </a:t>
            </a:r>
            <a:r>
              <a:rPr lang="en-US" b="1" dirty="0" err="1"/>
              <a:t>acumula</a:t>
            </a:r>
            <a:r>
              <a:rPr lang="en-US" b="1" dirty="0"/>
              <a:t> </a:t>
            </a:r>
            <a:r>
              <a:rPr lang="en-US" b="1" dirty="0" err="1"/>
              <a:t>até</a:t>
            </a:r>
            <a:r>
              <a:rPr lang="en-US" b="1" dirty="0"/>
              <a:t> "no"</a:t>
            </a:r>
            <a:endParaRPr lang="en-US" dirty="0"/>
          </a:p>
          <a:p>
            <a:pPr rtl="0"/>
            <a:r>
              <a:rPr lang="en-US" dirty="0"/>
              <a:t>Ao </a:t>
            </a:r>
            <a:r>
              <a:rPr lang="en-US" dirty="0" err="1"/>
              <a:t>chegar</a:t>
            </a:r>
            <a:r>
              <a:rPr lang="en-US" dirty="0"/>
              <a:t> </a:t>
            </a:r>
            <a:r>
              <a:rPr lang="en-US" dirty="0" err="1"/>
              <a:t>em</a:t>
            </a:r>
            <a:r>
              <a:rPr lang="en-US" dirty="0"/>
              <a:t> "no", o </a:t>
            </a:r>
            <a:r>
              <a:rPr lang="en-US" dirty="0" err="1"/>
              <a:t>estado</a:t>
            </a:r>
            <a:r>
              <a:rPr lang="en-US" dirty="0"/>
              <a:t> </a:t>
            </a:r>
            <a:r>
              <a:rPr lang="en-US" dirty="0" err="1"/>
              <a:t>carrega</a:t>
            </a:r>
            <a:r>
              <a:rPr lang="en-US" dirty="0"/>
              <a:t> </a:t>
            </a:r>
            <a:r>
              <a:rPr lang="en-US" dirty="0" err="1"/>
              <a:t>informação</a:t>
            </a:r>
            <a:r>
              <a:rPr lang="en-US" dirty="0"/>
              <a:t> </a:t>
            </a:r>
            <a:r>
              <a:rPr lang="en-US" dirty="0" err="1"/>
              <a:t>como</a:t>
            </a:r>
            <a:r>
              <a:rPr lang="en-US" dirty="0"/>
              <a:t>:</a:t>
            </a:r>
          </a:p>
          <a:p>
            <a:pPr lvl="0" rtl="0"/>
            <a:r>
              <a:rPr lang="en-US" b="1" dirty="0"/>
              <a:t>"gato"</a:t>
            </a:r>
            <a:r>
              <a:rPr lang="en-US" dirty="0"/>
              <a:t>: o </a:t>
            </a:r>
            <a:r>
              <a:rPr lang="en-US" dirty="0" err="1"/>
              <a:t>sujeito</a:t>
            </a:r>
            <a:r>
              <a:rPr lang="en-US" dirty="0"/>
              <a:t> é um animal </a:t>
            </a:r>
            <a:r>
              <a:rPr lang="en-US" dirty="0" err="1"/>
              <a:t>ágil</a:t>
            </a:r>
            <a:r>
              <a:rPr lang="en-US" dirty="0"/>
              <a:t>, </a:t>
            </a:r>
            <a:r>
              <a:rPr lang="en-US" dirty="0" err="1"/>
              <a:t>que</a:t>
            </a:r>
            <a:r>
              <a:rPr lang="en-US" dirty="0"/>
              <a:t> </a:t>
            </a:r>
            <a:r>
              <a:rPr lang="en-US" dirty="0" err="1"/>
              <a:t>costuma</a:t>
            </a:r>
            <a:r>
              <a:rPr lang="en-US" dirty="0"/>
              <a:t> </a:t>
            </a:r>
            <a:r>
              <a:rPr lang="en-US" dirty="0" err="1"/>
              <a:t>escalar</a:t>
            </a:r>
            <a:r>
              <a:rPr lang="en-US" dirty="0"/>
              <a:t> e </a:t>
            </a:r>
            <a:r>
              <a:rPr lang="en-US" dirty="0" err="1"/>
              <a:t>pular</a:t>
            </a:r>
            <a:r>
              <a:rPr lang="en-US" dirty="0"/>
              <a:t>. Essa </a:t>
            </a:r>
            <a:r>
              <a:rPr lang="en-US" dirty="0" err="1"/>
              <a:t>informação</a:t>
            </a:r>
            <a:r>
              <a:rPr lang="en-US" dirty="0"/>
              <a:t> </a:t>
            </a:r>
            <a:r>
              <a:rPr lang="en-US" dirty="0" err="1"/>
              <a:t>precisa</a:t>
            </a:r>
            <a:r>
              <a:rPr lang="en-US" dirty="0"/>
              <a:t> </a:t>
            </a:r>
            <a:r>
              <a:rPr lang="en-US" dirty="0" err="1"/>
              <a:t>sobreviver</a:t>
            </a:r>
            <a:r>
              <a:rPr lang="en-US" dirty="0"/>
              <a:t> </a:t>
            </a:r>
            <a:r>
              <a:rPr lang="en-US" dirty="0" err="1"/>
              <a:t>por</a:t>
            </a:r>
            <a:r>
              <a:rPr lang="en-US" dirty="0"/>
              <a:t> </a:t>
            </a:r>
            <a:r>
              <a:rPr lang="en-US" dirty="0" err="1"/>
              <a:t>alguns</a:t>
            </a:r>
            <a:r>
              <a:rPr lang="en-US" dirty="0"/>
              <a:t> </a:t>
            </a:r>
            <a:r>
              <a:rPr lang="en-US" dirty="0" err="1"/>
              <a:t>passos</a:t>
            </a:r>
            <a:r>
              <a:rPr lang="en-US" dirty="0"/>
              <a:t>, e é </a:t>
            </a:r>
            <a:r>
              <a:rPr lang="en-US" dirty="0" err="1"/>
              <a:t>aí</a:t>
            </a:r>
            <a:r>
              <a:rPr lang="en-US" dirty="0"/>
              <a:t> </a:t>
            </a:r>
            <a:r>
              <a:rPr lang="en-US" dirty="0" err="1"/>
              <a:t>que</a:t>
            </a:r>
            <a:r>
              <a:rPr lang="en-US" dirty="0"/>
              <a:t> o </a:t>
            </a:r>
            <a:r>
              <a:rPr lang="en-US" dirty="0" err="1"/>
              <a:t>estado</a:t>
            </a:r>
            <a:r>
              <a:rPr lang="en-US" dirty="0"/>
              <a:t> de </a:t>
            </a:r>
            <a:r>
              <a:rPr lang="en-US" dirty="0" err="1"/>
              <a:t>célula</a:t>
            </a:r>
            <a:r>
              <a:rPr lang="en-US" dirty="0"/>
              <a:t> </a:t>
            </a:r>
            <a:r>
              <a:rPr lang="en-US" dirty="0" err="1"/>
              <a:t>ajuda</a:t>
            </a:r>
            <a:r>
              <a:rPr lang="en-US" dirty="0"/>
              <a:t>, pois o </a:t>
            </a:r>
            <a:r>
              <a:rPr lang="en-US" dirty="0" err="1"/>
              <a:t>portão</a:t>
            </a:r>
            <a:r>
              <a:rPr lang="en-US" dirty="0"/>
              <a:t> de </a:t>
            </a:r>
            <a:r>
              <a:rPr lang="en-US" dirty="0" err="1"/>
              <a:t>esquecimento</a:t>
            </a:r>
            <a:r>
              <a:rPr lang="en-US" dirty="0"/>
              <a:t> </a:t>
            </a:r>
            <a:r>
              <a:rPr lang="en-US" dirty="0" err="1"/>
              <a:t>pode</a:t>
            </a:r>
            <a:r>
              <a:rPr lang="en-US" dirty="0"/>
              <a:t> </a:t>
            </a:r>
            <a:r>
              <a:rPr lang="en-US" dirty="0" err="1"/>
              <a:t>mantê</a:t>
            </a:r>
            <a:r>
              <a:rPr lang="en-US" dirty="0"/>
              <a:t>-la.</a:t>
            </a:r>
          </a:p>
          <a:p>
            <a:pPr lvl="0" rtl="0"/>
            <a:r>
              <a:rPr lang="en-US" b="1" dirty="0"/>
              <a:t>"</a:t>
            </a:r>
            <a:r>
              <a:rPr lang="en-US" b="1" dirty="0" err="1"/>
              <a:t>subiu</a:t>
            </a:r>
            <a:r>
              <a:rPr lang="en-US" b="1" dirty="0"/>
              <a:t>"</a:t>
            </a:r>
            <a:r>
              <a:rPr lang="en-US" dirty="0"/>
              <a:t>: o verbo indica </a:t>
            </a:r>
            <a:r>
              <a:rPr lang="en-US" dirty="0" err="1"/>
              <a:t>movimento</a:t>
            </a:r>
            <a:r>
              <a:rPr lang="en-US" dirty="0"/>
              <a:t> para </a:t>
            </a:r>
            <a:r>
              <a:rPr lang="en-US" dirty="0" err="1"/>
              <a:t>cima</a:t>
            </a:r>
            <a:r>
              <a:rPr lang="en-US" dirty="0"/>
              <a:t>, o </a:t>
            </a:r>
            <a:r>
              <a:rPr lang="en-US" dirty="0" err="1"/>
              <a:t>que</a:t>
            </a:r>
            <a:r>
              <a:rPr lang="en-US" dirty="0"/>
              <a:t> </a:t>
            </a:r>
            <a:r>
              <a:rPr lang="en-US" dirty="0" err="1"/>
              <a:t>prevê</a:t>
            </a:r>
            <a:r>
              <a:rPr lang="en-US" dirty="0"/>
              <a:t> </a:t>
            </a:r>
            <a:r>
              <a:rPr lang="en-US" dirty="0" err="1"/>
              <a:t>substantivos</a:t>
            </a:r>
            <a:r>
              <a:rPr lang="en-US" dirty="0"/>
              <a:t> </a:t>
            </a:r>
            <a:r>
              <a:rPr lang="en-US" dirty="0" err="1"/>
              <a:t>que</a:t>
            </a:r>
            <a:r>
              <a:rPr lang="en-US" dirty="0"/>
              <a:t> </a:t>
            </a:r>
            <a:r>
              <a:rPr lang="en-US" dirty="0" err="1"/>
              <a:t>são</a:t>
            </a:r>
            <a:r>
              <a:rPr lang="en-US" dirty="0"/>
              <a:t> </a:t>
            </a:r>
            <a:r>
              <a:rPr lang="en-US" dirty="0" err="1"/>
              <a:t>superfícies</a:t>
            </a:r>
            <a:r>
              <a:rPr lang="en-US" dirty="0"/>
              <a:t> </a:t>
            </a:r>
            <a:r>
              <a:rPr lang="en-US" dirty="0" err="1"/>
              <a:t>ou</a:t>
            </a:r>
            <a:r>
              <a:rPr lang="en-US" dirty="0"/>
              <a:t> </a:t>
            </a:r>
            <a:r>
              <a:rPr lang="en-US" dirty="0" err="1"/>
              <a:t>estruturas</a:t>
            </a:r>
            <a:r>
              <a:rPr lang="en-US" dirty="0"/>
              <a:t> (</a:t>
            </a:r>
            <a:r>
              <a:rPr lang="en-US" dirty="0" err="1"/>
              <a:t>muro</a:t>
            </a:r>
            <a:r>
              <a:rPr lang="en-US" dirty="0"/>
              <a:t>, </a:t>
            </a:r>
            <a:r>
              <a:rPr lang="en-US" dirty="0" err="1"/>
              <a:t>telhado</a:t>
            </a:r>
            <a:r>
              <a:rPr lang="en-US" dirty="0"/>
              <a:t>, </a:t>
            </a:r>
            <a:r>
              <a:rPr lang="en-US" dirty="0" err="1"/>
              <a:t>sofá</a:t>
            </a:r>
            <a:r>
              <a:rPr lang="en-US" dirty="0"/>
              <a:t>, </a:t>
            </a:r>
            <a:r>
              <a:rPr lang="en-US" dirty="0" err="1"/>
              <a:t>árvore</a:t>
            </a:r>
            <a:r>
              <a:rPr lang="en-US" dirty="0"/>
              <a:t>).</a:t>
            </a:r>
          </a:p>
          <a:p>
            <a:pPr lvl="0" rtl="0"/>
            <a:r>
              <a:rPr lang="en-US" b="1" dirty="0"/>
              <a:t>"no"</a:t>
            </a:r>
            <a:r>
              <a:rPr lang="en-US" dirty="0"/>
              <a:t>: a </a:t>
            </a:r>
            <a:r>
              <a:rPr lang="en-US" dirty="0" err="1"/>
              <a:t>contração</a:t>
            </a:r>
            <a:r>
              <a:rPr lang="en-US" dirty="0"/>
              <a:t> de "</a:t>
            </a:r>
            <a:r>
              <a:rPr lang="en-US" dirty="0" err="1"/>
              <a:t>em</a:t>
            </a:r>
            <a:r>
              <a:rPr lang="en-US" dirty="0"/>
              <a:t> + o" indica um </a:t>
            </a:r>
            <a:r>
              <a:rPr lang="en-US" dirty="0" err="1"/>
              <a:t>substantivo</a:t>
            </a:r>
            <a:r>
              <a:rPr lang="en-US" dirty="0"/>
              <a:t> </a:t>
            </a:r>
            <a:r>
              <a:rPr lang="en-US" b="1" dirty="0" err="1"/>
              <a:t>masculino</a:t>
            </a:r>
            <a:r>
              <a:rPr lang="en-US" b="1" dirty="0"/>
              <a:t> singular</a:t>
            </a:r>
            <a:r>
              <a:rPr lang="en-US" dirty="0"/>
              <a:t>, o </a:t>
            </a:r>
            <a:r>
              <a:rPr lang="en-US" dirty="0" err="1"/>
              <a:t>que</a:t>
            </a:r>
            <a:r>
              <a:rPr lang="en-US" dirty="0"/>
              <a:t> </a:t>
            </a:r>
            <a:r>
              <a:rPr lang="en-US" dirty="0" err="1"/>
              <a:t>elimina</a:t>
            </a:r>
            <a:r>
              <a:rPr lang="en-US" dirty="0"/>
              <a:t> "</a:t>
            </a:r>
            <a:r>
              <a:rPr lang="en-US" dirty="0" err="1"/>
              <a:t>árvore</a:t>
            </a:r>
            <a:r>
              <a:rPr lang="en-US" dirty="0"/>
              <a:t>", "mesa" e "</a:t>
            </a:r>
            <a:r>
              <a:rPr lang="en-US" dirty="0" err="1"/>
              <a:t>cama</a:t>
            </a:r>
            <a:r>
              <a:rPr lang="en-US" dirty="0"/>
              <a:t>", </a:t>
            </a:r>
            <a:r>
              <a:rPr lang="en-US" dirty="0" err="1"/>
              <a:t>por</a:t>
            </a:r>
            <a:r>
              <a:rPr lang="en-US" dirty="0"/>
              <a:t> </a:t>
            </a:r>
            <a:r>
              <a:rPr lang="en-US" dirty="0" err="1"/>
              <a:t>exemplo</a:t>
            </a:r>
            <a:r>
              <a:rPr lang="en-US"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78174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4FCD-2462-F8A2-1938-163C0709B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RNNs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id="{C7CDC41C-7FEE-80DC-975E-EFA1C4B2EDFB}"/>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DDF803-A9A3-9633-2028-623E4F4F6C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B8DD547-B2C7-7112-A7DE-ADDBBB01FEAC}"/>
              </a:ext>
            </a:extLst>
          </p:cNvPr>
          <p:cNvSpPr>
            <a:spLocks noGrp="1"/>
          </p:cNvSpPr>
          <p:nvPr>
            <p:ph type="body" idx="1"/>
          </p:nvPr>
        </p:nvSpPr>
        <p:spPr/>
        <p:txBody>
          <a:bodyPr/>
          <a:lstStyle/>
          <a:p>
            <a:r>
              <a:rPr lang="en-US" dirty="0"/>
              <a:t>RNN Simples </a:t>
            </a:r>
            <a:r>
              <a:rPr lang="en-US" dirty="0" err="1"/>
              <a:t>ou</a:t>
            </a:r>
            <a:r>
              <a:rPr lang="en-US" dirty="0"/>
              <a:t> </a:t>
            </a:r>
            <a:r>
              <a:rPr lang="en-US" dirty="0" err="1"/>
              <a:t>baunilha</a:t>
            </a:r>
            <a:r>
              <a:rPr lang="en-US" dirty="0"/>
              <a:t> </a:t>
            </a:r>
            <a:r>
              <a:rPr lang="en-US" dirty="0" err="1"/>
              <a:t>ou</a:t>
            </a:r>
            <a:r>
              <a:rPr lang="en-US" dirty="0"/>
              <a:t> do </a:t>
            </a:r>
            <a:r>
              <a:rPr lang="en-US" dirty="0" err="1"/>
              <a:t>tipo</a:t>
            </a:r>
            <a:r>
              <a:rPr lang="en-US" dirty="0"/>
              <a:t> Elman</a:t>
            </a:r>
          </a:p>
          <a:p>
            <a:r>
              <a:rPr lang="en-US" dirty="0"/>
              <a:t>A </a:t>
            </a:r>
            <a:r>
              <a:rPr lang="en-US" dirty="0" err="1"/>
              <a:t>palavra</a:t>
            </a:r>
            <a:r>
              <a:rPr lang="en-US" dirty="0"/>
              <a:t> "gato" </a:t>
            </a:r>
            <a:r>
              <a:rPr lang="en-US" dirty="0" err="1"/>
              <a:t>está</a:t>
            </a:r>
            <a:r>
              <a:rPr lang="en-US" dirty="0"/>
              <a:t> longe da </a:t>
            </a:r>
            <a:r>
              <a:rPr lang="en-US" dirty="0" err="1"/>
              <a:t>palavra</a:t>
            </a:r>
            <a:r>
              <a:rPr lang="en-US" dirty="0"/>
              <a:t> a </a:t>
            </a:r>
            <a:r>
              <a:rPr lang="en-US" dirty="0" err="1"/>
              <a:t>prever</a:t>
            </a:r>
            <a:r>
              <a:rPr lang="en-US" dirty="0"/>
              <a:t>, e a RNN simples </a:t>
            </a:r>
            <a:r>
              <a:rPr lang="en-US" dirty="0" err="1"/>
              <a:t>tende</a:t>
            </a:r>
            <a:r>
              <a:rPr lang="en-US" dirty="0"/>
              <a:t> a </a:t>
            </a:r>
            <a:r>
              <a:rPr lang="en-US" dirty="0" err="1"/>
              <a:t>esquecê</a:t>
            </a:r>
            <a:r>
              <a:rPr lang="en-US" dirty="0"/>
              <a:t>-la.</a:t>
            </a:r>
          </a:p>
        </p:txBody>
      </p:sp>
      <p:sp>
        <p:nvSpPr>
          <p:cNvPr id="4" name="Slide Number Placeholder 3">
            <a:extLst>
              <a:ext uri="{FF2B5EF4-FFF2-40B4-BE49-F238E27FC236}">
                <a16:creationId xmlns:a16="http://schemas.microsoft.com/office/drawing/2014/main" id="{3B49C1D4-72A0-501C-3168-8B2BFC61F9C8}"/>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1688C-1D87-2F5A-4988-70044477EE15}"/>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pPr/>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pPr/>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pPr/>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A902DE62-EF02-CB68-14EE-B0761BA33C30}"/>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31CD9-A853-64E7-A5E5-D3ECC95EE90A}"/>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Choice>
        <mc:Fallback xmlns="">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id="{AEF2FE16-CDFB-CD86-2334-D4869C42662E}"/>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72983-0C6A-43FE-BA89-508E0B2125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ED3A18-642E-C99A-850A-9619C8CAE361}"/>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AF7C2-0C10-C2A5-74DF-5E146878E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342C4F-189E-6908-E236-D10BBFF5387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14196-05FD-811C-3402-A7C77FA0C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94D78-7092-1DD5-1A54-1D6CC357A83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20D255-5EB6-DA13-50C8-92E400795737}"/>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90D41C2-50D7-F2DA-1560-E0E2CD3E0F06}"/>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79114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17E94-111B-B4D4-84CA-486844AA3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C69A9-9B1F-C7D6-F388-E0D6538D28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9983DC6-5182-C216-BC25-B242D0760C1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32B36B2-129C-E679-8BC6-DE5C726172C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16182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70236-CFE9-6513-855E-E0F06E6065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5D220820-D23F-935D-8BEE-E1A04620EA4A}"/>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EBFE94-D230-7B0E-C887-977799B28B8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D1F3297-B90D-C7C9-16F5-94E583ECE259}"/>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Choice>
        <mc:Fallback xmlns="">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r>
                  <a:rPr lang="pt-BR" i="0">
                    <a:latin typeface="Cambria Math" panose="02040503050406030204" pitchFamily="18" charset="0"/>
                  </a:rPr>
                  <a:t>𝐸_𝑡</a:t>
                </a:r>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12688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O </a:t>
            </a:r>
            <a:r>
              <a:rPr lang="en-US" dirty="0" err="1"/>
              <a:t>erro</a:t>
            </a:r>
            <a:r>
              <a:rPr lang="en-US" dirty="0"/>
              <a:t> total é a soma das </a:t>
            </a:r>
            <a:r>
              <a:rPr lang="en-US" dirty="0" err="1"/>
              <a:t>erros</a:t>
            </a:r>
            <a:r>
              <a:rPr lang="en-US" dirty="0"/>
              <a:t> de </a:t>
            </a:r>
            <a:r>
              <a:rPr lang="en-US" dirty="0" err="1"/>
              <a:t>cada</a:t>
            </a:r>
            <a:r>
              <a:rPr lang="en-US" dirty="0"/>
              <a:t> </a:t>
            </a:r>
            <a:r>
              <a:rPr lang="en-US" dirty="0" err="1"/>
              <a:t>passo</a:t>
            </a:r>
            <a:r>
              <a:rPr lang="en-US" dirty="0"/>
              <a:t>.</a:t>
            </a:r>
          </a:p>
          <a:p>
            <a:endParaRPr lang="en-US" dirty="0"/>
          </a:p>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a:p>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55734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noProof="0" dirty="0"/>
              <a:t>As matrizes são atualizadas </a:t>
            </a:r>
            <a:r>
              <a:rPr lang="pt-BR" b="1" noProof="0" dirty="0"/>
              <a:t>uma vez</a:t>
            </a:r>
            <a:r>
              <a:rPr lang="pt-BR" noProof="0" dirty="0"/>
              <a:t>, com o gradiente total.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Em </a:t>
            </a:r>
            <a:r>
              <a:rPr lang="en-US" b="1" dirty="0" err="1"/>
              <a:t>uma</a:t>
            </a:r>
            <a:r>
              <a:rPr lang="en-US" b="1" dirty="0"/>
              <a:t> </a:t>
            </a:r>
            <a:r>
              <a:rPr lang="en-US" b="1" dirty="0" err="1"/>
              <a:t>linha</a:t>
            </a:r>
            <a:r>
              <a:rPr lang="en-US" b="1" dirty="0"/>
              <a:t>:</a:t>
            </a:r>
            <a:r>
              <a:rPr lang="en-US" dirty="0"/>
              <a:t> </a:t>
            </a:r>
            <a:r>
              <a:rPr lang="en-US" i="1" dirty="0" err="1"/>
              <a:t>percorre</a:t>
            </a:r>
            <a:r>
              <a:rPr lang="en-US" i="1" dirty="0"/>
              <a:t> a </a:t>
            </a:r>
            <a:r>
              <a:rPr lang="en-US" i="1" dirty="0" err="1"/>
              <a:t>sequência</a:t>
            </a:r>
            <a:r>
              <a:rPr lang="en-US" i="1" dirty="0"/>
              <a:t> → </a:t>
            </a:r>
            <a:r>
              <a:rPr lang="en-US" i="1" dirty="0" err="1"/>
              <a:t>calcula</a:t>
            </a:r>
            <a:r>
              <a:rPr lang="en-US" i="1" dirty="0"/>
              <a:t> o </a:t>
            </a:r>
            <a:r>
              <a:rPr lang="en-US" i="1" dirty="0" err="1"/>
              <a:t>erro</a:t>
            </a:r>
            <a:r>
              <a:rPr lang="en-US" i="1" dirty="0"/>
              <a:t> total → </a:t>
            </a:r>
            <a:r>
              <a:rPr lang="en-US" i="1" dirty="0" err="1"/>
              <a:t>propaga</a:t>
            </a:r>
            <a:r>
              <a:rPr lang="en-US" i="1" dirty="0"/>
              <a:t> o </a:t>
            </a:r>
            <a:r>
              <a:rPr lang="en-US" i="1" dirty="0" err="1"/>
              <a:t>gradiente</a:t>
            </a:r>
            <a:r>
              <a:rPr lang="en-US" i="1" dirty="0"/>
              <a:t> de </a:t>
            </a:r>
            <a:r>
              <a:rPr lang="en-US" i="1" dirty="0" err="1"/>
              <a:t>trás</a:t>
            </a:r>
            <a:r>
              <a:rPr lang="en-US" i="1" dirty="0"/>
              <a:t> para </a:t>
            </a:r>
            <a:r>
              <a:rPr lang="en-US" i="1" dirty="0" err="1"/>
              <a:t>frente</a:t>
            </a:r>
            <a:r>
              <a:rPr lang="en-US" i="1" dirty="0"/>
              <a:t> → soma as </a:t>
            </a:r>
            <a:r>
              <a:rPr lang="en-US" i="1" dirty="0" err="1"/>
              <a:t>contribuições</a:t>
            </a:r>
            <a:r>
              <a:rPr lang="en-US" i="1" dirty="0"/>
              <a:t> de </a:t>
            </a:r>
            <a:r>
              <a:rPr lang="en-US" i="1" dirty="0" err="1"/>
              <a:t>cada</a:t>
            </a:r>
            <a:r>
              <a:rPr lang="en-US" i="1" dirty="0"/>
              <a:t> peso → </a:t>
            </a:r>
            <a:r>
              <a:rPr lang="en-US" i="1" dirty="0" err="1"/>
              <a:t>atualiza</a:t>
            </a:r>
            <a:r>
              <a:rPr lang="en-US" i="1" dirty="0"/>
              <a:t> </a:t>
            </a:r>
            <a:r>
              <a:rPr lang="en-US" i="1" dirty="0" err="1"/>
              <a:t>os</a:t>
            </a:r>
            <a:r>
              <a:rPr lang="en-US" i="1" dirty="0"/>
              <a:t> pesos de </a:t>
            </a:r>
            <a:r>
              <a:rPr lang="en-US" i="1" dirty="0" err="1"/>
              <a:t>uma</a:t>
            </a:r>
            <a:r>
              <a:rPr lang="en-US" i="1" dirty="0"/>
              <a:t> </a:t>
            </a:r>
            <a:r>
              <a:rPr lang="en-US" i="1" dirty="0" err="1"/>
              <a:t>vez</a:t>
            </a:r>
            <a:r>
              <a:rPr lang="en-US" i="1" dirty="0"/>
              <a:t>.</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895772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parte da </a:t>
                </a:r>
                <a:r>
                  <a:rPr lang="en-US" dirty="0" err="1"/>
                  <a:t>responsabilidade</a:t>
                </a:r>
                <a:r>
                  <a:rPr lang="en-US" dirty="0"/>
                  <a:t> volta </a:t>
                </a:r>
                <a:r>
                  <a:rPr lang="en-US" dirty="0" err="1"/>
                  <a:t>até</a:t>
                </a:r>
                <a:r>
                  <a:rPr lang="en-US" dirty="0"/>
                  <a:t> o </a:t>
                </a:r>
                <a:r>
                  <a:rPr lang="en-US" dirty="0" err="1"/>
                  <a:t>estado</a:t>
                </a:r>
                <a:r>
                  <a:rPr lang="en-US" dirty="0"/>
                  <a:t> de "gato".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É </a:t>
                </a:r>
                <a:r>
                  <a:rPr lang="en-US" dirty="0" err="1"/>
                  <a:t>isso</a:t>
                </a:r>
                <a:r>
                  <a:rPr lang="en-US" dirty="0"/>
                  <a:t> que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=4</m:t>
                    </m:r>
                  </m:oMath>
                </a14:m>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Cambria Math" panose="02040503050406030204" pitchFamily="18" charset="0"/>
                    <a:ea typeface="+mn-ea"/>
                    <a:cs typeface="+mn-cs"/>
                  </a:rPr>
                  <a:t>𝑡=4</a:t>
                </a:r>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Cambria Math" panose="02040503050406030204" pitchFamily="18" charset="0"/>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Cambria Math" panose="02040503050406030204" pitchFamily="18" charset="0"/>
                    <a:ea typeface="+mn-ea"/>
                    <a:cs typeface="+mn-cs"/>
                  </a:rPr>
                  <a:t>ℎ_3</a:t>
                </a:r>
                <a:r>
                  <a:rPr lang="ar-AE" dirty="0"/>
                  <a:t>, </a:t>
                </a:r>
              </a:p>
              <a:p>
                <a:r>
                  <a:rPr lang="ar-AE" sz="1200" i="0" kern="1200">
                    <a:solidFill>
                      <a:schemeClr val="tx1"/>
                    </a:solidFill>
                    <a:latin typeface="Cambria Math" panose="02040503050406030204" pitchFamily="18" charset="0"/>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Cambria Math" panose="02040503050406030204" pitchFamily="18" charset="0"/>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27738A7-2AEB-8A53-4EB7-BC3FD88636C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a16="http://schemas.microsoft.com/office/drawing/2014/main" id="{3D0D4AB1-9E8B-F207-5580-BB12C93E1CDA}"/>
              </a:ext>
            </a:extLst>
          </p:cNvPr>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903710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8F1673-F1CD-2EC3-16A4-998A51A1E4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id="{73DD59FC-4009-0F3A-348B-B8D4863BDCBE}"/>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F3D72-ADBB-EBCB-029C-4C93AF8DB9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id="{78DFDBA4-83C0-D64A-1B55-22DBA7D8280C}"/>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$\partial^{+}h[k]/\partial\</a:t>
            </a:r>
            <a:r>
              <a:rPr lang="en-US" dirty="0" err="1"/>
              <a:t>mathbf</a:t>
            </a:r>
            <a:r>
              <a:rPr lang="en-US" dirty="0"/>
              <a:t>{W}$ é o </a:t>
            </a:r>
            <a:r>
              <a:rPr lang="en-US" dirty="0" err="1"/>
              <a:t>efeito</a:t>
            </a:r>
            <a:r>
              <a:rPr lang="en-US" dirty="0"/>
              <a:t> </a:t>
            </a:r>
            <a:r>
              <a:rPr lang="en-US" b="1" dirty="0" err="1"/>
              <a:t>direto</a:t>
            </a:r>
            <a:r>
              <a:rPr lang="en-US" dirty="0"/>
              <a:t> de $\</a:t>
            </a:r>
            <a:r>
              <a:rPr lang="en-US" dirty="0" err="1"/>
              <a:t>mathbf</a:t>
            </a:r>
            <a:r>
              <a:rPr lang="en-US" dirty="0"/>
              <a:t>{W}$ no </a:t>
            </a:r>
            <a:r>
              <a:rPr lang="en-US" dirty="0" err="1"/>
              <a:t>passo</a:t>
            </a:r>
            <a:r>
              <a:rPr lang="en-US" dirty="0"/>
              <a:t> $k$, </a:t>
            </a:r>
            <a:r>
              <a:rPr lang="en-US" dirty="0" err="1"/>
              <a:t>tratando</a:t>
            </a:r>
            <a:r>
              <a:rPr lang="en-US" dirty="0"/>
              <a:t> $h[k-1]$ </a:t>
            </a:r>
            <a:r>
              <a:rPr lang="en-US" dirty="0" err="1"/>
              <a:t>como</a:t>
            </a:r>
            <a:r>
              <a:rPr lang="en-US" dirty="0"/>
              <a:t> </a:t>
            </a:r>
            <a:r>
              <a:rPr lang="en-US" dirty="0" err="1"/>
              <a:t>constante</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053008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r>
            <a:r>
              <a:rPr lang="en-US" dirty="0" err="1"/>
              <a:t>como</a:t>
            </a:r>
            <a:r>
              <a:rPr lang="en-US" dirty="0"/>
              <a:t> </a:t>
            </a:r>
            <a:r>
              <a:rPr lang="en-US" dirty="0" err="1"/>
              <a:t>evitar</a:t>
            </a:r>
            <a:r>
              <a:rPr lang="en-US" dirty="0"/>
              <a:t> </a:t>
            </a:r>
            <a:r>
              <a:rPr lang="en-US" dirty="0" err="1"/>
              <a:t>isso</a:t>
            </a:r>
            <a:r>
              <a:rPr lang="en-US" dirty="0"/>
              <a:t>? Com </a:t>
            </a:r>
            <a:r>
              <a:rPr lang="en-US" dirty="0" err="1"/>
              <a:t>portões</a:t>
            </a:r>
            <a:r>
              <a:rPr lang="en-US" dirty="0"/>
              <a:t> </a:t>
            </a:r>
            <a:r>
              <a:rPr lang="en-US" dirty="0" err="1"/>
              <a:t>que</a:t>
            </a:r>
            <a:r>
              <a:rPr lang="en-US" dirty="0"/>
              <a:t> </a:t>
            </a:r>
            <a:r>
              <a:rPr lang="en-US" dirty="0" err="1"/>
              <a:t>controlam</a:t>
            </a:r>
            <a:r>
              <a:rPr lang="en-US" dirty="0"/>
              <a:t> o </a:t>
            </a:r>
            <a:r>
              <a:rPr lang="en-US" dirty="0" err="1"/>
              <a:t>fluxo</a:t>
            </a:r>
            <a:r>
              <a:rPr lang="en-US" dirty="0"/>
              <a:t> da </a:t>
            </a:r>
            <a:r>
              <a:rPr lang="en-US" dirty="0" err="1"/>
              <a:t>informação</a:t>
            </a:r>
            <a:r>
              <a:rPr lang="en-US" dirty="0"/>
              <a:t>",</a:t>
            </a:r>
            <a:endParaRPr lang="pt-BR" dirty="0"/>
          </a:p>
          <a:p>
            <a:endParaRPr lang="pt-BR" dirty="0"/>
          </a:p>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AAD211-78C1-76CF-37C1-2799926821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a16="http://schemas.microsoft.com/office/drawing/2014/main" id="{B6FFB4E4-8199-22E4-AFF4-DEB1442C3CDE}"/>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2DC2D-12C6-EEBA-90B7-40B867D944E1}"/>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0"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r>
                  <a:rPr lang="ar-AE" sz="1200" i="0" kern="1200">
                    <a:solidFill>
                      <a:schemeClr val="tx1"/>
                    </a:solidFill>
                    <a:latin typeface="Cambria Math" panose="02040503050406030204" pitchFamily="18" charset="0"/>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a16="http://schemas.microsoft.com/office/drawing/2014/main" id="{400EFD99-EFF4-77CF-2316-515A12848900}"/>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Na RNN tradicional, o gradiente do erro produto de vários Jacobianos; quando eles são menores que 1, o gradiente some e a rede só aprende dependências de curto ou médio prazo.</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417291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PLN: Processamento de Linguagem Natural</a:t>
            </a:r>
          </a:p>
          <a:p>
            <a:endParaRPr lang="pt-BR" dirty="0"/>
          </a:p>
          <a:p>
            <a:pPr rtl="0"/>
            <a:r>
              <a:rPr lang="en-US" b="1" dirty="0"/>
              <a:t>Por </a:t>
            </a:r>
            <a:r>
              <a:rPr lang="en-US" b="1" dirty="0" err="1"/>
              <a:t>que</a:t>
            </a:r>
            <a:r>
              <a:rPr lang="en-US" b="1" dirty="0"/>
              <a:t> </a:t>
            </a:r>
            <a:r>
              <a:rPr lang="en-US" b="1" dirty="0" err="1"/>
              <a:t>os</a:t>
            </a:r>
            <a:r>
              <a:rPr lang="en-US" b="1" dirty="0"/>
              <a:t> Transformers </a:t>
            </a:r>
            <a:r>
              <a:rPr lang="en-US" b="1" dirty="0" err="1"/>
              <a:t>substituíram</a:t>
            </a:r>
            <a:r>
              <a:rPr lang="en-US" b="1" dirty="0"/>
              <a:t> </a:t>
            </a:r>
            <a:r>
              <a:rPr lang="en-US" b="1" dirty="0" err="1"/>
              <a:t>em</a:t>
            </a:r>
            <a:r>
              <a:rPr lang="en-US" b="1" dirty="0"/>
              <a:t> grande </a:t>
            </a:r>
            <a:r>
              <a:rPr lang="en-US" b="1" dirty="0" err="1"/>
              <a:t>parte</a:t>
            </a:r>
            <a:r>
              <a:rPr lang="en-US" b="1" dirty="0"/>
              <a:t> as LSTMs?</a:t>
            </a:r>
            <a:endParaRPr lang="en-US" dirty="0"/>
          </a:p>
          <a:p>
            <a:pPr lvl="0" rtl="0"/>
            <a:r>
              <a:rPr lang="en-US" b="1" dirty="0" err="1"/>
              <a:t>Paralelização</a:t>
            </a:r>
            <a:r>
              <a:rPr lang="en-US" b="1" dirty="0"/>
              <a:t>:</a:t>
            </a:r>
            <a:r>
              <a:rPr lang="en-US" dirty="0"/>
              <a:t> </a:t>
            </a:r>
            <a:r>
              <a:rPr lang="en-US" dirty="0" err="1"/>
              <a:t>na</a:t>
            </a:r>
            <a:r>
              <a:rPr lang="en-US" dirty="0"/>
              <a:t> LSTM, </a:t>
            </a:r>
            <a:r>
              <a:rPr lang="en-US" dirty="0" err="1"/>
              <a:t>cada</a:t>
            </a:r>
            <a:r>
              <a:rPr lang="en-US" dirty="0"/>
              <a:t> </a:t>
            </a:r>
            <a:r>
              <a:rPr lang="en-US" dirty="0" err="1"/>
              <a:t>passo</a:t>
            </a:r>
            <a:r>
              <a:rPr lang="en-US" dirty="0"/>
              <a:t> </a:t>
            </a:r>
            <a:r>
              <a:rPr lang="en-US" dirty="0" err="1"/>
              <a:t>depende</a:t>
            </a:r>
            <a:r>
              <a:rPr lang="en-US" dirty="0"/>
              <a:t> do anterior, </a:t>
            </a:r>
            <a:r>
              <a:rPr lang="en-US" dirty="0" err="1"/>
              <a:t>então</a:t>
            </a:r>
            <a:r>
              <a:rPr lang="en-US" dirty="0"/>
              <a:t> a </a:t>
            </a:r>
            <a:r>
              <a:rPr lang="en-US" dirty="0" err="1"/>
              <a:t>sequência</a:t>
            </a:r>
            <a:r>
              <a:rPr lang="en-US" dirty="0"/>
              <a:t> é </a:t>
            </a:r>
            <a:r>
              <a:rPr lang="en-US" dirty="0" err="1"/>
              <a:t>processada</a:t>
            </a:r>
            <a:r>
              <a:rPr lang="en-US" dirty="0"/>
              <a:t> </a:t>
            </a:r>
            <a:r>
              <a:rPr lang="en-US" dirty="0" err="1"/>
              <a:t>em</a:t>
            </a:r>
            <a:r>
              <a:rPr lang="en-US" dirty="0"/>
              <a:t> </a:t>
            </a:r>
            <a:r>
              <a:rPr lang="en-US" dirty="0" err="1"/>
              <a:t>ordem</a:t>
            </a:r>
            <a:r>
              <a:rPr lang="en-US" dirty="0"/>
              <a:t> e as GPUs </a:t>
            </a:r>
            <a:r>
              <a:rPr lang="en-US" dirty="0" err="1"/>
              <a:t>são</a:t>
            </a:r>
            <a:r>
              <a:rPr lang="en-US" dirty="0"/>
              <a:t> mal </a:t>
            </a:r>
            <a:r>
              <a:rPr lang="en-US" dirty="0" err="1"/>
              <a:t>aproveitadas</a:t>
            </a:r>
            <a:r>
              <a:rPr lang="en-US" dirty="0"/>
              <a:t>. No Transformer, </a:t>
            </a:r>
            <a:r>
              <a:rPr lang="en-US" dirty="0" err="1"/>
              <a:t>todas</a:t>
            </a:r>
            <a:r>
              <a:rPr lang="en-US" dirty="0"/>
              <a:t> as </a:t>
            </a:r>
            <a:r>
              <a:rPr lang="en-US" dirty="0" err="1"/>
              <a:t>posições</a:t>
            </a:r>
            <a:r>
              <a:rPr lang="en-US" dirty="0"/>
              <a:t> </a:t>
            </a:r>
            <a:r>
              <a:rPr lang="en-US" dirty="0" err="1"/>
              <a:t>são</a:t>
            </a:r>
            <a:r>
              <a:rPr lang="en-US" dirty="0"/>
              <a:t> </a:t>
            </a:r>
            <a:r>
              <a:rPr lang="en-US" dirty="0" err="1"/>
              <a:t>processadas</a:t>
            </a:r>
            <a:r>
              <a:rPr lang="en-US" dirty="0"/>
              <a:t> </a:t>
            </a:r>
            <a:r>
              <a:rPr lang="en-US" dirty="0" err="1"/>
              <a:t>ao</a:t>
            </a:r>
            <a:r>
              <a:rPr lang="en-US" dirty="0"/>
              <a:t> </a:t>
            </a:r>
            <a:r>
              <a:rPr lang="en-US" dirty="0" err="1"/>
              <a:t>mesmo</a:t>
            </a:r>
            <a:r>
              <a:rPr lang="en-US" dirty="0"/>
              <a:t> tempo, o </a:t>
            </a:r>
            <a:r>
              <a:rPr lang="en-US" dirty="0" err="1"/>
              <a:t>que</a:t>
            </a:r>
            <a:r>
              <a:rPr lang="en-US" dirty="0"/>
              <a:t> </a:t>
            </a:r>
            <a:r>
              <a:rPr lang="en-US" dirty="0" err="1"/>
              <a:t>tornou</a:t>
            </a:r>
            <a:r>
              <a:rPr lang="en-US" dirty="0"/>
              <a:t> </a:t>
            </a:r>
            <a:r>
              <a:rPr lang="en-US" dirty="0" err="1"/>
              <a:t>viável</a:t>
            </a:r>
            <a:r>
              <a:rPr lang="en-US" dirty="0"/>
              <a:t> </a:t>
            </a:r>
            <a:r>
              <a:rPr lang="en-US" dirty="0" err="1"/>
              <a:t>treinar</a:t>
            </a:r>
            <a:r>
              <a:rPr lang="en-US" dirty="0"/>
              <a:t> com </a:t>
            </a:r>
            <a:r>
              <a:rPr lang="en-US" dirty="0" err="1"/>
              <a:t>bilhões</a:t>
            </a:r>
            <a:r>
              <a:rPr lang="en-US" dirty="0"/>
              <a:t> de </a:t>
            </a:r>
            <a:r>
              <a:rPr lang="en-US" dirty="0" err="1"/>
              <a:t>palavras</a:t>
            </a:r>
            <a:r>
              <a:rPr lang="en-US" dirty="0"/>
              <a:t>.</a:t>
            </a:r>
          </a:p>
          <a:p>
            <a:pPr lvl="0" rtl="0"/>
            <a:r>
              <a:rPr lang="en-US" b="1" dirty="0" err="1"/>
              <a:t>Dependências</a:t>
            </a:r>
            <a:r>
              <a:rPr lang="en-US" b="1" dirty="0"/>
              <a:t> de </a:t>
            </a:r>
            <a:r>
              <a:rPr lang="en-US" b="1" dirty="0" err="1"/>
              <a:t>longo</a:t>
            </a:r>
            <a:r>
              <a:rPr lang="en-US" b="1" dirty="0"/>
              <a:t> </a:t>
            </a:r>
            <a:r>
              <a:rPr lang="en-US" b="1" dirty="0" err="1"/>
              <a:t>alcance</a:t>
            </a:r>
            <a:r>
              <a:rPr lang="en-US" b="1" dirty="0"/>
              <a:t>:</a:t>
            </a:r>
            <a:r>
              <a:rPr lang="en-US" dirty="0"/>
              <a:t> </a:t>
            </a:r>
            <a:r>
              <a:rPr lang="en-US" dirty="0" err="1"/>
              <a:t>na</a:t>
            </a:r>
            <a:r>
              <a:rPr lang="en-US" dirty="0"/>
              <a:t> LSTM, a </a:t>
            </a:r>
            <a:r>
              <a:rPr lang="en-US" dirty="0" err="1"/>
              <a:t>informação</a:t>
            </a:r>
            <a:r>
              <a:rPr lang="en-US" dirty="0"/>
              <a:t> de </a:t>
            </a:r>
            <a:r>
              <a:rPr lang="en-US" dirty="0" err="1"/>
              <a:t>uma</a:t>
            </a:r>
            <a:r>
              <a:rPr lang="en-US" dirty="0"/>
              <a:t> </a:t>
            </a:r>
            <a:r>
              <a:rPr lang="en-US" dirty="0" err="1"/>
              <a:t>palavra</a:t>
            </a:r>
            <a:r>
              <a:rPr lang="en-US" dirty="0"/>
              <a:t> </a:t>
            </a:r>
            <a:r>
              <a:rPr lang="en-US" dirty="0" err="1"/>
              <a:t>distante</a:t>
            </a:r>
            <a:r>
              <a:rPr lang="en-US" dirty="0"/>
              <a:t> </a:t>
            </a:r>
            <a:r>
              <a:rPr lang="en-US" dirty="0" err="1"/>
              <a:t>atravessa</a:t>
            </a:r>
            <a:r>
              <a:rPr lang="en-US" dirty="0"/>
              <a:t> </a:t>
            </a:r>
            <a:r>
              <a:rPr lang="en-US" dirty="0" err="1"/>
              <a:t>todos</a:t>
            </a:r>
            <a:r>
              <a:rPr lang="en-US" dirty="0"/>
              <a:t> </a:t>
            </a:r>
            <a:r>
              <a:rPr lang="en-US" dirty="0" err="1"/>
              <a:t>os</a:t>
            </a:r>
            <a:r>
              <a:rPr lang="en-US" dirty="0"/>
              <a:t> </a:t>
            </a:r>
            <a:r>
              <a:rPr lang="en-US" dirty="0" err="1"/>
              <a:t>passos</a:t>
            </a:r>
            <a:r>
              <a:rPr lang="en-US" dirty="0"/>
              <a:t> </a:t>
            </a:r>
            <a:r>
              <a:rPr lang="en-US" dirty="0" err="1"/>
              <a:t>intermediários</a:t>
            </a:r>
            <a:r>
              <a:rPr lang="en-US" dirty="0"/>
              <a:t> e </a:t>
            </a:r>
            <a:r>
              <a:rPr lang="en-US" dirty="0" err="1"/>
              <a:t>vai</a:t>
            </a:r>
            <a:r>
              <a:rPr lang="en-US" dirty="0"/>
              <a:t> se </a:t>
            </a:r>
            <a:r>
              <a:rPr lang="en-US" dirty="0" err="1"/>
              <a:t>degradando</a:t>
            </a:r>
            <a:r>
              <a:rPr lang="en-US" dirty="0"/>
              <a:t>. Na </a:t>
            </a:r>
            <a:r>
              <a:rPr lang="en-US" dirty="0" err="1"/>
              <a:t>autoatenção</a:t>
            </a:r>
            <a:r>
              <a:rPr lang="en-US" dirty="0"/>
              <a:t>, </a:t>
            </a:r>
            <a:r>
              <a:rPr lang="en-US" dirty="0" err="1"/>
              <a:t>qualquer</a:t>
            </a:r>
            <a:r>
              <a:rPr lang="en-US" dirty="0"/>
              <a:t> </a:t>
            </a:r>
            <a:r>
              <a:rPr lang="en-US" dirty="0" err="1"/>
              <a:t>posição</a:t>
            </a:r>
            <a:r>
              <a:rPr lang="en-US" dirty="0"/>
              <a:t> </a:t>
            </a:r>
            <a:r>
              <a:rPr lang="en-US" dirty="0" err="1"/>
              <a:t>acessa</a:t>
            </a:r>
            <a:r>
              <a:rPr lang="en-US" dirty="0"/>
              <a:t> </a:t>
            </a:r>
            <a:r>
              <a:rPr lang="en-US" dirty="0" err="1"/>
              <a:t>qualquer</a:t>
            </a:r>
            <a:r>
              <a:rPr lang="en-US" dirty="0"/>
              <a:t> </a:t>
            </a:r>
            <a:r>
              <a:rPr lang="en-US" dirty="0" err="1"/>
              <a:t>outra</a:t>
            </a:r>
            <a:r>
              <a:rPr lang="en-US" dirty="0"/>
              <a:t> </a:t>
            </a:r>
            <a:r>
              <a:rPr lang="en-US" dirty="0" err="1"/>
              <a:t>diretamente</a:t>
            </a:r>
            <a:r>
              <a:rPr lang="en-US" dirty="0"/>
              <a:t>.</a:t>
            </a:r>
          </a:p>
          <a:p>
            <a:pPr lvl="0" rtl="0"/>
            <a:r>
              <a:rPr lang="en-US" b="1" dirty="0"/>
              <a:t>Escala e </a:t>
            </a:r>
            <a:r>
              <a:rPr lang="en-US" b="1" dirty="0" err="1"/>
              <a:t>pré-treinamento</a:t>
            </a:r>
            <a:r>
              <a:rPr lang="en-US" b="1" dirty="0"/>
              <a:t>:</a:t>
            </a:r>
            <a:r>
              <a:rPr lang="en-US" dirty="0"/>
              <a:t> o </a:t>
            </a:r>
            <a:r>
              <a:rPr lang="en-US" dirty="0" err="1"/>
              <a:t>treino</a:t>
            </a:r>
            <a:r>
              <a:rPr lang="en-US" dirty="0"/>
              <a:t> </a:t>
            </a:r>
            <a:r>
              <a:rPr lang="en-US" dirty="0" err="1"/>
              <a:t>paralelo</a:t>
            </a:r>
            <a:r>
              <a:rPr lang="en-US" dirty="0"/>
              <a:t> </a:t>
            </a:r>
            <a:r>
              <a:rPr lang="en-US" dirty="0" err="1"/>
              <a:t>permitiu</a:t>
            </a:r>
            <a:r>
              <a:rPr lang="en-US" dirty="0"/>
              <a:t> </a:t>
            </a:r>
            <a:r>
              <a:rPr lang="en-US" dirty="0" err="1"/>
              <a:t>aumentar</a:t>
            </a:r>
            <a:r>
              <a:rPr lang="en-US" dirty="0"/>
              <a:t> dados, </a:t>
            </a:r>
            <a:r>
              <a:rPr lang="en-US" dirty="0" err="1"/>
              <a:t>parâmetros</a:t>
            </a:r>
            <a:r>
              <a:rPr lang="en-US" dirty="0"/>
              <a:t> e </a:t>
            </a:r>
            <a:r>
              <a:rPr lang="en-US" dirty="0" err="1"/>
              <a:t>computação</a:t>
            </a:r>
            <a:r>
              <a:rPr lang="en-US" dirty="0"/>
              <a:t> com </a:t>
            </a:r>
            <a:r>
              <a:rPr lang="en-US" dirty="0" err="1"/>
              <a:t>ganhos</a:t>
            </a:r>
            <a:r>
              <a:rPr lang="en-US" dirty="0"/>
              <a:t> de </a:t>
            </a:r>
            <a:r>
              <a:rPr lang="en-US" dirty="0" err="1"/>
              <a:t>desempenho</a:t>
            </a:r>
            <a:r>
              <a:rPr lang="en-US" dirty="0"/>
              <a:t> </a:t>
            </a:r>
            <a:r>
              <a:rPr lang="en-US" dirty="0" err="1"/>
              <a:t>previsíveis</a:t>
            </a:r>
            <a:r>
              <a:rPr lang="en-US" dirty="0"/>
              <a:t>, </a:t>
            </a:r>
            <a:r>
              <a:rPr lang="en-US" dirty="0" err="1"/>
              <a:t>levando</a:t>
            </a:r>
            <a:r>
              <a:rPr lang="en-US" dirty="0"/>
              <a:t> a </a:t>
            </a:r>
            <a:r>
              <a:rPr lang="en-US" dirty="0" err="1"/>
              <a:t>modelos</a:t>
            </a:r>
            <a:r>
              <a:rPr lang="en-US" dirty="0"/>
              <a:t> </a:t>
            </a:r>
            <a:r>
              <a:rPr lang="en-US" dirty="0" err="1"/>
              <a:t>como</a:t>
            </a:r>
            <a:r>
              <a:rPr lang="en-US" dirty="0"/>
              <a:t> BERT e GPT. As LSTMs </a:t>
            </a:r>
            <a:r>
              <a:rPr lang="en-US" dirty="0" err="1"/>
              <a:t>não</a:t>
            </a:r>
            <a:r>
              <a:rPr lang="en-US" dirty="0"/>
              <a:t> </a:t>
            </a:r>
            <a:r>
              <a:rPr lang="en-US" dirty="0" err="1"/>
              <a:t>tiveram</a:t>
            </a:r>
            <a:r>
              <a:rPr lang="en-US" dirty="0"/>
              <a:t> o </a:t>
            </a:r>
            <a:r>
              <a:rPr lang="en-US" dirty="0" err="1"/>
              <a:t>mesmo</a:t>
            </a:r>
            <a:r>
              <a:rPr lang="en-US" dirty="0"/>
              <a:t> </a:t>
            </a:r>
            <a:r>
              <a:rPr lang="en-US" dirty="0" err="1"/>
              <a:t>ganho</a:t>
            </a:r>
            <a:r>
              <a:rPr lang="en-US" dirty="0"/>
              <a:t> </a:t>
            </a:r>
            <a:r>
              <a:rPr lang="en-US" dirty="0" err="1"/>
              <a:t>em</a:t>
            </a:r>
            <a:r>
              <a:rPr lang="en-US" dirty="0"/>
              <a:t> grande </a:t>
            </a:r>
            <a:r>
              <a:rPr lang="en-US" dirty="0" err="1"/>
              <a:t>escala</a:t>
            </a:r>
            <a:r>
              <a:rPr lang="en-US" dirty="0"/>
              <a:t>.</a:t>
            </a:r>
          </a:p>
          <a:p>
            <a:pPr lvl="0" rtl="0"/>
            <a:r>
              <a:rPr lang="en-US" b="1" dirty="0" err="1"/>
              <a:t>Resultados</a:t>
            </a:r>
            <a:r>
              <a:rPr lang="en-US" b="1" dirty="0"/>
              <a:t>:</a:t>
            </a:r>
            <a:r>
              <a:rPr lang="en-US" dirty="0"/>
              <a:t> </a:t>
            </a:r>
            <a:r>
              <a:rPr lang="en-US" dirty="0" err="1"/>
              <a:t>em</a:t>
            </a:r>
            <a:r>
              <a:rPr lang="en-US" dirty="0"/>
              <a:t> </a:t>
            </a:r>
            <a:r>
              <a:rPr lang="en-US" dirty="0" err="1"/>
              <a:t>tradução</a:t>
            </a:r>
            <a:r>
              <a:rPr lang="en-US" dirty="0"/>
              <a:t> e </a:t>
            </a:r>
            <a:r>
              <a:rPr lang="en-US" dirty="0" err="1"/>
              <a:t>depois</a:t>
            </a:r>
            <a:r>
              <a:rPr lang="en-US" dirty="0"/>
              <a:t> </a:t>
            </a:r>
            <a:r>
              <a:rPr lang="en-US" dirty="0" err="1"/>
              <a:t>em</a:t>
            </a:r>
            <a:r>
              <a:rPr lang="en-US" dirty="0"/>
              <a:t> </a:t>
            </a:r>
            <a:r>
              <a:rPr lang="en-US" dirty="0" err="1"/>
              <a:t>quase</a:t>
            </a:r>
            <a:r>
              <a:rPr lang="en-US" dirty="0"/>
              <a:t> </a:t>
            </a:r>
            <a:r>
              <a:rPr lang="en-US" dirty="0" err="1"/>
              <a:t>todas</a:t>
            </a:r>
            <a:r>
              <a:rPr lang="en-US" dirty="0"/>
              <a:t> as </a:t>
            </a:r>
            <a:r>
              <a:rPr lang="en-US" dirty="0" err="1"/>
              <a:t>tarefas</a:t>
            </a:r>
            <a:r>
              <a:rPr lang="en-US" dirty="0"/>
              <a:t> de PLN, </a:t>
            </a:r>
            <a:r>
              <a:rPr lang="en-US" dirty="0" err="1"/>
              <a:t>os</a:t>
            </a:r>
            <a:r>
              <a:rPr lang="en-US" dirty="0"/>
              <a:t> Transformers </a:t>
            </a:r>
            <a:r>
              <a:rPr lang="en-US" dirty="0" err="1"/>
              <a:t>passaram</a:t>
            </a:r>
            <a:r>
              <a:rPr lang="en-US" dirty="0"/>
              <a:t> a </a:t>
            </a:r>
            <a:r>
              <a:rPr lang="en-US" dirty="0" err="1"/>
              <a:t>superar</a:t>
            </a:r>
            <a:r>
              <a:rPr lang="en-US" dirty="0"/>
              <a:t> as LSTMs </a:t>
            </a:r>
            <a:r>
              <a:rPr lang="en-US" dirty="0" err="1"/>
              <a:t>nos</a:t>
            </a:r>
            <a:r>
              <a:rPr lang="en-US" dirty="0"/>
              <a:t> benchmarks.</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453198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a:t>
            </a:r>
            <a:r>
              <a:rPr lang="en-US" dirty="0" err="1"/>
              <a:t>expressão</a:t>
            </a:r>
            <a:r>
              <a:rPr lang="en-US" dirty="0"/>
              <a:t> </a:t>
            </a:r>
            <a:r>
              <a:rPr lang="en-US" b="1" dirty="0"/>
              <a:t>[hₜ₋₁, xₜ] </a:t>
            </a:r>
            <a:r>
              <a:rPr lang="en-US" dirty="0"/>
              <a:t>é a </a:t>
            </a:r>
            <a:r>
              <a:rPr lang="en-US" b="1" dirty="0" err="1"/>
              <a:t>concatenação</a:t>
            </a:r>
            <a:r>
              <a:rPr lang="en-US" b="1" dirty="0"/>
              <a:t> de </a:t>
            </a:r>
            <a:r>
              <a:rPr lang="en-US" b="1" dirty="0" err="1"/>
              <a:t>dois</a:t>
            </a:r>
            <a:r>
              <a:rPr lang="en-US" b="1" dirty="0"/>
              <a:t> </a:t>
            </a:r>
            <a:r>
              <a:rPr lang="en-US" b="1" dirty="0" err="1"/>
              <a:t>vetores</a:t>
            </a:r>
            <a:r>
              <a:rPr lang="en-US" dirty="0"/>
              <a:t>: o </a:t>
            </a:r>
            <a:r>
              <a:rPr lang="en-US" dirty="0" err="1"/>
              <a:t>vetor</a:t>
            </a:r>
            <a:r>
              <a:rPr lang="en-US" dirty="0"/>
              <a:t> hₜ₋₁ e o </a:t>
            </a:r>
            <a:r>
              <a:rPr lang="en-US" dirty="0" err="1"/>
              <a:t>vetor</a:t>
            </a:r>
            <a:r>
              <a:rPr lang="en-US" dirty="0"/>
              <a:t> xₜ, </a:t>
            </a:r>
            <a:r>
              <a:rPr lang="en-US" dirty="0" err="1"/>
              <a:t>colocados</a:t>
            </a:r>
            <a:r>
              <a:rPr lang="en-US" dirty="0"/>
              <a:t> um </a:t>
            </a:r>
            <a:r>
              <a:rPr lang="en-US" dirty="0" err="1"/>
              <a:t>depois</a:t>
            </a:r>
            <a:r>
              <a:rPr lang="en-US" dirty="0"/>
              <a:t> do outro para </a:t>
            </a:r>
            <a:r>
              <a:rPr lang="en-US" dirty="0" err="1"/>
              <a:t>formar</a:t>
            </a:r>
            <a:r>
              <a:rPr lang="en-US" dirty="0"/>
              <a:t> um </a:t>
            </a:r>
            <a:r>
              <a:rPr lang="en-US" dirty="0" err="1"/>
              <a:t>único</a:t>
            </a:r>
            <a:r>
              <a:rPr lang="en-US" dirty="0"/>
              <a:t> </a:t>
            </a:r>
            <a:r>
              <a:rPr lang="en-US" dirty="0" err="1"/>
              <a:t>vetor</a:t>
            </a:r>
            <a:r>
              <a:rPr lang="en-US" dirty="0"/>
              <a:t> </a:t>
            </a:r>
            <a:r>
              <a:rPr lang="en-US" dirty="0" err="1"/>
              <a:t>maior</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16385061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B2C5-831A-4EEE-14A7-07700C1A5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93A1EA-DADB-1082-E374-10B9A0DC344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472E1B-4021-33F4-4607-DE95D88620A1}"/>
              </a:ext>
            </a:extLst>
          </p:cNvPr>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a:extLst>
              <a:ext uri="{FF2B5EF4-FFF2-40B4-BE49-F238E27FC236}">
                <a16:creationId xmlns:a16="http://schemas.microsoft.com/office/drawing/2014/main" id="{C712A632-D02C-CEE0-8EA4-6F7882277982}"/>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78914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 portas são vetores: cada posição da memória tem a sua porta, então a célula esquece algumas posições e mantém outras ao mesmo tempo.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Memória candidata: é o que poderia ser guardado na memória de longo prazo da célula</a:t>
            </a:r>
            <a:endParaRPr lang="en-US"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F6BFCF8-5C7F-EDC5-7B8C-6F5469516D8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F91DB64-6563-C7F5-B8B4-E9E21B36C7A2}"/>
              </a:ext>
            </a:extLst>
          </p:cNvPr>
          <p:cNvSpPr>
            <a:spLocks noGrp="1"/>
          </p:cNvSpPr>
          <p:nvPr>
            <p:ph type="body" idx="1"/>
          </p:nvPr>
        </p:nvSpPr>
        <p:spPr/>
        <p:txBody>
          <a:bodyPr/>
          <a:lstStyle/>
          <a:p>
            <a:r>
              <a:rPr lang="pt-BR" dirty="0"/>
              <a:t>As portas são vetores: cada posição da memória tem a sua, então a célula esquece algumas posições e mantém outras ao mesmo tempo.</a:t>
            </a:r>
            <a:endParaRPr lang="en-US" dirty="0"/>
          </a:p>
        </p:txBody>
      </p:sp>
      <p:sp>
        <p:nvSpPr>
          <p:cNvPr id="4" name="Espaço Reservado para Número de Slide 3">
            <a:extLst>
              <a:ext uri="{FF2B5EF4-FFF2-40B4-BE49-F238E27FC236}">
                <a16:creationId xmlns:a16="http://schemas.microsoft.com/office/drawing/2014/main" id="{C5192F11-8162-11BC-1C3D-C6222C1CA42E}"/>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68401-ADA4-3C4F-1CA5-0B0EF583C34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33A7EE6-35DA-3513-AC98-9814A1EFC31D}"/>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14:m>
                  <m:oMath xmlns:m="http://schemas.openxmlformats.org/officeDocument/2006/math">
                    <m:sSub>
                      <m:sSubPr>
                        <m:ctrlPr>
                          <a:rPr lang="pt-BR" b="1" i="1">
                            <a:solidFill>
                              <a:srgbClr val="00B050"/>
                            </a:solidFill>
                            <a:latin typeface="Cambria Math" panose="02040503050406030204" pitchFamily="18" charset="0"/>
                          </a:rPr>
                        </m:ctrlPr>
                      </m:sSubPr>
                      <m:e>
                        <m:r>
                          <a:rPr lang="pt-BR" b="1" i="1">
                            <a:solidFill>
                              <a:srgbClr val="00B050"/>
                            </a:solidFill>
                            <a:latin typeface="Cambria Math" panose="02040503050406030204" pitchFamily="18" charset="0"/>
                          </a:rPr>
                          <m:t>𝒄</m:t>
                        </m:r>
                      </m:e>
                      <m:sub>
                        <m:r>
                          <a:rPr lang="pt-BR" i="1">
                            <a:solidFill>
                              <a:srgbClr val="00B050"/>
                            </a:solidFill>
                            <a:latin typeface="Cambria Math" panose="02040503050406030204" pitchFamily="18" charset="0"/>
                          </a:rPr>
                          <m:t>𝑡</m:t>
                        </m:r>
                      </m:sub>
                    </m:sSub>
                  </m:oMath>
                </a14:m>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Choice>
        <mc:Fallback xmlns="">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r>
                  <a:rPr lang="pt-BR" b="1" i="0">
                    <a:solidFill>
                      <a:srgbClr val="00B050"/>
                    </a:solidFill>
                    <a:latin typeface="Cambria Math" panose="02040503050406030204" pitchFamily="18" charset="0"/>
                  </a:rPr>
                  <a:t>𝒄_</a:t>
                </a:r>
                <a:r>
                  <a:rPr lang="pt-BR" i="0">
                    <a:solidFill>
                      <a:srgbClr val="00B050"/>
                    </a:solidFill>
                    <a:latin typeface="Cambria Math" panose="02040503050406030204" pitchFamily="18" charset="0"/>
                  </a:rPr>
                  <a:t>𝑡</a:t>
                </a:r>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Fallback>
      </mc:AlternateContent>
      <p:sp>
        <p:nvSpPr>
          <p:cNvPr id="4" name="Espaço Reservado para Número de Slide 3">
            <a:extLst>
              <a:ext uri="{FF2B5EF4-FFF2-40B4-BE49-F238E27FC236}">
                <a16:creationId xmlns:a16="http://schemas.microsoft.com/office/drawing/2014/main" id="{913DE283-E634-E815-9ACF-D12EAFFAD848}"/>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749852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função </a:t>
                </a:r>
                <a:r>
                  <a:rPr lang="pt-BR" i="1" dirty="0"/>
                  <a:t>tanh</a:t>
                </a:r>
                <a:r>
                  <a:rPr lang="pt-BR" dirty="0"/>
                  <a:t>, que comprime seus valores entre -1 e 1.</a:t>
                </a:r>
              </a:p>
              <a:p>
                <a:endParaRPr lang="pt-BR" dirty="0"/>
              </a:p>
              <a:p>
                <a:endParaRPr lang="pt-BR" dirty="0"/>
              </a:p>
              <a:p>
                <a:r>
                  <a:rPr lang="pt-BR" dirty="0"/>
                  <a:t>Referências</a:t>
                </a:r>
              </a:p>
              <a:p>
                <a:r>
                  <a:rPr lang="pt-BR" dirty="0"/>
                  <a:t>[1] https://www.cs.ubc.ca/labs/lci/mlrg/slides/rnn.pdf</a:t>
                </a:r>
                <a:endParaRPr lang="en-US" dirty="0"/>
              </a:p>
              <a:p>
                <a:endParaRPr lang="en-US" dirty="0"/>
              </a:p>
            </p:txBody>
          </p:sp>
        </mc:Choice>
        <mc:Fallback>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r>
                  <a:rPr lang="pt-BR" b="1" i="0">
                    <a:latin typeface="Cambria Math" panose="02040503050406030204" pitchFamily="18" charset="0"/>
                  </a:rPr>
                  <a:t>𝒄_</a:t>
                </a:r>
                <a:r>
                  <a:rPr lang="pt-BR" i="0">
                    <a:latin typeface="Cambria Math" panose="02040503050406030204" pitchFamily="18" charset="0"/>
                  </a:rPr>
                  <a:t>𝑡</a:t>
                </a:r>
                <a:r>
                  <a:rPr lang="pt-BR" dirty="0"/>
                  <a:t>, controlada por </a:t>
                </a:r>
                <a:r>
                  <a:rPr lang="pt-BR" b="1" i="0">
                    <a:latin typeface="Cambria Math" panose="02040503050406030204" pitchFamily="18" charset="0"/>
                  </a:rPr>
                  <a:t>𝒙_</a:t>
                </a:r>
                <a:r>
                  <a:rPr lang="pt-BR" i="0">
                    <a:latin typeface="Cambria Math" panose="02040503050406030204" pitchFamily="18" charset="0"/>
                  </a:rPr>
                  <a:t>𝑡</a:t>
                </a:r>
                <a:r>
                  <a:rPr lang="pt-BR" dirty="0"/>
                  <a:t> e </a:t>
                </a:r>
                <a:r>
                  <a:rPr lang="pt-BR" b="1" i="0">
                    <a:latin typeface="Cambria Math" panose="02040503050406030204" pitchFamily="18" charset="0"/>
                  </a:rPr>
                  <a:t>𝒉_(</a:t>
                </a:r>
                <a:r>
                  <a:rPr lang="pt-BR" i="0">
                    <a:latin typeface="Cambria Math" panose="02040503050406030204" pitchFamily="18" charset="0"/>
                  </a:rPr>
                  <a:t>𝑡−1</a:t>
                </a:r>
                <a:r>
                  <a:rPr lang="pt-BR" b="1" i="0">
                    <a:latin typeface="Cambria Math" panose="02040503050406030204" pitchFamily="18" charset="0"/>
                  </a:rPr>
                  <a:t>)</a:t>
                </a:r>
                <a:r>
                  <a:rPr lang="pt-BR" dirty="0"/>
                  <a:t>.</a:t>
                </a:r>
              </a:p>
              <a:p>
                <a:r>
                  <a:rPr lang="pt-BR" b="1" i="0">
                    <a:latin typeface="Cambria Math" panose="02040503050406030204" pitchFamily="18" charset="0"/>
                  </a:rPr>
                  <a:t>𝒄_</a:t>
                </a:r>
                <a:r>
                  <a:rPr lang="pt-BR" i="0">
                    <a:latin typeface="Cambria Math" panose="02040503050406030204" pitchFamily="18" charset="0"/>
                  </a:rPr>
                  <a:t>𝑡</a:t>
                </a:r>
                <a:r>
                  <a:rPr lang="pt-BR" dirty="0"/>
                  <a:t> é passado através de uma função </a:t>
                </a:r>
                <a:r>
                  <a:rPr lang="pt-BR" i="1" dirty="0"/>
                  <a:t>tanh</a:t>
                </a:r>
                <a:r>
                  <a:rPr lang="pt-BR" dirty="0"/>
                  <a:t>, que comprime seus valores entre -1 e 1.</a:t>
                </a:r>
              </a:p>
              <a:p>
                <a:endParaRPr lang="pt-BR" dirty="0"/>
              </a:p>
              <a:p>
                <a:endParaRPr lang="pt-BR" dirty="0"/>
              </a:p>
              <a:p>
                <a:r>
                  <a:rPr lang="pt-BR" dirty="0"/>
                  <a:t>Referências</a:t>
                </a:r>
              </a:p>
              <a:p>
                <a:r>
                  <a:rPr lang="pt-BR" dirty="0"/>
                  <a:t>[1] https://www.cs.ubc.ca/labs/lci/mlrg/slides/rnn.pdf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8B198-C479-EA3D-55BA-9D67166985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id="{77642C76-6177-C1C7-E8A0-9A1EAA8D06D5}"/>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 resumo, uma </a:t>
            </a:r>
            <a:r>
              <a:rPr lang="pt-BR" b="1" dirty="0">
                <a:solidFill>
                  <a:schemeClr val="accent1"/>
                </a:solidFill>
              </a:rPr>
              <a:t>célula</a:t>
            </a:r>
            <a:r>
              <a:rPr lang="pt-BR" dirty="0"/>
              <a:t> LSTM </a:t>
            </a:r>
            <a:r>
              <a:rPr lang="pt-BR" b="1" dirty="0">
                <a:solidFill>
                  <a:schemeClr val="accent1"/>
                </a:solidFill>
              </a:rPr>
              <a:t>aprende a reconhecer</a:t>
            </a:r>
            <a:r>
              <a:rPr lang="pt-BR" dirty="0"/>
              <a:t> uma </a:t>
            </a:r>
            <a:r>
              <a:rPr lang="pt-BR" b="1" dirty="0">
                <a:solidFill>
                  <a:srgbClr val="00B050"/>
                </a:solidFill>
              </a:rPr>
              <a:t>informação importante</a:t>
            </a:r>
            <a:r>
              <a:rPr lang="pt-BR" dirty="0"/>
              <a:t>, </a:t>
            </a:r>
            <a:r>
              <a:rPr lang="pt-BR" b="1" dirty="0">
                <a:solidFill>
                  <a:srgbClr val="00B050"/>
                </a:solidFill>
              </a:rPr>
              <a:t>armazená-la</a:t>
            </a:r>
            <a:r>
              <a:rPr lang="pt-BR" dirty="0"/>
              <a:t> no estado de longo prazo, </a:t>
            </a:r>
            <a:r>
              <a:rPr lang="pt-BR" b="1" dirty="0">
                <a:solidFill>
                  <a:srgbClr val="00B050"/>
                </a:solidFill>
              </a:rPr>
              <a:t>preservá-la</a:t>
            </a:r>
            <a:r>
              <a:rPr lang="pt-BR" dirty="0"/>
              <a:t> pelo tempo que for necessário e </a:t>
            </a:r>
            <a:r>
              <a:rPr lang="pt-BR" b="1" dirty="0">
                <a:solidFill>
                  <a:srgbClr val="00B050"/>
                </a:solidFill>
              </a:rPr>
              <a:t>expô-la</a:t>
            </a:r>
            <a:r>
              <a:rPr lang="pt-BR" dirty="0"/>
              <a:t> sempre que necessário.</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33897646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dirty="0">
                <a:solidFill>
                  <a:srgbClr val="222222"/>
                </a:solidFill>
              </a:rPr>
              <a:t>A LSTM </a:t>
            </a:r>
            <a:r>
              <a:rPr lang="en-US" sz="1200" dirty="0" err="1">
                <a:solidFill>
                  <a:srgbClr val="222222"/>
                </a:solidFill>
              </a:rPr>
              <a:t>ainda</a:t>
            </a:r>
            <a:r>
              <a:rPr lang="en-US" sz="1200" dirty="0">
                <a:solidFill>
                  <a:srgbClr val="222222"/>
                </a:solidFill>
              </a:rPr>
              <a:t> é boa </a:t>
            </a:r>
            <a:r>
              <a:rPr lang="en-US" sz="1200" dirty="0" err="1">
                <a:solidFill>
                  <a:srgbClr val="222222"/>
                </a:solidFill>
              </a:rPr>
              <a:t>escolha</a:t>
            </a:r>
            <a:r>
              <a:rPr lang="en-US" sz="1200" dirty="0">
                <a:solidFill>
                  <a:srgbClr val="222222"/>
                </a:solidFill>
              </a:rPr>
              <a:t> para </a:t>
            </a:r>
            <a:r>
              <a:rPr lang="en-US" sz="1200" dirty="0" err="1">
                <a:solidFill>
                  <a:srgbClr val="222222"/>
                </a:solidFill>
              </a:rPr>
              <a:t>séries</a:t>
            </a:r>
            <a:r>
              <a:rPr lang="en-US" sz="1200" dirty="0">
                <a:solidFill>
                  <a:srgbClr val="222222"/>
                </a:solidFill>
              </a:rPr>
              <a:t> </a:t>
            </a:r>
            <a:r>
              <a:rPr lang="en-US" sz="1200" dirty="0" err="1">
                <a:solidFill>
                  <a:srgbClr val="222222"/>
                </a:solidFill>
              </a:rPr>
              <a:t>temporais</a:t>
            </a:r>
            <a:r>
              <a:rPr lang="en-US" sz="1200" dirty="0">
                <a:solidFill>
                  <a:srgbClr val="222222"/>
                </a:solidFill>
              </a:rPr>
              <a:t> </a:t>
            </a:r>
            <a:r>
              <a:rPr lang="en-US" sz="1200" dirty="0" err="1">
                <a:solidFill>
                  <a:srgbClr val="222222"/>
                </a:solidFill>
              </a:rPr>
              <a:t>curtas</a:t>
            </a:r>
            <a:r>
              <a:rPr lang="en-US" sz="1200" dirty="0">
                <a:solidFill>
                  <a:srgbClr val="222222"/>
                </a:solidFill>
              </a:rPr>
              <a:t> </a:t>
            </a:r>
            <a:r>
              <a:rPr lang="en-US" sz="1200" dirty="0" err="1">
                <a:solidFill>
                  <a:srgbClr val="222222"/>
                </a:solidFill>
              </a:rPr>
              <a:t>ou</a:t>
            </a:r>
            <a:r>
              <a:rPr lang="en-US" sz="1200" dirty="0">
                <a:solidFill>
                  <a:srgbClr val="222222"/>
                </a:solidFill>
              </a:rPr>
              <a:t> </a:t>
            </a:r>
            <a:r>
              <a:rPr lang="en-US" sz="1200" dirty="0" err="1">
                <a:solidFill>
                  <a:srgbClr val="222222"/>
                </a:solidFill>
              </a:rPr>
              <a:t>médias</a:t>
            </a:r>
            <a:r>
              <a:rPr lang="en-US" sz="1200" dirty="0">
                <a:solidFill>
                  <a:srgbClr val="222222"/>
                </a:solidFill>
              </a:rPr>
              <a:t> e para </a:t>
            </a:r>
            <a:r>
              <a:rPr lang="en-US" sz="1200" dirty="0" err="1">
                <a:solidFill>
                  <a:srgbClr val="222222"/>
                </a:solidFill>
              </a:rPr>
              <a:t>dispositivos</a:t>
            </a:r>
            <a:r>
              <a:rPr lang="en-US" sz="1200" dirty="0">
                <a:solidFill>
                  <a:srgbClr val="222222"/>
                </a:solidFill>
              </a:rPr>
              <a:t> com </a:t>
            </a:r>
            <a:r>
              <a:rPr lang="en-US" sz="1200" dirty="0" err="1">
                <a:solidFill>
                  <a:srgbClr val="222222"/>
                </a:solidFill>
              </a:rPr>
              <a:t>pouca</a:t>
            </a:r>
            <a:r>
              <a:rPr lang="en-US" sz="1200" dirty="0">
                <a:solidFill>
                  <a:srgbClr val="222222"/>
                </a:solidFill>
              </a:rPr>
              <a:t> </a:t>
            </a:r>
            <a:r>
              <a:rPr lang="en-US" sz="1200" dirty="0" err="1">
                <a:solidFill>
                  <a:srgbClr val="222222"/>
                </a:solidFill>
              </a:rPr>
              <a:t>memória</a:t>
            </a:r>
            <a:r>
              <a:rPr lang="en-US" sz="1200" dirty="0">
                <a:solidFill>
                  <a:srgbClr val="222222"/>
                </a:solidFill>
              </a:rPr>
              <a:t>.</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7182279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rPr>
              <a:t>Mudanças</a:t>
            </a:r>
            <a:r>
              <a:rPr lang="en-US" sz="1200" dirty="0">
                <a:solidFill>
                  <a:srgbClr val="222222"/>
                </a:solidFill>
              </a:rPr>
              <a:t> </a:t>
            </a:r>
            <a:r>
              <a:rPr lang="en-US" sz="1200" dirty="0" err="1">
                <a:solidFill>
                  <a:srgbClr val="222222"/>
                </a:solidFill>
              </a:rPr>
              <a:t>em</a:t>
            </a:r>
            <a:r>
              <a:rPr lang="en-US" sz="1200" dirty="0">
                <a:solidFill>
                  <a:srgbClr val="222222"/>
                </a:solidFill>
              </a:rPr>
              <a:t> </a:t>
            </a:r>
            <a:r>
              <a:rPr lang="en-US" sz="1200" dirty="0" err="1">
                <a:solidFill>
                  <a:srgbClr val="222222"/>
                </a:solidFill>
              </a:rPr>
              <a:t>relação</a:t>
            </a:r>
            <a:r>
              <a:rPr lang="en-US" sz="1200" dirty="0">
                <a:solidFill>
                  <a:srgbClr val="222222"/>
                </a:solidFill>
              </a:rPr>
              <a:t> à LSTM: (1) </a:t>
            </a:r>
            <a:r>
              <a:rPr lang="en-US" sz="1200" dirty="0" err="1">
                <a:solidFill>
                  <a:srgbClr val="222222"/>
                </a:solidFill>
              </a:rPr>
              <a:t>funde</a:t>
            </a:r>
            <a:r>
              <a:rPr lang="en-US" sz="1200" dirty="0">
                <a:solidFill>
                  <a:srgbClr val="222222"/>
                </a:solidFill>
              </a:rPr>
              <a:t> cₜ e hₜ </a:t>
            </a:r>
            <a:r>
              <a:rPr lang="en-US" sz="1200" dirty="0" err="1">
                <a:solidFill>
                  <a:srgbClr val="222222"/>
                </a:solidFill>
              </a:rPr>
              <a:t>em</a:t>
            </a:r>
            <a:r>
              <a:rPr lang="en-US" sz="1200" dirty="0">
                <a:solidFill>
                  <a:srgbClr val="222222"/>
                </a:solidFill>
              </a:rPr>
              <a:t> um </a:t>
            </a:r>
            <a:r>
              <a:rPr lang="en-US" sz="1200" dirty="0" err="1">
                <a:solidFill>
                  <a:srgbClr val="222222"/>
                </a:solidFill>
              </a:rPr>
              <a:t>único</a:t>
            </a:r>
            <a:r>
              <a:rPr lang="en-US" sz="1200" dirty="0">
                <a:solidFill>
                  <a:srgbClr val="222222"/>
                </a:solidFill>
              </a:rPr>
              <a:t> </a:t>
            </a:r>
            <a:r>
              <a:rPr lang="en-US" sz="1200" dirty="0" err="1">
                <a:solidFill>
                  <a:srgbClr val="222222"/>
                </a:solidFill>
              </a:rPr>
              <a:t>estado</a:t>
            </a:r>
            <a:r>
              <a:rPr lang="en-US" sz="1200" dirty="0">
                <a:solidFill>
                  <a:srgbClr val="222222"/>
                </a:solidFill>
              </a:rPr>
              <a:t>; (2) </a:t>
            </a:r>
            <a:r>
              <a:rPr lang="en-US" sz="1200" dirty="0" err="1">
                <a:solidFill>
                  <a:srgbClr val="222222"/>
                </a:solidFill>
              </a:rPr>
              <a:t>funde</a:t>
            </a:r>
            <a:r>
              <a:rPr lang="en-US" sz="1200" dirty="0">
                <a:solidFill>
                  <a:srgbClr val="222222"/>
                </a:solidFill>
              </a:rPr>
              <a:t> as </a:t>
            </a:r>
            <a:r>
              <a:rPr lang="en-US" sz="1200" dirty="0" err="1">
                <a:solidFill>
                  <a:srgbClr val="222222"/>
                </a:solidFill>
              </a:rPr>
              <a:t>portas</a:t>
            </a:r>
            <a:r>
              <a:rPr lang="en-US" sz="1200" dirty="0">
                <a:solidFill>
                  <a:srgbClr val="222222"/>
                </a:solidFill>
              </a:rPr>
              <a:t> de </a:t>
            </a:r>
            <a:r>
              <a:rPr lang="en-US" sz="1200" dirty="0" err="1">
                <a:solidFill>
                  <a:srgbClr val="222222"/>
                </a:solidFill>
              </a:rPr>
              <a:t>esquecimento</a:t>
            </a:r>
            <a:r>
              <a:rPr lang="en-US" sz="1200" dirty="0">
                <a:solidFill>
                  <a:srgbClr val="222222"/>
                </a:solidFill>
              </a:rPr>
              <a:t> e de entrada </a:t>
            </a:r>
            <a:r>
              <a:rPr lang="en-US" sz="1200" dirty="0" err="1">
                <a:solidFill>
                  <a:srgbClr val="222222"/>
                </a:solidFill>
              </a:rPr>
              <a:t>em</a:t>
            </a:r>
            <a:r>
              <a:rPr lang="en-US" sz="1200" dirty="0">
                <a:solidFill>
                  <a:srgbClr val="222222"/>
                </a:solidFill>
              </a:rPr>
              <a:t> zₜ; (3) remove a porta de </a:t>
            </a:r>
            <a:r>
              <a:rPr lang="en-US" sz="1200" dirty="0" err="1">
                <a:solidFill>
                  <a:srgbClr val="222222"/>
                </a:solidFill>
              </a:rPr>
              <a:t>saída</a:t>
            </a:r>
            <a:r>
              <a:rPr lang="en-US" sz="1200" dirty="0">
                <a:solidFill>
                  <a:srgbClr val="222222"/>
                </a:solidFill>
              </a:rPr>
              <a:t>; (4) </a:t>
            </a:r>
            <a:r>
              <a:rPr lang="en-US" sz="1200" dirty="0" err="1">
                <a:solidFill>
                  <a:srgbClr val="222222"/>
                </a:solidFill>
              </a:rPr>
              <a:t>adiciona</a:t>
            </a:r>
            <a:r>
              <a:rPr lang="en-US" sz="1200" dirty="0">
                <a:solidFill>
                  <a:srgbClr val="222222"/>
                </a:solidFill>
              </a:rPr>
              <a:t> a porta de reset.</a:t>
            </a:r>
            <a:endParaRPr lang="en-US" sz="1200" dirty="0"/>
          </a:p>
          <a:p>
            <a:endParaRPr lang="pt-BR" dirty="0"/>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22222"/>
                </a:solidFill>
              </a:rPr>
              <a:t>Sem porta de </a:t>
            </a:r>
            <a:r>
              <a:rPr lang="en-US" sz="1200" dirty="0" err="1">
                <a:solidFill>
                  <a:srgbClr val="222222"/>
                </a:solidFill>
              </a:rPr>
              <a:t>saída</a:t>
            </a:r>
            <a:r>
              <a:rPr lang="en-US" sz="1200" dirty="0">
                <a:solidFill>
                  <a:srgbClr val="222222"/>
                </a:solidFill>
              </a:rPr>
              <a:t>, o </a:t>
            </a:r>
            <a:r>
              <a:rPr lang="en-US" sz="1200" dirty="0" err="1">
                <a:solidFill>
                  <a:srgbClr val="222222"/>
                </a:solidFill>
              </a:rPr>
              <a:t>estado</a:t>
            </a:r>
            <a:r>
              <a:rPr lang="en-US" sz="1200" dirty="0">
                <a:solidFill>
                  <a:srgbClr val="222222"/>
                </a:solidFill>
              </a:rPr>
              <a:t> hₜ </a:t>
            </a:r>
            <a:r>
              <a:rPr lang="en-US" sz="1200" dirty="0" err="1">
                <a:solidFill>
                  <a:srgbClr val="222222"/>
                </a:solidFill>
              </a:rPr>
              <a:t>inteiro</a:t>
            </a:r>
            <a:r>
              <a:rPr lang="en-US" sz="1200" dirty="0">
                <a:solidFill>
                  <a:srgbClr val="222222"/>
                </a:solidFill>
              </a:rPr>
              <a:t> é </a:t>
            </a:r>
            <a:r>
              <a:rPr lang="en-US" sz="1200" dirty="0" err="1">
                <a:solidFill>
                  <a:srgbClr val="222222"/>
                </a:solidFill>
              </a:rPr>
              <a:t>exposto</a:t>
            </a:r>
            <a:r>
              <a:rPr lang="en-US" sz="1200" dirty="0">
                <a:solidFill>
                  <a:srgbClr val="222222"/>
                </a:solidFill>
              </a:rPr>
              <a:t>: </a:t>
            </a:r>
            <a:r>
              <a:rPr lang="en-US" sz="1200" dirty="0" err="1">
                <a:solidFill>
                  <a:srgbClr val="222222"/>
                </a:solidFill>
              </a:rPr>
              <a:t>simplifica</a:t>
            </a:r>
            <a:r>
              <a:rPr lang="en-US" sz="1200" dirty="0">
                <a:solidFill>
                  <a:srgbClr val="222222"/>
                </a:solidFill>
              </a:rPr>
              <a:t> o </a:t>
            </a:r>
            <a:r>
              <a:rPr lang="en-US" sz="1200" dirty="0" err="1">
                <a:solidFill>
                  <a:srgbClr val="222222"/>
                </a:solidFill>
              </a:rPr>
              <a:t>modelo</a:t>
            </a:r>
            <a:r>
              <a:rPr lang="en-US" sz="1200" dirty="0">
                <a:solidFill>
                  <a:srgbClr val="222222"/>
                </a:solidFill>
              </a:rPr>
              <a:t>, mas </a:t>
            </a:r>
            <a:r>
              <a:rPr lang="en-US" sz="1200" dirty="0" err="1">
                <a:solidFill>
                  <a:srgbClr val="222222"/>
                </a:solidFill>
              </a:rPr>
              <a:t>elimina</a:t>
            </a:r>
            <a:r>
              <a:rPr lang="en-US" sz="1200" dirty="0">
                <a:solidFill>
                  <a:srgbClr val="222222"/>
                </a:solidFill>
              </a:rPr>
              <a:t> a </a:t>
            </a:r>
            <a:r>
              <a:rPr lang="en-US" sz="1200" dirty="0" err="1">
                <a:solidFill>
                  <a:srgbClr val="222222"/>
                </a:solidFill>
              </a:rPr>
              <a:t>possibilidade</a:t>
            </a:r>
            <a:r>
              <a:rPr lang="en-US" sz="1200" dirty="0">
                <a:solidFill>
                  <a:srgbClr val="222222"/>
                </a:solidFill>
              </a:rPr>
              <a:t> de </a:t>
            </a:r>
            <a:r>
              <a:rPr lang="en-US" sz="1200" dirty="0" err="1">
                <a:solidFill>
                  <a:srgbClr val="222222"/>
                </a:solidFill>
              </a:rPr>
              <a:t>guardar</a:t>
            </a:r>
            <a:r>
              <a:rPr lang="en-US" sz="1200" dirty="0">
                <a:solidFill>
                  <a:srgbClr val="222222"/>
                </a:solidFill>
              </a:rPr>
              <a:t> algo </a:t>
            </a:r>
            <a:r>
              <a:rPr lang="en-US" sz="1200" dirty="0" err="1">
                <a:solidFill>
                  <a:srgbClr val="222222"/>
                </a:solidFill>
              </a:rPr>
              <a:t>sem</a:t>
            </a:r>
            <a:r>
              <a:rPr lang="en-US" sz="1200" dirty="0">
                <a:solidFill>
                  <a:srgbClr val="222222"/>
                </a:solidFill>
              </a:rPr>
              <a:t> </a:t>
            </a:r>
            <a:r>
              <a:rPr lang="en-US" sz="1200" dirty="0" err="1">
                <a:solidFill>
                  <a:srgbClr val="222222"/>
                </a:solidFill>
              </a:rPr>
              <a:t>mostrar</a:t>
            </a:r>
            <a:r>
              <a:rPr lang="en-US" sz="1200" dirty="0">
                <a:solidFill>
                  <a:srgbClr val="222222"/>
                </a:solidFill>
              </a:rPr>
              <a:t>.</a:t>
            </a:r>
            <a:endParaRPr lang="pt-BR" dirty="0"/>
          </a:p>
          <a:p>
            <a:endParaRPr lang="pt-BR" dirty="0"/>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8444228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EE1F0-BD5F-58F6-0B98-195856CB7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113980-A624-5C36-D922-705246EF1B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86E628-AC10-6257-A910-0D89137381A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B085326A-22FD-BA6A-1FFA-405FF4255A59}"/>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2034806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5E186-D248-19A0-1A87-124CEB362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332F1D-95DB-1978-1776-79612995923F}"/>
              </a:ext>
            </a:extLst>
          </p:cNvPr>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7CA96C98-EE2F-5535-DB30-B8C3930A30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Ou seja, sempre que uma </a:t>
                </a:r>
                <a:r>
                  <a:rPr lang="pt-BR" b="1" dirty="0">
                    <a:solidFill>
                      <a:srgbClr val="00B050"/>
                    </a:solidFill>
                  </a:rPr>
                  <a:t>informação precisa ser </a:t>
                </a:r>
                <a:r>
                  <a:rPr lang="pt-BR" b="1" dirty="0">
                    <a:solidFill>
                      <a:srgbClr val="7030A0"/>
                    </a:solidFill>
                  </a:rPr>
                  <a:t>guardada</a:t>
                </a:r>
                <a:r>
                  <a:rPr lang="pt-BR" dirty="0"/>
                  <a:t>, o </a:t>
                </a:r>
                <a:r>
                  <a:rPr lang="pt-BR" b="1" dirty="0">
                    <a:solidFill>
                      <a:srgbClr val="00B0F0"/>
                    </a:solidFill>
                  </a:rPr>
                  <a:t>elemento</a:t>
                </a:r>
                <a:r>
                  <a:rPr lang="pt-BR"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b="1" dirty="0">
                    <a:solidFill>
                      <a:srgbClr val="00B050"/>
                    </a:solidFill>
                  </a:rPr>
                  <a:t> onde ela será armazenada é apagado primeiro</a:t>
                </a:r>
                <a:r>
                  <a:rPr lang="pt-BR" dirty="0"/>
                  <a:t>.</a:t>
                </a:r>
              </a:p>
              <a:p>
                <a:endParaRPr lang="pt-BR" dirty="0"/>
              </a:p>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mc:Choice>
        <mc:Fallback>
          <p:sp>
            <p:nvSpPr>
              <p:cNvPr id="3" name="Notes Placeholder 2">
                <a:extLst>
                  <a:ext uri="{FF2B5EF4-FFF2-40B4-BE49-F238E27FC236}">
                    <a16:creationId xmlns:a16="http://schemas.microsoft.com/office/drawing/2014/main" id="{7CA96C98-EE2F-5535-DB30-B8C3930A30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Ou seja, sempre que uma </a:t>
                </a:r>
                <a:r>
                  <a:rPr lang="pt-BR" b="1" dirty="0">
                    <a:solidFill>
                      <a:srgbClr val="00B050"/>
                    </a:solidFill>
                  </a:rPr>
                  <a:t>informação precisa ser </a:t>
                </a:r>
                <a:r>
                  <a:rPr lang="pt-BR" b="1" dirty="0">
                    <a:solidFill>
                      <a:srgbClr val="7030A0"/>
                    </a:solidFill>
                  </a:rPr>
                  <a:t>guardada</a:t>
                </a:r>
                <a:r>
                  <a:rPr lang="pt-BR" dirty="0"/>
                  <a:t>, o </a:t>
                </a:r>
                <a:r>
                  <a:rPr lang="pt-BR" b="1" dirty="0">
                    <a:solidFill>
                      <a:srgbClr val="00B0F0"/>
                    </a:solidFill>
                  </a:rPr>
                  <a:t>elemento</a:t>
                </a:r>
                <a:r>
                  <a:rPr lang="pt-BR" dirty="0"/>
                  <a:t> de </a:t>
                </a:r>
                <a:r>
                  <a:rPr lang="pt-BR" b="1" i="0">
                    <a:latin typeface="Cambria Math" panose="02040503050406030204" pitchFamily="18" charset="0"/>
                  </a:rPr>
                  <a:t>𝒉_(</a:t>
                </a:r>
                <a:r>
                  <a:rPr lang="pt-BR" i="0">
                    <a:latin typeface="Cambria Math" panose="02040503050406030204" pitchFamily="18" charset="0"/>
                  </a:rPr>
                  <a:t>𝑡−1</a:t>
                </a:r>
                <a:r>
                  <a:rPr lang="pt-BR" b="1" i="0">
                    <a:latin typeface="Cambria Math" panose="02040503050406030204" pitchFamily="18" charset="0"/>
                  </a:rPr>
                  <a:t>)</a:t>
                </a:r>
                <a:r>
                  <a:rPr lang="pt-BR" b="1" dirty="0">
                    <a:solidFill>
                      <a:srgbClr val="00B050"/>
                    </a:solidFill>
                  </a:rPr>
                  <a:t> onde ela será armazenada é apagado primeiro</a:t>
                </a:r>
                <a:r>
                  <a:rPr lang="pt-BR" dirty="0"/>
                  <a:t>.</a:t>
                </a:r>
              </a:p>
              <a:p>
                <a:endParaRPr lang="pt-BR" dirty="0"/>
              </a:p>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id="{7E50A54A-8706-9B45-68F9-9EBF984A5E27}"/>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5285253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9CFB-F71C-A643-C93A-91BD8743BD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118884-A733-51F0-166E-874ACE5F91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7B9E6BA-0364-919A-82CD-6548B62A011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E8E865C5-84FC-7423-84BF-215C0499C1EF}"/>
              </a:ext>
            </a:extLst>
          </p:cNvPr>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241443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rgbClr val="222222"/>
                </a:solidFill>
              </a:rPr>
              <a:t>passos</a:t>
            </a:r>
            <a:r>
              <a:rPr lang="en-US" dirty="0">
                <a:solidFill>
                  <a:srgbClr val="222222"/>
                </a:solidFill>
              </a:rPr>
              <a:t> </a:t>
            </a:r>
            <a:r>
              <a:rPr lang="en-US" dirty="0" err="1">
                <a:solidFill>
                  <a:srgbClr val="222222"/>
                </a:solidFill>
              </a:rPr>
              <a:t>distantes</a:t>
            </a:r>
            <a:r>
              <a:rPr lang="en-US" dirty="0">
                <a:solidFill>
                  <a:srgbClr val="222222"/>
                </a:solidFill>
              </a:rPr>
              <a:t> </a:t>
            </a:r>
            <a:r>
              <a:rPr lang="en-US" dirty="0" err="1">
                <a:solidFill>
                  <a:srgbClr val="222222"/>
                </a:solidFill>
              </a:rPr>
              <a:t>contribuem</a:t>
            </a:r>
            <a:r>
              <a:rPr lang="en-US" dirty="0">
                <a:solidFill>
                  <a:srgbClr val="222222"/>
                </a:solidFill>
              </a:rPr>
              <a:t> </a:t>
            </a:r>
            <a:r>
              <a:rPr lang="en-US" dirty="0" err="1">
                <a:solidFill>
                  <a:srgbClr val="222222"/>
                </a:solidFill>
              </a:rPr>
              <a:t>quase</a:t>
            </a:r>
            <a:r>
              <a:rPr lang="en-US" dirty="0">
                <a:solidFill>
                  <a:srgbClr val="222222"/>
                </a:solidFill>
              </a:rPr>
              <a:t> nada, e a rede </a:t>
            </a:r>
            <a:r>
              <a:rPr lang="en-US" dirty="0" err="1">
                <a:solidFill>
                  <a:srgbClr val="222222"/>
                </a:solidFill>
              </a:rPr>
              <a:t>não</a:t>
            </a:r>
            <a:r>
              <a:rPr lang="en-US" dirty="0">
                <a:solidFill>
                  <a:srgbClr val="222222"/>
                </a:solidFill>
              </a:rPr>
              <a:t> </a:t>
            </a:r>
            <a:r>
              <a:rPr lang="en-US" dirty="0" err="1">
                <a:solidFill>
                  <a:srgbClr val="222222"/>
                </a:solidFill>
              </a:rPr>
              <a:t>aprende</a:t>
            </a:r>
            <a:r>
              <a:rPr lang="en-US" dirty="0">
                <a:solidFill>
                  <a:srgbClr val="222222"/>
                </a:solidFill>
              </a:rPr>
              <a:t> </a:t>
            </a:r>
            <a:r>
              <a:rPr lang="en-US" dirty="0" err="1">
                <a:solidFill>
                  <a:srgbClr val="222222"/>
                </a:solidFill>
              </a:rPr>
              <a:t>dependências</a:t>
            </a:r>
            <a:r>
              <a:rPr lang="en-US" dirty="0">
                <a:solidFill>
                  <a:srgbClr val="222222"/>
                </a:solidFill>
              </a:rPr>
              <a:t> de </a:t>
            </a:r>
            <a:r>
              <a:rPr lang="en-US" dirty="0" err="1">
                <a:solidFill>
                  <a:srgbClr val="222222"/>
                </a:solidFill>
              </a:rPr>
              <a:t>longo</a:t>
            </a:r>
            <a:r>
              <a:rPr lang="en-US" dirty="0">
                <a:solidFill>
                  <a:srgbClr val="222222"/>
                </a:solidFill>
              </a:rPr>
              <a:t> </a:t>
            </a:r>
            <a:r>
              <a:rPr lang="en-US" dirty="0" err="1">
                <a:solidFill>
                  <a:srgbClr val="222222"/>
                </a:solidFill>
              </a:rPr>
              <a:t>prazo</a:t>
            </a:r>
            <a:r>
              <a:rPr lang="en-US" dirty="0">
                <a:solidFill>
                  <a:srgbClr val="222222"/>
                </a:solidFill>
              </a:rPr>
              <a:t>.</a:t>
            </a:r>
            <a:endParaRPr lang="pt-BR" noProof="0"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24831131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72</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p>
          <a:p>
            <a:endParaRPr lang="pt-BR" dirty="0"/>
          </a:p>
          <a:p>
            <a:pPr rtl="0"/>
            <a:r>
              <a:rPr lang="en-US" dirty="0"/>
              <a:t>O </a:t>
            </a:r>
            <a:r>
              <a:rPr lang="en-US" dirty="0" err="1"/>
              <a:t>gargalo</a:t>
            </a:r>
            <a:r>
              <a:rPr lang="en-US" dirty="0"/>
              <a:t> </a:t>
            </a:r>
            <a:r>
              <a:rPr lang="en-US" dirty="0" err="1"/>
              <a:t>está</a:t>
            </a:r>
            <a:r>
              <a:rPr lang="en-US" dirty="0"/>
              <a:t> no </a:t>
            </a:r>
            <a:r>
              <a:rPr lang="en-US" dirty="0" err="1"/>
              <a:t>jeito</a:t>
            </a:r>
            <a:r>
              <a:rPr lang="en-US" dirty="0"/>
              <a:t> </a:t>
            </a:r>
            <a:r>
              <a:rPr lang="en-US" dirty="0" err="1"/>
              <a:t>como</a:t>
            </a:r>
            <a:r>
              <a:rPr lang="en-US" dirty="0"/>
              <a:t> o encoder </a:t>
            </a:r>
            <a:r>
              <a:rPr lang="en-US" dirty="0" err="1"/>
              <a:t>repassa</a:t>
            </a:r>
            <a:r>
              <a:rPr lang="en-US" dirty="0"/>
              <a:t> a entrada </a:t>
            </a:r>
            <a:r>
              <a:rPr lang="en-US" dirty="0" err="1"/>
              <a:t>ao</a:t>
            </a:r>
            <a:r>
              <a:rPr lang="en-US" dirty="0"/>
              <a:t> decoder. No </a:t>
            </a:r>
            <a:r>
              <a:rPr lang="en-US" dirty="0" err="1"/>
              <a:t>modelo</a:t>
            </a:r>
            <a:r>
              <a:rPr lang="en-US" dirty="0"/>
              <a:t> encoder/decoder </a:t>
            </a:r>
            <a:r>
              <a:rPr lang="en-US" dirty="0" err="1"/>
              <a:t>clássico</a:t>
            </a:r>
            <a:r>
              <a:rPr lang="en-US" dirty="0"/>
              <a:t> (seq2seq), o encoder </a:t>
            </a:r>
            <a:r>
              <a:rPr lang="en-US" dirty="0" err="1"/>
              <a:t>lê</a:t>
            </a:r>
            <a:r>
              <a:rPr lang="en-US" dirty="0"/>
              <a:t> a </a:t>
            </a:r>
            <a:r>
              <a:rPr lang="en-US" dirty="0" err="1"/>
              <a:t>frase</a:t>
            </a:r>
            <a:r>
              <a:rPr lang="en-US" dirty="0"/>
              <a:t> </a:t>
            </a:r>
            <a:r>
              <a:rPr lang="en-US" dirty="0" err="1"/>
              <a:t>inteira</a:t>
            </a:r>
            <a:r>
              <a:rPr lang="en-US" dirty="0"/>
              <a:t> e o decoder </a:t>
            </a:r>
            <a:r>
              <a:rPr lang="en-US" dirty="0" err="1"/>
              <a:t>recebe</a:t>
            </a:r>
            <a:r>
              <a:rPr lang="en-US" dirty="0"/>
              <a:t> </a:t>
            </a:r>
            <a:r>
              <a:rPr lang="en-US" dirty="0" err="1"/>
              <a:t>só</a:t>
            </a:r>
            <a:r>
              <a:rPr lang="en-US" dirty="0"/>
              <a:t> o </a:t>
            </a:r>
            <a:r>
              <a:rPr lang="en-US" b="1" dirty="0" err="1"/>
              <a:t>último</a:t>
            </a:r>
            <a:r>
              <a:rPr lang="en-US" b="1" dirty="0"/>
              <a:t> </a:t>
            </a:r>
            <a:r>
              <a:rPr lang="en-US" b="1" dirty="0" err="1"/>
              <a:t>estado</a:t>
            </a:r>
            <a:r>
              <a:rPr lang="en-US" b="1" dirty="0"/>
              <a:t> </a:t>
            </a:r>
            <a:r>
              <a:rPr lang="en-US" b="1" dirty="0" err="1"/>
              <a:t>oculto</a:t>
            </a:r>
            <a:r>
              <a:rPr lang="en-US" dirty="0"/>
              <a:t> do encoder, um </a:t>
            </a:r>
            <a:r>
              <a:rPr lang="en-US" dirty="0" err="1"/>
              <a:t>único</a:t>
            </a:r>
            <a:r>
              <a:rPr lang="en-US" dirty="0"/>
              <a:t> </a:t>
            </a:r>
            <a:r>
              <a:rPr lang="en-US" dirty="0" err="1"/>
              <a:t>vetor</a:t>
            </a:r>
            <a:r>
              <a:rPr lang="en-US" dirty="0"/>
              <a:t> de </a:t>
            </a:r>
            <a:r>
              <a:rPr lang="en-US" dirty="0" err="1"/>
              <a:t>tamanho</a:t>
            </a:r>
            <a:r>
              <a:rPr lang="en-US" dirty="0"/>
              <a:t> </a:t>
            </a:r>
            <a:r>
              <a:rPr lang="en-US" dirty="0" err="1"/>
              <a:t>fixo</a:t>
            </a:r>
            <a:r>
              <a:rPr lang="en-US" dirty="0"/>
              <a:t>, </a:t>
            </a:r>
            <a:r>
              <a:rPr lang="en-US" dirty="0" err="1"/>
              <a:t>por</a:t>
            </a:r>
            <a:r>
              <a:rPr lang="en-US" dirty="0"/>
              <a:t> </a:t>
            </a:r>
            <a:r>
              <a:rPr lang="en-US" dirty="0" err="1"/>
              <a:t>exemplo</a:t>
            </a:r>
            <a:r>
              <a:rPr lang="en-US" dirty="0"/>
              <a:t> 512 </a:t>
            </a:r>
            <a:r>
              <a:rPr lang="en-US" dirty="0" err="1"/>
              <a:t>números</a:t>
            </a:r>
            <a:r>
              <a:rPr lang="en-US" dirty="0"/>
              <a:t>. Esse </a:t>
            </a:r>
            <a:r>
              <a:rPr lang="en-US" dirty="0" err="1"/>
              <a:t>vetor</a:t>
            </a:r>
            <a:r>
              <a:rPr lang="en-US" dirty="0"/>
              <a:t> é o “</a:t>
            </a:r>
            <a:r>
              <a:rPr lang="en-US" dirty="0" err="1"/>
              <a:t>vetor</a:t>
            </a:r>
            <a:r>
              <a:rPr lang="en-US" dirty="0"/>
              <a:t> de </a:t>
            </a:r>
            <a:r>
              <a:rPr lang="en-US" dirty="0" err="1"/>
              <a:t>contexto</a:t>
            </a:r>
            <a:r>
              <a:rPr lang="en-US" dirty="0"/>
              <a:t>” do slide 34. Todo o </a:t>
            </a:r>
            <a:r>
              <a:rPr lang="en-US" dirty="0" err="1"/>
              <a:t>significado</a:t>
            </a:r>
            <a:r>
              <a:rPr lang="en-US" dirty="0"/>
              <a:t> da entrada </a:t>
            </a:r>
            <a:r>
              <a:rPr lang="en-US" dirty="0" err="1"/>
              <a:t>tem</a:t>
            </a:r>
            <a:r>
              <a:rPr lang="en-US" dirty="0"/>
              <a:t> de caber </a:t>
            </a:r>
            <a:r>
              <a:rPr lang="en-US" dirty="0" err="1"/>
              <a:t>nele</a:t>
            </a:r>
            <a:r>
              <a:rPr lang="en-US" dirty="0"/>
              <a:t>, </a:t>
            </a:r>
            <a:r>
              <a:rPr lang="en-US" dirty="0" err="1"/>
              <a:t>seja</a:t>
            </a:r>
            <a:r>
              <a:rPr lang="en-US" dirty="0"/>
              <a:t> </a:t>
            </a:r>
            <a:r>
              <a:rPr lang="en-US" dirty="0" err="1"/>
              <a:t>uma</a:t>
            </a:r>
            <a:r>
              <a:rPr lang="en-US" dirty="0"/>
              <a:t> </a:t>
            </a:r>
            <a:r>
              <a:rPr lang="en-US" dirty="0" err="1"/>
              <a:t>frase</a:t>
            </a:r>
            <a:r>
              <a:rPr lang="en-US" dirty="0"/>
              <a:t> de 5 </a:t>
            </a:r>
            <a:r>
              <a:rPr lang="en-US" dirty="0" err="1"/>
              <a:t>palavras</a:t>
            </a:r>
            <a:r>
              <a:rPr lang="en-US" dirty="0"/>
              <a:t> </a:t>
            </a:r>
            <a:r>
              <a:rPr lang="en-US" dirty="0" err="1"/>
              <a:t>ou</a:t>
            </a:r>
            <a:r>
              <a:rPr lang="en-US" dirty="0"/>
              <a:t> um </a:t>
            </a:r>
            <a:r>
              <a:rPr lang="en-US" dirty="0" err="1"/>
              <a:t>parágrafo</a:t>
            </a:r>
            <a:r>
              <a:rPr lang="en-US" dirty="0"/>
              <a:t> de 80.</a:t>
            </a:r>
          </a:p>
          <a:p>
            <a:pPr rtl="0"/>
            <a:r>
              <a:rPr lang="en-US" dirty="0" err="1"/>
              <a:t>Isso</a:t>
            </a:r>
            <a:r>
              <a:rPr lang="en-US" dirty="0"/>
              <a:t> causa </a:t>
            </a:r>
            <a:r>
              <a:rPr lang="en-US" dirty="0" err="1"/>
              <a:t>três</a:t>
            </a:r>
            <a:r>
              <a:rPr lang="en-US" dirty="0"/>
              <a:t> </a:t>
            </a:r>
            <a:r>
              <a:rPr lang="en-US" dirty="0" err="1"/>
              <a:t>problemas</a:t>
            </a:r>
            <a:r>
              <a:rPr lang="en-US" dirty="0"/>
              <a:t>:</a:t>
            </a:r>
          </a:p>
          <a:p>
            <a:pPr lvl="0" rtl="0"/>
            <a:r>
              <a:rPr lang="en-US" b="1" dirty="0" err="1"/>
              <a:t>Compressão</a:t>
            </a:r>
            <a:r>
              <a:rPr lang="en-US" b="1" dirty="0"/>
              <a:t> com </a:t>
            </a:r>
            <a:r>
              <a:rPr lang="en-US" b="1" dirty="0" err="1"/>
              <a:t>perda</a:t>
            </a:r>
            <a:r>
              <a:rPr lang="en-US" b="1" dirty="0"/>
              <a:t>:</a:t>
            </a:r>
            <a:r>
              <a:rPr lang="en-US" dirty="0"/>
              <a:t> o </a:t>
            </a:r>
            <a:r>
              <a:rPr lang="en-US" dirty="0" err="1"/>
              <a:t>tamanho</a:t>
            </a:r>
            <a:r>
              <a:rPr lang="en-US" dirty="0"/>
              <a:t> do </a:t>
            </a:r>
            <a:r>
              <a:rPr lang="en-US" dirty="0" err="1"/>
              <a:t>vetor</a:t>
            </a:r>
            <a:r>
              <a:rPr lang="en-US" dirty="0"/>
              <a:t> </a:t>
            </a:r>
            <a:r>
              <a:rPr lang="en-US" dirty="0" err="1"/>
              <a:t>não</a:t>
            </a:r>
            <a:r>
              <a:rPr lang="en-US" dirty="0"/>
              <a:t> </a:t>
            </a:r>
            <a:r>
              <a:rPr lang="en-US" dirty="0" err="1"/>
              <a:t>cresce</a:t>
            </a:r>
            <a:r>
              <a:rPr lang="en-US" dirty="0"/>
              <a:t> com a entrada. Quanto </a:t>
            </a:r>
            <a:r>
              <a:rPr lang="en-US" dirty="0" err="1"/>
              <a:t>mais</a:t>
            </a:r>
            <a:r>
              <a:rPr lang="en-US" dirty="0"/>
              <a:t> longa a </a:t>
            </a:r>
            <a:r>
              <a:rPr lang="en-US" dirty="0" err="1"/>
              <a:t>frase</a:t>
            </a:r>
            <a:r>
              <a:rPr lang="en-US" dirty="0"/>
              <a:t>, </a:t>
            </a:r>
            <a:r>
              <a:rPr lang="en-US" dirty="0" err="1"/>
              <a:t>mais</a:t>
            </a:r>
            <a:r>
              <a:rPr lang="en-US" dirty="0"/>
              <a:t> </a:t>
            </a:r>
            <a:r>
              <a:rPr lang="en-US" dirty="0" err="1"/>
              <a:t>informação</a:t>
            </a:r>
            <a:r>
              <a:rPr lang="en-US" dirty="0"/>
              <a:t> se </a:t>
            </a:r>
            <a:r>
              <a:rPr lang="en-US" dirty="0" err="1"/>
              <a:t>perde</a:t>
            </a:r>
            <a:r>
              <a:rPr lang="en-US" dirty="0"/>
              <a:t>, e </a:t>
            </a:r>
            <a:r>
              <a:rPr lang="en-US" dirty="0" err="1"/>
              <a:t>detalhes</a:t>
            </a:r>
            <a:r>
              <a:rPr lang="en-US" dirty="0"/>
              <a:t> do </a:t>
            </a:r>
            <a:r>
              <a:rPr lang="en-US" dirty="0" err="1"/>
              <a:t>começo</a:t>
            </a:r>
            <a:r>
              <a:rPr lang="en-US" dirty="0"/>
              <a:t> </a:t>
            </a:r>
            <a:r>
              <a:rPr lang="en-US" dirty="0" err="1"/>
              <a:t>tendem</a:t>
            </a:r>
            <a:r>
              <a:rPr lang="en-US" dirty="0"/>
              <a:t> a ser </a:t>
            </a:r>
            <a:r>
              <a:rPr lang="en-US" dirty="0" err="1"/>
              <a:t>sobrescritos</a:t>
            </a:r>
            <a:r>
              <a:rPr lang="en-US" dirty="0"/>
              <a:t> </a:t>
            </a:r>
            <a:r>
              <a:rPr lang="en-US" dirty="0" err="1"/>
              <a:t>pelo</a:t>
            </a:r>
            <a:r>
              <a:rPr lang="en-US" dirty="0"/>
              <a:t> </a:t>
            </a:r>
            <a:r>
              <a:rPr lang="en-US" dirty="0" err="1"/>
              <a:t>que</a:t>
            </a:r>
            <a:r>
              <a:rPr lang="en-US" dirty="0"/>
              <a:t> </a:t>
            </a:r>
            <a:r>
              <a:rPr lang="en-US" dirty="0" err="1"/>
              <a:t>veio</a:t>
            </a:r>
            <a:r>
              <a:rPr lang="en-US" dirty="0"/>
              <a:t> </a:t>
            </a:r>
            <a:r>
              <a:rPr lang="en-US" dirty="0" err="1"/>
              <a:t>depois</a:t>
            </a:r>
            <a:r>
              <a:rPr lang="en-US" dirty="0"/>
              <a:t>. Cho et al. (2014) e </a:t>
            </a:r>
            <a:r>
              <a:rPr lang="en-US" dirty="0" err="1"/>
              <a:t>Bahdanau</a:t>
            </a:r>
            <a:r>
              <a:rPr lang="en-US" dirty="0"/>
              <a:t> et al. (2014) </a:t>
            </a:r>
            <a:r>
              <a:rPr lang="en-US" dirty="0" err="1"/>
              <a:t>mostraram</a:t>
            </a:r>
            <a:r>
              <a:rPr lang="en-US" dirty="0"/>
              <a:t> </a:t>
            </a:r>
            <a:r>
              <a:rPr lang="en-US" dirty="0" err="1"/>
              <a:t>que</a:t>
            </a:r>
            <a:r>
              <a:rPr lang="en-US" dirty="0"/>
              <a:t> a </a:t>
            </a:r>
            <a:r>
              <a:rPr lang="en-US" dirty="0" err="1"/>
              <a:t>qualidade</a:t>
            </a:r>
            <a:r>
              <a:rPr lang="en-US" dirty="0"/>
              <a:t> da </a:t>
            </a:r>
            <a:r>
              <a:rPr lang="en-US" dirty="0" err="1"/>
              <a:t>tradução</a:t>
            </a:r>
            <a:r>
              <a:rPr lang="en-US" dirty="0"/>
              <a:t> </a:t>
            </a:r>
            <a:r>
              <a:rPr lang="en-US" dirty="0" err="1"/>
              <a:t>cai</a:t>
            </a:r>
            <a:r>
              <a:rPr lang="en-US" dirty="0"/>
              <a:t> à </a:t>
            </a:r>
            <a:r>
              <a:rPr lang="en-US" dirty="0" err="1"/>
              <a:t>medida</a:t>
            </a:r>
            <a:r>
              <a:rPr lang="en-US" dirty="0"/>
              <a:t> </a:t>
            </a:r>
            <a:r>
              <a:rPr lang="en-US" dirty="0" err="1"/>
              <a:t>que</a:t>
            </a:r>
            <a:r>
              <a:rPr lang="en-US" dirty="0"/>
              <a:t> as </a:t>
            </a:r>
            <a:r>
              <a:rPr lang="en-US" dirty="0" err="1"/>
              <a:t>frases</a:t>
            </a:r>
            <a:r>
              <a:rPr lang="en-US" dirty="0"/>
              <a:t> </a:t>
            </a:r>
            <a:r>
              <a:rPr lang="en-US" dirty="0" err="1"/>
              <a:t>ficam</a:t>
            </a:r>
            <a:r>
              <a:rPr lang="en-US" dirty="0"/>
              <a:t> </a:t>
            </a:r>
            <a:r>
              <a:rPr lang="en-US" dirty="0" err="1"/>
              <a:t>mais</a:t>
            </a:r>
            <a:r>
              <a:rPr lang="en-US" dirty="0"/>
              <a:t> longas.</a:t>
            </a:r>
          </a:p>
          <a:p>
            <a:pPr lvl="0" rtl="0"/>
            <a:r>
              <a:rPr lang="en-US" b="1" dirty="0"/>
              <a:t>Todos </a:t>
            </a:r>
            <a:r>
              <a:rPr lang="en-US" b="1" dirty="0" err="1"/>
              <a:t>os</a:t>
            </a:r>
            <a:r>
              <a:rPr lang="en-US" b="1" dirty="0"/>
              <a:t> </a:t>
            </a:r>
            <a:r>
              <a:rPr lang="en-US" b="1" dirty="0" err="1"/>
              <a:t>passos</a:t>
            </a:r>
            <a:r>
              <a:rPr lang="en-US" b="1" dirty="0"/>
              <a:t> do decoder </a:t>
            </a:r>
            <a:r>
              <a:rPr lang="en-US" b="1" dirty="0" err="1"/>
              <a:t>usam</a:t>
            </a:r>
            <a:r>
              <a:rPr lang="en-US" b="1" dirty="0"/>
              <a:t> o </a:t>
            </a:r>
            <a:r>
              <a:rPr lang="en-US" b="1" dirty="0" err="1"/>
              <a:t>mesmo</a:t>
            </a:r>
            <a:r>
              <a:rPr lang="en-US" b="1" dirty="0"/>
              <a:t> </a:t>
            </a:r>
            <a:r>
              <a:rPr lang="en-US" b="1" dirty="0" err="1"/>
              <a:t>resumo</a:t>
            </a:r>
            <a:r>
              <a:rPr lang="en-US" b="1" dirty="0"/>
              <a:t>:</a:t>
            </a:r>
            <a:r>
              <a:rPr lang="en-US" dirty="0"/>
              <a:t> </a:t>
            </a:r>
            <a:r>
              <a:rPr lang="en-US" dirty="0" err="1"/>
              <a:t>ao</a:t>
            </a:r>
            <a:r>
              <a:rPr lang="en-US" dirty="0"/>
              <a:t> </a:t>
            </a:r>
            <a:r>
              <a:rPr lang="en-US" dirty="0" err="1"/>
              <a:t>gerar</a:t>
            </a:r>
            <a:r>
              <a:rPr lang="en-US" dirty="0"/>
              <a:t> a 1ª </a:t>
            </a:r>
            <a:r>
              <a:rPr lang="en-US" dirty="0" err="1"/>
              <a:t>palavra</a:t>
            </a:r>
            <a:r>
              <a:rPr lang="en-US" dirty="0"/>
              <a:t> da </a:t>
            </a:r>
            <a:r>
              <a:rPr lang="en-US" dirty="0" err="1"/>
              <a:t>tradução</a:t>
            </a:r>
            <a:r>
              <a:rPr lang="en-US" dirty="0"/>
              <a:t> </a:t>
            </a:r>
            <a:r>
              <a:rPr lang="en-US" dirty="0" err="1"/>
              <a:t>ele</a:t>
            </a:r>
            <a:r>
              <a:rPr lang="en-US" dirty="0"/>
              <a:t> </a:t>
            </a:r>
            <a:r>
              <a:rPr lang="en-US" dirty="0" err="1"/>
              <a:t>precisa</a:t>
            </a:r>
            <a:r>
              <a:rPr lang="en-US" dirty="0"/>
              <a:t> de </a:t>
            </a:r>
            <a:r>
              <a:rPr lang="en-US" dirty="0" err="1"/>
              <a:t>uma</a:t>
            </a:r>
            <a:r>
              <a:rPr lang="en-US" dirty="0"/>
              <a:t> </a:t>
            </a:r>
            <a:r>
              <a:rPr lang="en-US" dirty="0" err="1"/>
              <a:t>parte</a:t>
            </a:r>
            <a:r>
              <a:rPr lang="en-US" dirty="0"/>
              <a:t> da entrada, e </a:t>
            </a:r>
            <a:r>
              <a:rPr lang="en-US" dirty="0" err="1"/>
              <a:t>ao</a:t>
            </a:r>
            <a:r>
              <a:rPr lang="en-US" dirty="0"/>
              <a:t> </a:t>
            </a:r>
            <a:r>
              <a:rPr lang="en-US" dirty="0" err="1"/>
              <a:t>gerar</a:t>
            </a:r>
            <a:r>
              <a:rPr lang="en-US" dirty="0"/>
              <a:t> a 10ª, de </a:t>
            </a:r>
            <a:r>
              <a:rPr lang="en-US" dirty="0" err="1"/>
              <a:t>outra</a:t>
            </a:r>
            <a:r>
              <a:rPr lang="en-US" dirty="0"/>
              <a:t>. Mas </a:t>
            </a:r>
            <a:r>
              <a:rPr lang="en-US" dirty="0" err="1"/>
              <a:t>só</a:t>
            </a:r>
            <a:r>
              <a:rPr lang="en-US" dirty="0"/>
              <a:t> </a:t>
            </a:r>
            <a:r>
              <a:rPr lang="en-US" dirty="0" err="1"/>
              <a:t>tem</a:t>
            </a:r>
            <a:r>
              <a:rPr lang="en-US" dirty="0"/>
              <a:t> um </a:t>
            </a:r>
            <a:r>
              <a:rPr lang="en-US" dirty="0" err="1"/>
              <a:t>vetor</a:t>
            </a:r>
            <a:r>
              <a:rPr lang="en-US" dirty="0"/>
              <a:t>, </a:t>
            </a:r>
            <a:r>
              <a:rPr lang="en-US" dirty="0" err="1"/>
              <a:t>sem</a:t>
            </a:r>
            <a:r>
              <a:rPr lang="en-US" dirty="0"/>
              <a:t> </a:t>
            </a:r>
            <a:r>
              <a:rPr lang="en-US" dirty="0" err="1"/>
              <a:t>poder</a:t>
            </a:r>
            <a:r>
              <a:rPr lang="en-US" dirty="0"/>
              <a:t> “</a:t>
            </a:r>
            <a:r>
              <a:rPr lang="en-US" dirty="0" err="1"/>
              <a:t>olhar</a:t>
            </a:r>
            <a:r>
              <a:rPr lang="en-US" dirty="0"/>
              <a:t> de volta” para a </a:t>
            </a:r>
            <a:r>
              <a:rPr lang="en-US" dirty="0" err="1"/>
              <a:t>palavra</a:t>
            </a:r>
            <a:r>
              <a:rPr lang="en-US" dirty="0"/>
              <a:t> de </a:t>
            </a:r>
            <a:r>
              <a:rPr lang="en-US" dirty="0" err="1"/>
              <a:t>origem</a:t>
            </a:r>
            <a:r>
              <a:rPr lang="en-US" dirty="0"/>
              <a:t> </a:t>
            </a:r>
            <a:r>
              <a:rPr lang="en-US" dirty="0" err="1"/>
              <a:t>que</a:t>
            </a:r>
            <a:r>
              <a:rPr lang="en-US" dirty="0"/>
              <a:t> </a:t>
            </a:r>
            <a:r>
              <a:rPr lang="en-US" dirty="0" err="1"/>
              <a:t>mais</a:t>
            </a:r>
            <a:r>
              <a:rPr lang="en-US" dirty="0"/>
              <a:t> </a:t>
            </a:r>
            <a:r>
              <a:rPr lang="en-US" dirty="0" err="1"/>
              <a:t>importa</a:t>
            </a:r>
            <a:r>
              <a:rPr lang="en-US" dirty="0"/>
              <a:t> </a:t>
            </a:r>
            <a:r>
              <a:rPr lang="en-US" dirty="0" err="1"/>
              <a:t>naquele</a:t>
            </a:r>
            <a:r>
              <a:rPr lang="en-US" dirty="0"/>
              <a:t> </a:t>
            </a:r>
            <a:r>
              <a:rPr lang="en-US" dirty="0" err="1"/>
              <a:t>momento</a:t>
            </a:r>
            <a:r>
              <a:rPr lang="en-US" dirty="0"/>
              <a:t>.</a:t>
            </a:r>
          </a:p>
          <a:p>
            <a:pPr lvl="0" rtl="0"/>
            <a:r>
              <a:rPr lang="en-US" b="1" dirty="0" err="1"/>
              <a:t>Caminho</a:t>
            </a:r>
            <a:r>
              <a:rPr lang="en-US" b="1" dirty="0"/>
              <a:t> </a:t>
            </a:r>
            <a:r>
              <a:rPr lang="en-US" b="1" dirty="0" err="1"/>
              <a:t>longo</a:t>
            </a:r>
            <a:r>
              <a:rPr lang="en-US" b="1" dirty="0"/>
              <a:t> para o </a:t>
            </a:r>
            <a:r>
              <a:rPr lang="en-US" b="1" dirty="0" err="1"/>
              <a:t>gradiente</a:t>
            </a:r>
            <a:r>
              <a:rPr lang="en-US" b="1" dirty="0"/>
              <a:t>:</a:t>
            </a:r>
            <a:r>
              <a:rPr lang="en-US" dirty="0"/>
              <a:t> a </a:t>
            </a:r>
            <a:r>
              <a:rPr lang="en-US" dirty="0" err="1"/>
              <a:t>informação</a:t>
            </a:r>
            <a:r>
              <a:rPr lang="en-US" dirty="0"/>
              <a:t> do </a:t>
            </a:r>
            <a:r>
              <a:rPr lang="en-US" dirty="0" err="1"/>
              <a:t>início</a:t>
            </a:r>
            <a:r>
              <a:rPr lang="en-US" dirty="0"/>
              <a:t> da entrada </a:t>
            </a:r>
            <a:r>
              <a:rPr lang="en-US" dirty="0" err="1"/>
              <a:t>passa</a:t>
            </a:r>
            <a:r>
              <a:rPr lang="en-US" dirty="0"/>
              <a:t> </a:t>
            </a:r>
            <a:r>
              <a:rPr lang="en-US" dirty="0" err="1"/>
              <a:t>por</a:t>
            </a:r>
            <a:r>
              <a:rPr lang="en-US" dirty="0"/>
              <a:t> </a:t>
            </a:r>
            <a:r>
              <a:rPr lang="en-US" dirty="0" err="1"/>
              <a:t>todos</a:t>
            </a:r>
            <a:r>
              <a:rPr lang="en-US" dirty="0"/>
              <a:t> </a:t>
            </a:r>
            <a:r>
              <a:rPr lang="en-US" dirty="0" err="1"/>
              <a:t>os</a:t>
            </a:r>
            <a:r>
              <a:rPr lang="en-US" dirty="0"/>
              <a:t> </a:t>
            </a:r>
            <a:r>
              <a:rPr lang="en-US" dirty="0" err="1"/>
              <a:t>passos</a:t>
            </a:r>
            <a:r>
              <a:rPr lang="en-US" dirty="0"/>
              <a:t> do encoder </a:t>
            </a:r>
            <a:r>
              <a:rPr lang="en-US" dirty="0" err="1"/>
              <a:t>até</a:t>
            </a:r>
            <a:r>
              <a:rPr lang="en-US" dirty="0"/>
              <a:t> </a:t>
            </a:r>
            <a:r>
              <a:rPr lang="en-US" dirty="0" err="1"/>
              <a:t>chegar</a:t>
            </a:r>
            <a:r>
              <a:rPr lang="en-US" dirty="0"/>
              <a:t> </a:t>
            </a:r>
            <a:r>
              <a:rPr lang="en-US" dirty="0" err="1"/>
              <a:t>ao</a:t>
            </a:r>
            <a:r>
              <a:rPr lang="en-US" dirty="0"/>
              <a:t> decoder, e a LSTM </a:t>
            </a:r>
            <a:r>
              <a:rPr lang="en-US" dirty="0" err="1"/>
              <a:t>só</a:t>
            </a:r>
            <a:r>
              <a:rPr lang="en-US" dirty="0"/>
              <a:t> </a:t>
            </a:r>
            <a:r>
              <a:rPr lang="en-US" dirty="0" err="1"/>
              <a:t>atenua</a:t>
            </a:r>
            <a:r>
              <a:rPr lang="en-US" dirty="0"/>
              <a:t> o </a:t>
            </a:r>
            <a:r>
              <a:rPr lang="en-US" dirty="0" err="1"/>
              <a:t>desaparecimento</a:t>
            </a:r>
            <a:r>
              <a:rPr lang="en-US" dirty="0"/>
              <a:t> do </a:t>
            </a:r>
            <a:r>
              <a:rPr lang="en-US" dirty="0" err="1"/>
              <a:t>gradiente</a:t>
            </a:r>
            <a:r>
              <a:rPr lang="en-US" dirty="0"/>
              <a:t> </a:t>
            </a:r>
            <a:r>
              <a:rPr lang="en-US" dirty="0" err="1"/>
              <a:t>nesse</a:t>
            </a:r>
            <a:r>
              <a:rPr lang="en-US" dirty="0"/>
              <a:t> </a:t>
            </a:r>
            <a:r>
              <a:rPr lang="en-US" dirty="0" err="1"/>
              <a:t>trajeto</a:t>
            </a:r>
            <a:r>
              <a:rPr lang="en-US" dirty="0"/>
              <a:t>.</a:t>
            </a:r>
          </a:p>
          <a:p>
            <a:pPr rtl="0"/>
            <a:r>
              <a:rPr lang="en-US" dirty="0"/>
              <a:t>O </a:t>
            </a:r>
            <a:r>
              <a:rPr lang="en-US" b="1" dirty="0" err="1"/>
              <a:t>mecanismo</a:t>
            </a:r>
            <a:r>
              <a:rPr lang="en-US" b="1" dirty="0"/>
              <a:t> de </a:t>
            </a:r>
            <a:r>
              <a:rPr lang="en-US" b="1" dirty="0" err="1"/>
              <a:t>atenção</a:t>
            </a:r>
            <a:r>
              <a:rPr lang="en-US" dirty="0"/>
              <a:t> (</a:t>
            </a:r>
            <a:r>
              <a:rPr lang="en-US" dirty="0" err="1"/>
              <a:t>Bahdanau</a:t>
            </a:r>
            <a:r>
              <a:rPr lang="en-US" dirty="0"/>
              <a:t> et al., 2014) remove o </a:t>
            </a:r>
            <a:r>
              <a:rPr lang="en-US" dirty="0" err="1"/>
              <a:t>gargalo</a:t>
            </a:r>
            <a:r>
              <a:rPr lang="en-US" dirty="0"/>
              <a:t>. O encoder </a:t>
            </a:r>
            <a:r>
              <a:rPr lang="en-US" dirty="0" err="1"/>
              <a:t>mantém</a:t>
            </a:r>
            <a:r>
              <a:rPr lang="en-US" dirty="0"/>
              <a:t> </a:t>
            </a:r>
            <a:r>
              <a:rPr lang="en-US" b="1" dirty="0" err="1"/>
              <a:t>todos</a:t>
            </a:r>
            <a:r>
              <a:rPr lang="en-US" dirty="0"/>
              <a:t> </a:t>
            </a:r>
            <a:r>
              <a:rPr lang="en-US" dirty="0" err="1"/>
              <a:t>os</a:t>
            </a:r>
            <a:r>
              <a:rPr lang="en-US" dirty="0"/>
              <a:t> </a:t>
            </a:r>
            <a:r>
              <a:rPr lang="en-US" dirty="0" err="1"/>
              <a:t>estados</a:t>
            </a:r>
            <a:r>
              <a:rPr lang="en-US" dirty="0"/>
              <a:t> </a:t>
            </a:r>
            <a:r>
              <a:rPr lang="en-US" dirty="0" err="1"/>
              <a:t>ocultos</a:t>
            </a:r>
            <a:r>
              <a:rPr lang="en-US" dirty="0"/>
              <a:t> (h₁, …, </a:t>
            </a:r>
            <a:r>
              <a:rPr lang="en-US" dirty="0" err="1"/>
              <a:t>h_T</a:t>
            </a:r>
            <a:r>
              <a:rPr lang="en-US" dirty="0"/>
              <a:t>), e a </a:t>
            </a:r>
            <a:r>
              <a:rPr lang="en-US" dirty="0" err="1"/>
              <a:t>cada</a:t>
            </a:r>
            <a:r>
              <a:rPr lang="en-US" dirty="0"/>
              <a:t> </a:t>
            </a:r>
            <a:r>
              <a:rPr lang="en-US" dirty="0" err="1"/>
              <a:t>palavra</a:t>
            </a:r>
            <a:r>
              <a:rPr lang="en-US" dirty="0"/>
              <a:t> </a:t>
            </a:r>
            <a:r>
              <a:rPr lang="en-US" dirty="0" err="1"/>
              <a:t>gerada</a:t>
            </a:r>
            <a:r>
              <a:rPr lang="en-US" dirty="0"/>
              <a:t> o decoder </a:t>
            </a:r>
            <a:r>
              <a:rPr lang="en-US" dirty="0" err="1"/>
              <a:t>calcula</a:t>
            </a:r>
            <a:r>
              <a:rPr lang="en-US" dirty="0"/>
              <a:t> pesos </a:t>
            </a:r>
            <a:r>
              <a:rPr lang="en-US" dirty="0" err="1"/>
              <a:t>sobre</a:t>
            </a:r>
            <a:r>
              <a:rPr lang="en-US" dirty="0"/>
              <a:t> </a:t>
            </a:r>
            <a:r>
              <a:rPr lang="en-US" dirty="0" err="1"/>
              <a:t>eles</a:t>
            </a:r>
            <a:r>
              <a:rPr lang="en-US" dirty="0"/>
              <a:t> e </a:t>
            </a:r>
            <a:r>
              <a:rPr lang="en-US" dirty="0" err="1"/>
              <a:t>monta</a:t>
            </a:r>
            <a:r>
              <a:rPr lang="en-US" dirty="0"/>
              <a:t> um </a:t>
            </a:r>
            <a:r>
              <a:rPr lang="en-US" dirty="0" err="1"/>
              <a:t>vetor</a:t>
            </a:r>
            <a:r>
              <a:rPr lang="en-US" dirty="0"/>
              <a:t> de </a:t>
            </a:r>
            <a:r>
              <a:rPr lang="en-US" dirty="0" err="1"/>
              <a:t>contexto</a:t>
            </a:r>
            <a:r>
              <a:rPr lang="en-US" dirty="0"/>
              <a:t> novo, </a:t>
            </a:r>
            <a:r>
              <a:rPr lang="en-US" dirty="0" err="1"/>
              <a:t>uma</a:t>
            </a:r>
            <a:r>
              <a:rPr lang="en-US" dirty="0"/>
              <a:t> </a:t>
            </a:r>
            <a:r>
              <a:rPr lang="en-US" dirty="0" err="1"/>
              <a:t>média</a:t>
            </a:r>
            <a:r>
              <a:rPr lang="en-US" dirty="0"/>
              <a:t> </a:t>
            </a:r>
            <a:r>
              <a:rPr lang="en-US" dirty="0" err="1"/>
              <a:t>ponderada</a:t>
            </a:r>
            <a:r>
              <a:rPr lang="en-US" dirty="0"/>
              <a:t> </a:t>
            </a:r>
            <a:r>
              <a:rPr lang="en-US" dirty="0" err="1"/>
              <a:t>que</a:t>
            </a:r>
            <a:r>
              <a:rPr lang="en-US" dirty="0"/>
              <a:t> </a:t>
            </a:r>
            <a:r>
              <a:rPr lang="en-US" dirty="0" err="1"/>
              <a:t>dá</a:t>
            </a:r>
            <a:r>
              <a:rPr lang="en-US" dirty="0"/>
              <a:t> </a:t>
            </a:r>
            <a:r>
              <a:rPr lang="en-US" dirty="0" err="1"/>
              <a:t>mais</a:t>
            </a:r>
            <a:r>
              <a:rPr lang="en-US" dirty="0"/>
              <a:t> peso </a:t>
            </a:r>
            <a:r>
              <a:rPr lang="en-US" dirty="0" err="1"/>
              <a:t>às</a:t>
            </a:r>
            <a:r>
              <a:rPr lang="en-US" dirty="0"/>
              <a:t> </a:t>
            </a:r>
            <a:r>
              <a:rPr lang="en-US" dirty="0" err="1"/>
              <a:t>posições</a:t>
            </a:r>
            <a:r>
              <a:rPr lang="en-US" dirty="0"/>
              <a:t> </a:t>
            </a:r>
            <a:r>
              <a:rPr lang="en-US" dirty="0" err="1"/>
              <a:t>relevantes</a:t>
            </a:r>
            <a:r>
              <a:rPr lang="en-US" dirty="0"/>
              <a:t>. Ao </a:t>
            </a:r>
            <a:r>
              <a:rPr lang="en-US" dirty="0" err="1"/>
              <a:t>traduzir</a:t>
            </a:r>
            <a:r>
              <a:rPr lang="en-US" dirty="0"/>
              <a:t>, </a:t>
            </a:r>
            <a:r>
              <a:rPr lang="en-US" dirty="0" err="1"/>
              <a:t>por</a:t>
            </a:r>
            <a:r>
              <a:rPr lang="en-US" dirty="0"/>
              <a:t> </a:t>
            </a:r>
            <a:r>
              <a:rPr lang="en-US" dirty="0" err="1"/>
              <a:t>exemplo</a:t>
            </a:r>
            <a:r>
              <a:rPr lang="en-US" dirty="0"/>
              <a:t>, o decoder </a:t>
            </a:r>
            <a:r>
              <a:rPr lang="en-US" dirty="0" err="1"/>
              <a:t>pode</a:t>
            </a:r>
            <a:r>
              <a:rPr lang="en-US" dirty="0"/>
              <a:t> “</a:t>
            </a:r>
            <a:r>
              <a:rPr lang="en-US" dirty="0" err="1"/>
              <a:t>olhar</a:t>
            </a:r>
            <a:r>
              <a:rPr lang="en-US" dirty="0"/>
              <a:t>” para a </a:t>
            </a:r>
            <a:r>
              <a:rPr lang="en-US" dirty="0" err="1"/>
              <a:t>palavra</a:t>
            </a:r>
            <a:r>
              <a:rPr lang="en-US" dirty="0"/>
              <a:t> de </a:t>
            </a:r>
            <a:r>
              <a:rPr lang="en-US" dirty="0" err="1"/>
              <a:t>origem</a:t>
            </a:r>
            <a:r>
              <a:rPr lang="en-US" dirty="0"/>
              <a:t> </a:t>
            </a:r>
            <a:r>
              <a:rPr lang="en-US" dirty="0" err="1"/>
              <a:t>correspondente</a:t>
            </a:r>
            <a:r>
              <a:rPr lang="en-US" dirty="0"/>
              <a:t>. </a:t>
            </a:r>
            <a:r>
              <a:rPr lang="en-US" dirty="0" err="1"/>
              <a:t>Os</a:t>
            </a:r>
            <a:r>
              <a:rPr lang="en-US" dirty="0"/>
              <a:t> Transformers </a:t>
            </a:r>
            <a:r>
              <a:rPr lang="en-US" dirty="0" err="1"/>
              <a:t>levaram</a:t>
            </a:r>
            <a:r>
              <a:rPr lang="en-US" dirty="0"/>
              <a:t> </a:t>
            </a:r>
            <a:r>
              <a:rPr lang="en-US" dirty="0" err="1"/>
              <a:t>essa</a:t>
            </a:r>
            <a:r>
              <a:rPr lang="en-US" dirty="0"/>
              <a:t> </a:t>
            </a:r>
            <a:r>
              <a:rPr lang="en-US" dirty="0" err="1"/>
              <a:t>ideia</a:t>
            </a:r>
            <a:r>
              <a:rPr lang="en-US" dirty="0"/>
              <a:t> </a:t>
            </a:r>
            <a:r>
              <a:rPr lang="en-US" dirty="0" err="1"/>
              <a:t>ao</a:t>
            </a:r>
            <a:r>
              <a:rPr lang="en-US" dirty="0"/>
              <a:t> extremo, com a </a:t>
            </a:r>
            <a:r>
              <a:rPr lang="en-US" dirty="0" err="1"/>
              <a:t>atenção</a:t>
            </a:r>
            <a:r>
              <a:rPr lang="en-US" dirty="0"/>
              <a:t> </a:t>
            </a:r>
            <a:r>
              <a:rPr lang="en-US" dirty="0" err="1"/>
              <a:t>como</a:t>
            </a:r>
            <a:r>
              <a:rPr lang="en-US" dirty="0"/>
              <a:t> </a:t>
            </a:r>
            <a:r>
              <a:rPr lang="en-US" dirty="0" err="1"/>
              <a:t>mecanismo</a:t>
            </a:r>
            <a:r>
              <a:rPr lang="en-US" dirty="0"/>
              <a:t> principal, no </a:t>
            </a:r>
            <a:r>
              <a:rPr lang="en-US" dirty="0" err="1"/>
              <a:t>lugar</a:t>
            </a:r>
            <a:r>
              <a:rPr lang="en-US" dirty="0"/>
              <a:t> da </a:t>
            </a:r>
            <a:r>
              <a:rPr lang="en-US" dirty="0" err="1"/>
              <a:t>recorrência</a:t>
            </a:r>
            <a:r>
              <a:rPr lang="en-US" dirty="0"/>
              <a:t>.</a:t>
            </a:r>
          </a:p>
          <a:p>
            <a:endParaRPr lang="en-US"/>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exemplo_lstm_proxima_palavra.ipynb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5C0B3-F118-719F-E24C-F0937D533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3A314A-5FB1-045E-34E4-97EDBAF9B01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AB9E6DF-C1AE-5888-4E96-BFC878B962B8}"/>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id="{034958BB-FCF1-C717-882B-9BF888AD650D}"/>
              </a:ext>
            </a:extLst>
          </p:cNvPr>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269272260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BA9BC8-6559-200B-A0DC-C7C193B50C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44AF09-4A8D-EB58-C542-61C146A8C5FC}"/>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859BB1-D8C1-65C8-6748-CB851BA5D5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447B7-D6A2-FFD4-F49A-1A0A90A830E6}"/>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3AD002-AA40-E355-B02F-572AE6190D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7906D9-35CD-7BBD-9B83-9AF5394718AD}"/>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1C393-F2DD-B5B3-8124-2A3017B81B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49EF4F-E76D-C638-D820-CC9A1EFEA97E}"/>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98</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E8584-A895-574E-5864-7A79AC8845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1CD3A3-7795-BD62-EC53-236C1B172A31}"/>
              </a:ext>
            </a:extLst>
          </p:cNvPr>
          <p:cNvSpPr>
            <a:spLocks noGrp="1"/>
          </p:cNvSpPr>
          <p:nvPr>
            <p:ph type="sldNum" sz="quarter" idx="5"/>
          </p:nvPr>
        </p:nvSpPr>
        <p:spPr/>
        <p:txBody>
          <a:bodyPr/>
          <a:lstStyle/>
          <a:p>
            <a:fld id="{6FC8D850-966F-45A6-8DE7-15B891E7D40D}" type="slidenum">
              <a:rPr lang="pt-BR" smtClean="0"/>
              <a:t>99</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C571C-6EE6-6F3D-F881-BE06D868B3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BE00AF-4D89-539C-EE0E-6F52B8BD503D}"/>
              </a:ext>
            </a:extLst>
          </p:cNvPr>
          <p:cNvSpPr>
            <a:spLocks noGrp="1"/>
          </p:cNvSpPr>
          <p:nvPr>
            <p:ph type="sldNum" sz="quarter" idx="5"/>
          </p:nvPr>
        </p:nvSpPr>
        <p:spPr/>
        <p:txBody>
          <a:bodyPr/>
          <a:lstStyle/>
          <a:p>
            <a:fld id="{6FC8D850-966F-45A6-8DE7-15B891E7D40D}" type="slidenum">
              <a:rPr lang="pt-BR" smtClean="0"/>
              <a:t>100</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2.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6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6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6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6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6.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640.png"/><Relationship Id="rId4" Type="http://schemas.openxmlformats.org/officeDocument/2006/relationships/image" Target="../media/image630.png"/></Relationships>
</file>

<file path=ppt/slides/_rels/slide70.xml.rels><?xml version="1.0" encoding="UTF-8" standalone="yes"?>
<Relationships xmlns="http://schemas.openxmlformats.org/package/2006/relationships"><Relationship Id="rId3" Type="http://schemas.openxmlformats.org/officeDocument/2006/relationships/image" Target="../media/image461.png"/><Relationship Id="rId7" Type="http://schemas.openxmlformats.org/officeDocument/2006/relationships/image" Target="../media/image78.png"/><Relationship Id="rId2" Type="http://schemas.openxmlformats.org/officeDocument/2006/relationships/image" Target="../media/image451.png"/><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481.png"/><Relationship Id="rId4" Type="http://schemas.openxmlformats.org/officeDocument/2006/relationships/image" Target="../media/image471.png"/></Relationships>
</file>

<file path=ppt/slides/_rels/slide71.xml.rels><?xml version="1.0" encoding="UTF-8" standalone="yes"?>
<Relationships xmlns="http://schemas.openxmlformats.org/package/2006/relationships"><Relationship Id="rId3" Type="http://schemas.openxmlformats.org/officeDocument/2006/relationships/image" Target="../media/image501.png"/><Relationship Id="rId7" Type="http://schemas.openxmlformats.org/officeDocument/2006/relationships/image" Target="../media/image8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521.png"/><Relationship Id="rId4" Type="http://schemas.openxmlformats.org/officeDocument/2006/relationships/image" Target="../media/image511.png"/></Relationships>
</file>

<file path=ppt/slides/_rels/slide72.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491.png"/><Relationship Id="rId7" Type="http://schemas.openxmlformats.org/officeDocument/2006/relationships/image" Target="../media/image540.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531.png"/><Relationship Id="rId5" Type="http://schemas.openxmlformats.org/officeDocument/2006/relationships/image" Target="../media/image521.png"/><Relationship Id="rId10" Type="http://schemas.openxmlformats.org/officeDocument/2006/relationships/image" Target="../media/image80.png"/><Relationship Id="rId4" Type="http://schemas.openxmlformats.org/officeDocument/2006/relationships/image" Target="../media/image511.png"/><Relationship Id="rId9" Type="http://schemas.openxmlformats.org/officeDocument/2006/relationships/image" Target="../media/image79.png"/></Relationships>
</file>

<file path=ppt/slides/_rels/slide73.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1.png"/><Relationship Id="rId3" Type="http://schemas.openxmlformats.org/officeDocument/2006/relationships/image" Target="../media/image81.png"/><Relationship Id="rId7" Type="http://schemas.openxmlformats.org/officeDocument/2006/relationships/image" Target="../media/image85.png"/><Relationship Id="rId12" Type="http://schemas.openxmlformats.org/officeDocument/2006/relationships/image" Target="../media/image90.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89.png"/><Relationship Id="rId5" Type="http://schemas.openxmlformats.org/officeDocument/2006/relationships/image" Target="../media/image83.png"/><Relationship Id="rId15" Type="http://schemas.openxmlformats.org/officeDocument/2006/relationships/image" Target="../media/image93.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 Id="rId14" Type="http://schemas.openxmlformats.org/officeDocument/2006/relationships/image" Target="../media/image92.png"/></Relationships>
</file>

<file path=ppt/slides/_rels/slide7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exemplo_lstm_proxima_palavra.ipynb"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96.png"/><Relationship Id="rId5" Type="http://schemas.openxmlformats.org/officeDocument/2006/relationships/image" Target="../media/image95.jpeg"/><Relationship Id="rId4" Type="http://schemas.openxmlformats.org/officeDocument/2006/relationships/image" Target="../media/image94.png"/></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8" Type="http://schemas.openxmlformats.org/officeDocument/2006/relationships/image" Target="../media/image711.png"/><Relationship Id="rId3" Type="http://schemas.openxmlformats.org/officeDocument/2006/relationships/image" Target="../media/image660.png"/><Relationship Id="rId7" Type="http://schemas.openxmlformats.org/officeDocument/2006/relationships/image" Target="../media/image700.png"/><Relationship Id="rId2" Type="http://schemas.openxmlformats.org/officeDocument/2006/relationships/image" Target="../media/image650.png"/><Relationship Id="rId1" Type="http://schemas.openxmlformats.org/officeDocument/2006/relationships/slideLayout" Target="../slideLayouts/slideLayout2.xml"/><Relationship Id="rId6" Type="http://schemas.openxmlformats.org/officeDocument/2006/relationships/image" Target="../media/image690.png"/><Relationship Id="rId5" Type="http://schemas.openxmlformats.org/officeDocument/2006/relationships/image" Target="../media/image680.png"/><Relationship Id="rId10" Type="http://schemas.openxmlformats.org/officeDocument/2006/relationships/image" Target="../media/image731.png"/><Relationship Id="rId4" Type="http://schemas.openxmlformats.org/officeDocument/2006/relationships/image" Target="../media/image670.png"/><Relationship Id="rId9" Type="http://schemas.openxmlformats.org/officeDocument/2006/relationships/image" Target="../media/image721.png"/></Relationships>
</file>

<file path=ppt/slides/_rels/slide84.xml.rels><?xml version="1.0" encoding="UTF-8" standalone="yes"?>
<Relationships xmlns="http://schemas.openxmlformats.org/package/2006/relationships"><Relationship Id="rId8" Type="http://schemas.openxmlformats.org/officeDocument/2006/relationships/image" Target="../media/image711.png"/><Relationship Id="rId13" Type="http://schemas.openxmlformats.org/officeDocument/2006/relationships/image" Target="../media/image771.png"/><Relationship Id="rId18" Type="http://schemas.openxmlformats.org/officeDocument/2006/relationships/image" Target="../media/image822.png"/><Relationship Id="rId26" Type="http://schemas.openxmlformats.org/officeDocument/2006/relationships/image" Target="../media/image900.png"/><Relationship Id="rId3" Type="http://schemas.openxmlformats.org/officeDocument/2006/relationships/image" Target="../media/image660.png"/><Relationship Id="rId21" Type="http://schemas.openxmlformats.org/officeDocument/2006/relationships/image" Target="../media/image851.png"/><Relationship Id="rId7" Type="http://schemas.openxmlformats.org/officeDocument/2006/relationships/image" Target="../media/image700.png"/><Relationship Id="rId12" Type="http://schemas.openxmlformats.org/officeDocument/2006/relationships/image" Target="../media/image761.png"/><Relationship Id="rId17" Type="http://schemas.openxmlformats.org/officeDocument/2006/relationships/image" Target="../media/image812.png"/><Relationship Id="rId25" Type="http://schemas.openxmlformats.org/officeDocument/2006/relationships/image" Target="../media/image891.png"/><Relationship Id="rId2" Type="http://schemas.openxmlformats.org/officeDocument/2006/relationships/image" Target="../media/image650.png"/><Relationship Id="rId16" Type="http://schemas.openxmlformats.org/officeDocument/2006/relationships/image" Target="../media/image801.png"/><Relationship Id="rId20" Type="http://schemas.openxmlformats.org/officeDocument/2006/relationships/image" Target="../media/image841.png"/><Relationship Id="rId29" Type="http://schemas.openxmlformats.org/officeDocument/2006/relationships/image" Target="../media/image931.png"/><Relationship Id="rId1" Type="http://schemas.openxmlformats.org/officeDocument/2006/relationships/slideLayout" Target="../slideLayouts/slideLayout2.xml"/><Relationship Id="rId6" Type="http://schemas.openxmlformats.org/officeDocument/2006/relationships/image" Target="../media/image741.png"/><Relationship Id="rId11" Type="http://schemas.openxmlformats.org/officeDocument/2006/relationships/image" Target="../media/image750.png"/><Relationship Id="rId24" Type="http://schemas.openxmlformats.org/officeDocument/2006/relationships/image" Target="../media/image881.png"/><Relationship Id="rId32" Type="http://schemas.openxmlformats.org/officeDocument/2006/relationships/image" Target="../media/image961.png"/><Relationship Id="rId5" Type="http://schemas.openxmlformats.org/officeDocument/2006/relationships/image" Target="../media/image680.png"/><Relationship Id="rId15" Type="http://schemas.openxmlformats.org/officeDocument/2006/relationships/image" Target="../media/image791.png"/><Relationship Id="rId23" Type="http://schemas.openxmlformats.org/officeDocument/2006/relationships/image" Target="../media/image871.png"/><Relationship Id="rId28" Type="http://schemas.openxmlformats.org/officeDocument/2006/relationships/image" Target="../media/image920.png"/><Relationship Id="rId10" Type="http://schemas.openxmlformats.org/officeDocument/2006/relationships/image" Target="../media/image731.png"/><Relationship Id="rId19" Type="http://schemas.openxmlformats.org/officeDocument/2006/relationships/image" Target="../media/image832.png"/><Relationship Id="rId31" Type="http://schemas.openxmlformats.org/officeDocument/2006/relationships/image" Target="../media/image95.png"/><Relationship Id="rId4" Type="http://schemas.openxmlformats.org/officeDocument/2006/relationships/image" Target="../media/image670.png"/><Relationship Id="rId9" Type="http://schemas.openxmlformats.org/officeDocument/2006/relationships/image" Target="../media/image721.png"/><Relationship Id="rId14" Type="http://schemas.openxmlformats.org/officeDocument/2006/relationships/image" Target="../media/image781.png"/><Relationship Id="rId22" Type="http://schemas.openxmlformats.org/officeDocument/2006/relationships/image" Target="../media/image861.png"/><Relationship Id="rId27" Type="http://schemas.openxmlformats.org/officeDocument/2006/relationships/image" Target="../media/image910.png"/><Relationship Id="rId30" Type="http://schemas.openxmlformats.org/officeDocument/2006/relationships/image" Target="../media/image942.png"/></Relationships>
</file>

<file path=ppt/slides/_rels/slide85.xml.rels><?xml version="1.0" encoding="UTF-8" standalone="yes"?>
<Relationships xmlns="http://schemas.openxmlformats.org/package/2006/relationships"><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 Type="http://schemas.openxmlformats.org/officeDocument/2006/relationships/image" Target="../media/image98.png"/><Relationship Id="rId21" Type="http://schemas.openxmlformats.org/officeDocument/2006/relationships/image" Target="../media/image116.png"/><Relationship Id="rId34" Type="http://schemas.openxmlformats.org/officeDocument/2006/relationships/image" Target="../media/image12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7.png"/><Relationship Id="rId2" Type="http://schemas.openxmlformats.org/officeDocument/2006/relationships/image" Target="../media/image972.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6.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0.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931.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29.png"/><Relationship Id="rId8" Type="http://schemas.openxmlformats.org/officeDocument/2006/relationships/image" Target="../media/image103.png"/></Relationships>
</file>

<file path=ppt/slides/_rels/slide86.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6" Type="http://schemas.openxmlformats.org/officeDocument/2006/relationships/image" Target="../media/image130.png"/><Relationship Id="rId3" Type="http://schemas.openxmlformats.org/officeDocument/2006/relationships/image" Target="../media/image106.png"/><Relationship Id="rId21" Type="http://schemas.openxmlformats.org/officeDocument/2006/relationships/image" Target="../media/image124.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5" Type="http://schemas.openxmlformats.org/officeDocument/2006/relationships/image" Target="../media/image129.png"/><Relationship Id="rId2" Type="http://schemas.openxmlformats.org/officeDocument/2006/relationships/image" Target="../media/image105.png"/><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8.png"/><Relationship Id="rId15" Type="http://schemas.openxmlformats.org/officeDocument/2006/relationships/image" Target="../media/image118.png"/><Relationship Id="rId23" Type="http://schemas.openxmlformats.org/officeDocument/2006/relationships/image" Target="../media/image126.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5.png"/></Relationships>
</file>

<file path=ppt/slides/_rels/slide87.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8.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9.xml.rels><?xml version="1.0" encoding="UTF-8" standalone="yes"?>
<Relationships xmlns="http://schemas.openxmlformats.org/package/2006/relationships"><Relationship Id="rId8" Type="http://schemas.openxmlformats.org/officeDocument/2006/relationships/image" Target="../media/image921.png"/><Relationship Id="rId7" Type="http://schemas.openxmlformats.org/officeDocument/2006/relationships/image" Target="../media/image911.png"/><Relationship Id="rId1" Type="http://schemas.openxmlformats.org/officeDocument/2006/relationships/slideLayout" Target="../slideLayouts/slideLayout2.xml"/><Relationship Id="rId6" Type="http://schemas.openxmlformats.org/officeDocument/2006/relationships/image" Target="../media/image901.png"/><Relationship Id="rId5" Type="http://schemas.openxmlformats.org/officeDocument/2006/relationships/image" Target="../media/image890.png"/><Relationship Id="rId10" Type="http://schemas.openxmlformats.org/officeDocument/2006/relationships/image" Target="../media/image941.png"/><Relationship Id="rId4" Type="http://schemas.openxmlformats.org/officeDocument/2006/relationships/image" Target="../media/image880.png"/><Relationship Id="rId9" Type="http://schemas.openxmlformats.org/officeDocument/2006/relationships/image" Target="../media/image932.png"/></Relationships>
</file>

<file path=ppt/slides/_rels/slide90.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641.png"/><Relationship Id="rId7" Type="http://schemas.openxmlformats.org/officeDocument/2006/relationships/image" Target="../media/image980.png"/><Relationship Id="rId12" Type="http://schemas.openxmlformats.org/officeDocument/2006/relationships/image" Target="../media/image1031.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971.png"/><Relationship Id="rId11" Type="http://schemas.openxmlformats.org/officeDocument/2006/relationships/image" Target="../media/image1021.png"/><Relationship Id="rId5" Type="http://schemas.openxmlformats.org/officeDocument/2006/relationships/image" Target="../media/image960.png"/><Relationship Id="rId10" Type="http://schemas.openxmlformats.org/officeDocument/2006/relationships/image" Target="../media/image1011.png"/><Relationship Id="rId4" Type="http://schemas.openxmlformats.org/officeDocument/2006/relationships/image" Target="../media/image952.png"/><Relationship Id="rId9" Type="http://schemas.openxmlformats.org/officeDocument/2006/relationships/image" Target="../media/image1001.png"/></Relationships>
</file>

<file path=ppt/slides/_rels/slide91.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1.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2.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3.xml.rels><?xml version="1.0" encoding="UTF-8" standalone="yes"?>
<Relationships xmlns="http://schemas.openxmlformats.org/package/2006/relationships"><Relationship Id="rId8" Type="http://schemas.openxmlformats.org/officeDocument/2006/relationships/image" Target="../media/image136.png"/><Relationship Id="rId13" Type="http://schemas.openxmlformats.org/officeDocument/2006/relationships/image" Target="../media/image141.png"/><Relationship Id="rId18" Type="http://schemas.openxmlformats.org/officeDocument/2006/relationships/image" Target="../media/image146.png"/><Relationship Id="rId3" Type="http://schemas.openxmlformats.org/officeDocument/2006/relationships/image" Target="../media/image131.png"/><Relationship Id="rId7" Type="http://schemas.openxmlformats.org/officeDocument/2006/relationships/image" Target="../media/image135.png"/><Relationship Id="rId12" Type="http://schemas.openxmlformats.org/officeDocument/2006/relationships/image" Target="../media/image140.png"/><Relationship Id="rId17" Type="http://schemas.openxmlformats.org/officeDocument/2006/relationships/image" Target="../media/image145.png"/><Relationship Id="rId2" Type="http://schemas.openxmlformats.org/officeDocument/2006/relationships/notesSlide" Target="../notesSlides/notesSlide61.xml"/><Relationship Id="rId16" Type="http://schemas.openxmlformats.org/officeDocument/2006/relationships/image" Target="../media/image144.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34.png"/><Relationship Id="rId11" Type="http://schemas.openxmlformats.org/officeDocument/2006/relationships/image" Target="../media/image139.png"/><Relationship Id="rId5" Type="http://schemas.openxmlformats.org/officeDocument/2006/relationships/image" Target="../media/image133.png"/><Relationship Id="rId15" Type="http://schemas.openxmlformats.org/officeDocument/2006/relationships/image" Target="../media/image143.png"/><Relationship Id="rId10" Type="http://schemas.openxmlformats.org/officeDocument/2006/relationships/image" Target="../media/image138.png"/><Relationship Id="rId19" Type="http://schemas.openxmlformats.org/officeDocument/2006/relationships/image" Target="../media/image147.png"/><Relationship Id="rId4" Type="http://schemas.openxmlformats.org/officeDocument/2006/relationships/image" Target="../media/image132.png"/><Relationship Id="rId9" Type="http://schemas.openxmlformats.org/officeDocument/2006/relationships/image" Target="../media/image137.png"/><Relationship Id="rId14" Type="http://schemas.openxmlformats.org/officeDocument/2006/relationships/image" Target="../media/image142.png"/></Relationships>
</file>

<file path=ppt/slides/_rels/slide94.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0.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730.png"/><Relationship Id="rId9" Type="http://schemas.openxmlformats.org/officeDocument/2006/relationships/image" Target="../media/image1120.png"/></Relationships>
</file>

<file path=ppt/slides/_rels/slide95.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0.png"/><Relationship Id="rId3" Type="http://schemas.openxmlformats.org/officeDocument/2006/relationships/image" Target="../media/image1140.png"/><Relationship Id="rId7" Type="http://schemas.openxmlformats.org/officeDocument/2006/relationships/image" Target="../media/image1160.png"/><Relationship Id="rId12" Type="http://schemas.openxmlformats.org/officeDocument/2006/relationships/image" Target="../media/image1130.pn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1150.png"/><Relationship Id="rId9" Type="http://schemas.openxmlformats.org/officeDocument/2006/relationships/image" Target="../media/image1120.png"/><Relationship Id="rId14" Type="http://schemas.openxmlformats.org/officeDocument/2006/relationships/image" Target="../media/image1180.png"/></Relationships>
</file>

<file path=ppt/slides/_rels/slide96.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0.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1050.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0.png"/><Relationship Id="rId4" Type="http://schemas.openxmlformats.org/officeDocument/2006/relationships/image" Target="../media/image1060.png"/><Relationship Id="rId9" Type="http://schemas.openxmlformats.org/officeDocument/2006/relationships/image" Target="../media/image1120.png"/><Relationship Id="rId14" Type="http://schemas.openxmlformats.org/officeDocument/2006/relationships/image" Target="../media/image1200.png"/></Relationships>
</file>

<file path=ppt/slides/_rels/slide97.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0.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8.xml.rels><?xml version="1.0" encoding="UTF-8" standalone="yes"?>
<Relationships xmlns="http://schemas.openxmlformats.org/package/2006/relationships"><Relationship Id="rId8" Type="http://schemas.openxmlformats.org/officeDocument/2006/relationships/image" Target="../media/image149.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1290.png"/><Relationship Id="rId12" Type="http://schemas.openxmlformats.org/officeDocument/2006/relationships/image" Target="../media/image1240.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0.png"/><Relationship Id="rId15" Type="http://schemas.openxmlformats.org/officeDocument/2006/relationships/image" Target="../media/image131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9.xml.rels><?xml version="1.0" encoding="UTF-8" standalone="yes"?>
<Relationships xmlns="http://schemas.openxmlformats.org/package/2006/relationships"><Relationship Id="rId8" Type="http://schemas.openxmlformats.org/officeDocument/2006/relationships/image" Target="../media/image1370.png"/><Relationship Id="rId13" Type="http://schemas.openxmlformats.org/officeDocument/2006/relationships/image" Target="../media/image1420.png"/><Relationship Id="rId18" Type="http://schemas.openxmlformats.org/officeDocument/2006/relationships/image" Target="../media/image1470.png"/><Relationship Id="rId26" Type="http://schemas.openxmlformats.org/officeDocument/2006/relationships/image" Target="../media/image155.png"/><Relationship Id="rId3" Type="http://schemas.openxmlformats.org/officeDocument/2006/relationships/image" Target="../media/image1320.png"/><Relationship Id="rId21" Type="http://schemas.openxmlformats.org/officeDocument/2006/relationships/image" Target="../media/image150.png"/><Relationship Id="rId7" Type="http://schemas.openxmlformats.org/officeDocument/2006/relationships/image" Target="../media/image1360.png"/><Relationship Id="rId12" Type="http://schemas.openxmlformats.org/officeDocument/2006/relationships/image" Target="../media/image1410.png"/><Relationship Id="rId17" Type="http://schemas.openxmlformats.org/officeDocument/2006/relationships/image" Target="../media/image1460.png"/><Relationship Id="rId25" Type="http://schemas.openxmlformats.org/officeDocument/2006/relationships/image" Target="../media/image154.png"/><Relationship Id="rId2" Type="http://schemas.openxmlformats.org/officeDocument/2006/relationships/notesSlide" Target="../notesSlides/notesSlide67.xml"/><Relationship Id="rId16" Type="http://schemas.openxmlformats.org/officeDocument/2006/relationships/image" Target="../media/image1450.png"/><Relationship Id="rId20" Type="http://schemas.openxmlformats.org/officeDocument/2006/relationships/image" Target="../media/image1490.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50.png"/><Relationship Id="rId11" Type="http://schemas.openxmlformats.org/officeDocument/2006/relationships/image" Target="../media/image1400.png"/><Relationship Id="rId24" Type="http://schemas.openxmlformats.org/officeDocument/2006/relationships/image" Target="../media/image153.png"/><Relationship Id="rId5" Type="http://schemas.openxmlformats.org/officeDocument/2006/relationships/image" Target="../media/image1340.png"/><Relationship Id="rId15" Type="http://schemas.openxmlformats.org/officeDocument/2006/relationships/image" Target="../media/image144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390.png"/><Relationship Id="rId19" Type="http://schemas.openxmlformats.org/officeDocument/2006/relationships/image" Target="../media/image1480.png"/><Relationship Id="rId4" Type="http://schemas.openxmlformats.org/officeDocument/2006/relationships/image" Target="../media/image1330.png"/><Relationship Id="rId9" Type="http://schemas.openxmlformats.org/officeDocument/2006/relationships/image" Target="../media/image1380.png"/><Relationship Id="rId14" Type="http://schemas.openxmlformats.org/officeDocument/2006/relationships/image" Target="../media/image1430.png"/><Relationship Id="rId22" Type="http://schemas.openxmlformats.org/officeDocument/2006/relationships/image" Target="../media/image151.png"/><Relationship Id="rId27" Type="http://schemas.openxmlformats.org/officeDocument/2006/relationships/image" Target="../media/image156.png"/></Relationships>
</file>

<file path=ppt/slides/_rels/slide100.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59.png"/><Relationship Id="rId7" Type="http://schemas.openxmlformats.org/officeDocument/2006/relationships/image" Target="../media/image164.pn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normAutofit/>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sz="4000" b="1" dirty="0"/>
              <a:t>Cada amostra tende a carregar informação correlacionada com 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5105400" y="1825625"/>
            <a:ext cx="7086600"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a16="http://schemas.microsoft.com/office/drawing/2014/main" id="{FA8E2659-A57A-38A3-FD87-03127E912402}"/>
              </a:ext>
            </a:extLst>
          </p:cNvPr>
          <p:cNvPicPr>
            <a:picLocks noChangeAspect="1"/>
          </p:cNvPicPr>
          <p:nvPr/>
        </p:nvPicPr>
        <p:blipFill>
          <a:blip r:embed="rId3"/>
          <a:srcRect t="2103"/>
          <a:stretch>
            <a:fillRect/>
          </a:stretch>
        </p:blipFill>
        <p:spPr>
          <a:xfrm>
            <a:off x="1443359" y="1895928"/>
            <a:ext cx="2686768" cy="2310574"/>
          </a:xfrm>
          <a:prstGeom prst="rect">
            <a:avLst/>
          </a:prstGeom>
        </p:spPr>
      </p:pic>
      <p:pic>
        <p:nvPicPr>
          <p:cNvPr id="8" name="Picture 7">
            <a:extLst>
              <a:ext uri="{FF2B5EF4-FFF2-40B4-BE49-F238E27FC236}">
                <a16:creationId xmlns:a16="http://schemas.microsoft.com/office/drawing/2014/main" id="{9AAB68BF-5C1E-7F73-8FBA-8E33B17EBF82}"/>
              </a:ext>
            </a:extLst>
          </p:cNvPr>
          <p:cNvPicPr>
            <a:picLocks noChangeAspect="1"/>
          </p:cNvPicPr>
          <p:nvPr/>
        </p:nvPicPr>
        <p:blipFill>
          <a:blip r:embed="rId4"/>
          <a:stretch>
            <a:fillRect/>
          </a:stretch>
        </p:blipFill>
        <p:spPr>
          <a:xfrm>
            <a:off x="986750" y="4747985"/>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A47F2C-5902-D14E-461A-E03776C92E47}"/>
              </a:ext>
            </a:extLst>
          </p:cNvPr>
          <p:cNvSpPr>
            <a:spLocks noGrp="1"/>
          </p:cNvSpPr>
          <p:nvPr>
            <p:ph idx="1"/>
          </p:nvPr>
        </p:nvSpPr>
        <p:spPr>
          <a:xfrm>
            <a:off x="680741" y="1927699"/>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288B7E-EFBE-6F19-F27D-9D5EE10249F9}"/>
              </a:ext>
            </a:extLst>
          </p:cNvPr>
          <p:cNvSpPr>
            <a:spLocks noGrp="1"/>
          </p:cNvSpPr>
          <p:nvPr>
            <p:ph idx="1"/>
          </p:nvPr>
        </p:nvSpPr>
        <p:spPr>
          <a:xfrm>
            <a:off x="6791325" y="1911803"/>
            <a:ext cx="5270045" cy="3683454"/>
          </a:xfrm>
        </p:spPr>
        <p:txBody>
          <a:bodyPr>
            <a:normAutofit lnSpcReduction="10000"/>
          </a:bodyPr>
          <a:lstStyle/>
          <a:p>
            <a:pPr marL="0" indent="0" algn="ctr">
              <a:buNone/>
            </a:pPr>
            <a:r>
              <a:rPr lang="pt-BR" sz="4800" dirty="0"/>
              <a:t>Redes neurais recorrentes (</a:t>
            </a:r>
            <a:r>
              <a:rPr lang="pt-BR" sz="4800" i="1" dirty="0" err="1"/>
              <a:t>recurrent</a:t>
            </a:r>
            <a:r>
              <a:rPr lang="pt-BR" sz="4800" i="1" dirty="0"/>
              <a:t> neural networks</a:t>
            </a:r>
            <a:r>
              <a:rPr lang="pt-BR" sz="4800" dirty="0"/>
              <a:t> – RNNs) têm memória e entrada variável!</a:t>
            </a:r>
            <a:endParaRPr lang="en-US" sz="4800" dirty="0"/>
          </a:p>
        </p:txBody>
      </p:sp>
      <p:pic>
        <p:nvPicPr>
          <p:cNvPr id="2050" name="Picture 2" descr="RNN be like! #RNN #NeuralNetwork #meme">
            <a:extLst>
              <a:ext uri="{FF2B5EF4-FFF2-40B4-BE49-F238E27FC236}">
                <a16:creationId xmlns:a16="http://schemas.microsoft.com/office/drawing/2014/main"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747" y="1911802"/>
            <a:ext cx="6326042" cy="35569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Aplicações de redes neurais recorrentes</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020425" cy="5032375"/>
          </a:xfrm>
        </p:spPr>
        <p:txBody>
          <a:bodyPr>
            <a:normAutofit/>
          </a:bodyPr>
          <a:lstStyle/>
          <a:p>
            <a:r>
              <a:rPr lang="pt-BR" dirty="0"/>
              <a:t>Previsão de séries temporais (e.g., clima, ações, vendas, etc.)</a:t>
            </a:r>
          </a:p>
          <a:p>
            <a:r>
              <a:rPr lang="pt-BR" dirty="0"/>
              <a:t>Tradução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a:p>
            <a:r>
              <a:rPr lang="pt-BR" dirty="0"/>
              <a:t>Dentre outras</a:t>
            </a:r>
          </a:p>
        </p:txBody>
      </p:sp>
    </p:spTree>
    <p:extLst>
      <p:ext uri="{BB962C8B-B14F-4D97-AF65-F5344CB8AC3E}">
        <p14:creationId xmlns:p14="http://schemas.microsoft.com/office/powerpoint/2010/main" val="318707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Padrões temporais</a:t>
            </a:r>
          </a:p>
        </p:txBody>
      </p:sp>
      <p:sp>
        <p:nvSpPr>
          <p:cNvPr id="3" name="Espaço Reservado para Conteúdo 2"/>
          <p:cNvSpPr>
            <a:spLocks noGrp="1"/>
          </p:cNvSpPr>
          <p:nvPr>
            <p:ph idx="1"/>
          </p:nvPr>
        </p:nvSpPr>
        <p:spPr>
          <a:xfrm>
            <a:off x="6001406" y="1690688"/>
            <a:ext cx="6190593" cy="5167311"/>
          </a:xfrm>
        </p:spPr>
        <p:txBody>
          <a:bodyPr>
            <a:normAutofit/>
          </a:bodyPr>
          <a:lstStyle/>
          <a:p>
            <a:r>
              <a:rPr lang="pt-BR" dirty="0"/>
              <a:t>CNNs aprendem padrões espaciais, enquanto RNNs aprendem </a:t>
            </a:r>
            <a:r>
              <a:rPr lang="pt-BR" b="1" dirty="0">
                <a:solidFill>
                  <a:srgbClr val="00B050"/>
                </a:solidFill>
              </a:rPr>
              <a:t>padrões temporais em sequências.</a:t>
            </a:r>
            <a:endParaRPr lang="pt-BR" dirty="0"/>
          </a:p>
          <a:p>
            <a:r>
              <a:rPr lang="pt-BR" dirty="0"/>
              <a:t>No exemplo ao lado, a RNN recebe um </a:t>
            </a:r>
            <a:r>
              <a:rPr lang="pt-BR" b="1" dirty="0">
                <a:solidFill>
                  <a:srgbClr val="00B0F0"/>
                </a:solidFill>
              </a:rPr>
              <a:t>contexto</a:t>
            </a:r>
            <a:r>
              <a:rPr lang="pt-BR" dirty="0"/>
              <a:t>: “</a:t>
            </a:r>
            <a:r>
              <a:rPr lang="pt-BR" b="1" dirty="0">
                <a:solidFill>
                  <a:srgbClr val="00B050"/>
                </a:solidFill>
              </a:rPr>
              <a:t>O gato subiu no</a:t>
            </a:r>
            <a:r>
              <a:rPr lang="pt-BR" dirty="0"/>
              <a:t>” e apresenta as palavras candidatas com suas respectivas probabilidades estimadas.</a:t>
            </a:r>
          </a:p>
          <a:p>
            <a:r>
              <a:rPr lang="pt-BR" dirty="0"/>
              <a:t>A RNN </a:t>
            </a:r>
            <a:r>
              <a:rPr lang="pt-BR" b="1" dirty="0">
                <a:solidFill>
                  <a:schemeClr val="accent2"/>
                </a:solidFill>
              </a:rPr>
              <a:t>acumula</a:t>
            </a:r>
            <a:r>
              <a:rPr lang="pt-BR" dirty="0"/>
              <a:t> (através da memória) </a:t>
            </a:r>
            <a:r>
              <a:rPr lang="pt-BR" b="1" dirty="0">
                <a:solidFill>
                  <a:srgbClr val="00B0F0"/>
                </a:solidFill>
              </a:rPr>
              <a:t>informação do contexto </a:t>
            </a:r>
            <a:r>
              <a:rPr lang="pt-BR" dirty="0"/>
              <a:t>que faz com que a pontuação de “Telhado” seja maior.</a:t>
            </a:r>
          </a:p>
          <a:p>
            <a:pPr marL="0" indent="0">
              <a:buNone/>
            </a:pPr>
            <a:endParaRPr lang="pt-BR" dirty="0"/>
          </a:p>
        </p:txBody>
      </p:sp>
      <p:pic>
        <p:nvPicPr>
          <p:cNvPr id="33" name="Imagem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115" y="2238702"/>
            <a:ext cx="5709296" cy="3768925"/>
          </a:xfrm>
          <a:prstGeom prst="rect">
            <a:avLst/>
          </a:prstGeom>
        </p:spPr>
      </p:pic>
    </p:spTree>
    <p:extLst>
      <p:ext uri="{BB962C8B-B14F-4D97-AF65-F5344CB8AC3E}">
        <p14:creationId xmlns:p14="http://schemas.microsoft.com/office/powerpoint/2010/main" val="590345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noProof="0" dirty="0"/>
              <a:t>Possuem </a:t>
            </a:r>
            <a:r>
              <a:rPr lang="pt-BR" b="1" noProof="0" dirty="0">
                <a:solidFill>
                  <a:srgbClr val="0070C0"/>
                </a:solidFill>
              </a:rPr>
              <a:t>laços de realimentação</a:t>
            </a:r>
            <a:r>
              <a:rPr lang="pt-BR" noProof="0" dirty="0"/>
              <a:t>.</a:t>
            </a:r>
          </a:p>
          <a:p>
            <a:r>
              <a:rPr lang="pt-BR" noProof="0" dirty="0"/>
              <a:t>Mantém um </a:t>
            </a:r>
            <a:r>
              <a:rPr lang="pt-BR" b="1" noProof="0" dirty="0">
                <a:solidFill>
                  <a:srgbClr val="0070C0"/>
                </a:solidFill>
              </a:rPr>
              <a:t>estado interno</a:t>
            </a:r>
            <a:r>
              <a:rPr lang="pt-BR" noProof="0" dirty="0"/>
              <a:t> (</a:t>
            </a:r>
            <a:r>
              <a:rPr lang="pt-BR" b="1" noProof="0" dirty="0">
                <a:solidFill>
                  <a:schemeClr val="accent2"/>
                </a:solidFill>
              </a:rPr>
              <a:t>memória</a:t>
            </a:r>
            <a:r>
              <a:rPr lang="pt-BR" noProof="0" dirty="0"/>
              <a:t>) que </a:t>
            </a:r>
            <a:r>
              <a:rPr lang="pt-BR" b="1" noProof="0" dirty="0">
                <a:solidFill>
                  <a:schemeClr val="accent6"/>
                </a:solidFill>
              </a:rPr>
              <a:t>resume</a:t>
            </a:r>
            <a:r>
              <a:rPr lang="pt-BR" b="1" noProof="0" dirty="0">
                <a:solidFill>
                  <a:schemeClr val="accent2"/>
                </a:solidFill>
              </a:rPr>
              <a:t> as entradas passadas</a:t>
            </a:r>
            <a:r>
              <a:rPr lang="pt-BR" noProof="0" dirty="0"/>
              <a:t>.</a:t>
            </a:r>
          </a:p>
          <a:p>
            <a:pPr lvl="0"/>
            <a:r>
              <a:rPr lang="pt-BR" noProof="0" dirty="0"/>
              <a:t>O estado é atualizado a cada passo de tempo a partir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anterior</a:t>
            </a:r>
            <a:r>
              <a:rPr lang="pt-BR" noProof="0" dirty="0"/>
              <a:t>.</a:t>
            </a:r>
          </a:p>
          <a:p>
            <a:pPr lvl="0"/>
            <a:r>
              <a:rPr lang="pt-BR" noProof="0" dirty="0"/>
              <a:t>A </a:t>
            </a:r>
            <a:r>
              <a:rPr lang="pt-BR" b="1" noProof="0" dirty="0">
                <a:solidFill>
                  <a:srgbClr val="00B050"/>
                </a:solidFill>
              </a:rPr>
              <a:t>saída</a:t>
            </a:r>
            <a:r>
              <a:rPr lang="pt-BR" noProof="0" dirty="0"/>
              <a:t> depende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interno</a:t>
            </a:r>
            <a:r>
              <a:rPr lang="pt-BR" noProof="0" dirty="0"/>
              <a:t>.</a:t>
            </a:r>
          </a:p>
        </p:txBody>
      </p:sp>
      <p:pic>
        <p:nvPicPr>
          <p:cNvPr id="3074" name="Picture 2" descr="RNN architecture and the concept of sequential memory |... | Fiveable">
            <a:extLst>
              <a:ext uri="{FF2B5EF4-FFF2-40B4-BE49-F238E27FC236}">
                <a16:creationId xmlns:a16="http://schemas.microsoft.com/office/drawing/2014/main"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4E3A9-57FD-9928-3B76-20D86E5368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id="{7BC8D1AF-6B61-5C93-6D51-B0F1660220EB}"/>
              </a:ext>
            </a:extLst>
          </p:cNvPr>
          <p:cNvSpPr>
            <a:spLocks noGrp="1"/>
          </p:cNvSpPr>
          <p:nvPr>
            <p:ph idx="1"/>
          </p:nvPr>
        </p:nvSpPr>
        <p:spPr>
          <a:xfrm>
            <a:off x="5339256" y="1825624"/>
            <a:ext cx="6852744" cy="5032375"/>
          </a:xfrm>
        </p:spPr>
        <p:txBody>
          <a:bodyPr>
            <a:normAutofit/>
          </a:bodyPr>
          <a:lstStyle/>
          <a:p>
            <a:pPr lvl="0"/>
            <a:r>
              <a:rPr lang="pt-BR" noProof="0" dirty="0"/>
              <a:t>Uma RNN lê a sequência </a:t>
            </a:r>
            <a:r>
              <a:rPr lang="pt-BR" b="1" noProof="0" dirty="0">
                <a:solidFill>
                  <a:srgbClr val="00B050"/>
                </a:solidFill>
              </a:rPr>
              <a:t>um elemento por vez</a:t>
            </a:r>
            <a:r>
              <a:rPr lang="pt-BR" noProof="0" dirty="0"/>
              <a:t> e </a:t>
            </a:r>
            <a:r>
              <a:rPr lang="pt-BR" b="1" noProof="0" dirty="0">
                <a:solidFill>
                  <a:schemeClr val="accent2"/>
                </a:solidFill>
              </a:rPr>
              <a:t>lembra do que já viu</a:t>
            </a:r>
            <a:r>
              <a:rPr lang="pt-BR" noProof="0" dirty="0"/>
              <a:t>.</a:t>
            </a:r>
          </a:p>
          <a:p>
            <a:pPr lvl="0"/>
            <a:r>
              <a:rPr lang="pt-BR" b="1" noProof="0" dirty="0"/>
              <a:t>Exemplo:</a:t>
            </a:r>
            <a:r>
              <a:rPr lang="pt-BR" noProof="0" dirty="0"/>
              <a:t> prever a próxima palavra de uma frase:</a:t>
            </a:r>
          </a:p>
          <a:p>
            <a:pPr marL="0" lvl="0" indent="0" algn="ctr">
              <a:buNone/>
            </a:pPr>
            <a:r>
              <a:rPr lang="pt-BR" noProof="0" dirty="0"/>
              <a:t> </a:t>
            </a:r>
            <a:r>
              <a:rPr lang="pt-BR" i="1" noProof="0" dirty="0"/>
              <a:t>"O gato subiu no ____"</a:t>
            </a:r>
            <a:endParaRPr lang="pt-BR" noProof="0" dirty="0"/>
          </a:p>
          <a:p>
            <a:pPr lvl="0"/>
            <a:r>
              <a:rPr lang="pt-BR" noProof="0" dirty="0"/>
              <a:t>A rede usa as </a:t>
            </a:r>
            <a:r>
              <a:rPr lang="pt-BR" b="1" noProof="0" dirty="0">
                <a:solidFill>
                  <a:srgbClr val="7030A0"/>
                </a:solidFill>
              </a:rPr>
              <a:t>palavras anteriores</a:t>
            </a:r>
            <a:r>
              <a:rPr lang="pt-BR" noProof="0" dirty="0"/>
              <a:t>, chamado de contexto, (</a:t>
            </a:r>
            <a:r>
              <a:rPr lang="pt-BR" i="1" noProof="0" dirty="0"/>
              <a:t>gato, subiu, no</a:t>
            </a:r>
            <a:r>
              <a:rPr lang="pt-BR" noProof="0" dirty="0"/>
              <a:t>) para atribuir probabilidades: </a:t>
            </a:r>
          </a:p>
          <a:p>
            <a:pPr lvl="1">
              <a:buFont typeface="Wingdings" panose="05000000000000000000" pitchFamily="2" charset="2"/>
              <a:buChar char="§"/>
            </a:pPr>
            <a:r>
              <a:rPr lang="pt-BR" b="1" noProof="0" dirty="0"/>
              <a:t>Alta:</a:t>
            </a:r>
            <a:r>
              <a:rPr lang="pt-BR" noProof="0" dirty="0"/>
              <a:t> telhado, muro, sofá</a:t>
            </a:r>
          </a:p>
          <a:p>
            <a:pPr lvl="1">
              <a:buFont typeface="Wingdings" panose="05000000000000000000" pitchFamily="2" charset="2"/>
              <a:buChar char="§"/>
            </a:pPr>
            <a:r>
              <a:rPr lang="pt-BR" b="1" noProof="0" dirty="0"/>
              <a:t>Baixa:</a:t>
            </a:r>
            <a:r>
              <a:rPr lang="pt-BR" noProof="0" dirty="0"/>
              <a:t> banana, ontem, azul</a:t>
            </a:r>
          </a:p>
        </p:txBody>
      </p:sp>
      <p:pic>
        <p:nvPicPr>
          <p:cNvPr id="3074" name="Picture 2" descr="RNN architecture and the concept of sequential memory |... | Fiveable">
            <a:extLst>
              <a:ext uri="{FF2B5EF4-FFF2-40B4-BE49-F238E27FC236}">
                <a16:creationId xmlns:a16="http://schemas.microsoft.com/office/drawing/2014/main"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1C89D-FF1F-2926-B807-E6ABE479C3E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id="{54CAE375-0AC4-4799-2DED-0550BB967A87}"/>
              </a:ext>
            </a:extLst>
          </p:cNvPr>
          <p:cNvSpPr>
            <a:spLocks noGrp="1"/>
          </p:cNvSpPr>
          <p:nvPr>
            <p:ph idx="1"/>
          </p:nvPr>
        </p:nvSpPr>
        <p:spPr>
          <a:xfrm>
            <a:off x="5443870" y="1825624"/>
            <a:ext cx="6748130" cy="5032375"/>
          </a:xfrm>
        </p:spPr>
        <p:txBody>
          <a:bodyPr>
            <a:normAutofit/>
          </a:bodyPr>
          <a:lstStyle/>
          <a:p>
            <a:pPr lvl="0"/>
            <a:r>
              <a:rPr lang="pt-BR" noProof="0" dirty="0"/>
              <a:t>Uma RNN </a:t>
            </a:r>
            <a:r>
              <a:rPr lang="pt-BR" b="1" noProof="0" dirty="0">
                <a:solidFill>
                  <a:srgbClr val="00B0F0"/>
                </a:solidFill>
              </a:rPr>
              <a:t>processa sequências de qualquer comprimento</a:t>
            </a:r>
            <a:r>
              <a:rPr lang="pt-BR" noProof="0" dirty="0"/>
              <a:t>, um elemento por vez.</a:t>
            </a:r>
          </a:p>
          <a:p>
            <a:pPr lvl="0"/>
            <a:r>
              <a:rPr lang="pt-BR" noProof="0" dirty="0"/>
              <a:t>A cada passo, ela </a:t>
            </a:r>
            <a:r>
              <a:rPr lang="pt-BR" b="1" noProof="0" dirty="0">
                <a:solidFill>
                  <a:srgbClr val="7030A0"/>
                </a:solidFill>
              </a:rPr>
              <a:t>usa o que se lembra do passado</a:t>
            </a:r>
            <a:r>
              <a:rPr lang="pt-BR" noProof="0" dirty="0"/>
              <a:t> para gerar a saída.</a:t>
            </a:r>
          </a:p>
          <a:p>
            <a:pPr lvl="0"/>
            <a:r>
              <a:rPr lang="pt-BR" b="1" noProof="0" dirty="0"/>
              <a:t>Limitação:</a:t>
            </a:r>
            <a:r>
              <a:rPr lang="pt-BR" noProof="0" dirty="0"/>
              <a:t> nas RNNs simples, a informação de entradas distantes </a:t>
            </a:r>
            <a:r>
              <a:rPr lang="pt-BR" b="1" noProof="0" dirty="0"/>
              <a:t>se perde</a:t>
            </a:r>
            <a:r>
              <a:rPr lang="pt-BR" noProof="0" dirty="0"/>
              <a:t> ao longo do tempo.</a:t>
            </a:r>
          </a:p>
          <a:p>
            <a:pPr lvl="1">
              <a:buFont typeface="Wingdings" panose="05000000000000000000" pitchFamily="2" charset="2"/>
              <a:buChar char="§"/>
            </a:pPr>
            <a:r>
              <a:rPr lang="pt-BR" b="1" noProof="0" dirty="0">
                <a:solidFill>
                  <a:schemeClr val="accent2"/>
                </a:solidFill>
              </a:rPr>
              <a:t>A memória</a:t>
            </a:r>
            <a:r>
              <a:rPr lang="pt-BR" noProof="0" dirty="0"/>
              <a:t> </a:t>
            </a:r>
            <a:r>
              <a:rPr lang="pt-BR" b="1" noProof="0" dirty="0">
                <a:solidFill>
                  <a:schemeClr val="accent2"/>
                </a:solidFill>
              </a:rPr>
              <a:t>desaparece</a:t>
            </a:r>
            <a:r>
              <a:rPr lang="pt-BR" noProof="0" dirty="0"/>
              <a:t> ao longo do tempo.</a:t>
            </a:r>
          </a:p>
          <a:p>
            <a:r>
              <a:rPr lang="pt-BR" b="1" dirty="0"/>
              <a:t>Exemplo</a:t>
            </a:r>
            <a:r>
              <a:rPr lang="pt-BR" dirty="0"/>
              <a:t>: "</a:t>
            </a:r>
            <a:r>
              <a:rPr lang="pt-BR" i="1" dirty="0"/>
              <a:t>O gato que foi atropelado e adotamos no ano passado subiu no ____"</a:t>
            </a:r>
            <a:endParaRPr lang="pt-BR" i="1" noProof="0" dirty="0"/>
          </a:p>
          <a:p>
            <a:endParaRPr lang="pt-BR" noProof="0" dirty="0"/>
          </a:p>
        </p:txBody>
      </p:sp>
      <p:pic>
        <p:nvPicPr>
          <p:cNvPr id="3074" name="Picture 2" descr="RNN architecture and the concept of sequential memory |... | Fiveable">
            <a:extLst>
              <a:ext uri="{FF2B5EF4-FFF2-40B4-BE49-F238E27FC236}">
                <a16:creationId xmlns:a16="http://schemas.microsoft.com/office/drawing/2014/main"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RNNs?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0C14-67BD-40CF-9A8F-E9FC30FC96E5}"/>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FF8CB8C-0F2B-7C4F-63CA-34C693F26321}"/>
                  </a:ext>
                </a:extLst>
              </p:cNvPr>
              <p:cNvSpPr>
                <a:spLocks noGrp="1"/>
              </p:cNvSpPr>
              <p:nvPr>
                <p:ph idx="1"/>
              </p:nvPr>
            </p:nvSpPr>
            <p:spPr>
              <a:xfrm>
                <a:off x="5475890" y="1996966"/>
                <a:ext cx="6632026" cy="4861034"/>
              </a:xfrm>
            </p:spPr>
            <p:txBody>
              <a:bodyPr/>
              <a:lstStyle/>
              <a:p>
                <a:r>
                  <a:rPr lang="pt-BR" noProof="0" dirty="0"/>
                  <a:t>As RNNs são compostas por </a:t>
                </a:r>
                <a:r>
                  <a:rPr lang="pt-BR" b="1" noProof="0" dirty="0">
                    <a:solidFill>
                      <a:srgbClr val="7030A0"/>
                    </a:solidFill>
                  </a:rPr>
                  <a:t>células (ou camadas) recorrentes</a:t>
                </a:r>
                <a:r>
                  <a:rPr lang="pt-BR" b="1" noProof="0" dirty="0"/>
                  <a:t>.</a:t>
                </a:r>
              </a:p>
              <a:p>
                <a:pPr lvl="0"/>
                <a:r>
                  <a:rPr lang="pt-BR" noProof="0" dirty="0"/>
                  <a:t>A célula recebe a </a:t>
                </a:r>
                <a:r>
                  <a:rPr lang="pt-BR" b="1" noProof="0" dirty="0"/>
                  <a:t>entrada atual</a:t>
                </a:r>
                <a:r>
                  <a:rPr lang="pt-BR" noProof="0" dirty="0"/>
                  <a:t> </a:t>
                </a:r>
                <a14:m>
                  <m:oMath xmlns:m="http://schemas.openxmlformats.org/officeDocument/2006/math">
                    <m:r>
                      <a:rPr lang="pt-BR" b="1" i="1" noProof="0">
                        <a:latin typeface="Cambria Math" panose="02040503050406030204" pitchFamily="18" charset="0"/>
                      </a:rPr>
                      <m:t>𝒙</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o </a:t>
                </a:r>
                <a:r>
                  <a:rPr lang="pt-BR" b="1" noProof="0" dirty="0"/>
                  <a:t>estado anterior</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−1]</m:t>
                    </m:r>
                  </m:oMath>
                </a14:m>
                <a:r>
                  <a:rPr lang="pt-BR" noProof="0" dirty="0"/>
                  <a:t>.</a:t>
                </a:r>
              </a:p>
              <a:p>
                <a:pPr lvl="0"/>
                <a:r>
                  <a:rPr lang="pt-BR" noProof="0" dirty="0"/>
                  <a:t>Ela combina os dois para calcular o </a:t>
                </a:r>
                <a:r>
                  <a:rPr lang="pt-BR" b="1" noProof="0" dirty="0"/>
                  <a:t>novo estado</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a </a:t>
                </a:r>
                <a:r>
                  <a:rPr lang="pt-BR" b="1" noProof="0" dirty="0"/>
                  <a:t>saída </a:t>
                </a:r>
                <a14:m>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a:p>
                <a:pPr lvl="0"/>
                <a:r>
                  <a:rPr lang="pt-BR" noProof="0" dirty="0"/>
                  <a:t>O </a:t>
                </a:r>
                <a:r>
                  <a:rPr lang="pt-BR" b="1" noProof="0" dirty="0"/>
                  <a:t>laço de realimentação</a:t>
                </a:r>
                <a:r>
                  <a:rPr lang="pt-BR" noProof="0" dirty="0"/>
                  <a:t> (em vermelho) é o que dá memória à rede.</a:t>
                </a:r>
              </a:p>
              <a:p>
                <a:endParaRPr lang="pt-BR" b="1" noProof="0" dirty="0"/>
              </a:p>
              <a:p>
                <a:endParaRPr lang="pt-BR" b="1" noProof="0" dirty="0"/>
              </a:p>
              <a:p>
                <a:pPr marL="0" indent="0" algn="ctr">
                  <a:buNone/>
                </a:pPr>
                <a:endParaRPr lang="pt-BR" noProof="0" dirty="0"/>
              </a:p>
            </p:txBody>
          </p:sp>
        </mc:Choice>
        <mc:Fallback xmlns="">
          <p:sp>
            <p:nvSpPr>
              <p:cNvPr id="3" name="Content Placeholder 2">
                <a:extLst>
                  <a:ext uri="{FF2B5EF4-FFF2-40B4-BE49-F238E27FC236}">
                    <a16:creationId xmlns:a16="http://schemas.microsoft.com/office/drawing/2014/main" id="{6FF8CB8C-0F2B-7C4F-63CA-34C693F26321}"/>
                  </a:ext>
                </a:extLst>
              </p:cNvPr>
              <p:cNvSpPr>
                <a:spLocks noGrp="1" noRot="1" noChangeAspect="1" noMove="1" noResize="1" noEditPoints="1" noAdjustHandles="1" noChangeArrowheads="1" noChangeShapeType="1" noTextEdit="1"/>
              </p:cNvSpPr>
              <p:nvPr>
                <p:ph idx="1"/>
              </p:nvPr>
            </p:nvSpPr>
            <p:spPr>
              <a:xfrm>
                <a:off x="5475890" y="1996966"/>
                <a:ext cx="6632026" cy="4861034"/>
              </a:xfrm>
              <a:blipFill>
                <a:blip r:embed="rId3"/>
                <a:stretch>
                  <a:fillRect l="-1654" t="-2133" r="-460"/>
                </a:stretch>
              </a:blipFill>
            </p:spPr>
            <p:txBody>
              <a:bodyPr/>
              <a:lstStyle/>
              <a:p>
                <a:r>
                  <a:rPr lang="en-US">
                    <a:noFill/>
                  </a:rPr>
                  <a:t> </a:t>
                </a:r>
              </a:p>
            </p:txBody>
          </p:sp>
        </mc:Fallback>
      </mc:AlternateContent>
      <p:pic>
        <p:nvPicPr>
          <p:cNvPr id="14" name="Imagem 13">
            <a:extLst>
              <a:ext uri="{FF2B5EF4-FFF2-40B4-BE49-F238E27FC236}">
                <a16:creationId xmlns:a16="http://schemas.microsoft.com/office/drawing/2014/main" id="{8A9CF2E0-A61D-C016-EC42-992C0D8F7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47418" y="1491683"/>
            <a:ext cx="2031428" cy="5081059"/>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49179-BA46-8C10-00C9-7227EB093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A993C-DAEE-C4BC-272A-C2D7C3B56B46}"/>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AE70A3D-8B65-8CA7-8EEA-8792C2A6EC35}"/>
                  </a:ext>
                </a:extLst>
              </p:cNvPr>
              <p:cNvSpPr>
                <a:spLocks noGrp="1"/>
              </p:cNvSpPr>
              <p:nvPr>
                <p:ph idx="1"/>
              </p:nvPr>
            </p:nvSpPr>
            <p:spPr>
              <a:xfrm>
                <a:off x="4014952" y="1633692"/>
                <a:ext cx="8177050" cy="5224308"/>
              </a:xfrm>
            </p:spPr>
            <p:txBody>
              <a:bodyPr>
                <a:normAutofit/>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a:t>
                </a:r>
                <a:r>
                  <a:rPr lang="en-US" dirty="0" err="1"/>
                  <a:t>vetor</a:t>
                </a:r>
                <a:r>
                  <a:rPr lang="en-US" dirty="0"/>
                  <a:t> de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t>
                </a:r>
                <a:r>
                  <a:rPr lang="en-US" dirty="0" err="1"/>
                  <a:t>ou</a:t>
                </a:r>
                <a:r>
                  <a:rPr lang="en-US" dirty="0"/>
                  <a:t> </a:t>
                </a:r>
                <a:r>
                  <a:rPr lang="en-US" dirty="0" err="1"/>
                  <a:t>oculto</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anterior</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dirty="0" err="1"/>
                  <a:t>matriz</a:t>
                </a:r>
                <a:r>
                  <a:rPr lang="en-US" dirty="0"/>
                  <a:t> de pesos de entrada</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dirty="0" err="1"/>
                  <a:t>matriz</a:t>
                </a:r>
                <a:r>
                  <a:rPr lang="en-US" dirty="0"/>
                  <a:t> de pesos da </a:t>
                </a:r>
                <a:r>
                  <a:rPr lang="en-US" dirty="0" err="1"/>
                  <a:t>camada</a:t>
                </a:r>
                <a:r>
                  <a:rPr lang="en-US" dirty="0"/>
                  <a:t> </a:t>
                </a:r>
                <a:r>
                  <a:rPr lang="en-US" dirty="0" err="1"/>
                  <a:t>recorrente</a:t>
                </a:r>
                <a:endParaRPr lang="en-US" dirty="0"/>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a:t>
                </a:r>
                <a:r>
                  <a:rPr lang="en-US" dirty="0" err="1"/>
                  <a:t>matriz</a:t>
                </a:r>
                <a:r>
                  <a:rPr lang="en-US" dirty="0"/>
                  <a:t> de pesos de </a:t>
                </a:r>
                <a:r>
                  <a:rPr lang="en-US" dirty="0" err="1"/>
                  <a:t>saída</a:t>
                </a:r>
                <a:endParaRPr lang="en-US" dirty="0"/>
              </a:p>
              <a:p>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e </a:t>
                </a:r>
                <a14:m>
                  <m:oMath xmlns:m="http://schemas.openxmlformats.org/officeDocument/2006/math">
                    <m:r>
                      <a:rPr lang="pt-BR" b="0" i="1" smtClean="0">
                        <a:latin typeface="Cambria Math" panose="02040503050406030204" pitchFamily="18" charset="0"/>
                      </a:rPr>
                      <m:t>𝑔</m:t>
                    </m:r>
                    <m:r>
                      <a:rPr lang="pt-BR" i="1">
                        <a:latin typeface="Cambria Math" panose="02040503050406030204" pitchFamily="18" charset="0"/>
                      </a:rPr>
                      <m:t>(.)</m:t>
                    </m:r>
                  </m:oMath>
                </a14:m>
                <a:r>
                  <a:rPr lang="en-US" dirty="0"/>
                  <a:t>: </a:t>
                </a:r>
                <a:r>
                  <a:rPr lang="en-US" dirty="0" err="1"/>
                  <a:t>funções</a:t>
                </a:r>
                <a:r>
                  <a:rPr lang="en-US" dirty="0"/>
                  <a:t> de </a:t>
                </a:r>
                <a:r>
                  <a:rPr lang="en-US" dirty="0" err="1"/>
                  <a:t>ativação</a:t>
                </a:r>
                <a:r>
                  <a:rPr lang="en-US" dirty="0"/>
                  <a:t>, e.g., </a:t>
                </a:r>
                <a:r>
                  <a:rPr lang="en-US" i="1" dirty="0"/>
                  <a:t>tanh</a:t>
                </a:r>
                <a:r>
                  <a:rPr lang="en-US" dirty="0"/>
                  <a:t> e </a:t>
                </a:r>
                <a:r>
                  <a:rPr lang="en-US" i="1" dirty="0"/>
                  <a:t>softmax</a:t>
                </a:r>
              </a:p>
              <a:p>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soma de </a:t>
                </a:r>
                <a:r>
                  <a:rPr lang="en-US" dirty="0" err="1"/>
                  <a:t>vetores</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014952" y="1633692"/>
                <a:ext cx="8177050" cy="5224308"/>
              </a:xfrm>
              <a:blipFill>
                <a:blip r:embed="rId3"/>
                <a:stretch>
                  <a:fillRect t="-1984" r="-522" b="-467"/>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id="{E5AC89AF-397B-459B-5F3A-82035F5A9D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7840" y="1528589"/>
            <a:ext cx="2077473" cy="5224308"/>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58F59-116C-8F6D-B7AC-0250568F7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402BEF-ABFC-2E52-8381-46A90E9EEC6F}"/>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FC11EF-1F73-384D-FC08-ADC0A69BE1A6}"/>
                  </a:ext>
                </a:extLst>
              </p:cNvPr>
              <p:cNvSpPr>
                <a:spLocks noGrp="1"/>
              </p:cNvSpPr>
              <p:nvPr>
                <p:ph idx="1"/>
              </p:nvPr>
            </p:nvSpPr>
            <p:spPr>
              <a:xfrm>
                <a:off x="5013433" y="1825624"/>
                <a:ext cx="7090581" cy="5032375"/>
              </a:xfrm>
            </p:spPr>
            <p:txBody>
              <a:bodyPr>
                <a:normAutofit/>
              </a:bodyPr>
              <a:lstStyle/>
              <a:p>
                <a:pPr lvl="0"/>
                <a:r>
                  <a:rPr lang="pt-BR" noProof="0" dirty="0"/>
                  <a:t>A cada passo, a célula combina a </a:t>
                </a:r>
                <a:r>
                  <a:rPr lang="pt-BR" b="1" noProof="0" dirty="0"/>
                  <a:t>entrada atual</a:t>
                </a:r>
                <a:r>
                  <a:rPr lang="pt-BR" noProof="0"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com o </a:t>
                </a:r>
                <a:r>
                  <a:rPr lang="pt-BR" b="1" noProof="0" dirty="0"/>
                  <a:t>estado oculto anterior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a:t>
                </a:r>
              </a:p>
              <a:p>
                <a:pPr lvl="0"/>
                <a:r>
                  <a:rPr lang="pt-BR" noProof="0" dirty="0"/>
                  <a:t>O resultado é o </a:t>
                </a:r>
                <a:r>
                  <a:rPr lang="pt-BR" b="1" noProof="0" dirty="0"/>
                  <a:t>novo estado oculto</a:t>
                </a:r>
                <a:r>
                  <a:rPr lang="pt-BR" noProof="0"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 um </a:t>
                </a:r>
                <a:r>
                  <a:rPr lang="pt-BR" b="1" noProof="0" dirty="0">
                    <a:solidFill>
                      <a:srgbClr val="00B050"/>
                    </a:solidFill>
                  </a:rPr>
                  <a:t>resumo </a:t>
                </a:r>
                <a:r>
                  <a:rPr lang="pt-BR" noProof="0" dirty="0"/>
                  <a:t>da sequência até agora (i.e., a </a:t>
                </a:r>
                <a:r>
                  <a:rPr lang="pt-BR" b="1" noProof="0" dirty="0"/>
                  <a:t>memória</a:t>
                </a:r>
                <a:r>
                  <a:rPr lang="pt-BR" noProof="0" dirty="0"/>
                  <a:t>).</a:t>
                </a:r>
              </a:p>
              <a:p>
                <a:pPr lvl="0"/>
                <a:r>
                  <a:rPr lang="pt-BR" noProof="0" dirty="0"/>
                  <a:t>A partir de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a célula gera a </a:t>
                </a:r>
                <a:r>
                  <a:rPr lang="pt-BR" b="1" noProof="0" dirty="0"/>
                  <a:t>saída</a:t>
                </a:r>
                <a:r>
                  <a:rPr lang="pt-BR" noProof="0" dirty="0"/>
                  <a:t>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a:t>
                </a:r>
              </a:p>
              <a:p>
                <a:pPr lvl="0"/>
                <a:r>
                  <a:rPr lang="pt-BR" noProof="0" dirty="0"/>
                  <a:t>No treinamento, ela aprende </a:t>
                </a:r>
                <a:r>
                  <a:rPr lang="pt-BR" b="1" noProof="0" dirty="0"/>
                  <a:t>o que guardar do passado</a:t>
                </a:r>
                <a:r>
                  <a:rPr lang="pt-BR" noProof="0" dirty="0"/>
                  <a:t> e </a:t>
                </a:r>
                <a:r>
                  <a:rPr lang="pt-BR" b="1" noProof="0" dirty="0"/>
                  <a:t>como usá-lo</a:t>
                </a:r>
                <a:r>
                  <a:rPr lang="pt-BR" noProof="0" dirty="0"/>
                  <a:t> junto com a entrada.</a:t>
                </a:r>
              </a:p>
            </p:txBody>
          </p:sp>
        </mc:Choice>
        <mc:Fallback xmlns="">
          <p:sp>
            <p:nvSpPr>
              <p:cNvPr id="3" name="Content Placeholder 2">
                <a:extLst>
                  <a:ext uri="{FF2B5EF4-FFF2-40B4-BE49-F238E27FC236}">
                    <a16:creationId xmlns:a16="http://schemas.microsoft.com/office/drawing/2014/main" xmlns:a14="http://schemas.microsoft.com/office/drawing/2010/main" xmlns="" id="{AAFC11EF-1F73-384D-FC08-ADC0A69BE1A6}"/>
                  </a:ext>
                </a:extLst>
              </p:cNvPr>
              <p:cNvSpPr>
                <a:spLocks noGrp="1" noRot="1" noChangeAspect="1" noMove="1" noResize="1" noEditPoints="1" noAdjustHandles="1" noChangeArrowheads="1" noChangeShapeType="1" noTextEdit="1"/>
              </p:cNvSpPr>
              <p:nvPr>
                <p:ph idx="1"/>
              </p:nvPr>
            </p:nvSpPr>
            <p:spPr>
              <a:xfrm>
                <a:off x="5013433" y="1825624"/>
                <a:ext cx="7090581" cy="5032375"/>
              </a:xfrm>
              <a:blipFill rotWithShape="0">
                <a:blip r:embed="rId3"/>
                <a:stretch>
                  <a:fillRect l="-1546" t="-1937" r="-773"/>
                </a:stretch>
              </a:blipFill>
            </p:spPr>
            <p:txBody>
              <a:bodyPr/>
              <a:lstStyle/>
              <a:p>
                <a:r>
                  <a:rPr lang="pt-BR">
                    <a:noFill/>
                  </a:rPr>
                  <a:t> </a:t>
                </a:r>
              </a:p>
            </p:txBody>
          </p:sp>
        </mc:Fallback>
      </mc:AlternateContent>
      <p:pic>
        <p:nvPicPr>
          <p:cNvPr id="8" name="Imagem 7">
            <a:extLst>
              <a:ext uri="{FF2B5EF4-FFF2-40B4-BE49-F238E27FC236}">
                <a16:creationId xmlns:a16="http://schemas.microsoft.com/office/drawing/2014/main" id="{1C0D967B-A163-6D36-8E4B-4F2A4B6F8DA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8FD72E-BE70-A3E4-42F1-AA2A1AE8D958}"/>
                  </a:ext>
                </a:extLst>
              </p:cNvPr>
              <p:cNvSpPr>
                <a:spLocks noGrp="1"/>
              </p:cNvSpPr>
              <p:nvPr>
                <p:ph idx="1"/>
              </p:nvPr>
            </p:nvSpPr>
            <p:spPr>
              <a:xfrm>
                <a:off x="4540469" y="1825624"/>
                <a:ext cx="7651531" cy="5032375"/>
              </a:xfrm>
            </p:spPr>
            <p:txBody>
              <a:bodyPr>
                <a:normAutofit/>
              </a:bodyPr>
              <a:lstStyle/>
              <a:p>
                <a:r>
                  <a:rPr lang="pt-BR" noProof="0" dirty="0"/>
                  <a:t>Equações de </a:t>
                </a:r>
                <a:r>
                  <a:rPr lang="pt-BR" b="1" noProof="0" dirty="0">
                    <a:solidFill>
                      <a:srgbClr val="00B050"/>
                    </a:solidFill>
                  </a:rPr>
                  <a:t>atualização do estado oculto</a:t>
                </a:r>
                <a:r>
                  <a:rPr lang="pt-BR" noProof="0" dirty="0"/>
                  <a:t> e de </a:t>
                </a:r>
                <a:r>
                  <a:rPr lang="pt-BR" b="1" noProof="0" dirty="0">
                    <a:solidFill>
                      <a:srgbClr val="00B050"/>
                    </a:solidFill>
                  </a:rPr>
                  <a:t>saída da célula </a:t>
                </a:r>
                <a:r>
                  <a:rPr lang="pt-BR" noProof="0" dirty="0"/>
                  <a:t>recorrente:</a:t>
                </a:r>
              </a:p>
              <a:p>
                <a:pPr marL="0" indent="0" algn="ctr">
                  <a:buNone/>
                </a:pPr>
                <a14:m>
                  <m:oMathPara xmlns:m="http://schemas.openxmlformats.org/officeDocument/2006/math">
                    <m:oMath>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r>
                        <a:rPr lang="pt-BR" b="0" i="1" noProof="0" smtClean="0">
                          <a:latin typeface="Cambria Math" panose="02040503050406030204" pitchFamily="18" charset="0"/>
                        </a:rPr>
                        <m:t>𝑓</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ℎ</m:t>
                              </m:r>
                            </m:sub>
                          </m:sSub>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r>
                                <a:rPr lang="pt-BR" b="0" i="1" noProof="0" smtClean="0">
                                  <a:latin typeface="Cambria Math" panose="02040503050406030204" pitchFamily="18" charset="0"/>
                                </a:rPr>
                                <m:t>−1</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b="0" i="1" noProof="0" smtClean="0">
                                  <a:latin typeface="Cambria Math" panose="02040503050406030204" pitchFamily="18" charset="0"/>
                                </a:rPr>
                                <m:t>𝑖</m:t>
                              </m:r>
                            </m:sub>
                          </m:sSub>
                          <m:r>
                            <a:rPr lang="pt-BR" b="1" i="1" noProof="0" smtClean="0">
                              <a:latin typeface="Cambria Math" panose="02040503050406030204" pitchFamily="18" charset="0"/>
                            </a:rPr>
                            <m:t>𝒙</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b="0" i="1" noProof="0" smtClean="0">
                                  <a:latin typeface="Cambria Math" panose="02040503050406030204" pitchFamily="18" charset="0"/>
                                </a:rPr>
                                <m:t>ℎ</m:t>
                              </m:r>
                            </m:sub>
                          </m:sSub>
                        </m:e>
                      </m:d>
                      <m:r>
                        <a:rPr lang="pt-BR" b="0" i="0" noProof="0" smtClean="0">
                          <a:latin typeface="Cambria Math" panose="02040503050406030204" pitchFamily="18" charset="0"/>
                        </a:rPr>
                        <m:t>,</m:t>
                      </m:r>
                    </m:oMath>
                  </m:oMathPara>
                </a14:m>
                <a:endParaRPr lang="pt-BR" noProof="0" dirty="0"/>
              </a:p>
              <a:p>
                <a:pPr marL="0" indent="0" algn="ctr">
                  <a:buNone/>
                </a:pPr>
                <a:endParaRPr lang="pt-BR" sz="700" noProof="0" dirty="0"/>
              </a:p>
              <a:p>
                <a:pPr marL="0" indent="0" algn="ctr">
                  <a:buNone/>
                </a:pPr>
                <a14:m>
                  <m:oMathPara xmlns:m="http://schemas.openxmlformats.org/officeDocument/2006/math">
                    <m:o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i="1" noProof="0">
                          <a:latin typeface="Cambria Math" panose="02040503050406030204" pitchFamily="18" charset="0"/>
                        </a:rPr>
                        <m:t>=</m:t>
                      </m:r>
                      <m:r>
                        <a:rPr lang="pt-BR" b="0" i="1" noProof="0" smtClean="0">
                          <a:latin typeface="Cambria Math" panose="02040503050406030204" pitchFamily="18" charset="0"/>
                        </a:rPr>
                        <m:t>𝑔</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𝑜</m:t>
                              </m:r>
                            </m:sub>
                          </m:sSub>
                          <m:r>
                            <a:rPr lang="pt-BR" b="1" i="1" noProof="0">
                              <a:latin typeface="Cambria Math" panose="02040503050406030204" pitchFamily="18" charset="0"/>
                            </a:rPr>
                            <m:t>𝒉</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e>
                      </m:d>
                      <m:r>
                        <a:rPr lang="pt-BR" b="1" i="1" noProof="0" smtClean="0">
                          <a:latin typeface="Cambria Math" panose="02040503050406030204" pitchFamily="18" charset="0"/>
                        </a:rPr>
                        <m:t>,</m:t>
                      </m:r>
                    </m:oMath>
                  </m:oMathPara>
                </a14:m>
                <a:endParaRPr lang="pt-BR" noProof="0" dirty="0"/>
              </a:p>
              <a:p>
                <a:pPr marL="0" indent="0">
                  <a:buNone/>
                </a:pPr>
                <a:r>
                  <a:rPr lang="pt-BR" noProof="0" dirty="0"/>
                  <a:t>onde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ℎ</m:t>
                        </m:r>
                      </m:sub>
                    </m:sSub>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oMath>
                </a14:m>
                <a:r>
                  <a:rPr lang="pt-BR" noProof="0" dirty="0"/>
                  <a:t> são vetores de </a:t>
                </a:r>
                <a:r>
                  <a:rPr lang="pt-BR" i="1" noProof="0" dirty="0"/>
                  <a:t>bias</a:t>
                </a:r>
                <a:r>
                  <a:rPr lang="pt-BR" noProof="0" dirty="0"/>
                  <a:t>.</a:t>
                </a:r>
              </a:p>
              <a:p>
                <a:r>
                  <a:rPr lang="pt-BR" noProof="0" dirty="0"/>
                  <a:t>Os </a:t>
                </a:r>
                <a:r>
                  <a:rPr lang="pt-BR" b="1" noProof="0" dirty="0">
                    <a:solidFill>
                      <a:schemeClr val="accent2"/>
                    </a:solidFill>
                  </a:rPr>
                  <a:t>pesos são os mesmos</a:t>
                </a:r>
                <a:r>
                  <a:rPr lang="pt-BR" noProof="0" dirty="0"/>
                  <a:t> em </a:t>
                </a:r>
                <a:r>
                  <a:rPr lang="pt-BR" b="1" noProof="0" dirty="0">
                    <a:solidFill>
                      <a:srgbClr val="7030A0"/>
                    </a:solidFill>
                  </a:rPr>
                  <a:t>todos os intervalos de tempo</a:t>
                </a:r>
                <a:r>
                  <a:rPr lang="pt-BR" noProof="0" dirty="0"/>
                  <a:t>.</a:t>
                </a:r>
              </a:p>
              <a:p>
                <a:r>
                  <a:rPr lang="pt-BR" noProof="0" dirty="0"/>
                  <a:t>Em geral, usa-se funções de ativação, </a:t>
                </a:r>
                <a14:m>
                  <m:oMath xmlns:m="http://schemas.openxmlformats.org/officeDocument/2006/math">
                    <m:r>
                      <a:rPr lang="pt-BR" i="1" noProof="0">
                        <a:latin typeface="Cambria Math" panose="02040503050406030204" pitchFamily="18" charset="0"/>
                      </a:rPr>
                      <m:t>𝑓</m:t>
                    </m:r>
                    <m:r>
                      <a:rPr lang="pt-BR" i="1" noProof="0">
                        <a:latin typeface="Cambria Math" panose="02040503050406030204" pitchFamily="18" charset="0"/>
                      </a:rPr>
                      <m:t>(.)</m:t>
                    </m:r>
                  </m:oMath>
                </a14:m>
                <a:r>
                  <a:rPr lang="pt-BR" noProof="0" dirty="0"/>
                  <a:t>, do tipo </a:t>
                </a:r>
                <a:r>
                  <a:rPr lang="pt-BR" b="1" noProof="0" dirty="0">
                    <a:solidFill>
                      <a:schemeClr val="accent2"/>
                    </a:solidFill>
                  </a:rPr>
                  <a:t>tangente hiperbólica</a:t>
                </a:r>
                <a:r>
                  <a:rPr lang="pt-BR" noProof="0" dirty="0"/>
                  <a:t> (tanh) ou </a:t>
                </a:r>
                <a:r>
                  <a:rPr lang="pt-BR" b="1" noProof="0" dirty="0" err="1">
                    <a:solidFill>
                      <a:schemeClr val="accent2"/>
                    </a:solidFill>
                  </a:rPr>
                  <a:t>sigmóide</a:t>
                </a:r>
                <a:r>
                  <a:rPr lang="pt-BR" noProof="0" dirty="0"/>
                  <a:t>.</a:t>
                </a:r>
              </a:p>
              <a:p>
                <a:pPr lvl="1">
                  <a:buFont typeface="Wingdings" panose="05000000000000000000" pitchFamily="2" charset="2"/>
                  <a:buChar char="§"/>
                </a:pPr>
                <a:r>
                  <a:rPr lang="pt-BR" noProof="0" dirty="0"/>
                  <a:t>Não se usa </a:t>
                </a:r>
                <a:r>
                  <a:rPr lang="pt-BR" noProof="0" dirty="0" err="1"/>
                  <a:t>ReLU</a:t>
                </a:r>
                <a:r>
                  <a:rPr lang="pt-BR" noProof="0" dirty="0"/>
                  <a:t>, pois </a:t>
                </a:r>
                <a:r>
                  <a:rPr lang="pt-BR" b="1" noProof="0" dirty="0">
                    <a:solidFill>
                      <a:schemeClr val="accent1"/>
                    </a:solidFill>
                  </a:rPr>
                  <a:t>por não saturarem</a:t>
                </a:r>
                <a:r>
                  <a:rPr lang="pt-BR" noProof="0" dirty="0"/>
                  <a:t>, a </a:t>
                </a:r>
                <a:r>
                  <a:rPr lang="pt-BR" b="1" noProof="0" dirty="0">
                    <a:solidFill>
                      <a:schemeClr val="accent1"/>
                    </a:solidFill>
                  </a:rPr>
                  <a:t>recorrência</a:t>
                </a:r>
                <a:r>
                  <a:rPr lang="pt-BR" noProof="0" dirty="0"/>
                  <a:t> pode </a:t>
                </a:r>
                <a:r>
                  <a:rPr lang="pt-BR" b="1" noProof="0" dirty="0">
                    <a:solidFill>
                      <a:schemeClr val="accent1"/>
                    </a:solidFill>
                  </a:rPr>
                  <a:t>causar explosão do gradiente</a:t>
                </a:r>
                <a:r>
                  <a:rPr lang="pt-BR" noProof="0" dirty="0"/>
                  <a:t>.</a:t>
                </a:r>
              </a:p>
              <a:p>
                <a:pPr algn="ctr"/>
                <a:endParaRPr lang="pt-BR" noProof="0"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540469" y="1825624"/>
                <a:ext cx="7651531" cy="5032375"/>
              </a:xfrm>
              <a:blipFill>
                <a:blip r:embed="rId3"/>
                <a:stretch>
                  <a:fillRect l="-1673"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A2B84AD5-0ADB-ECCE-611C-A54718165CC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77AF7-AEE9-58FC-8805-639651C8A0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B90BF9-4F35-7CC8-B4A2-9A0C7D20F69B}"/>
              </a:ext>
            </a:extLst>
          </p:cNvPr>
          <p:cNvSpPr>
            <a:spLocks noGrp="1"/>
          </p:cNvSpPr>
          <p:nvPr>
            <p:ph type="title"/>
          </p:nvPr>
        </p:nvSpPr>
        <p:spPr/>
        <p:txBody>
          <a:bodyPr/>
          <a:lstStyle/>
          <a:p>
            <a:r>
              <a:rPr lang="pt-BR" dirty="0"/>
              <a:t>Célula recorrente</a:t>
            </a:r>
            <a:endParaRPr lang="en-US" dirty="0"/>
          </a:p>
        </p:txBody>
      </p:sp>
      <p:sp>
        <p:nvSpPr>
          <p:cNvPr id="6" name="Content Placeholder 5">
            <a:extLst>
              <a:ext uri="{FF2B5EF4-FFF2-40B4-BE49-F238E27FC236}">
                <a16:creationId xmlns:a16="http://schemas.microsoft.com/office/drawing/2014/main" id="{32AD1736-B6E9-B84B-54CD-849BC507F765}"/>
              </a:ext>
            </a:extLst>
          </p:cNvPr>
          <p:cNvSpPr>
            <a:spLocks noGrp="1"/>
          </p:cNvSpPr>
          <p:nvPr>
            <p:ph idx="1"/>
          </p:nvPr>
        </p:nvSpPr>
        <p:spPr>
          <a:xfrm>
            <a:off x="6287678" y="1825625"/>
            <a:ext cx="5904322" cy="5032374"/>
          </a:xfrm>
        </p:spPr>
        <p:txBody>
          <a:bodyPr/>
          <a:lstStyle/>
          <a:p>
            <a:r>
              <a:rPr lang="pt-BR" dirty="0"/>
              <a:t>Representação </a:t>
            </a:r>
            <a:r>
              <a:rPr lang="pt-BR" b="1" dirty="0">
                <a:solidFill>
                  <a:schemeClr val="accent2"/>
                </a:solidFill>
              </a:rPr>
              <a:t>simplificada</a:t>
            </a:r>
            <a:r>
              <a:rPr lang="pt-BR" dirty="0"/>
              <a:t> da célula recorrente.</a:t>
            </a:r>
          </a:p>
          <a:p>
            <a:r>
              <a:rPr lang="pt-BR" dirty="0"/>
              <a:t>Ela omite a maioria das matrizes de pesos, mostrando uma caixa laranja que corresponde a uma camada densa com função de ativação do tipo tangente hiperbólica (</a:t>
            </a:r>
            <a:r>
              <a:rPr lang="pt-BR" i="1" dirty="0"/>
              <a:t>tanh</a:t>
            </a:r>
            <a:r>
              <a:rPr lang="pt-BR" dirty="0"/>
              <a:t>).</a:t>
            </a:r>
          </a:p>
          <a:p>
            <a:pPr lvl="1">
              <a:buFont typeface="Wingdings" panose="05000000000000000000" pitchFamily="2" charset="2"/>
              <a:buChar char="§"/>
            </a:pPr>
            <a:r>
              <a:rPr lang="pt-BR" dirty="0"/>
              <a:t>Ou seja, uma matriz de pesos com função </a:t>
            </a:r>
            <a:r>
              <a:rPr lang="pt-BR" i="1" dirty="0"/>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a16="http://schemas.microsoft.com/office/drawing/2014/main"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8E223-5A55-598C-6C3A-13F57278F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C890A9-36F8-D703-4FF3-2ECF4E39FAC7}"/>
              </a:ext>
            </a:extLst>
          </p:cNvPr>
          <p:cNvSpPr>
            <a:spLocks noGrp="1"/>
          </p:cNvSpPr>
          <p:nvPr>
            <p:ph type="title"/>
          </p:nvPr>
        </p:nvSpPr>
        <p:spPr/>
        <p:txBody>
          <a:bodyPr/>
          <a:lstStyle/>
          <a:p>
            <a:r>
              <a:rPr lang="pt-BR" dirty="0"/>
              <a:t>Célula recorrente: passo a passo</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D53E8F3-31EC-96A2-5086-93E2C9E2F130}"/>
                  </a:ext>
                </a:extLst>
              </p:cNvPr>
              <p:cNvSpPr>
                <a:spLocks noGrp="1"/>
              </p:cNvSpPr>
              <p:nvPr>
                <p:ph idx="1"/>
              </p:nvPr>
            </p:nvSpPr>
            <p:spPr>
              <a:xfrm>
                <a:off x="5381296" y="1825624"/>
                <a:ext cx="6663559" cy="5032375"/>
              </a:xfrm>
            </p:spPr>
            <p:txBody>
              <a:bodyPr>
                <a:normAutofit/>
              </a:bodyPr>
              <a:lstStyle/>
              <a:p>
                <a:pPr lvl="0"/>
                <a:r>
                  <a:rPr lang="pt-BR" noProof="0" dirty="0"/>
                  <a:t>A cada passo de tempo </a:t>
                </a:r>
                <a14:m>
                  <m:oMath xmlns:m="http://schemas.openxmlformats.org/officeDocument/2006/math">
                    <m:r>
                      <a:rPr lang="pt-BR" b="0" i="1" noProof="0" smtClean="0">
                        <a:latin typeface="Cambria Math" panose="02040503050406030204" pitchFamily="18" charset="0"/>
                      </a:rPr>
                      <m:t>𝑡</m:t>
                    </m:r>
                  </m:oMath>
                </a14:m>
                <a:r>
                  <a:rPr lang="pt-BR" noProof="0" dirty="0"/>
                  <a:t>, a célula lê </a:t>
                </a:r>
                <a:r>
                  <a:rPr lang="pt-BR" b="1" noProof="0" dirty="0"/>
                  <a:t>um elemento</a:t>
                </a:r>
                <a:r>
                  <a:rPr lang="pt-BR" noProof="0" dirty="0"/>
                  <a:t> da sequência (e.g., uma palavra) e faz:</a:t>
                </a:r>
              </a:p>
              <a:p>
                <a:pPr marL="971550" lvl="1" indent="-514350">
                  <a:buFont typeface="+mj-lt"/>
                  <a:buAutoNum type="arabicPeriod"/>
                </a:pPr>
                <a:r>
                  <a:rPr lang="pt-BR" noProof="0" dirty="0"/>
                  <a:t>Recebe a entrada atual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o estado oculto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−1</m:t>
                        </m:r>
                      </m:sub>
                    </m:sSub>
                  </m:oMath>
                </a14:m>
                <a:r>
                  <a:rPr lang="pt-BR" noProof="0" dirty="0"/>
                  <a:t> (a memória).</a:t>
                </a:r>
              </a:p>
              <a:p>
                <a:pPr marL="971550" lvl="1" indent="-514350">
                  <a:buFont typeface="+mj-lt"/>
                  <a:buAutoNum type="arabicPeriod"/>
                </a:pPr>
                <a:r>
                  <a:rPr lang="pt-BR" noProof="0" dirty="0"/>
                  <a:t>Combina os dois e aplica </a:t>
                </a:r>
                <a:r>
                  <a:rPr lang="pt-BR" i="1" noProof="0" dirty="0"/>
                  <a:t>tanh</a:t>
                </a:r>
                <a:r>
                  <a:rPr lang="pt-BR" noProof="0" dirty="0"/>
                  <a:t>, obtendo o novo estado oculto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Gera a saída </a:t>
                </a:r>
                <a14:m>
                  <m:oMath xmlns:m="http://schemas.openxmlformats.org/officeDocument/2006/math">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e>
                      <m:sub>
                        <m:r>
                          <a:rPr lang="pt-BR" i="1" noProof="0">
                            <a:latin typeface="Cambria Math" panose="02040503050406030204" pitchFamily="18" charset="0"/>
                          </a:rPr>
                          <m:t>𝑡</m:t>
                        </m:r>
                      </m:sub>
                    </m:sSub>
                  </m:oMath>
                </a14:m>
                <a:r>
                  <a:rPr lang="pt-BR" noProof="0" dirty="0"/>
                  <a:t> a partir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Passa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como memória para o passo seguinte, </a:t>
                </a:r>
                <a14:m>
                  <m:oMath xmlns:m="http://schemas.openxmlformats.org/officeDocument/2006/math">
                    <m:r>
                      <a:rPr lang="pt-BR" i="1" noProof="0">
                        <a:latin typeface="Cambria Math" panose="02040503050406030204" pitchFamily="18" charset="0"/>
                      </a:rPr>
                      <m:t>𝑡</m:t>
                    </m:r>
                    <m:r>
                      <a:rPr lang="pt-BR" b="0" i="1" noProof="0" smtClean="0">
                        <a:latin typeface="Cambria Math" panose="02040503050406030204" pitchFamily="18" charset="0"/>
                      </a:rPr>
                      <m:t>+1</m:t>
                    </m:r>
                  </m:oMath>
                </a14:m>
                <a:r>
                  <a:rPr lang="pt-BR" noProof="0" dirty="0"/>
                  <a:t>.</a:t>
                </a:r>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381296" y="1825624"/>
                <a:ext cx="6663559" cy="5032375"/>
              </a:xfrm>
              <a:blipFill>
                <a:blip r:embed="rId3"/>
                <a:stretch>
                  <a:fillRect l="-1647" t="-1937" r="-164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0328078-28FA-5FA3-68F1-4398297E5E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9210" y="2573382"/>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CCFD-0543-06DD-7892-9350766B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FA564-8D37-E78F-6C2D-C8AEECB3EDEE}"/>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F51CED60-E2E0-E6E6-3AEA-0C1BC0126F20}"/>
              </a:ext>
            </a:extLst>
          </p:cNvPr>
          <p:cNvSpPr>
            <a:spLocks noGrp="1"/>
          </p:cNvSpPr>
          <p:nvPr>
            <p:ph idx="1"/>
          </p:nvPr>
        </p:nvSpPr>
        <p:spPr>
          <a:xfrm>
            <a:off x="7378263" y="1825624"/>
            <a:ext cx="4813738" cy="5032375"/>
          </a:xfrm>
        </p:spPr>
        <p:txBody>
          <a:bodyPr>
            <a:normAutofit lnSpcReduction="10000"/>
          </a:bodyPr>
          <a:lstStyle/>
          <a:p>
            <a:pPr lvl="0"/>
            <a:r>
              <a:rPr lang="pt-BR" noProof="0" dirty="0"/>
              <a:t>O </a:t>
            </a:r>
            <a:r>
              <a:rPr lang="pt-BR" b="1" noProof="0" dirty="0">
                <a:solidFill>
                  <a:schemeClr val="accent2"/>
                </a:solidFill>
              </a:rPr>
              <a:t>laço</a:t>
            </a:r>
            <a:r>
              <a:rPr lang="pt-BR" noProof="0" dirty="0"/>
              <a:t> é uma forma compacta de desenhar a RNN. </a:t>
            </a:r>
          </a:p>
          <a:p>
            <a:pPr lvl="0"/>
            <a:r>
              <a:rPr lang="pt-BR" noProof="0" dirty="0"/>
              <a:t>Para ver o que acontece ao longo da sequência, </a:t>
            </a:r>
            <a:r>
              <a:rPr lang="pt-BR" b="1" noProof="0" dirty="0">
                <a:solidFill>
                  <a:srgbClr val="7030A0"/>
                </a:solidFill>
              </a:rPr>
              <a:t>desdobramos</a:t>
            </a:r>
            <a:r>
              <a:rPr lang="pt-BR" noProof="0" dirty="0"/>
              <a:t> a rede </a:t>
            </a:r>
            <a:r>
              <a:rPr lang="pt-BR" b="1" noProof="0" dirty="0">
                <a:solidFill>
                  <a:srgbClr val="00B050"/>
                </a:solidFill>
              </a:rPr>
              <a:t>no tempo</a:t>
            </a:r>
            <a:r>
              <a:rPr lang="pt-BR" noProof="0" dirty="0"/>
              <a:t>.</a:t>
            </a:r>
          </a:p>
          <a:p>
            <a:pPr lvl="0"/>
            <a:r>
              <a:rPr lang="pt-BR" noProof="0" dirty="0"/>
              <a:t>Ela vira uma </a:t>
            </a:r>
            <a:r>
              <a:rPr lang="pt-BR" b="1" noProof="0" dirty="0">
                <a:solidFill>
                  <a:schemeClr val="accent2"/>
                </a:solidFill>
              </a:rPr>
              <a:t>cadeia de cópias da mesma célula</a:t>
            </a:r>
            <a:r>
              <a:rPr lang="pt-BR" noProof="0" dirty="0"/>
              <a:t>, uma por passo de tempo.</a:t>
            </a:r>
          </a:p>
          <a:p>
            <a:pPr lvl="1">
              <a:buFont typeface="Wingdings" panose="05000000000000000000" pitchFamily="2" charset="2"/>
              <a:buChar char="§"/>
            </a:pPr>
            <a:r>
              <a:rPr lang="pt-BR" noProof="0" dirty="0"/>
              <a:t>Todas as cópias usam </a:t>
            </a:r>
            <a:r>
              <a:rPr lang="pt-BR" b="1" noProof="0" dirty="0">
                <a:solidFill>
                  <a:schemeClr val="accent2"/>
                </a:solidFill>
              </a:rPr>
              <a:t>os mesmos pesos e ativações</a:t>
            </a:r>
            <a:r>
              <a:rPr lang="pt-BR" noProof="0" dirty="0"/>
              <a:t>.</a:t>
            </a:r>
          </a:p>
          <a:p>
            <a:pPr lvl="0"/>
            <a:r>
              <a:rPr lang="pt-BR" noProof="0" dirty="0"/>
              <a:t>Cada cópia passa o </a:t>
            </a:r>
            <a:r>
              <a:rPr lang="pt-BR" b="1" noProof="0" dirty="0">
                <a:solidFill>
                  <a:schemeClr val="accent1"/>
                </a:solidFill>
              </a:rPr>
              <a:t>estado oculto</a:t>
            </a:r>
            <a:r>
              <a:rPr lang="pt-BR" noProof="0" dirty="0"/>
              <a:t> para a seguinte.</a:t>
            </a:r>
          </a:p>
        </p:txBody>
      </p:sp>
      <p:pic>
        <p:nvPicPr>
          <p:cNvPr id="6" name="Imagem 5">
            <a:extLst>
              <a:ext uri="{FF2B5EF4-FFF2-40B4-BE49-F238E27FC236}">
                <a16:creationId xmlns:a16="http://schemas.microsoft.com/office/drawing/2014/main" id="{90870AF1-2DE2-5899-95BA-87CF53E91D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166" y="1502980"/>
            <a:ext cx="7288211" cy="5249916"/>
          </a:xfrm>
          <a:prstGeom prst="rect">
            <a:avLst/>
          </a:prstGeom>
        </p:spPr>
      </p:pic>
    </p:spTree>
    <p:extLst>
      <p:ext uri="{BB962C8B-B14F-4D97-AF65-F5344CB8AC3E}">
        <p14:creationId xmlns:p14="http://schemas.microsoft.com/office/powerpoint/2010/main" val="345517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00939-5DC6-3681-9867-69F38CF52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3B8BEF-C45D-09AB-58DE-6F771DFA567B}"/>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1F829781-0946-DC54-6A85-891D955BDE4A}"/>
              </a:ext>
            </a:extLst>
          </p:cNvPr>
          <p:cNvSpPr>
            <a:spLocks noGrp="1"/>
          </p:cNvSpPr>
          <p:nvPr>
            <p:ph idx="1"/>
          </p:nvPr>
        </p:nvSpPr>
        <p:spPr>
          <a:xfrm>
            <a:off x="6873766" y="1825624"/>
            <a:ext cx="5318235" cy="5032375"/>
          </a:xfrm>
        </p:spPr>
        <p:txBody>
          <a:bodyPr>
            <a:normAutofit/>
          </a:bodyPr>
          <a:lstStyle/>
          <a:p>
            <a:pPr lvl="0"/>
            <a:r>
              <a:rPr lang="pt-BR" noProof="0" dirty="0"/>
              <a:t>Cada cópia da célula corresponde a </a:t>
            </a:r>
            <a:r>
              <a:rPr lang="pt-BR" b="1" noProof="0" dirty="0">
                <a:solidFill>
                  <a:schemeClr val="accent2"/>
                </a:solidFill>
              </a:rPr>
              <a:t>um passo de tempo</a:t>
            </a:r>
            <a:r>
              <a:rPr lang="pt-BR" noProof="0" dirty="0"/>
              <a:t> e funciona como uma </a:t>
            </a:r>
            <a:r>
              <a:rPr lang="pt-BR" b="1" noProof="0" dirty="0">
                <a:solidFill>
                  <a:srgbClr val="00B050"/>
                </a:solidFill>
              </a:rPr>
              <a:t>camada de uma rede profunda</a:t>
            </a:r>
            <a:r>
              <a:rPr lang="pt-BR" noProof="0" dirty="0"/>
              <a:t>, mas com </a:t>
            </a:r>
            <a:r>
              <a:rPr lang="pt-BR" b="1" noProof="0" dirty="0">
                <a:solidFill>
                  <a:schemeClr val="accent1"/>
                </a:solidFill>
              </a:rPr>
              <a:t>pesos compartilhados</a:t>
            </a:r>
            <a:r>
              <a:rPr lang="pt-BR" noProof="0" dirty="0"/>
              <a:t>.</a:t>
            </a:r>
          </a:p>
          <a:p>
            <a:pPr lvl="0"/>
            <a:r>
              <a:rPr lang="pt-BR" noProof="0" dirty="0"/>
              <a:t>A </a:t>
            </a:r>
            <a:r>
              <a:rPr lang="pt-BR" b="1" noProof="0" dirty="0"/>
              <a:t>profundidade</a:t>
            </a:r>
            <a:r>
              <a:rPr lang="pt-BR" noProof="0" dirty="0"/>
              <a:t> da rede desdobrada é igual ao </a:t>
            </a:r>
            <a:r>
              <a:rPr lang="pt-BR" b="1" noProof="0" dirty="0"/>
              <a:t>comprimento da sequência</a:t>
            </a:r>
            <a:r>
              <a:rPr lang="pt-BR" noProof="0" dirty="0"/>
              <a:t>: </a:t>
            </a:r>
          </a:p>
          <a:p>
            <a:pPr lvl="1">
              <a:buFont typeface="Wingdings" panose="05000000000000000000" pitchFamily="2" charset="2"/>
              <a:buChar char="§"/>
            </a:pPr>
            <a:r>
              <a:rPr lang="pt-BR" noProof="0" dirty="0"/>
              <a:t>Uma frase de 50 palavras gera uma rede com 50 camadas.</a:t>
            </a:r>
          </a:p>
          <a:p>
            <a:r>
              <a:rPr lang="pt-BR" b="1" noProof="0" dirty="0">
                <a:solidFill>
                  <a:srgbClr val="7030A0"/>
                </a:solidFill>
              </a:rPr>
              <a:t>A rede</a:t>
            </a:r>
            <a:r>
              <a:rPr lang="pt-BR" noProof="0" dirty="0"/>
              <a:t> se torna </a:t>
            </a:r>
            <a:r>
              <a:rPr lang="pt-BR" b="1" noProof="0" dirty="0">
                <a:solidFill>
                  <a:srgbClr val="7030A0"/>
                </a:solidFill>
              </a:rPr>
              <a:t>muito profunda </a:t>
            </a:r>
            <a:r>
              <a:rPr lang="pt-BR" noProof="0" dirty="0"/>
              <a:t>para</a:t>
            </a:r>
            <a:r>
              <a:rPr lang="pt-BR" b="1" noProof="0" dirty="0">
                <a:solidFill>
                  <a:srgbClr val="7030A0"/>
                </a:solidFill>
              </a:rPr>
              <a:t> sequências muito longas</a:t>
            </a:r>
            <a:r>
              <a:rPr lang="pt-BR" noProof="0" dirty="0"/>
              <a:t>.</a:t>
            </a:r>
          </a:p>
        </p:txBody>
      </p:sp>
      <p:pic>
        <p:nvPicPr>
          <p:cNvPr id="6" name="Imagem 5">
            <a:extLst>
              <a:ext uri="{FF2B5EF4-FFF2-40B4-BE49-F238E27FC236}">
                <a16:creationId xmlns:a16="http://schemas.microsoft.com/office/drawing/2014/main" id="{BFA83579-E23E-B150-F279-FA6345DA1D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613" y="1825624"/>
            <a:ext cx="6758153" cy="4868099"/>
          </a:xfrm>
          <a:prstGeom prst="rect">
            <a:avLst/>
          </a:prstGeom>
        </p:spPr>
      </p:pic>
    </p:spTree>
    <p:extLst>
      <p:ext uri="{BB962C8B-B14F-4D97-AF65-F5344CB8AC3E}">
        <p14:creationId xmlns:p14="http://schemas.microsoft.com/office/powerpoint/2010/main" val="299984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040EC-283E-AF0D-98D2-F63FF4265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B01EA-11FE-E505-9C21-2C7DF649E585}"/>
              </a:ext>
            </a:extLst>
          </p:cNvPr>
          <p:cNvSpPr>
            <a:spLocks noGrp="1"/>
          </p:cNvSpPr>
          <p:nvPr>
            <p:ph type="title"/>
          </p:nvPr>
        </p:nvSpPr>
        <p:spPr/>
        <p:txBody>
          <a:bodyPr/>
          <a:lstStyle/>
          <a:p>
            <a:r>
              <a:rPr lang="pt-BR" dirty="0"/>
              <a:t>Desdobrando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7EF629-DAD2-6F9E-E547-E7199A3C8AC0}"/>
                  </a:ext>
                </a:extLst>
              </p:cNvPr>
              <p:cNvSpPr>
                <a:spLocks noGrp="1"/>
              </p:cNvSpPr>
              <p:nvPr>
                <p:ph idx="1"/>
              </p:nvPr>
            </p:nvSpPr>
            <p:spPr>
              <a:xfrm>
                <a:off x="7620000" y="1825624"/>
                <a:ext cx="4572000" cy="5032375"/>
              </a:xfrm>
            </p:spPr>
            <p:txBody>
              <a:bodyPr>
                <a:normAutofit/>
              </a:bodyPr>
              <a:lstStyle/>
              <a:p>
                <a:pPr lvl="0"/>
                <a:r>
                  <a:rPr lang="pt-BR" noProof="0" dirty="0"/>
                  <a:t>Todas as cópias usam </a:t>
                </a:r>
                <a:r>
                  <a:rPr lang="pt-BR" b="1" noProof="0" dirty="0"/>
                  <a:t>os mesmos pesos</a:t>
                </a:r>
                <a:r>
                  <a:rPr lang="pt-BR" noProof="0" dirty="0"/>
                  <a:t>, então a rede </a:t>
                </a:r>
                <a:r>
                  <a:rPr lang="pt-BR" b="1" noProof="0" dirty="0">
                    <a:solidFill>
                      <a:schemeClr val="accent2"/>
                    </a:solidFill>
                  </a:rPr>
                  <a:t>aplica o mesmo padrão em qualquer posição </a:t>
                </a:r>
                <a:r>
                  <a:rPr lang="pt-BR" noProof="0" dirty="0"/>
                  <a:t>da sequência.</a:t>
                </a:r>
              </a:p>
              <a:p>
                <a:pPr lvl="0"/>
                <a:r>
                  <a:rPr lang="pt-BR" noProof="0" dirty="0"/>
                  <a:t>A saída </a:t>
                </a: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oMath>
                </a14:m>
                <a:r>
                  <a:rPr lang="pt-BR" noProof="0" dirty="0"/>
                  <a:t> depende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a:t>
                </a:r>
                <a:r>
                  <a:rPr lang="pt-BR" b="1" noProof="0" dirty="0">
                    <a:solidFill>
                      <a:srgbClr val="7030A0"/>
                    </a:solidFill>
                  </a:rPr>
                  <a:t>e de todas as entradas anteriores</a:t>
                </a:r>
                <a:r>
                  <a:rPr lang="pt-BR" noProof="0" dirty="0"/>
                  <a:t>, via estado oculto. </a:t>
                </a:r>
              </a:p>
              <a:p>
                <a:pPr lvl="0"/>
                <a:r>
                  <a:rPr lang="pt-BR" noProof="0" dirty="0"/>
                  <a:t>Em uma MLP, a saída depende só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620000" y="1825624"/>
                <a:ext cx="4572000" cy="5032375"/>
              </a:xfrm>
              <a:blipFill>
                <a:blip r:embed="rId3"/>
                <a:stretch>
                  <a:fillRect l="-2400" t="-1937" r="-426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6D0C3651-0391-2C89-D8BC-53D79F52CB0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6027" y="1601129"/>
            <a:ext cx="6933091" cy="4994112"/>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4CF61-CE52-9ED4-4E52-19F813121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17226-7116-AD96-CC12-97CF1266328C}"/>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desdobrar uma RNN possibilita o treinamento da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influencia o erro, </a:t>
            </a:r>
          </a:p>
          <a:p>
            <a:pPr lvl="1">
              <a:buFont typeface="Wingdings" panose="05000000000000000000" pitchFamily="2" charset="2"/>
              <a:buChar char="§"/>
            </a:pPr>
            <a:r>
              <a:rPr lang="pt-BR" dirty="0"/>
              <a:t>ajustar os pesos para minimizar o erro (e.g., EQM, EC). </a:t>
            </a:r>
          </a:p>
          <a:p>
            <a:r>
              <a:rPr lang="pt-BR" dirty="0"/>
              <a:t>Nas RNNs,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a:t>
            </a:r>
            <a:r>
              <a:rPr lang="pt-BR" b="1" dirty="0">
                <a:solidFill>
                  <a:schemeClr val="accent2"/>
                </a:solidFill>
              </a:rPr>
              <a:t>erro precisa voltar no tempo</a:t>
            </a:r>
            <a:r>
              <a:rPr lang="pt-BR" dirty="0"/>
              <a:t>.</a:t>
            </a:r>
          </a:p>
        </p:txBody>
      </p:sp>
      <p:pic>
        <p:nvPicPr>
          <p:cNvPr id="5" name="Imagem 4">
            <a:extLst>
              <a:ext uri="{FF2B5EF4-FFF2-40B4-BE49-F238E27FC236}">
                <a16:creationId xmlns:a16="http://schemas.microsoft.com/office/drawing/2014/main" id="{47AA84E2-5135-3A03-C4D4-1E2DF6B07C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1545" y="1583556"/>
            <a:ext cx="4593546" cy="5095767"/>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5AF5A-930E-4EB7-9C3A-7CA94CC8D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56341B-8DD5-B4D0-04B5-B1D29CAF8A7C}"/>
                  </a:ext>
                </a:extLst>
              </p:cNvPr>
              <p:cNvSpPr>
                <a:spLocks noGrp="1"/>
              </p:cNvSpPr>
              <p:nvPr>
                <p:ph idx="1"/>
              </p:nvPr>
            </p:nvSpPr>
            <p:spPr>
              <a:xfrm>
                <a:off x="5549463" y="1825624"/>
                <a:ext cx="6642537" cy="5032376"/>
              </a:xfrm>
            </p:spPr>
            <p:txBody>
              <a:bodyPr>
                <a:normAutofit/>
              </a:bodyPr>
              <a:lstStyle/>
              <a:p>
                <a:r>
                  <a:rPr lang="pt-BR" noProof="0" dirty="0"/>
                  <a:t>A RNN é </a:t>
                </a:r>
                <a:r>
                  <a:rPr lang="pt-BR" b="1" noProof="0" dirty="0"/>
                  <a:t>desdobrada no tempo</a:t>
                </a:r>
                <a:r>
                  <a:rPr lang="pt-BR" noProof="0" dirty="0"/>
                  <a:t> e treinada como uma rede profunda comum, usando a </a:t>
                </a:r>
                <a:r>
                  <a:rPr lang="pt-BR" b="1" noProof="0" dirty="0">
                    <a:solidFill>
                      <a:srgbClr val="7030A0"/>
                    </a:solidFill>
                  </a:rPr>
                  <a:t>retropropagação do erro</a:t>
                </a:r>
                <a:r>
                  <a:rPr lang="pt-BR" noProof="0" dirty="0"/>
                  <a:t>.</a:t>
                </a:r>
              </a:p>
              <a:p>
                <a:r>
                  <a:rPr lang="pt-BR" noProof="0" dirty="0"/>
                  <a:t>Inicialmente, a sequência de </a:t>
                </a:r>
                <a14:m>
                  <m:oMath xmlns:m="http://schemas.openxmlformats.org/officeDocument/2006/math">
                    <m:r>
                      <a:rPr lang="pt-BR" i="1">
                        <a:latin typeface="Cambria Math" panose="02040503050406030204" pitchFamily="18" charset="0"/>
                      </a:rPr>
                      <m:t>𝑇</m:t>
                    </m:r>
                  </m:oMath>
                </a14:m>
                <a:r>
                  <a:rPr lang="pt-BR" dirty="0"/>
                  <a:t> passos</a:t>
                </a:r>
                <a:r>
                  <a:rPr lang="pt-BR" noProof="0" dirty="0"/>
                  <a:t>,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𝑇</m:t>
                            </m:r>
                          </m:sub>
                        </m:sSub>
                      </m:e>
                    </m:d>
                  </m:oMath>
                </a14:m>
                <a:r>
                  <a:rPr lang="pt-BR" noProof="0" dirty="0"/>
                  <a:t>, é processada pela RNN em uma </a:t>
                </a:r>
                <a:r>
                  <a:rPr lang="pt-BR" b="1" noProof="0" dirty="0">
                    <a:solidFill>
                      <a:srgbClr val="00B050"/>
                    </a:solidFill>
                  </a:rPr>
                  <a:t>etapa direta</a:t>
                </a:r>
                <a:r>
                  <a:rPr lang="pt-BR" noProof="0" dirty="0"/>
                  <a:t>, gerando saídas para os </a:t>
                </a:r>
                <a14:m>
                  <m:oMath xmlns:m="http://schemas.openxmlformats.org/officeDocument/2006/math">
                    <m:r>
                      <a:rPr lang="pt-BR" b="0" i="1" noProof="0" smtClean="0">
                        <a:latin typeface="Cambria Math" panose="02040503050406030204" pitchFamily="18" charset="0"/>
                      </a:rPr>
                      <m:t>𝑇</m:t>
                    </m:r>
                  </m:oMath>
                </a14:m>
                <a:r>
                  <a:rPr lang="pt-BR" noProof="0" dirty="0"/>
                  <a:t> passos,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2</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𝑇</m:t>
                            </m:r>
                          </m:sub>
                        </m:sSub>
                      </m:e>
                    </m:d>
                  </m:oMath>
                </a14:m>
                <a:r>
                  <a:rPr lang="pt-BR" noProof="0" dirty="0"/>
                  <a:t>. </a:t>
                </a:r>
              </a:p>
              <a:p>
                <a:r>
                  <a:rPr lang="pt-BR" noProof="0" dirty="0"/>
                  <a:t>Em seguida, o </a:t>
                </a:r>
                <a:r>
                  <a:rPr lang="pt-BR" b="1" noProof="0" dirty="0">
                    <a:solidFill>
                      <a:schemeClr val="accent2"/>
                    </a:solidFill>
                  </a:rPr>
                  <a:t>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noProof="0" dirty="0"/>
                  <a:t>, é calculado: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𝑡</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𝑡</m:t>
                              </m:r>
                            </m:sub>
                          </m:sSub>
                        </m:e>
                      </m:d>
                      <m:r>
                        <a:rPr lang="pt-BR" b="0" i="1" smtClean="0">
                          <a:latin typeface="Cambria Math" panose="02040503050406030204" pitchFamily="18" charset="0"/>
                        </a:rPr>
                        <m:t>,</m:t>
                      </m:r>
                    </m:oMath>
                  </m:oMathPara>
                </a14:m>
                <a:endParaRPr lang="pt-BR" noProof="0"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𝑡</m:t>
                        </m:r>
                      </m:sub>
                    </m:sSub>
                  </m:oMath>
                </a14:m>
                <a:r>
                  <a:rPr lang="pt-BR" noProof="0" dirty="0"/>
                  <a:t> são os rótulos de cada passo.</a:t>
                </a:r>
              </a:p>
            </p:txBody>
          </p:sp>
        </mc:Choice>
        <mc:Fallback xmlns="">
          <p:sp>
            <p:nvSpPr>
              <p:cNvPr id="3" name="Content Placeholder 2">
                <a:extLst>
                  <a:ext uri="{FF2B5EF4-FFF2-40B4-BE49-F238E27FC236}">
                    <a16:creationId xmlns:a16="http://schemas.microsoft.com/office/drawing/2014/main" xmlns:a14="http://schemas.microsoft.com/office/drawing/2010/main" xmlns="" id="{C856341B-8DD5-B4D0-04B5-B1D29CAF8A7C}"/>
                  </a:ext>
                </a:extLst>
              </p:cNvPr>
              <p:cNvSpPr>
                <a:spLocks noGrp="1" noRot="1" noChangeAspect="1" noMove="1" noResize="1" noEditPoints="1" noAdjustHandles="1" noChangeArrowheads="1" noChangeShapeType="1" noTextEdit="1"/>
              </p:cNvSpPr>
              <p:nvPr>
                <p:ph idx="1"/>
              </p:nvPr>
            </p:nvSpPr>
            <p:spPr>
              <a:xfrm>
                <a:off x="5549463" y="1825624"/>
                <a:ext cx="6642537" cy="5032376"/>
              </a:xfrm>
              <a:blipFill rotWithShape="0">
                <a:blip r:embed="rId3"/>
                <a:stretch>
                  <a:fillRect l="-1835" t="-1937" r="-1468"/>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8E558F0-DBFE-CD51-CF76-4794EA8418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1" y="1594066"/>
            <a:ext cx="4593546" cy="5095767"/>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94518-B943-3652-40D5-8C67457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5185B-0A25-F012-4043-94A4C6884516}"/>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11E477E-D988-C2C5-1555-C6A90F36E36F}"/>
                  </a:ext>
                </a:extLst>
              </p:cNvPr>
              <p:cNvSpPr>
                <a:spLocks noGrp="1"/>
              </p:cNvSpPr>
              <p:nvPr>
                <p:ph idx="1"/>
              </p:nvPr>
            </p:nvSpPr>
            <p:spPr>
              <a:xfrm>
                <a:off x="838200" y="1825624"/>
                <a:ext cx="11353800" cy="5032376"/>
              </a:xfrm>
            </p:spPr>
            <p:txBody>
              <a:bodyPr>
                <a:normAutofit/>
              </a:bodyPr>
              <a:lstStyle/>
              <a:p>
                <a:r>
                  <a:rPr lang="pt-BR" dirty="0"/>
                  <a:t>Na sequência, o</a:t>
                </a:r>
                <a:r>
                  <a:rPr lang="pt-BR" b="1" dirty="0">
                    <a:solidFill>
                      <a:schemeClr val="accent2"/>
                    </a:solidFill>
                  </a:rPr>
                  <a:t> erro total</a:t>
                </a:r>
                <a:r>
                  <a:rPr lang="pt-BR" dirty="0"/>
                  <a:t>, </a:t>
                </a:r>
                <a14:m>
                  <m:oMath xmlns:m="http://schemas.openxmlformats.org/officeDocument/2006/math">
                    <m:r>
                      <a:rPr lang="pt-BR" i="1">
                        <a:latin typeface="Cambria Math" panose="02040503050406030204" pitchFamily="18" charset="0"/>
                      </a:rPr>
                      <m:t>𝐸</m:t>
                    </m:r>
                  </m:oMath>
                </a14:m>
                <a:r>
                  <a:rPr lang="pt-BR" dirty="0"/>
                  <a:t>, (</a:t>
                </a:r>
                <a:r>
                  <a:rPr lang="pt-BR" b="1" dirty="0">
                    <a:solidFill>
                      <a:srgbClr val="00B050"/>
                    </a:solidFill>
                  </a:rPr>
                  <a:t>média temporal dos erros de cada passo</a:t>
                </a:r>
                <a:r>
                  <a:rPr lang="pt-BR" noProof="0" dirty="0"/>
                  <a:t>) é calculado</a:t>
                </a:r>
              </a:p>
              <a:p>
                <a:pPr marL="0" indent="0">
                  <a:buNone/>
                </a:pPr>
                <a14:m>
                  <m:oMathPara xmlns:m="http://schemas.openxmlformats.org/officeDocument/2006/math">
                    <m:oMath>
                      <m:r>
                        <a:rPr lang="pt-BR" sz="2400" i="1">
                          <a:latin typeface="Cambria Math" panose="02040503050406030204" pitchFamily="18" charset="0"/>
                        </a:rPr>
                        <m:t>𝐸</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sSub>
                            <m:sSubPr>
                              <m:ctrlPr>
                                <a:rPr lang="pt-BR" sz="2400" i="1">
                                  <a:latin typeface="Cambria Math" panose="02040503050406030204" pitchFamily="18" charset="0"/>
                                </a:rPr>
                              </m:ctrlPr>
                            </m:sSubPr>
                            <m:e>
                              <m:r>
                                <a:rPr lang="pt-BR" sz="2400" i="1">
                                  <a:latin typeface="Cambria Math" panose="02040503050406030204" pitchFamily="18" charset="0"/>
                                </a:rPr>
                                <m:t>𝐸</m:t>
                              </m:r>
                            </m:e>
                            <m:sub>
                              <m:r>
                                <a:rPr lang="pt-BR" sz="2400" i="1">
                                  <a:latin typeface="Cambria Math" panose="02040503050406030204" pitchFamily="18" charset="0"/>
                                </a:rPr>
                                <m:t>𝑡</m:t>
                              </m:r>
                            </m:sub>
                          </m:sSub>
                        </m:e>
                      </m:nary>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r>
                            <a:rPr lang="pt-BR" sz="2400" i="1">
                              <a:latin typeface="Cambria Math" panose="02040503050406030204" pitchFamily="18" charset="0"/>
                            </a:rPr>
                            <m:t>𝑒</m:t>
                          </m:r>
                          <m:r>
                            <a:rPr lang="pt-BR" sz="2400" i="1">
                              <a:latin typeface="Cambria Math" panose="02040503050406030204" pitchFamily="18" charset="0"/>
                            </a:rPr>
                            <m:t>(</m:t>
                          </m:r>
                          <m:r>
                            <a:rPr lang="pt-BR" sz="2400" i="1">
                              <a:latin typeface="Cambria Math" panose="02040503050406030204" pitchFamily="18" charset="0"/>
                            </a:rPr>
                            <m:t>𝑦</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𝑡</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𝑡</m:t>
                          </m:r>
                          <m:r>
                            <a:rPr lang="pt-BR" sz="2400" i="1">
                              <a:latin typeface="Cambria Math" panose="02040503050406030204" pitchFamily="18" charset="0"/>
                            </a:rPr>
                            <m:t>])</m:t>
                          </m:r>
                        </m:e>
                      </m:nary>
                      <m:r>
                        <a:rPr lang="pt-BR" sz="2400" b="0" i="1" smtClean="0">
                          <a:latin typeface="Cambria Math" panose="02040503050406030204" pitchFamily="18" charset="0"/>
                        </a:rPr>
                        <m:t>.</m:t>
                      </m:r>
                    </m:oMath>
                  </m:oMathPara>
                </a14:m>
                <a:endParaRPr lang="pt-BR" sz="3200" noProof="0" dirty="0"/>
              </a:p>
              <a:p>
                <a:pPr lvl="0"/>
                <a:r>
                  <a:rPr lang="pt-BR" dirty="0"/>
                  <a:t>Em seguida, propaga-se o gradiente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𝑇</m:t>
                    </m:r>
                    <m:r>
                      <a:rPr lang="pt-BR" b="0" i="1" smtClean="0">
                        <a:latin typeface="Cambria Math" panose="02040503050406030204" pitchFamily="18" charset="0"/>
                      </a:rPr>
                      <m:t>−1</m:t>
                    </m:r>
                  </m:oMath>
                </a14:m>
                <a:r>
                  <a:rPr lang="pt-BR" dirty="0"/>
                  <a:t> até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=0</m:t>
                    </m:r>
                  </m:oMath>
                </a14:m>
                <a:r>
                  <a:rPr lang="pt-BR" dirty="0"/>
                  <a:t> (do último passo ao primeiro), através da rede desdobrada.</a:t>
                </a:r>
              </a:p>
              <a:p>
                <a:r>
                  <a:rPr lang="pt-BR" noProof="0" dirty="0"/>
                  <a:t>Após, acumula-se os gradientes. C</a:t>
                </a:r>
                <a:r>
                  <a:rPr lang="pt-BR" dirty="0" err="1"/>
                  <a:t>omo</a:t>
                </a:r>
                <a:r>
                  <a:rPr lang="pt-BR" dirty="0"/>
                  <a:t> os </a:t>
                </a:r>
                <a:r>
                  <a:rPr lang="pt-BR" b="1" dirty="0">
                    <a:solidFill>
                      <a:schemeClr val="accent1"/>
                    </a:solidFill>
                  </a:rPr>
                  <a:t>pesos são compartilhados</a:t>
                </a:r>
                <a:r>
                  <a:rPr lang="pt-BR" dirty="0"/>
                  <a:t>, o gradiente de cada matriz é a </a:t>
                </a:r>
                <a:r>
                  <a:rPr lang="pt-BR" b="1" dirty="0">
                    <a:solidFill>
                      <a:srgbClr val="7030A0"/>
                    </a:solidFill>
                  </a:rPr>
                  <a:t>soma das contribuições de todos os passos</a:t>
                </a:r>
                <a:r>
                  <a:rPr lang="pt-BR" dirty="0"/>
                  <a:t>:</a:t>
                </a:r>
              </a:p>
              <a:p>
                <a:pPr marL="0" indent="0">
                  <a:buNone/>
                </a:pPr>
                <a14:m>
                  <m:oMathPara xmlns:m="http://schemas.openxmlformats.org/officeDocument/2006/math">
                    <m:oMath>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r>
                        <a:rPr lang="pt-BR" sz="2400" i="1">
                          <a:latin typeface="Cambria Math" panose="02040503050406030204" pitchFamily="18" charset="0"/>
                          <a:ea typeface="Cambria Math" panose="02040503050406030204" pitchFamily="18" charset="0"/>
                        </a:rPr>
                        <m:t>=</m:t>
                      </m:r>
                      <m:nary>
                        <m:naryPr>
                          <m:chr m:val="∑"/>
                          <m:ctrlPr>
                            <a:rPr lang="pt-BR" sz="2400" b="0" i="1" smtClean="0">
                              <a:latin typeface="Cambria Math" panose="02040503050406030204" pitchFamily="18" charset="0"/>
                              <a:ea typeface="Cambria Math" panose="02040503050406030204" pitchFamily="18" charset="0"/>
                            </a:rPr>
                          </m:ctrlPr>
                        </m:naryPr>
                        <m:sub>
                          <m:r>
                            <m:rPr>
                              <m:brk m:alnAt="23"/>
                            </m:rPr>
                            <a:rPr lang="pt-BR" sz="2400" b="0" i="1" smtClean="0">
                              <a:latin typeface="Cambria Math" panose="02040503050406030204" pitchFamily="18" charset="0"/>
                              <a:ea typeface="Cambria Math" panose="02040503050406030204" pitchFamily="18" charset="0"/>
                            </a:rPr>
                            <m:t>𝑡</m:t>
                          </m:r>
                          <m:r>
                            <a:rPr lang="pt-BR" sz="2400" b="0" i="1" smtClean="0">
                              <a:latin typeface="Cambria Math" panose="02040503050406030204" pitchFamily="18" charset="0"/>
                              <a:ea typeface="Cambria Math" panose="02040503050406030204" pitchFamily="18" charset="0"/>
                            </a:rPr>
                            <m:t>=</m:t>
                          </m:r>
                          <m:r>
                            <m:rPr>
                              <m:brk m:alnAt="23"/>
                            </m:rPr>
                            <a:rPr lang="pt-BR" sz="2400" b="0" i="1" smtClean="0">
                              <a:latin typeface="Cambria Math" panose="02040503050406030204" pitchFamily="18" charset="0"/>
                              <a:ea typeface="Cambria Math" panose="02040503050406030204" pitchFamily="18" charset="0"/>
                            </a:rPr>
                            <m:t>0</m:t>
                          </m:r>
                        </m:sub>
                        <m:sup>
                          <m:r>
                            <a:rPr lang="pt-BR" sz="2400" b="0" i="1" smtClean="0">
                              <a:latin typeface="Cambria Math" panose="02040503050406030204" pitchFamily="18" charset="0"/>
                              <a:ea typeface="Cambria Math" panose="02040503050406030204" pitchFamily="18" charset="0"/>
                            </a:rPr>
                            <m:t>𝑇</m:t>
                          </m:r>
                          <m:r>
                            <a:rPr lang="pt-BR" sz="2400" b="0" i="1" smtClean="0">
                              <a:latin typeface="Cambria Math" panose="02040503050406030204" pitchFamily="18" charset="0"/>
                              <a:ea typeface="Cambria Math" panose="02040503050406030204" pitchFamily="18" charset="0"/>
                            </a:rPr>
                            <m:t>−1</m:t>
                          </m:r>
                        </m:sup>
                        <m:e>
                          <m:sSub>
                            <m:sSubPr>
                              <m:ctrlPr>
                                <a:rPr lang="pt-BR" sz="2400" i="1">
                                  <a:latin typeface="Cambria Math" panose="02040503050406030204" pitchFamily="18" charset="0"/>
                                  <a:ea typeface="Cambria Math" panose="02040503050406030204" pitchFamily="18" charset="0"/>
                                </a:rPr>
                              </m:ctrlPr>
                            </m:sSubPr>
                            <m:e>
                              <m:d>
                                <m:dPr>
                                  <m:ctrlPr>
                                    <a:rPr lang="pt-BR" sz="2400" i="1">
                                      <a:latin typeface="Cambria Math" panose="02040503050406030204" pitchFamily="18" charset="0"/>
                                      <a:ea typeface="Cambria Math" panose="02040503050406030204" pitchFamily="18" charset="0"/>
                                    </a:rPr>
                                  </m:ctrlPr>
                                </m:dPr>
                                <m:e>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e>
                              </m:d>
                            </m:e>
                            <m:sub>
                              <m:r>
                                <a:rPr lang="pt-BR" sz="2400" b="0" i="1" smtClean="0">
                                  <a:latin typeface="Cambria Math" panose="02040503050406030204" pitchFamily="18" charset="0"/>
                                  <a:ea typeface="Cambria Math" panose="02040503050406030204" pitchFamily="18" charset="0"/>
                                </a:rPr>
                                <m:t>𝑡</m:t>
                              </m:r>
                            </m:sub>
                          </m:sSub>
                        </m:e>
                      </m:nary>
                      <m:r>
                        <a:rPr lang="pt-BR" sz="2400" b="0" i="1" smtClean="0">
                          <a:latin typeface="Cambria Math" panose="02040503050406030204" pitchFamily="18" charset="0"/>
                          <a:ea typeface="Cambria Math" panose="02040503050406030204" pitchFamily="18" charset="0"/>
                        </a:rPr>
                        <m:t>,</m:t>
                      </m:r>
                    </m:oMath>
                  </m:oMathPara>
                </a14:m>
                <a:endParaRPr lang="pt-BR" b="0" dirty="0">
                  <a:ea typeface="Cambria Math" panose="02040503050406030204" pitchFamily="18" charset="0"/>
                </a:endParaRPr>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pode ser qualquer uma das matrizes de peso da célula.</a:t>
                </a:r>
              </a:p>
            </p:txBody>
          </p:sp>
        </mc:Choice>
        <mc:Fallback xmlns="">
          <p:sp>
            <p:nvSpPr>
              <p:cNvPr id="3" name="Content Placeholder 2">
                <a:extLst>
                  <a:ext uri="{FF2B5EF4-FFF2-40B4-BE49-F238E27FC236}">
                    <a16:creationId xmlns:a16="http://schemas.microsoft.com/office/drawing/2014/main" xmlns:a14="http://schemas.microsoft.com/office/drawing/2010/main" xmlns="" id="{C11E477E-D988-C2C5-1555-C6A90F36E36F}"/>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r="-269" b="-3027"/>
                </a:stretch>
              </a:blipFill>
            </p:spPr>
            <p:txBody>
              <a:bodyPr/>
              <a:lstStyle/>
              <a:p>
                <a:r>
                  <a:rPr lang="pt-BR">
                    <a:noFill/>
                  </a:rPr>
                  <a:t> </a:t>
                </a:r>
              </a:p>
            </p:txBody>
          </p:sp>
        </mc:Fallback>
      </mc:AlternateContent>
    </p:spTree>
    <p:extLst>
      <p:ext uri="{BB962C8B-B14F-4D97-AF65-F5344CB8AC3E}">
        <p14:creationId xmlns:p14="http://schemas.microsoft.com/office/powerpoint/2010/main" val="22502479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7B9D2-F290-4BEE-BB7D-146B2F7173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3EC503-90E9-E2A0-C641-FA412B495F6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0D6E55-34EC-087B-36F1-91F23277AFCE}"/>
                  </a:ext>
                </a:extLst>
              </p:cNvPr>
              <p:cNvSpPr>
                <a:spLocks noGrp="1"/>
              </p:cNvSpPr>
              <p:nvPr>
                <p:ph idx="1"/>
              </p:nvPr>
            </p:nvSpPr>
            <p:spPr>
              <a:xfrm>
                <a:off x="5633545" y="1825624"/>
                <a:ext cx="6558455" cy="5032376"/>
              </a:xfrm>
            </p:spPr>
            <p:txBody>
              <a:bodyPr>
                <a:normAutofit/>
              </a:bodyPr>
              <a:lstStyle/>
              <a:p>
                <a:r>
                  <a:rPr lang="pt-BR" noProof="0" dirty="0"/>
                  <a:t>Por fim, com o gradiente total, as matrizes são atualizadas com um método de otimização (e.g., GDB, SGD, Adam).</a:t>
                </a:r>
              </a:p>
              <a:p>
                <a:r>
                  <a:rPr lang="pt-BR" noProof="0" dirty="0"/>
                  <a:t>Por exemplo, usando o SGD temos</a:t>
                </a:r>
              </a:p>
              <a:p>
                <a:pPr marL="0" indent="0">
                  <a:buNone/>
                </a:pPr>
                <a14:m>
                  <m:oMathPara xmlns:m="http://schemas.openxmlformats.org/officeDocument/2006/math">
                    <m:oMath>
                      <m:r>
                        <a:rPr lang="pt-BR" sz="2400" b="1" i="1" noProof="0" smtClean="0">
                          <a:latin typeface="Cambria Math" panose="02040503050406030204" pitchFamily="18" charset="0"/>
                        </a:rPr>
                        <m:t>𝑾</m:t>
                      </m:r>
                      <m:r>
                        <a:rPr lang="pt-BR" sz="2400" b="1"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𝑾</m:t>
                      </m:r>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𝛼</m:t>
                      </m:r>
                      <m:f>
                        <m:fPr>
                          <m:ctrlPr>
                            <a:rPr lang="pt-BR" sz="2400" b="0" i="1" noProof="0" smtClean="0">
                              <a:latin typeface="Cambria Math" panose="02040503050406030204" pitchFamily="18" charset="0"/>
                              <a:ea typeface="Cambria Math" panose="02040503050406030204" pitchFamily="18" charset="0"/>
                            </a:rPr>
                          </m:ctrlPr>
                        </m:fPr>
                        <m:num>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𝐸</m:t>
                          </m:r>
                        </m:num>
                        <m:den>
                          <m:r>
                            <a:rPr lang="pt-BR" sz="2400" b="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ea typeface="Cambria Math" panose="02040503050406030204" pitchFamily="18" charset="0"/>
                            </a:rPr>
                            <m:t>𝑾</m:t>
                          </m:r>
                        </m:den>
                      </m:f>
                      <m:r>
                        <a:rPr lang="pt-BR" sz="2400" b="0" i="0" noProof="0" smtClean="0">
                          <a:latin typeface="Cambria Math" panose="02040503050406030204" pitchFamily="18" charset="0"/>
                          <a:ea typeface="Cambria Math" panose="02040503050406030204" pitchFamily="18" charset="0"/>
                        </a:rPr>
                        <m:t>,</m:t>
                      </m:r>
                    </m:oMath>
                  </m:oMathPara>
                </a14:m>
                <a:endParaRPr lang="pt-BR" sz="2400" noProof="0" dirty="0"/>
              </a:p>
              <a:p>
                <a:pPr marL="0" indent="0">
                  <a:buNone/>
                </a:pPr>
                <a:r>
                  <a:rPr lang="pt-BR" noProof="0" dirty="0"/>
                  <a:t>onde </a:t>
                </a:r>
                <a14:m>
                  <m:oMath xmlns:m="http://schemas.openxmlformats.org/officeDocument/2006/math">
                    <m:r>
                      <a:rPr lang="pt-BR" i="1" noProof="0">
                        <a:latin typeface="Cambria Math" panose="02040503050406030204" pitchFamily="18" charset="0"/>
                        <a:ea typeface="Cambria Math" panose="02040503050406030204" pitchFamily="18" charset="0"/>
                      </a:rPr>
                      <m:t>𝛼</m:t>
                    </m:r>
                  </m:oMath>
                </a14:m>
                <a:r>
                  <a:rPr lang="pt-BR" noProof="0" dirty="0"/>
                  <a:t> é </a:t>
                </a:r>
                <a:r>
                  <a:rPr lang="pt-BR" dirty="0"/>
                  <a:t>a taxa </a:t>
                </a:r>
                <a:r>
                  <a:rPr lang="pt-BR" noProof="0" dirty="0"/>
                  <a:t>de aprendizagem.</a:t>
                </a:r>
              </a:p>
              <a:p>
                <a:r>
                  <a:rPr lang="pt-BR" dirty="0"/>
                  <a:t>Após a atualização, volta-se à etapa direta com uma nova sequência (ou conjunto).</a:t>
                </a:r>
              </a:p>
              <a:p>
                <a:pPr lvl="1">
                  <a:buFont typeface="Wingdings" panose="05000000000000000000" pitchFamily="2" charset="2"/>
                  <a:buChar char="§"/>
                </a:pPr>
                <a:r>
                  <a:rPr lang="pt-BR" dirty="0"/>
                  <a:t>U</a:t>
                </a:r>
                <a:r>
                  <a:rPr lang="pt-BR" noProof="0" dirty="0" err="1"/>
                  <a:t>samos</a:t>
                </a:r>
                <a:r>
                  <a:rPr lang="pt-BR" noProof="0" dirty="0"/>
                  <a:t> uma sequência, mas para o </a:t>
                </a:r>
                <a:r>
                  <a:rPr lang="pt-BR" dirty="0"/>
                  <a:t>gradiente ficar mais estável, usa-se um conjunto de sequências (i.e., </a:t>
                </a:r>
                <a:r>
                  <a:rPr lang="pt-BR" dirty="0" err="1"/>
                  <a:t>mini-lote</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50D6E55-34EC-087B-36F1-91F23277AFCE}"/>
                  </a:ext>
                </a:extLst>
              </p:cNvPr>
              <p:cNvSpPr>
                <a:spLocks noGrp="1" noRot="1" noChangeAspect="1" noMove="1" noResize="1" noEditPoints="1" noAdjustHandles="1" noChangeArrowheads="1" noChangeShapeType="1" noTextEdit="1"/>
              </p:cNvSpPr>
              <p:nvPr>
                <p:ph idx="1"/>
              </p:nvPr>
            </p:nvSpPr>
            <p:spPr>
              <a:xfrm>
                <a:off x="5633545" y="1825624"/>
                <a:ext cx="6558455" cy="5032376"/>
              </a:xfrm>
              <a:blipFill rotWithShape="0">
                <a:blip r:embed="rId3"/>
                <a:stretch>
                  <a:fillRect l="-1859" t="-1937" r="-2323"/>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D66A954F-D908-1B66-1C67-814CEDAE5B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2586" y="1573047"/>
            <a:ext cx="4593546" cy="5095767"/>
          </a:xfrm>
          <a:prstGeom prst="rect">
            <a:avLst/>
          </a:prstGeom>
        </p:spPr>
      </p:pic>
    </p:spTree>
    <p:extLst>
      <p:ext uri="{BB962C8B-B14F-4D97-AF65-F5344CB8AC3E}">
        <p14:creationId xmlns:p14="http://schemas.microsoft.com/office/powerpoint/2010/main" val="28814229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594B-041E-A819-7F40-ADDA10695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53FE7-29C4-832D-D880-18B70E1AC7B8}"/>
              </a:ext>
            </a:extLst>
          </p:cNvPr>
          <p:cNvSpPr>
            <a:spLocks noGrp="1"/>
          </p:cNvSpPr>
          <p:nvPr>
            <p:ph type="title"/>
          </p:nvPr>
        </p:nvSpPr>
        <p:spPr/>
        <p:txBody>
          <a:bodyPr/>
          <a:lstStyle/>
          <a:p>
            <a:r>
              <a:rPr lang="pt-BR" dirty="0"/>
              <a:t>Treinando uma RNN: BPTT</a:t>
            </a:r>
            <a:endParaRPr lang="en-US" dirty="0"/>
          </a:p>
        </p:txBody>
      </p:sp>
      <p:sp>
        <p:nvSpPr>
          <p:cNvPr id="3" name="Content Placeholder 2">
            <a:extLst>
              <a:ext uri="{FF2B5EF4-FFF2-40B4-BE49-F238E27FC236}">
                <a16:creationId xmlns:a16="http://schemas.microsoft.com/office/drawing/2014/main" id="{D0C5AC7A-B3D7-B83C-747E-584985A7A31E}"/>
              </a:ext>
            </a:extLst>
          </p:cNvPr>
          <p:cNvSpPr>
            <a:spLocks noGrp="1"/>
          </p:cNvSpPr>
          <p:nvPr>
            <p:ph idx="1"/>
          </p:nvPr>
        </p:nvSpPr>
        <p:spPr>
          <a:xfrm>
            <a:off x="838200" y="1825624"/>
            <a:ext cx="11353800" cy="5032376"/>
          </a:xfrm>
        </p:spPr>
        <p:txBody>
          <a:bodyPr>
            <a:normAutofit/>
          </a:bodyPr>
          <a:lstStyle/>
          <a:p>
            <a:r>
              <a:rPr lang="pt-BR" noProof="0" dirty="0"/>
              <a:t>O algoritmo que aplica a retropropagação à rede desdobrada é chamado de </a:t>
            </a:r>
            <a:r>
              <a:rPr lang="pt-BR" i="1" noProof="0" dirty="0"/>
              <a:t>Backpropagation </a:t>
            </a:r>
            <a:r>
              <a:rPr lang="pt-BR" i="1" noProof="0" dirty="0" err="1"/>
              <a:t>Through</a:t>
            </a:r>
            <a:r>
              <a:rPr lang="pt-BR" i="1" noProof="0" dirty="0"/>
              <a:t> Time</a:t>
            </a:r>
            <a:r>
              <a:rPr lang="pt-BR" noProof="0" dirty="0"/>
              <a:t> (BPTT).</a:t>
            </a:r>
          </a:p>
          <a:p>
            <a:r>
              <a:rPr lang="pt-BR" noProof="0" dirty="0"/>
              <a:t>É </a:t>
            </a:r>
            <a:r>
              <a:rPr lang="pt-BR" i="1" noProof="0" dirty="0"/>
              <a:t>backpropagation</a:t>
            </a:r>
            <a:r>
              <a:rPr lang="pt-BR" noProof="0" dirty="0"/>
              <a:t> tradicional, mas como os </a:t>
            </a:r>
            <a:r>
              <a:rPr lang="pt-BR" b="1" noProof="0" dirty="0">
                <a:solidFill>
                  <a:schemeClr val="accent2"/>
                </a:solidFill>
              </a:rPr>
              <a:t>pesos são compartilhados</a:t>
            </a:r>
            <a:r>
              <a:rPr lang="pt-BR" noProof="0" dirty="0"/>
              <a:t>, então os </a:t>
            </a:r>
            <a:r>
              <a:rPr lang="pt-BR" b="1" noProof="0" dirty="0">
                <a:solidFill>
                  <a:srgbClr val="7030A0"/>
                </a:solidFill>
              </a:rPr>
              <a:t>gradientes dos passos devem ser somados</a:t>
            </a:r>
            <a:r>
              <a:rPr lang="pt-BR" noProof="0" dirty="0"/>
              <a:t>.</a:t>
            </a:r>
          </a:p>
          <a:p>
            <a:r>
              <a:rPr lang="pt-BR" noProof="0" dirty="0"/>
              <a:t>A ideia central é:</a:t>
            </a:r>
          </a:p>
          <a:p>
            <a:pPr marL="0" indent="0" algn="ctr">
              <a:buNone/>
            </a:pPr>
            <a:r>
              <a:rPr lang="pt-BR" noProof="0" dirty="0"/>
              <a:t>o </a:t>
            </a:r>
            <a:r>
              <a:rPr lang="pt-BR" b="1" noProof="0" dirty="0">
                <a:solidFill>
                  <a:schemeClr val="accent1"/>
                </a:solidFill>
              </a:rPr>
              <a:t>erro atual</a:t>
            </a:r>
            <a:r>
              <a:rPr lang="pt-BR" noProof="0" dirty="0"/>
              <a:t> pode ter </a:t>
            </a:r>
            <a:r>
              <a:rPr lang="pt-BR" b="1" noProof="0" dirty="0">
                <a:solidFill>
                  <a:schemeClr val="accent1"/>
                </a:solidFill>
              </a:rPr>
              <a:t>sido causado por </a:t>
            </a:r>
            <a:r>
              <a:rPr lang="pt-BR" b="1" noProof="0" dirty="0">
                <a:solidFill>
                  <a:srgbClr val="7030A0"/>
                </a:solidFill>
              </a:rPr>
              <a:t>estados passados</a:t>
            </a:r>
            <a:r>
              <a:rPr lang="pt-BR" noProof="0" dirty="0"/>
              <a:t>.</a:t>
            </a:r>
          </a:p>
          <a:p>
            <a:r>
              <a:rPr lang="pt-BR" noProof="0" dirty="0"/>
              <a:t>Então o gradiente precisa “</a:t>
            </a:r>
            <a:r>
              <a:rPr lang="pt-BR" b="1" noProof="0" dirty="0">
                <a:solidFill>
                  <a:srgbClr val="00B050"/>
                </a:solidFill>
              </a:rPr>
              <a:t>voltar no tempo</a:t>
            </a:r>
            <a:r>
              <a:rPr lang="pt-BR" noProof="0" dirty="0"/>
              <a:t>” e atualizar os pesos.</a:t>
            </a:r>
          </a:p>
          <a:p>
            <a:r>
              <a:rPr lang="pt-BR" b="1" noProof="0" dirty="0"/>
              <a:t>Exemplo:</a:t>
            </a:r>
            <a:r>
              <a:rPr lang="pt-BR" noProof="0" dirty="0"/>
              <a:t> "</a:t>
            </a:r>
            <a:r>
              <a:rPr lang="pt-BR" i="1" noProof="0" dirty="0"/>
              <a:t>O gato subiu no ___</a:t>
            </a:r>
            <a:r>
              <a:rPr lang="pt-BR" noProof="0" dirty="0"/>
              <a:t>", o estado de "gato" ajuda a prever "muro" lá na frente. Se a rede erra em "muro", parte da responsabilidade volta até o estado de "gato".</a:t>
            </a:r>
          </a:p>
        </p:txBody>
      </p:sp>
    </p:spTree>
    <p:extLst>
      <p:ext uri="{BB962C8B-B14F-4D97-AF65-F5344CB8AC3E}">
        <p14:creationId xmlns:p14="http://schemas.microsoft.com/office/powerpoint/2010/main" val="1540538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A579CB-F7BE-007A-141C-207261894D91}"/>
              </a:ext>
            </a:extLst>
          </p:cNvPr>
          <p:cNvSpPr>
            <a:spLocks noGrp="1"/>
          </p:cNvSpPr>
          <p:nvPr>
            <p:ph idx="1"/>
          </p:nvPr>
        </p:nvSpPr>
        <p:spPr>
          <a:xfrm>
            <a:off x="6318608" y="1"/>
            <a:ext cx="5747268" cy="6858000"/>
          </a:xfrm>
        </p:spPr>
        <p:txBody>
          <a:bodyPr anchor="ctr">
            <a:normAutofit/>
          </a:bodyPr>
          <a:lstStyle/>
          <a:p>
            <a:pPr marL="0" indent="0" algn="ctr">
              <a:buNone/>
            </a:pPr>
            <a:r>
              <a:rPr lang="pt-BR" sz="3600" dirty="0"/>
              <a:t>Quando uma </a:t>
            </a:r>
            <a:r>
              <a:rPr lang="pt-BR" sz="3600" b="1" dirty="0">
                <a:solidFill>
                  <a:srgbClr val="00B050"/>
                </a:solidFill>
              </a:rPr>
              <a:t>RNN tradicional</a:t>
            </a:r>
            <a:r>
              <a:rPr lang="pt-BR" sz="3600" dirty="0"/>
              <a:t> processa uma </a:t>
            </a:r>
            <a:r>
              <a:rPr lang="pt-BR" sz="3600" b="1" dirty="0">
                <a:solidFill>
                  <a:schemeClr val="accent2"/>
                </a:solidFill>
              </a:rPr>
              <a:t>sequência muito longa</a:t>
            </a:r>
            <a:r>
              <a:rPr lang="pt-BR" sz="3600" dirty="0"/>
              <a:t>, ela se </a:t>
            </a:r>
            <a:r>
              <a:rPr lang="pt-BR" sz="3600" b="1" dirty="0">
                <a:solidFill>
                  <a:srgbClr val="7030A0"/>
                </a:solidFill>
              </a:rPr>
              <a:t>esquece gradualmente das primeiras amostras</a:t>
            </a:r>
            <a:r>
              <a:rPr lang="pt-BR" sz="3600" dirty="0"/>
              <a:t> da sequência.</a:t>
            </a:r>
          </a:p>
          <a:p>
            <a:pPr marL="0" indent="0" algn="ctr">
              <a:buNone/>
            </a:pPr>
            <a:endParaRPr lang="pt-BR" sz="3600" dirty="0"/>
          </a:p>
          <a:p>
            <a:pPr marL="0" indent="0" algn="ctr">
              <a:buNone/>
            </a:pPr>
            <a:r>
              <a:rPr lang="pt-BR" sz="3600" dirty="0"/>
              <a:t>Ou seja, elas </a:t>
            </a:r>
            <a:r>
              <a:rPr lang="pt-BR" sz="3600" b="1" dirty="0">
                <a:solidFill>
                  <a:schemeClr val="accent1"/>
                </a:solidFill>
              </a:rPr>
              <a:t>não aprendem dependências longas...</a:t>
            </a:r>
          </a:p>
          <a:p>
            <a:pPr marL="0" indent="0" algn="ctr">
              <a:buNone/>
            </a:pPr>
            <a:endParaRPr lang="pt-BR" sz="3600" b="1" dirty="0">
              <a:solidFill>
                <a:schemeClr val="accent1"/>
              </a:solidFill>
            </a:endParaRPr>
          </a:p>
          <a:p>
            <a:pPr marL="0" indent="0" algn="ctr">
              <a:buNone/>
            </a:pPr>
            <a:r>
              <a:rPr lang="pt-BR" sz="3600" b="1" dirty="0">
                <a:solidFill>
                  <a:schemeClr val="accent1"/>
                </a:solidFill>
              </a:rPr>
              <a:t>Vamos entender o motivo.</a:t>
            </a:r>
            <a:endParaRPr lang="en-US" sz="3600" b="1" dirty="0">
              <a:solidFill>
                <a:schemeClr val="accent1"/>
              </a:solidFill>
            </a:endParaRPr>
          </a:p>
        </p:txBody>
      </p:sp>
      <p:pic>
        <p:nvPicPr>
          <p:cNvPr id="1026" name="Picture 2" descr="I AM NEVER DRINKING AGAIN! OOOHHH LOOK, ALCOHOL! - Dory from Nemo (5 second  memory) | Make a Meme">
            <a:extLst>
              <a:ext uri="{FF2B5EF4-FFF2-40B4-BE49-F238E27FC236}">
                <a16:creationId xmlns:a16="http://schemas.microsoft.com/office/drawing/2014/main"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322" y="1115435"/>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643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9DD09-FA86-3CAE-7297-B124DDFD9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AA9B93-41C8-CC75-5F29-FD0909CE60CA}"/>
                  </a:ext>
                </a:extLst>
              </p:cNvPr>
              <p:cNvSpPr>
                <a:spLocks noGrp="1"/>
              </p:cNvSpPr>
              <p:nvPr>
                <p:ph idx="1"/>
              </p:nvPr>
            </p:nvSpPr>
            <p:spPr>
              <a:xfrm>
                <a:off x="838200" y="1825624"/>
                <a:ext cx="11353800" cy="5032375"/>
              </a:xfrm>
            </p:spPr>
            <p:txBody>
              <a:bodyPr>
                <a:normAutofit/>
              </a:bodyPr>
              <a:lstStyle/>
              <a:p>
                <a:r>
                  <a:rPr lang="pt-BR" noProof="0" dirty="0"/>
                  <a:t>De forma genérica, a derivada do erro total em relação a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usando-se a </a:t>
                </a:r>
                <a:r>
                  <a:rPr lang="pt-BR" b="1" noProof="0" dirty="0"/>
                  <a:t>regra da cadeia</a:t>
                </a:r>
                <a:r>
                  <a:rPr lang="pt-BR" noProof="0" dirty="0"/>
                  <a:t>:</a:t>
                </a:r>
              </a:p>
              <a:p>
                <a:pPr marL="0" indent="0">
                  <a:buNone/>
                </a:pPr>
                <a14:m>
                  <m:oMathPara xmlns:m="http://schemas.openxmlformats.org/officeDocument/2006/math">
                    <m:o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ℎ</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ℎ</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a:t>
                </a:r>
                <a:r>
                  <a:rPr lang="pt-BR" b="1" noProof="0" dirty="0">
                    <a:solidFill>
                      <a:srgbClr val="7030A0"/>
                    </a:solidFill>
                  </a:rPr>
                  <a:t>estado oculto</a:t>
                </a:r>
                <a:r>
                  <a:rPr lang="pt-BR" noProof="0" dirty="0"/>
                  <a:t>.</a:t>
                </a:r>
              </a:p>
              <a:p>
                <a:r>
                  <a:rPr lang="pt-BR" noProof="0" dirty="0"/>
                  <a:t>Como os pesos são compartilhados ao longo do tempo, uma única atualização de matriz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=0</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−1</m:t>
                    </m:r>
                  </m:oMath>
                </a14:m>
                <a:r>
                  <a:rPr lang="pt-BR" noProof="0" dirty="0"/>
                  <a:t>.</a:t>
                </a:r>
              </a:p>
              <a:p>
                <a:r>
                  <a:rPr lang="pt-BR" dirty="0"/>
                  <a:t>Em outras palavras, o </a:t>
                </a:r>
                <a:r>
                  <a:rPr lang="pt-BR" b="1" dirty="0">
                    <a:solidFill>
                      <a:schemeClr val="accent2"/>
                    </a:solidFill>
                  </a:rPr>
                  <a:t>BPTT propaga os erros do futuro para o passado</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798CD-19D6-ECEC-B650-20958EB82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−2]</m:t>
                    </m:r>
                  </m:oMath>
                </a14:m>
                <a:r>
                  <a:rPr lang="pt-BR" dirty="0"/>
                  <a:t>, e assim por diante, voltando até o estado inicial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[0]</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F0B173-DE7A-5E16-3DD6-EB66D50745A8}"/>
                  </a:ext>
                </a:extLst>
              </p:cNvPr>
              <p:cNvSpPr>
                <a:spLocks noGrp="1"/>
              </p:cNvSpPr>
              <p:nvPr>
                <p:ph idx="1"/>
              </p:nvPr>
            </p:nvSpPr>
            <p:spPr>
              <a:xfrm>
                <a:off x="838198" y="1825624"/>
                <a:ext cx="11353802" cy="5032375"/>
              </a:xfrm>
            </p:spPr>
            <p:txBody>
              <a:bodyPr>
                <a:noAutofit/>
              </a:bodyPr>
              <a:lstStyle/>
              <a:p>
                <a:r>
                  <a:rPr lang="pt-BR" noProof="0" dirty="0"/>
                  <a:t>Aplicando a regra da cadeia ao terceiro termo, obtemos:</a:t>
                </a:r>
              </a:p>
              <a:p>
                <a:pPr marL="0" indent="0">
                  <a:buNone/>
                </a:pPr>
                <a14:m>
                  <m:oMathPara xmlns:m="http://schemas.openxmlformats.org/officeDocument/2006/math">
                    <m:o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𝑘</m:t>
                              </m:r>
                              <m:r>
                                <a:rPr lang="pt-BR" b="0" i="1" noProof="0" smtClean="0">
                                  <a:latin typeface="Cambria Math" panose="02040503050406030204" pitchFamily="18" charset="0"/>
                                </a:rPr>
                                <m:t>=0</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b="0" i="1" noProof="0" smtClean="0">
                                      <a:latin typeface="Cambria Math" panose="02040503050406030204" pitchFamily="18" charset="0"/>
                                    </a:rPr>
                                  </m:ctrlPr>
                                </m:dPr>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+1</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e>
                                  </m:nary>
                                </m:e>
                              </m:d>
                            </m:e>
                          </m:nary>
                        </m:e>
                      </m:nary>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b="0" i="1" noProof="0" smtClean="0">
                                  <a:latin typeface="Cambria Math" panose="02040503050406030204" pitchFamily="18" charset="0"/>
                                </a:rPr>
                                <m:t>+</m:t>
                              </m:r>
                            </m:sup>
                          </m:sSup>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1" i="1" noProof="0" smtClean="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noProof="0" dirty="0"/>
                  <a:t>O gradiente envolve o </a:t>
                </a:r>
                <a:r>
                  <a:rPr lang="pt-BR" b="1" noProof="0" dirty="0">
                    <a:solidFill>
                      <a:srgbClr val="7030A0"/>
                    </a:solidFill>
                  </a:rPr>
                  <a:t>produtório de muitas derivadas (Jacobianos)</a:t>
                </a:r>
                <a:r>
                  <a:rPr lang="pt-BR" noProof="0" dirty="0"/>
                  <a:t>.</a:t>
                </a:r>
              </a:p>
              <a:p>
                <a:r>
                  <a:rPr lang="pt-BR" noProof="0" dirty="0"/>
                  <a:t>O </a:t>
                </a:r>
                <a:r>
                  <a:rPr lang="pt-BR" b="1" noProof="0" dirty="0"/>
                  <a:t>produtório</a:t>
                </a:r>
                <a:r>
                  <a:rPr lang="pt-BR" noProof="0" dirty="0"/>
                  <a:t> é o caminho que o </a:t>
                </a:r>
                <a:r>
                  <a:rPr lang="pt-BR" b="1" noProof="0" dirty="0">
                    <a:solidFill>
                      <a:schemeClr val="accent1"/>
                    </a:solidFill>
                  </a:rPr>
                  <a:t>gradiente</a:t>
                </a:r>
                <a:r>
                  <a:rPr lang="pt-BR" noProof="0" dirty="0"/>
                  <a:t> percorre de volta de </a:t>
                </a:r>
                <a14:m>
                  <m:oMath xmlns:m="http://schemas.openxmlformats.org/officeDocument/2006/math">
                    <m:r>
                      <a:rPr lang="pt-BR" b="0" i="1" noProof="0" smtClean="0">
                        <a:latin typeface="Cambria Math" panose="02040503050406030204" pitchFamily="18" charset="0"/>
                      </a:rPr>
                      <m:t>𝑡</m:t>
                    </m:r>
                  </m:oMath>
                </a14:m>
                <a:r>
                  <a:rPr lang="pt-BR" noProof="0" dirty="0"/>
                  <a:t> até </a:t>
                </a:r>
                <a14:m>
                  <m:oMath xmlns:m="http://schemas.openxmlformats.org/officeDocument/2006/math">
                    <m:r>
                      <a:rPr lang="pt-BR" b="0" i="1" noProof="0" smtClean="0">
                        <a:latin typeface="Cambria Math" panose="02040503050406030204" pitchFamily="18" charset="0"/>
                      </a:rPr>
                      <m:t>𝑘</m:t>
                    </m:r>
                  </m:oMath>
                </a14:m>
                <a:r>
                  <a:rPr lang="pt-BR" noProof="0" dirty="0"/>
                  <a:t>, com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𝑘</m:t>
                    </m:r>
                  </m:oMath>
                </a14:m>
                <a:r>
                  <a:rPr lang="pt-BR" noProof="0" dirty="0"/>
                  <a:t> fatores.</a:t>
                </a:r>
              </a:p>
              <a:p>
                <a:r>
                  <a:rPr lang="pt-BR" noProof="0" dirty="0"/>
                  <a:t>O </a:t>
                </a:r>
                <a:r>
                  <a:rPr lang="pt-BR" b="1" noProof="0" dirty="0">
                    <a:solidFill>
                      <a:schemeClr val="accent2"/>
                    </a:solidFill>
                  </a:rPr>
                  <a:t>produtório</a:t>
                </a:r>
                <a:r>
                  <a:rPr lang="pt-BR" noProof="0" dirty="0"/>
                  <a:t> </a:t>
                </a:r>
                <a:r>
                  <a:rPr lang="pt-BR" b="1" noProof="0" dirty="0">
                    <a:solidFill>
                      <a:schemeClr val="accent2"/>
                    </a:solidFill>
                  </a:rPr>
                  <a:t>pode causar o desaparecimento ou a explosão do gradiente</a:t>
                </a:r>
                <a:r>
                  <a:rPr lang="pt-BR" noProof="0" dirty="0"/>
                  <a:t> dependendo dos valores das derivadas parciais,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−1]</m:t>
                        </m:r>
                      </m:den>
                    </m:f>
                  </m:oMath>
                </a14:m>
                <a:r>
                  <a:rPr lang="pt-BR" noProof="0"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2" cy="5032375"/>
              </a:xfrm>
              <a:blipFill>
                <a:blip r:embed="rId3"/>
                <a:stretch>
                  <a:fillRect l="-913"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ABFC5CF-12E7-7DE7-A463-387FF3438D85}"/>
                  </a:ext>
                </a:extLst>
              </p:cNvPr>
              <p:cNvSpPr txBox="1"/>
              <p:nvPr/>
            </p:nvSpPr>
            <p:spPr>
              <a:xfrm>
                <a:off x="6695090" y="6550223"/>
                <a:ext cx="5496910" cy="307777"/>
              </a:xfrm>
              <a:prstGeom prst="rect">
                <a:avLst/>
              </a:prstGeom>
              <a:noFill/>
            </p:spPr>
            <p:txBody>
              <a:bodyPr wrap="square">
                <a:spAutoFit/>
              </a:bodyPr>
              <a:lstStyle/>
              <a:p>
                <a:r>
                  <a:rPr lang="pt-BR" sz="1400" dirty="0"/>
                  <a:t>*</a:t>
                </a:r>
                <a14:m>
                  <m:oMath xmlns:m="http://schemas.openxmlformats.org/officeDocument/2006/math">
                    <m:sSup>
                      <m:sSupPr>
                        <m:ctrlPr>
                          <a:rPr lang="pt-BR" sz="1400" i="1">
                            <a:latin typeface="Cambria Math" panose="02040503050406030204" pitchFamily="18" charset="0"/>
                          </a:rPr>
                        </m:ctrlPr>
                      </m:sSupPr>
                      <m:e>
                        <m:r>
                          <a:rPr lang="pt-BR" sz="1400" i="1">
                            <a:latin typeface="Cambria Math" panose="02040503050406030204" pitchFamily="18" charset="0"/>
                          </a:rPr>
                          <m:t>𝜕</m:t>
                        </m:r>
                      </m:e>
                      <m:sup>
                        <m:r>
                          <a:rPr lang="pt-BR" sz="1400" b="0" i="1" noProof="0" smtClean="0">
                            <a:latin typeface="Cambria Math" panose="02040503050406030204" pitchFamily="18" charset="0"/>
                          </a:rPr>
                          <m:t>+</m:t>
                        </m:r>
                      </m:sup>
                    </m:sSup>
                  </m:oMath>
                </a14:m>
                <a:r>
                  <a:rPr lang="pt-BR" sz="1400" dirty="0"/>
                  <a:t> é o efeito direto de </a:t>
                </a:r>
                <a14:m>
                  <m:oMath xmlns:m="http://schemas.openxmlformats.org/officeDocument/2006/math">
                    <m:r>
                      <a:rPr lang="pt-BR" sz="1400" b="1" i="1">
                        <a:latin typeface="Cambria Math" panose="02040503050406030204" pitchFamily="18" charset="0"/>
                      </a:rPr>
                      <m:t>𝑾</m:t>
                    </m:r>
                  </m:oMath>
                </a14:m>
                <a:r>
                  <a:rPr lang="pt-BR" sz="1400" dirty="0"/>
                  <a:t> no passo </a:t>
                </a:r>
                <a14:m>
                  <m:oMath xmlns:m="http://schemas.openxmlformats.org/officeDocument/2006/math">
                    <m:r>
                      <a:rPr lang="pt-BR" sz="1400" i="1">
                        <a:latin typeface="Cambria Math" panose="02040503050406030204" pitchFamily="18" charset="0"/>
                      </a:rPr>
                      <m:t>𝑘</m:t>
                    </m:r>
                  </m:oMath>
                </a14:m>
                <a:r>
                  <a:rPr lang="pt-BR" sz="1400" dirty="0"/>
                  <a:t> tratando </a:t>
                </a:r>
                <a14:m>
                  <m:oMath xmlns:m="http://schemas.openxmlformats.org/officeDocument/2006/math">
                    <m:r>
                      <a:rPr lang="pt-BR" sz="1400" i="1">
                        <a:latin typeface="Cambria Math" panose="02040503050406030204" pitchFamily="18" charset="0"/>
                      </a:rPr>
                      <m:t>ℎ</m:t>
                    </m:r>
                    <m:r>
                      <a:rPr lang="pt-BR" sz="1400" i="1">
                        <a:latin typeface="Cambria Math" panose="02040503050406030204" pitchFamily="18" charset="0"/>
                      </a:rPr>
                      <m:t>[</m:t>
                    </m:r>
                    <m:r>
                      <a:rPr lang="pt-BR" sz="1400" b="0" i="1" smtClean="0">
                        <a:latin typeface="Cambria Math" panose="02040503050406030204" pitchFamily="18" charset="0"/>
                      </a:rPr>
                      <m:t>𝑘</m:t>
                    </m:r>
                    <m:r>
                      <a:rPr lang="pt-BR" sz="1400" i="1">
                        <a:latin typeface="Cambria Math" panose="02040503050406030204" pitchFamily="18" charset="0"/>
                      </a:rPr>
                      <m:t>−1]</m:t>
                    </m:r>
                  </m:oMath>
                </a14:m>
                <a:r>
                  <a:rPr lang="pt-BR" sz="1400" dirty="0"/>
                  <a:t> como constante</a:t>
                </a:r>
              </a:p>
            </p:txBody>
          </p:sp>
        </mc:Choice>
        <mc:Fallback xmlns="">
          <p:sp>
            <p:nvSpPr>
              <p:cNvPr id="5" name="CaixaDeTexto 4">
                <a:extLst>
                  <a:ext uri="{FF2B5EF4-FFF2-40B4-BE49-F238E27FC236}">
                    <a16:creationId xmlns:a16="http://schemas.microsoft.com/office/drawing/2014/main" id="{DABFC5CF-12E7-7DE7-A463-387FF3438D85}"/>
                  </a:ext>
                </a:extLst>
              </p:cNvPr>
              <p:cNvSpPr txBox="1">
                <a:spLocks noRot="1" noChangeAspect="1" noMove="1" noResize="1" noEditPoints="1" noAdjustHandles="1" noChangeArrowheads="1" noChangeShapeType="1" noTextEdit="1"/>
              </p:cNvSpPr>
              <p:nvPr/>
            </p:nvSpPr>
            <p:spPr>
              <a:xfrm>
                <a:off x="6695090" y="6550223"/>
                <a:ext cx="5496910" cy="307777"/>
              </a:xfrm>
              <a:prstGeom prst="rect">
                <a:avLst/>
              </a:prstGeom>
              <a:blipFill>
                <a:blip r:embed="rId4"/>
                <a:stretch>
                  <a:fillRect l="-333"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B29E5B8-582B-19A9-B4A3-70C3734023AF}"/>
                  </a:ext>
                </a:extLst>
              </p:cNvPr>
              <p:cNvSpPr>
                <a:spLocks noGrp="1"/>
              </p:cNvSpPr>
              <p:nvPr>
                <p:ph idx="1"/>
              </p:nvPr>
            </p:nvSpPr>
            <p:spPr>
              <a:xfrm>
                <a:off x="838200" y="1825624"/>
                <a:ext cx="11353800" cy="5032375"/>
              </a:xfrm>
            </p:spPr>
            <p:txBody>
              <a:bodyPr>
                <a:normAutofit lnSpcReduction="10000"/>
              </a:bodyPr>
              <a:lstStyle/>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smtClean="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&lt;1</m:t>
                    </m:r>
                  </m:oMath>
                </a14:m>
                <a:r>
                  <a:rPr lang="pt-BR" noProof="0" dirty="0"/>
                  <a:t>, então o produto tende a </a:t>
                </a:r>
                <a:r>
                  <a:rPr lang="pt-BR" b="1" noProof="0" dirty="0"/>
                  <a:t>zero</a:t>
                </a:r>
              </a:p>
              <a:p>
                <a:pPr lvl="1">
                  <a:buFont typeface="Wingdings" panose="05000000000000000000" pitchFamily="2" charset="2"/>
                  <a:buChar char="§"/>
                </a:pPr>
                <a:r>
                  <a:rPr lang="pt-BR" noProof="0" dirty="0"/>
                  <a:t>A rede </a:t>
                </a:r>
                <a:r>
                  <a:rPr lang="pt-BR" b="1" noProof="0" dirty="0">
                    <a:solidFill>
                      <a:srgbClr val="7030A0"/>
                    </a:solidFill>
                  </a:rPr>
                  <a:t>esquece o passado mais distante</a:t>
                </a:r>
                <a:r>
                  <a:rPr lang="pt-BR" b="1" noProof="0" dirty="0"/>
                  <a:t> </a:t>
                </a:r>
                <a:r>
                  <a:rPr lang="pt-BR" noProof="0" dirty="0"/>
                  <a:t>(informação antiga se perde).</a:t>
                </a:r>
              </a:p>
              <a:p>
                <a:pPr lvl="1">
                  <a:buFont typeface="Wingdings" panose="05000000000000000000" pitchFamily="2" charset="2"/>
                  <a:buChar char="§"/>
                </a:pPr>
                <a:r>
                  <a:rPr lang="pt-BR" noProof="0" dirty="0"/>
                  <a:t>Não aprende </a:t>
                </a:r>
                <a:r>
                  <a:rPr lang="pt-BR" b="1" noProof="0" dirty="0"/>
                  <a:t>dependências de longo prazo, apenas curtas.</a:t>
                </a:r>
              </a:p>
              <a:p>
                <a:pPr lvl="2">
                  <a:buFont typeface="Courier New" panose="02070309020205020404" pitchFamily="49" charset="0"/>
                  <a:buChar char="o"/>
                </a:pPr>
                <a:r>
                  <a:rPr lang="pt-BR" noProof="0" dirty="0"/>
                  <a:t>Estados ocultos anteriores não têm efeito sobre os estados posteriores.</a:t>
                </a:r>
              </a:p>
              <a:p>
                <a:pPr lvl="1">
                  <a:buFont typeface="Wingdings" panose="05000000000000000000" pitchFamily="2" charset="2"/>
                  <a:buChar char="§"/>
                </a:pPr>
                <a:r>
                  <a:rPr lang="pt-BR" noProof="0" dirty="0"/>
                  <a:t>Treinamento se torna </a:t>
                </a:r>
                <a:r>
                  <a:rPr lang="pt-BR" b="1" noProof="0" dirty="0">
                    <a:solidFill>
                      <a:srgbClr val="7030A0"/>
                    </a:solidFill>
                  </a:rPr>
                  <a:t>muito lento</a:t>
                </a:r>
                <a:r>
                  <a:rPr lang="pt-BR" noProof="0" dirty="0"/>
                  <a:t> ou fica</a:t>
                </a:r>
                <a:r>
                  <a:rPr lang="pt-BR" b="1" noProof="0" dirty="0">
                    <a:solidFill>
                      <a:srgbClr val="7030A0"/>
                    </a:solidFill>
                  </a:rPr>
                  <a:t> estagnado</a:t>
                </a:r>
                <a:r>
                  <a:rPr lang="pt-BR" noProof="0" dirty="0"/>
                  <a:t>.</a:t>
                </a:r>
              </a:p>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&gt;</m:t>
                    </m:r>
                    <m:r>
                      <a:rPr lang="pt-BR" noProof="0">
                        <a:latin typeface="Cambria Math" panose="02040503050406030204" pitchFamily="18" charset="0"/>
                        <a:ea typeface="Cambria Math" panose="02040503050406030204" pitchFamily="18" charset="0"/>
                      </a:rPr>
                      <m:t>1</m:t>
                    </m:r>
                  </m:oMath>
                </a14:m>
                <a:r>
                  <a:rPr lang="pt-BR" noProof="0" dirty="0"/>
                  <a:t>, então o produto </a:t>
                </a:r>
                <a:r>
                  <a:rPr lang="pt-BR" b="1" noProof="0" dirty="0"/>
                  <a:t>explode</a:t>
                </a:r>
              </a:p>
              <a:p>
                <a:pPr lvl="1">
                  <a:buFont typeface="Wingdings" panose="05000000000000000000" pitchFamily="2" charset="2"/>
                  <a:buChar char="§"/>
                </a:pPr>
                <a:r>
                  <a:rPr lang="pt-BR" noProof="0" dirty="0"/>
                  <a:t>O modelo </a:t>
                </a:r>
                <a:r>
                  <a:rPr lang="pt-BR" b="1" noProof="0" dirty="0">
                    <a:solidFill>
                      <a:schemeClr val="accent2"/>
                    </a:solidFill>
                  </a:rPr>
                  <a:t>diverge</a:t>
                </a:r>
                <a:r>
                  <a:rPr lang="pt-BR" noProof="0" dirty="0"/>
                  <a:t>.</a:t>
                </a:r>
              </a:p>
              <a:p>
                <a:pPr lvl="1">
                  <a:buFont typeface="Wingdings" panose="05000000000000000000" pitchFamily="2" charset="2"/>
                  <a:buChar char="§"/>
                </a:pPr>
                <a:r>
                  <a:rPr lang="pt-BR" noProof="0" dirty="0"/>
                  <a:t>Atualizações de pesos se tornam enormes.</a:t>
                </a:r>
              </a:p>
              <a:p>
                <a:pPr lvl="1">
                  <a:buFont typeface="Wingdings" panose="05000000000000000000" pitchFamily="2" charset="2"/>
                  <a:buChar char="§"/>
                </a:pPr>
                <a:r>
                  <a:rPr lang="pt-BR" b="1" noProof="0" dirty="0">
                    <a:solidFill>
                      <a:schemeClr val="accent2"/>
                    </a:solidFill>
                  </a:rPr>
                  <a:t>Treinamento instável</a:t>
                </a:r>
                <a:r>
                  <a:rPr lang="pt-BR" noProof="0" dirty="0"/>
                  <a:t>: erro vira </a:t>
                </a:r>
                <a:r>
                  <a:rPr lang="pt-BR" noProof="0" dirty="0" err="1"/>
                  <a:t>NaN</a:t>
                </a:r>
                <a:r>
                  <a:rPr lang="pt-BR" noProof="0" dirty="0"/>
                  <a:t>.</a:t>
                </a:r>
              </a:p>
              <a:p>
                <a:pPr lvl="1">
                  <a:buFont typeface="Wingdings" panose="05000000000000000000" pitchFamily="2" charset="2"/>
                  <a:buChar char="§"/>
                </a:pPr>
                <a:r>
                  <a:rPr lang="pt-BR" noProof="0" dirty="0"/>
                  <a:t>Sintoma típico: </a:t>
                </a:r>
                <a:r>
                  <a:rPr lang="pt-BR" b="1" noProof="0" dirty="0">
                    <a:solidFill>
                      <a:schemeClr val="accent2"/>
                    </a:solidFill>
                  </a:rPr>
                  <a:t>oscilação do erro</a:t>
                </a:r>
                <a:r>
                  <a:rPr lang="pt-BR" noProof="0" dirty="0"/>
                  <a:t>.</a:t>
                </a:r>
              </a:p>
              <a:p>
                <a:r>
                  <a:rPr lang="pt-BR" noProof="0" dirty="0"/>
                  <a:t>Na prática, o desaparecimento do gradiente é mais comum.</a:t>
                </a:r>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4046BC-6244-425E-9E7B-A8996ECB3C79}"/>
                  </a:ext>
                </a:extLst>
              </p:cNvPr>
              <p:cNvSpPr>
                <a:spLocks noGrp="1"/>
              </p:cNvSpPr>
              <p:nvPr>
                <p:ph idx="1"/>
              </p:nvPr>
            </p:nvSpPr>
            <p:spPr>
              <a:xfrm>
                <a:off x="838200" y="1825624"/>
                <a:ext cx="11353800" cy="5032375"/>
              </a:xfrm>
            </p:spPr>
            <p:txBody>
              <a:bodyPr>
                <a:normAutofit/>
              </a:bodyPr>
              <a:lstStyle/>
              <a:p>
                <a:r>
                  <a:rPr lang="pt-BR" b="1" noProof="0" dirty="0"/>
                  <a:t>Para a explosão</a:t>
                </a:r>
                <a:r>
                  <a:rPr lang="pt-BR" noProof="0" dirty="0"/>
                  <a:t>: </a:t>
                </a:r>
              </a:p>
              <a:p>
                <a:pPr lvl="1">
                  <a:buFont typeface="Wingdings" panose="05000000000000000000" pitchFamily="2" charset="2"/>
                  <a:buChar char="§"/>
                </a:pPr>
                <a:r>
                  <a:rPr lang="pt-BR" noProof="0" dirty="0"/>
                  <a:t>Limitar a magnitude do gradiente (</a:t>
                </a:r>
                <a:r>
                  <a:rPr lang="pt-BR" i="1" noProof="0" dirty="0" err="1"/>
                  <a:t>gradient</a:t>
                </a:r>
                <a:r>
                  <a:rPr lang="pt-BR" i="1" noProof="0" dirty="0"/>
                  <a:t> clipping</a:t>
                </a:r>
                <a:r>
                  <a:rPr lang="pt-BR" noProof="0" dirty="0"/>
                  <a:t>)</a:t>
                </a:r>
              </a:p>
              <a:p>
                <a:r>
                  <a:rPr lang="pt-BR" b="1" noProof="0" dirty="0"/>
                  <a:t>Para o desaparecimento</a:t>
                </a:r>
                <a:r>
                  <a:rPr lang="pt-BR" noProof="0" dirty="0"/>
                  <a:t>:</a:t>
                </a:r>
              </a:p>
              <a:p>
                <a:pPr lvl="1">
                  <a:buFont typeface="Wingdings" panose="05000000000000000000" pitchFamily="2" charset="2"/>
                  <a:buChar char="§"/>
                </a:pPr>
                <a:r>
                  <a:rPr lang="pt-BR" noProof="0" dirty="0"/>
                  <a:t>Usar arquiteturas de RNNs mais avançadas: LSTM e GRU</a:t>
                </a:r>
              </a:p>
              <a:p>
                <a:pPr lvl="2">
                  <a:buFont typeface="Courier New" panose="02070309020205020404" pitchFamily="49" charset="0"/>
                  <a:buChar char="o"/>
                </a:pPr>
                <a:r>
                  <a:rPr lang="pt-BR" sz="2100" noProof="0" dirty="0"/>
                  <a:t>Usam</a:t>
                </a:r>
                <a:r>
                  <a:rPr lang="pt-BR" sz="2100" b="1" noProof="0" dirty="0">
                    <a:solidFill>
                      <a:schemeClr val="accent2"/>
                    </a:solidFill>
                  </a:rPr>
                  <a:t> </a:t>
                </a:r>
                <a:r>
                  <a:rPr lang="pt-BR" sz="2100" b="1" noProof="0" dirty="0">
                    <a:solidFill>
                      <a:schemeClr val="accent1"/>
                    </a:solidFill>
                  </a:rPr>
                  <a:t>portões</a:t>
                </a:r>
                <a:r>
                  <a:rPr lang="pt-BR" sz="2100" noProof="0" dirty="0"/>
                  <a:t>, que funcionam como </a:t>
                </a:r>
                <a:r>
                  <a:rPr lang="pt-BR" sz="2100" b="1" noProof="0" dirty="0">
                    <a:solidFill>
                      <a:schemeClr val="accent2"/>
                    </a:solidFill>
                  </a:rPr>
                  <a:t>válvulas que controlam o fluxo da informação</a:t>
                </a:r>
                <a:r>
                  <a:rPr lang="pt-BR" sz="2100" b="1" dirty="0">
                    <a:solidFill>
                      <a:schemeClr val="accent2"/>
                    </a:solidFill>
                  </a:rPr>
                  <a:t> </a:t>
                </a:r>
                <a:r>
                  <a:rPr lang="pt-BR" sz="2100" b="1" dirty="0">
                    <a:solidFill>
                      <a:srgbClr val="7030A0"/>
                    </a:solidFill>
                  </a:rPr>
                  <a:t>e criam um </a:t>
                </a:r>
                <a:r>
                  <a:rPr lang="pt-BR" sz="2100" b="1" noProof="0" dirty="0">
                    <a:solidFill>
                      <a:srgbClr val="7030A0"/>
                    </a:solidFill>
                  </a:rPr>
                  <a:t>caminho com derivada </a:t>
                </a:r>
                <a14:m>
                  <m:oMath xmlns:m="http://schemas.openxmlformats.org/officeDocument/2006/math">
                    <m:r>
                      <a:rPr lang="pt-BR" sz="2100" b="1" i="1" noProof="0" smtClean="0">
                        <a:solidFill>
                          <a:srgbClr val="7030A0"/>
                        </a:solidFill>
                        <a:latin typeface="Cambria Math" panose="02040503050406030204" pitchFamily="18" charset="0"/>
                        <a:ea typeface="Cambria Math" panose="02040503050406030204" pitchFamily="18" charset="0"/>
                      </a:rPr>
                      <m:t>≈</m:t>
                    </m:r>
                  </m:oMath>
                </a14:m>
                <a:r>
                  <a:rPr lang="pt-BR" sz="2100" b="1" noProof="0" dirty="0">
                    <a:solidFill>
                      <a:srgbClr val="7030A0"/>
                    </a:solidFill>
                  </a:rPr>
                  <a:t> 1</a:t>
                </a:r>
                <a:r>
                  <a:rPr lang="pt-BR" sz="2100" b="1" noProof="0" dirty="0"/>
                  <a:t>, o que m</a:t>
                </a:r>
                <a:r>
                  <a:rPr lang="pt-BR" b="1" noProof="0" dirty="0"/>
                  <a:t>antém o gradiente estável por vários passos.</a:t>
                </a:r>
              </a:p>
              <a:p>
                <a:pPr lvl="1">
                  <a:buFont typeface="Wingdings" panose="05000000000000000000" pitchFamily="2" charset="2"/>
                  <a:buChar char="§"/>
                </a:pPr>
                <a:r>
                  <a:rPr lang="pt-BR" b="1" noProof="0" dirty="0">
                    <a:solidFill>
                      <a:schemeClr val="accent6"/>
                    </a:solidFill>
                  </a:rPr>
                  <a:t>Conexões residuais</a:t>
                </a:r>
                <a:r>
                  <a:rPr lang="pt-BR" noProof="0" dirty="0"/>
                  <a:t>: criam </a:t>
                </a:r>
                <a:r>
                  <a:rPr lang="pt-BR" b="1" noProof="0" dirty="0">
                    <a:solidFill>
                      <a:schemeClr val="accent6"/>
                    </a:solidFill>
                  </a:rPr>
                  <a:t>caminhos diretos</a:t>
                </a:r>
                <a:r>
                  <a:rPr lang="pt-BR" noProof="0" dirty="0"/>
                  <a:t> para o gradiente entre camadas empilhadas</a:t>
                </a:r>
              </a:p>
              <a:p>
                <a:r>
                  <a:rPr lang="pt-BR" b="1" dirty="0"/>
                  <a:t>Para ambos</a:t>
                </a:r>
                <a:r>
                  <a:rPr lang="pt-BR" dirty="0"/>
                  <a:t>: </a:t>
                </a:r>
              </a:p>
              <a:p>
                <a:pPr lvl="1">
                  <a:buFont typeface="Wingdings" panose="05000000000000000000" pitchFamily="2" charset="2"/>
                  <a:buChar char="§"/>
                </a:pPr>
                <a:r>
                  <a:rPr lang="pt-BR" dirty="0"/>
                  <a:t>Inicializar os pesos de forma apropriada (inicializações de He, Xavier e ortogonal)</a:t>
                </a:r>
                <a:endParaRPr lang="en-US" dirty="0"/>
              </a:p>
              <a:p>
                <a:pPr lvl="1">
                  <a:buFont typeface="Wingdings" panose="05000000000000000000" pitchFamily="2" charset="2"/>
                  <a:buChar char="§"/>
                </a:pPr>
                <a:r>
                  <a:rPr lang="en-US" dirty="0"/>
                  <a:t>BPTT </a:t>
                </a:r>
                <a:r>
                  <a:rPr lang="en-US" dirty="0" err="1"/>
                  <a:t>truncado</a:t>
                </a:r>
                <a:r>
                  <a:rPr lang="en-US" dirty="0"/>
                  <a:t>.</a:t>
                </a:r>
                <a:endParaRPr lang="pt-BR" noProof="0" dirty="0"/>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720CE-A76C-A8B2-DCF8-0B3E17CD94F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𝑘</m:t>
                              </m:r>
                              <m:r>
                                <a:rPr lang="pt-BR" i="1" noProof="0">
                                  <a:latin typeface="Cambria Math" panose="02040503050406030204" pitchFamily="18" charset="0"/>
                                </a:rPr>
                                <m:t>=</m:t>
                              </m:r>
                              <m:r>
                                <a:rPr lang="pt-BR" b="0" i="1" noProof="0" smtClean="0">
                                  <a:latin typeface="Cambria Math" panose="02040503050406030204" pitchFamily="18" charset="0"/>
                                </a:rPr>
                                <m:t>0</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i="1" noProof="0">
                                      <a:latin typeface="Cambria Math" panose="02040503050406030204" pitchFamily="18" charset="0"/>
                                    </a:rPr>
                                  </m:ctrlPr>
                                </m:dPr>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+1</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−1]</m:t>
                                          </m:r>
                                        </m:den>
                                      </m:f>
                                    </m:e>
                                  </m:nary>
                                </m:e>
                              </m:d>
                            </m:e>
                          </m:nary>
                        </m:e>
                      </m:nary>
                      <m:f>
                        <m:fPr>
                          <m:ctrlPr>
                            <a:rPr lang="pt-BR" i="1" noProof="0">
                              <a:latin typeface="Cambria Math" panose="02040503050406030204" pitchFamily="18" charset="0"/>
                            </a:rPr>
                          </m:ctrlPr>
                        </m:fPr>
                        <m:num>
                          <m:sSup>
                            <m:sSupPr>
                              <m:ctrlPr>
                                <a:rPr lang="pt-BR" i="1" noProof="0">
                                  <a:latin typeface="Cambria Math" panose="02040503050406030204" pitchFamily="18" charset="0"/>
                                </a:rPr>
                              </m:ctrlPr>
                            </m:sSupPr>
                            <m:e>
                              <m:r>
                                <a:rPr lang="pt-BR" i="1" noProof="0">
                                  <a:latin typeface="Cambria Math" panose="02040503050406030204" pitchFamily="18" charset="0"/>
                                </a:rPr>
                                <m:t>𝜕</m:t>
                              </m:r>
                            </m:e>
                            <m:sup>
                              <m:r>
                                <a:rPr lang="pt-BR" i="1" noProof="0">
                                  <a:latin typeface="Cambria Math" panose="02040503050406030204" pitchFamily="18" charset="0"/>
                                </a:rPr>
                                <m:t>+</m:t>
                              </m:r>
                            </m:sup>
                          </m:sSup>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oMath>
                  </m:oMathPara>
                </a14:m>
                <a:endParaRPr lang="pt-BR" noProof="0" dirty="0"/>
              </a:p>
              <a:p>
                <a:r>
                  <a:rPr lang="pt-BR" noProof="0" dirty="0"/>
                  <a:t>Se o valor de </a:t>
                </a:r>
                <a14:m>
                  <m:oMath xmlns:m="http://schemas.openxmlformats.org/officeDocument/2006/math">
                    <m:r>
                      <a:rPr lang="pt-BR" i="1" noProof="0">
                        <a:latin typeface="Cambria Math" panose="02040503050406030204" pitchFamily="18" charset="0"/>
                      </a:rPr>
                      <m:t>𝑇</m:t>
                    </m:r>
                  </m:oMath>
                </a14:m>
                <a:r>
                  <a:rPr lang="pt-BR" noProof="0" dirty="0"/>
                  <a:t> for muito grande (i.e., uma </a:t>
                </a:r>
                <a:r>
                  <a:rPr lang="pt-BR" b="1" noProof="0" dirty="0">
                    <a:solidFill>
                      <a:srgbClr val="00B050"/>
                    </a:solidFill>
                  </a:rPr>
                  <a:t>sequência muito longa</a:t>
                </a:r>
                <a:r>
                  <a:rPr lang="pt-BR" noProof="0" dirty="0"/>
                  <a:t>), a rede desdobrada fica </a:t>
                </a:r>
                <a:r>
                  <a:rPr lang="pt-BR" b="1" noProof="0" dirty="0"/>
                  <a:t>muito profunda</a:t>
                </a:r>
                <a:r>
                  <a:rPr lang="pt-BR" noProof="0" dirty="0"/>
                  <a:t>:</a:t>
                </a:r>
              </a:p>
              <a:p>
                <a:pPr lvl="1">
                  <a:buFont typeface="Wingdings" panose="05000000000000000000" pitchFamily="2" charset="2"/>
                  <a:buChar char="§"/>
                </a:pPr>
                <a:r>
                  <a:rPr lang="pt-BR" noProof="0" dirty="0"/>
                  <a:t>o que torna o </a:t>
                </a:r>
                <a:r>
                  <a:rPr lang="pt-BR" b="1" noProof="0" dirty="0">
                    <a:solidFill>
                      <a:srgbClr val="7030A0"/>
                    </a:solidFill>
                  </a:rPr>
                  <a:t>treinamento muito lento</a:t>
                </a:r>
                <a:r>
                  <a:rPr lang="pt-BR" b="1" dirty="0">
                    <a:solidFill>
                      <a:srgbClr val="7030A0"/>
                    </a:solidFill>
                  </a:rPr>
                  <a:t> </a:t>
                </a:r>
                <a:r>
                  <a:rPr lang="pt-BR" dirty="0"/>
                  <a:t>(muitos passos em sequência),</a:t>
                </a:r>
                <a:endParaRPr lang="pt-BR" noProof="0" dirty="0"/>
              </a:p>
              <a:p>
                <a:pPr lvl="1">
                  <a:buFont typeface="Wingdings" panose="05000000000000000000" pitchFamily="2" charset="2"/>
                  <a:buChar char="§"/>
                </a:pPr>
                <a:r>
                  <a:rPr lang="pt-BR" b="1" noProof="0" dirty="0">
                    <a:solidFill>
                      <a:schemeClr val="accent1"/>
                    </a:solidFill>
                  </a:rPr>
                  <a:t>consome muita memória</a:t>
                </a:r>
                <a:r>
                  <a:rPr lang="pt-BR" noProof="0" dirty="0"/>
                  <a:t> (</a:t>
                </a:r>
                <a:r>
                  <a:rPr lang="pt-BR" dirty="0"/>
                  <a:t>guardar todos os estados),</a:t>
                </a:r>
                <a:endParaRPr lang="pt-BR" noProof="0" dirty="0"/>
              </a:p>
              <a:p>
                <a:pPr lvl="1">
                  <a:buFont typeface="Wingdings" panose="05000000000000000000" pitchFamily="2" charset="2"/>
                  <a:buChar char="§"/>
                </a:pPr>
                <a:r>
                  <a:rPr lang="pt-BR" noProof="0" dirty="0"/>
                  <a:t>e pode deixar o </a:t>
                </a:r>
                <a:r>
                  <a:rPr lang="pt-BR" b="1" noProof="0" dirty="0">
                    <a:solidFill>
                      <a:schemeClr val="accent6"/>
                    </a:solidFill>
                  </a:rPr>
                  <a:t>treinamento instável devido à recursão</a:t>
                </a:r>
                <a:r>
                  <a:rPr lang="pt-BR" dirty="0"/>
                  <a:t> (produto de muitos Jacobianos).</a:t>
                </a:r>
              </a:p>
              <a:p>
                <a:r>
                  <a:rPr lang="pt-BR" dirty="0"/>
                  <a:t>Podemos </a:t>
                </a:r>
                <a:r>
                  <a:rPr lang="pt-BR" b="1" dirty="0">
                    <a:solidFill>
                      <a:schemeClr val="accent1"/>
                    </a:solidFill>
                  </a:rPr>
                  <a:t>propagar o erro até um determinado passo, </a:t>
                </a:r>
                <a14:m>
                  <m:oMath xmlns:m="http://schemas.openxmlformats.org/officeDocument/2006/math">
                    <m:r>
                      <a:rPr lang="pt-BR" b="1" i="1">
                        <a:solidFill>
                          <a:schemeClr val="accent1"/>
                        </a:solidFill>
                        <a:latin typeface="Cambria Math" panose="02040503050406030204" pitchFamily="18" charset="0"/>
                        <a:ea typeface="Cambria Math" panose="02040503050406030204" pitchFamily="18" charset="0"/>
                      </a:rPr>
                      <m:t>𝝉</m:t>
                    </m:r>
                    <m:r>
                      <a:rPr lang="pt-BR" b="0" i="0" smtClean="0">
                        <a:solidFill>
                          <a:schemeClr val="accent1"/>
                        </a:solidFill>
                        <a:latin typeface="Cambria Math" panose="02040503050406030204" pitchFamily="18" charset="0"/>
                        <a:ea typeface="Cambria Math" panose="02040503050406030204" pitchFamily="18" charset="0"/>
                      </a:rPr>
                      <m:t>&gt;0</m:t>
                    </m:r>
                  </m:oMath>
                </a14:m>
                <a:r>
                  <a:rPr lang="pt-BR" dirty="0"/>
                  <a:t>, ao invés de </a:t>
                </a:r>
                <a:r>
                  <a:rPr lang="pt-BR" b="1" dirty="0">
                    <a:solidFill>
                      <a:schemeClr val="accent2"/>
                    </a:solidFill>
                  </a:rPr>
                  <a:t>propaga-lo até o início da sequência.</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rotWithShape="0">
                <a:blip r:embed="rId2"/>
                <a:stretch>
                  <a:fillRect l="-913"/>
                </a:stretch>
              </a:blipFill>
            </p:spPr>
            <p:txBody>
              <a:bodyPr/>
              <a:lstStyle/>
              <a:p>
                <a:r>
                  <a:rPr lang="pt-BR">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4D433-326F-849D-932A-FF7EE19B3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088ED-FFA8-2495-4BDA-71832C583C00}"/>
              </a:ext>
            </a:extLst>
          </p:cNvPr>
          <p:cNvSpPr>
            <a:spLocks noGrp="1"/>
          </p:cNvSpPr>
          <p:nvPr>
            <p:ph type="title"/>
          </p:nvPr>
        </p:nvSpPr>
        <p:spPr/>
        <p:txBody>
          <a:bodyPr/>
          <a:lstStyle/>
          <a:p>
            <a:r>
              <a:rPr lang="pt-BR" i="1" dirty="0" err="1"/>
              <a:t>Truncated</a:t>
            </a:r>
            <a:r>
              <a:rPr lang="pt-BR" i="1" dirty="0"/>
              <a:t> Backpropagation </a:t>
            </a:r>
            <a:r>
              <a:rPr lang="pt-BR" i="1" dirty="0" err="1"/>
              <a:t>Through</a:t>
            </a:r>
            <a:r>
              <a:rPr lang="pt-BR" i="1" dirty="0"/>
              <a:t> Time</a:t>
            </a:r>
            <a:r>
              <a:rPr lang="pt-BR" dirty="0"/>
              <a:t> (TBPTT)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18CD52-A943-7B32-573B-CF8EC5A121F4}"/>
                  </a:ext>
                </a:extLst>
              </p:cNvPr>
              <p:cNvSpPr>
                <a:spLocks noGrp="1"/>
              </p:cNvSpPr>
              <p:nvPr>
                <p:ph idx="1"/>
              </p:nvPr>
            </p:nvSpPr>
            <p:spPr>
              <a:xfrm>
                <a:off x="838199" y="1825624"/>
                <a:ext cx="11353801" cy="5032375"/>
              </a:xfrm>
            </p:spPr>
            <p:txBody>
              <a:bodyPr>
                <a:normAutofit lnSpcReduction="10000"/>
              </a:bodyPr>
              <a:lstStyle/>
              <a:p>
                <a:r>
                  <a:rPr lang="pt-BR" noProof="0" dirty="0"/>
                  <a:t>O processo de limitar a propagação do erro até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noProof="0" dirty="0"/>
                  <a:t> passos é chamado de </a:t>
                </a:r>
                <a:r>
                  <a:rPr lang="pt-BR" b="1" noProof="0" dirty="0">
                    <a:solidFill>
                      <a:schemeClr val="accent2"/>
                    </a:solidFill>
                  </a:rPr>
                  <a:t>BPTT truncado (TB</a:t>
                </a:r>
                <a:r>
                  <a:rPr lang="pt-BR" b="1" dirty="0">
                    <a:solidFill>
                      <a:schemeClr val="accent2"/>
                    </a:solidFill>
                  </a:rPr>
                  <a:t>PT</a:t>
                </a:r>
                <a:r>
                  <a:rPr lang="pt-BR" b="1" noProof="0" dirty="0">
                    <a:solidFill>
                      <a:schemeClr val="accent2"/>
                    </a:solidFill>
                  </a:rPr>
                  <a:t>T)</a:t>
                </a:r>
                <a:r>
                  <a:rPr lang="pt-BR" noProof="0" dirty="0"/>
                  <a:t>.</a:t>
                </a:r>
              </a:p>
              <a:p>
                <a:pPr lvl="1">
                  <a:buFont typeface="Wingdings" panose="05000000000000000000" pitchFamily="2" charset="2"/>
                  <a:buChar char="§"/>
                </a:pP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é um hiperparâmetro que deve ser otimizado: pequeno demais prejudica a memória de longo prazo e grande demais perde a eficiência que motivou a técnica.</a:t>
                </a:r>
              </a:p>
              <a:p>
                <a:r>
                  <a:rPr lang="pt-BR" noProof="0" dirty="0"/>
                  <a:t>Ele reduz:</a:t>
                </a:r>
              </a:p>
              <a:p>
                <a:pPr lvl="1">
                  <a:buFont typeface="Wingdings" panose="05000000000000000000" pitchFamily="2" charset="2"/>
                  <a:buChar char="§"/>
                </a:pPr>
                <a:r>
                  <a:rPr lang="pt-BR" noProof="0" dirty="0"/>
                  <a:t>custo computacional,</a:t>
                </a:r>
              </a:p>
              <a:p>
                <a:pPr lvl="1">
                  <a:buFont typeface="Wingdings" panose="05000000000000000000" pitchFamily="2" charset="2"/>
                  <a:buChar char="§"/>
                </a:pPr>
                <a:r>
                  <a:rPr lang="pt-BR" noProof="0" dirty="0"/>
                  <a:t>uso de memória,</a:t>
                </a:r>
              </a:p>
              <a:p>
                <a:pPr lvl="1">
                  <a:buFont typeface="Wingdings" panose="05000000000000000000" pitchFamily="2" charset="2"/>
                  <a:buChar char="§"/>
                </a:pPr>
                <a:r>
                  <a:rPr lang="pt-BR" noProof="0" dirty="0"/>
                  <a:t>e ameniza a explosão e o desaparecimento do gradiente.</a:t>
                </a:r>
              </a:p>
              <a:p>
                <a:r>
                  <a:rPr lang="pt-BR" noProof="0" dirty="0"/>
                  <a:t>Porém, o TBPTT força a rede a se concentrar em padrões de curto e médio prazo.</a:t>
                </a:r>
              </a:p>
              <a:p>
                <a:r>
                  <a:rPr lang="pt-BR" dirty="0"/>
                  <a:t>Se a informação relevante está a mais de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passos, o TBPTT não consegue ensinar a rede a usá-la.</a:t>
                </a:r>
                <a:endParaRPr lang="pt-BR" noProof="0"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BAB6-1EE4-4547-07FC-97B0B6DEB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3B04ED-99C9-38B8-A6B7-07300AEB9169}"/>
              </a:ext>
            </a:extLst>
          </p:cNvPr>
          <p:cNvSpPr>
            <a:spLocks noGrp="1"/>
          </p:cNvSpPr>
          <p:nvPr>
            <p:ph type="title"/>
          </p:nvPr>
        </p:nvSpPr>
        <p:spPr/>
        <p:txBody>
          <a:bodyPr/>
          <a:lstStyle/>
          <a:p>
            <a:r>
              <a:rPr lang="pt-BR" dirty="0"/>
              <a:t>Por que o BPTT truncado funciona?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B4DBBF-C43B-70AC-AAA4-A3D9A2DAABDE}"/>
                  </a:ext>
                </a:extLst>
              </p:cNvPr>
              <p:cNvSpPr>
                <a:spLocks noGrp="1"/>
              </p:cNvSpPr>
              <p:nvPr>
                <p:ph idx="1"/>
              </p:nvPr>
            </p:nvSpPr>
            <p:spPr>
              <a:xfrm>
                <a:off x="838199" y="1825624"/>
                <a:ext cx="11353801" cy="5032375"/>
              </a:xfrm>
            </p:spPr>
            <p:txBody>
              <a:bodyPr>
                <a:normAutofit/>
              </a:bodyPr>
              <a:lstStyle/>
              <a:p>
                <a:r>
                  <a:rPr lang="pt-BR" noProof="0" dirty="0"/>
                  <a:t>Em muitos problemas, o que importa para prever o próximo elemento está </a:t>
                </a:r>
                <a:r>
                  <a:rPr lang="pt-BR" b="1" noProof="0" dirty="0"/>
                  <a:t>perto</a:t>
                </a:r>
                <a:r>
                  <a:rPr lang="pt-BR" noProof="0" dirty="0"/>
                  <a:t>. </a:t>
                </a:r>
              </a:p>
              <a:p>
                <a:pPr lvl="1">
                  <a:buFont typeface="Wingdings" panose="05000000000000000000" pitchFamily="2" charset="2"/>
                  <a:buChar char="§"/>
                </a:pPr>
                <a:r>
                  <a:rPr lang="pt-BR" noProof="0" dirty="0"/>
                  <a:t>A influência do passado </a:t>
                </a:r>
                <a:r>
                  <a:rPr lang="pt-BR" b="1" noProof="0" dirty="0"/>
                  <a:t>diminui com a distância</a:t>
                </a:r>
                <a:r>
                  <a:rPr lang="pt-BR" noProof="0" dirty="0"/>
                  <a:t>.</a:t>
                </a:r>
              </a:p>
              <a:p>
                <a:r>
                  <a:rPr lang="pt-BR" noProof="0" dirty="0"/>
                  <a:t>As contribuições de passos distantes já são </a:t>
                </a:r>
                <a:r>
                  <a:rPr lang="pt-BR" b="1" noProof="0" dirty="0"/>
                  <a:t>pequenas</a:t>
                </a:r>
                <a:r>
                  <a:rPr lang="pt-BR" noProof="0" dirty="0"/>
                  <a:t> devido ao produto de muitos Jacobianos. </a:t>
                </a:r>
              </a:p>
              <a:p>
                <a:pPr lvl="1">
                  <a:buFont typeface="Wingdings" panose="05000000000000000000" pitchFamily="2" charset="2"/>
                  <a:buChar char="§"/>
                </a:pPr>
                <a:r>
                  <a:rPr lang="pt-BR" noProof="0" dirty="0"/>
                  <a:t>Cortar o gradiente em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 </a:t>
                </a:r>
                <a:r>
                  <a:rPr lang="pt-BR" b="1" noProof="0" dirty="0"/>
                  <a:t>perde pouca informação</a:t>
                </a:r>
                <a:r>
                  <a:rPr lang="pt-BR" noProof="0" dirty="0"/>
                  <a:t>.</a:t>
                </a:r>
              </a:p>
              <a:p>
                <a:r>
                  <a:rPr lang="pt-BR" noProof="0" dirty="0"/>
                  <a:t>Ou seja, </a:t>
                </a:r>
                <a:r>
                  <a:rPr lang="pt-BR" b="1" noProof="0" dirty="0">
                    <a:solidFill>
                      <a:srgbClr val="7030A0"/>
                    </a:solidFill>
                  </a:rPr>
                  <a:t>nem sempre é necessário</a:t>
                </a:r>
                <a:r>
                  <a:rPr lang="pt-BR" noProof="0" dirty="0"/>
                  <a:t> </a:t>
                </a:r>
                <a:r>
                  <a:rPr lang="pt-BR" b="1" noProof="0" dirty="0">
                    <a:solidFill>
                      <a:srgbClr val="7030A0"/>
                    </a:solidFill>
                  </a:rPr>
                  <a:t>voltar até o primeiro passo</a:t>
                </a:r>
                <a:r>
                  <a:rPr lang="pt-BR" noProof="0" dirty="0"/>
                  <a:t> da sequência.</a:t>
                </a:r>
              </a:p>
              <a:p>
                <a:r>
                  <a:rPr lang="pt-BR" b="1" dirty="0"/>
                  <a:t>OBS.: </a:t>
                </a:r>
                <a:r>
                  <a:rPr lang="pt-BR" dirty="0"/>
                  <a:t>na prática, o estado oculto continua sendo passado adiante entre os blocos, e só o gradiente é cortado.</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6B4DBBF-C43B-70AC-AAA4-A3D9A2DAABDE}"/>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1288"/>
                </a:stretch>
              </a:blipFill>
            </p:spPr>
            <p:txBody>
              <a:bodyPr/>
              <a:lstStyle/>
              <a:p>
                <a:r>
                  <a:rPr lang="pt-BR">
                    <a:noFill/>
                  </a:rPr>
                  <a:t> </a:t>
                </a:r>
              </a:p>
            </p:txBody>
          </p:sp>
        </mc:Fallback>
      </mc:AlternateContent>
    </p:spTree>
    <p:extLst>
      <p:ext uri="{BB962C8B-B14F-4D97-AF65-F5344CB8AC3E}">
        <p14:creationId xmlns:p14="http://schemas.microsoft.com/office/powerpoint/2010/main" val="1144239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02C1-1D71-8369-2652-1C4831795E31}"/>
              </a:ext>
            </a:extLst>
          </p:cNvPr>
          <p:cNvSpPr>
            <a:spLocks noGrp="1"/>
          </p:cNvSpPr>
          <p:nvPr>
            <p:ph type="title"/>
          </p:nvPr>
        </p:nvSpPr>
        <p:spPr/>
        <p:txBody>
          <a:bodyPr/>
          <a:lstStyle/>
          <a:p>
            <a:r>
              <a:rPr lang="pt-BR" dirty="0"/>
              <a:t>O problema das dependências de longo prazo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10C7DC-900E-A12D-9EE8-1087C3111C87}"/>
                  </a:ext>
                </a:extLst>
              </p:cNvPr>
              <p:cNvSpPr>
                <a:spLocks noGrp="1"/>
              </p:cNvSpPr>
              <p:nvPr>
                <p:ph idx="1"/>
              </p:nvPr>
            </p:nvSpPr>
            <p:spPr>
              <a:xfrm>
                <a:off x="838200" y="1825624"/>
                <a:ext cx="11353799" cy="5032375"/>
              </a:xfrm>
            </p:spPr>
            <p:txBody>
              <a:bodyPr>
                <a:normAutofit/>
              </a:bodyPr>
              <a:lstStyle/>
              <a:p>
                <a:pPr lvl="0"/>
                <a:r>
                  <a:rPr lang="pt-BR" b="1" noProof="0" dirty="0"/>
                  <a:t>RNNs simples</a:t>
                </a:r>
                <a:r>
                  <a:rPr lang="pt-BR" noProof="0" dirty="0"/>
                  <a:t> (baunilha) não aprendem dependências de longo prazo: o gradiente </a:t>
                </a:r>
                <a:r>
                  <a:rPr lang="pt-BR" b="1" noProof="0" dirty="0"/>
                  <a:t>desaparece</a:t>
                </a:r>
                <a:r>
                  <a:rPr lang="pt-BR" noProof="0" dirty="0"/>
                  <a:t> ao voltar no tempo.</a:t>
                </a:r>
              </a:p>
              <a:p>
                <a:pPr lvl="0"/>
                <a:r>
                  <a:rPr lang="pt-BR" noProof="0" dirty="0"/>
                  <a:t>O </a:t>
                </a:r>
                <a:r>
                  <a:rPr lang="pt-BR" b="1" noProof="0" dirty="0"/>
                  <a:t>TBPTT</a:t>
                </a:r>
                <a:r>
                  <a:rPr lang="pt-BR" noProof="0" dirty="0"/>
                  <a:t> também limita esse aprendizado, pois corta o gradiente após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a:t>
                </a:r>
              </a:p>
              <a:p>
                <a:pPr lvl="0"/>
                <a:r>
                  <a:rPr lang="pt-BR" noProof="0" dirty="0"/>
                  <a:t>Porém, muitas tarefas exigem contexto </a:t>
                </a:r>
                <a:r>
                  <a:rPr lang="pt-BR" b="1" noProof="0" dirty="0"/>
                  <a:t>curto e longo</a:t>
                </a:r>
                <a:r>
                  <a:rPr lang="pt-BR" noProof="0" dirty="0"/>
                  <a:t>. </a:t>
                </a:r>
              </a:p>
              <a:p>
                <a:pPr lvl="1"/>
                <a:r>
                  <a:rPr lang="pt-BR" b="1" noProof="0" dirty="0"/>
                  <a:t>Exemplo</a:t>
                </a:r>
                <a:r>
                  <a:rPr lang="pt-BR" noProof="0" dirty="0"/>
                  <a:t>: na tradução de texto, uma palavra pode depender das vizinhas ou de algo dito muito antes.</a:t>
                </a:r>
              </a:p>
            </p:txBody>
          </p:sp>
        </mc:Choice>
        <mc:Fallback xmlns="">
          <p:sp>
            <p:nvSpPr>
              <p:cNvPr id="3" name="Content Placeholder 2">
                <a:extLst>
                  <a:ext uri="{FF2B5EF4-FFF2-40B4-BE49-F238E27FC236}">
                    <a16:creationId xmlns:a16="http://schemas.microsoft.com/office/drawing/2014/main" id="{F210C7DC-900E-A12D-9EE8-1087C3111C87}"/>
                  </a:ext>
                </a:extLst>
              </p:cNvPr>
              <p:cNvSpPr>
                <a:spLocks noGrp="1" noRot="1" noChangeAspect="1" noMove="1" noResize="1" noEditPoints="1" noAdjustHandles="1" noChangeArrowheads="1" noChangeShapeType="1" noTextEdit="1"/>
              </p:cNvSpPr>
              <p:nvPr>
                <p:ph idx="1"/>
              </p:nvPr>
            </p:nvSpPr>
            <p:spPr>
              <a:xfrm>
                <a:off x="838200" y="1825624"/>
                <a:ext cx="11353799" cy="5032375"/>
              </a:xfrm>
              <a:blipFill>
                <a:blip r:embed="rId3"/>
                <a:stretch>
                  <a:fillRect l="-967" t="-1937" r="-107"/>
                </a:stretch>
              </a:blipFill>
            </p:spPr>
            <p:txBody>
              <a:bodyPr/>
              <a:lstStyle/>
              <a:p>
                <a:r>
                  <a:rPr lang="en-US">
                    <a:noFill/>
                  </a:rPr>
                  <a:t> </a:t>
                </a:r>
              </a:p>
            </p:txBody>
          </p:sp>
        </mc:Fallback>
      </mc:AlternateContent>
    </p:spTree>
    <p:extLst>
      <p:ext uri="{BB962C8B-B14F-4D97-AF65-F5344CB8AC3E}">
        <p14:creationId xmlns:p14="http://schemas.microsoft.com/office/powerpoint/2010/main" val="301211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7CE59-D8FC-0683-12EB-3BCB0F761DE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a:t>
            </a:r>
          </a:p>
          <a:p>
            <a:r>
              <a:rPr lang="pt-BR" dirty="0"/>
              <a:t>Ou seja, a </a:t>
            </a:r>
            <a:r>
              <a:rPr lang="pt-BR" b="1" dirty="0">
                <a:solidFill>
                  <a:srgbClr val="7030A0"/>
                </a:solidFill>
              </a:rPr>
              <a:t>informação relevante</a:t>
            </a:r>
            <a:r>
              <a:rPr lang="pt-BR" dirty="0"/>
              <a:t> </a:t>
            </a:r>
            <a:r>
              <a:rPr lang="pt-BR" b="1" dirty="0">
                <a:solidFill>
                  <a:srgbClr val="7030A0"/>
                </a:solidFill>
              </a:rPr>
              <a:t>está a poucos passos</a:t>
            </a:r>
            <a:r>
              <a:rPr lang="pt-BR" dirty="0"/>
              <a:t> no tempo (</a:t>
            </a:r>
            <a:r>
              <a:rPr lang="pt-BR" b="1" dirty="0">
                <a:solidFill>
                  <a:schemeClr val="accent2"/>
                </a:solidFill>
              </a:rPr>
              <a:t>contexto recente</a:t>
            </a:r>
            <a:r>
              <a:rPr lang="pt-BR" dirty="0"/>
              <a:t>).</a:t>
            </a:r>
          </a:p>
        </p:txBody>
      </p:sp>
      <p:sp>
        <p:nvSpPr>
          <p:cNvPr id="8" name="Rectangle 7">
            <a:extLst>
              <a:ext uri="{FF2B5EF4-FFF2-40B4-BE49-F238E27FC236}">
                <a16:creationId xmlns:a16="http://schemas.microsoft.com/office/drawing/2014/main"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4356E-F5FE-E5D3-9E6C-6927EBEC8C9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a:t>
            </a:r>
            <a:r>
              <a:rPr lang="pt-BR" b="1" dirty="0">
                <a:solidFill>
                  <a:srgbClr val="7030A0"/>
                </a:solidFill>
              </a:rPr>
              <a:t>treinamento</a:t>
            </a:r>
            <a:r>
              <a:rPr lang="pt-BR" dirty="0"/>
              <a:t>, o </a:t>
            </a:r>
            <a:r>
              <a:rPr lang="pt-BR" b="1" dirty="0">
                <a:solidFill>
                  <a:schemeClr val="accent2"/>
                </a:solidFill>
              </a:rPr>
              <a:t>erro precisa ser retropropagado por apenas alguns passos</a:t>
            </a:r>
            <a:r>
              <a:rPr lang="pt-BR" dirty="0"/>
              <a:t>.</a:t>
            </a:r>
          </a:p>
          <a:p>
            <a:r>
              <a:rPr lang="pt-BR" dirty="0"/>
              <a:t>Porém, em muitas aplicações, a </a:t>
            </a:r>
            <a:r>
              <a:rPr lang="pt-BR" b="1" dirty="0">
                <a:solidFill>
                  <a:srgbClr val="7030A0"/>
                </a:solidFill>
              </a:rPr>
              <a:t>informação importante</a:t>
            </a:r>
            <a:r>
              <a:rPr lang="pt-BR" dirty="0"/>
              <a:t> </a:t>
            </a:r>
            <a:r>
              <a:rPr lang="pt-BR" b="1" dirty="0">
                <a:solidFill>
                  <a:srgbClr val="00B050"/>
                </a:solidFill>
              </a:rPr>
              <a:t>pode estar muito distante na sequência</a:t>
            </a:r>
            <a:r>
              <a:rPr lang="pt-BR" dirty="0"/>
              <a:t>.</a:t>
            </a:r>
          </a:p>
          <a:p>
            <a:r>
              <a:rPr lang="pt-BR" dirty="0"/>
              <a:t>Consideremos o seguinte trecho: </a:t>
            </a:r>
          </a:p>
          <a:p>
            <a:pPr marL="457200" lvl="1" indent="0" algn="ctr">
              <a:buNone/>
            </a:pPr>
            <a:r>
              <a:rPr lang="pt-BR" dirty="0"/>
              <a:t>“Sou de </a:t>
            </a:r>
            <a:r>
              <a:rPr lang="pt-BR" b="1" dirty="0"/>
              <a:t>Roma</a:t>
            </a:r>
            <a:r>
              <a:rPr lang="pt-BR" dirty="0"/>
              <a:t>. Nasci há 30 anos. Gosto de comer bem e andar de bicicleta. Minha língua materna é o </a:t>
            </a:r>
            <a:r>
              <a:rPr lang="pt-BR" b="1" dirty="0"/>
              <a:t>italiano</a:t>
            </a:r>
            <a:r>
              <a:rPr lang="pt-BR" dirty="0"/>
              <a:t>.”</a:t>
            </a:r>
          </a:p>
        </p:txBody>
      </p:sp>
      <p:sp>
        <p:nvSpPr>
          <p:cNvPr id="8" name="Rectangle 7">
            <a:extLst>
              <a:ext uri="{FF2B5EF4-FFF2-40B4-BE49-F238E27FC236}">
                <a16:creationId xmlns:a16="http://schemas.microsoft.com/office/drawing/2014/main"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84BD1-9D88-7A7E-95C0-39AB6310B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A60FF3FD-0963-BC17-8992-4327E5058BC2}"/>
              </a:ext>
            </a:extLst>
          </p:cNvPr>
          <p:cNvSpPr>
            <a:spLocks noGrp="1"/>
          </p:cNvSpPr>
          <p:nvPr>
            <p:ph idx="1"/>
          </p:nvPr>
        </p:nvSpPr>
        <p:spPr>
          <a:xfrm>
            <a:off x="6238874" y="1825624"/>
            <a:ext cx="5953125" cy="5032375"/>
          </a:xfrm>
        </p:spPr>
        <p:txBody>
          <a:bodyPr>
            <a:normAutofit/>
          </a:bodyPr>
          <a:lstStyle/>
          <a:p>
            <a:pPr>
              <a:lnSpc>
                <a:spcPct val="100000"/>
              </a:lnSpc>
              <a:spcBef>
                <a:spcPts val="0"/>
              </a:spcBef>
              <a:defRPr/>
            </a:pPr>
            <a:r>
              <a:rPr lang="pt-BR" dirty="0"/>
              <a:t>Para prever </a:t>
            </a:r>
            <a:r>
              <a:rPr lang="pt-BR" b="1" dirty="0">
                <a:solidFill>
                  <a:schemeClr val="accent2"/>
                </a:solidFill>
              </a:rPr>
              <a:t>“italiano”</a:t>
            </a:r>
            <a:r>
              <a:rPr lang="pt-BR" dirty="0"/>
              <a:t>, a rede precisa lembrar de uma </a:t>
            </a:r>
            <a:r>
              <a:rPr lang="pt-BR" b="1" dirty="0">
                <a:solidFill>
                  <a:srgbClr val="7030A0"/>
                </a:solidFill>
              </a:rPr>
              <a:t>informação muito antiga</a:t>
            </a:r>
            <a:r>
              <a:rPr lang="pt-BR" dirty="0"/>
              <a:t> da sequência, a palavra </a:t>
            </a:r>
            <a:r>
              <a:rPr lang="pt-BR" b="1" dirty="0">
                <a:solidFill>
                  <a:schemeClr val="accent2"/>
                </a:solidFill>
              </a:rPr>
              <a:t>“Roma”</a:t>
            </a:r>
            <a:r>
              <a:rPr lang="pt-BR" dirty="0"/>
              <a:t>.</a:t>
            </a:r>
          </a:p>
          <a:p>
            <a:pPr>
              <a:lnSpc>
                <a:spcPct val="100000"/>
              </a:lnSpc>
              <a:spcBef>
                <a:spcPts val="0"/>
              </a:spcBef>
              <a:defRPr/>
            </a:pPr>
            <a:r>
              <a:rPr lang="pt-BR" dirty="0"/>
              <a:t>Durante o treinamento, o </a:t>
            </a:r>
            <a:r>
              <a:rPr lang="pt-BR" b="1" dirty="0">
                <a:solidFill>
                  <a:srgbClr val="00B050"/>
                </a:solidFill>
              </a:rPr>
              <a:t>erro</a:t>
            </a:r>
            <a:r>
              <a:rPr lang="pt-BR" dirty="0"/>
              <a:t> precisa ser </a:t>
            </a:r>
            <a:r>
              <a:rPr lang="pt-BR" b="1" dirty="0" err="1">
                <a:solidFill>
                  <a:srgbClr val="00B050"/>
                </a:solidFill>
              </a:rPr>
              <a:t>retropropagado</a:t>
            </a:r>
            <a:r>
              <a:rPr lang="pt-BR" dirty="0"/>
              <a:t> por </a:t>
            </a:r>
            <a:r>
              <a:rPr lang="pt-BR" b="1" dirty="0">
                <a:solidFill>
                  <a:srgbClr val="00B050"/>
                </a:solidFill>
              </a:rPr>
              <a:t>vários instantes de tempo</a:t>
            </a:r>
            <a:r>
              <a:rPr lang="pt-BR" dirty="0"/>
              <a:t>, o que pode fazer com que o </a:t>
            </a:r>
            <a:r>
              <a:rPr lang="pt-BR" b="1" dirty="0">
                <a:solidFill>
                  <a:srgbClr val="7030A0"/>
                </a:solidFill>
              </a:rPr>
              <a:t>gradiente desapareça</a:t>
            </a:r>
            <a:r>
              <a:rPr lang="pt-BR" dirty="0"/>
              <a:t>.</a:t>
            </a:r>
          </a:p>
        </p:txBody>
      </p:sp>
      <p:sp>
        <p:nvSpPr>
          <p:cNvPr id="8" name="Rectangle 7">
            <a:extLst>
              <a:ext uri="{FF2B5EF4-FFF2-40B4-BE49-F238E27FC236}">
                <a16:creationId xmlns:a16="http://schemas.microsoft.com/office/drawing/2014/main"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AA46-FB18-7F4A-9CA9-0600DE6F2E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6C1404A6-E7DD-907F-A21B-91BD8A91FAEC}"/>
              </a:ext>
            </a:extLst>
          </p:cNvPr>
          <p:cNvSpPr>
            <a:spLocks noGrp="1"/>
          </p:cNvSpPr>
          <p:nvPr>
            <p:ph idx="1"/>
          </p:nvPr>
        </p:nvSpPr>
        <p:spPr>
          <a:xfrm>
            <a:off x="6199158" y="1825624"/>
            <a:ext cx="5992842" cy="5032375"/>
          </a:xfrm>
        </p:spPr>
        <p:txBody>
          <a:bodyPr>
            <a:normAutofit/>
          </a:bodyPr>
          <a:lstStyle/>
          <a:p>
            <a:r>
              <a:rPr lang="pt-BR" b="1" dirty="0">
                <a:solidFill>
                  <a:srgbClr val="7030A0"/>
                </a:solidFill>
              </a:rPr>
              <a:t>Quanto maior a distância temporal</a:t>
            </a:r>
            <a:r>
              <a:rPr lang="pt-BR" dirty="0"/>
              <a:t>, </a:t>
            </a:r>
            <a:r>
              <a:rPr lang="pt-BR" b="1" dirty="0">
                <a:solidFill>
                  <a:schemeClr val="accent2"/>
                </a:solidFill>
              </a:rPr>
              <a:t>mais difícil é para uma RNN tradicional </a:t>
            </a:r>
            <a:r>
              <a:rPr lang="pt-BR" dirty="0"/>
              <a:t>manter a informação relevante, ou seja, </a:t>
            </a:r>
            <a:r>
              <a:rPr lang="pt-BR" b="1" dirty="0">
                <a:solidFill>
                  <a:schemeClr val="accent1"/>
                </a:solidFill>
              </a:rPr>
              <a:t>se lembrar do passado distante</a:t>
            </a:r>
            <a:r>
              <a:rPr lang="pt-BR" dirty="0"/>
              <a:t>.</a:t>
            </a:r>
          </a:p>
          <a:p>
            <a:pPr marL="0" indent="0">
              <a:buNone/>
            </a:pPr>
            <a:endParaRPr lang="pt-BR" dirty="0"/>
          </a:p>
          <a:p>
            <a:pPr marL="0" indent="0" algn="ctr">
              <a:buNone/>
            </a:pPr>
            <a:r>
              <a:rPr lang="pt-BR" dirty="0"/>
              <a:t>Como permitir que a rede preserve </a:t>
            </a:r>
            <a:r>
              <a:rPr lang="pt-BR" b="1" dirty="0">
                <a:solidFill>
                  <a:schemeClr val="accent2"/>
                </a:solidFill>
              </a:rPr>
              <a:t>informações importantes</a:t>
            </a:r>
            <a:r>
              <a:rPr lang="pt-BR" dirty="0"/>
              <a:t> </a:t>
            </a:r>
            <a:r>
              <a:rPr lang="pt-BR" b="1" dirty="0">
                <a:solidFill>
                  <a:srgbClr val="00B050"/>
                </a:solidFill>
              </a:rPr>
              <a:t>por mais tempo</a:t>
            </a:r>
            <a:r>
              <a:rPr lang="pt-BR" dirty="0"/>
              <a:t>?</a:t>
            </a:r>
          </a:p>
        </p:txBody>
      </p:sp>
      <p:sp>
        <p:nvSpPr>
          <p:cNvPr id="8" name="Rectangle 7">
            <a:extLst>
              <a:ext uri="{FF2B5EF4-FFF2-40B4-BE49-F238E27FC236}">
                <a16:creationId xmlns:a16="http://schemas.microsoft.com/office/drawing/2014/main"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AA46-FB18-7F4A-9CA9-0600DE6F2E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6C1404A6-E7DD-907F-A21B-91BD8A91FAEC}"/>
              </a:ext>
            </a:extLst>
          </p:cNvPr>
          <p:cNvSpPr>
            <a:spLocks noGrp="1"/>
          </p:cNvSpPr>
          <p:nvPr>
            <p:ph idx="1"/>
          </p:nvPr>
        </p:nvSpPr>
        <p:spPr>
          <a:xfrm>
            <a:off x="838201" y="1825624"/>
            <a:ext cx="11353800" cy="5032375"/>
          </a:xfrm>
        </p:spPr>
        <p:txBody>
          <a:bodyPr>
            <a:normAutofit/>
          </a:bodyPr>
          <a:lstStyle/>
          <a:p>
            <a:r>
              <a:rPr lang="pt-BR" noProof="0" dirty="0"/>
              <a:t>Para </a:t>
            </a:r>
            <a:r>
              <a:rPr lang="pt-BR" b="1" noProof="0" dirty="0">
                <a:solidFill>
                  <a:schemeClr val="accent2"/>
                </a:solidFill>
              </a:rPr>
              <a:t>diminuir o problema das dependências de longo prazo</a:t>
            </a:r>
            <a:r>
              <a:rPr lang="pt-BR" noProof="0" dirty="0"/>
              <a:t>, causado pelo desaparecimento do gradiente, foram propostas </a:t>
            </a:r>
            <a:r>
              <a:rPr lang="pt-BR" b="1" noProof="0" dirty="0">
                <a:solidFill>
                  <a:srgbClr val="00B050"/>
                </a:solidFill>
              </a:rPr>
              <a:t>redes com memória controlada por portas:</a:t>
            </a:r>
          </a:p>
          <a:p>
            <a:pPr lvl="1">
              <a:buFont typeface="Wingdings" panose="05000000000000000000" pitchFamily="2" charset="2"/>
              <a:buChar char="§"/>
            </a:pPr>
            <a:r>
              <a:rPr lang="pt-BR" i="1" noProof="0" dirty="0" err="1"/>
              <a:t>Long</a:t>
            </a:r>
            <a:r>
              <a:rPr lang="pt-BR" i="1" noProof="0" dirty="0"/>
              <a:t> Short-</a:t>
            </a:r>
            <a:r>
              <a:rPr lang="pt-BR" i="1" noProof="0" dirty="0" err="1"/>
              <a:t>Term</a:t>
            </a:r>
            <a:r>
              <a:rPr lang="pt-BR" i="1" noProof="0" dirty="0"/>
              <a:t> </a:t>
            </a:r>
            <a:r>
              <a:rPr lang="pt-BR" i="1" noProof="0" dirty="0" err="1"/>
              <a:t>Memory</a:t>
            </a:r>
            <a:r>
              <a:rPr lang="pt-BR" noProof="0" dirty="0"/>
              <a:t> (LSTM)</a:t>
            </a:r>
          </a:p>
          <a:p>
            <a:pPr lvl="1">
              <a:buFont typeface="Wingdings" panose="05000000000000000000" pitchFamily="2" charset="2"/>
              <a:buChar char="§"/>
            </a:pPr>
            <a:r>
              <a:rPr lang="pt-BR" i="1" noProof="0" dirty="0" err="1"/>
              <a:t>Gated</a:t>
            </a:r>
            <a:r>
              <a:rPr lang="pt-BR" i="1" noProof="0" dirty="0"/>
              <a:t> </a:t>
            </a:r>
            <a:r>
              <a:rPr lang="pt-BR" i="1" noProof="0" dirty="0" err="1"/>
              <a:t>Recurrent</a:t>
            </a:r>
            <a:r>
              <a:rPr lang="pt-BR" i="1" noProof="0" dirty="0"/>
              <a:t> Unit</a:t>
            </a:r>
            <a:r>
              <a:rPr lang="pt-BR" noProof="0" dirty="0"/>
              <a:t> (GRU)</a:t>
            </a:r>
          </a:p>
          <a:p>
            <a:r>
              <a:rPr lang="pt-BR" noProof="0" dirty="0"/>
              <a:t>Essas redes </a:t>
            </a:r>
            <a:r>
              <a:rPr lang="pt-BR" b="1" noProof="0" dirty="0">
                <a:solidFill>
                  <a:srgbClr val="7030A0"/>
                </a:solidFill>
              </a:rPr>
              <a:t>criam caminhos ao longo do tempo</a:t>
            </a:r>
            <a:r>
              <a:rPr lang="pt-BR" noProof="0" dirty="0"/>
              <a:t> cujas </a:t>
            </a:r>
            <a:r>
              <a:rPr lang="pt-BR" b="1" noProof="0" dirty="0">
                <a:solidFill>
                  <a:schemeClr val="accent2"/>
                </a:solidFill>
              </a:rPr>
              <a:t>derivadas são controladas</a:t>
            </a:r>
            <a:r>
              <a:rPr lang="pt-BR" noProof="0" dirty="0"/>
              <a:t> pela própria rede, fazendo com que </a:t>
            </a:r>
            <a:r>
              <a:rPr lang="pt-BR" dirty="0"/>
              <a:t>o gradiente </a:t>
            </a:r>
            <a:r>
              <a:rPr lang="pt-BR" b="1" dirty="0">
                <a:solidFill>
                  <a:srgbClr val="00B0F0"/>
                </a:solidFill>
              </a:rPr>
              <a:t>decaia muito mais devagar</a:t>
            </a:r>
            <a:r>
              <a:rPr lang="pt-BR" noProof="0" dirty="0"/>
              <a:t>.</a:t>
            </a:r>
          </a:p>
          <a:p>
            <a:pPr lvl="0"/>
            <a:r>
              <a:rPr lang="pt-BR" dirty="0"/>
              <a:t>As portas </a:t>
            </a:r>
            <a:r>
              <a:rPr lang="pt-BR" noProof="0" dirty="0"/>
              <a:t>funcionam como válvulas que decidem: </a:t>
            </a:r>
          </a:p>
          <a:p>
            <a:pPr lvl="1">
              <a:buFont typeface="Wingdings" panose="05000000000000000000" pitchFamily="2" charset="2"/>
              <a:buChar char="§"/>
            </a:pPr>
            <a:r>
              <a:rPr lang="pt-BR" noProof="0" dirty="0"/>
              <a:t>o que </a:t>
            </a:r>
            <a:r>
              <a:rPr lang="pt-BR" b="1" noProof="0" dirty="0"/>
              <a:t>gravar</a:t>
            </a:r>
            <a:r>
              <a:rPr lang="pt-BR" noProof="0" dirty="0"/>
              <a:t> na memória,</a:t>
            </a:r>
          </a:p>
          <a:p>
            <a:pPr lvl="1">
              <a:buFont typeface="Wingdings" panose="05000000000000000000" pitchFamily="2" charset="2"/>
              <a:buChar char="§"/>
            </a:pPr>
            <a:r>
              <a:rPr lang="pt-BR" noProof="0" dirty="0"/>
              <a:t>o que </a:t>
            </a:r>
            <a:r>
              <a:rPr lang="pt-BR" b="1" noProof="0" dirty="0"/>
              <a:t>esquecer</a:t>
            </a:r>
            <a:r>
              <a:rPr lang="pt-BR" noProof="0" dirty="0"/>
              <a:t> ou </a:t>
            </a:r>
            <a:r>
              <a:rPr lang="pt-BR" b="1" noProof="0" dirty="0"/>
              <a:t>manter</a:t>
            </a:r>
            <a:r>
              <a:rPr lang="pt-BR" noProof="0" dirty="0"/>
              <a:t>,</a:t>
            </a:r>
          </a:p>
          <a:p>
            <a:pPr lvl="1">
              <a:buFont typeface="Wingdings" panose="05000000000000000000" pitchFamily="2" charset="2"/>
              <a:buChar char="§"/>
            </a:pPr>
            <a:r>
              <a:rPr lang="pt-BR" noProof="0" dirty="0"/>
              <a:t>o que </a:t>
            </a:r>
            <a:r>
              <a:rPr lang="pt-BR" b="1" noProof="0" dirty="0"/>
              <a:t>expor</a:t>
            </a:r>
            <a:r>
              <a:rPr lang="pt-BR" noProof="0" dirty="0"/>
              <a:t> na saída.</a:t>
            </a:r>
          </a:p>
        </p:txBody>
      </p:sp>
    </p:spTree>
    <p:extLst>
      <p:ext uri="{BB962C8B-B14F-4D97-AF65-F5344CB8AC3E}">
        <p14:creationId xmlns:p14="http://schemas.microsoft.com/office/powerpoint/2010/main" val="386265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id="{E0BCFCB7-6C37-0809-93AB-AF4180361789}"/>
              </a:ext>
            </a:extLst>
          </p:cNvPr>
          <p:cNvSpPr>
            <a:spLocks noGrp="1"/>
          </p:cNvSpPr>
          <p:nvPr>
            <p:ph idx="1"/>
          </p:nvPr>
        </p:nvSpPr>
        <p:spPr>
          <a:xfrm>
            <a:off x="7630510" y="1825624"/>
            <a:ext cx="4561491" cy="5032375"/>
          </a:xfrm>
        </p:spPr>
        <p:txBody>
          <a:bodyPr>
            <a:normAutofit lnSpcReduction="10000"/>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 muito bem em </a:t>
            </a:r>
            <a:r>
              <a:rPr lang="pt-BR" b="1" dirty="0">
                <a:solidFill>
                  <a:srgbClr val="00B0F0"/>
                </a:solidFill>
              </a:rPr>
              <a:t>dados sequenciais</a:t>
            </a:r>
            <a:r>
              <a:rPr lang="pt-BR" dirty="0"/>
              <a:t>: texto, fala, séries temporais.</a:t>
            </a:r>
          </a:p>
          <a:p>
            <a:r>
              <a:rPr lang="pt-BR" dirty="0"/>
              <a:t>Ainda é usada atualmente, sobretudo com séries temporais e sistemas com poucos recursos.</a:t>
            </a:r>
          </a:p>
          <a:p>
            <a:r>
              <a:rPr lang="pt-BR" dirty="0"/>
              <a:t>Em PLN foi em grande parte substituída por Transformers.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3398670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a:t>Elas </a:t>
            </a:r>
            <a:r>
              <a:rPr lang="pt-BR" b="1" dirty="0">
                <a:solidFill>
                  <a:schemeClr val="accent1"/>
                </a:solidFill>
              </a:rPr>
              <a:t>capturam padrões de curto e longo prazo</a:t>
            </a:r>
            <a:r>
              <a:rPr lang="pt-BR" dirty="0"/>
              <a:t>.</a:t>
            </a:r>
          </a:p>
          <a:p>
            <a:pPr lvl="1">
              <a:buFont typeface="Wingdings" panose="05000000000000000000" pitchFamily="2" charset="2"/>
              <a:buChar char="§"/>
            </a:pPr>
            <a:r>
              <a:rPr lang="pt-BR" b="1" dirty="0"/>
              <a:t>OBS.: </a:t>
            </a:r>
            <a:r>
              <a:rPr lang="pt-BR" dirty="0"/>
              <a:t>Longo, mas não longuíssimo prazo, pois o gradiente ainda decai.</a:t>
            </a:r>
          </a:p>
          <a:p>
            <a:r>
              <a:rPr lang="pt-BR" dirty="0"/>
              <a:t>Assim como as RNNs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23103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8604B-8785-D978-9325-685488A9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a16="http://schemas.microsoft.com/office/drawing/2014/main" id="{D789EFBE-5969-6A4D-8EA1-2E41201F5225}"/>
              </a:ext>
            </a:extLst>
          </p:cNvPr>
          <p:cNvSpPr>
            <a:spLocks noGrp="1"/>
          </p:cNvSpPr>
          <p:nvPr>
            <p:ph idx="1"/>
          </p:nvPr>
        </p:nvSpPr>
        <p:spPr>
          <a:xfrm>
            <a:off x="5956035" y="1825624"/>
            <a:ext cx="6235967" cy="5032375"/>
          </a:xfrm>
        </p:spPr>
        <p:txBody>
          <a:bodyPr>
            <a:normAutofit/>
          </a:bodyPr>
          <a:lstStyle/>
          <a:p>
            <a:r>
              <a:rPr lang="pt-BR" dirty="0"/>
              <a:t>A </a:t>
            </a:r>
            <a:r>
              <a:rPr lang="pt-BR" b="1" dirty="0">
                <a:solidFill>
                  <a:srgbClr val="7030A0"/>
                </a:solidFill>
              </a:rPr>
              <a:t>célula de memória</a:t>
            </a:r>
            <a:r>
              <a:rPr lang="pt-BR" dirty="0"/>
              <a:t> LSTM é mais </a:t>
            </a:r>
            <a:r>
              <a:rPr lang="pt-BR" b="1" dirty="0">
                <a:solidFill>
                  <a:srgbClr val="7030A0"/>
                </a:solidFill>
              </a:rPr>
              <a:t>complexa </a:t>
            </a:r>
            <a:r>
              <a:rPr lang="pt-BR" dirty="0"/>
              <a:t>que a célula de uma RNN tradicional.</a:t>
            </a:r>
          </a:p>
          <a:p>
            <a:r>
              <a:rPr lang="pt-BR" dirty="0"/>
              <a:t>Ela é composta por </a:t>
            </a:r>
            <a:r>
              <a:rPr lang="pt-BR" b="1" dirty="0">
                <a:solidFill>
                  <a:schemeClr val="accent2"/>
                </a:solidFill>
              </a:rPr>
              <a:t>4 camadas totalmente conectadas</a:t>
            </a:r>
            <a:r>
              <a:rPr lang="pt-BR" dirty="0"/>
              <a:t>:</a:t>
            </a:r>
          </a:p>
          <a:p>
            <a:pPr lvl="1">
              <a:buFont typeface="Wingdings" panose="05000000000000000000" pitchFamily="2" charset="2"/>
              <a:buChar char="§"/>
            </a:pPr>
            <a:r>
              <a:rPr lang="pt-BR" dirty="0"/>
              <a:t>3 com função de ativação sigmoide, que geram as </a:t>
            </a:r>
            <a:r>
              <a:rPr lang="pt-BR" b="1" dirty="0">
                <a:solidFill>
                  <a:schemeClr val="accent1"/>
                </a:solidFill>
              </a:rPr>
              <a:t>portas de esquecimento, de entrada e de saída</a:t>
            </a:r>
            <a:r>
              <a:rPr lang="pt-BR" dirty="0"/>
              <a:t>, </a:t>
            </a:r>
          </a:p>
          <a:p>
            <a:pPr lvl="1">
              <a:buFont typeface="Wingdings" panose="05000000000000000000" pitchFamily="2" charset="2"/>
              <a:buChar char="§"/>
            </a:pPr>
            <a:r>
              <a:rPr lang="pt-BR" dirty="0"/>
              <a:t>e 1 com tanh, que gera a informação candidata a ser guardada na memória.</a:t>
            </a:r>
          </a:p>
          <a:p>
            <a:r>
              <a:rPr lang="pt-BR" dirty="0"/>
              <a:t>A informação na célula é </a:t>
            </a:r>
            <a:r>
              <a:rPr lang="pt-BR" b="1" dirty="0">
                <a:solidFill>
                  <a:srgbClr val="00B050"/>
                </a:solidFill>
              </a:rPr>
              <a:t>protegida e controlada</a:t>
            </a:r>
            <a:r>
              <a:rPr lang="pt-BR" dirty="0"/>
              <a:t> por essas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a16="http://schemas.microsoft.com/office/drawing/2014/main"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a16="http://schemas.microsoft.com/office/drawing/2014/main"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a16="http://schemas.microsoft.com/office/drawing/2014/main"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a16="http://schemas.microsoft.com/office/drawing/2014/main"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a16="http://schemas.microsoft.com/office/drawing/2014/main"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C3165D-F5CE-BE8B-AF39-F79FAD0B84D1}"/>
                  </a:ext>
                </a:extLst>
              </p:cNvPr>
              <p:cNvSpPr>
                <a:spLocks noGrp="1"/>
              </p:cNvSpPr>
              <p:nvPr>
                <p:ph idx="1"/>
              </p:nvPr>
            </p:nvSpPr>
            <p:spPr>
              <a:xfrm>
                <a:off x="5904854" y="1825624"/>
                <a:ext cx="6287147" cy="5032375"/>
              </a:xfrm>
            </p:spPr>
            <p:txBody>
              <a:bodyPr>
                <a:normAutofit/>
              </a:bodyPr>
              <a:lstStyle/>
              <a:p>
                <a:r>
                  <a:rPr lang="pt-BR" dirty="0"/>
                  <a:t>A entrada de cada camada de pesos é o vetor concatenado </a:t>
                </a:r>
                <a14:m>
                  <m:oMath xmlns:m="http://schemas.openxmlformats.org/officeDocument/2006/math">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b="0" i="1" smtClean="0">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e>
                    </m:d>
                  </m:oMath>
                </a14:m>
                <a:r>
                  <a:rPr lang="pt-BR" dirty="0"/>
                  <a:t>.</a:t>
                </a:r>
              </a:p>
              <a:p>
                <a:r>
                  <a:rPr lang="pt-BR" dirty="0"/>
                  <a:t>Uma célula LSTM possui </a:t>
                </a:r>
                <a:r>
                  <a:rPr lang="pt-BR" b="1" dirty="0">
                    <a:solidFill>
                      <a:schemeClr val="accent2"/>
                    </a:solidFill>
                  </a:rPr>
                  <a:t>dois estados</a:t>
                </a:r>
                <a:r>
                  <a:rPr lang="pt-BR" dirty="0"/>
                  <a:t>:</a:t>
                </a:r>
              </a:p>
              <a:p>
                <a:pPr lvl="1">
                  <a:buFont typeface="Wingdings" panose="05000000000000000000" pitchFamily="2" charset="2"/>
                  <a:buChar char="§"/>
                </a:pPr>
                <a:r>
                  <a:rPr lang="pt-BR" dirty="0"/>
                  <a:t>o estado interno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a saída da célula.</a:t>
                </a:r>
              </a:p>
            </p:txBody>
          </p:sp>
        </mc:Choice>
        <mc:Fallback xmlns="">
          <p:sp>
            <p:nvSpPr>
              <p:cNvPr id="3" name="Content Placeholder 2">
                <a:extLst>
                  <a:ext uri="{FF2B5EF4-FFF2-40B4-BE49-F238E27FC236}">
                    <a16:creationId xmlns:a16="http://schemas.microsoft.com/office/drawing/2014/main"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a:blip r:embed="rId3"/>
                <a:stretch>
                  <a:fillRect l="-1746" t="-1937" r="-582"/>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584F6CA-97F1-A920-F5D6-D3F0C6CB9E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478" y="2101815"/>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D7632-DD0B-773B-931F-622479528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B612C-6F65-E184-0E1E-387461C173AF}"/>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3812A4-BB08-CF51-52EF-8F212B136A5D}"/>
                  </a:ext>
                </a:extLst>
              </p:cNvPr>
              <p:cNvSpPr>
                <a:spLocks noGrp="1"/>
              </p:cNvSpPr>
              <p:nvPr>
                <p:ph idx="1"/>
              </p:nvPr>
            </p:nvSpPr>
            <p:spPr>
              <a:xfrm>
                <a:off x="5837382" y="1825624"/>
                <a:ext cx="6354619" cy="5032375"/>
              </a:xfrm>
            </p:spPr>
            <p:txBody>
              <a:bodyPr>
                <a:normAutofit/>
              </a:bodyPr>
              <a:lstStyle/>
              <a:p>
                <a:r>
                  <a:rPr lang="pt-BR" dirty="0"/>
                  <a:t>As portas </a:t>
                </a:r>
                <a:r>
                  <a:rPr lang="pt-BR" b="1" dirty="0">
                    <a:solidFill>
                      <a:srgbClr val="7030A0"/>
                    </a:solidFill>
                  </a:rPr>
                  <a:t>permitem ou não </a:t>
                </a:r>
                <a:r>
                  <a:rPr lang="pt-BR" b="1" dirty="0">
                    <a:solidFill>
                      <a:srgbClr val="00B050"/>
                    </a:solidFill>
                  </a:rPr>
                  <a:t>a passagem de  informações</a:t>
                </a:r>
                <a:r>
                  <a:rPr lang="pt-BR" dirty="0"/>
                  <a:t>.</a:t>
                </a:r>
              </a:p>
              <a:p>
                <a:r>
                  <a:rPr lang="pt-BR" dirty="0"/>
                  <a:t>Uma porta é composta por uma </a:t>
                </a:r>
                <a:r>
                  <a:rPr lang="pt-BR" b="1" dirty="0">
                    <a:solidFill>
                      <a:srgbClr val="00B0F0"/>
                    </a:solidFill>
                  </a:rPr>
                  <a:t>camada de pesos</a:t>
                </a:r>
                <a:r>
                  <a:rPr lang="pt-BR" dirty="0"/>
                  <a:t> e por uma </a:t>
                </a:r>
                <a:r>
                  <a:rPr lang="pt-BR" b="1" dirty="0">
                    <a:solidFill>
                      <a:srgbClr val="00B0F0"/>
                    </a:solidFill>
                  </a:rPr>
                  <a:t>função de ativação sigmoide</a:t>
                </a:r>
                <a:r>
                  <a:rPr lang="pt-BR" dirty="0"/>
                  <a:t> seguida de </a:t>
                </a:r>
                <a:r>
                  <a:rPr lang="pt-BR" b="1" dirty="0">
                    <a:solidFill>
                      <a:srgbClr val="00B0F0"/>
                    </a:solidFill>
                  </a:rPr>
                  <a:t>multiplicação elemento a elemento</a:t>
                </a:r>
                <a:r>
                  <a:rPr lang="pt-BR" dirty="0"/>
                  <a:t>.</a:t>
                </a:r>
              </a:p>
              <a:p>
                <a:r>
                  <a:rPr lang="pt-BR" dirty="0"/>
                  <a:t>O vetor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b="1" dirty="0">
                    <a:solidFill>
                      <a:schemeClr val="accent1"/>
                    </a:solidFill>
                  </a:rPr>
                  <a:t> tem elementos</a:t>
                </a:r>
                <a:r>
                  <a:rPr lang="pt-BR" dirty="0"/>
                  <a:t> </a:t>
                </a:r>
                <a:r>
                  <a:rPr lang="pt-BR" b="1" dirty="0">
                    <a:solidFill>
                      <a:schemeClr val="accent1"/>
                    </a:solidFill>
                  </a:rPr>
                  <a:t>entre 0 e 1</a:t>
                </a:r>
                <a:r>
                  <a:rPr lang="pt-BR" dirty="0"/>
                  <a:t>, calculados a partir de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a:p>
                <a:r>
                  <a:rPr lang="pt-BR" b="1" dirty="0"/>
                  <a:t>OBS.</a:t>
                </a:r>
                <a:r>
                  <a:rPr lang="pt-BR" dirty="0"/>
                  <a:t>: Todas as portas são controladas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p:txBody>
          </p:sp>
        </mc:Choice>
        <mc:Fallback>
          <p:sp>
            <p:nvSpPr>
              <p:cNvPr id="3" name="Content Placeholder 2">
                <a:extLst>
                  <a:ext uri="{FF2B5EF4-FFF2-40B4-BE49-F238E27FC236}">
                    <a16:creationId xmlns:a16="http://schemas.microsoft.com/office/drawing/2014/main" id="{CA3812A4-BB08-CF51-52EF-8F212B136A5D}"/>
                  </a:ext>
                </a:extLst>
              </p:cNvPr>
              <p:cNvSpPr>
                <a:spLocks noGrp="1" noRot="1" noChangeAspect="1" noMove="1" noResize="1" noEditPoints="1" noAdjustHandles="1" noChangeArrowheads="1" noChangeShapeType="1" noTextEdit="1"/>
              </p:cNvSpPr>
              <p:nvPr>
                <p:ph idx="1"/>
              </p:nvPr>
            </p:nvSpPr>
            <p:spPr>
              <a:xfrm>
                <a:off x="5837382" y="1825624"/>
                <a:ext cx="6354619" cy="5032375"/>
              </a:xfrm>
              <a:blipFill>
                <a:blip r:embed="rId3"/>
                <a:stretch>
                  <a:fillRect l="-1727" t="-1937" r="-1919"/>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070CEDC2-429E-FD22-6690-830CD30AF076}"/>
              </a:ext>
            </a:extLst>
          </p:cNvPr>
          <p:cNvGraphicFramePr>
            <a:graphicFrameLocks noGrp="1"/>
          </p:cNvGraphicFramePr>
          <p:nvPr>
            <p:extLst>
              <p:ext uri="{D42A27DB-BD31-4B8C-83A1-F6EECF244321}">
                <p14:modId xmlns:p14="http://schemas.microsoft.com/office/powerpoint/2010/main" val="3779863969"/>
              </p:ext>
            </p:extLst>
          </p:nvPr>
        </p:nvGraphicFramePr>
        <p:xfrm>
          <a:off x="12375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0" name="Oval 9">
            <a:extLst>
              <a:ext uri="{FF2B5EF4-FFF2-40B4-BE49-F238E27FC236}">
                <a16:creationId xmlns:a16="http://schemas.microsoft.com/office/drawing/2014/main" id="{8B26B905-DC25-9DA7-2367-B16D6608B5DA}"/>
              </a:ext>
            </a:extLst>
          </p:cNvPr>
          <p:cNvSpPr/>
          <p:nvPr/>
        </p:nvSpPr>
        <p:spPr>
          <a:xfrm>
            <a:off x="2148177" y="577163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id="{5E348D4B-93D4-C098-7AF9-B153BE1F75DB}"/>
              </a:ext>
            </a:extLst>
          </p:cNvPr>
          <p:cNvGraphicFramePr>
            <a:graphicFrameLocks noGrp="1"/>
          </p:cNvGraphicFramePr>
          <p:nvPr>
            <p:extLst>
              <p:ext uri="{D42A27DB-BD31-4B8C-83A1-F6EECF244321}">
                <p14:modId xmlns:p14="http://schemas.microsoft.com/office/powerpoint/2010/main" val="100036130"/>
              </p:ext>
            </p:extLst>
          </p:nvPr>
        </p:nvGraphicFramePr>
        <p:xfrm>
          <a:off x="26471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2" name="TextBox 11">
            <a:extLst>
              <a:ext uri="{FF2B5EF4-FFF2-40B4-BE49-F238E27FC236}">
                <a16:creationId xmlns:a16="http://schemas.microsoft.com/office/drawing/2014/main" id="{32B1D0E7-53E6-C236-1C2B-B2CE4AE3DE25}"/>
              </a:ext>
            </a:extLst>
          </p:cNvPr>
          <p:cNvSpPr txBox="1"/>
          <p:nvPr/>
        </p:nvSpPr>
        <p:spPr>
          <a:xfrm>
            <a:off x="3445113" y="5615773"/>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id="{01F8917B-8816-341A-558C-A1CAEB0704F8}"/>
              </a:ext>
            </a:extLst>
          </p:cNvPr>
          <p:cNvGraphicFramePr>
            <a:graphicFrameLocks noGrp="1"/>
          </p:cNvGraphicFramePr>
          <p:nvPr>
            <p:extLst>
              <p:ext uri="{D42A27DB-BD31-4B8C-83A1-F6EECF244321}">
                <p14:modId xmlns:p14="http://schemas.microsoft.com/office/powerpoint/2010/main" val="1248767172"/>
              </p:ext>
            </p:extLst>
          </p:nvPr>
        </p:nvGraphicFramePr>
        <p:xfrm>
          <a:off x="3948264" y="5166481"/>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3BADD3D-2C82-CCC1-B891-BEB0379E4781}"/>
                  </a:ext>
                </a:extLst>
              </p:cNvPr>
              <p:cNvSpPr txBox="1"/>
              <p:nvPr/>
            </p:nvSpPr>
            <p:spPr>
              <a:xfrm>
                <a:off x="1350705" y="4739299"/>
                <a:ext cx="46801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1350705" y="4739299"/>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F8D9E77-C242-804E-69C9-0B2514AE0614}"/>
                  </a:ext>
                </a:extLst>
              </p:cNvPr>
              <p:cNvSpPr txBox="1"/>
              <p:nvPr/>
            </p:nvSpPr>
            <p:spPr>
              <a:xfrm>
                <a:off x="2765998" y="4744930"/>
                <a:ext cx="48083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765998" y="4744930"/>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8D3637C-D10A-1278-EAC9-E3EAAC103B78}"/>
                  </a:ext>
                </a:extLst>
              </p:cNvPr>
              <p:cNvSpPr txBox="1"/>
              <p:nvPr/>
            </p:nvSpPr>
            <p:spPr>
              <a:xfrm>
                <a:off x="4220530" y="4739299"/>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4220530" y="4739299"/>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75FA589F-569C-6B39-6D7E-424CA1569E2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24440" y="1825624"/>
            <a:ext cx="4521910" cy="2582556"/>
          </a:xfrm>
          <a:prstGeom prst="rect">
            <a:avLst/>
          </a:prstGeom>
        </p:spPr>
      </p:pic>
    </p:spTree>
    <p:extLst>
      <p:ext uri="{BB962C8B-B14F-4D97-AF65-F5344CB8AC3E}">
        <p14:creationId xmlns:p14="http://schemas.microsoft.com/office/powerpoint/2010/main" val="3583750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7FD88-C60B-17A5-E8B4-1DD30233A9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5281-FD0D-5E3C-AAE2-1352E4FBEC4B}"/>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51D394C-0645-C677-1299-F0CA650975E5}"/>
                  </a:ext>
                </a:extLst>
              </p:cNvPr>
              <p:cNvSpPr>
                <a:spLocks noGrp="1"/>
              </p:cNvSpPr>
              <p:nvPr>
                <p:ph idx="1"/>
              </p:nvPr>
            </p:nvSpPr>
            <p:spPr>
              <a:xfrm>
                <a:off x="5286076" y="1825624"/>
                <a:ext cx="6905925" cy="5032375"/>
              </a:xfrm>
            </p:spPr>
            <p:txBody>
              <a:bodyPr>
                <a:normAutofit lnSpcReduction="10000"/>
              </a:bodyPr>
              <a:lstStyle/>
              <a:p>
                <a:pPr marL="342900" indent="-342900">
                  <a:spcAft>
                    <a:spcPts val="600"/>
                  </a:spcAft>
                  <a:buSzPct val="100000"/>
                </a:pPr>
                <a:r>
                  <a:rPr lang="pt-BR" b="1" noProof="0" dirty="0">
                    <a:solidFill>
                      <a:schemeClr val="accent1"/>
                    </a:solidFill>
                  </a:rPr>
                  <a:t>Cada elemento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𝒈</m:t>
                        </m:r>
                      </m:e>
                      <m:sub>
                        <m:r>
                          <a:rPr lang="pt-BR" b="1" i="1" noProof="0">
                            <a:solidFill>
                              <a:schemeClr val="accent1"/>
                            </a:solidFill>
                            <a:latin typeface="Cambria Math" panose="02040503050406030204" pitchFamily="18" charset="0"/>
                          </a:rPr>
                          <m:t>𝒕</m:t>
                        </m:r>
                      </m:sub>
                    </m:sSub>
                  </m:oMath>
                </a14:m>
                <a:r>
                  <a:rPr lang="pt-BR" b="1" noProof="0" dirty="0">
                    <a:solidFill>
                      <a:schemeClr val="accent1"/>
                    </a:solidFill>
                  </a:rPr>
                  <a:t> define </a:t>
                </a:r>
                <a:r>
                  <a:rPr lang="pt-BR" noProof="0" dirty="0">
                    <a:solidFill>
                      <a:srgbClr val="222222"/>
                    </a:solidFill>
                  </a:rPr>
                  <a:t>que </a:t>
                </a:r>
                <a:r>
                  <a:rPr lang="pt-BR" b="1" noProof="0" dirty="0">
                    <a:solidFill>
                      <a:schemeClr val="accent2"/>
                    </a:solidFill>
                  </a:rPr>
                  <a:t>fração do elemento correspondente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𝒂</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passa</a:t>
                </a:r>
                <a:r>
                  <a:rPr lang="pt-BR" noProof="0" dirty="0">
                    <a:solidFill>
                      <a:srgbClr val="222222"/>
                    </a:solidFill>
                  </a:rPr>
                  <a:t>: </a:t>
                </a: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0</m:t>
                    </m:r>
                  </m:oMath>
                </a14:m>
                <a:r>
                  <a:rPr lang="pt-BR" noProof="0" dirty="0">
                    <a:solidFill>
                      <a:srgbClr val="222222"/>
                    </a:solidFill>
                  </a:rPr>
                  <a:t> bloqueia, </a:t>
                </a:r>
                <a:endParaRPr lang="pt-BR" i="1" noProof="0" dirty="0">
                  <a:solidFill>
                    <a:srgbClr val="222222"/>
                  </a:solidFill>
                  <a:latin typeface="Cambria Math" panose="02040503050406030204" pitchFamily="18" charset="0"/>
                  <a:ea typeface="Cambria Math" panose="02040503050406030204" pitchFamily="18" charset="0"/>
                </a:endParaRP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1</m:t>
                    </m:r>
                  </m:oMath>
                </a14:m>
                <a:r>
                  <a:rPr lang="pt-BR" noProof="0" dirty="0">
                    <a:solidFill>
                      <a:srgbClr val="222222"/>
                    </a:solidFill>
                  </a:rPr>
                  <a:t> deixa passar.</a:t>
                </a:r>
                <a:endParaRPr lang="pt-BR" noProof="0" dirty="0"/>
              </a:p>
              <a:p>
                <a:pPr marL="342900" indent="-342900">
                  <a:spcAft>
                    <a:spcPts val="600"/>
                  </a:spcAft>
                  <a:buSzPct val="100000"/>
                </a:pPr>
                <a:r>
                  <a:rPr lang="pt-BR" noProof="0" dirty="0">
                    <a:solidFill>
                      <a:srgbClr val="222222"/>
                    </a:solidFill>
                  </a:rPr>
                  <a:t>A porta aprende, pelos pesos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𝒃</m:t>
                    </m:r>
                  </m:oMath>
                </a14:m>
                <a:r>
                  <a:rPr lang="pt-BR" noProof="0" dirty="0">
                    <a:solidFill>
                      <a:srgbClr val="222222"/>
                    </a:solidFill>
                  </a:rPr>
                  <a:t>, quanto de cada elemento deve passar.</a:t>
                </a:r>
              </a:p>
              <a:p>
                <a:pPr marL="342900" indent="-342900">
                  <a:spcAft>
                    <a:spcPts val="600"/>
                  </a:spcAft>
                  <a:buSzPct val="100000"/>
                </a:pPr>
                <a:r>
                  <a:rPr lang="pt-BR" noProof="0" dirty="0"/>
                  <a:t>Por que sigmoide?</a:t>
                </a:r>
              </a:p>
              <a:p>
                <a:pPr lvl="1">
                  <a:spcAft>
                    <a:spcPts val="600"/>
                  </a:spcAft>
                  <a:buSzPct val="100000"/>
                  <a:buFont typeface="Wingdings" panose="05000000000000000000" pitchFamily="2" charset="2"/>
                  <a:buChar char="§"/>
                </a:pPr>
                <a:r>
                  <a:rPr lang="pt-BR" noProof="0" dirty="0"/>
                  <a:t>Porque ela produz valores em [0, 1], que funcionam como percentuais de passagem.</a:t>
                </a:r>
              </a:p>
              <a:p>
                <a:pPr marL="342900" indent="-342900">
                  <a:spcAft>
                    <a:spcPts val="600"/>
                  </a:spcAft>
                  <a:buSzPct val="100000"/>
                </a:pPr>
                <a:r>
                  <a:rPr lang="pt-BR" noProof="0" dirty="0"/>
                  <a:t>No exemplo: 0,58 × 0,2 = 0,116 (passa 20%); −0,32 × 0,99 = −0,3168 (passa quase tudo).</a:t>
                </a:r>
              </a:p>
            </p:txBody>
          </p:sp>
        </mc:Choice>
        <mc:Fallback>
          <p:sp>
            <p:nvSpPr>
              <p:cNvPr id="3" name="Content Placeholder 2">
                <a:extLst>
                  <a:ext uri="{FF2B5EF4-FFF2-40B4-BE49-F238E27FC236}">
                    <a16:creationId xmlns:a16="http://schemas.microsoft.com/office/drawing/2014/main" id="{751D394C-0645-C677-1299-F0CA650975E5}"/>
                  </a:ext>
                </a:extLst>
              </p:cNvPr>
              <p:cNvSpPr>
                <a:spLocks noGrp="1" noRot="1" noChangeAspect="1" noMove="1" noResize="1" noEditPoints="1" noAdjustHandles="1" noChangeArrowheads="1" noChangeShapeType="1" noTextEdit="1"/>
              </p:cNvSpPr>
              <p:nvPr>
                <p:ph idx="1"/>
              </p:nvPr>
            </p:nvSpPr>
            <p:spPr>
              <a:xfrm>
                <a:off x="5286076" y="1825624"/>
                <a:ext cx="6905925" cy="5032375"/>
              </a:xfrm>
              <a:blipFill>
                <a:blip r:embed="rId3"/>
                <a:stretch>
                  <a:fillRect l="-1589" t="-2663" r="-1236" b="-3390"/>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33C82BE6-696F-261D-E9AB-9890CEDC89D7}"/>
              </a:ext>
            </a:extLst>
          </p:cNvPr>
          <p:cNvGraphicFramePr>
            <a:graphicFrameLocks noGrp="1"/>
          </p:cNvGraphicFramePr>
          <p:nvPr>
            <p:extLst>
              <p:ext uri="{D42A27DB-BD31-4B8C-83A1-F6EECF244321}">
                <p14:modId xmlns:p14="http://schemas.microsoft.com/office/powerpoint/2010/main" val="978888834"/>
              </p:ext>
            </p:extLst>
          </p:nvPr>
        </p:nvGraphicFramePr>
        <p:xfrm>
          <a:off x="11429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0" name="Oval 9">
            <a:extLst>
              <a:ext uri="{FF2B5EF4-FFF2-40B4-BE49-F238E27FC236}">
                <a16:creationId xmlns:a16="http://schemas.microsoft.com/office/drawing/2014/main" id="{DFB5E1AD-ACB0-A86B-2CB1-7CEB693F5171}"/>
              </a:ext>
            </a:extLst>
          </p:cNvPr>
          <p:cNvSpPr/>
          <p:nvPr/>
        </p:nvSpPr>
        <p:spPr>
          <a:xfrm>
            <a:off x="2053581"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id="{9F8D0926-F246-1C89-B6E8-5410B3204B14}"/>
              </a:ext>
            </a:extLst>
          </p:cNvPr>
          <p:cNvGraphicFramePr>
            <a:graphicFrameLocks noGrp="1"/>
          </p:cNvGraphicFramePr>
          <p:nvPr>
            <p:extLst>
              <p:ext uri="{D42A27DB-BD31-4B8C-83A1-F6EECF244321}">
                <p14:modId xmlns:p14="http://schemas.microsoft.com/office/powerpoint/2010/main" val="442853133"/>
              </p:ext>
            </p:extLst>
          </p:nvPr>
        </p:nvGraphicFramePr>
        <p:xfrm>
          <a:off x="25525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2" name="TextBox 11">
            <a:extLst>
              <a:ext uri="{FF2B5EF4-FFF2-40B4-BE49-F238E27FC236}">
                <a16:creationId xmlns:a16="http://schemas.microsoft.com/office/drawing/2014/main" id="{3A8BF1B6-1B1F-5588-4675-96679C5BB97E}"/>
              </a:ext>
            </a:extLst>
          </p:cNvPr>
          <p:cNvSpPr txBox="1"/>
          <p:nvPr/>
        </p:nvSpPr>
        <p:spPr>
          <a:xfrm>
            <a:off x="3350517"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id="{CC72759B-A68E-02CA-BE26-748D87F4CEE8}"/>
              </a:ext>
            </a:extLst>
          </p:cNvPr>
          <p:cNvGraphicFramePr>
            <a:graphicFrameLocks noGrp="1"/>
          </p:cNvGraphicFramePr>
          <p:nvPr>
            <p:extLst>
              <p:ext uri="{D42A27DB-BD31-4B8C-83A1-F6EECF244321}">
                <p14:modId xmlns:p14="http://schemas.microsoft.com/office/powerpoint/2010/main" val="164568307"/>
              </p:ext>
            </p:extLst>
          </p:nvPr>
        </p:nvGraphicFramePr>
        <p:xfrm>
          <a:off x="3853668"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CEFCD70-18C2-AA57-D52E-DEE785DDC19B}"/>
                  </a:ext>
                </a:extLst>
              </p:cNvPr>
              <p:cNvSpPr txBox="1"/>
              <p:nvPr/>
            </p:nvSpPr>
            <p:spPr>
              <a:xfrm>
                <a:off x="1256109" y="4318900"/>
                <a:ext cx="46801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2CEFCD70-18C2-AA57-D52E-DEE785DDC19B}"/>
                  </a:ext>
                </a:extLst>
              </p:cNvPr>
              <p:cNvSpPr txBox="1">
                <a:spLocks noRot="1" noChangeAspect="1" noMove="1" noResize="1" noEditPoints="1" noAdjustHandles="1" noChangeArrowheads="1" noChangeShapeType="1" noTextEdit="1"/>
              </p:cNvSpPr>
              <p:nvPr/>
            </p:nvSpPr>
            <p:spPr>
              <a:xfrm>
                <a:off x="1256109" y="4318900"/>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3F84C76-7F56-C655-3865-E49185634411}"/>
                  </a:ext>
                </a:extLst>
              </p:cNvPr>
              <p:cNvSpPr txBox="1"/>
              <p:nvPr/>
            </p:nvSpPr>
            <p:spPr>
              <a:xfrm>
                <a:off x="2671402" y="4324531"/>
                <a:ext cx="48083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A3F84C76-7F56-C655-3865-E49185634411}"/>
                  </a:ext>
                </a:extLst>
              </p:cNvPr>
              <p:cNvSpPr txBox="1">
                <a:spLocks noRot="1" noChangeAspect="1" noMove="1" noResize="1" noEditPoints="1" noAdjustHandles="1" noChangeArrowheads="1" noChangeShapeType="1" noTextEdit="1"/>
              </p:cNvSpPr>
              <p:nvPr/>
            </p:nvSpPr>
            <p:spPr>
              <a:xfrm>
                <a:off x="2671402" y="4324531"/>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E331E2E-D869-5125-03BB-7823CED2A4AB}"/>
                  </a:ext>
                </a:extLst>
              </p:cNvPr>
              <p:cNvSpPr txBox="1"/>
              <p:nvPr/>
            </p:nvSpPr>
            <p:spPr>
              <a:xfrm>
                <a:off x="4125934" y="4318900"/>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2E331E2E-D869-5125-03BB-7823CED2A4AB}"/>
                  </a:ext>
                </a:extLst>
              </p:cNvPr>
              <p:cNvSpPr txBox="1">
                <a:spLocks noRot="1" noChangeAspect="1" noMove="1" noResize="1" noEditPoints="1" noAdjustHandles="1" noChangeArrowheads="1" noChangeShapeType="1" noTextEdit="1"/>
              </p:cNvSpPr>
              <p:nvPr/>
            </p:nvSpPr>
            <p:spPr>
              <a:xfrm>
                <a:off x="4125934" y="4318900"/>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40054DD2-0080-4BC6-345E-F020F087E09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50865" y="1678494"/>
            <a:ext cx="4521910" cy="2582556"/>
          </a:xfrm>
          <a:prstGeom prst="rect">
            <a:avLst/>
          </a:prstGeom>
        </p:spPr>
      </p:pic>
    </p:spTree>
    <p:extLst>
      <p:ext uri="{BB962C8B-B14F-4D97-AF65-F5344CB8AC3E}">
        <p14:creationId xmlns:p14="http://schemas.microsoft.com/office/powerpoint/2010/main" val="3804202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632893" y="1825624"/>
                <a:ext cx="6559107" cy="5032375"/>
              </a:xfrm>
            </p:spPr>
            <p:txBody>
              <a:bodyPr>
                <a:normAutofit/>
              </a:bodyPr>
              <a:lstStyle/>
              <a:p>
                <a:r>
                  <a:rPr lang="pt-BR" dirty="0"/>
                  <a:t>A </a:t>
                </a:r>
                <a:r>
                  <a:rPr lang="pt-BR" b="1" dirty="0">
                    <a:solidFill>
                      <a:schemeClr val="accent1"/>
                    </a:solidFill>
                  </a:rPr>
                  <a:t>porta de esquecimento</a:t>
                </a:r>
                <a:r>
                  <a:rPr lang="pt-BR" dirty="0">
                    <a:solidFill>
                      <a:schemeClr val="tx1"/>
                    </a:solidFill>
                  </a:rPr>
                  <a:t> controla através do vetor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solidFill>
                      <a:schemeClr val="tx1"/>
                    </a:solidFill>
                  </a:rPr>
                  <a:t>da </a:t>
                </a:r>
                <a:r>
                  <a:rPr lang="pt-BR" b="1" dirty="0">
                    <a:solidFill>
                      <a:srgbClr val="7030A0"/>
                    </a:solidFill>
                  </a:rPr>
                  <a:t>informação de longo prazo</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−1</m:t>
                        </m:r>
                      </m:sub>
                    </m:sSub>
                  </m:oMath>
                </a14:m>
                <a:r>
                  <a:rPr lang="pt-BR" dirty="0">
                    <a:solidFill>
                      <a:schemeClr val="tx1"/>
                    </a:solidFill>
                  </a:rPr>
                  <a:t>, deve ser </a:t>
                </a:r>
                <a:r>
                  <a:rPr lang="pt-BR" b="1" dirty="0">
                    <a:solidFill>
                      <a:srgbClr val="00B050"/>
                    </a:solidFill>
                  </a:rPr>
                  <a:t>apagada ou mantida</a:t>
                </a:r>
                <a:r>
                  <a:rPr lang="pt-BR" dirty="0">
                    <a:solidFill>
                      <a:schemeClr val="tx1"/>
                    </a:solidFill>
                  </a:rPr>
                  <a:t>.</a:t>
                </a:r>
              </a:p>
              <a:p>
                <a:r>
                  <a:rPr lang="pt-BR" dirty="0"/>
                  <a:t>A </a:t>
                </a:r>
                <a:r>
                  <a:rPr lang="pt-BR" b="1" dirty="0">
                    <a:solidFill>
                      <a:schemeClr val="accent1"/>
                    </a:solidFill>
                  </a:rPr>
                  <a:t>porta de entrada </a:t>
                </a:r>
                <a:r>
                  <a:rPr lang="pt-BR" dirty="0">
                    <a:solidFill>
                      <a:schemeClr val="tx1"/>
                    </a:solidFill>
                  </a:rPr>
                  <a:t>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t>de </a:t>
                </a:r>
                <a:r>
                  <a:rPr lang="pt-BR" b="1" dirty="0">
                    <a:solidFill>
                      <a:srgbClr val="7030A0"/>
                    </a:solidFill>
                  </a:rPr>
                  <a:t>novas informações </a:t>
                </a:r>
                <a:r>
                  <a:rPr lang="pt-BR" b="1" dirty="0">
                    <a:solidFill>
                      <a:srgbClr val="00B0F0"/>
                    </a:solidFill>
                  </a:rPr>
                  <a:t>(memória candidata)</a:t>
                </a:r>
                <a:r>
                  <a:rPr lang="pt-BR" dirty="0"/>
                  <a:t>,</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acc>
                          <m:accPr>
                            <m:chr m:val="̃"/>
                            <m:ctrlPr>
                              <a:rPr lang="pt-BR" b="1" i="1">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a:solidFill>
                      <a:schemeClr val="tx1"/>
                    </a:solidFill>
                  </a:rPr>
                  <a:t>, devem ser </a:t>
                </a:r>
                <a:r>
                  <a:rPr lang="pt-BR" b="1" dirty="0">
                    <a:solidFill>
                      <a:srgbClr val="FF0000"/>
                    </a:solidFill>
                  </a:rPr>
                  <a:t>adicionadas</a:t>
                </a:r>
                <a:r>
                  <a:rPr lang="pt-BR" dirty="0">
                    <a:solidFill>
                      <a:schemeClr val="tx1"/>
                    </a:solidFill>
                  </a:rPr>
                  <a:t> à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solidFill>
                      <a:schemeClr val="tx1"/>
                    </a:solidFill>
                  </a:rPr>
                  <a:t>.</a:t>
                </a:r>
              </a:p>
              <a:p>
                <a:r>
                  <a:rPr lang="pt-BR" dirty="0"/>
                  <a:t>A </a:t>
                </a:r>
                <a:r>
                  <a:rPr lang="pt-BR" b="1" dirty="0">
                    <a:solidFill>
                      <a:schemeClr val="accent1"/>
                    </a:solidFill>
                  </a:rPr>
                  <a:t>porta de saída</a:t>
                </a:r>
                <a:r>
                  <a:rPr lang="pt-BR" dirty="0">
                    <a:solidFill>
                      <a:schemeClr val="tx1"/>
                    </a:solidFill>
                  </a:rPr>
                  <a:t> 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solidFill>
                      <a:schemeClr val="tx1"/>
                    </a:solidFill>
                  </a:rPr>
                  <a:t>de </a:t>
                </a:r>
                <a14:m>
                  <m:oMath xmlns:m="http://schemas.openxmlformats.org/officeDocument/2006/math">
                    <m:sSub>
                      <m:sSubPr>
                        <m:ctrlPr>
                          <a:rPr lang="pt-BR" b="1" i="1">
                            <a:solidFill>
                              <a:srgbClr val="7030A0"/>
                            </a:solidFill>
                            <a:latin typeface="Cambria Math" panose="02040503050406030204" pitchFamily="18" charset="0"/>
                          </a:rPr>
                        </m:ctrlPr>
                      </m:sSubPr>
                      <m:e>
                        <m:r>
                          <a:rPr lang="pt-BR" b="1" i="1">
                            <a:solidFill>
                              <a:srgbClr val="7030A0"/>
                            </a:solidFill>
                            <a:latin typeface="Cambria Math" panose="02040503050406030204" pitchFamily="18" charset="0"/>
                          </a:rPr>
                          <m:t>𝒄</m:t>
                        </m:r>
                      </m:e>
                      <m:sub>
                        <m:r>
                          <a:rPr lang="pt-BR" i="1">
                            <a:solidFill>
                              <a:srgbClr val="7030A0"/>
                            </a:solidFill>
                            <a:latin typeface="Cambria Math" panose="02040503050406030204" pitchFamily="18" charset="0"/>
                          </a:rPr>
                          <m:t>𝑡</m:t>
                        </m:r>
                      </m:sub>
                    </m:sSub>
                  </m:oMath>
                </a14:m>
                <a:r>
                  <a:rPr lang="pt-BR" dirty="0">
                    <a:solidFill>
                      <a:schemeClr val="tx1"/>
                    </a:solidFill>
                  </a:rPr>
                  <a:t> deve ser </a:t>
                </a:r>
                <a:r>
                  <a:rPr lang="pt-BR" b="1" dirty="0">
                    <a:solidFill>
                      <a:srgbClr val="00B050"/>
                    </a:solidFill>
                  </a:rPr>
                  <a:t>exposto na saída</a:t>
                </a:r>
                <a:r>
                  <a:rPr lang="pt-BR" dirty="0"/>
                  <a:t> como</a:t>
                </a:r>
                <a:r>
                  <a:rPr lang="pt-BR" dirty="0">
                    <a:solidFill>
                      <a:schemeClr val="tx1"/>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632893" y="1825624"/>
                <a:ext cx="6559107" cy="5032375"/>
              </a:xfrm>
              <a:blipFill>
                <a:blip r:embed="rId3"/>
                <a:stretch>
                  <a:fillRect l="-1673" t="-1937" r="-2509"/>
                </a:stretch>
              </a:blipFill>
            </p:spPr>
            <p:txBody>
              <a:bodyPr/>
              <a:lstStyle/>
              <a:p>
                <a:r>
                  <a:rPr lang="en-US">
                    <a:noFill/>
                  </a:rPr>
                  <a:t> </a:t>
                </a:r>
              </a:p>
            </p:txBody>
          </p:sp>
        </mc:Fallback>
      </mc:AlternateContent>
      <p:grpSp>
        <p:nvGrpSpPr>
          <p:cNvPr id="14" name="Agrupar 13">
            <a:extLst>
              <a:ext uri="{FF2B5EF4-FFF2-40B4-BE49-F238E27FC236}">
                <a16:creationId xmlns:a16="http://schemas.microsoft.com/office/drawing/2014/main" id="{F181AAD6-0D6A-8D9F-D350-674F8E54A6CF}"/>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5C2F4524-D6BF-8C90-6B48-719922027D5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6" name="Retângulo 5">
              <a:extLst>
                <a:ext uri="{FF2B5EF4-FFF2-40B4-BE49-F238E27FC236}">
                  <a16:creationId xmlns:a16="http://schemas.microsoft.com/office/drawing/2014/main" id="{5B538100-869E-9015-E39A-A1340D4D0515}"/>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id="{45DD632F-0686-568D-5F9B-260BA967E010}"/>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AA82173B-E627-D5F4-C24A-C8EFB8591AF2}"/>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738DFC6-B08A-BCAF-A6DC-558964B054EF}"/>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724DFD49-F8A1-B391-4C4D-9D392820E8F5}"/>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256C62AF-7481-CE0B-1BB2-B4A93CE957B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86379-E466-E661-270D-8BE5BF3F14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80765-C6E3-77E8-073B-A8B3F6BA3C27}"/>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06E7DB-3A45-270A-379C-5B53CF58BB04}"/>
                  </a:ext>
                </a:extLst>
              </p:cNvPr>
              <p:cNvSpPr>
                <a:spLocks noGrp="1"/>
              </p:cNvSpPr>
              <p:nvPr>
                <p:ph idx="1"/>
              </p:nvPr>
            </p:nvSpPr>
            <p:spPr>
              <a:xfrm>
                <a:off x="5667374" y="1825624"/>
                <a:ext cx="6524625" cy="5032375"/>
              </a:xfrm>
            </p:spPr>
            <p:txBody>
              <a:bodyPr>
                <a:normAutofit/>
              </a:bodyPr>
              <a:lstStyle/>
              <a:p>
                <a:r>
                  <a:rPr lang="pt-BR" b="1" dirty="0"/>
                  <a:t>Porta de esquecimento</a:t>
                </a:r>
                <a:r>
                  <a:rPr lang="pt-BR" dirty="0"/>
                  <a:t>:</a:t>
                </a:r>
              </a:p>
              <a:p>
                <a:pPr lvl="1">
                  <a:buFont typeface="Wingdings" panose="05000000000000000000" pitchFamily="2" charset="2"/>
                  <a:buChar char="§"/>
                </a:pPr>
                <a:r>
                  <a:rPr lang="pt-BR" dirty="0"/>
                  <a:t>Decide o quanto manter ou apagar do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pPr lvl="1">
                  <a:buFont typeface="Wingdings" panose="05000000000000000000" pitchFamily="2" charset="2"/>
                  <a:buChar char="§"/>
                </a:pPr>
                <a:r>
                  <a:rPr lang="pt-BR" dirty="0"/>
                  <a:t>Um elemento do </a:t>
                </a:r>
                <a:r>
                  <a:rPr lang="pt-BR" b="1" dirty="0">
                    <a:solidFill>
                      <a:schemeClr val="accent1"/>
                    </a:solidFill>
                  </a:rPr>
                  <a:t>estado de longo prazo </a:t>
                </a:r>
                <a:r>
                  <a:rPr lang="pt-BR" dirty="0"/>
                  <a:t>é </a:t>
                </a:r>
                <a:r>
                  <a:rPr lang="pt-BR" b="1" dirty="0">
                    <a:solidFill>
                      <a:srgbClr val="7030A0"/>
                    </a:solidFill>
                  </a:rPr>
                  <a:t>descartado</a:t>
                </a:r>
                <a:r>
                  <a:rPr lang="pt-BR" dirty="0"/>
                  <a:t> se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𝒇</m:t>
                        </m:r>
                      </m:e>
                      <m:sub>
                        <m:r>
                          <a:rPr lang="pt-BR" b="1" i="1">
                            <a:solidFill>
                              <a:schemeClr val="accent2"/>
                            </a:solidFill>
                            <a:latin typeface="Cambria Math" panose="02040503050406030204" pitchFamily="18" charset="0"/>
                          </a:rPr>
                          <m:t>𝒕</m:t>
                        </m:r>
                      </m:sub>
                    </m:sSub>
                  </m:oMath>
                </a14:m>
                <a:r>
                  <a:rPr lang="pt-BR" b="1" dirty="0">
                    <a:solidFill>
                      <a:schemeClr val="accent2"/>
                    </a:solidFill>
                  </a:rPr>
                  <a:t> </a:t>
                </a:r>
                <a14:m>
                  <m:oMath xmlns:m="http://schemas.openxmlformats.org/officeDocument/2006/math">
                    <m:r>
                      <a:rPr lang="pt-BR" b="1" i="1">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𝟎</m:t>
                    </m:r>
                  </m:oMath>
                </a14:m>
                <a:r>
                  <a:rPr lang="pt-BR" b="1" dirty="0"/>
                  <a:t> </a:t>
                </a:r>
                <a:r>
                  <a:rPr lang="pt-BR" dirty="0"/>
                  <a:t>e </a:t>
                </a:r>
                <a:r>
                  <a:rPr lang="pt-BR" b="1" dirty="0">
                    <a:solidFill>
                      <a:schemeClr val="accent2"/>
                    </a:solidFill>
                  </a:rPr>
                  <a:t>mantido se </a:t>
                </a:r>
                <a14:m>
                  <m:oMath xmlns:m="http://schemas.openxmlformats.org/officeDocument/2006/math">
                    <m:r>
                      <a:rPr lang="pt-BR" b="1" i="1" smtClean="0">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𝟏</m:t>
                    </m:r>
                  </m:oMath>
                </a14:m>
                <a:r>
                  <a:rPr lang="pt-BR" b="1" dirty="0">
                    <a:solidFill>
                      <a:schemeClr val="accent2"/>
                    </a:solidFill>
                  </a:rPr>
                  <a:t>.</a:t>
                </a:r>
              </a:p>
              <a:p>
                <a:r>
                  <a:rPr lang="pt-BR" b="1" dirty="0"/>
                  <a:t>Porta de entrada</a:t>
                </a:r>
                <a:r>
                  <a:rPr lang="pt-BR" dirty="0"/>
                  <a:t>: </a:t>
                </a:r>
              </a:p>
              <a:p>
                <a:pPr lvl="1">
                  <a:buFont typeface="Wingdings" panose="05000000000000000000" pitchFamily="2" charset="2"/>
                  <a:buChar char="§"/>
                </a:pPr>
                <a:r>
                  <a:rPr lang="pt-BR" dirty="0"/>
                  <a:t>Decide o quanto guardar da memória candidata,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Um elemento de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 é </a:t>
                </a:r>
                <a:r>
                  <a:rPr lang="pt-BR" b="1" dirty="0">
                    <a:solidFill>
                      <a:srgbClr val="7030A0"/>
                    </a:solidFill>
                  </a:rPr>
                  <a:t>adicionado</a:t>
                </a:r>
                <a:r>
                  <a:rPr lang="pt-BR" dirty="0"/>
                  <a:t> à </a:t>
                </a:r>
                <a:r>
                  <a:rPr lang="pt-BR" b="1" dirty="0">
                    <a:solidFill>
                      <a:schemeClr val="accent1"/>
                    </a:solidFill>
                  </a:rPr>
                  <a:t>memória de longo prazo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 se </a:t>
                </a:r>
                <a:r>
                  <a:rPr lang="pt-BR" b="1" dirty="0">
                    <a:solidFill>
                      <a:schemeClr val="accent2"/>
                    </a:solidFill>
                  </a:rPr>
                  <a:t>um elemento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𝒊</m:t>
                        </m:r>
                      </m:e>
                      <m:sub>
                        <m:r>
                          <a:rPr lang="pt-BR" b="1" i="1">
                            <a:solidFill>
                              <a:schemeClr val="accent2"/>
                            </a:solidFill>
                            <a:latin typeface="Cambria Math" panose="02040503050406030204" pitchFamily="18" charset="0"/>
                          </a:rPr>
                          <m:t>𝒕</m:t>
                        </m:r>
                      </m:sub>
                    </m:sSub>
                    <m:r>
                      <a:rPr lang="pt-BR" b="1" i="1">
                        <a:solidFill>
                          <a:schemeClr val="accent2"/>
                        </a:solidFill>
                        <a:latin typeface="Cambria Math" panose="02040503050406030204" pitchFamily="18" charset="0"/>
                        <a:ea typeface="Cambria Math" panose="02040503050406030204" pitchFamily="18" charset="0"/>
                      </a:rPr>
                      <m:t>≈</m:t>
                    </m:r>
                    <m:r>
                      <a:rPr lang="pt-BR" b="1">
                        <a:solidFill>
                          <a:schemeClr val="accent2"/>
                        </a:solidFill>
                        <a:latin typeface="Cambria Math" panose="02040503050406030204" pitchFamily="18" charset="0"/>
                        <a:ea typeface="Cambria Math" panose="02040503050406030204" pitchFamily="18" charset="0"/>
                      </a:rPr>
                      <m:t>𝟏</m:t>
                    </m:r>
                  </m:oMath>
                </a14:m>
                <a:r>
                  <a:rPr lang="pt-BR" dirty="0"/>
                  <a:t>.</a:t>
                </a:r>
              </a:p>
            </p:txBody>
          </p:sp>
        </mc:Choice>
        <mc:Fallback xmlns="">
          <p:sp>
            <p:nvSpPr>
              <p:cNvPr id="3" name="Content Placeholder 2">
                <a:extLst>
                  <a:ext uri="{FF2B5EF4-FFF2-40B4-BE49-F238E27FC236}">
                    <a16:creationId xmlns:a16="http://schemas.microsoft.com/office/drawing/2014/main" id="{8B06E7DB-3A45-270A-379C-5B53CF58BB04}"/>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96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604E6F23-91B6-6A44-86C9-4B08D827DA32}"/>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2CE4F859-006A-FBF4-E78C-68E07C66CD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D6A7D987-135F-739B-BFE7-F4416C1BE7F7}"/>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B3C17ED4-AA4D-C8DD-D1D3-457A2C5E0567}"/>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4FC98F02-F2A9-FD31-DFAE-065EE8644211}"/>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7A8ADF05-061A-4106-1A37-6E01EA05C443}"/>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D5D9389E-E84A-A166-2189-357FF2CBD46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BA49EB18-4482-4D47-EEB1-9AA5A1BB7746}"/>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27801053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D865-7758-8250-A67E-67962788E3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87E05B-91D0-82AC-6DC0-9D016FC4110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768F3B9-2D69-B2FC-20A9-E2305A81CE1D}"/>
                  </a:ext>
                </a:extLst>
              </p:cNvPr>
              <p:cNvSpPr>
                <a:spLocks noGrp="1"/>
              </p:cNvSpPr>
              <p:nvPr>
                <p:ph idx="1"/>
              </p:nvPr>
            </p:nvSpPr>
            <p:spPr>
              <a:xfrm>
                <a:off x="5572125" y="1825624"/>
                <a:ext cx="6619875" cy="5032375"/>
              </a:xfrm>
            </p:spPr>
            <p:txBody>
              <a:bodyPr>
                <a:normAutofit/>
              </a:bodyPr>
              <a:lstStyle/>
              <a:p>
                <a:r>
                  <a:rPr lang="pt-BR" b="1" noProof="0" dirty="0"/>
                  <a:t>Porta de saída</a:t>
                </a:r>
                <a:r>
                  <a:rPr lang="pt-BR" noProof="0" dirty="0"/>
                  <a:t>: </a:t>
                </a:r>
              </a:p>
              <a:p>
                <a:pPr lvl="1">
                  <a:buFont typeface="Wingdings" panose="05000000000000000000" pitchFamily="2" charset="2"/>
                  <a:buChar char="§"/>
                </a:pPr>
                <a:r>
                  <a:rPr lang="pt-BR" b="1" noProof="0" dirty="0">
                    <a:solidFill>
                      <a:schemeClr val="accent1"/>
                    </a:solidFill>
                  </a:rPr>
                  <a:t>Decide o quanto expor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𝒄</m:t>
                        </m:r>
                      </m:e>
                      <m:sub>
                        <m:r>
                          <a:rPr lang="pt-BR" b="1" i="1" noProof="0">
                            <a:solidFill>
                              <a:schemeClr val="accent1"/>
                            </a:solidFill>
                            <a:latin typeface="Cambria Math" panose="02040503050406030204" pitchFamily="18" charset="0"/>
                          </a:rPr>
                          <m:t>𝒕</m:t>
                        </m:r>
                      </m:sub>
                    </m:sSub>
                  </m:oMath>
                </a14:m>
                <a:r>
                  <a:rPr lang="pt-BR" noProof="0" dirty="0">
                    <a:solidFill>
                      <a:schemeClr val="tx1"/>
                    </a:solidFill>
                  </a:rPr>
                  <a:t> para o próximo instante de tempo. </a:t>
                </a:r>
              </a:p>
              <a:p>
                <a:pPr lvl="1">
                  <a:buFont typeface="Wingdings" panose="05000000000000000000" pitchFamily="2" charset="2"/>
                  <a:buChar char="§"/>
                </a:pPr>
                <a:r>
                  <a:rPr lang="pt-BR" noProof="0" dirty="0">
                    <a:solidFill>
                      <a:srgbClr val="222222"/>
                    </a:solidFill>
                  </a:rPr>
                  <a:t>A função tanh comprime</a:t>
                </a:r>
                <a:r>
                  <a:rPr lang="pt-BR" b="1" noProof="0" dirty="0">
                    <a:solidFill>
                      <a:schemeClr val="tx1"/>
                    </a:solidFill>
                  </a:rPr>
                  <a:t> </a:t>
                </a:r>
                <a14:m>
                  <m:oMath xmlns:m="http://schemas.openxmlformats.org/officeDocument/2006/math">
                    <m:sSub>
                      <m:sSubPr>
                        <m:ctrlPr>
                          <a:rPr lang="pt-BR" b="1" i="1" noProof="0">
                            <a:solidFill>
                              <a:schemeClr val="tx1"/>
                            </a:solidFill>
                            <a:latin typeface="Cambria Math" panose="02040503050406030204" pitchFamily="18" charset="0"/>
                          </a:rPr>
                        </m:ctrlPr>
                      </m:sSubPr>
                      <m:e>
                        <m:r>
                          <a:rPr lang="pt-BR" b="1" i="1" noProof="0">
                            <a:solidFill>
                              <a:schemeClr val="tx1"/>
                            </a:solidFill>
                            <a:latin typeface="Cambria Math" panose="02040503050406030204" pitchFamily="18" charset="0"/>
                          </a:rPr>
                          <m:t>𝒄</m:t>
                        </m:r>
                      </m:e>
                      <m:sub>
                        <m:r>
                          <a:rPr lang="pt-BR" b="1" i="1" noProof="0">
                            <a:solidFill>
                              <a:schemeClr val="tx1"/>
                            </a:solidFill>
                            <a:latin typeface="Cambria Math" panose="02040503050406030204" pitchFamily="18" charset="0"/>
                          </a:rPr>
                          <m:t>𝒕</m:t>
                        </m:r>
                      </m:sub>
                    </m:sSub>
                  </m:oMath>
                </a14:m>
                <a:r>
                  <a:rPr lang="pt-BR" noProof="0" dirty="0">
                    <a:solidFill>
                      <a:srgbClr val="222222"/>
                    </a:solidFill>
                  </a:rPr>
                  <a:t> para [−1, 1].</a:t>
                </a:r>
              </a:p>
              <a:p>
                <a:pPr lvl="2">
                  <a:buFont typeface="Courier New" panose="02070309020205020404" pitchFamily="49" charset="0"/>
                  <a:buChar char="o"/>
                </a:pPr>
                <a:r>
                  <a:rPr lang="pt-BR" dirty="0"/>
                  <a:t>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b="1" i="1">
                            <a:latin typeface="Cambria Math" panose="02040503050406030204" pitchFamily="18" charset="0"/>
                          </a:rPr>
                          <m:t>𝒕</m:t>
                        </m:r>
                      </m:sub>
                    </m:sSub>
                  </m:oMath>
                </a14:m>
                <a:r>
                  <a:rPr lang="pt-BR" dirty="0"/>
                  <a:t> ser uma soma acumulada, ele pode crescer sem limite, enquanto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1" i="1">
                            <a:latin typeface="Cambria Math" panose="02040503050406030204" pitchFamily="18" charset="0"/>
                          </a:rPr>
                          <m:t>𝒕</m:t>
                        </m:r>
                      </m:sub>
                    </m:sSub>
                  </m:oMath>
                </a14:m>
                <a:r>
                  <a:rPr lang="pt-BR" dirty="0"/>
                  <a:t> precisa ter escala controlada: ele alimenta as portas (que saturariam com valores enormes e teriam gradientes </a:t>
                </a:r>
                <a14:m>
                  <m:oMath xmlns:m="http://schemas.openxmlformats.org/officeDocument/2006/math">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oMath>
                </a14:m>
                <a:r>
                  <a:rPr lang="pt-BR" dirty="0"/>
                  <a:t>).</a:t>
                </a:r>
                <a:endParaRPr lang="pt-BR" noProof="0" dirty="0"/>
              </a:p>
              <a:p>
                <a:pPr lvl="1">
                  <a:buFont typeface="Wingdings" panose="05000000000000000000" pitchFamily="2" charset="2"/>
                  <a:buChar char="§"/>
                </a:pPr>
                <a:r>
                  <a:rPr lang="pt-BR" noProof="0" dirty="0"/>
                  <a:t>Em seguida, </a:t>
                </a:r>
                <a:r>
                  <a:rPr lang="pt-BR" b="1" noProof="0" dirty="0">
                    <a:solidFill>
                      <a:srgbClr val="00B050"/>
                    </a:solidFill>
                  </a:rPr>
                  <a:t>um elemento comprimido de </a:t>
                </a:r>
                <a14:m>
                  <m:oMath xmlns:m="http://schemas.openxmlformats.org/officeDocument/2006/math">
                    <m:sSub>
                      <m:sSubPr>
                        <m:ctrlPr>
                          <a:rPr lang="pt-BR" b="1" noProof="0">
                            <a:solidFill>
                              <a:srgbClr val="00B050"/>
                            </a:solidFill>
                            <a:latin typeface="Cambria Math" panose="02040503050406030204" pitchFamily="18" charset="0"/>
                          </a:rPr>
                        </m:ctrlPr>
                      </m:sSubPr>
                      <m:e>
                        <m:r>
                          <a:rPr lang="pt-BR" b="1" noProof="0">
                            <a:solidFill>
                              <a:srgbClr val="00B050"/>
                            </a:solidFill>
                            <a:latin typeface="Cambria Math" panose="02040503050406030204" pitchFamily="18" charset="0"/>
                          </a:rPr>
                          <m:t>𝒄</m:t>
                        </m:r>
                      </m:e>
                      <m:sub>
                        <m:r>
                          <a:rPr lang="pt-BR" b="1" noProof="0">
                            <a:solidFill>
                              <a:srgbClr val="00B050"/>
                            </a:solidFill>
                            <a:latin typeface="Cambria Math" panose="02040503050406030204" pitchFamily="18" charset="0"/>
                          </a:rPr>
                          <m:t>𝑡</m:t>
                        </m:r>
                      </m:sub>
                    </m:sSub>
                  </m:oMath>
                </a14:m>
                <a:r>
                  <a:rPr lang="pt-BR" b="1" noProof="0" dirty="0">
                    <a:solidFill>
                      <a:srgbClr val="00B050"/>
                    </a:solidFill>
                  </a:rPr>
                  <a:t> </a:t>
                </a:r>
                <a:r>
                  <a:rPr lang="pt-BR" noProof="0" dirty="0"/>
                  <a:t>é </a:t>
                </a:r>
                <a:r>
                  <a:rPr lang="pt-BR" b="1" noProof="0" dirty="0">
                    <a:solidFill>
                      <a:srgbClr val="7030A0"/>
                    </a:solidFill>
                  </a:rPr>
                  <a:t>exposto</a:t>
                </a:r>
                <a:r>
                  <a:rPr lang="pt-BR" noProof="0" dirty="0"/>
                  <a:t> em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b="1" i="1" noProof="0">
                            <a:latin typeface="Cambria Math" panose="02040503050406030204" pitchFamily="18" charset="0"/>
                          </a:rPr>
                          <m:t>𝒕</m:t>
                        </m:r>
                      </m:sub>
                    </m:sSub>
                  </m:oMath>
                </a14:m>
                <a:r>
                  <a:rPr lang="pt-BR" noProof="0" dirty="0"/>
                  <a:t> se </a:t>
                </a:r>
                <a:r>
                  <a:rPr lang="pt-BR" b="1" noProof="0" dirty="0">
                    <a:solidFill>
                      <a:schemeClr val="accent2"/>
                    </a:solidFill>
                  </a:rPr>
                  <a:t>um elemento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𝒐</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a:t>
                </a:r>
                <a14:m>
                  <m:oMath xmlns:m="http://schemas.openxmlformats.org/officeDocument/2006/math">
                    <m:r>
                      <a:rPr lang="pt-BR" b="1" i="1" noProof="0">
                        <a:solidFill>
                          <a:schemeClr val="accent2"/>
                        </a:solidFill>
                        <a:latin typeface="Cambria Math" panose="02040503050406030204" pitchFamily="18" charset="0"/>
                        <a:ea typeface="Cambria Math" panose="02040503050406030204" pitchFamily="18" charset="0"/>
                      </a:rPr>
                      <m:t>≈</m:t>
                    </m:r>
                    <m:r>
                      <a:rPr lang="pt-BR" b="1" noProof="0">
                        <a:solidFill>
                          <a:schemeClr val="accent2"/>
                        </a:solidFill>
                        <a:latin typeface="Cambria Math" panose="02040503050406030204" pitchFamily="18" charset="0"/>
                        <a:ea typeface="Cambria Math" panose="02040503050406030204" pitchFamily="18" charset="0"/>
                      </a:rPr>
                      <m:t>𝟏</m:t>
                    </m:r>
                  </m:oMath>
                </a14:m>
                <a:r>
                  <a:rPr lang="pt-BR" noProof="0" dirty="0"/>
                  <a:t>.</a:t>
                </a:r>
              </a:p>
            </p:txBody>
          </p:sp>
        </mc:Choice>
        <mc:Fallback xmlns="">
          <p:sp>
            <p:nvSpPr>
              <p:cNvPr id="3" name="Content Placeholder 2">
                <a:extLst>
                  <a:ext uri="{FF2B5EF4-FFF2-40B4-BE49-F238E27FC236}">
                    <a16:creationId xmlns:a16="http://schemas.microsoft.com/office/drawing/2014/main" id="{2768F3B9-2D69-B2FC-20A9-E2305A81CE1D}"/>
                  </a:ext>
                </a:extLst>
              </p:cNvPr>
              <p:cNvSpPr>
                <a:spLocks noGrp="1" noRot="1" noChangeAspect="1" noMove="1" noResize="1" noEditPoints="1" noAdjustHandles="1" noChangeArrowheads="1" noChangeShapeType="1" noTextEdit="1"/>
              </p:cNvSpPr>
              <p:nvPr>
                <p:ph idx="1"/>
              </p:nvPr>
            </p:nvSpPr>
            <p:spPr>
              <a:xfrm>
                <a:off x="5572125" y="1825624"/>
                <a:ext cx="6619875" cy="5032375"/>
              </a:xfrm>
              <a:blipFill>
                <a:blip r:embed="rId3"/>
                <a:stretch>
                  <a:fillRect l="-1657" t="-1937" r="-645"/>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83B7B973-132A-BE2C-7F13-120CBB6689B5}"/>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0B0521B5-CFCE-8705-B073-0159E74392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8BC031F1-82B1-3C2C-7042-9883B963472E}"/>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C97C6CBC-B57E-E4F0-FCD7-F9EB3A3A17E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4C3E4F36-ABFA-C409-16BF-2AF0394F233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41C8C7A7-36A6-C541-6070-F7DDF94EE0D8}"/>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847C6443-2E5B-19CA-0169-A6E7BAC7794F}"/>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9380939F-2361-8E75-9080-3F1ED6D31ABA}"/>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4136944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546B0-E611-8DE0-67E8-AC0E006F910A}"/>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E102919-44DD-475F-D93A-6A393403DF51}"/>
                  </a:ext>
                </a:extLst>
              </p:cNvPr>
              <p:cNvSpPr>
                <a:spLocks noGrp="1"/>
              </p:cNvSpPr>
              <p:nvPr>
                <p:ph idx="1"/>
              </p:nvPr>
            </p:nvSpPr>
            <p:spPr>
              <a:xfrm>
                <a:off x="5819775" y="1825624"/>
                <a:ext cx="6351300" cy="5032375"/>
              </a:xfrm>
            </p:spPr>
            <p:txBody>
              <a:bodyPr>
                <a:normAutofit lnSpcReduction="10000"/>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𝒊</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então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oMath>
                </a14:m>
                <a:endParaRPr lang="pt-BR" noProof="0" dirty="0"/>
              </a:p>
              <a:p>
                <a:r>
                  <a:rPr lang="pt-BR" noProof="0" dirty="0"/>
                  <a:t>Se isso ocorre durante vários instantes de tempo, o </a:t>
                </a:r>
                <a:r>
                  <a:rPr lang="pt-BR" b="1" noProof="0" dirty="0">
                    <a:solidFill>
                      <a:srgbClr val="00B0F0"/>
                    </a:solidFill>
                  </a:rPr>
                  <a:t>estado interno da célula</a:t>
                </a:r>
                <a:r>
                  <a:rPr lang="pt-BR" noProof="0" dirty="0"/>
                  <a:t> </a:t>
                </a:r>
                <a:r>
                  <a:rPr lang="pt-BR" b="1" noProof="0" dirty="0">
                    <a:solidFill>
                      <a:srgbClr val="00B050"/>
                    </a:solidFill>
                  </a:rPr>
                  <a:t>permanece inalterado</a:t>
                </a:r>
                <a:r>
                  <a:rPr lang="pt-BR" noProof="0" dirty="0"/>
                  <a:t>.</a:t>
                </a:r>
              </a:p>
              <a:p>
                <a:pPr lvl="1">
                  <a:buFont typeface="Wingdings" panose="05000000000000000000" pitchFamily="2" charset="2"/>
                  <a:buChar char="§"/>
                </a:pPr>
                <a:r>
                  <a:rPr lang="pt-BR" noProof="0" dirty="0"/>
                  <a:t>É assim que a memória de longo prazo é mantida.</a:t>
                </a:r>
              </a:p>
              <a:p>
                <a:r>
                  <a:rPr lang="pt-BR" noProof="0" dirty="0"/>
                  <a:t>Assim, as </a:t>
                </a:r>
                <a:r>
                  <a:rPr lang="pt-BR" b="1" noProof="0" dirty="0">
                    <a:solidFill>
                      <a:schemeClr val="accent2"/>
                    </a:solidFill>
                  </a:rPr>
                  <a:t>portas de entrada e de esquecimento</a:t>
                </a:r>
                <a:r>
                  <a:rPr lang="pt-BR" noProof="0" dirty="0"/>
                  <a:t> </a:t>
                </a:r>
                <a:r>
                  <a:rPr lang="pt-BR" b="1" noProof="0" dirty="0">
                    <a:solidFill>
                      <a:srgbClr val="7030A0"/>
                    </a:solidFill>
                  </a:rPr>
                  <a:t>aprendem quando e o quanto manter ou alterar</a:t>
                </a:r>
                <a:r>
                  <a:rPr lang="pt-BR" noProof="0" dirty="0"/>
                  <a:t> esse valor guardado em resposta às novas entradas.</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então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i="1" noProof="0">
                        <a:latin typeface="Cambria Math" panose="02040503050406030204" pitchFamily="18" charset="0"/>
                      </a:rPr>
                      <m:t>.</m:t>
                    </m:r>
                  </m:oMath>
                </a14:m>
                <a:endParaRPr lang="pt-BR" noProof="0" dirty="0"/>
              </a:p>
              <a:p>
                <a:pPr lvl="1">
                  <a:buFont typeface="Wingdings" panose="05000000000000000000" pitchFamily="2" charset="2"/>
                  <a:buChar char="§"/>
                </a:pPr>
                <a:r>
                  <a:rPr lang="pt-BR" noProof="0" dirty="0">
                    <a:solidFill>
                      <a:srgbClr val="222222"/>
                    </a:solidFill>
                  </a:rPr>
                  <a:t>A memória é totalmente sobrescrita.</a:t>
                </a:r>
                <a:endParaRPr lang="pt-BR" noProof="0" dirty="0"/>
              </a:p>
            </p:txBody>
          </p:sp>
        </mc:Choice>
        <mc:Fallback xmlns="">
          <p:sp>
            <p:nvSpPr>
              <p:cNvPr id="3" name="Espaço Reservado para Conteúdo 2">
                <a:extLst>
                  <a:ext uri="{FF2B5EF4-FFF2-40B4-BE49-F238E27FC236}">
                    <a16:creationId xmlns:a16="http://schemas.microsoft.com/office/drawing/2014/main" id="{EE102919-44DD-475F-D93A-6A393403DF51}"/>
                  </a:ext>
                </a:extLst>
              </p:cNvPr>
              <p:cNvSpPr>
                <a:spLocks noGrp="1" noRot="1" noChangeAspect="1" noMove="1" noResize="1" noEditPoints="1" noAdjustHandles="1" noChangeArrowheads="1" noChangeShapeType="1" noTextEdit="1"/>
              </p:cNvSpPr>
              <p:nvPr>
                <p:ph idx="1"/>
              </p:nvPr>
            </p:nvSpPr>
            <p:spPr>
              <a:xfrm>
                <a:off x="5819775" y="1825624"/>
                <a:ext cx="6351300" cy="5032375"/>
              </a:xfrm>
              <a:blipFill>
                <a:blip r:embed="rId2"/>
                <a:stretch>
                  <a:fillRect l="-1727" t="-266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6C193DFC-DE18-410C-AB29-244A45E9CD81}"/>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8FE4EDE5-3AEA-3EDB-1BD2-B192E5B46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865A27F8-A0A8-AFB5-B153-0CA03FECBD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45537AB4-5570-77F3-C064-834CB9E0227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1BFABF2B-3F30-E8B9-5883-2B8829AA5428}"/>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B4D2CE23-E415-4905-B912-68C9E9E7ED1D}"/>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C2647DD0-9B62-25C5-3B91-804681C217C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79E37841-95F9-5E21-E1A7-D4038EC9EB8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738211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5BAE2-6A9C-5F01-525B-45AB0773008F}"/>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D67E614-DAEB-F5E1-30D0-2E4A5E8BE3A5}"/>
                  </a:ext>
                </a:extLst>
              </p:cNvPr>
              <p:cNvSpPr>
                <a:spLocks noGrp="1"/>
              </p:cNvSpPr>
              <p:nvPr>
                <p:ph idx="1"/>
              </p:nvPr>
            </p:nvSpPr>
            <p:spPr>
              <a:xfrm>
                <a:off x="5763802" y="1825624"/>
                <a:ext cx="6428198" cy="5032375"/>
              </a:xfrm>
            </p:spPr>
            <p:txBody>
              <a:bodyPr>
                <a:normAutofit/>
              </a:bodyPr>
              <a:lstStyle/>
              <a:p>
                <a:r>
                  <a:rPr lang="pt-BR" noProof="0" dirty="0"/>
                  <a:t>Se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𝒐</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oMath>
                </a14:m>
                <a:r>
                  <a:rPr lang="pt-BR" b="1" noProof="0" dirty="0"/>
                  <a:t>1</a:t>
                </a:r>
                <a:r>
                  <a:rPr lang="pt-BR" noProof="0" dirty="0"/>
                  <a:t>, o </a:t>
                </a:r>
                <a:r>
                  <a:rPr lang="pt-BR" b="1" noProof="0" dirty="0">
                    <a:solidFill>
                      <a:srgbClr val="7030A0"/>
                    </a:solidFill>
                  </a:rPr>
                  <a:t>estado interno da célula</a:t>
                </a:r>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noProof="0" dirty="0">
                    <a:solidFill>
                      <a:schemeClr val="accent2"/>
                    </a:solidFill>
                  </a:rPr>
                  <a:t>é exposto</a:t>
                </a:r>
                <a:r>
                  <a:rPr lang="pt-BR" noProof="0" dirty="0"/>
                  <a:t> e </a:t>
                </a:r>
                <a:r>
                  <a:rPr lang="pt-BR" b="1" noProof="0" dirty="0">
                    <a:solidFill>
                      <a:srgbClr val="00B050"/>
                    </a:solidFill>
                  </a:rPr>
                  <a:t>influencia</a:t>
                </a:r>
                <a:r>
                  <a:rPr lang="pt-BR" noProof="0" dirty="0">
                    <a:solidFill>
                      <a:schemeClr val="tx1"/>
                    </a:solidFill>
                  </a:rPr>
                  <a:t>, </a:t>
                </a:r>
                <a:r>
                  <a:rPr lang="pt-BR" dirty="0">
                    <a:solidFill>
                      <a:schemeClr val="tx1"/>
                    </a:solidFill>
                  </a:rPr>
                  <a:t>via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𝒉</m:t>
                        </m:r>
                      </m:e>
                      <m:sub>
                        <m:r>
                          <a:rPr lang="pt-BR" b="0" i="1">
                            <a:solidFill>
                              <a:schemeClr val="tx1"/>
                            </a:solidFill>
                            <a:latin typeface="Cambria Math" panose="02040503050406030204" pitchFamily="18" charset="0"/>
                          </a:rPr>
                          <m:t>𝑡</m:t>
                        </m:r>
                      </m:sub>
                    </m:sSub>
                  </m:oMath>
                </a14:m>
                <a:r>
                  <a:rPr lang="pt-BR" noProof="0" dirty="0">
                    <a:solidFill>
                      <a:schemeClr val="tx1"/>
                    </a:solidFill>
                  </a:rPr>
                  <a:t>,</a:t>
                </a:r>
                <a:r>
                  <a:rPr lang="pt-BR" b="1" noProof="0" dirty="0">
                    <a:solidFill>
                      <a:srgbClr val="00B050"/>
                    </a:solidFill>
                  </a:rPr>
                  <a:t> as portas do instante seguinte</a:t>
                </a:r>
                <a:r>
                  <a:rPr lang="pt-BR" noProof="0" dirty="0"/>
                  <a:t>. </a:t>
                </a:r>
              </a:p>
              <a:p>
                <a:r>
                  <a:rPr lang="pt-BR" dirty="0"/>
                  <a:t>S</a:t>
                </a:r>
                <a:r>
                  <a:rPr lang="pt-BR" noProof="0" dirty="0"/>
                  <a:t>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oMath>
                </a14:m>
                <a:r>
                  <a:rPr lang="pt-BR" noProof="0" dirty="0"/>
                  <a:t> </a:t>
                </a:r>
                <a14:m>
                  <m:oMath xmlns:m="http://schemas.openxmlformats.org/officeDocument/2006/math">
                    <m:r>
                      <a:rPr lang="pt-BR" b="1" i="1" noProof="0">
                        <a:latin typeface="Cambria Math" panose="02040503050406030204" pitchFamily="18" charset="0"/>
                        <a:ea typeface="Cambria Math" panose="02040503050406030204" pitchFamily="18" charset="0"/>
                      </a:rPr>
                      <m:t>≈</m:t>
                    </m:r>
                    <m:r>
                      <a:rPr lang="pt-BR" b="1" i="0" noProof="0" smtClean="0">
                        <a:latin typeface="Cambria Math" panose="02040503050406030204" pitchFamily="18" charset="0"/>
                        <a:ea typeface="Cambria Math" panose="02040503050406030204" pitchFamily="18" charset="0"/>
                      </a:rPr>
                      <m:t>𝟎</m:t>
                    </m:r>
                  </m:oMath>
                </a14:m>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dirty="0">
                    <a:solidFill>
                      <a:srgbClr val="FF0000"/>
                    </a:solidFill>
                  </a:rPr>
                  <a:t>não é exposto e não influencia</a:t>
                </a:r>
                <a:r>
                  <a:rPr lang="pt-BR" dirty="0"/>
                  <a:t>, via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rgbClr val="00B050"/>
                    </a:solidFill>
                  </a:rPr>
                  <a:t>as portas do instante seguinte.</a:t>
                </a:r>
                <a:endParaRPr lang="pt-BR" b="1" noProof="0" dirty="0">
                  <a:solidFill>
                    <a:srgbClr val="00B050"/>
                  </a:solidFill>
                </a:endParaRPr>
              </a:p>
              <a:p>
                <a:r>
                  <a:rPr lang="pt-BR" noProof="0" dirty="0"/>
                  <a:t>Assim</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é importante </a:t>
                </a:r>
                <a:r>
                  <a:rPr lang="pt-BR" noProof="0" dirty="0"/>
                  <a:t>para o futuro.</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a:t>
                </a:r>
                <a:r>
                  <a:rPr lang="pt-BR" b="1" noProof="0" dirty="0">
                    <a:solidFill>
                      <a:srgbClr val="FF0000"/>
                    </a:solidFill>
                  </a:rPr>
                  <a:t>não é</a:t>
                </a:r>
                <a:r>
                  <a:rPr lang="pt-BR" b="1" dirty="0"/>
                  <a:t> importante</a:t>
                </a:r>
                <a:r>
                  <a:rPr lang="pt-BR" dirty="0"/>
                  <a:t> para o futuro.</a:t>
                </a:r>
                <a:endParaRPr lang="pt-BR" noProof="0" dirty="0"/>
              </a:p>
            </p:txBody>
          </p:sp>
        </mc:Choice>
        <mc:Fallback xmlns="">
          <p:sp>
            <p:nvSpPr>
              <p:cNvPr id="3" name="Espaço Reservado para Conteúdo 2">
                <a:extLst>
                  <a:ext uri="{FF2B5EF4-FFF2-40B4-BE49-F238E27FC236}">
                    <a16:creationId xmlns:a16="http://schemas.microsoft.com/office/drawing/2014/main" id="{CD67E614-DAEB-F5E1-30D0-2E4A5E8BE3A5}"/>
                  </a:ext>
                </a:extLst>
              </p:cNvPr>
              <p:cNvSpPr>
                <a:spLocks noGrp="1" noRot="1" noChangeAspect="1" noMove="1" noResize="1" noEditPoints="1" noAdjustHandles="1" noChangeArrowheads="1" noChangeShapeType="1" noTextEdit="1"/>
              </p:cNvSpPr>
              <p:nvPr>
                <p:ph idx="1"/>
              </p:nvPr>
            </p:nvSpPr>
            <p:spPr>
              <a:xfrm>
                <a:off x="5763802" y="1825624"/>
                <a:ext cx="6428198" cy="5032375"/>
              </a:xfrm>
              <a:blipFill>
                <a:blip r:embed="rId2"/>
                <a:stretch>
                  <a:fillRect l="-1708" t="-1937" r="-123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DA16864C-0614-5224-D37A-19119776A006}"/>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F39AB0AC-0179-5E95-2871-D57033982D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94D1E120-2DD4-B143-198A-C98A7251C4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3F38F791-0613-D243-016D-19FC0574FC6A}"/>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E2BE511A-42B9-C968-D481-8445D8BBAE2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0F608ED5-0FE7-9FB4-BE08-5C5EC130ECF9}"/>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C976F33D-3AC6-D51F-11DE-4AA1BD41287D}"/>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D239026C-C688-476C-695B-19BC8E6957FE}"/>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6205074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0908E-61BC-4EE3-3C23-07FB350F419F}"/>
              </a:ext>
            </a:extLst>
          </p:cNvPr>
          <p:cNvSpPr>
            <a:spLocks noGrp="1"/>
          </p:cNvSpPr>
          <p:nvPr>
            <p:ph type="title"/>
          </p:nvPr>
        </p:nvSpPr>
        <p:spPr/>
        <p:txBody>
          <a:bodyPr/>
          <a:lstStyle/>
          <a:p>
            <a:r>
              <a:rPr lang="pt-BR" dirty="0"/>
              <a:t>Porta de esquecimento</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AB8871D-05B3-0B5D-B7A9-8B87B3BFA96C}"/>
                  </a:ext>
                </a:extLst>
              </p:cNvPr>
              <p:cNvSpPr>
                <a:spLocks noGrp="1"/>
              </p:cNvSpPr>
              <p:nvPr>
                <p:ph idx="1"/>
              </p:nvPr>
            </p:nvSpPr>
            <p:spPr>
              <a:xfrm>
                <a:off x="5809130" y="1825624"/>
                <a:ext cx="6382872" cy="5032375"/>
              </a:xfrm>
            </p:spPr>
            <p:txBody>
              <a:bodyPr>
                <a:normAutofit/>
              </a:bodyPr>
              <a:lstStyle/>
              <a:p>
                <a:r>
                  <a:rPr lang="pt-BR" b="1" dirty="0">
                    <a:solidFill>
                      <a:schemeClr val="accent2"/>
                    </a:solidFill>
                  </a:rPr>
                  <a:t>Controla</a:t>
                </a:r>
                <a:r>
                  <a:rPr lang="pt-BR" dirty="0"/>
                  <a:t> quais </a:t>
                </a:r>
                <a:r>
                  <a:rPr lang="pt-BR" b="1" dirty="0">
                    <a:solidFill>
                      <a:schemeClr val="accent2"/>
                    </a:solidFill>
                  </a:rPr>
                  <a:t>informações</a:t>
                </a:r>
                <a:r>
                  <a:rPr lang="pt-BR" dirty="0"/>
                  <a:t> são </a:t>
                </a:r>
                <a:r>
                  <a:rPr lang="pt-BR" b="1" dirty="0">
                    <a:solidFill>
                      <a:srgbClr val="7030A0"/>
                    </a:solidFill>
                  </a:rPr>
                  <a:t>descartadas ou mantidas </a:t>
                </a:r>
                <a:r>
                  <a:rPr lang="pt-BR" dirty="0"/>
                  <a:t>no estado de longo prazo</a:t>
                </a:r>
              </a:p>
              <a:p>
                <a:pPr marL="0" indent="0">
                  <a:buNone/>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𝒇</m:t>
                          </m:r>
                        </m:e>
                        <m:sub>
                          <m:r>
                            <a:rPr lang="pt-BR" sz="2400" b="0" i="1" smtClean="0">
                              <a:latin typeface="Cambria Math" panose="02040503050406030204" pitchFamily="18" charset="0"/>
                            </a:rPr>
                            <m:t>𝑡</m:t>
                          </m:r>
                        </m:sub>
                      </m:sSub>
                      <m:r>
                        <a:rPr lang="pt-BR" sz="2400" b="0" i="1" smtClean="0">
                          <a:latin typeface="Cambria Math" panose="02040503050406030204" pitchFamily="18" charset="0"/>
                        </a:rPr>
                        <m:t>=</m:t>
                      </m:r>
                      <m:d>
                        <m:dPr>
                          <m:begChr m:val="{"/>
                          <m:endChr m:val=""/>
                          <m:ctrlPr>
                            <a:rPr lang="pt-BR" sz="2400" b="0" i="1" smtClean="0">
                              <a:latin typeface="Cambria Math" panose="02040503050406030204" pitchFamily="18" charset="0"/>
                            </a:rPr>
                          </m:ctrlPr>
                        </m:dPr>
                        <m:e>
                          <m:eqArr>
                            <m:eqArrPr>
                              <m:ctrlPr>
                                <a:rPr lang="pt-BR" sz="2400" b="0" i="1" smtClean="0">
                                  <a:latin typeface="Cambria Math" panose="02040503050406030204" pitchFamily="18" charset="0"/>
                                </a:rPr>
                              </m:ctrlPr>
                            </m:eqArrPr>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𝟎</m:t>
                                    </m:r>
                                    <m:r>
                                      <a:rPr lang="pt-BR" sz="2400" b="0" i="1" smtClean="0">
                                        <a:latin typeface="Cambria Math" panose="02040503050406030204" pitchFamily="18" charset="0"/>
                                      </a:rPr>
                                      <m:t>,</m:t>
                                    </m:r>
                                  </m:e>
                                  <m:e>
                                    <m:r>
                                      <m:rPr>
                                        <m:sty m:val="p"/>
                                      </m:rPr>
                                      <a:rPr lang="pt-BR" sz="2400" b="0" i="0" smtClean="0">
                                        <a:latin typeface="Cambria Math" panose="02040503050406030204" pitchFamily="18" charset="0"/>
                                      </a:rPr>
                                      <m:t>esquece</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completamente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e>
                                </m:mr>
                              </m:m>
                            </m:e>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𝟏</m:t>
                                    </m:r>
                                    <m:r>
                                      <a:rPr lang="pt-BR" sz="2400" b="0" i="1" smtClean="0">
                                        <a:latin typeface="Cambria Math" panose="02040503050406030204" pitchFamily="18" charset="0"/>
                                      </a:rPr>
                                      <m:t>,</m:t>
                                    </m:r>
                                  </m:e>
                                  <m:e>
                                    <m:r>
                                      <a:rPr lang="pt-BR" sz="2400" b="0" i="1" smtClean="0">
                                        <a:latin typeface="Cambria Math" panose="02040503050406030204" pitchFamily="18" charset="0"/>
                                      </a:rPr>
                                      <m:t>          </m:t>
                                    </m:r>
                                    <m:r>
                                      <m:rPr>
                                        <m:sty m:val="p"/>
                                      </m:rPr>
                                      <a:rPr lang="pt-BR" sz="2400" b="0" i="0" smtClean="0">
                                        <a:latin typeface="Cambria Math" panose="02040503050406030204" pitchFamily="18" charset="0"/>
                                      </a:rPr>
                                      <m:t>mant</m:t>
                                    </m:r>
                                    <m:r>
                                      <a:rPr lang="pt-BR" sz="2400" b="0" i="0" smtClean="0">
                                        <a:latin typeface="Cambria Math" panose="02040503050406030204" pitchFamily="18" charset="0"/>
                                      </a:rPr>
                                      <m:t>é</m:t>
                                    </m:r>
                                    <m:r>
                                      <m:rPr>
                                        <m:sty m:val="p"/>
                                      </m:rPr>
                                      <a:rPr lang="pt-BR" sz="2400" b="0" i="0" smtClean="0">
                                        <a:latin typeface="Cambria Math" panose="02040503050406030204" pitchFamily="18" charset="0"/>
                                      </a:rPr>
                                      <m:t>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r>
                                      <a:rPr lang="pt-BR" sz="2400" b="0" i="1" smtClean="0">
                                        <a:latin typeface="Cambria Math" panose="02040503050406030204" pitchFamily="18" charset="0"/>
                                      </a:rPr>
                                      <m:t>  </m:t>
                                    </m:r>
                                  </m:e>
                                </m:mr>
                              </m:m>
                            </m:e>
                          </m:eqArr>
                        </m:e>
                      </m:d>
                    </m:oMath>
                  </m:oMathPara>
                </a14:m>
                <a:endParaRPr lang="pt-BR" dirty="0"/>
              </a:p>
              <a:p>
                <a:r>
                  <a:rPr lang="pt-BR" dirty="0"/>
                  <a:t>Exemplo aplicado à predição da próxima palavra: </a:t>
                </a:r>
              </a:p>
              <a:p>
                <a:pPr lvl="1">
                  <a:buFont typeface="Wingdings" panose="05000000000000000000" pitchFamily="2" charset="2"/>
                  <a:buChar char="§"/>
                </a:pPr>
                <a:r>
                  <a:rPr lang="pt-BR" dirty="0"/>
                  <a:t>O </a:t>
                </a:r>
                <a:r>
                  <a:rPr lang="pt-BR" b="1" dirty="0"/>
                  <a:t>estado de longo prazo</a:t>
                </a:r>
                <a:r>
                  <a:rPr lang="pt-BR" dirty="0"/>
                  <a:t> mantém a </a:t>
                </a:r>
                <a:r>
                  <a:rPr lang="pt-BR" b="1" dirty="0">
                    <a:solidFill>
                      <a:srgbClr val="00B050"/>
                    </a:solidFill>
                  </a:rPr>
                  <a:t>informação do gênero do sujeito </a:t>
                </a:r>
                <a:r>
                  <a:rPr lang="pt-BR" dirty="0"/>
                  <a:t>de uma frase </a:t>
                </a:r>
                <a:r>
                  <a:rPr lang="pt-BR" b="1" dirty="0">
                    <a:solidFill>
                      <a:schemeClr val="accent1"/>
                    </a:solidFill>
                  </a:rPr>
                  <a:t>guardado </a:t>
                </a:r>
                <a:r>
                  <a:rPr lang="pt-BR" dirty="0"/>
                  <a:t>para usar os pronomes corretos.</a:t>
                </a:r>
              </a:p>
              <a:p>
                <a:pPr lvl="1">
                  <a:buFont typeface="Wingdings" panose="05000000000000000000" pitchFamily="2" charset="2"/>
                  <a:buChar char="§"/>
                </a:pPr>
                <a:r>
                  <a:rPr lang="pt-BR" dirty="0"/>
                  <a:t>Ao identificar um </a:t>
                </a:r>
                <a:r>
                  <a:rPr lang="pt-BR" b="1" dirty="0">
                    <a:solidFill>
                      <a:srgbClr val="00B050"/>
                    </a:solidFill>
                  </a:rPr>
                  <a:t>novo sujeito</a:t>
                </a:r>
                <a:r>
                  <a:rPr lang="pt-BR" dirty="0"/>
                  <a:t>, a célula </a:t>
                </a:r>
                <a:r>
                  <a:rPr lang="pt-BR" b="1" dirty="0">
                    <a:solidFill>
                      <a:schemeClr val="accent1"/>
                    </a:solidFill>
                  </a:rPr>
                  <a:t>esquece</a:t>
                </a:r>
                <a:r>
                  <a:rPr lang="pt-BR" dirty="0"/>
                  <a:t> o gênero do sujeito anterior.</a:t>
                </a:r>
                <a:endParaRPr lang="en-US" dirty="0"/>
              </a:p>
            </p:txBody>
          </p:sp>
        </mc:Choice>
        <mc:Fallback>
          <p:sp>
            <p:nvSpPr>
              <p:cNvPr id="3" name="Content Placeholder 2">
                <a:extLst>
                  <a:ext uri="{FF2B5EF4-FFF2-40B4-BE49-F238E27FC236}">
                    <a16:creationId xmlns:a16="http://schemas.microsoft.com/office/drawing/2014/main"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a:blip r:embed="rId3"/>
                <a:stretch>
                  <a:fillRect l="-1719" t="-1937" r="-669" b="-1574"/>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E3CE4F74-23B7-AB00-959C-7F819D4053F1}"/>
                  </a:ext>
                </a:extLst>
              </p:cNvPr>
              <p:cNvSpPr txBox="1"/>
              <p:nvPr/>
            </p:nvSpPr>
            <p:spPr>
              <a:xfrm>
                <a:off x="1078634" y="5725369"/>
                <a:ext cx="3902869" cy="517706"/>
              </a:xfrm>
              <a:prstGeom prst="rect">
                <a:avLst/>
              </a:prstGeom>
              <a:noFill/>
            </p:spPr>
            <p:txBody>
              <a:bodyPr wrap="square">
                <a:spAutoFit/>
              </a:bodyPr>
              <a:lstStyle/>
              <a:p>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oMath>
                  </m:oMathPara>
                </a14:m>
                <a:endParaRPr lang="en-US" dirty="0"/>
              </a:p>
            </p:txBody>
          </p:sp>
        </mc:Choice>
        <mc:Fallback>
          <p:sp>
            <p:nvSpPr>
              <p:cNvPr id="5" name="CaixaDeTexto 4">
                <a:extLst>
                  <a:ext uri="{FF2B5EF4-FFF2-40B4-BE49-F238E27FC236}">
                    <a16:creationId xmlns:a16="http://schemas.microsoft.com/office/drawing/2014/main" id="{E3CE4F74-23B7-AB00-959C-7F819D4053F1}"/>
                  </a:ext>
                </a:extLst>
              </p:cNvPr>
              <p:cNvSpPr txBox="1">
                <a:spLocks noRot="1" noChangeAspect="1" noMove="1" noResize="1" noEditPoints="1" noAdjustHandles="1" noChangeArrowheads="1" noChangeShapeType="1" noTextEdit="1"/>
              </p:cNvSpPr>
              <p:nvPr/>
            </p:nvSpPr>
            <p:spPr>
              <a:xfrm>
                <a:off x="1078634" y="5725369"/>
                <a:ext cx="3902869" cy="51770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0180605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D2F9DE0-B3FD-2A90-3146-043295CAFDE1}"/>
                  </a:ext>
                </a:extLst>
              </p:cNvPr>
              <p:cNvSpPr>
                <a:spLocks noGrp="1"/>
              </p:cNvSpPr>
              <p:nvPr>
                <p:ph idx="1"/>
              </p:nvPr>
            </p:nvSpPr>
            <p:spPr>
              <a:xfrm>
                <a:off x="5838826" y="1825624"/>
                <a:ext cx="6353174" cy="5032375"/>
              </a:xfrm>
            </p:spPr>
            <p:txBody>
              <a:bodyPr>
                <a:normAutofit/>
              </a:bodyPr>
              <a:lstStyle/>
              <a:p>
                <a:r>
                  <a:rPr lang="pt-BR" b="1" dirty="0">
                    <a:solidFill>
                      <a:schemeClr val="accent2"/>
                    </a:solidFill>
                  </a:rPr>
                  <a:t>Controla</a:t>
                </a:r>
                <a:r>
                  <a:rPr lang="pt-BR" dirty="0"/>
                  <a:t> </a:t>
                </a:r>
                <a:r>
                  <a:rPr lang="pt-BR" b="1" dirty="0">
                    <a:solidFill>
                      <a:srgbClr val="0070C0"/>
                    </a:solidFill>
                  </a:rPr>
                  <a:t>o </a:t>
                </a:r>
                <a:r>
                  <a:rPr lang="pt-BR" b="1" dirty="0">
                    <a:solidFill>
                      <a:srgbClr val="7030A0"/>
                    </a:solidFill>
                  </a:rPr>
                  <a:t>quanto atualizar </a:t>
                </a:r>
                <a:r>
                  <a:rPr lang="pt-BR" b="1" dirty="0">
                    <a:solidFill>
                      <a:srgbClr val="0070C0"/>
                    </a:solidFill>
                  </a:rPr>
                  <a:t>o estado antigo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com uma informação candidata,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𝒊</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b="0" i="0" smtClean="0">
                                        <a:latin typeface="Cambria Math" panose="02040503050406030204" pitchFamily="18" charset="0"/>
                                      </a:rPr>
                                      <m:t>                  </m:t>
                                    </m:r>
                                    <m:r>
                                      <m:rPr>
                                        <m:sty m:val="p"/>
                                      </m:rPr>
                                      <a:rPr lang="pt-BR" sz="2400" b="0" i="0" smtClean="0">
                                        <a:latin typeface="Cambria Math" panose="02040503050406030204" pitchFamily="18" charset="0"/>
                                      </a:rPr>
                                      <m:t>sem</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atualiza</m:t>
                                    </m:r>
                                    <m:r>
                                      <a:rPr lang="pt-BR" sz="2400" b="0" i="0" smtClean="0">
                                        <a:latin typeface="Cambria Math" panose="02040503050406030204" pitchFamily="18" charset="0"/>
                                      </a:rPr>
                                      <m:t>çã</m:t>
                                    </m:r>
                                    <m:r>
                                      <m:rPr>
                                        <m:sty m:val="p"/>
                                      </m:rPr>
                                      <a:rPr lang="pt-BR" sz="2400" b="0" i="0" smtClean="0">
                                        <a:latin typeface="Cambria Math" panose="02040503050406030204" pitchFamily="18" charset="0"/>
                                      </a:rPr>
                                      <m:t>o</m:t>
                                    </m:r>
                                  </m:e>
                                </m:mr>
                              </m:m>
                              <m:r>
                                <a:rPr lang="pt-BR" sz="2400" b="0" i="1" smtClean="0">
                                  <a:latin typeface="Cambria Math" panose="02040503050406030204" pitchFamily="18" charset="0"/>
                                </a:rPr>
                                <m:t>         </m:t>
                              </m:r>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b="0" i="0" smtClean="0">
                                        <a:latin typeface="Cambria Math" panose="02040503050406030204" pitchFamily="18" charset="0"/>
                                      </a:rPr>
                                      <m:t>atualiza</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 </m:t>
                                        </m:r>
                                        <m:r>
                                          <a:rPr lang="pt-BR" sz="2400" b="1" i="1">
                                            <a:latin typeface="Cambria Math" panose="02040503050406030204" pitchFamily="18" charset="0"/>
                                          </a:rPr>
                                          <m:t>𝒄</m:t>
                                        </m:r>
                                      </m:e>
                                      <m:sub>
                                        <m:r>
                                          <a:rPr lang="pt-BR" sz="2400" i="1">
                                            <a:latin typeface="Cambria Math" panose="02040503050406030204" pitchFamily="18" charset="0"/>
                                          </a:rPr>
                                          <m:t>𝑡</m:t>
                                        </m:r>
                                        <m:r>
                                          <a:rPr lang="pt-BR" sz="2400" i="1">
                                            <a:latin typeface="Cambria Math" panose="02040503050406030204" pitchFamily="18" charset="0"/>
                                          </a:rPr>
                                          <m:t>−1</m:t>
                                        </m:r>
                                      </m:sub>
                                    </m:sSub>
                                    <m:r>
                                      <a:rPr lang="pt-BR" sz="2400" b="0" i="1" smtClean="0">
                                        <a:latin typeface="Cambria Math" panose="02040503050406030204" pitchFamily="18" charset="0"/>
                                      </a:rPr>
                                      <m:t> </m:t>
                                    </m:r>
                                    <m:r>
                                      <m:rPr>
                                        <m:sty m:val="p"/>
                                      </m:rPr>
                                      <a:rPr lang="pt-BR" sz="2400" b="0" i="0" smtClean="0">
                                        <a:latin typeface="Cambria Math" panose="02040503050406030204" pitchFamily="18" charset="0"/>
                                      </a:rPr>
                                      <m:t>com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 </m:t>
                                        </m:r>
                                        <m:acc>
                                          <m:accPr>
                                            <m:chr m:val="̃"/>
                                            <m:ctrlPr>
                                              <a:rPr lang="pt-BR" sz="2400" b="1" i="1" smtClean="0">
                                                <a:latin typeface="Cambria Math" panose="02040503050406030204" pitchFamily="18" charset="0"/>
                                              </a:rPr>
                                            </m:ctrlPr>
                                          </m:accPr>
                                          <m:e>
                                            <m:r>
                                              <a:rPr lang="pt-BR" sz="2400" b="1" i="1" smtClean="0">
                                                <a:latin typeface="Cambria Math" panose="02040503050406030204" pitchFamily="18" charset="0"/>
                                              </a:rPr>
                                              <m:t>𝒄</m:t>
                                            </m:r>
                                          </m:e>
                                        </m:acc>
                                      </m:e>
                                      <m:sub>
                                        <m:r>
                                          <a:rPr lang="pt-BR" sz="2400" i="1">
                                            <a:latin typeface="Cambria Math" panose="02040503050406030204" pitchFamily="18" charset="0"/>
                                          </a:rPr>
                                          <m:t>𝑡</m:t>
                                        </m:r>
                                      </m:sub>
                                    </m:sSub>
                                  </m:e>
                                </m:mr>
                              </m:m>
                            </m:e>
                          </m:eqArr>
                        </m:e>
                      </m:d>
                    </m:oMath>
                  </m:oMathPara>
                </a14:m>
                <a:endParaRPr lang="pt-BR" sz="2000" dirty="0"/>
              </a:p>
              <a:p>
                <a:r>
                  <a:rPr lang="pt-BR" dirty="0"/>
                  <a:t>No exemplo da predição da próxima palavra:</a:t>
                </a:r>
              </a:p>
              <a:p>
                <a:pPr lvl="1">
                  <a:buFont typeface="Wingdings" panose="05000000000000000000" pitchFamily="2" charset="2"/>
                  <a:buChar char="§"/>
                </a:pPr>
                <a:r>
                  <a:rPr lang="pt-BR" b="1" dirty="0">
                    <a:solidFill>
                      <a:schemeClr val="accent1"/>
                    </a:solidFill>
                  </a:rPr>
                  <a:t>Guarda</a:t>
                </a:r>
                <a:r>
                  <a:rPr lang="pt-BR" dirty="0"/>
                  <a:t> a informação do </a:t>
                </a:r>
                <a:r>
                  <a:rPr lang="pt-BR" b="1" dirty="0">
                    <a:solidFill>
                      <a:srgbClr val="7030A0"/>
                    </a:solidFill>
                  </a:rPr>
                  <a:t>gênero do novo sujeito</a:t>
                </a:r>
                <a:r>
                  <a:rPr lang="pt-BR" dirty="0"/>
                  <a:t> da frase no </a:t>
                </a:r>
                <a:r>
                  <a:rPr lang="pt-BR" b="1" dirty="0">
                    <a:solidFill>
                      <a:schemeClr val="accent1"/>
                    </a:solidFill>
                  </a:rPr>
                  <a:t>estado de longo prazo</a:t>
                </a:r>
                <a:r>
                  <a:rPr lang="pt-BR" dirty="0"/>
                  <a:t> da célula, </a:t>
                </a:r>
                <a:r>
                  <a:rPr lang="pt-BR" b="1" dirty="0">
                    <a:solidFill>
                      <a:srgbClr val="00B050"/>
                    </a:solidFill>
                  </a:rPr>
                  <a:t>substituindo o que foi esquecido</a:t>
                </a:r>
                <a:r>
                  <a:rPr lang="pt-BR" dirty="0"/>
                  <a:t>.</a:t>
                </a:r>
                <a:endParaRPr lang="en-US" dirty="0"/>
              </a:p>
            </p:txBody>
          </p:sp>
        </mc:Choice>
        <mc:Fallback>
          <p:sp>
            <p:nvSpPr>
              <p:cNvPr id="3" name="Content Placeholder 2">
                <a:extLst>
                  <a:ext uri="{FF2B5EF4-FFF2-40B4-BE49-F238E27FC236}">
                    <a16:creationId xmlns:a16="http://schemas.microsoft.com/office/drawing/2014/main"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a:blip r:embed="rId3"/>
                <a:stretch>
                  <a:fillRect l="-1727" t="-1937" r="-96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mc:AlternateContent xmlns:mc="http://schemas.openxmlformats.org/markup-compatibility/2006">
        <mc:Choice xmlns:a14="http://schemas.microsoft.com/office/drawing/2010/main" Requires="a14">
          <p:sp>
            <p:nvSpPr>
              <p:cNvPr id="6" name="CaixaDeTexto 5">
                <a:extLst>
                  <a:ext uri="{FF2B5EF4-FFF2-40B4-BE49-F238E27FC236}">
                    <a16:creationId xmlns:a16="http://schemas.microsoft.com/office/drawing/2014/main" id="{E6E4B8B6-BD98-8A12-0213-C7C8603C4996}"/>
                  </a:ext>
                </a:extLst>
              </p:cNvPr>
              <p:cNvSpPr txBox="1"/>
              <p:nvPr/>
            </p:nvSpPr>
            <p:spPr>
              <a:xfrm>
                <a:off x="467441" y="5730008"/>
                <a:ext cx="4771254" cy="830997"/>
              </a:xfrm>
              <a:prstGeom prst="rect">
                <a:avLst/>
              </a:prstGeom>
              <a:noFill/>
            </p:spPr>
            <p:txBody>
              <a:bodyPr wrap="square">
                <a:spAutoFit/>
              </a:bodyPr>
              <a:lstStyle/>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oMath>
                  </m:oMathPara>
                </a14:m>
                <a:endParaRPr lang="pt-BR" sz="2400" noProof="0" dirty="0"/>
              </a:p>
              <a:p>
                <a14:m>
                  <m:oMathPara xmlns:m="http://schemas.openxmlformats.org/officeDocument/2006/math">
                    <m:oMath>
                      <m:sSub>
                        <m:sSubPr>
                          <m:ctrlPr>
                            <a:rPr lang="pt-BR" sz="2400" b="1" i="1">
                              <a:latin typeface="Cambria Math" panose="02040503050406030204" pitchFamily="18" charset="0"/>
                            </a:rPr>
                          </m:ctrlPr>
                        </m:sSubPr>
                        <m:e>
                          <m:acc>
                            <m:accPr>
                              <m:chr m:val="̃"/>
                              <m:ctrlPr>
                                <a:rPr lang="pt-BR" sz="2400" b="1" i="1">
                                  <a:latin typeface="Cambria Math" panose="02040503050406030204" pitchFamily="18" charset="0"/>
                                </a:rPr>
                              </m:ctrlPr>
                            </m:accPr>
                            <m:e>
                              <m:r>
                                <a:rPr lang="pt-BR" sz="2400" b="1" i="1">
                                  <a:latin typeface="Cambria Math" panose="02040503050406030204" pitchFamily="18" charset="0"/>
                                </a:rPr>
                                <m:t>𝒄</m:t>
                              </m:r>
                            </m:e>
                          </m:acc>
                        </m:e>
                        <m:sub>
                          <m:r>
                            <a:rPr lang="pt-BR" sz="2400" i="1">
                              <a:latin typeface="Cambria Math" panose="02040503050406030204" pitchFamily="18" charset="0"/>
                            </a:rPr>
                            <m:t>𝑡</m:t>
                          </m:r>
                        </m:sub>
                      </m:sSub>
                      <m:r>
                        <a:rPr lang="pt-BR" sz="2400" i="1">
                          <a:latin typeface="Cambria Math" panose="02040503050406030204" pitchFamily="18" charset="0"/>
                        </a:rPr>
                        <m:t>=</m:t>
                      </m:r>
                      <m:func>
                        <m:funcPr>
                          <m:ctrlPr>
                            <a:rPr lang="pt-BR" sz="2400">
                              <a:latin typeface="Cambria Math" panose="02040503050406030204" pitchFamily="18" charset="0"/>
                            </a:rPr>
                          </m:ctrlPr>
                        </m:funcPr>
                        <m:fName>
                          <m:r>
                            <m:rPr>
                              <m:sty m:val="p"/>
                            </m:rPr>
                            <a:rPr lang="pt-BR" sz="2400">
                              <a:latin typeface="Cambria Math" panose="02040503050406030204" pitchFamily="18" charset="0"/>
                            </a:rPr>
                            <m:t>tanh</m:t>
                          </m:r>
                        </m:fName>
                        <m:e>
                          <m:d>
                            <m:dPr>
                              <m:ctrlPr>
                                <a:rPr lang="pt-BR" sz="2400" b="1" i="1">
                                  <a:latin typeface="Cambria Math" panose="02040503050406030204" pitchFamily="18" charset="0"/>
                                  <a:ea typeface="Cambria Math" panose="02040503050406030204" pitchFamily="18" charset="0"/>
                                </a:rPr>
                              </m:ctrlPr>
                            </m:dPr>
                            <m:e>
                              <m:d>
                                <m:dPr>
                                  <m:begChr m:val="["/>
                                  <m:endChr m:val="]"/>
                                  <m:ctrlPr>
                                    <a:rPr lang="pt-BR" sz="2400" b="1" i="1">
                                      <a:latin typeface="Cambria Math" panose="02040503050406030204" pitchFamily="18" charset="0"/>
                                      <a:ea typeface="Cambria Math" panose="02040503050406030204" pitchFamily="18" charset="0"/>
                                    </a:rPr>
                                  </m:ctrlPr>
                                </m:dPr>
                                <m:e>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𝒉</m:t>
                                      </m:r>
                                    </m:e>
                                    <m:sub>
                                      <m:r>
                                        <a:rPr lang="pt-BR" sz="2400" i="1">
                                          <a:latin typeface="Cambria Math" panose="02040503050406030204" pitchFamily="18" charset="0"/>
                                          <a:ea typeface="Cambria Math" panose="02040503050406030204" pitchFamily="18" charset="0"/>
                                        </a:rPr>
                                        <m:t>𝑡</m:t>
                                      </m:r>
                                      <m:r>
                                        <a:rPr lang="pt-BR" sz="2400" i="1">
                                          <a:latin typeface="Cambria Math" panose="02040503050406030204" pitchFamily="18" charset="0"/>
                                          <a:ea typeface="Cambria Math" panose="02040503050406030204" pitchFamily="18" charset="0"/>
                                        </a:rPr>
                                        <m:t>−1</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𝒙</m:t>
                                      </m:r>
                                    </m:e>
                                    <m:sub>
                                      <m:r>
                                        <a:rPr lang="pt-BR" sz="2400" i="1">
                                          <a:latin typeface="Cambria Math" panose="02040503050406030204" pitchFamily="18" charset="0"/>
                                          <a:ea typeface="Cambria Math" panose="02040503050406030204" pitchFamily="18" charset="0"/>
                                        </a:rPr>
                                        <m:t>𝑡</m:t>
                                      </m:r>
                                    </m:sub>
                                  </m:sSub>
                                </m:e>
                              </m:d>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𝑾</m:t>
                                  </m:r>
                                </m:e>
                                <m:sub>
                                  <m:r>
                                    <a:rPr lang="pt-BR" sz="2400" i="1">
                                      <a:latin typeface="Cambria Math" panose="02040503050406030204" pitchFamily="18" charset="0"/>
                                      <a:ea typeface="Cambria Math" panose="02040503050406030204" pitchFamily="18" charset="0"/>
                                    </a:rPr>
                                    <m:t>𝑐</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𝒃</m:t>
                                  </m:r>
                                </m:e>
                                <m:sub>
                                  <m:r>
                                    <a:rPr lang="pt-BR" sz="2400" i="1">
                                      <a:latin typeface="Cambria Math" panose="02040503050406030204" pitchFamily="18" charset="0"/>
                                      <a:ea typeface="Cambria Math" panose="02040503050406030204" pitchFamily="18" charset="0"/>
                                    </a:rPr>
                                    <m:t>𝑐</m:t>
                                  </m:r>
                                </m:sub>
                              </m:sSub>
                            </m:e>
                          </m:d>
                        </m:e>
                      </m:func>
                    </m:oMath>
                  </m:oMathPara>
                </a14:m>
                <a:endParaRPr lang="pt-BR" sz="2400" noProof="0" dirty="0"/>
              </a:p>
            </p:txBody>
          </p:sp>
        </mc:Choice>
        <mc:Fallback>
          <p:sp>
            <p:nvSpPr>
              <p:cNvPr id="6" name="CaixaDeTexto 5">
                <a:extLst>
                  <a:ext uri="{FF2B5EF4-FFF2-40B4-BE49-F238E27FC236}">
                    <a16:creationId xmlns:a16="http://schemas.microsoft.com/office/drawing/2014/main" id="{E6E4B8B6-BD98-8A12-0213-C7C8603C4996}"/>
                  </a:ext>
                </a:extLst>
              </p:cNvPr>
              <p:cNvSpPr txBox="1">
                <a:spLocks noRot="1" noChangeAspect="1" noMove="1" noResize="1" noEditPoints="1" noAdjustHandles="1" noChangeArrowheads="1" noChangeShapeType="1" noTextEdit="1"/>
              </p:cNvSpPr>
              <p:nvPr/>
            </p:nvSpPr>
            <p:spPr>
              <a:xfrm>
                <a:off x="467441" y="5730008"/>
                <a:ext cx="4771254" cy="83099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639337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7D1F2-6CA4-20EA-CC21-706A3BBFA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A65D47D-498E-037A-E3AD-6F97600C32A6}"/>
                  </a:ext>
                </a:extLst>
              </p:cNvPr>
              <p:cNvSpPr>
                <a:spLocks noGrp="1"/>
              </p:cNvSpPr>
              <p:nvPr>
                <p:ph idx="1"/>
              </p:nvPr>
            </p:nvSpPr>
            <p:spPr>
              <a:xfrm>
                <a:off x="5514975" y="1825624"/>
                <a:ext cx="6677026" cy="5032375"/>
              </a:xfrm>
            </p:spPr>
            <p:txBody>
              <a:bodyPr>
                <a:normAutofit/>
              </a:bodyPr>
              <a:lstStyle/>
              <a:p>
                <a:r>
                  <a:rPr lang="pt-BR" noProof="0" dirty="0"/>
                  <a:t>Controla </a:t>
                </a:r>
                <a:r>
                  <a:rPr lang="pt-BR" b="1" noProof="0" dirty="0">
                    <a:solidFill>
                      <a:srgbClr val="00B0F0"/>
                    </a:solidFill>
                  </a:rPr>
                  <a:t>o quanto expor </a:t>
                </a:r>
                <a:r>
                  <a:rPr lang="pt-BR" noProof="0" dirty="0"/>
                  <a:t>da versão comprimida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na saída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a:t>
                </a:r>
              </a:p>
              <a:p>
                <a:pPr marL="0" indent="0">
                  <a:buNone/>
                </a:pPr>
                <a14:m>
                  <m:oMathPara xmlns:m="http://schemas.openxmlformats.org/officeDocument/2006/math">
                    <m:o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𝒐</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d>
                        <m:dPr>
                          <m:begChr m:val="{"/>
                          <m:endChr m:val=""/>
                          <m:ctrlPr>
                            <a:rPr lang="pt-BR" sz="2400" i="1" noProof="0">
                              <a:latin typeface="Cambria Math" panose="02040503050406030204" pitchFamily="18" charset="0"/>
                            </a:rPr>
                          </m:ctrlPr>
                        </m:dPr>
                        <m:e>
                          <m:eqArr>
                            <m:eqArrPr>
                              <m:ctrlPr>
                                <a:rPr lang="pt-BR" sz="2400" i="1" noProof="0">
                                  <a:latin typeface="Cambria Math" panose="02040503050406030204" pitchFamily="18" charset="0"/>
                                </a:rPr>
                              </m:ctrlPr>
                            </m:eqArrPr>
                            <m:e>
                              <m:m>
                                <m:mPr>
                                  <m:mcs>
                                    <m:mc>
                                      <m:mcPr>
                                        <m:count m:val="2"/>
                                        <m:mcJc m:val="center"/>
                                      </m:mcPr>
                                    </m:mc>
                                  </m:mcs>
                                  <m:ctrlPr>
                                    <a:rPr lang="pt-BR" sz="2400" i="1" noProof="0">
                                      <a:latin typeface="Cambria Math" panose="02040503050406030204" pitchFamily="18" charset="0"/>
                                    </a:rPr>
                                  </m:ctrlPr>
                                </m:mPr>
                                <m:mr>
                                  <m:e>
                                    <m:r>
                                      <m:rPr>
                                        <m:brk m:alnAt="7"/>
                                      </m:rPr>
                                      <a:rPr lang="pt-BR" sz="2400" b="1" i="1" noProof="0">
                                        <a:latin typeface="Cambria Math" panose="02040503050406030204" pitchFamily="18" charset="0"/>
                                      </a:rPr>
                                      <m:t>𝟎</m:t>
                                    </m:r>
                                    <m:r>
                                      <a:rPr lang="pt-BR" sz="2400" i="1" noProof="0">
                                        <a:latin typeface="Cambria Math" panose="02040503050406030204" pitchFamily="18" charset="0"/>
                                      </a:rPr>
                                      <m:t>,</m:t>
                                    </m:r>
                                  </m:e>
                                  <m:e>
                                    <m:r>
                                      <a:rPr lang="pt-BR" sz="2400" noProof="0">
                                        <a:latin typeface="Cambria Math" panose="02040503050406030204" pitchFamily="18" charset="0"/>
                                      </a:rPr>
                                      <m:t>                                  </m:t>
                                    </m:r>
                                    <m:r>
                                      <m:rPr>
                                        <m:sty m:val="p"/>
                                      </m:rPr>
                                      <a:rPr lang="pt-BR" sz="2400" noProof="0">
                                        <a:latin typeface="Cambria Math" panose="02040503050406030204" pitchFamily="18" charset="0"/>
                                      </a:rPr>
                                      <m:t>sem</m:t>
                                    </m:r>
                                    <m:r>
                                      <a:rPr lang="pt-BR" sz="2400" noProof="0">
                                        <a:latin typeface="Cambria Math" panose="02040503050406030204" pitchFamily="18" charset="0"/>
                                      </a:rPr>
                                      <m:t> </m:t>
                                    </m:r>
                                    <m:r>
                                      <m:rPr>
                                        <m:sty m:val="p"/>
                                      </m:rPr>
                                      <a:rPr lang="pt-BR" sz="2400" noProof="0">
                                        <a:latin typeface="Cambria Math" panose="02040503050406030204" pitchFamily="18" charset="0"/>
                                      </a:rPr>
                                      <m:t>sa</m:t>
                                    </m:r>
                                    <m:r>
                                      <a:rPr lang="pt-BR" sz="2400" noProof="0">
                                        <a:latin typeface="Cambria Math" panose="02040503050406030204" pitchFamily="18" charset="0"/>
                                      </a:rPr>
                                      <m:t>í</m:t>
                                    </m:r>
                                    <m:r>
                                      <m:rPr>
                                        <m:sty m:val="p"/>
                                      </m:rPr>
                                      <a:rPr lang="pt-BR" sz="2400" noProof="0">
                                        <a:latin typeface="Cambria Math" panose="02040503050406030204" pitchFamily="18" charset="0"/>
                                      </a:rPr>
                                      <m:t>da</m:t>
                                    </m:r>
                                    <m:r>
                                      <a:rPr lang="pt-BR" sz="2400" b="1" i="1" noProof="0" smtClean="0">
                                        <a:latin typeface="Cambria Math" panose="02040503050406030204" pitchFamily="18" charset="0"/>
                                      </a:rPr>
                                      <m:t> </m:t>
                                    </m:r>
                                  </m:e>
                                </m:mr>
                              </m:m>
                            </m:e>
                            <m:e>
                              <m:m>
                                <m:mPr>
                                  <m:mcs>
                                    <m:mc>
                                      <m:mcPr>
                                        <m:count m:val="2"/>
                                        <m:mcJc m:val="center"/>
                                      </m:mcPr>
                                    </m:mc>
                                  </m:mcs>
                                  <m:ctrlPr>
                                    <a:rPr lang="pt-BR" sz="2400" i="1" noProof="0">
                                      <a:latin typeface="Cambria Math" panose="02040503050406030204" pitchFamily="18" charset="0"/>
                                    </a:rPr>
                                  </m:ctrlPr>
                                </m:mPr>
                                <m:mr>
                                  <m:e>
                                    <m:r>
                                      <m:rPr>
                                        <m:brk m:alnAt="7"/>
                                      </m:rPr>
                                      <a:rPr lang="pt-BR" sz="2400" b="1" i="1" noProof="0">
                                        <a:latin typeface="Cambria Math" panose="02040503050406030204" pitchFamily="18" charset="0"/>
                                      </a:rPr>
                                      <m:t>𝟏</m:t>
                                    </m:r>
                                    <m:r>
                                      <a:rPr lang="pt-BR" sz="2400" i="1" noProof="0">
                                        <a:latin typeface="Cambria Math" panose="02040503050406030204" pitchFamily="18" charset="0"/>
                                      </a:rPr>
                                      <m:t>,</m:t>
                                    </m:r>
                                  </m:e>
                                  <m:e>
                                    <m:r>
                                      <a:rPr lang="pt-BR" sz="2400" i="1" noProof="0">
                                        <a:latin typeface="Cambria Math" panose="02040503050406030204" pitchFamily="18" charset="0"/>
                                      </a:rPr>
                                      <m:t>          </m:t>
                                    </m:r>
                                    <m:r>
                                      <m:rPr>
                                        <m:sty m:val="p"/>
                                      </m:rPr>
                                      <a:rPr lang="pt-BR" sz="2400" noProof="0">
                                        <a:latin typeface="Cambria Math" panose="02040503050406030204" pitchFamily="18" charset="0"/>
                                      </a:rPr>
                                      <m:t>passa</m:t>
                                    </m:r>
                                    <m:r>
                                      <a:rPr lang="pt-BR" sz="2400" noProof="0">
                                        <a:latin typeface="Cambria Math" panose="02040503050406030204" pitchFamily="18" charset="0"/>
                                      </a:rPr>
                                      <m:t> 100% </m:t>
                                    </m:r>
                                    <m:r>
                                      <m:rPr>
                                        <m:sty m:val="p"/>
                                      </m:rPr>
                                      <a:rPr lang="pt-BR" sz="2400" noProof="0">
                                        <a:latin typeface="Cambria Math" panose="02040503050406030204" pitchFamily="18" charset="0"/>
                                      </a:rPr>
                                      <m:t>do</m:t>
                                    </m:r>
                                    <m:r>
                                      <a:rPr lang="pt-BR" sz="2400" noProof="0">
                                        <a:latin typeface="Cambria Math" panose="02040503050406030204" pitchFamily="18" charset="0"/>
                                      </a:rPr>
                                      <m:t> </m:t>
                                    </m:r>
                                    <m:r>
                                      <m:rPr>
                                        <m:sty m:val="p"/>
                                      </m:rPr>
                                      <a:rPr lang="pt-BR" sz="2400" noProof="0">
                                        <a:latin typeface="Cambria Math" panose="02040503050406030204" pitchFamily="18" charset="0"/>
                                      </a:rPr>
                                      <m:t>estado</m:t>
                                    </m:r>
                                  </m:e>
                                </m:mr>
                              </m:m>
                            </m:e>
                          </m:eqArr>
                        </m:e>
                      </m:d>
                    </m:oMath>
                  </m:oMathPara>
                </a14:m>
                <a:endParaRPr lang="pt-BR" sz="2000" noProof="0" dirty="0"/>
              </a:p>
              <a:p>
                <a:r>
                  <a:rPr lang="pt-BR" noProof="0" dirty="0"/>
                  <a:t>No exemplo da predição da próxima palavra:</a:t>
                </a:r>
              </a:p>
              <a:p>
                <a:pPr lvl="1">
                  <a:buFont typeface="Wingdings" panose="05000000000000000000" pitchFamily="2" charset="2"/>
                  <a:buChar char="§"/>
                </a:pPr>
                <a:r>
                  <a:rPr lang="pt-BR" noProof="0" dirty="0"/>
                  <a:t>Durante as palavras do meio, a </a:t>
                </a:r>
                <a:r>
                  <a:rPr lang="pt-BR" b="1" noProof="0" dirty="0">
                    <a:solidFill>
                      <a:schemeClr val="accent2"/>
                    </a:solidFill>
                  </a:rPr>
                  <a:t>informação do sujeito fica guardada e não interfere </a:t>
                </a:r>
                <a:r>
                  <a:rPr lang="pt-BR" noProof="0" dirty="0"/>
                  <a:t>no processamento delas. </a:t>
                </a:r>
              </a:p>
              <a:p>
                <a:pPr lvl="1">
                  <a:buFont typeface="Wingdings" panose="05000000000000000000" pitchFamily="2" charset="2"/>
                  <a:buChar char="§"/>
                </a:pPr>
                <a:r>
                  <a:rPr lang="pt-BR" noProof="0" dirty="0"/>
                  <a:t>Ela só é </a:t>
                </a:r>
                <a:r>
                  <a:rPr lang="pt-BR" b="1" noProof="0" dirty="0">
                    <a:solidFill>
                      <a:srgbClr val="00B050"/>
                    </a:solidFill>
                  </a:rPr>
                  <a:t>exposta quando um verbo é processado</a:t>
                </a:r>
                <a:r>
                  <a:rPr lang="pt-BR" b="1" dirty="0">
                    <a:solidFill>
                      <a:srgbClr val="00B050"/>
                    </a:solidFill>
                  </a:rPr>
                  <a:t> </a:t>
                </a:r>
                <a:r>
                  <a:rPr lang="pt-BR" dirty="0"/>
                  <a:t>e a </a:t>
                </a:r>
                <a:r>
                  <a:rPr lang="pt-BR" b="1" dirty="0">
                    <a:solidFill>
                      <a:srgbClr val="7030A0"/>
                    </a:solidFill>
                  </a:rPr>
                  <a:t>informação o sujeito deve ser usada</a:t>
                </a:r>
                <a:r>
                  <a:rPr lang="pt-BR" dirty="0"/>
                  <a:t> no próximo instante de tempo </a:t>
                </a:r>
                <a:r>
                  <a:rPr lang="pt-BR" b="1" dirty="0">
                    <a:solidFill>
                      <a:srgbClr val="7030A0"/>
                    </a:solidFill>
                  </a:rPr>
                  <a:t>para</a:t>
                </a:r>
                <a:r>
                  <a:rPr lang="pt-BR" b="1" noProof="0" dirty="0">
                    <a:solidFill>
                      <a:srgbClr val="7030A0"/>
                    </a:solidFill>
                  </a:rPr>
                  <a:t> conjugar o verbo</a:t>
                </a:r>
                <a:r>
                  <a:rPr lang="pt-BR" noProof="0" dirty="0"/>
                  <a:t> corretamente.</a:t>
                </a:r>
              </a:p>
            </p:txBody>
          </p:sp>
        </mc:Choice>
        <mc:Fallback>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514975" y="1825624"/>
                <a:ext cx="6677026" cy="5032375"/>
              </a:xfrm>
              <a:blipFill>
                <a:blip r:embed="rId3"/>
                <a:stretch>
                  <a:fillRect l="-1644" t="-1937" r="-731" b="-484"/>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91C409A5-CDD8-0D53-406F-0AE1480763A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7788" y="2211559"/>
            <a:ext cx="5131773" cy="3161638"/>
          </a:xfrm>
          <a:prstGeom prst="rect">
            <a:avLst/>
          </a:prstGeom>
        </p:spPr>
      </p:pic>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E87B2AEB-4226-92C9-9EC1-CD1283680334}"/>
                  </a:ext>
                </a:extLst>
              </p:cNvPr>
              <p:cNvSpPr txBox="1"/>
              <p:nvPr/>
            </p:nvSpPr>
            <p:spPr>
              <a:xfrm>
                <a:off x="838200" y="5478569"/>
                <a:ext cx="4033837" cy="830997"/>
              </a:xfrm>
              <a:prstGeom prst="rect">
                <a:avLst/>
              </a:prstGeom>
              <a:noFill/>
            </p:spPr>
            <p:txBody>
              <a:bodyPr wrap="square">
                <a:spAutoFit/>
              </a:bodyPr>
              <a:lstStyle/>
              <a:p>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𝒐</m:t>
                          </m:r>
                        </m:e>
                        <m:sub>
                          <m:r>
                            <a:rPr lang="pt-BR" sz="2400" i="1">
                              <a:latin typeface="Cambria Math" panose="02040503050406030204" pitchFamily="18" charset="0"/>
                            </a:rPr>
                            <m:t>𝑡</m:t>
                          </m:r>
                        </m:sub>
                      </m:sSub>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𝜎</m:t>
                      </m:r>
                      <m:d>
                        <m:dPr>
                          <m:ctrlPr>
                            <a:rPr lang="pt-BR" sz="2400" b="1" i="1">
                              <a:latin typeface="Cambria Math" panose="02040503050406030204" pitchFamily="18" charset="0"/>
                              <a:ea typeface="Cambria Math" panose="02040503050406030204" pitchFamily="18" charset="0"/>
                            </a:rPr>
                          </m:ctrlPr>
                        </m:dPr>
                        <m:e>
                          <m:d>
                            <m:dPr>
                              <m:begChr m:val="["/>
                              <m:endChr m:val="]"/>
                              <m:ctrlPr>
                                <a:rPr lang="pt-BR" sz="2400" b="1" i="1">
                                  <a:latin typeface="Cambria Math" panose="02040503050406030204" pitchFamily="18" charset="0"/>
                                  <a:ea typeface="Cambria Math" panose="02040503050406030204" pitchFamily="18" charset="0"/>
                                </a:rPr>
                              </m:ctrlPr>
                            </m:dPr>
                            <m:e>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𝒉</m:t>
                                  </m:r>
                                </m:e>
                                <m:sub>
                                  <m:r>
                                    <a:rPr lang="pt-BR" sz="2400" i="1">
                                      <a:latin typeface="Cambria Math" panose="02040503050406030204" pitchFamily="18" charset="0"/>
                                      <a:ea typeface="Cambria Math" panose="02040503050406030204" pitchFamily="18" charset="0"/>
                                    </a:rPr>
                                    <m:t>𝑡</m:t>
                                  </m:r>
                                  <m:r>
                                    <a:rPr lang="pt-BR" sz="2400" i="1">
                                      <a:latin typeface="Cambria Math" panose="02040503050406030204" pitchFamily="18" charset="0"/>
                                      <a:ea typeface="Cambria Math" panose="02040503050406030204" pitchFamily="18" charset="0"/>
                                    </a:rPr>
                                    <m:t>−1</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𝒙</m:t>
                                  </m:r>
                                </m:e>
                                <m:sub>
                                  <m:r>
                                    <a:rPr lang="pt-BR" sz="2400" i="1">
                                      <a:latin typeface="Cambria Math" panose="02040503050406030204" pitchFamily="18" charset="0"/>
                                      <a:ea typeface="Cambria Math" panose="02040503050406030204" pitchFamily="18" charset="0"/>
                                    </a:rPr>
                                    <m:t>𝑡</m:t>
                                  </m:r>
                                </m:sub>
                              </m:sSub>
                            </m:e>
                          </m:d>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𝑾</m:t>
                              </m:r>
                            </m:e>
                            <m:sub>
                              <m:r>
                                <a:rPr lang="pt-BR" sz="2400" b="0" i="1" smtClean="0">
                                  <a:latin typeface="Cambria Math" panose="02040503050406030204" pitchFamily="18" charset="0"/>
                                  <a:ea typeface="Cambria Math" panose="02040503050406030204" pitchFamily="18" charset="0"/>
                                </a:rPr>
                                <m:t>𝑜</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𝒃</m:t>
                              </m:r>
                            </m:e>
                            <m:sub>
                              <m:r>
                                <a:rPr lang="pt-BR" sz="2400" b="0" i="1" smtClean="0">
                                  <a:latin typeface="Cambria Math" panose="02040503050406030204" pitchFamily="18" charset="0"/>
                                  <a:ea typeface="Cambria Math" panose="02040503050406030204" pitchFamily="18" charset="0"/>
                                </a:rPr>
                                <m:t>𝑜</m:t>
                              </m:r>
                            </m:sub>
                          </m:sSub>
                        </m:e>
                      </m:d>
                    </m:oMath>
                  </m:oMathPara>
                </a14:m>
                <a:endParaRPr lang="en-US" sz="2400" dirty="0"/>
              </a:p>
              <a:p>
                <a14:m>
                  <m:oMathPara xmlns:m="http://schemas.openxmlformats.org/officeDocument/2006/math">
                    <m:oMath>
                      <m:sSub>
                        <m:sSubPr>
                          <m:ctrlPr>
                            <a:rPr lang="pt-BR" sz="2400" b="1" i="1">
                              <a:latin typeface="Cambria Math" panose="02040503050406030204" pitchFamily="18" charset="0"/>
                            </a:rPr>
                          </m:ctrlPr>
                        </m:sSubPr>
                        <m:e>
                          <m:r>
                            <a:rPr lang="pt-BR" sz="2400" b="1" i="1">
                              <a:latin typeface="Cambria Math" panose="02040503050406030204" pitchFamily="18" charset="0"/>
                            </a:rPr>
                            <m:t>𝒉</m:t>
                          </m:r>
                        </m:e>
                        <m:sub>
                          <m:r>
                            <a:rPr lang="pt-BR" sz="2400" i="1">
                              <a:latin typeface="Cambria Math" panose="02040503050406030204" pitchFamily="18" charset="0"/>
                            </a:rPr>
                            <m:t>𝑡</m:t>
                          </m:r>
                        </m:sub>
                      </m:sSub>
                      <m:r>
                        <a:rPr lang="pt-BR" sz="2400" i="1">
                          <a:latin typeface="Cambria Math" panose="02040503050406030204" pitchFamily="18" charset="0"/>
                        </a:rPr>
                        <m:t>=</m:t>
                      </m:r>
                      <m:r>
                        <m:rPr>
                          <m:sty m:val="p"/>
                        </m:rPr>
                        <a:rPr lang="pt-BR" sz="2400">
                          <a:latin typeface="Cambria Math" panose="02040503050406030204" pitchFamily="18" charset="0"/>
                        </a:rPr>
                        <m:t>tanh</m:t>
                      </m:r>
                      <m:d>
                        <m:dPr>
                          <m:ctrlPr>
                            <a:rPr lang="pt-BR" sz="2400" b="1" i="1">
                              <a:latin typeface="Cambria Math" panose="02040503050406030204" pitchFamily="18" charset="0"/>
                            </a:rPr>
                          </m:ctrlPr>
                        </m:dPr>
                        <m:e>
                          <m:sSub>
                            <m:sSubPr>
                              <m:ctrlPr>
                                <a:rPr lang="pt-BR" sz="2400" b="1" i="1">
                                  <a:latin typeface="Cambria Math" panose="02040503050406030204" pitchFamily="18" charset="0"/>
                                </a:rPr>
                              </m:ctrlPr>
                            </m:sSubPr>
                            <m:e>
                              <m:r>
                                <a:rPr lang="pt-BR" sz="2400" b="1" i="1">
                                  <a:latin typeface="Cambria Math" panose="02040503050406030204" pitchFamily="18" charset="0"/>
                                </a:rPr>
                                <m:t>𝒄</m:t>
                              </m:r>
                            </m:e>
                            <m:sub>
                              <m:r>
                                <a:rPr lang="pt-BR" sz="2400" i="1">
                                  <a:latin typeface="Cambria Math" panose="02040503050406030204" pitchFamily="18" charset="0"/>
                                </a:rPr>
                                <m:t>𝑡</m:t>
                              </m:r>
                            </m:sub>
                          </m:sSub>
                        </m:e>
                      </m:d>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𝒐</m:t>
                          </m:r>
                        </m:e>
                        <m:sub>
                          <m:r>
                            <a:rPr lang="pt-BR" sz="2400" i="1">
                              <a:latin typeface="Cambria Math" panose="02040503050406030204" pitchFamily="18" charset="0"/>
                            </a:rPr>
                            <m:t>𝑡</m:t>
                          </m:r>
                        </m:sub>
                      </m:sSub>
                    </m:oMath>
                  </m:oMathPara>
                </a14:m>
                <a:endParaRPr lang="pt-BR" sz="2400" dirty="0"/>
              </a:p>
            </p:txBody>
          </p:sp>
        </mc:Choice>
        <mc:Fallback>
          <p:sp>
            <p:nvSpPr>
              <p:cNvPr id="5" name="CaixaDeTexto 4">
                <a:extLst>
                  <a:ext uri="{FF2B5EF4-FFF2-40B4-BE49-F238E27FC236}">
                    <a16:creationId xmlns:a16="http://schemas.microsoft.com/office/drawing/2014/main" id="{E87B2AEB-4226-92C9-9EC1-CD1283680334}"/>
                  </a:ext>
                </a:extLst>
              </p:cNvPr>
              <p:cNvSpPr txBox="1">
                <a:spLocks noRot="1" noChangeAspect="1" noMove="1" noResize="1" noEditPoints="1" noAdjustHandles="1" noChangeArrowheads="1" noChangeShapeType="1" noTextEdit="1"/>
              </p:cNvSpPr>
              <p:nvPr/>
            </p:nvSpPr>
            <p:spPr>
              <a:xfrm>
                <a:off x="838200" y="5478569"/>
                <a:ext cx="4033837" cy="830997"/>
              </a:xfrm>
              <a:prstGeom prst="rect">
                <a:avLst/>
              </a:prstGeom>
              <a:blipFill>
                <a:blip r:embed="rId5"/>
                <a:stretch>
                  <a:fillRect b="-51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CaixaDeTexto 7">
                <a:extLst>
                  <a:ext uri="{FF2B5EF4-FFF2-40B4-BE49-F238E27FC236}">
                    <a16:creationId xmlns:a16="http://schemas.microsoft.com/office/drawing/2014/main" id="{1A6BF39E-FB33-4C8A-B586-BC05CE6043F2}"/>
                  </a:ext>
                </a:extLst>
              </p:cNvPr>
              <p:cNvSpPr txBox="1"/>
              <p:nvPr/>
            </p:nvSpPr>
            <p:spPr>
              <a:xfrm>
                <a:off x="0" y="6596389"/>
                <a:ext cx="3810000" cy="261610"/>
              </a:xfrm>
              <a:prstGeom prst="rect">
                <a:avLst/>
              </a:prstGeom>
              <a:noFill/>
            </p:spPr>
            <p:txBody>
              <a:bodyPr wrap="square">
                <a:spAutoFit/>
              </a:bodyPr>
              <a:lstStyle/>
              <a:p>
                <a:pPr marL="0" indent="0">
                  <a:buNone/>
                </a:pPr>
                <a:r>
                  <a:rPr lang="pt-BR" sz="1100" b="1" noProof="0" dirty="0">
                    <a:ea typeface="Cambria Math" panose="02040503050406030204" pitchFamily="18" charset="0"/>
                  </a:rPr>
                  <a:t>OBS.</a:t>
                </a:r>
                <a:r>
                  <a:rPr lang="pt-BR" sz="1100" noProof="0" dirty="0">
                    <a:ea typeface="Cambria Math" panose="02040503050406030204" pitchFamily="18" charset="0"/>
                  </a:rPr>
                  <a:t>: </a:t>
                </a:r>
                <a14:m>
                  <m:oMath xmlns:m="http://schemas.openxmlformats.org/officeDocument/2006/math">
                    <m:r>
                      <a:rPr lang="pt-BR" sz="1100" i="1" noProof="0" smtClean="0">
                        <a:latin typeface="Cambria Math" panose="02040503050406030204" pitchFamily="18" charset="0"/>
                        <a:ea typeface="Cambria Math" panose="02040503050406030204" pitchFamily="18" charset="0"/>
                      </a:rPr>
                      <m:t>⊙</m:t>
                    </m:r>
                  </m:oMath>
                </a14:m>
                <a:r>
                  <a:rPr lang="pt-BR" sz="1100" noProof="0" dirty="0"/>
                  <a:t> é o operador de multiplicação elemento a elemento.</a:t>
                </a:r>
              </a:p>
            </p:txBody>
          </p:sp>
        </mc:Choice>
        <mc:Fallback>
          <p:sp>
            <p:nvSpPr>
              <p:cNvPr id="8" name="CaixaDeTexto 7">
                <a:extLst>
                  <a:ext uri="{FF2B5EF4-FFF2-40B4-BE49-F238E27FC236}">
                    <a16:creationId xmlns:a16="http://schemas.microsoft.com/office/drawing/2014/main" id="{1A6BF39E-FB33-4C8A-B586-BC05CE6043F2}"/>
                  </a:ext>
                </a:extLst>
              </p:cNvPr>
              <p:cNvSpPr txBox="1">
                <a:spLocks noRot="1" noChangeAspect="1" noMove="1" noResize="1" noEditPoints="1" noAdjustHandles="1" noChangeArrowheads="1" noChangeShapeType="1" noTextEdit="1"/>
              </p:cNvSpPr>
              <p:nvPr/>
            </p:nvSpPr>
            <p:spPr>
              <a:xfrm>
                <a:off x="0" y="6596389"/>
                <a:ext cx="3810000" cy="261610"/>
              </a:xfrm>
              <a:prstGeom prst="rect">
                <a:avLst/>
              </a:prstGeom>
              <a:blipFill>
                <a:blip r:embed="rId6"/>
                <a:stretch>
                  <a:fillRect b="-16279"/>
                </a:stretch>
              </a:blipFill>
            </p:spPr>
            <p:txBody>
              <a:bodyPr/>
              <a:lstStyle/>
              <a:p>
                <a:r>
                  <a:rPr lang="en-US">
                    <a:noFill/>
                  </a:rPr>
                  <a:t> </a:t>
                </a:r>
              </a:p>
            </p:txBody>
          </p:sp>
        </mc:Fallback>
      </mc:AlternateContent>
    </p:spTree>
    <p:extLst>
      <p:ext uri="{BB962C8B-B14F-4D97-AF65-F5344CB8AC3E}">
        <p14:creationId xmlns:p14="http://schemas.microsoft.com/office/powerpoint/2010/main" val="1803388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2FAD1-4DBD-A371-7565-6081A1219F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76E6C-21FE-5575-46B7-F6F5257A089A}"/>
              </a:ext>
            </a:extLst>
          </p:cNvPr>
          <p:cNvSpPr>
            <a:spLocks noGrp="1"/>
          </p:cNvSpPr>
          <p:nvPr>
            <p:ph type="title"/>
          </p:nvPr>
        </p:nvSpPr>
        <p:spPr>
          <a:xfrm>
            <a:off x="838200" y="365125"/>
            <a:ext cx="10744200" cy="1325563"/>
          </a:xfrm>
        </p:spPr>
        <p:txBody>
          <a:bodyPr/>
          <a:lstStyle/>
          <a:p>
            <a:r>
              <a:rPr lang="pt-BR" dirty="0"/>
              <a:t>Vetor de estado de longo prazo</a:t>
            </a:r>
          </a:p>
        </p:txBody>
      </p:sp>
      <mc:AlternateContent xmlns:mc="http://schemas.openxmlformats.org/markup-compatibility/2006">
        <mc:Choice xmlns:a14="http://schemas.microsoft.com/office/drawing/2010/main" Requires="a14">
          <p:sp>
            <p:nvSpPr>
              <p:cNvPr id="8" name="Content Placeholder 7">
                <a:extLst>
                  <a:ext uri="{FF2B5EF4-FFF2-40B4-BE49-F238E27FC236}">
                    <a16:creationId xmlns:a16="http://schemas.microsoft.com/office/drawing/2014/main" id="{7B42820C-05C1-F0F4-4D04-180E61344403}"/>
                  </a:ext>
                </a:extLst>
              </p:cNvPr>
              <p:cNvSpPr>
                <a:spLocks noGrp="1"/>
              </p:cNvSpPr>
              <p:nvPr>
                <p:ph idx="1"/>
              </p:nvPr>
            </p:nvSpPr>
            <p:spPr>
              <a:xfrm>
                <a:off x="838200" y="1825625"/>
                <a:ext cx="11353800" cy="5032376"/>
              </a:xfrm>
            </p:spPr>
            <p:txBody>
              <a:bodyPr>
                <a:normAutofit/>
              </a:bodyPr>
              <a:lstStyle/>
              <a:p>
                <a:pPr/>
                <a:r>
                  <a:rPr lang="pt-BR" sz="2400" dirty="0"/>
                  <a:t>O vetor do estado de longo prazo é formado por dois termos</a:t>
                </a:r>
              </a:p>
              <a:p>
                <a:pPr marL="0" indent="0">
                  <a:buNone/>
                </a:pPr>
                <a:endParaRPr lang="pt-BR" sz="100" b="1" i="1" noProof="0" dirty="0">
                  <a:latin typeface="Cambria Math" panose="02040503050406030204" pitchFamily="18" charset="0"/>
                </a:endParaRPr>
              </a:p>
              <a:p>
                <a:pPr marL="0" indent="0">
                  <a:buNone/>
                </a:pPr>
                <a14:m>
                  <m:oMathPara xmlns:m="http://schemas.openxmlformats.org/officeDocument/2006/math">
                    <m:oMathParaPr>
                      <m:jc m:val="center"/>
                    </m:oMathParaPr>
                    <m:oMath>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𝒄</m:t>
                          </m:r>
                        </m:e>
                        <m:sub>
                          <m:r>
                            <a:rPr lang="pt-BR" sz="2600" i="1" noProof="0">
                              <a:latin typeface="Cambria Math" panose="02040503050406030204" pitchFamily="18" charset="0"/>
                            </a:rPr>
                            <m:t>𝑡</m:t>
                          </m:r>
                        </m:sub>
                      </m:sSub>
                      <m:r>
                        <a:rPr lang="pt-BR" sz="2600" i="1" noProof="0">
                          <a:latin typeface="Cambria Math" panose="02040503050406030204" pitchFamily="18" charset="0"/>
                        </a:rPr>
                        <m:t>=</m:t>
                      </m:r>
                      <m:limLow>
                        <m:limLowPr>
                          <m:ctrlPr>
                            <a:rPr lang="pt-BR" sz="2600" b="1" i="1" noProof="0">
                              <a:latin typeface="Cambria Math" panose="02040503050406030204" pitchFamily="18" charset="0"/>
                            </a:rPr>
                          </m:ctrlPr>
                        </m:limLowPr>
                        <m:e>
                          <m:groupChr>
                            <m:groupChrPr>
                              <m:chr m:val="⏟"/>
                              <m:pos m:val="bot"/>
                              <m:vertJc m:val="top"/>
                              <m:ctrlPr>
                                <a:rPr lang="pt-BR" sz="2600" b="1" i="1" noProof="0">
                                  <a:latin typeface="Cambria Math" panose="02040503050406030204" pitchFamily="18" charset="0"/>
                                </a:rPr>
                              </m:ctrlPr>
                            </m:groupChrPr>
                            <m:e>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𝒇</m:t>
                                  </m:r>
                                </m:e>
                                <m:sub>
                                  <m:r>
                                    <a:rPr lang="pt-BR" sz="2600" i="1" noProof="0">
                                      <a:latin typeface="Cambria Math" panose="02040503050406030204" pitchFamily="18" charset="0"/>
                                    </a:rPr>
                                    <m:t>𝑡</m:t>
                                  </m:r>
                                </m:sub>
                              </m:sSub>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𝒄</m:t>
                                  </m:r>
                                </m:e>
                                <m:sub>
                                  <m:r>
                                    <a:rPr lang="pt-BR" sz="2600" i="1" noProof="0">
                                      <a:latin typeface="Cambria Math" panose="02040503050406030204" pitchFamily="18" charset="0"/>
                                    </a:rPr>
                                    <m:t>𝑡</m:t>
                                  </m:r>
                                  <m:r>
                                    <a:rPr lang="pt-BR" sz="2600" i="1" noProof="0">
                                      <a:latin typeface="Cambria Math" panose="02040503050406030204" pitchFamily="18" charset="0"/>
                                    </a:rPr>
                                    <m:t>−1</m:t>
                                  </m:r>
                                </m:sub>
                              </m:sSub>
                            </m:e>
                          </m:groupChr>
                        </m:e>
                        <m:lim>
                          <m:r>
                            <m:rPr>
                              <m:sty m:val="p"/>
                            </m:rPr>
                            <a:rPr lang="pt-BR" sz="2600" b="0" i="0" noProof="0" smtClean="0">
                              <a:latin typeface="Cambria Math" panose="02040503050406030204" pitchFamily="18" charset="0"/>
                            </a:rPr>
                            <m:t>controla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esquecimento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da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informa</m:t>
                          </m:r>
                          <m:r>
                            <a:rPr lang="pt-BR" sz="2600" b="0" i="0" noProof="0" smtClean="0">
                              <a:latin typeface="Cambria Math" panose="02040503050406030204" pitchFamily="18" charset="0"/>
                            </a:rPr>
                            <m:t>çã</m:t>
                          </m:r>
                          <m:r>
                            <m:rPr>
                              <m:sty m:val="p"/>
                            </m:rPr>
                            <a:rPr lang="pt-BR" sz="2600" b="0" i="0" noProof="0" smtClean="0">
                              <a:latin typeface="Cambria Math" panose="02040503050406030204" pitchFamily="18" charset="0"/>
                            </a:rPr>
                            <m: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anterior</m:t>
                          </m:r>
                        </m:lim>
                      </m:limLow>
                      <m:r>
                        <a:rPr lang="pt-BR" sz="2600" i="1" noProof="0">
                          <a:latin typeface="Cambria Math" panose="02040503050406030204" pitchFamily="18" charset="0"/>
                        </a:rPr>
                        <m:t>+</m:t>
                      </m:r>
                      <m:limLow>
                        <m:limLowPr>
                          <m:ctrlPr>
                            <a:rPr lang="pt-BR" sz="2600" b="1" i="1" noProof="0">
                              <a:latin typeface="Cambria Math" panose="02040503050406030204" pitchFamily="18" charset="0"/>
                            </a:rPr>
                          </m:ctrlPr>
                        </m:limLowPr>
                        <m:e>
                          <m:groupChr>
                            <m:groupChrPr>
                              <m:chr m:val="⏟"/>
                              <m:pos m:val="bot"/>
                              <m:vertJc m:val="top"/>
                              <m:ctrlPr>
                                <a:rPr lang="pt-BR" sz="2600" b="1" i="1" noProof="0">
                                  <a:latin typeface="Cambria Math" panose="02040503050406030204" pitchFamily="18" charset="0"/>
                                </a:rPr>
                              </m:ctrlPr>
                            </m:groupChrPr>
                            <m:e>
                              <m:sSub>
                                <m:sSubPr>
                                  <m:ctrlPr>
                                    <a:rPr lang="pt-BR" sz="2600" b="1" i="1" noProof="0">
                                      <a:latin typeface="Cambria Math" panose="02040503050406030204" pitchFamily="18" charset="0"/>
                                    </a:rPr>
                                  </m:ctrlPr>
                                </m:sSubPr>
                                <m:e>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𝒊</m:t>
                                      </m:r>
                                    </m:e>
                                    <m:sub>
                                      <m:r>
                                        <a:rPr lang="pt-BR" sz="2600" i="1" noProof="0">
                                          <a:latin typeface="Cambria Math" panose="02040503050406030204" pitchFamily="18" charset="0"/>
                                        </a:rPr>
                                        <m:t>𝑡</m:t>
                                      </m:r>
                                    </m:sub>
                                  </m:sSub>
                                  <m:acc>
                                    <m:accPr>
                                      <m:chr m:val="̃"/>
                                      <m:ctrlPr>
                                        <a:rPr lang="pt-BR" sz="2600" b="1" i="1" noProof="0">
                                          <a:latin typeface="Cambria Math" panose="02040503050406030204" pitchFamily="18" charset="0"/>
                                        </a:rPr>
                                      </m:ctrlPr>
                                    </m:accPr>
                                    <m:e>
                                      <m:r>
                                        <a:rPr lang="pt-BR" sz="2600" b="1" i="1" noProof="0">
                                          <a:latin typeface="Cambria Math" panose="02040503050406030204" pitchFamily="18" charset="0"/>
                                        </a:rPr>
                                        <m:t>𝒄</m:t>
                                      </m:r>
                                    </m:e>
                                  </m:acc>
                                </m:e>
                                <m:sub>
                                  <m:r>
                                    <a:rPr lang="pt-BR" sz="2600" i="1" noProof="0">
                                      <a:latin typeface="Cambria Math" panose="02040503050406030204" pitchFamily="18" charset="0"/>
                                    </a:rPr>
                                    <m:t>𝑡</m:t>
                                  </m:r>
                                </m:sub>
                              </m:sSub>
                            </m:e>
                          </m:groupChr>
                        </m:e>
                        <m:lim>
                          <m:r>
                            <m:rPr>
                              <m:sty m:val="p"/>
                            </m:rPr>
                            <a:rPr lang="pt-BR" sz="2600" b="0" i="0" noProof="0" smtClean="0">
                              <a:latin typeface="Cambria Math" panose="02040503050406030204" pitchFamily="18" charset="0"/>
                            </a:rPr>
                            <m:t>controla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entrada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de</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nova</m:t>
                          </m:r>
                          <m:r>
                            <a:rPr lang="pt-BR" sz="2600" noProof="0">
                              <a:latin typeface="Cambria Math" panose="02040503050406030204" pitchFamily="18" charset="0"/>
                            </a:rPr>
                            <m:t> </m:t>
                          </m:r>
                          <m:r>
                            <m:rPr>
                              <m:sty m:val="p"/>
                            </m:rPr>
                            <a:rPr lang="pt-BR" sz="2600" noProof="0">
                              <a:latin typeface="Cambria Math" panose="02040503050406030204" pitchFamily="18" charset="0"/>
                            </a:rPr>
                            <m:t>informa</m:t>
                          </m:r>
                          <m:r>
                            <a:rPr lang="pt-BR" sz="2600" noProof="0">
                              <a:latin typeface="Cambria Math" panose="02040503050406030204" pitchFamily="18" charset="0"/>
                            </a:rPr>
                            <m:t>çã</m:t>
                          </m:r>
                          <m:r>
                            <m:rPr>
                              <m:sty m:val="p"/>
                            </m:rPr>
                            <a:rPr lang="pt-BR" sz="2600" noProof="0">
                              <a:latin typeface="Cambria Math" panose="02040503050406030204" pitchFamily="18" charset="0"/>
                            </a:rPr>
                            <m:t>o</m:t>
                          </m:r>
                        </m:lim>
                      </m:limLow>
                    </m:oMath>
                  </m:oMathPara>
                </a14:m>
                <a:endParaRPr lang="pt-BR" sz="2600" noProof="0" dirty="0"/>
              </a:p>
            </p:txBody>
          </p:sp>
        </mc:Choice>
        <mc:Fallback>
          <p:sp>
            <p:nvSpPr>
              <p:cNvPr id="8" name="Content Placeholder 7">
                <a:extLst>
                  <a:ext uri="{FF2B5EF4-FFF2-40B4-BE49-F238E27FC236}">
                    <a16:creationId xmlns:a16="http://schemas.microsoft.com/office/drawing/2014/main"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752" t="-1695"/>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3EB1AC8-3090-2A0F-63A5-1C43210491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43250" y="3060193"/>
            <a:ext cx="6040680" cy="3721607"/>
          </a:xfrm>
          <a:prstGeom prst="rect">
            <a:avLst/>
          </a:prstGeom>
        </p:spPr>
      </p:pic>
      <p:cxnSp>
        <p:nvCxnSpPr>
          <p:cNvPr id="7" name="Conector de Seta Reta 6">
            <a:extLst>
              <a:ext uri="{FF2B5EF4-FFF2-40B4-BE49-F238E27FC236}">
                <a16:creationId xmlns:a16="http://schemas.microsoft.com/office/drawing/2014/main" id="{D5207FF0-CF8B-3C9E-C8AF-330E04EB4ACE}"/>
              </a:ext>
            </a:extLst>
          </p:cNvPr>
          <p:cNvCxnSpPr>
            <a:cxnSpLocks/>
          </p:cNvCxnSpPr>
          <p:nvPr/>
        </p:nvCxnSpPr>
        <p:spPr>
          <a:xfrm>
            <a:off x="4533900" y="3143250"/>
            <a:ext cx="476250" cy="87630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27444417-ED58-512A-C621-C590239F651C}"/>
              </a:ext>
            </a:extLst>
          </p:cNvPr>
          <p:cNvCxnSpPr>
            <a:cxnSpLocks/>
          </p:cNvCxnSpPr>
          <p:nvPr/>
        </p:nvCxnSpPr>
        <p:spPr>
          <a:xfrm flipH="1">
            <a:off x="6267450" y="3060193"/>
            <a:ext cx="1743075" cy="143560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62122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9160B-0A9F-1A85-6B15-1990ABAB5092}"/>
              </a:ext>
            </a:extLst>
          </p:cNvPr>
          <p:cNvSpPr>
            <a:spLocks noGrp="1"/>
          </p:cNvSpPr>
          <p:nvPr>
            <p:ph type="title"/>
          </p:nvPr>
        </p:nvSpPr>
        <p:spPr/>
        <p:txBody>
          <a:bodyPr/>
          <a:lstStyle/>
          <a:p>
            <a:r>
              <a:rPr lang="pt-BR" dirty="0"/>
              <a:t>Resumo: o que uma célula LSTM faz?</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5A0CB09-932B-8FCE-FD61-796D1203C803}"/>
                  </a:ext>
                </a:extLst>
              </p:cNvPr>
              <p:cNvSpPr>
                <a:spLocks noGrp="1"/>
              </p:cNvSpPr>
              <p:nvPr>
                <p:ph idx="1"/>
              </p:nvPr>
            </p:nvSpPr>
            <p:spPr>
              <a:xfrm>
                <a:off x="838200" y="1825624"/>
                <a:ext cx="11353801" cy="5032375"/>
              </a:xfrm>
            </p:spPr>
            <p:txBody>
              <a:bodyPr>
                <a:normAutofit/>
              </a:bodyPr>
              <a:lstStyle/>
              <a:p>
                <a:r>
                  <a:rPr lang="pt-BR" noProof="0" dirty="0"/>
                  <a:t>Aprende a </a:t>
                </a:r>
                <a:r>
                  <a:rPr lang="pt-BR" b="1" noProof="0" dirty="0">
                    <a:solidFill>
                      <a:srgbClr val="7030A0"/>
                    </a:solidFill>
                  </a:rPr>
                  <a:t>reconhecer uma entrada importante</a:t>
                </a:r>
                <a:r>
                  <a:rPr lang="pt-BR" noProof="0" dirty="0"/>
                  <a:t> </a:t>
                </a:r>
                <a:r>
                  <a:rPr lang="pt-BR" b="1" noProof="0" dirty="0">
                    <a:solidFill>
                      <a:schemeClr val="accent1"/>
                    </a:solidFill>
                  </a:rPr>
                  <a:t>e armazená-la</a:t>
                </a:r>
                <a:r>
                  <a:rPr lang="pt-BR" noProof="0" dirty="0"/>
                  <a:t> (total ou parcialmente) no estado de longo prazo,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𝑪</m:t>
                        </m:r>
                      </m:e>
                      <m:sub>
                        <m:r>
                          <a:rPr lang="pt-BR" i="1" noProof="0">
                            <a:latin typeface="Cambria Math" panose="02040503050406030204" pitchFamily="18" charset="0"/>
                          </a:rPr>
                          <m:t>𝑡</m:t>
                        </m:r>
                      </m:sub>
                    </m:sSub>
                  </m:oMath>
                </a14:m>
                <a:r>
                  <a:rPr lang="pt-BR" noProof="0" dirty="0"/>
                  <a:t>, </a:t>
                </a:r>
              </a:p>
              <a:p>
                <a:pPr lvl="1">
                  <a:buFont typeface="Wingdings" panose="05000000000000000000" pitchFamily="2" charset="2"/>
                  <a:buChar char="§"/>
                </a:pPr>
                <a:r>
                  <a:rPr lang="pt-BR" noProof="0" dirty="0"/>
                  <a:t>Essa é a função da </a:t>
                </a:r>
                <a:r>
                  <a:rPr lang="pt-BR" b="1" noProof="0" dirty="0">
                    <a:solidFill>
                      <a:srgbClr val="7030A0"/>
                    </a:solidFill>
                  </a:rPr>
                  <a:t>porta de entrada</a:t>
                </a:r>
                <a:endParaRPr lang="pt-BR" noProof="0" dirty="0"/>
              </a:p>
              <a:p>
                <a:r>
                  <a:rPr lang="pt-BR" b="1" noProof="0" dirty="0">
                    <a:solidFill>
                      <a:srgbClr val="00B050"/>
                    </a:solidFill>
                  </a:rPr>
                  <a:t>Preserva a informação</a:t>
                </a:r>
                <a:r>
                  <a:rPr lang="pt-BR" noProof="0" dirty="0"/>
                  <a:t> de longo prazo pelo tempo necessário </a:t>
                </a:r>
              </a:p>
              <a:p>
                <a:pPr lvl="1">
                  <a:buFont typeface="Wingdings" panose="05000000000000000000" pitchFamily="2" charset="2"/>
                  <a:buChar char="§"/>
                </a:pPr>
                <a:r>
                  <a:rPr lang="pt-BR" noProof="0" dirty="0"/>
                  <a:t>Essa é a função da </a:t>
                </a:r>
                <a:r>
                  <a:rPr lang="pt-BR" b="1" noProof="0" dirty="0">
                    <a:solidFill>
                      <a:srgbClr val="00B050"/>
                    </a:solidFill>
                  </a:rPr>
                  <a:t>porta de esquecimento</a:t>
                </a:r>
              </a:p>
              <a:p>
                <a:r>
                  <a:rPr lang="pt-BR" b="1" noProof="0" dirty="0">
                    <a:solidFill>
                      <a:schemeClr val="accent2"/>
                    </a:solidFill>
                  </a:rPr>
                  <a:t>Expõe a informação</a:t>
                </a:r>
                <a:r>
                  <a:rPr lang="pt-BR" noProof="0" dirty="0"/>
                  <a:t> de longo prazo sempre que necessário </a:t>
                </a:r>
              </a:p>
              <a:p>
                <a:pPr lvl="1">
                  <a:buFont typeface="Wingdings" panose="05000000000000000000" pitchFamily="2" charset="2"/>
                  <a:buChar char="§"/>
                </a:pPr>
                <a:r>
                  <a:rPr lang="pt-BR" noProof="0" dirty="0"/>
                  <a:t>Essa é a função da </a:t>
                </a:r>
                <a:r>
                  <a:rPr lang="pt-BR" b="1" noProof="0" dirty="0">
                    <a:solidFill>
                      <a:schemeClr val="accent2"/>
                    </a:solidFill>
                  </a:rPr>
                  <a:t>porta de saída.</a:t>
                </a:r>
              </a:p>
              <a:p>
                <a:r>
                  <a:rPr lang="pt-BR" noProof="0" dirty="0">
                    <a:solidFill>
                      <a:srgbClr val="222222"/>
                    </a:solidFill>
                  </a:rPr>
                  <a:t>Todas essas </a:t>
                </a:r>
                <a:r>
                  <a:rPr lang="pt-BR" b="1" noProof="0" dirty="0">
                    <a:solidFill>
                      <a:srgbClr val="00B0F0"/>
                    </a:solidFill>
                  </a:rPr>
                  <a:t>decisões são aprendidas por retropropagação no tempo</a:t>
                </a:r>
                <a:r>
                  <a:rPr lang="pt-BR" noProof="0" dirty="0">
                    <a:solidFill>
                      <a:srgbClr val="222222"/>
                    </a:solidFill>
                  </a:rPr>
                  <a:t>, ajustando os pesos </a:t>
                </a:r>
                <a14:m>
                  <m:oMath xmlns:m="http://schemas.openxmlformats.org/officeDocument/2006/math">
                    <m:r>
                      <a:rPr lang="pt-BR" b="1" i="1" noProof="0" smtClean="0">
                        <a:solidFill>
                          <a:srgbClr val="222222"/>
                        </a:solidFill>
                        <a:latin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rPr>
                      <m:t>𝒃</m:t>
                    </m:r>
                  </m:oMath>
                </a14:m>
                <a:r>
                  <a:rPr lang="pt-BR" noProof="0" dirty="0">
                    <a:solidFill>
                      <a:srgbClr val="222222"/>
                    </a:solidFill>
                  </a:rPr>
                  <a:t> de cada camada.</a:t>
                </a:r>
                <a:endParaRPr lang="pt-BR" noProof="0" dirty="0"/>
              </a:p>
              <a:p>
                <a:pPr marL="457200" lvl="1" indent="0">
                  <a:buNone/>
                </a:pPr>
                <a:endParaRPr lang="pt-BR" b="1" noProof="0" dirty="0">
                  <a:solidFill>
                    <a:schemeClr val="accent2"/>
                  </a:solidFill>
                </a:endParaRPr>
              </a:p>
            </p:txBody>
          </p:sp>
        </mc:Choice>
        <mc:Fallback>
          <p:sp>
            <p:nvSpPr>
              <p:cNvPr id="3" name="Content Placeholder 2">
                <a:extLst>
                  <a:ext uri="{FF2B5EF4-FFF2-40B4-BE49-F238E27FC236}">
                    <a16:creationId xmlns:a16="http://schemas.microsoft.com/office/drawing/2014/main"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353801"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26738728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A2A55-F68E-8442-C0DD-A2410B7ACB7A}"/>
              </a:ext>
            </a:extLst>
          </p:cNvPr>
          <p:cNvSpPr>
            <a:spLocks noGrp="1"/>
          </p:cNvSpPr>
          <p:nvPr>
            <p:ph type="title"/>
          </p:nvPr>
        </p:nvSpPr>
        <p:spPr/>
        <p:txBody>
          <a:bodyPr/>
          <a:lstStyle/>
          <a:p>
            <a:r>
              <a:rPr lang="pt-BR" noProof="0" dirty="0"/>
              <a:t>Principais desvantagens de </a:t>
            </a:r>
            <a:r>
              <a:rPr lang="pt-BR" noProof="0" dirty="0" err="1"/>
              <a:t>LSTMs</a:t>
            </a:r>
            <a:endParaRPr lang="pt-BR" noProof="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BBE798D-84FA-D85F-AF66-CCB3774595A2}"/>
                  </a:ext>
                </a:extLst>
              </p:cNvPr>
              <p:cNvSpPr>
                <a:spLocks noGrp="1"/>
              </p:cNvSpPr>
              <p:nvPr>
                <p:ph idx="1"/>
              </p:nvPr>
            </p:nvSpPr>
            <p:spPr>
              <a:xfrm>
                <a:off x="838199" y="1825624"/>
                <a:ext cx="11353801" cy="5032375"/>
              </a:xfrm>
            </p:spPr>
            <p:txBody>
              <a:bodyPr>
                <a:normAutofit/>
              </a:bodyPr>
              <a:lstStyle/>
              <a:p>
                <a:r>
                  <a:rPr lang="pt-BR" dirty="0"/>
                  <a:t>Os valores </a:t>
                </a:r>
                <a:r>
                  <a:rPr lang="pt-BR" noProof="0" dirty="0"/>
                  <a:t>das portas </a:t>
                </a:r>
                <a:r>
                  <a:rPr lang="pt-BR" b="1" noProof="0" dirty="0">
                    <a:solidFill>
                      <a:schemeClr val="accent2"/>
                    </a:solidFill>
                  </a:rPr>
                  <a:t>nunca são realmente 0 ou 1</a:t>
                </a:r>
                <a:r>
                  <a:rPr lang="pt-BR" noProof="0" dirty="0"/>
                  <a:t>. </a:t>
                </a:r>
              </a:p>
              <a:p>
                <a:pPr lvl="1">
                  <a:buFont typeface="Wingdings" panose="05000000000000000000" pitchFamily="2" charset="2"/>
                  <a:buChar char="§"/>
                </a:pPr>
                <a:r>
                  <a:rPr lang="pt-BR" dirty="0"/>
                  <a:t>O gradiente </a:t>
                </a:r>
                <a:r>
                  <a:rPr lang="pt-BR" b="1" dirty="0">
                    <a:solidFill>
                      <a:srgbClr val="FF0000"/>
                    </a:solidFill>
                  </a:rPr>
                  <a:t>inevitavelmente desaparece</a:t>
                </a:r>
                <a:r>
                  <a:rPr lang="pt-BR" dirty="0"/>
                  <a:t> </a:t>
                </a:r>
                <a:r>
                  <a:rPr lang="pt-BR" b="1" dirty="0">
                    <a:solidFill>
                      <a:srgbClr val="00B050"/>
                    </a:solidFill>
                  </a:rPr>
                  <a:t>após um longo período</a:t>
                </a:r>
                <a:endParaRPr lang="pt-BR" noProof="0" dirty="0"/>
              </a:p>
              <a:p>
                <a:pPr lvl="1">
                  <a:buFont typeface="Wingdings" panose="05000000000000000000" pitchFamily="2" charset="2"/>
                  <a:buChar char="§"/>
                </a:pPr>
                <a:r>
                  <a:rPr lang="pt-BR" noProof="0" dirty="0"/>
                  <a:t>Portanto, ainda apresenta </a:t>
                </a:r>
                <a:r>
                  <a:rPr lang="pt-BR" b="1" noProof="0" dirty="0">
                    <a:solidFill>
                      <a:srgbClr val="7030A0"/>
                    </a:solidFill>
                  </a:rPr>
                  <a:t>dificuldades com dependências temporais muito longas</a:t>
                </a:r>
                <a:r>
                  <a:rPr lang="pt-BR" noProof="0" dirty="0"/>
                  <a:t>.</a:t>
                </a:r>
              </a:p>
              <a:p>
                <a:r>
                  <a:rPr lang="pt-BR" noProof="0" dirty="0"/>
                  <a:t>Alta </a:t>
                </a:r>
                <a:r>
                  <a:rPr lang="pt-BR" b="1" noProof="0" dirty="0">
                    <a:solidFill>
                      <a:schemeClr val="accent2"/>
                    </a:solidFill>
                  </a:rPr>
                  <a:t>complexidade computacional</a:t>
                </a:r>
                <a:r>
                  <a:rPr lang="pt-BR" noProof="0" dirty="0"/>
                  <a:t>.</a:t>
                </a:r>
              </a:p>
              <a:p>
                <a:pPr lvl="1">
                  <a:buFont typeface="Wingdings" panose="05000000000000000000" pitchFamily="2" charset="2"/>
                  <a:buChar char="§"/>
                </a:pPr>
                <a:r>
                  <a:rPr lang="pt-BR" b="1" noProof="0" dirty="0">
                    <a:solidFill>
                      <a:srgbClr val="00B050"/>
                    </a:solidFill>
                  </a:rPr>
                  <a:t>Muito mais parâmetros</a:t>
                </a:r>
                <a:r>
                  <a:rPr lang="pt-BR" noProof="0" dirty="0"/>
                  <a:t> do que as RNNs tradicionais.</a:t>
                </a:r>
              </a:p>
              <a:p>
                <a:r>
                  <a:rPr lang="pt-BR" b="1" noProof="0" dirty="0">
                    <a:solidFill>
                      <a:schemeClr val="accent2"/>
                    </a:solidFill>
                  </a:rPr>
                  <a:t>Dificuldade de paralelização</a:t>
                </a:r>
              </a:p>
              <a:p>
                <a:pPr lvl="1">
                  <a:buFont typeface="Wingdings" panose="05000000000000000000" pitchFamily="2" charset="2"/>
                  <a:buChar char="§"/>
                </a:pPr>
                <a:r>
                  <a:rPr lang="pt-BR" b="1" noProof="0" dirty="0">
                    <a:solidFill>
                      <a:srgbClr val="00B050"/>
                    </a:solidFill>
                  </a:rPr>
                  <a:t>Processamento sequencial</a:t>
                </a:r>
                <a:r>
                  <a:rPr lang="pt-BR" noProof="0" dirty="0"/>
                  <a:t>: a célula depende de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−1</m:t>
                    </m:r>
                  </m:oMath>
                </a14:m>
                <a:r>
                  <a:rPr lang="pt-BR" noProof="0" dirty="0"/>
                  <a:t> para calcular </a:t>
                </a:r>
                <a14:m>
                  <m:oMath xmlns:m="http://schemas.openxmlformats.org/officeDocument/2006/math">
                    <m:r>
                      <a:rPr lang="pt-BR" b="0" i="1" noProof="0" smtClean="0">
                        <a:latin typeface="Cambria Math" panose="02040503050406030204" pitchFamily="18" charset="0"/>
                      </a:rPr>
                      <m:t>𝑡</m:t>
                    </m:r>
                  </m:oMath>
                </a14:m>
                <a:r>
                  <a:rPr lang="pt-BR" noProof="0" dirty="0"/>
                  <a:t> o que dificulta explorar paralelismo em GPU.</a:t>
                </a:r>
              </a:p>
              <a:p>
                <a:r>
                  <a:rPr lang="pt-BR" noProof="0" dirty="0"/>
                  <a:t>Hoje é </a:t>
                </a:r>
                <a:r>
                  <a:rPr lang="pt-BR" b="1" noProof="0" dirty="0">
                    <a:solidFill>
                      <a:schemeClr val="accent2"/>
                    </a:solidFill>
                  </a:rPr>
                  <a:t>superada em muitos cenários</a:t>
                </a:r>
              </a:p>
              <a:p>
                <a:pPr lvl="1">
                  <a:buFont typeface="Wingdings" panose="05000000000000000000" pitchFamily="2" charset="2"/>
                  <a:buChar char="§"/>
                </a:pPr>
                <a:r>
                  <a:rPr lang="pt-BR" noProof="0" dirty="0"/>
                  <a:t>Modelos mais modernos, como </a:t>
                </a:r>
                <a:r>
                  <a:rPr lang="pt-BR" i="1" noProof="0" dirty="0"/>
                  <a:t>Transformers</a:t>
                </a:r>
                <a:r>
                  <a:rPr lang="pt-BR" noProof="0" dirty="0"/>
                  <a:t> com </a:t>
                </a:r>
                <a:r>
                  <a:rPr lang="pt-BR" i="1" noProof="0" dirty="0" err="1"/>
                  <a:t>attention</a:t>
                </a:r>
                <a:r>
                  <a:rPr lang="pt-BR" noProof="0" dirty="0"/>
                  <a:t>,</a:t>
                </a:r>
                <a:r>
                  <a:rPr lang="pt-BR" i="1" noProof="0" dirty="0"/>
                  <a:t> </a:t>
                </a:r>
                <a:r>
                  <a:rPr lang="pt-BR" b="1" noProof="0" dirty="0">
                    <a:solidFill>
                      <a:srgbClr val="00B050"/>
                    </a:solidFill>
                  </a:rPr>
                  <a:t>processam sequências em paralelo</a:t>
                </a:r>
                <a:r>
                  <a:rPr lang="pt-BR" noProof="0" dirty="0"/>
                  <a:t> e </a:t>
                </a:r>
                <a:r>
                  <a:rPr lang="pt-BR" b="1" noProof="0" dirty="0">
                    <a:solidFill>
                      <a:srgbClr val="7030A0"/>
                    </a:solidFill>
                  </a:rPr>
                  <a:t>capturam de dependências globais</a:t>
                </a:r>
                <a:r>
                  <a:rPr lang="pt-BR" noProof="0" dirty="0"/>
                  <a:t>.</a:t>
                </a:r>
              </a:p>
            </p:txBody>
          </p:sp>
        </mc:Choice>
        <mc:Fallback>
          <p:sp>
            <p:nvSpPr>
              <p:cNvPr id="3" name="Content Placeholder 2">
                <a:extLst>
                  <a:ext uri="{FF2B5EF4-FFF2-40B4-BE49-F238E27FC236}">
                    <a16:creationId xmlns:a16="http://schemas.microsoft.com/office/drawing/2014/main"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r="-805"/>
                </a:stretch>
              </a:blipFill>
            </p:spPr>
            <p:txBody>
              <a:bodyPr/>
              <a:lstStyle/>
              <a:p>
                <a:r>
                  <a:rPr lang="en-US">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346129" y="2064933"/>
            <a:ext cx="11499741" cy="2747183"/>
          </a:xfrm>
        </p:spPr>
        <p:txBody>
          <a:bodyPr>
            <a:normAutofit/>
          </a:bodyPr>
          <a:lstStyle/>
          <a:p>
            <a:pPr marL="0" indent="0" algn="ctr">
              <a:buNone/>
            </a:pPr>
            <a:r>
              <a:rPr lang="pt-BR" sz="6000" dirty="0"/>
              <a:t>Será que existem modelos quase tão bons quanto </a:t>
            </a:r>
            <a:r>
              <a:rPr lang="pt-BR" sz="6000" dirty="0" err="1"/>
              <a:t>LSTMs</a:t>
            </a:r>
            <a:r>
              <a:rPr lang="pt-BR" sz="6000" dirty="0"/>
              <a:t>, porém menos complexos?</a:t>
            </a:r>
          </a:p>
        </p:txBody>
      </p:sp>
    </p:spTree>
    <p:extLst>
      <p:ext uri="{BB962C8B-B14F-4D97-AF65-F5344CB8AC3E}">
        <p14:creationId xmlns:p14="http://schemas.microsoft.com/office/powerpoint/2010/main" val="13942240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noProof="0" dirty="0"/>
              <a:t>Com o sucesso das </a:t>
            </a:r>
            <a:r>
              <a:rPr lang="pt-BR" noProof="0" dirty="0" err="1"/>
              <a:t>LSTMs</a:t>
            </a:r>
            <a:r>
              <a:rPr lang="pt-BR" noProof="0" dirty="0"/>
              <a:t>, </a:t>
            </a:r>
            <a:r>
              <a:rPr lang="pt-BR" noProof="0" dirty="0">
                <a:solidFill>
                  <a:srgbClr val="222222"/>
                </a:solidFill>
              </a:rPr>
              <a:t>surgiram arquiteturas para</a:t>
            </a:r>
            <a:endParaRPr lang="pt-BR" noProof="0" dirty="0"/>
          </a:p>
          <a:p>
            <a:pPr lvl="1">
              <a:buFont typeface="Wingdings" panose="05000000000000000000" pitchFamily="2" charset="2"/>
              <a:buChar char="§"/>
            </a:pPr>
            <a:r>
              <a:rPr lang="pt-BR" noProof="0" dirty="0"/>
              <a:t>reduzir a quantidade de parâmetros,</a:t>
            </a:r>
          </a:p>
          <a:p>
            <a:pPr lvl="1">
              <a:buFont typeface="Wingdings" panose="05000000000000000000" pitchFamily="2" charset="2"/>
              <a:buChar char="§"/>
            </a:pPr>
            <a:r>
              <a:rPr lang="pt-BR" noProof="0" dirty="0"/>
              <a:t>reduzir o custo computacional,</a:t>
            </a:r>
          </a:p>
          <a:p>
            <a:pPr lvl="1">
              <a:buFont typeface="Wingdings" panose="05000000000000000000" pitchFamily="2" charset="2"/>
              <a:buChar char="§"/>
            </a:pPr>
            <a:r>
              <a:rPr lang="pt-BR" noProof="0" dirty="0"/>
              <a:t>reduzir o consumo de memória,</a:t>
            </a:r>
          </a:p>
          <a:p>
            <a:pPr lvl="1">
              <a:buFont typeface="Wingdings" panose="05000000000000000000" pitchFamily="2" charset="2"/>
              <a:buChar char="§"/>
            </a:pPr>
            <a:r>
              <a:rPr lang="pt-BR" noProof="0" dirty="0"/>
              <a:t>e acelerar o treinamento.</a:t>
            </a:r>
          </a:p>
          <a:p>
            <a:r>
              <a:rPr lang="pt-BR" noProof="0" dirty="0"/>
              <a:t>Assim, as </a:t>
            </a:r>
            <a:r>
              <a:rPr lang="pt-BR" noProof="0" dirty="0" err="1"/>
              <a:t>GRUs</a:t>
            </a:r>
            <a:r>
              <a:rPr lang="pt-BR" noProof="0" dirty="0"/>
              <a:t> foram </a:t>
            </a:r>
            <a:r>
              <a:rPr lang="pt-BR" b="1" noProof="0" dirty="0">
                <a:solidFill>
                  <a:srgbClr val="7030A0"/>
                </a:solidFill>
              </a:rPr>
              <a:t>propostas em 2014</a:t>
            </a:r>
            <a:r>
              <a:rPr lang="pt-BR" noProof="0" dirty="0"/>
              <a:t> por </a:t>
            </a:r>
            <a:r>
              <a:rPr lang="pt-BR" noProof="0" dirty="0" err="1"/>
              <a:t>Kyunghyun</a:t>
            </a:r>
            <a:r>
              <a:rPr lang="pt-BR" noProof="0" dirty="0"/>
              <a:t> Cho e colegas com esse objetivo.</a:t>
            </a:r>
          </a:p>
          <a:p>
            <a:r>
              <a:rPr lang="pt-BR" dirty="0"/>
              <a:t>A célula GRU é uma </a:t>
            </a:r>
            <a:r>
              <a:rPr lang="pt-BR" b="1" dirty="0">
                <a:solidFill>
                  <a:schemeClr val="accent2"/>
                </a:solidFill>
              </a:rPr>
              <a:t>versão simplificada</a:t>
            </a:r>
            <a:r>
              <a:rPr lang="pt-BR" dirty="0"/>
              <a:t> da célula de memória LSTM.</a:t>
            </a:r>
          </a:p>
        </p:txBody>
      </p:sp>
      <p:pic>
        <p:nvPicPr>
          <p:cNvPr id="8" name="Imagem 7">
            <a:extLst>
              <a:ext uri="{FF2B5EF4-FFF2-40B4-BE49-F238E27FC236}">
                <a16:creationId xmlns:a16="http://schemas.microsoft.com/office/drawing/2014/main" id="{F31EEDFF-2831-68EB-4816-26ECD567CF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noProof="0" dirty="0"/>
                  <a:t>Em geral, </a:t>
                </a:r>
                <a:r>
                  <a:rPr lang="pt-BR" b="1" noProof="0" dirty="0">
                    <a:solidFill>
                      <a:schemeClr val="accent2"/>
                    </a:solidFill>
                  </a:rPr>
                  <a:t>atingem desempenho comparável</a:t>
                </a:r>
                <a:r>
                  <a:rPr lang="pt-BR" noProof="0" dirty="0"/>
                  <a:t> às </a:t>
                </a:r>
                <a:r>
                  <a:rPr lang="pt-BR" noProof="0" dirty="0" err="1"/>
                  <a:t>LSTMs</a:t>
                </a:r>
                <a:r>
                  <a:rPr lang="pt-BR" noProof="0" dirty="0"/>
                  <a:t>, mas com a </a:t>
                </a:r>
                <a:r>
                  <a:rPr lang="pt-BR" b="1" noProof="0" dirty="0">
                    <a:solidFill>
                      <a:srgbClr val="00B050"/>
                    </a:solidFill>
                  </a:rPr>
                  <a:t>vantagem de serem mais leves e rápidas</a:t>
                </a:r>
                <a:r>
                  <a:rPr lang="pt-BR" noProof="0" dirty="0"/>
                  <a:t>.</a:t>
                </a:r>
              </a:p>
              <a:p>
                <a:r>
                  <a:rPr lang="pt-BR" noProof="0" dirty="0"/>
                  <a:t>Elas têm </a:t>
                </a:r>
                <a:r>
                  <a:rPr lang="pt-BR" b="1" noProof="0" dirty="0">
                    <a:solidFill>
                      <a:srgbClr val="7030A0"/>
                    </a:solidFill>
                  </a:rPr>
                  <a:t>apenas</a:t>
                </a:r>
                <a:r>
                  <a:rPr lang="pt-BR" noProof="0" dirty="0"/>
                  <a:t> </a:t>
                </a:r>
                <a:r>
                  <a:rPr lang="pt-BR" b="1" noProof="0" dirty="0">
                    <a:solidFill>
                      <a:srgbClr val="0070C0"/>
                    </a:solidFill>
                  </a:rPr>
                  <a:t>duas portas</a:t>
                </a:r>
                <a:r>
                  <a:rPr lang="pt-BR" noProof="0" dirty="0"/>
                  <a:t>: a de </a:t>
                </a:r>
                <a:r>
                  <a:rPr lang="pt-BR" i="1" noProof="0" dirty="0"/>
                  <a:t>reset</a:t>
                </a:r>
                <a:r>
                  <a:rPr lang="pt-BR" noProof="0" dirty="0"/>
                  <a:t> e a de atualização (ambas controladas por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b="0" i="1" noProof="0" smtClean="0">
                            <a:latin typeface="Cambria Math" panose="02040503050406030204" pitchFamily="18" charset="0"/>
                          </a:rPr>
                          <m:t>−1</m:t>
                        </m:r>
                      </m:sub>
                    </m:sSub>
                  </m:oMath>
                </a14:m>
                <a:r>
                  <a:rPr lang="pt-BR" noProof="0" dirty="0"/>
                  <a:t>).</a:t>
                </a:r>
              </a:p>
              <a:p>
                <a:pPr lvl="1">
                  <a:buFont typeface="Wingdings" panose="05000000000000000000" pitchFamily="2" charset="2"/>
                  <a:buChar char="§"/>
                </a:pPr>
                <a:r>
                  <a:rPr lang="pt-BR" dirty="0"/>
                  <a:t>Não apresenta porta de saída.</a:t>
                </a:r>
                <a:endParaRPr lang="pt-BR" noProof="0" dirty="0"/>
              </a:p>
              <a:p>
                <a:r>
                  <a:rPr lang="pt-BR" noProof="0" dirty="0"/>
                  <a:t>Além disso</a:t>
                </a:r>
                <a:r>
                  <a:rPr lang="pt-BR" dirty="0"/>
                  <a:t>, </a:t>
                </a:r>
                <a:r>
                  <a:rPr lang="pt-BR" noProof="0" dirty="0"/>
                  <a:t>a </a:t>
                </a:r>
                <a:r>
                  <a:rPr lang="pt-BR" b="1" noProof="0" dirty="0">
                    <a:solidFill>
                      <a:srgbClr val="00B0F0"/>
                    </a:solidFill>
                  </a:rPr>
                  <a:t>memória de longo prazo é incorporada</a:t>
                </a:r>
                <a:r>
                  <a:rPr lang="pt-BR" noProof="0" dirty="0"/>
                  <a:t> ao próprio </a:t>
                </a:r>
                <a:r>
                  <a:rPr lang="pt-BR" b="1" noProof="0" dirty="0">
                    <a:solidFill>
                      <a:srgbClr val="00B0F0"/>
                    </a:solidFill>
                  </a:rPr>
                  <a:t>estado oculto</a:t>
                </a:r>
                <a:r>
                  <a:rPr lang="pt-BR" noProof="0" dirty="0"/>
                  <a:t>.</a:t>
                </a:r>
              </a:p>
              <a:p>
                <a:r>
                  <a:rPr lang="pt-BR" dirty="0">
                    <a:solidFill>
                      <a:srgbClr val="222222"/>
                    </a:solidFill>
                  </a:rPr>
                  <a:t>Possui 3 camadas totalmente conectadas: 2 com função sigmoide e 1 com função tanh.</a:t>
                </a:r>
                <a:endParaRPr lang="pt-BR" noProof="0" dirty="0"/>
              </a:p>
            </p:txBody>
          </p:sp>
        </mc:Choice>
        <mc:Fallback>
          <p:sp>
            <p:nvSpPr>
              <p:cNvPr id="3" name="Content Placeholder 2">
                <a:extLst>
                  <a:ext uri="{FF2B5EF4-FFF2-40B4-BE49-F238E27FC236}">
                    <a16:creationId xmlns:a16="http://schemas.microsoft.com/office/drawing/2014/main" id="{7EBE64A2-9011-342C-7697-75B6C4877646}"/>
                  </a:ext>
                </a:extLst>
              </p:cNvPr>
              <p:cNvSpPr>
                <a:spLocks noGrp="1" noRot="1" noChangeAspect="1" noMove="1" noResize="1" noEditPoints="1" noAdjustHandles="1" noChangeArrowheads="1" noChangeShapeType="1" noTextEdit="1"/>
              </p:cNvSpPr>
              <p:nvPr>
                <p:ph idx="1"/>
              </p:nvPr>
            </p:nvSpPr>
            <p:spPr>
              <a:xfrm>
                <a:off x="5414481" y="1825624"/>
                <a:ext cx="6777518" cy="5032375"/>
              </a:xfrm>
              <a:blipFill>
                <a:blip r:embed="rId3"/>
                <a:stretch>
                  <a:fillRect l="-1619" t="-1937" r="-1799"/>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E32847C-0C70-9E63-F12B-02171460BC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20151373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8896D-0E5F-15B7-8FA2-57B111C58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AEF6DB-1474-DD6E-AD8C-CD2405CD3822}"/>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084B8E4-F0D0-B986-4782-CE0C6EF5C400}"/>
                  </a:ext>
                </a:extLst>
              </p:cNvPr>
              <p:cNvSpPr>
                <a:spLocks noGrp="1"/>
              </p:cNvSpPr>
              <p:nvPr>
                <p:ph idx="1"/>
              </p:nvPr>
            </p:nvSpPr>
            <p:spPr>
              <a:xfrm>
                <a:off x="5887092" y="1825624"/>
                <a:ext cx="6304908" cy="5032375"/>
              </a:xfrm>
            </p:spPr>
            <p:txBody>
              <a:bodyPr>
                <a:normAutofit/>
              </a:bodyPr>
              <a:lstStyle/>
              <a:p>
                <a:r>
                  <a:rPr lang="pt-BR" dirty="0"/>
                  <a:t>A </a:t>
                </a:r>
                <a:r>
                  <a:rPr lang="pt-BR" b="1" dirty="0">
                    <a:solidFill>
                      <a:schemeClr val="accent2"/>
                    </a:solidFill>
                  </a:rPr>
                  <a:t>porta de atualização</a:t>
                </a:r>
                <a:r>
                  <a:rPr lang="pt-BR" dirty="0"/>
                  <a:t> é responsável pela </a:t>
                </a:r>
                <a:r>
                  <a:rPr lang="pt-BR" b="1" dirty="0">
                    <a:solidFill>
                      <a:schemeClr val="accent1"/>
                    </a:solidFill>
                  </a:rPr>
                  <a:t>memória de longo prazo</a:t>
                </a:r>
                <a:r>
                  <a:rPr lang="pt-BR" dirty="0"/>
                  <a:t>.</a:t>
                </a:r>
              </a:p>
              <a:p>
                <a:r>
                  <a:rPr lang="pt-BR" b="1" dirty="0">
                    <a:solidFill>
                      <a:srgbClr val="00B0F0"/>
                    </a:solidFill>
                  </a:rPr>
                  <a:t>Combina</a:t>
                </a:r>
                <a:r>
                  <a:rPr lang="pt-BR" dirty="0"/>
                  <a:t> as </a:t>
                </a:r>
                <a:r>
                  <a:rPr lang="pt-BR" b="1" dirty="0">
                    <a:solidFill>
                      <a:srgbClr val="00B050"/>
                    </a:solidFill>
                  </a:rPr>
                  <a:t>portas de esquecimento</a:t>
                </a:r>
                <a:r>
                  <a:rPr lang="pt-BR" dirty="0"/>
                  <a:t> e de </a:t>
                </a:r>
                <a:r>
                  <a:rPr lang="pt-BR" b="1" dirty="0">
                    <a:solidFill>
                      <a:srgbClr val="00B050"/>
                    </a:solidFill>
                  </a:rPr>
                  <a:t>entrada</a:t>
                </a:r>
                <a:r>
                  <a:rPr lang="pt-BR" dirty="0"/>
                  <a:t> da LSTM em uma porta,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a:t>
                </a:r>
              </a:p>
              <a:p>
                <a:r>
                  <a:rPr lang="pt-BR" dirty="0"/>
                  <a:t>O </a:t>
                </a:r>
                <a:r>
                  <a:rPr lang="pt-BR" b="1" dirty="0">
                    <a:solidFill>
                      <a:srgbClr val="7030A0"/>
                    </a:solidFill>
                  </a:rPr>
                  <a:t>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controla</a:t>
                </a:r>
                <a:r>
                  <a:rPr lang="pt-BR" dirty="0"/>
                  <a:t> tanto a </a:t>
                </a:r>
                <a:r>
                  <a:rPr lang="pt-BR" b="1" dirty="0">
                    <a:solidFill>
                      <a:srgbClr val="7030A0"/>
                    </a:solidFill>
                  </a:rPr>
                  <a:t>porta de esquecimento</a:t>
                </a:r>
                <a:r>
                  <a:rPr lang="pt-BR" dirty="0"/>
                  <a:t> quanto a </a:t>
                </a:r>
                <a:r>
                  <a:rPr lang="pt-BR" b="1" dirty="0">
                    <a:solidFill>
                      <a:srgbClr val="7030A0"/>
                    </a:solidFill>
                  </a:rPr>
                  <a:t>porta de entrada</a:t>
                </a:r>
                <a:r>
                  <a:rPr lang="pt-BR" dirty="0"/>
                  <a:t>.</a:t>
                </a:r>
              </a:p>
            </p:txBody>
          </p:sp>
        </mc:Choice>
        <mc:Fallback>
          <p:sp>
            <p:nvSpPr>
              <p:cNvPr id="3" name="Content Placeholder 2">
                <a:extLst>
                  <a:ext uri="{FF2B5EF4-FFF2-40B4-BE49-F238E27FC236}">
                    <a16:creationId xmlns:a16="http://schemas.microsoft.com/office/drawing/2014/main" id="{B084B8E4-F0D0-B986-4782-CE0C6EF5C400}"/>
                  </a:ext>
                </a:extLst>
              </p:cNvPr>
              <p:cNvSpPr>
                <a:spLocks noGrp="1" noRot="1" noChangeAspect="1" noMove="1" noResize="1" noEditPoints="1" noAdjustHandles="1" noChangeArrowheads="1" noChangeShapeType="1" noTextEdit="1"/>
              </p:cNvSpPr>
              <p:nvPr>
                <p:ph idx="1"/>
              </p:nvPr>
            </p:nvSpPr>
            <p:spPr>
              <a:xfrm>
                <a:off x="5887092" y="1825624"/>
                <a:ext cx="6304908" cy="5032375"/>
              </a:xfrm>
              <a:blipFill>
                <a:blip r:embed="rId3"/>
                <a:stretch>
                  <a:fillRect l="-1741" t="-193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8438" y="2617109"/>
            <a:ext cx="4926724" cy="2995382"/>
          </a:xfrm>
          <a:prstGeom prst="rect">
            <a:avLst/>
          </a:prstGeom>
        </p:spPr>
      </p:pic>
    </p:spTree>
    <p:extLst>
      <p:ext uri="{BB962C8B-B14F-4D97-AF65-F5344CB8AC3E}">
        <p14:creationId xmlns:p14="http://schemas.microsoft.com/office/powerpoint/2010/main" val="11867611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75B47-CDB0-8D01-C24B-627D81FF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1009E-6742-3978-C9F4-B66C1CFBE14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CFD774B-6AD0-3D5A-6E43-1615AD14A679}"/>
                  </a:ext>
                </a:extLst>
              </p:cNvPr>
              <p:cNvSpPr>
                <a:spLocks noGrp="1"/>
              </p:cNvSpPr>
              <p:nvPr>
                <p:ph idx="1"/>
              </p:nvPr>
            </p:nvSpPr>
            <p:spPr>
              <a:xfrm>
                <a:off x="5295900" y="1825624"/>
                <a:ext cx="6896100" cy="5032375"/>
              </a:xfrm>
            </p:spPr>
            <p:txBody>
              <a:bodyPr>
                <a:normAutofit/>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𝟏</m:t>
                    </m:r>
                  </m:oMath>
                </a14:m>
                <a:r>
                  <a:rPr lang="pt-BR" noProof="0" dirty="0"/>
                  <a:t>, a </a:t>
                </a:r>
                <a:r>
                  <a:rPr lang="pt-BR" b="1" noProof="0" dirty="0">
                    <a:solidFill>
                      <a:schemeClr val="accent2"/>
                    </a:solidFill>
                  </a:rPr>
                  <a:t>porta de esquecimento </a:t>
                </a:r>
                <a:r>
                  <a:rPr lang="pt-BR" noProof="0" dirty="0"/>
                  <a:t>é </a:t>
                </a:r>
                <a:r>
                  <a:rPr lang="pt-BR" b="1" noProof="0" dirty="0">
                    <a:solidFill>
                      <a:schemeClr val="accent2"/>
                    </a:solidFill>
                  </a:rPr>
                  <a:t>aberta</a:t>
                </a:r>
                <a:r>
                  <a:rPr lang="pt-BR" noProof="0" dirty="0"/>
                  <a:t> e a </a:t>
                </a:r>
                <a:r>
                  <a:rPr lang="pt-BR" b="1" noProof="0" dirty="0">
                    <a:solidFill>
                      <a:schemeClr val="accent1"/>
                    </a:solidFill>
                  </a:rPr>
                  <a:t>porta de entrada</a:t>
                </a:r>
                <a:r>
                  <a:rPr lang="pt-BR" noProof="0" dirty="0"/>
                  <a:t> é </a:t>
                </a:r>
                <a:r>
                  <a:rPr lang="pt-BR" b="1" noProof="0" dirty="0">
                    <a:solidFill>
                      <a:schemeClr val="accent1"/>
                    </a:solidFill>
                  </a:rPr>
                  <a:t>fechada</a:t>
                </a:r>
                <a:r>
                  <a:rPr lang="pt-BR" noProof="0" dirty="0"/>
                  <a:t> (</a:t>
                </a:r>
                <a14:m>
                  <m:oMath xmlns:m="http://schemas.openxmlformats.org/officeDocument/2006/math">
                    <m:r>
                      <a:rPr lang="pt-BR" b="0" i="0" noProof="0" smtClean="0">
                        <a:latin typeface="Cambria Math" panose="02040503050406030204" pitchFamily="18" charset="0"/>
                      </a:rPr>
                      <m:t>1−</m:t>
                    </m:r>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𝟎</m:t>
                    </m:r>
                  </m:oMath>
                </a14:m>
                <a:r>
                  <a:rPr lang="pt-BR" noProof="0" dirty="0"/>
                  <a:t>).</a:t>
                </a:r>
              </a:p>
              <a:p>
                <a:pPr lvl="1">
                  <a:buFont typeface="Wingdings" panose="05000000000000000000" pitchFamily="2" charset="2"/>
                  <a:buChar char="§"/>
                </a:pPr>
                <a:r>
                  <a:rPr lang="pt-BR" noProof="0" dirty="0"/>
                  <a:t>Retém-se o estado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r>
                      <a:rPr lang="pt-BR" b="1"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b="0" i="1" noProof="0" smtClean="0">
                            <a:latin typeface="Cambria Math" panose="02040503050406030204" pitchFamily="18" charset="0"/>
                          </a:rPr>
                          <m:t>−1</m:t>
                        </m:r>
                      </m:sub>
                    </m:sSub>
                  </m:oMath>
                </a14:m>
                <a:r>
                  <a:rPr lang="pt-BR" noProof="0" dirty="0"/>
                  <a:t>.</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𝟎</m:t>
                    </m:r>
                  </m:oMath>
                </a14:m>
                <a:r>
                  <a:rPr lang="pt-BR" noProof="0" dirty="0"/>
                  <a:t>, a </a:t>
                </a:r>
                <a:r>
                  <a:rPr lang="pt-BR" b="1" noProof="0" dirty="0">
                    <a:solidFill>
                      <a:schemeClr val="accent2"/>
                    </a:solidFill>
                  </a:rPr>
                  <a:t>porta de esquecimento</a:t>
                </a:r>
                <a:r>
                  <a:rPr lang="pt-BR" noProof="0" dirty="0"/>
                  <a:t> é </a:t>
                </a:r>
                <a:r>
                  <a:rPr lang="pt-BR" b="1" noProof="0" dirty="0">
                    <a:solidFill>
                      <a:schemeClr val="accent2"/>
                    </a:solidFill>
                  </a:rPr>
                  <a:t>fechada</a:t>
                </a:r>
                <a:r>
                  <a:rPr lang="pt-BR" noProof="0" dirty="0"/>
                  <a:t> e a </a:t>
                </a:r>
                <a:r>
                  <a:rPr lang="pt-BR" b="1" noProof="0" dirty="0">
                    <a:solidFill>
                      <a:schemeClr val="accent1"/>
                    </a:solidFill>
                  </a:rPr>
                  <a:t>porta de entrada</a:t>
                </a:r>
                <a:r>
                  <a:rPr lang="pt-BR" noProof="0" dirty="0"/>
                  <a:t> é </a:t>
                </a:r>
                <a:r>
                  <a:rPr lang="pt-BR" b="1" noProof="0" dirty="0">
                    <a:solidFill>
                      <a:schemeClr val="accent1"/>
                    </a:solidFill>
                  </a:rPr>
                  <a:t>aberta</a:t>
                </a:r>
                <a:r>
                  <a:rPr lang="pt-BR" noProof="0" dirty="0"/>
                  <a:t> (</a:t>
                </a:r>
                <a14:m>
                  <m:oMath xmlns:m="http://schemas.openxmlformats.org/officeDocument/2006/math">
                    <m:r>
                      <a:rPr lang="pt-BR" noProof="0">
                        <a:latin typeface="Cambria Math" panose="02040503050406030204" pitchFamily="18" charset="0"/>
                      </a:rPr>
                      <m:t>1−</m:t>
                    </m:r>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𝟏</m:t>
                    </m:r>
                  </m:oMath>
                </a14:m>
                <a:r>
                  <a:rPr lang="pt-BR" noProof="0" dirty="0"/>
                  <a:t>).</a:t>
                </a:r>
              </a:p>
              <a:p>
                <a:pPr lvl="1">
                  <a:buFont typeface="Wingdings" panose="05000000000000000000" pitchFamily="2" charset="2"/>
                  <a:buChar char="§"/>
                </a:pPr>
                <a:r>
                  <a:rPr lang="pt-BR" noProof="0" dirty="0">
                    <a:solidFill>
                      <a:srgbClr val="222222"/>
                    </a:solidFill>
                  </a:rPr>
                  <a:t>Descarta o estado anterior e aceita o candidato: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r>
                      <a:rPr lang="pt-BR" b="1" i="1">
                        <a:latin typeface="Cambria Math" panose="02040503050406030204" pitchFamily="18" charset="0"/>
                      </a:rPr>
                      <m:t>=</m:t>
                    </m:r>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𝒉</m:t>
                            </m:r>
                          </m:e>
                        </m:acc>
                      </m:e>
                      <m:sub>
                        <m:r>
                          <a:rPr lang="pt-BR" i="1">
                            <a:latin typeface="Cambria Math" panose="02040503050406030204" pitchFamily="18" charset="0"/>
                          </a:rPr>
                          <m:t>𝑡</m:t>
                        </m:r>
                      </m:sub>
                    </m:sSub>
                  </m:oMath>
                </a14:m>
                <a:r>
                  <a:rPr lang="pt-BR" noProof="0" dirty="0"/>
                  <a:t>.</a:t>
                </a:r>
                <a:endParaRPr lang="pt-BR" dirty="0"/>
              </a:p>
              <a:p>
                <a:r>
                  <a:rPr lang="pt-BR" dirty="0">
                    <a:solidFill>
                      <a:srgbClr val="222222"/>
                    </a:solidFill>
                  </a:rPr>
                  <a:t>Valores intermediários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solidFill>
                      <a:srgbClr val="222222"/>
                    </a:solidFill>
                  </a:rPr>
                  <a:t> misturam informação nova e armazenada.</a:t>
                </a:r>
                <a:endParaRPr lang="pt-BR" noProof="0" dirty="0"/>
              </a:p>
            </p:txBody>
          </p:sp>
        </mc:Choice>
        <mc:Fallback>
          <p:sp>
            <p:nvSpPr>
              <p:cNvPr id="3" name="Content Placeholder 2">
                <a:extLst>
                  <a:ext uri="{FF2B5EF4-FFF2-40B4-BE49-F238E27FC236}">
                    <a16:creationId xmlns:a16="http://schemas.microsoft.com/office/drawing/2014/main" id="{FCFD774B-6AD0-3D5A-6E43-1615AD14A679}"/>
                  </a:ext>
                </a:extLst>
              </p:cNvPr>
              <p:cNvSpPr>
                <a:spLocks noGrp="1" noRot="1" noChangeAspect="1" noMove="1" noResize="1" noEditPoints="1" noAdjustHandles="1" noChangeArrowheads="1" noChangeShapeType="1" noTextEdit="1"/>
              </p:cNvSpPr>
              <p:nvPr>
                <p:ph idx="1"/>
              </p:nvPr>
            </p:nvSpPr>
            <p:spPr>
              <a:xfrm>
                <a:off x="5295900" y="1825624"/>
                <a:ext cx="6896100" cy="5032375"/>
              </a:xfrm>
              <a:blipFill>
                <a:blip r:embed="rId3"/>
                <a:stretch>
                  <a:fillRect l="-1592" t="-1937" r="-114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B2F3CC40-49C1-A17A-D102-481B76DDA4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163" y="2636159"/>
            <a:ext cx="4926724" cy="2995382"/>
          </a:xfrm>
          <a:prstGeom prst="rect">
            <a:avLst/>
          </a:prstGeom>
        </p:spPr>
      </p:pic>
    </p:spTree>
    <p:extLst>
      <p:ext uri="{BB962C8B-B14F-4D97-AF65-F5344CB8AC3E}">
        <p14:creationId xmlns:p14="http://schemas.microsoft.com/office/powerpoint/2010/main" val="97855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3733C-58C8-E4B7-FC35-0AEFAEF044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7EC14-5D3D-1ECB-B8D3-E899D7B33B7D}"/>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0C49AE4-0F34-2E99-C4AF-643B19DB56B7}"/>
                  </a:ext>
                </a:extLst>
              </p:cNvPr>
              <p:cNvSpPr>
                <a:spLocks noGrp="1"/>
              </p:cNvSpPr>
              <p:nvPr>
                <p:ph idx="1"/>
              </p:nvPr>
            </p:nvSpPr>
            <p:spPr>
              <a:xfrm>
                <a:off x="5475250" y="1825624"/>
                <a:ext cx="6716750" cy="5032375"/>
              </a:xfrm>
            </p:spPr>
            <p:txBody>
              <a:bodyPr>
                <a:normAutofit/>
              </a:bodyPr>
              <a:lstStyle/>
              <a:p>
                <a:r>
                  <a:rPr lang="pt-BR" dirty="0"/>
                  <a:t>A porta de </a:t>
                </a:r>
                <a:r>
                  <a:rPr lang="pt-BR" i="1" dirty="0"/>
                  <a:t>reset</a:t>
                </a:r>
                <a:r>
                  <a:rPr lang="pt-BR" dirty="0"/>
                  <a:t> é responsável pela </a:t>
                </a:r>
                <a:r>
                  <a:rPr lang="pt-BR" b="1" dirty="0">
                    <a:solidFill>
                      <a:schemeClr val="accent2"/>
                    </a:solidFill>
                  </a:rPr>
                  <a:t>memória de curto prazo</a:t>
                </a:r>
                <a:r>
                  <a:rPr lang="pt-BR" dirty="0"/>
                  <a:t>.</a:t>
                </a:r>
              </a:p>
              <a:p>
                <a:r>
                  <a:rPr lang="pt-BR" dirty="0"/>
                  <a:t>Decide o </a:t>
                </a:r>
                <a:r>
                  <a:rPr lang="pt-BR" b="1" dirty="0">
                    <a:solidFill>
                      <a:schemeClr val="accent1"/>
                    </a:solidFill>
                  </a:rPr>
                  <a:t>quanto de informação passada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a:t>
                </a:r>
                <a:r>
                  <a:rPr lang="en-US" dirty="0" err="1">
                    <a:solidFill>
                      <a:srgbClr val="222222"/>
                    </a:solidFill>
                  </a:rPr>
                  <a:t>entra</a:t>
                </a:r>
                <a:r>
                  <a:rPr lang="en-US" dirty="0">
                    <a:solidFill>
                      <a:srgbClr val="222222"/>
                    </a:solidFill>
                  </a:rPr>
                  <a:t> no </a:t>
                </a:r>
                <a:r>
                  <a:rPr lang="en-US" dirty="0" err="1">
                    <a:solidFill>
                      <a:srgbClr val="222222"/>
                    </a:solidFill>
                  </a:rPr>
                  <a:t>cálculo</a:t>
                </a:r>
                <a:r>
                  <a:rPr lang="en-US" dirty="0">
                    <a:solidFill>
                      <a:srgbClr val="222222"/>
                    </a:solidFill>
                  </a:rPr>
                  <a:t> do </a:t>
                </a:r>
                <a:r>
                  <a:rPr lang="en-US" dirty="0" err="1">
                    <a:solidFill>
                      <a:srgbClr val="222222"/>
                    </a:solidFill>
                  </a:rPr>
                  <a:t>candidato</a:t>
                </a:r>
                <a:r>
                  <a:rPr lang="en-US" dirty="0">
                    <a:solidFill>
                      <a:srgbClr val="222222"/>
                    </a:solidFill>
                  </a:rPr>
                  <a:t>,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𝒉</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i="1">
                            <a:latin typeface="Cambria Math" panose="02040503050406030204" pitchFamily="18" charset="0"/>
                          </a:rPr>
                          <m:t>𝑡</m:t>
                        </m:r>
                      </m:sub>
                    </m:sSub>
                    <m:r>
                      <a:rPr lang="pt-BR" b="1"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𝟎</m:t>
                    </m:r>
                  </m:oMath>
                </a14:m>
                <a:r>
                  <a:rPr lang="en-US" dirty="0">
                    <a:solidFill>
                      <a:srgbClr val="222222"/>
                    </a:solidFill>
                  </a:rPr>
                  <a:t> ignora o passado,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𝒓</m:t>
                        </m:r>
                      </m:e>
                      <m:sub>
                        <m:r>
                          <a:rPr lang="pt-BR" i="1">
                            <a:latin typeface="Cambria Math" panose="02040503050406030204" pitchFamily="18" charset="0"/>
                          </a:rPr>
                          <m:t>𝑡</m:t>
                        </m:r>
                      </m:sub>
                    </m:sSub>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en-US" dirty="0">
                    <a:solidFill>
                      <a:srgbClr val="222222"/>
                    </a:solidFill>
                  </a:rPr>
                  <a:t> usa todo o passado.</a:t>
                </a:r>
                <a:endParaRPr lang="pt-BR" dirty="0"/>
              </a:p>
              <a:p>
                <a:r>
                  <a:rPr lang="pt-BR" dirty="0"/>
                  <a:t>A célula GRU </a:t>
                </a:r>
                <a:r>
                  <a:rPr lang="pt-BR" b="1" dirty="0">
                    <a:solidFill>
                      <a:srgbClr val="00B050"/>
                    </a:solidFill>
                  </a:rPr>
                  <a:t>não tem porta de saída</a:t>
                </a:r>
                <a:r>
                  <a:rPr lang="pt-BR" dirty="0"/>
                  <a:t>. </a:t>
                </a:r>
                <a:endParaRPr lang="pt-BR" b="1" dirty="0">
                  <a:solidFill>
                    <a:schemeClr val="accent2"/>
                  </a:solidFill>
                </a:endParaRPr>
              </a:p>
              <a:p>
                <a:r>
                  <a:rPr lang="pt-BR" b="1" dirty="0">
                    <a:solidFill>
                      <a:schemeClr val="accent2"/>
                    </a:solidFill>
                  </a:rPr>
                  <a:t>O vetor de estado oculto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chemeClr val="accent2"/>
                    </a:solidFill>
                  </a:rPr>
                  <a:t>completo é exposto na saída</a:t>
                </a:r>
                <a:r>
                  <a:rPr lang="pt-BR" dirty="0"/>
                  <a:t> a cada passo.</a:t>
                </a:r>
              </a:p>
              <a:p>
                <a:r>
                  <a:rPr lang="pt-BR" dirty="0"/>
                  <a:t>Sem porta de saída, elimina a chance de guardar informação sem expô-la.</a:t>
                </a:r>
              </a:p>
            </p:txBody>
          </p:sp>
        </mc:Choice>
        <mc:Fallback>
          <p:sp>
            <p:nvSpPr>
              <p:cNvPr id="3" name="Content Placeholder 2">
                <a:extLst>
                  <a:ext uri="{FF2B5EF4-FFF2-40B4-BE49-F238E27FC236}">
                    <a16:creationId xmlns:a16="http://schemas.microsoft.com/office/drawing/2014/main" id="{30C49AE4-0F34-2E99-C4AF-643B19DB56B7}"/>
                  </a:ext>
                </a:extLst>
              </p:cNvPr>
              <p:cNvSpPr>
                <a:spLocks noGrp="1" noRot="1" noChangeAspect="1" noMove="1" noResize="1" noEditPoints="1" noAdjustHandles="1" noChangeArrowheads="1" noChangeShapeType="1" noTextEdit="1"/>
              </p:cNvSpPr>
              <p:nvPr>
                <p:ph idx="1"/>
              </p:nvPr>
            </p:nvSpPr>
            <p:spPr>
              <a:xfrm>
                <a:off x="5475250" y="1825624"/>
                <a:ext cx="6716750" cy="5032375"/>
              </a:xfrm>
              <a:blipFill>
                <a:blip r:embed="rId3"/>
                <a:stretch>
                  <a:fillRect l="-1633"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74035CD6-6BE9-0080-53D5-3C59C963129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7407" y="2602706"/>
            <a:ext cx="4926724" cy="2995382"/>
          </a:xfrm>
          <a:prstGeom prst="rect">
            <a:avLst/>
          </a:prstGeom>
        </p:spPr>
      </p:pic>
    </p:spTree>
    <p:extLst>
      <p:ext uri="{BB962C8B-B14F-4D97-AF65-F5344CB8AC3E}">
        <p14:creationId xmlns:p14="http://schemas.microsoft.com/office/powerpoint/2010/main" val="23947427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D9534-0BDC-5AAE-8B8A-DE28FBF1111D}"/>
              </a:ext>
            </a:extLst>
          </p:cNvPr>
          <p:cNvSpPr>
            <a:spLocks noGrp="1"/>
          </p:cNvSpPr>
          <p:nvPr>
            <p:ph idx="1"/>
          </p:nvPr>
        </p:nvSpPr>
        <p:spPr>
          <a:xfrm>
            <a:off x="296779" y="1685681"/>
            <a:ext cx="11598442" cy="3486637"/>
          </a:xfrm>
        </p:spPr>
        <p:txBody>
          <a:bodyPr>
            <a:normAutofit/>
          </a:bodyPr>
          <a:lstStyle/>
          <a:p>
            <a:pPr marL="0" indent="0" algn="ctr">
              <a:buNone/>
            </a:pPr>
            <a:r>
              <a:rPr lang="pt-BR" sz="6000" dirty="0"/>
              <a:t>Como </a:t>
            </a:r>
            <a:r>
              <a:rPr lang="pt-BR" sz="6000" dirty="0" err="1"/>
              <a:t>LSTMs</a:t>
            </a:r>
            <a:r>
              <a:rPr lang="pt-BR" sz="6000" dirty="0"/>
              <a:t> e </a:t>
            </a:r>
            <a:r>
              <a:rPr lang="pt-BR" sz="6000" dirty="0" err="1"/>
              <a:t>GRUs</a:t>
            </a:r>
            <a:r>
              <a:rPr lang="pt-BR" sz="6000" dirty="0"/>
              <a:t> </a:t>
            </a:r>
            <a:r>
              <a:rPr lang="pt-BR" sz="6000" b="1" dirty="0">
                <a:solidFill>
                  <a:srgbClr val="7030A0"/>
                </a:solidFill>
              </a:rPr>
              <a:t>mitigam</a:t>
            </a:r>
            <a:r>
              <a:rPr lang="pt-BR" sz="6000" dirty="0"/>
              <a:t> o desaparecimento do gradiente e, com isso, mantêm a memória de longo prazo?</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7C2CC-E86F-6285-9CEE-AEE63628EAB7}"/>
              </a:ext>
            </a:extLst>
          </p:cNvPr>
          <p:cNvSpPr>
            <a:spLocks noGrp="1"/>
          </p:cNvSpPr>
          <p:nvPr>
            <p:ph type="title"/>
          </p:nvPr>
        </p:nvSpPr>
        <p:spPr/>
        <p:txBody>
          <a:bodyPr/>
          <a:lstStyle/>
          <a:p>
            <a:r>
              <a:rPr lang="pt-BR" dirty="0"/>
              <a:t>Desaparecimento em RNNs tradicionais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2691B0C-DF41-453D-2999-4912A83FED73}"/>
                  </a:ext>
                </a:extLst>
              </p:cNvPr>
              <p:cNvSpPr>
                <a:spLocks noGrp="1"/>
              </p:cNvSpPr>
              <p:nvPr>
                <p:ph idx="1"/>
              </p:nvPr>
            </p:nvSpPr>
            <p:spPr>
              <a:xfrm>
                <a:off x="5062654" y="1825624"/>
                <a:ext cx="7129346" cy="5032375"/>
              </a:xfrm>
            </p:spPr>
            <p:txBody>
              <a:bodyPr>
                <a:normAutofit/>
              </a:bodyPr>
              <a:lstStyle/>
              <a:p>
                <a:r>
                  <a:rPr lang="pt-BR" noProof="0" dirty="0"/>
                  <a:t>Em células RNN tradicionais, </a:t>
                </a:r>
                <a:r>
                  <a:rPr lang="pt-BR" b="1" noProof="0" dirty="0">
                    <a:solidFill>
                      <a:schemeClr val="accent1"/>
                    </a:solidFill>
                  </a:rPr>
                  <a:t>novo estado </a:t>
                </a:r>
                <a:r>
                  <a:rPr lang="pt-BR" b="1" noProof="0" dirty="0">
                    <a:solidFill>
                      <a:srgbClr val="00B050"/>
                    </a:solidFill>
                  </a:rPr>
                  <a:t>passa por uma tanh</a:t>
                </a:r>
                <a:r>
                  <a:rPr lang="pt-BR" noProof="0" dirty="0"/>
                  <a:t>,</a:t>
                </a:r>
                <a:r>
                  <a:rPr lang="pt-BR" b="1" noProof="0" dirty="0">
                    <a:solidFill>
                      <a:srgbClr val="00B050"/>
                    </a:solidFill>
                  </a:rPr>
                  <a:t> </a:t>
                </a:r>
                <a:r>
                  <a:rPr lang="pt-BR" noProof="0" dirty="0">
                    <a:solidFill>
                      <a:srgbClr val="222222"/>
                    </a:solidFill>
                  </a:rPr>
                  <a:t>e o gradiente é retropropagado por um caminho não linear.</a:t>
                </a:r>
                <a:endParaRPr lang="pt-BR" b="1" noProof="0" dirty="0">
                  <a:solidFill>
                    <a:srgbClr val="00B050"/>
                  </a:solidFill>
                </a:endParaRPr>
              </a:p>
              <a:p>
                <a:pPr marL="0" indent="0">
                  <a:buNone/>
                </a:pPr>
                <a14:m>
                  <m:oMathPara xmlns:m="http://schemas.openxmlformats.org/officeDocument/2006/math">
                    <m:o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r>
                        <a:rPr lang="pt-BR" i="1" noProof="0">
                          <a:latin typeface="Cambria Math" panose="02040503050406030204" pitchFamily="18" charset="0"/>
                        </a:rPr>
                        <m:t>=</m:t>
                      </m:r>
                      <m:func>
                        <m:funcPr>
                          <m:ctrlPr>
                            <a:rPr lang="pt-BR" noProof="0">
                              <a:latin typeface="Cambria Math" panose="02040503050406030204" pitchFamily="18" charset="0"/>
                            </a:rPr>
                          </m:ctrlPr>
                        </m:funcPr>
                        <m:fName>
                          <m:r>
                            <m:rPr>
                              <m:sty m:val="p"/>
                            </m:rPr>
                            <a:rPr lang="pt-BR" noProof="0">
                              <a:latin typeface="Cambria Math" panose="02040503050406030204" pitchFamily="18" charset="0"/>
                            </a:rPr>
                            <m:t>tanh</m:t>
                          </m:r>
                        </m:fName>
                        <m:e>
                          <m:d>
                            <m:dPr>
                              <m:ctrlPr>
                                <a:rPr lang="pt-BR" b="1" i="1" noProof="0">
                                  <a:latin typeface="Cambria Math" panose="02040503050406030204" pitchFamily="18" charset="0"/>
                                </a:rPr>
                              </m:ctrlPr>
                            </m:dPr>
                            <m:e>
                              <m:r>
                                <a:rPr lang="pt-BR" b="1" i="1" noProof="0">
                                  <a:latin typeface="Cambria Math" panose="02040503050406030204" pitchFamily="18" charset="0"/>
                                </a:rPr>
                                <m:t>𝑾</m:t>
                              </m:r>
                              <m:d>
                                <m:dPr>
                                  <m:begChr m:val="["/>
                                  <m:endChr m:val="]"/>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r>
                                    <a:rPr lang="pt-BR" i="1" noProof="0">
                                      <a:latin typeface="Cambria Math" panose="02040503050406030204" pitchFamily="18" charset="0"/>
                                    </a:rPr>
                                    <m:t>, </m:t>
                                  </m:r>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−1</m:t>
                                      </m:r>
                                    </m:sub>
                                  </m:sSub>
                                </m:e>
                              </m:d>
                            </m:e>
                          </m:d>
                        </m:e>
                      </m:func>
                      <m:r>
                        <a:rPr lang="pt-BR" i="1" noProof="0">
                          <a:latin typeface="Cambria Math" panose="02040503050406030204" pitchFamily="18" charset="0"/>
                        </a:rPr>
                        <m:t>.</m:t>
                      </m:r>
                    </m:oMath>
                  </m:oMathPara>
                </a14:m>
                <a:endParaRPr lang="pt-BR" noProof="0" dirty="0"/>
              </a:p>
              <a:p>
                <a:r>
                  <a:rPr lang="pt-BR" dirty="0">
                    <a:solidFill>
                      <a:srgbClr val="222222"/>
                    </a:solidFill>
                  </a:rPr>
                  <a:t>A derivada da tanh vale no máximo 1 (só em 0) e tende a 0 na saturação.</a:t>
                </a:r>
                <a:endParaRPr lang="pt-BR" noProof="0" dirty="0"/>
              </a:p>
              <a:p>
                <a:r>
                  <a:rPr lang="pt-BR" b="1" noProof="0" dirty="0"/>
                  <a:t>Resultado</a:t>
                </a:r>
                <a:r>
                  <a:rPr lang="pt-BR" dirty="0"/>
                  <a:t>: o</a:t>
                </a:r>
                <a:r>
                  <a:rPr lang="pt-BR" noProof="0" dirty="0"/>
                  <a:t> </a:t>
                </a:r>
                <a:r>
                  <a:rPr lang="pt-BR" b="1" noProof="0" dirty="0">
                    <a:solidFill>
                      <a:srgbClr val="7030A0"/>
                    </a:solidFill>
                  </a:rPr>
                  <a:t>gradiente diminui exponencialmente</a:t>
                </a:r>
                <a:r>
                  <a:rPr lang="pt-BR" noProof="0" dirty="0"/>
                  <a:t> à medida que volta no tempo, </a:t>
                </a:r>
                <a:r>
                  <a:rPr lang="pt-BR" b="1" noProof="0" dirty="0">
                    <a:solidFill>
                      <a:schemeClr val="accent2"/>
                    </a:solidFill>
                  </a:rPr>
                  <a:t>impedindo que a rede aprenda dependências de longo prazo</a:t>
                </a:r>
                <a:r>
                  <a:rPr lang="pt-BR" noProof="0" dirty="0"/>
                  <a:t>.</a:t>
                </a:r>
              </a:p>
            </p:txBody>
          </p:sp>
        </mc:Choice>
        <mc:Fallback>
          <p:sp>
            <p:nvSpPr>
              <p:cNvPr id="3" name="Content Placeholder 2">
                <a:extLst>
                  <a:ext uri="{FF2B5EF4-FFF2-40B4-BE49-F238E27FC236}">
                    <a16:creationId xmlns:a16="http://schemas.microsoft.com/office/drawing/2014/main" id="{72691B0C-DF41-453D-2999-4912A83FED73}"/>
                  </a:ext>
                </a:extLst>
              </p:cNvPr>
              <p:cNvSpPr>
                <a:spLocks noGrp="1" noRot="1" noChangeAspect="1" noMove="1" noResize="1" noEditPoints="1" noAdjustHandles="1" noChangeArrowheads="1" noChangeShapeType="1" noTextEdit="1"/>
              </p:cNvSpPr>
              <p:nvPr>
                <p:ph idx="1"/>
              </p:nvPr>
            </p:nvSpPr>
            <p:spPr>
              <a:xfrm>
                <a:off x="5062654" y="1825624"/>
                <a:ext cx="7129346" cy="5032375"/>
              </a:xfrm>
              <a:blipFill>
                <a:blip r:embed="rId3"/>
                <a:stretch>
                  <a:fillRect l="-1538" t="-193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945A00CD-C690-0519-A0B6-48532CE3E9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9385" y="3177798"/>
            <a:ext cx="4689828" cy="2328026"/>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846F83-8A94-AC30-CA13-A79DBA57A20B}"/>
              </a:ext>
            </a:extLst>
          </p:cNvPr>
          <p:cNvSpPr>
            <a:spLocks noGrp="1"/>
          </p:cNvSpPr>
          <p:nvPr>
            <p:ph type="title"/>
          </p:nvPr>
        </p:nvSpPr>
        <p:spPr/>
        <p:txBody>
          <a:bodyPr/>
          <a:lstStyle/>
          <a:p>
            <a:r>
              <a:rPr lang="pt-BR" dirty="0"/>
              <a:t>Como </a:t>
            </a:r>
            <a:r>
              <a:rPr lang="pt-BR" dirty="0" err="1"/>
              <a:t>LSTMs</a:t>
            </a:r>
            <a:r>
              <a:rPr lang="pt-BR" dirty="0"/>
              <a:t> e </a:t>
            </a:r>
            <a:r>
              <a:rPr lang="pt-BR" dirty="0" err="1"/>
              <a:t>GRUs</a:t>
            </a:r>
            <a:r>
              <a:rPr lang="pt-BR" dirty="0"/>
              <a:t> atacam o problema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4731FB8-17E6-6325-5B4E-B3F89A3E6231}"/>
                  </a:ext>
                </a:extLst>
              </p:cNvPr>
              <p:cNvSpPr>
                <a:spLocks noGrp="1"/>
              </p:cNvSpPr>
              <p:nvPr>
                <p:ph idx="1"/>
              </p:nvPr>
            </p:nvSpPr>
            <p:spPr>
              <a:xfrm>
                <a:off x="5464098" y="1825624"/>
                <a:ext cx="6545765" cy="5032375"/>
              </a:xfrm>
            </p:spPr>
            <p:txBody>
              <a:bodyPr>
                <a:normAutofit/>
              </a:bodyPr>
              <a:lstStyle/>
              <a:p>
                <a:r>
                  <a:rPr lang="pt-BR" noProof="0" dirty="0">
                    <a:solidFill>
                      <a:srgbClr val="222222"/>
                    </a:solidFill>
                  </a:rPr>
                  <a:t>O caminho que </a:t>
                </a:r>
                <a:r>
                  <a:rPr lang="pt-BR" b="1" dirty="0">
                    <a:solidFill>
                      <a:srgbClr val="7030A0"/>
                    </a:solidFill>
                  </a:rPr>
                  <a:t>modifica o estado da célula</a:t>
                </a:r>
                <a:r>
                  <a:rPr lang="pt-BR" noProof="0" dirty="0">
                    <a:solidFill>
                      <a:srgbClr val="222222"/>
                    </a:solidFill>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r>
                      <a:rPr lang="pt-BR" b="1" i="1">
                        <a:latin typeface="Cambria Math" panose="02040503050406030204" pitchFamily="18" charset="0"/>
                        <a:ea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noProof="0" dirty="0">
                    <a:solidFill>
                      <a:srgbClr val="222222"/>
                    </a:solidFill>
                  </a:rPr>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b="1"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noProof="0" dirty="0">
                    <a:solidFill>
                      <a:srgbClr val="222222"/>
                    </a:solidFill>
                  </a:rPr>
                  <a:t>) </a:t>
                </a:r>
                <a:r>
                  <a:rPr lang="pt-BR" b="1" noProof="0" dirty="0">
                    <a:solidFill>
                      <a:schemeClr val="accent2"/>
                    </a:solidFill>
                  </a:rPr>
                  <a:t>tem apenas soma e multiplicação elemento a elemento</a:t>
                </a:r>
                <a:r>
                  <a:rPr lang="pt-BR" noProof="0" dirty="0">
                    <a:solidFill>
                      <a:srgbClr val="222222"/>
                    </a:solidFill>
                  </a:rPr>
                  <a:t>: sem tanh e sem matriz de pesos</a:t>
                </a:r>
                <a:endParaRPr lang="pt-BR" noProof="0" dirty="0"/>
              </a:p>
              <a:p>
                <a:pPr marL="0" indent="0">
                  <a:buNone/>
                </a:pPr>
                <a14:m>
                  <m:oMathPara xmlns:m="http://schemas.openxmlformats.org/officeDocument/2006/math">
                    <m:o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b="0" i="0" noProof="0" smtClean="0">
                          <a:latin typeface="Cambria Math" panose="02040503050406030204" pitchFamily="18" charset="0"/>
                        </a:rPr>
                        <m:t> (</m:t>
                      </m:r>
                      <m:r>
                        <m:rPr>
                          <m:sty m:val="p"/>
                        </m:rPr>
                        <a:rPr lang="pt-BR" b="0" i="0" noProof="0" smtClean="0">
                          <a:latin typeface="Cambria Math" panose="02040503050406030204" pitchFamily="18" charset="0"/>
                        </a:rPr>
                        <m:t>LSTM</m:t>
                      </m:r>
                      <m:r>
                        <a:rPr lang="pt-BR" b="0" i="0" noProof="0" smtClean="0">
                          <a:latin typeface="Cambria Math" panose="02040503050406030204" pitchFamily="18" charset="0"/>
                        </a:rPr>
                        <m:t>)</m:t>
                      </m:r>
                    </m:oMath>
                  </m:oMathPara>
                </a14:m>
                <a:endParaRPr lang="pt-BR" noProof="0" dirty="0">
                  <a:latin typeface="Cambria Math" panose="02040503050406030204" pitchFamily="18" charset="0"/>
                </a:endParaRPr>
              </a:p>
              <a:p>
                <a:pPr marL="0" indent="0">
                  <a:buNone/>
                </a:pPr>
                <a:r>
                  <a:rPr lang="pt-BR" noProof="0" dirty="0">
                    <a:latin typeface="Cambria Math" panose="02040503050406030204" pitchFamily="18" charset="0"/>
                  </a:rPr>
                  <a:t>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𝒛</m:t>
                        </m:r>
                      </m:e>
                      <m:sub>
                        <m:r>
                          <a:rPr lang="pt-BR" i="1" noProof="0">
                            <a:latin typeface="Cambria Math" panose="02040503050406030204" pitchFamily="18" charset="0"/>
                          </a:rPr>
                          <m:t>𝑡</m:t>
                        </m:r>
                      </m:sub>
                    </m:sSub>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b="1" i="1" noProof="0" smtClean="0">
                            <a:latin typeface="Cambria Math" panose="02040503050406030204" pitchFamily="18" charset="0"/>
                          </a:rPr>
                        </m:ctrlPr>
                      </m:sSubPr>
                      <m:e>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m:t>
                            </m:r>
                            <m:r>
                              <a:rPr lang="pt-BR" b="1" i="1" noProof="0" smtClean="0">
                                <a:latin typeface="Cambria Math" panose="02040503050406030204" pitchFamily="18" charset="0"/>
                              </a:rPr>
                              <m:t>𝟏</m:t>
                            </m:r>
                            <m:r>
                              <a:rPr lang="pt-BR" b="1" i="1" noProof="0" smtClean="0">
                                <a:latin typeface="Cambria Math" panose="02040503050406030204" pitchFamily="18" charset="0"/>
                              </a:rPr>
                              <m:t>−</m:t>
                            </m:r>
                            <m:r>
                              <a:rPr lang="pt-BR" b="1" i="1" noProof="0" smtClean="0">
                                <a:latin typeface="Cambria Math" panose="02040503050406030204" pitchFamily="18" charset="0"/>
                              </a:rPr>
                              <m:t>𝒛</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acc>
                          <m:accPr>
                            <m:chr m:val="̃"/>
                            <m:ctrlPr>
                              <a:rPr lang="pt-BR" b="1" i="1" noProof="0" smtClean="0">
                                <a:latin typeface="Cambria Math" panose="02040503050406030204" pitchFamily="18" charset="0"/>
                              </a:rPr>
                            </m:ctrlPr>
                          </m:accPr>
                          <m:e>
                            <m:r>
                              <a:rPr lang="pt-BR" b="1" i="1" noProof="0" smtClean="0">
                                <a:latin typeface="Cambria Math" panose="02040503050406030204" pitchFamily="18" charset="0"/>
                              </a:rPr>
                              <m:t>𝒉</m:t>
                            </m:r>
                          </m:e>
                        </m:acc>
                      </m:e>
                      <m:sub>
                        <m:r>
                          <a:rPr lang="pt-BR" i="1" noProof="0">
                            <a:latin typeface="Cambria Math" panose="02040503050406030204" pitchFamily="18" charset="0"/>
                          </a:rPr>
                          <m:t>𝑡</m:t>
                        </m:r>
                      </m:sub>
                    </m:sSub>
                  </m:oMath>
                </a14:m>
                <a:r>
                  <a:rPr lang="pt-BR" noProof="0" dirty="0">
                    <a:latin typeface="Cambria Math" panose="02040503050406030204" pitchFamily="18" charset="0"/>
                  </a:rPr>
                  <a:t> (GRU)</a:t>
                </a:r>
              </a:p>
              <a:p>
                <a:r>
                  <a:rPr lang="pt-BR" dirty="0">
                    <a:solidFill>
                      <a:srgbClr val="222222"/>
                    </a:solidFill>
                  </a:rPr>
                  <a:t>Se</a:t>
                </a:r>
                <a:r>
                  <a:rPr lang="pt-BR" dirty="0">
                    <a:latin typeface="Cambria Math" panose="02040503050406030204" pitchFamily="18" charset="0"/>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r>
                      <a:rPr lang="pt-BR" b="1"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pt-BR" dirty="0">
                    <a:solidFill>
                      <a:srgbClr val="222222"/>
                    </a:solidFill>
                  </a:rPr>
                  <a:t> ou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𝟏</m:t>
                    </m:r>
                  </m:oMath>
                </a14:m>
                <a:r>
                  <a:rPr lang="pt-BR" dirty="0">
                    <a:solidFill>
                      <a:srgbClr val="222222"/>
                    </a:solidFill>
                  </a:rPr>
                  <a:t> o gradiente é retropropagado quase que integralmente.</a:t>
                </a:r>
                <a:endParaRPr lang="pt-BR" noProof="0" dirty="0">
                  <a:latin typeface="Cambria Math" panose="02040503050406030204" pitchFamily="18" charset="0"/>
                </a:endParaRPr>
              </a:p>
            </p:txBody>
          </p:sp>
        </mc:Choice>
        <mc:Fallback>
          <p:sp>
            <p:nvSpPr>
              <p:cNvPr id="3" name="Content Placeholder 2">
                <a:extLst>
                  <a:ext uri="{FF2B5EF4-FFF2-40B4-BE49-F238E27FC236}">
                    <a16:creationId xmlns:a16="http://schemas.microsoft.com/office/drawing/2014/main" id="{04731FB8-17E6-6325-5B4E-B3F89A3E6231}"/>
                  </a:ext>
                </a:extLst>
              </p:cNvPr>
              <p:cNvSpPr>
                <a:spLocks noGrp="1" noRot="1" noChangeAspect="1" noMove="1" noResize="1" noEditPoints="1" noAdjustHandles="1" noChangeArrowheads="1" noChangeShapeType="1" noTextEdit="1"/>
              </p:cNvSpPr>
              <p:nvPr>
                <p:ph idx="1"/>
              </p:nvPr>
            </p:nvSpPr>
            <p:spPr>
              <a:xfrm>
                <a:off x="5464098" y="1825624"/>
                <a:ext cx="6545765" cy="5032375"/>
              </a:xfrm>
              <a:blipFill>
                <a:blip r:embed="rId2"/>
                <a:stretch>
                  <a:fillRect l="-1676" t="-1937" r="-139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7" name="Imagem 6">
            <a:extLst>
              <a:ext uri="{FF2B5EF4-FFF2-40B4-BE49-F238E27FC236}">
                <a16:creationId xmlns:a16="http://schemas.microsoft.com/office/drawing/2014/main" id="{3540DDFD-8900-4E48-7C98-3C262F3FE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38689695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846F83-8A94-AC30-CA13-A79DBA57A20B}"/>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4731FB8-17E6-6325-5B4E-B3F89A3E6231}"/>
                  </a:ext>
                </a:extLst>
              </p:cNvPr>
              <p:cNvSpPr>
                <a:spLocks noGrp="1"/>
              </p:cNvSpPr>
              <p:nvPr>
                <p:ph idx="1"/>
              </p:nvPr>
            </p:nvSpPr>
            <p:spPr>
              <a:xfrm>
                <a:off x="5414480" y="1825624"/>
                <a:ext cx="6777519" cy="5032375"/>
              </a:xfrm>
            </p:spPr>
            <p:txBody>
              <a:bodyPr>
                <a:normAutofit/>
              </a:bodyPr>
              <a:lstStyle/>
              <a:p>
                <a:r>
                  <a:rPr lang="pt-BR" dirty="0"/>
                  <a:t>Esse </a:t>
                </a:r>
                <a:r>
                  <a:rPr lang="pt-BR" b="1" dirty="0">
                    <a:solidFill>
                      <a:srgbClr val="00B050"/>
                    </a:solidFill>
                  </a:rPr>
                  <a:t>caminho controlado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rgbClr val="222222"/>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solidFill>
                      <a:srgbClr val="222222"/>
                    </a:solidFill>
                  </a:rPr>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permite que os gradientes retrocedam</a:t>
                </a:r>
                <a:r>
                  <a:rPr lang="pt-BR" dirty="0"/>
                  <a:t> </a:t>
                </a:r>
                <a:r>
                  <a:rPr lang="pt-BR" b="1" dirty="0">
                    <a:solidFill>
                      <a:schemeClr val="accent1"/>
                    </a:solidFill>
                  </a:rPr>
                  <a:t>por longos instantes de tempo </a:t>
                </a:r>
                <a:r>
                  <a:rPr lang="pt-BR" dirty="0"/>
                  <a:t>sem </a:t>
                </a:r>
                <a:r>
                  <a:rPr lang="pt-BR" b="1" dirty="0">
                    <a:solidFill>
                      <a:schemeClr val="accent1"/>
                    </a:solidFill>
                  </a:rPr>
                  <a:t>desaparecer</a:t>
                </a:r>
                <a:r>
                  <a:rPr lang="pt-BR" dirty="0"/>
                  <a:t>.</a:t>
                </a:r>
              </a:p>
              <a:p>
                <a:r>
                  <a:rPr lang="pt-BR" dirty="0"/>
                  <a:t>A rede </a:t>
                </a:r>
                <a:r>
                  <a:rPr lang="pt-BR" b="1" dirty="0">
                    <a:solidFill>
                      <a:srgbClr val="00B050"/>
                    </a:solidFill>
                  </a:rPr>
                  <a:t>aprende</a:t>
                </a:r>
                <a:r>
                  <a:rPr lang="pt-BR" dirty="0">
                    <a:solidFill>
                      <a:srgbClr val="00B050"/>
                    </a:solidFill>
                  </a:rPr>
                  <a:t> </a:t>
                </a:r>
                <a:r>
                  <a:rPr lang="pt-BR" dirty="0"/>
                  <a:t>a decidir quando deixar o </a:t>
                </a:r>
                <a:r>
                  <a:rPr lang="pt-BR" b="1" dirty="0">
                    <a:solidFill>
                      <a:schemeClr val="accent2"/>
                    </a:solidFill>
                  </a:rPr>
                  <a:t>gradiente desaparecer </a:t>
                </a:r>
                <a:r>
                  <a:rPr lang="pt-BR" dirty="0"/>
                  <a:t>e quando </a:t>
                </a:r>
                <a:r>
                  <a:rPr lang="pt-BR" b="1" dirty="0">
                    <a:solidFill>
                      <a:schemeClr val="accent2"/>
                    </a:solidFill>
                  </a:rPr>
                  <a:t>preservá-lo</a:t>
                </a:r>
                <a:r>
                  <a:rPr lang="pt-BR" dirty="0"/>
                  <a:t>.</a:t>
                </a:r>
              </a:p>
              <a:p>
                <a:r>
                  <a:rPr lang="pt-BR" dirty="0"/>
                  <a:t>Portanto, as portas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rgbClr val="222222"/>
                    </a:solidFill>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rgbClr val="222222"/>
                    </a:solidFill>
                  </a:rPr>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permitem que a rede decida o que guardar e o que descartar.</a:t>
                </a:r>
              </a:p>
            </p:txBody>
          </p:sp>
        </mc:Choice>
        <mc:Fallback>
          <p:sp>
            <p:nvSpPr>
              <p:cNvPr id="3" name="Content Placeholder 2">
                <a:extLst>
                  <a:ext uri="{FF2B5EF4-FFF2-40B4-BE49-F238E27FC236}">
                    <a16:creationId xmlns:a16="http://schemas.microsoft.com/office/drawing/2014/main" id="{04731FB8-17E6-6325-5B4E-B3F89A3E6231}"/>
                  </a:ext>
                </a:extLst>
              </p:cNvPr>
              <p:cNvSpPr>
                <a:spLocks noGrp="1" noRot="1" noChangeAspect="1" noMove="1" noResize="1" noEditPoints="1" noAdjustHandles="1" noChangeArrowheads="1" noChangeShapeType="1" noTextEdit="1"/>
              </p:cNvSpPr>
              <p:nvPr>
                <p:ph idx="1"/>
              </p:nvPr>
            </p:nvSpPr>
            <p:spPr>
              <a:xfrm>
                <a:off x="5414480" y="1825624"/>
                <a:ext cx="6777519" cy="5032375"/>
              </a:xfrm>
              <a:blipFill>
                <a:blip r:embed="rId2"/>
                <a:stretch>
                  <a:fillRect l="-1619" t="-1937" r="-179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Imagem 4">
            <a:extLst>
              <a:ext uri="{FF2B5EF4-FFF2-40B4-BE49-F238E27FC236}">
                <a16:creationId xmlns:a16="http://schemas.microsoft.com/office/drawing/2014/main" id="{8D22978F-A98B-7B35-B4FF-07AD9BDAC9D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21685466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D9534-0BDC-5AAE-8B8A-DE28FBF1111D}"/>
              </a:ext>
            </a:extLst>
          </p:cNvPr>
          <p:cNvSpPr>
            <a:spLocks noGrp="1"/>
          </p:cNvSpPr>
          <p:nvPr>
            <p:ph idx="1"/>
          </p:nvPr>
        </p:nvSpPr>
        <p:spPr>
          <a:xfrm>
            <a:off x="450351" y="2890341"/>
            <a:ext cx="11291298" cy="1077317"/>
          </a:xfrm>
        </p:spPr>
        <p:txBody>
          <a:bodyPr>
            <a:normAutofit/>
          </a:bodyPr>
          <a:lstStyle/>
          <a:p>
            <a:pPr marL="0" indent="0" algn="ctr">
              <a:buNone/>
            </a:pPr>
            <a:r>
              <a:rPr lang="pt-BR" sz="6000" dirty="0"/>
              <a:t>Diferentes aplicações para as 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a16="http://schemas.microsoft.com/office/drawing/2014/main"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b="1" dirty="0">
                <a:solidFill>
                  <a:schemeClr val="accent2"/>
                </a:solidFill>
              </a:rPr>
              <a:t>Não há dados sequenciais envolvidos</a:t>
            </a:r>
            <a:r>
              <a:rPr lang="pt-BR" dirty="0"/>
              <a:t>.</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a16="http://schemas.microsoft.com/office/drawing/2014/main" id="{15122A6D-DC79-2AF9-1085-14936C685310}"/>
              </a:ext>
            </a:extLst>
          </p:cNvPr>
          <p:cNvGrpSpPr/>
          <p:nvPr/>
        </p:nvGrpSpPr>
        <p:grpSpPr>
          <a:xfrm>
            <a:off x="2466087" y="1895280"/>
            <a:ext cx="393407" cy="4188675"/>
            <a:chOff x="1754370" y="1988288"/>
            <a:chExt cx="393407" cy="4188675"/>
          </a:xfrm>
        </p:grpSpPr>
        <p:sp>
          <p:nvSpPr>
            <p:cNvPr id="4" name="Rectangle 3">
              <a:extLst>
                <a:ext uri="{FF2B5EF4-FFF2-40B4-BE49-F238E27FC236}">
                  <a16:creationId xmlns:a16="http://schemas.microsoft.com/office/drawing/2014/main"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grpSp>
        <p:nvGrpSpPr>
          <p:cNvPr id="19" name="Agrupar 18">
            <a:extLst>
              <a:ext uri="{FF2B5EF4-FFF2-40B4-BE49-F238E27FC236}">
                <a16:creationId xmlns:a16="http://schemas.microsoft.com/office/drawing/2014/main" id="{8A95AB21-C2EA-0465-36B4-A7DEBD773301}"/>
              </a:ext>
            </a:extLst>
          </p:cNvPr>
          <p:cNvGrpSpPr/>
          <p:nvPr/>
        </p:nvGrpSpPr>
        <p:grpSpPr>
          <a:xfrm>
            <a:off x="3532515" y="5802560"/>
            <a:ext cx="4106535" cy="831618"/>
            <a:chOff x="3532515" y="5802560"/>
            <a:chExt cx="4106535" cy="831618"/>
          </a:xfrm>
        </p:grpSpPr>
        <p:sp>
          <p:nvSpPr>
            <p:cNvPr id="7" name="Rectangle 4">
              <a:extLst>
                <a:ext uri="{FF2B5EF4-FFF2-40B4-BE49-F238E27FC236}">
                  <a16:creationId xmlns:a16="http://schemas.microsoft.com/office/drawing/2014/main" id="{1AEF0F1E-D18A-69B9-8100-6562DDA956FD}"/>
                </a:ext>
              </a:extLst>
            </p:cNvPr>
            <p:cNvSpPr>
              <a:spLocks noChangeAspect="1"/>
            </p:cNvSpPr>
            <p:nvPr/>
          </p:nvSpPr>
          <p:spPr>
            <a:xfrm>
              <a:off x="3619601" y="6110958"/>
              <a:ext cx="180000" cy="49621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0" name="CaixaDeTexto 9">
              <a:extLst>
                <a:ext uri="{FF2B5EF4-FFF2-40B4-BE49-F238E27FC236}">
                  <a16:creationId xmlns:a16="http://schemas.microsoft.com/office/drawing/2014/main" id="{F0205C4C-EF1E-AD08-1638-F516E21033EF}"/>
                </a:ext>
              </a:extLst>
            </p:cNvPr>
            <p:cNvSpPr txBox="1"/>
            <p:nvPr/>
          </p:nvSpPr>
          <p:spPr>
            <a:xfrm>
              <a:off x="3799601" y="6083955"/>
              <a:ext cx="979591" cy="523220"/>
            </a:xfrm>
            <a:prstGeom prst="rect">
              <a:avLst/>
            </a:prstGeom>
            <a:noFill/>
          </p:spPr>
          <p:txBody>
            <a:bodyPr wrap="square" rtlCol="0">
              <a:spAutoFit/>
            </a:bodyPr>
            <a:lstStyle/>
            <a:p>
              <a:pPr algn="ctr"/>
              <a:r>
                <a:rPr lang="pt-BR" sz="1400" dirty="0"/>
                <a:t>Célula recorrente</a:t>
              </a:r>
              <a:endParaRPr lang="en-US" sz="1400" dirty="0"/>
            </a:p>
          </p:txBody>
        </p:sp>
        <p:sp>
          <p:nvSpPr>
            <p:cNvPr id="11" name="Rectangle 4">
              <a:extLst>
                <a:ext uri="{FF2B5EF4-FFF2-40B4-BE49-F238E27FC236}">
                  <a16:creationId xmlns:a16="http://schemas.microsoft.com/office/drawing/2014/main" id="{7944A1DE-4D0F-01A0-4EE6-F5FEC92F3E29}"/>
                </a:ext>
              </a:extLst>
            </p:cNvPr>
            <p:cNvSpPr>
              <a:spLocks noChangeAspect="1"/>
            </p:cNvSpPr>
            <p:nvPr/>
          </p:nvSpPr>
          <p:spPr>
            <a:xfrm>
              <a:off x="4936410" y="6110958"/>
              <a:ext cx="180000" cy="49621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7A758A03-28F9-6577-A08D-C8D03DF0D316}"/>
                    </a:ext>
                  </a:extLst>
                </p:cNvPr>
                <p:cNvSpPr txBox="1"/>
                <p:nvPr/>
              </p:nvSpPr>
              <p:spPr>
                <a:xfrm>
                  <a:off x="5100378" y="6110958"/>
                  <a:ext cx="1316809" cy="523220"/>
                </a:xfrm>
                <a:prstGeom prst="rect">
                  <a:avLst/>
                </a:prstGeom>
                <a:noFill/>
              </p:spPr>
              <p:txBody>
                <a:bodyPr wrap="square" rtlCol="0">
                  <a:spAutoFit/>
                </a:bodyPr>
                <a:lstStyle/>
                <a:p>
                  <a:pPr algn="ctr"/>
                  <a:r>
                    <a:rPr lang="pt-BR" sz="1400" dirty="0"/>
                    <a:t>Amostra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2" name="CaixaDeTexto 11">
                  <a:extLst>
                    <a:ext uri="{FF2B5EF4-FFF2-40B4-BE49-F238E27FC236}">
                      <a16:creationId xmlns:a16="http://schemas.microsoft.com/office/drawing/2014/main" id="{7A758A03-28F9-6577-A08D-C8D03DF0D316}"/>
                    </a:ext>
                  </a:extLst>
                </p:cNvPr>
                <p:cNvSpPr txBox="1">
                  <a:spLocks noRot="1" noChangeAspect="1" noMove="1" noResize="1" noEditPoints="1" noAdjustHandles="1" noChangeArrowheads="1" noChangeShapeType="1" noTextEdit="1"/>
                </p:cNvSpPr>
                <p:nvPr/>
              </p:nvSpPr>
              <p:spPr>
                <a:xfrm>
                  <a:off x="5100378" y="6110958"/>
                  <a:ext cx="1316809" cy="523220"/>
                </a:xfrm>
                <a:prstGeom prst="rect">
                  <a:avLst/>
                </a:prstGeom>
                <a:blipFill>
                  <a:blip r:embed="rId4"/>
                  <a:stretch>
                    <a:fillRect t="-1163" b="-11628"/>
                  </a:stretch>
                </a:blipFill>
              </p:spPr>
              <p:txBody>
                <a:bodyPr/>
                <a:lstStyle/>
                <a:p>
                  <a:r>
                    <a:rPr lang="en-US">
                      <a:noFill/>
                    </a:rPr>
                    <a:t> </a:t>
                  </a:r>
                </a:p>
              </p:txBody>
            </p:sp>
          </mc:Fallback>
        </mc:AlternateContent>
        <p:sp>
          <p:nvSpPr>
            <p:cNvPr id="13" name="Rectangle 4">
              <a:extLst>
                <a:ext uri="{FF2B5EF4-FFF2-40B4-BE49-F238E27FC236}">
                  <a16:creationId xmlns:a16="http://schemas.microsoft.com/office/drawing/2014/main" id="{4E0EEB81-462A-7BAE-2557-C9EAD8B47314}"/>
                </a:ext>
              </a:extLst>
            </p:cNvPr>
            <p:cNvSpPr>
              <a:spLocks noChangeAspect="1"/>
            </p:cNvSpPr>
            <p:nvPr/>
          </p:nvSpPr>
          <p:spPr>
            <a:xfrm>
              <a:off x="6382049" y="6110958"/>
              <a:ext cx="180000" cy="4962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1A456E8-254D-7BB3-D272-3FBC9FB4B353}"/>
                    </a:ext>
                  </a:extLst>
                </p:cNvPr>
                <p:cNvSpPr txBox="1"/>
                <p:nvPr/>
              </p:nvSpPr>
              <p:spPr>
                <a:xfrm>
                  <a:off x="6562049" y="6083955"/>
                  <a:ext cx="1077001" cy="523220"/>
                </a:xfrm>
                <a:prstGeom prst="rect">
                  <a:avLst/>
                </a:prstGeom>
                <a:noFill/>
              </p:spPr>
              <p:txBody>
                <a:bodyPr wrap="square" rtlCol="0">
                  <a:spAutoFit/>
                </a:bodyPr>
                <a:lstStyle/>
                <a:p>
                  <a:pPr algn="ctr"/>
                  <a:r>
                    <a:rPr lang="pt-BR" sz="1400" dirty="0"/>
                    <a:t>Saída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7" name="CaixaDeTexto 16">
                  <a:extLst>
                    <a:ext uri="{FF2B5EF4-FFF2-40B4-BE49-F238E27FC236}">
                      <a16:creationId xmlns:a16="http://schemas.microsoft.com/office/drawing/2014/main" id="{C1A456E8-254D-7BB3-D272-3FBC9FB4B353}"/>
                    </a:ext>
                  </a:extLst>
                </p:cNvPr>
                <p:cNvSpPr txBox="1">
                  <a:spLocks noRot="1" noChangeAspect="1" noMove="1" noResize="1" noEditPoints="1" noAdjustHandles="1" noChangeArrowheads="1" noChangeShapeType="1" noTextEdit="1"/>
                </p:cNvSpPr>
                <p:nvPr/>
              </p:nvSpPr>
              <p:spPr>
                <a:xfrm>
                  <a:off x="6562049" y="6083955"/>
                  <a:ext cx="1077001" cy="523220"/>
                </a:xfrm>
                <a:prstGeom prst="rect">
                  <a:avLst/>
                </a:prstGeom>
                <a:blipFill>
                  <a:blip r:embed="rId5"/>
                  <a:stretch>
                    <a:fillRect l="-1130" t="-2326" r="-565" b="-11628"/>
                  </a:stretch>
                </a:blipFill>
              </p:spPr>
              <p:txBody>
                <a:bodyPr/>
                <a:lstStyle/>
                <a:p>
                  <a:r>
                    <a:rPr lang="en-US">
                      <a:noFill/>
                    </a:rPr>
                    <a:t> </a:t>
                  </a:r>
                </a:p>
              </p:txBody>
            </p:sp>
          </mc:Fallback>
        </mc:AlternateContent>
        <p:sp>
          <p:nvSpPr>
            <p:cNvPr id="18" name="CaixaDeTexto 17">
              <a:extLst>
                <a:ext uri="{FF2B5EF4-FFF2-40B4-BE49-F238E27FC236}">
                  <a16:creationId xmlns:a16="http://schemas.microsoft.com/office/drawing/2014/main" id="{3029FE31-547D-0852-38F2-23F0748C5331}"/>
                </a:ext>
              </a:extLst>
            </p:cNvPr>
            <p:cNvSpPr txBox="1"/>
            <p:nvPr/>
          </p:nvSpPr>
          <p:spPr>
            <a:xfrm>
              <a:off x="3532515" y="5802560"/>
              <a:ext cx="877560" cy="307777"/>
            </a:xfrm>
            <a:prstGeom prst="rect">
              <a:avLst/>
            </a:prstGeom>
            <a:noFill/>
          </p:spPr>
          <p:txBody>
            <a:bodyPr wrap="square" rtlCol="0">
              <a:spAutoFit/>
            </a:bodyPr>
            <a:lstStyle/>
            <a:p>
              <a:r>
                <a:rPr lang="pt-BR" sz="1400" b="1" dirty="0"/>
                <a:t>Legenda:</a:t>
              </a:r>
              <a:endParaRPr lang="en-US" sz="1400" b="1" dirty="0"/>
            </a:p>
          </p:txBody>
        </p:sp>
      </p:grpSp>
    </p:spTree>
    <p:extLst>
      <p:ext uri="{BB962C8B-B14F-4D97-AF65-F5344CB8AC3E}">
        <p14:creationId xmlns:p14="http://schemas.microsoft.com/office/powerpoint/2010/main" val="2129197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6FE1B-2F4B-3642-C94B-B94B9E919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a16="http://schemas.microsoft.com/office/drawing/2014/main" id="{310758ED-F051-FFC1-8759-DD2BFDD237A0}"/>
              </a:ext>
            </a:extLst>
          </p:cNvPr>
          <p:cNvSpPr>
            <a:spLocks noGrp="1"/>
          </p:cNvSpPr>
          <p:nvPr>
            <p:ph idx="1"/>
          </p:nvPr>
        </p:nvSpPr>
        <p:spPr>
          <a:xfrm>
            <a:off x="5867400" y="1825624"/>
            <a:ext cx="6200553" cy="5032375"/>
          </a:xfrm>
        </p:spPr>
        <p:txBody>
          <a:bodyPr>
            <a:normAutofit/>
          </a:bodyPr>
          <a:lstStyle/>
          <a:p>
            <a:r>
              <a:rPr lang="pt-BR" dirty="0"/>
              <a:t>Entrada de tamanho fixo.</a:t>
            </a:r>
          </a:p>
          <a:p>
            <a:r>
              <a:rPr lang="pt-BR" dirty="0"/>
              <a:t>Saída de tamanho variável (sequência).</a:t>
            </a:r>
          </a:p>
          <a:p>
            <a:r>
              <a:rPr lang="pt-BR" dirty="0"/>
              <a:t>Rede do tipo </a:t>
            </a:r>
            <a:r>
              <a:rPr lang="pt-BR" b="1" dirty="0">
                <a:solidFill>
                  <a:schemeClr val="accent2"/>
                </a:solidFill>
              </a:rPr>
              <a:t>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Entrada: uma imagem</a:t>
            </a:r>
          </a:p>
          <a:p>
            <a:pPr lvl="2">
              <a:buFont typeface="Courier New" panose="02070309020205020404" pitchFamily="49" charset="0"/>
              <a:buChar char="o"/>
            </a:pPr>
            <a:r>
              <a:rPr lang="pt-BR" dirty="0"/>
              <a:t>Saída: sequência de palavras descrevendo a imagem</a:t>
            </a:r>
          </a:p>
          <a:p>
            <a:pPr lvl="1">
              <a:buFont typeface="Wingdings" panose="05000000000000000000" pitchFamily="2" charset="2"/>
              <a:buChar char="§"/>
            </a:pPr>
            <a:r>
              <a:rPr lang="pt-BR" dirty="0"/>
              <a:t>Geração de música.</a:t>
            </a:r>
          </a:p>
          <a:p>
            <a:pPr lvl="2">
              <a:buFont typeface="Wingdings" panose="05000000000000000000" pitchFamily="2" charset="2"/>
              <a:buChar char="§"/>
            </a:pPr>
            <a:r>
              <a:rPr lang="pt-BR" dirty="0"/>
              <a:t>Entrada: um vetor que representa um gênero musical</a:t>
            </a:r>
          </a:p>
          <a:p>
            <a:pPr lvl="2">
              <a:buFont typeface="Wingdings" panose="05000000000000000000" pitchFamily="2" charset="2"/>
              <a:buChar char="§"/>
            </a:pPr>
            <a:r>
              <a:rPr lang="pt-BR" dirty="0"/>
              <a:t>Saída: as amostras de </a:t>
            </a:r>
            <a:r>
              <a:rPr lang="en-US" dirty="0" err="1"/>
              <a:t>áudio</a:t>
            </a:r>
            <a:r>
              <a:rPr lang="en-US" dirty="0"/>
              <a:t> da </a:t>
            </a:r>
            <a:r>
              <a:rPr lang="en-US" dirty="0" err="1"/>
              <a:t>música</a:t>
            </a:r>
            <a:endParaRPr lang="en-US" dirty="0"/>
          </a:p>
        </p:txBody>
      </p:sp>
      <p:sp>
        <p:nvSpPr>
          <p:cNvPr id="4" name="Rectangle 3">
            <a:extLst>
              <a:ext uri="{FF2B5EF4-FFF2-40B4-BE49-F238E27FC236}">
                <a16:creationId xmlns:a16="http://schemas.microsoft.com/office/drawing/2014/main"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8" name="CaixaDeTexto 17">
                <a:extLst>
                  <a:ext uri="{FF2B5EF4-FFF2-40B4-BE49-F238E27FC236}">
                    <a16:creationId xmlns:a16="http://schemas.microsoft.com/office/drawing/2014/main" id="{DAD9A222-D8FB-75CB-F5D2-C772F08632AC}"/>
                  </a:ext>
                </a:extLst>
              </p:cNvPr>
              <p:cNvSpPr txBox="1"/>
              <p:nvPr/>
            </p:nvSpPr>
            <p:spPr>
              <a:xfrm>
                <a:off x="2939900" y="3927875"/>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p:sp>
            <p:nvSpPr>
              <p:cNvPr id="18" name="CaixaDeTexto 17">
                <a:extLst>
                  <a:ext uri="{FF2B5EF4-FFF2-40B4-BE49-F238E27FC236}">
                    <a16:creationId xmlns:a16="http://schemas.microsoft.com/office/drawing/2014/main" id="{DAD9A222-D8FB-75CB-F5D2-C772F08632AC}"/>
                  </a:ext>
                </a:extLst>
              </p:cNvPr>
              <p:cNvSpPr txBox="1">
                <a:spLocks noRot="1" noChangeAspect="1" noMove="1" noResize="1" noEditPoints="1" noAdjustHandles="1" noChangeArrowheads="1" noChangeShapeType="1" noTextEdit="1"/>
              </p:cNvSpPr>
              <p:nvPr/>
            </p:nvSpPr>
            <p:spPr>
              <a:xfrm>
                <a:off x="2939900" y="3927875"/>
                <a:ext cx="39694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CaixaDeTexto 21">
                <a:extLst>
                  <a:ext uri="{FF2B5EF4-FFF2-40B4-BE49-F238E27FC236}">
                    <a16:creationId xmlns:a16="http://schemas.microsoft.com/office/drawing/2014/main" id="{CCA9D079-A0A0-BB06-617B-0CF96986440F}"/>
                  </a:ext>
                </a:extLst>
              </p:cNvPr>
              <p:cNvSpPr txBox="1"/>
              <p:nvPr/>
            </p:nvSpPr>
            <p:spPr>
              <a:xfrm>
                <a:off x="3739070" y="3935312"/>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p:sp>
            <p:nvSpPr>
              <p:cNvPr id="22" name="CaixaDeTexto 21">
                <a:extLst>
                  <a:ext uri="{FF2B5EF4-FFF2-40B4-BE49-F238E27FC236}">
                    <a16:creationId xmlns:a16="http://schemas.microsoft.com/office/drawing/2014/main" id="{CCA9D079-A0A0-BB06-617B-0CF96986440F}"/>
                  </a:ext>
                </a:extLst>
              </p:cNvPr>
              <p:cNvSpPr txBox="1">
                <a:spLocks noRot="1" noChangeAspect="1" noMove="1" noResize="1" noEditPoints="1" noAdjustHandles="1" noChangeArrowheads="1" noChangeShapeType="1" noTextEdit="1"/>
              </p:cNvSpPr>
              <p:nvPr/>
            </p:nvSpPr>
            <p:spPr>
              <a:xfrm>
                <a:off x="3739070" y="3935312"/>
                <a:ext cx="396949"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322689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4CC4-1F8D-1221-E0A5-2DD7F9D1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a16="http://schemas.microsoft.com/office/drawing/2014/main" id="{426CAEBD-083F-C12D-7B6A-7E3651A6C2E6}"/>
              </a:ext>
            </a:extLst>
          </p:cNvPr>
          <p:cNvSpPr>
            <a:spLocks noGrp="1"/>
          </p:cNvSpPr>
          <p:nvPr>
            <p:ph idx="1"/>
          </p:nvPr>
        </p:nvSpPr>
        <p:spPr>
          <a:xfrm>
            <a:off x="5497698" y="1825624"/>
            <a:ext cx="6570256" cy="5032375"/>
          </a:xfrm>
        </p:spPr>
        <p:txBody>
          <a:bodyPr>
            <a:normAutofit/>
          </a:bodyPr>
          <a:lstStyle/>
          <a:p>
            <a:r>
              <a:rPr lang="pt-BR" dirty="0"/>
              <a:t>Entrada de tamanho variável (sequência).</a:t>
            </a:r>
          </a:p>
          <a:p>
            <a:r>
              <a:rPr lang="pt-BR" dirty="0"/>
              <a:t>Saída de tamanho fixo.</a:t>
            </a:r>
          </a:p>
          <a:p>
            <a:r>
              <a:rPr lang="pt-BR" dirty="0"/>
              <a:t>Rede do tipo </a:t>
            </a:r>
            <a:r>
              <a:rPr lang="pt-BR" b="1" dirty="0">
                <a:solidFill>
                  <a:schemeClr val="accent2"/>
                </a:solidFill>
              </a:rPr>
              <a:t>sequência para vetor</a:t>
            </a:r>
            <a:r>
              <a:rPr lang="pt-BR" dirty="0"/>
              <a:t>.</a:t>
            </a:r>
          </a:p>
          <a:p>
            <a:r>
              <a:rPr lang="pt-BR" dirty="0"/>
              <a:t>Exemplo de uso: </a:t>
            </a:r>
          </a:p>
          <a:p>
            <a:pPr lvl="1">
              <a:buFont typeface="Wingdings" panose="05000000000000000000" pitchFamily="2" charset="2"/>
              <a:buChar char="§"/>
            </a:pPr>
            <a:r>
              <a:rPr lang="pt-BR" dirty="0"/>
              <a:t>Classificação de sentimentos: por exemplo, classificar o sentimento de uma crítica de filme:</a:t>
            </a:r>
          </a:p>
          <a:p>
            <a:pPr lvl="2">
              <a:buFont typeface="Courier New" panose="02070309020205020404" pitchFamily="49" charset="0"/>
              <a:buChar char="o"/>
            </a:pPr>
            <a:r>
              <a:rPr lang="pt-BR" dirty="0"/>
              <a:t>Entrada: sequência de palavras correspondentes à crítica</a:t>
            </a:r>
          </a:p>
          <a:p>
            <a:pPr lvl="2">
              <a:buFont typeface="Courier New" panose="02070309020205020404" pitchFamily="49" charset="0"/>
              <a:buChar char="o"/>
            </a:pPr>
            <a:r>
              <a:rPr lang="pt-BR" dirty="0"/>
              <a:t>Saída: pontuação da crítica: 0 [odiou] até 1 [amou]</a:t>
            </a:r>
            <a:endParaRPr lang="en-US" dirty="0"/>
          </a:p>
        </p:txBody>
      </p:sp>
      <p:sp>
        <p:nvSpPr>
          <p:cNvPr id="4" name="Rectangle 3">
            <a:extLst>
              <a:ext uri="{FF2B5EF4-FFF2-40B4-BE49-F238E27FC236}">
                <a16:creationId xmlns:a16="http://schemas.microsoft.com/office/drawing/2014/main"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1" name="CaixaDeTexto 10">
                <a:extLst>
                  <a:ext uri="{FF2B5EF4-FFF2-40B4-BE49-F238E27FC236}">
                    <a16:creationId xmlns:a16="http://schemas.microsoft.com/office/drawing/2014/main" id="{E2CC1309-22BC-5A66-9EFD-1B4BC504FB9E}"/>
                  </a:ext>
                </a:extLst>
              </p:cNvPr>
              <p:cNvSpPr txBox="1"/>
              <p:nvPr/>
            </p:nvSpPr>
            <p:spPr>
              <a:xfrm>
                <a:off x="2382341" y="3927875"/>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p:sp>
            <p:nvSpPr>
              <p:cNvPr id="11" name="CaixaDeTexto 10">
                <a:extLst>
                  <a:ext uri="{FF2B5EF4-FFF2-40B4-BE49-F238E27FC236}">
                    <a16:creationId xmlns:a16="http://schemas.microsoft.com/office/drawing/2014/main" id="{E2CC1309-22BC-5A66-9EFD-1B4BC504FB9E}"/>
                  </a:ext>
                </a:extLst>
              </p:cNvPr>
              <p:cNvSpPr txBox="1">
                <a:spLocks noRot="1" noChangeAspect="1" noMove="1" noResize="1" noEditPoints="1" noAdjustHandles="1" noChangeArrowheads="1" noChangeShapeType="1" noTextEdit="1"/>
              </p:cNvSpPr>
              <p:nvPr/>
            </p:nvSpPr>
            <p:spPr>
              <a:xfrm>
                <a:off x="2382341" y="3927875"/>
                <a:ext cx="39694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CaixaDeTexto 12">
                <a:extLst>
                  <a:ext uri="{FF2B5EF4-FFF2-40B4-BE49-F238E27FC236}">
                    <a16:creationId xmlns:a16="http://schemas.microsoft.com/office/drawing/2014/main" id="{6FAE2124-1EF7-ACBA-3A8B-F8B5481DA5C0}"/>
                  </a:ext>
                </a:extLst>
              </p:cNvPr>
              <p:cNvSpPr txBox="1"/>
              <p:nvPr/>
            </p:nvSpPr>
            <p:spPr>
              <a:xfrm>
                <a:off x="3181511" y="3935312"/>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p:sp>
            <p:nvSpPr>
              <p:cNvPr id="13" name="CaixaDeTexto 12">
                <a:extLst>
                  <a:ext uri="{FF2B5EF4-FFF2-40B4-BE49-F238E27FC236}">
                    <a16:creationId xmlns:a16="http://schemas.microsoft.com/office/drawing/2014/main" id="{6FAE2124-1EF7-ACBA-3A8B-F8B5481DA5C0}"/>
                  </a:ext>
                </a:extLst>
              </p:cNvPr>
              <p:cNvSpPr txBox="1">
                <a:spLocks noRot="1" noChangeAspect="1" noMove="1" noResize="1" noEditPoints="1" noAdjustHandles="1" noChangeArrowheads="1" noChangeShapeType="1" noTextEdit="1"/>
              </p:cNvSpPr>
              <p:nvPr/>
            </p:nvSpPr>
            <p:spPr>
              <a:xfrm>
                <a:off x="3181511" y="3935312"/>
                <a:ext cx="396949"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235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04BC-1C10-75A1-B4B9-0F07ABD9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sequência para sequência</a:t>
            </a:r>
          </a:p>
          <a:p>
            <a:r>
              <a:rPr lang="pt-BR" dirty="0"/>
              <a:t>Entrada e saída sincronizadas.</a:t>
            </a:r>
          </a:p>
          <a:p>
            <a:pPr lvl="1">
              <a:buFont typeface="Wingdings" panose="05000000000000000000" pitchFamily="2" charset="2"/>
              <a:buChar char="§"/>
            </a:pPr>
            <a:r>
              <a:rPr lang="pt-BR" dirty="0"/>
              <a:t>Comprimentos de entrada e saída são iguais.</a:t>
            </a:r>
          </a:p>
          <a:p>
            <a:r>
              <a:rPr lang="pt-BR" dirty="0"/>
              <a:t>Exemplo de uso:</a:t>
            </a:r>
          </a:p>
          <a:p>
            <a:pPr lvl="1">
              <a:buFont typeface="Wingdings" panose="05000000000000000000" pitchFamily="2" charset="2"/>
              <a:buChar char="§"/>
            </a:pPr>
            <a:r>
              <a:rPr lang="pt-BR" dirty="0"/>
              <a:t>Classificação de vídeo quadro a quadro.</a:t>
            </a:r>
          </a:p>
          <a:p>
            <a:pPr lvl="2">
              <a:buFont typeface="Courier New" panose="02070309020205020404" pitchFamily="49" charset="0"/>
              <a:buChar char="o"/>
            </a:pPr>
            <a:r>
              <a:rPr lang="pt-BR" dirty="0"/>
              <a:t>Monitoramento de tráfego: </a:t>
            </a:r>
          </a:p>
          <a:p>
            <a:pPr lvl="3">
              <a:buFont typeface="Wingdings" panose="05000000000000000000" pitchFamily="2" charset="2"/>
              <a:buChar char="ü"/>
            </a:pPr>
            <a:r>
              <a:rPr lang="pt-BR" dirty="0"/>
              <a:t>Entrada: sequência de imagens da vista de um semáforo.</a:t>
            </a:r>
          </a:p>
          <a:p>
            <a:pPr lvl="3">
              <a:buFont typeface="Wingdings" panose="05000000000000000000" pitchFamily="2" charset="2"/>
              <a:buChar char="ü"/>
            </a:pPr>
            <a:r>
              <a:rPr lang="pt-BR" dirty="0"/>
              <a:t>Saída: quantidade de carros em cada imagem.</a:t>
            </a:r>
          </a:p>
        </p:txBody>
      </p:sp>
      <p:sp>
        <p:nvSpPr>
          <p:cNvPr id="5" name="Rectangle 4">
            <a:extLst>
              <a:ext uri="{FF2B5EF4-FFF2-40B4-BE49-F238E27FC236}">
                <a16:creationId xmlns:a16="http://schemas.microsoft.com/office/drawing/2014/main"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5" name="CaixaDeTexto 14">
                <a:extLst>
                  <a:ext uri="{FF2B5EF4-FFF2-40B4-BE49-F238E27FC236}">
                    <a16:creationId xmlns:a16="http://schemas.microsoft.com/office/drawing/2014/main" id="{F62DF905-5E70-9E75-2E67-6A2834B6EF40}"/>
                  </a:ext>
                </a:extLst>
              </p:cNvPr>
              <p:cNvSpPr txBox="1"/>
              <p:nvPr/>
            </p:nvSpPr>
            <p:spPr>
              <a:xfrm>
                <a:off x="2382340" y="3927875"/>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p:sp>
            <p:nvSpPr>
              <p:cNvPr id="15" name="CaixaDeTexto 14">
                <a:extLst>
                  <a:ext uri="{FF2B5EF4-FFF2-40B4-BE49-F238E27FC236}">
                    <a16:creationId xmlns:a16="http://schemas.microsoft.com/office/drawing/2014/main" id="{F62DF905-5E70-9E75-2E67-6A2834B6EF40}"/>
                  </a:ext>
                </a:extLst>
              </p:cNvPr>
              <p:cNvSpPr txBox="1">
                <a:spLocks noRot="1" noChangeAspect="1" noMove="1" noResize="1" noEditPoints="1" noAdjustHandles="1" noChangeArrowheads="1" noChangeShapeType="1" noTextEdit="1"/>
              </p:cNvSpPr>
              <p:nvPr/>
            </p:nvSpPr>
            <p:spPr>
              <a:xfrm>
                <a:off x="2382340" y="3927875"/>
                <a:ext cx="396949"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CaixaDeTexto 29">
                <a:extLst>
                  <a:ext uri="{FF2B5EF4-FFF2-40B4-BE49-F238E27FC236}">
                    <a16:creationId xmlns:a16="http://schemas.microsoft.com/office/drawing/2014/main" id="{4979DFB3-AC56-8CA2-1621-79BE199BF1E0}"/>
                  </a:ext>
                </a:extLst>
              </p:cNvPr>
              <p:cNvSpPr txBox="1"/>
              <p:nvPr/>
            </p:nvSpPr>
            <p:spPr>
              <a:xfrm>
                <a:off x="3181510" y="3935312"/>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p:sp>
            <p:nvSpPr>
              <p:cNvPr id="30" name="CaixaDeTexto 29">
                <a:extLst>
                  <a:ext uri="{FF2B5EF4-FFF2-40B4-BE49-F238E27FC236}">
                    <a16:creationId xmlns:a16="http://schemas.microsoft.com/office/drawing/2014/main" id="{4979DFB3-AC56-8CA2-1621-79BE199BF1E0}"/>
                  </a:ext>
                </a:extLst>
              </p:cNvPr>
              <p:cNvSpPr txBox="1">
                <a:spLocks noRot="1" noChangeAspect="1" noMove="1" noResize="1" noEditPoints="1" noAdjustHandles="1" noChangeArrowheads="1" noChangeShapeType="1" noTextEdit="1"/>
              </p:cNvSpPr>
              <p:nvPr/>
            </p:nvSpPr>
            <p:spPr>
              <a:xfrm>
                <a:off x="3181510" y="3935312"/>
                <a:ext cx="396949" cy="3693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602659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F80CB-9E3E-541A-008D-49B810D2E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a16="http://schemas.microsoft.com/office/drawing/2014/main" id="{9CC483E7-E17F-0BD3-09E3-C6956FD7A4D3}"/>
              </a:ext>
            </a:extLst>
          </p:cNvPr>
          <p:cNvSpPr>
            <a:spLocks noGrp="1"/>
          </p:cNvSpPr>
          <p:nvPr>
            <p:ph idx="1"/>
          </p:nvPr>
        </p:nvSpPr>
        <p:spPr>
          <a:xfrm>
            <a:off x="5741619" y="1825624"/>
            <a:ext cx="6450381" cy="5032375"/>
          </a:xfrm>
        </p:spPr>
        <p:txBody>
          <a:bodyPr>
            <a:normAutofit/>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b="1" dirty="0">
                <a:solidFill>
                  <a:schemeClr val="accent2"/>
                </a:solidFill>
              </a:rPr>
              <a:t>Entrada e saída não são sincronizadas</a:t>
            </a:r>
            <a:r>
              <a:rPr lang="pt-BR" dirty="0"/>
              <a:t>.</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grpSp>
        <p:nvGrpSpPr>
          <p:cNvPr id="54" name="Agrupar 53">
            <a:extLst>
              <a:ext uri="{FF2B5EF4-FFF2-40B4-BE49-F238E27FC236}">
                <a16:creationId xmlns:a16="http://schemas.microsoft.com/office/drawing/2014/main" id="{A5228BBB-A2BD-FEF7-50E5-256A010A34E2}"/>
              </a:ext>
            </a:extLst>
          </p:cNvPr>
          <p:cNvGrpSpPr/>
          <p:nvPr/>
        </p:nvGrpSpPr>
        <p:grpSpPr>
          <a:xfrm>
            <a:off x="109227" y="1934810"/>
            <a:ext cx="5456857" cy="4830267"/>
            <a:chOff x="109227" y="1734092"/>
            <a:chExt cx="5456857" cy="4830267"/>
          </a:xfrm>
        </p:grpSpPr>
        <p:sp>
          <p:nvSpPr>
            <p:cNvPr id="26" name="Retângulo 25">
              <a:extLst>
                <a:ext uri="{FF2B5EF4-FFF2-40B4-BE49-F238E27FC236}">
                  <a16:creationId xmlns:a16="http://schemas.microsoft.com/office/drawing/2014/main" id="{D7B5CC2B-59F2-0721-6F7F-1F194BA7EDF4}"/>
                </a:ext>
              </a:extLst>
            </p:cNvPr>
            <p:cNvSpPr/>
            <p:nvPr/>
          </p:nvSpPr>
          <p:spPr>
            <a:xfrm>
              <a:off x="109227"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tângulo 39">
              <a:extLst>
                <a:ext uri="{FF2B5EF4-FFF2-40B4-BE49-F238E27FC236}">
                  <a16:creationId xmlns:a16="http://schemas.microsoft.com/office/drawing/2014/main" id="{7F7DEE5D-466F-66F4-91E6-234AF002DE61}"/>
                </a:ext>
              </a:extLst>
            </p:cNvPr>
            <p:cNvSpPr/>
            <p:nvPr/>
          </p:nvSpPr>
          <p:spPr>
            <a:xfrm>
              <a:off x="2453729"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98C9BC5-15E8-FB86-A2FF-03CF2C96CB13}"/>
                </a:ext>
              </a:extLst>
            </p:cNvPr>
            <p:cNvSpPr/>
            <p:nvPr/>
          </p:nvSpPr>
          <p:spPr>
            <a:xfrm>
              <a:off x="184636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3577D96-6FE7-F60B-ED7E-0CE5B6852522}"/>
                </a:ext>
              </a:extLst>
            </p:cNvPr>
            <p:cNvSpPr/>
            <p:nvPr/>
          </p:nvSpPr>
          <p:spPr>
            <a:xfrm>
              <a:off x="263672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8E04DD1-F3A6-5114-B79F-4BC65F8FEA96}"/>
                </a:ext>
              </a:extLst>
            </p:cNvPr>
            <p:cNvSpPr/>
            <p:nvPr/>
          </p:nvSpPr>
          <p:spPr>
            <a:xfrm>
              <a:off x="342175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44DBCE3-F503-E62D-06A2-1F1E871B411F}"/>
                </a:ext>
              </a:extLst>
            </p:cNvPr>
            <p:cNvCxnSpPr>
              <a:stCxn id="5" idx="3"/>
              <a:endCxn id="7" idx="1"/>
            </p:cNvCxnSpPr>
            <p:nvPr/>
          </p:nvCxnSpPr>
          <p:spPr>
            <a:xfrm>
              <a:off x="223977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96DD0089-EB3B-2E96-D1AD-99C175C43B5D}"/>
                </a:ext>
              </a:extLst>
            </p:cNvPr>
            <p:cNvCxnSpPr>
              <a:stCxn id="7" idx="3"/>
              <a:endCxn id="10" idx="1"/>
            </p:cNvCxnSpPr>
            <p:nvPr/>
          </p:nvCxnSpPr>
          <p:spPr>
            <a:xfrm>
              <a:off x="303012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8EBFA63A-7A7F-C301-161E-58CB3778B150}"/>
                </a:ext>
              </a:extLst>
            </p:cNvPr>
            <p:cNvSpPr/>
            <p:nvPr/>
          </p:nvSpPr>
          <p:spPr>
            <a:xfrm>
              <a:off x="4206795"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88EB1AD-6975-BCC1-C82D-8CF2AB176F0A}"/>
                </a:ext>
              </a:extLst>
            </p:cNvPr>
            <p:cNvCxnSpPr>
              <a:cxnSpLocks/>
              <a:endCxn id="8" idx="2"/>
            </p:cNvCxnSpPr>
            <p:nvPr/>
          </p:nvCxnSpPr>
          <p:spPr>
            <a:xfrm flipV="1">
              <a:off x="4403497"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9C6940C0-6ABE-A439-AED8-8F3DA6633B44}"/>
                    </a:ext>
                  </a:extLst>
                </p:cNvPr>
                <p:cNvSpPr txBox="1"/>
                <p:nvPr/>
              </p:nvSpPr>
              <p:spPr>
                <a:xfrm>
                  <a:off x="4206793" y="222277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06793"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A6970E72-E9CD-203F-5D6D-CD2520CE5E69}"/>
                </a:ext>
              </a:extLst>
            </p:cNvPr>
            <p:cNvSpPr/>
            <p:nvPr/>
          </p:nvSpPr>
          <p:spPr>
            <a:xfrm>
              <a:off x="2623428"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FFB94F9-963A-CC29-C51E-098A134A1737}"/>
                </a:ext>
              </a:extLst>
            </p:cNvPr>
            <p:cNvSpPr/>
            <p:nvPr/>
          </p:nvSpPr>
          <p:spPr>
            <a:xfrm>
              <a:off x="3408466"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C270900E-2C0E-C040-BAF6-1BBA1B85CAE2}"/>
                    </a:ext>
                  </a:extLst>
                </p:cNvPr>
                <p:cNvSpPr txBox="1"/>
                <p:nvPr/>
              </p:nvSpPr>
              <p:spPr>
                <a:xfrm>
                  <a:off x="2618113" y="222864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18113"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53791838-1266-112F-718E-55D7F92583EF}"/>
                    </a:ext>
                  </a:extLst>
                </p:cNvPr>
                <p:cNvSpPr txBox="1"/>
                <p:nvPr/>
              </p:nvSpPr>
              <p:spPr>
                <a:xfrm>
                  <a:off x="3408465" y="222864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08465"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085B9A2E-6534-2437-D967-5DF1514BF9F3}"/>
                </a:ext>
              </a:extLst>
            </p:cNvPr>
            <p:cNvCxnSpPr>
              <a:endCxn id="13" idx="2"/>
            </p:cNvCxnSpPr>
            <p:nvPr/>
          </p:nvCxnSpPr>
          <p:spPr>
            <a:xfrm flipH="1" flipV="1">
              <a:off x="2820131"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668834C-FD74-F5C2-962C-47E7E949C549}"/>
                </a:ext>
              </a:extLst>
            </p:cNvPr>
            <p:cNvCxnSpPr>
              <a:endCxn id="16" idx="2"/>
            </p:cNvCxnSpPr>
            <p:nvPr/>
          </p:nvCxnSpPr>
          <p:spPr>
            <a:xfrm flipV="1">
              <a:off x="3605169"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a16="http://schemas.microsoft.com/office/drawing/2014/main" id="{F078DBB0-1AC8-EAEA-D2B3-81EBA1BC73AB}"/>
                </a:ext>
              </a:extLst>
            </p:cNvPr>
            <p:cNvSpPr/>
            <p:nvPr/>
          </p:nvSpPr>
          <p:spPr>
            <a:xfrm>
              <a:off x="257685"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B7F1159-D526-3036-9F30-22158503DAFC}"/>
                </a:ext>
              </a:extLst>
            </p:cNvPr>
            <p:cNvSpPr/>
            <p:nvPr/>
          </p:nvSpPr>
          <p:spPr>
            <a:xfrm>
              <a:off x="104803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1E7B0A6F-5745-009B-E429-C10DA86AAFB2}"/>
                </a:ext>
              </a:extLst>
            </p:cNvPr>
            <p:cNvCxnSpPr>
              <a:stCxn id="4" idx="3"/>
              <a:endCxn id="15" idx="1"/>
            </p:cNvCxnSpPr>
            <p:nvPr/>
          </p:nvCxnSpPr>
          <p:spPr>
            <a:xfrm>
              <a:off x="651090"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102BBC63-2BC0-6A02-4BFE-A72CD982FBB0}"/>
                </a:ext>
              </a:extLst>
            </p:cNvPr>
            <p:cNvCxnSpPr>
              <a:stCxn id="15" idx="3"/>
            </p:cNvCxnSpPr>
            <p:nvPr/>
          </p:nvCxnSpPr>
          <p:spPr>
            <a:xfrm>
              <a:off x="1441444"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5D3FFC8E-6BAF-6DF7-526E-C081A5A48F93}"/>
                </a:ext>
              </a:extLst>
            </p:cNvPr>
            <p:cNvSpPr/>
            <p:nvPr/>
          </p:nvSpPr>
          <p:spPr>
            <a:xfrm>
              <a:off x="253696"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a16="http://schemas.microsoft.com/office/drawing/2014/main" id="{1401AD97-C582-4298-BF25-40AEF15257C9}"/>
                </a:ext>
              </a:extLst>
            </p:cNvPr>
            <p:cNvCxnSpPr>
              <a:cxnSpLocks/>
              <a:stCxn id="31" idx="0"/>
              <a:endCxn id="4" idx="2"/>
            </p:cNvCxnSpPr>
            <p:nvPr/>
          </p:nvCxnSpPr>
          <p:spPr>
            <a:xfrm flipV="1">
              <a:off x="450399"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0ECCB039-D660-E729-AA13-2E270370247F}"/>
                    </a:ext>
                  </a:extLst>
                </p:cNvPr>
                <p:cNvSpPr txBox="1"/>
                <p:nvPr/>
              </p:nvSpPr>
              <p:spPr>
                <a:xfrm>
                  <a:off x="284264" y="533867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84264"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a16="http://schemas.microsoft.com/office/drawing/2014/main" id="{61795796-1CB2-CAB5-F67E-063C07C2A635}"/>
                </a:ext>
              </a:extLst>
            </p:cNvPr>
            <p:cNvSpPr/>
            <p:nvPr/>
          </p:nvSpPr>
          <p:spPr>
            <a:xfrm>
              <a:off x="1048039"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C51BB95-2E57-AE1B-0448-EEF63C3319E4}"/>
                    </a:ext>
                  </a:extLst>
                </p:cNvPr>
                <p:cNvSpPr txBox="1"/>
                <p:nvPr/>
              </p:nvSpPr>
              <p:spPr>
                <a:xfrm>
                  <a:off x="1074619" y="5344540"/>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74619"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id="{C5443291-1F22-B419-C44A-99E58D94E756}"/>
                </a:ext>
              </a:extLst>
            </p:cNvPr>
            <p:cNvSpPr/>
            <p:nvPr/>
          </p:nvSpPr>
          <p:spPr>
            <a:xfrm>
              <a:off x="1846365"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94029703-0659-3912-FB5F-EE18C24BD3C7}"/>
                    </a:ext>
                  </a:extLst>
                </p:cNvPr>
                <p:cNvSpPr txBox="1"/>
                <p:nvPr/>
              </p:nvSpPr>
              <p:spPr>
                <a:xfrm>
                  <a:off x="1846365" y="5344540"/>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46365"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049CB08D-F5AA-E52C-D64E-AC29F0A74978}"/>
                </a:ext>
              </a:extLst>
            </p:cNvPr>
            <p:cNvCxnSpPr>
              <a:cxnSpLocks/>
              <a:stCxn id="34" idx="0"/>
              <a:endCxn id="15" idx="2"/>
            </p:cNvCxnSpPr>
            <p:nvPr/>
          </p:nvCxnSpPr>
          <p:spPr>
            <a:xfrm flipV="1">
              <a:off x="1244742"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8D3C2576-5153-3012-FA03-0337C7695948}"/>
                </a:ext>
              </a:extLst>
            </p:cNvPr>
            <p:cNvCxnSpPr>
              <a:cxnSpLocks/>
              <a:stCxn id="36" idx="0"/>
              <a:endCxn id="5" idx="2"/>
            </p:cNvCxnSpPr>
            <p:nvPr/>
          </p:nvCxnSpPr>
          <p:spPr>
            <a:xfrm flipV="1">
              <a:off x="2043068"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a16="http://schemas.microsoft.com/office/drawing/2014/main" id="{26BA397E-5740-263D-B08B-906451E582EA}"/>
                </a:ext>
              </a:extLst>
            </p:cNvPr>
            <p:cNvSpPr/>
            <p:nvPr/>
          </p:nvSpPr>
          <p:spPr>
            <a:xfrm>
              <a:off x="420581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a16="http://schemas.microsoft.com/office/drawing/2014/main" id="{C43B1F7D-195A-9A30-C98A-8808DEDB70A1}"/>
                </a:ext>
              </a:extLst>
            </p:cNvPr>
            <p:cNvCxnSpPr>
              <a:endCxn id="6" idx="1"/>
            </p:cNvCxnSpPr>
            <p:nvPr/>
          </p:nvCxnSpPr>
          <p:spPr>
            <a:xfrm>
              <a:off x="381418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a16="http://schemas.microsoft.com/office/drawing/2014/main" id="{5367D5C5-083B-1D09-F4AB-A3D1E257E22D}"/>
                </a:ext>
              </a:extLst>
            </p:cNvPr>
            <p:cNvSpPr/>
            <p:nvPr/>
          </p:nvSpPr>
          <p:spPr>
            <a:xfrm>
              <a:off x="5002375"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a16="http://schemas.microsoft.com/office/drawing/2014/main" id="{885B04B9-C592-171E-A0A1-B25B746EACB5}"/>
                </a:ext>
              </a:extLst>
            </p:cNvPr>
            <p:cNvCxnSpPr>
              <a:cxnSpLocks/>
              <a:endCxn id="14" idx="2"/>
            </p:cNvCxnSpPr>
            <p:nvPr/>
          </p:nvCxnSpPr>
          <p:spPr>
            <a:xfrm flipV="1">
              <a:off x="5199077"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20" name="TextBox 11">
                  <a:extLst>
                    <a:ext uri="{FF2B5EF4-FFF2-40B4-BE49-F238E27FC236}">
                      <a16:creationId xmlns:a16="http://schemas.microsoft.com/office/drawing/2014/main" id="{180B069D-B5EE-8B0D-ED92-AF0BA5BBA75C}"/>
                    </a:ext>
                  </a:extLst>
                </p:cNvPr>
                <p:cNvSpPr txBox="1"/>
                <p:nvPr/>
              </p:nvSpPr>
              <p:spPr>
                <a:xfrm>
                  <a:off x="5002373" y="221690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02373"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a16="http://schemas.microsoft.com/office/drawing/2014/main" id="{E10C2FC0-915E-3754-CB58-210B42F3F1CC}"/>
                </a:ext>
              </a:extLst>
            </p:cNvPr>
            <p:cNvSpPr/>
            <p:nvPr/>
          </p:nvSpPr>
          <p:spPr>
            <a:xfrm>
              <a:off x="5001398"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a16="http://schemas.microsoft.com/office/drawing/2014/main" id="{BF33D4D8-000A-D268-E3D6-DBE55534455E}"/>
                </a:ext>
              </a:extLst>
            </p:cNvPr>
            <p:cNvCxnSpPr>
              <a:endCxn id="22" idx="1"/>
            </p:cNvCxnSpPr>
            <p:nvPr/>
          </p:nvCxnSpPr>
          <p:spPr>
            <a:xfrm>
              <a:off x="4609766"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CaixaDeTexto 28">
              <a:extLst>
                <a:ext uri="{FF2B5EF4-FFF2-40B4-BE49-F238E27FC236}">
                  <a16:creationId xmlns:a16="http://schemas.microsoft.com/office/drawing/2014/main" id="{CDD4DB52-5878-5675-CF1D-C88AD8295959}"/>
                </a:ext>
              </a:extLst>
            </p:cNvPr>
            <p:cNvSpPr txBox="1"/>
            <p:nvPr/>
          </p:nvSpPr>
          <p:spPr>
            <a:xfrm>
              <a:off x="677670" y="6195027"/>
              <a:ext cx="956993" cy="369332"/>
            </a:xfrm>
            <a:prstGeom prst="rect">
              <a:avLst/>
            </a:prstGeom>
            <a:noFill/>
          </p:spPr>
          <p:txBody>
            <a:bodyPr wrap="none" rtlCol="0">
              <a:spAutoFit/>
            </a:bodyPr>
            <a:lstStyle/>
            <a:p>
              <a:r>
                <a:rPr lang="pt-BR" dirty="0" err="1"/>
                <a:t>encoder</a:t>
              </a:r>
              <a:endParaRPr lang="en-US" dirty="0"/>
            </a:p>
          </p:txBody>
        </p:sp>
        <p:sp>
          <p:nvSpPr>
            <p:cNvPr id="41" name="CaixaDeTexto 40">
              <a:extLst>
                <a:ext uri="{FF2B5EF4-FFF2-40B4-BE49-F238E27FC236}">
                  <a16:creationId xmlns:a16="http://schemas.microsoft.com/office/drawing/2014/main" id="{534B0A90-B886-D96D-37BA-01A7E49780CA}"/>
                </a:ext>
              </a:extLst>
            </p:cNvPr>
            <p:cNvSpPr txBox="1"/>
            <p:nvPr/>
          </p:nvSpPr>
          <p:spPr>
            <a:xfrm>
              <a:off x="3531409" y="4632875"/>
              <a:ext cx="956993" cy="369332"/>
            </a:xfrm>
            <a:prstGeom prst="rect">
              <a:avLst/>
            </a:prstGeom>
            <a:noFill/>
          </p:spPr>
          <p:txBody>
            <a:bodyPr wrap="none" rtlCol="0">
              <a:spAutoFit/>
            </a:bodyPr>
            <a:lstStyle/>
            <a:p>
              <a:r>
                <a:rPr lang="pt-BR" dirty="0" err="1"/>
                <a:t>decoder</a:t>
              </a:r>
              <a:endParaRPr lang="en-US" dirty="0"/>
            </a:p>
          </p:txBody>
        </p:sp>
        <mc:AlternateContent xmlns:mc="http://schemas.openxmlformats.org/markup-compatibility/2006">
          <mc:Choice xmlns:a14="http://schemas.microsoft.com/office/drawing/2010/main" Requires="a14">
            <p:sp>
              <p:nvSpPr>
                <p:cNvPr id="43" name="CaixaDeTexto 42">
                  <a:extLst>
                    <a:ext uri="{FF2B5EF4-FFF2-40B4-BE49-F238E27FC236}">
                      <a16:creationId xmlns:a16="http://schemas.microsoft.com/office/drawing/2014/main" id="{CF035E9F-9472-B97E-C4EA-6DCC494128C9}"/>
                    </a:ext>
                  </a:extLst>
                </p:cNvPr>
                <p:cNvSpPr txBox="1"/>
                <p:nvPr/>
              </p:nvSpPr>
              <p:spPr>
                <a:xfrm>
                  <a:off x="642753" y="3972479"/>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p:sp>
              <p:nvSpPr>
                <p:cNvPr id="43" name="CaixaDeTexto 42">
                  <a:extLst>
                    <a:ext uri="{FF2B5EF4-FFF2-40B4-BE49-F238E27FC236}">
                      <a16:creationId xmlns:a16="http://schemas.microsoft.com/office/drawing/2014/main" id="{CF035E9F-9472-B97E-C4EA-6DCC494128C9}"/>
                    </a:ext>
                  </a:extLst>
                </p:cNvPr>
                <p:cNvSpPr txBox="1">
                  <a:spLocks noRot="1" noChangeAspect="1" noMove="1" noResize="1" noEditPoints="1" noAdjustHandles="1" noChangeArrowheads="1" noChangeShapeType="1" noTextEdit="1"/>
                </p:cNvSpPr>
                <p:nvPr/>
              </p:nvSpPr>
              <p:spPr>
                <a:xfrm>
                  <a:off x="642753" y="3972479"/>
                  <a:ext cx="396949"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5" name="CaixaDeTexto 44">
                  <a:extLst>
                    <a:ext uri="{FF2B5EF4-FFF2-40B4-BE49-F238E27FC236}">
                      <a16:creationId xmlns:a16="http://schemas.microsoft.com/office/drawing/2014/main" id="{E2EBB901-5C8E-50F4-9AF5-0D764E543F88}"/>
                    </a:ext>
                  </a:extLst>
                </p:cNvPr>
                <p:cNvSpPr txBox="1"/>
                <p:nvPr/>
              </p:nvSpPr>
              <p:spPr>
                <a:xfrm>
                  <a:off x="1441923" y="3979916"/>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p:sp>
              <p:nvSpPr>
                <p:cNvPr id="45" name="CaixaDeTexto 44">
                  <a:extLst>
                    <a:ext uri="{FF2B5EF4-FFF2-40B4-BE49-F238E27FC236}">
                      <a16:creationId xmlns:a16="http://schemas.microsoft.com/office/drawing/2014/main" id="{E2EBB901-5C8E-50F4-9AF5-0D764E543F88}"/>
                    </a:ext>
                  </a:extLst>
                </p:cNvPr>
                <p:cNvSpPr txBox="1">
                  <a:spLocks noRot="1" noChangeAspect="1" noMove="1" noResize="1" noEditPoints="1" noAdjustHandles="1" noChangeArrowheads="1" noChangeShapeType="1" noTextEdit="1"/>
                </p:cNvSpPr>
                <p:nvPr/>
              </p:nvSpPr>
              <p:spPr>
                <a:xfrm>
                  <a:off x="1441923" y="3979916"/>
                  <a:ext cx="396949"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CaixaDeTexto 48">
                  <a:extLst>
                    <a:ext uri="{FF2B5EF4-FFF2-40B4-BE49-F238E27FC236}">
                      <a16:creationId xmlns:a16="http://schemas.microsoft.com/office/drawing/2014/main" id="{10E82EDB-479F-0B69-CC85-4AA346923AB0}"/>
                    </a:ext>
                  </a:extLst>
                </p:cNvPr>
                <p:cNvSpPr txBox="1"/>
                <p:nvPr/>
              </p:nvSpPr>
              <p:spPr>
                <a:xfrm>
                  <a:off x="3036545" y="3991067"/>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3</m:t>
                            </m:r>
                          </m:sub>
                        </m:sSub>
                      </m:oMath>
                    </m:oMathPara>
                  </a14:m>
                  <a:endParaRPr lang="en-US" dirty="0"/>
                </a:p>
              </p:txBody>
            </p:sp>
          </mc:Choice>
          <mc:Fallback>
            <p:sp>
              <p:nvSpPr>
                <p:cNvPr id="49" name="CaixaDeTexto 48">
                  <a:extLst>
                    <a:ext uri="{FF2B5EF4-FFF2-40B4-BE49-F238E27FC236}">
                      <a16:creationId xmlns:a16="http://schemas.microsoft.com/office/drawing/2014/main" id="{10E82EDB-479F-0B69-CC85-4AA346923AB0}"/>
                    </a:ext>
                  </a:extLst>
                </p:cNvPr>
                <p:cNvSpPr txBox="1">
                  <a:spLocks noRot="1" noChangeAspect="1" noMove="1" noResize="1" noEditPoints="1" noAdjustHandles="1" noChangeArrowheads="1" noChangeShapeType="1" noTextEdit="1"/>
                </p:cNvSpPr>
                <p:nvPr/>
              </p:nvSpPr>
              <p:spPr>
                <a:xfrm>
                  <a:off x="3036545" y="3991067"/>
                  <a:ext cx="396949"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 name="CaixaDeTexto 50">
                  <a:extLst>
                    <a:ext uri="{FF2B5EF4-FFF2-40B4-BE49-F238E27FC236}">
                      <a16:creationId xmlns:a16="http://schemas.microsoft.com/office/drawing/2014/main" id="{BECC19E6-C17A-B73F-00B2-C8E061CF5032}"/>
                    </a:ext>
                  </a:extLst>
                </p:cNvPr>
                <p:cNvSpPr txBox="1"/>
                <p:nvPr/>
              </p:nvSpPr>
              <p:spPr>
                <a:xfrm>
                  <a:off x="3820843" y="3983630"/>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4</m:t>
                            </m:r>
                          </m:sub>
                        </m:sSub>
                      </m:oMath>
                    </m:oMathPara>
                  </a14:m>
                  <a:endParaRPr lang="en-US" dirty="0"/>
                </a:p>
              </p:txBody>
            </p:sp>
          </mc:Choice>
          <mc:Fallback>
            <p:sp>
              <p:nvSpPr>
                <p:cNvPr id="51" name="CaixaDeTexto 50">
                  <a:extLst>
                    <a:ext uri="{FF2B5EF4-FFF2-40B4-BE49-F238E27FC236}">
                      <a16:creationId xmlns:a16="http://schemas.microsoft.com/office/drawing/2014/main" id="{BECC19E6-C17A-B73F-00B2-C8E061CF5032}"/>
                    </a:ext>
                  </a:extLst>
                </p:cNvPr>
                <p:cNvSpPr txBox="1">
                  <a:spLocks noRot="1" noChangeAspect="1" noMove="1" noResize="1" noEditPoints="1" noAdjustHandles="1" noChangeArrowheads="1" noChangeShapeType="1" noTextEdit="1"/>
                </p:cNvSpPr>
                <p:nvPr/>
              </p:nvSpPr>
              <p:spPr>
                <a:xfrm>
                  <a:off x="3820843" y="3983630"/>
                  <a:ext cx="396949"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3" name="CaixaDeTexto 52">
                  <a:extLst>
                    <a:ext uri="{FF2B5EF4-FFF2-40B4-BE49-F238E27FC236}">
                      <a16:creationId xmlns:a16="http://schemas.microsoft.com/office/drawing/2014/main" id="{CF4F9B3F-2674-0EFF-9A65-4F44B07596C3}"/>
                    </a:ext>
                  </a:extLst>
                </p:cNvPr>
                <p:cNvSpPr txBox="1"/>
                <p:nvPr/>
              </p:nvSpPr>
              <p:spPr>
                <a:xfrm>
                  <a:off x="4620013" y="3991067"/>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5</m:t>
                            </m:r>
                          </m:sub>
                        </m:sSub>
                      </m:oMath>
                    </m:oMathPara>
                  </a14:m>
                  <a:endParaRPr lang="en-US" dirty="0"/>
                </a:p>
              </p:txBody>
            </p:sp>
          </mc:Choice>
          <mc:Fallback>
            <p:sp>
              <p:nvSpPr>
                <p:cNvPr id="53" name="CaixaDeTexto 52">
                  <a:extLst>
                    <a:ext uri="{FF2B5EF4-FFF2-40B4-BE49-F238E27FC236}">
                      <a16:creationId xmlns:a16="http://schemas.microsoft.com/office/drawing/2014/main" id="{CF4F9B3F-2674-0EFF-9A65-4F44B07596C3}"/>
                    </a:ext>
                  </a:extLst>
                </p:cNvPr>
                <p:cNvSpPr txBox="1">
                  <a:spLocks noRot="1" noChangeAspect="1" noMove="1" noResize="1" noEditPoints="1" noAdjustHandles="1" noChangeArrowheads="1" noChangeShapeType="1" noTextEdit="1"/>
                </p:cNvSpPr>
                <p:nvPr/>
              </p:nvSpPr>
              <p:spPr>
                <a:xfrm>
                  <a:off x="4620013" y="3991067"/>
                  <a:ext cx="396949"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CaixaDeTexto 46">
                  <a:extLst>
                    <a:ext uri="{FF2B5EF4-FFF2-40B4-BE49-F238E27FC236}">
                      <a16:creationId xmlns:a16="http://schemas.microsoft.com/office/drawing/2014/main" id="{677E1F36-3710-3E59-C995-6329EADC335A}"/>
                    </a:ext>
                  </a:extLst>
                </p:cNvPr>
                <p:cNvSpPr txBox="1"/>
                <p:nvPr/>
              </p:nvSpPr>
              <p:spPr>
                <a:xfrm>
                  <a:off x="2237375" y="3983630"/>
                  <a:ext cx="396949" cy="369332"/>
                </a:xfrm>
                <a:prstGeom prst="rect">
                  <a:avLst/>
                </a:prstGeom>
                <a:noFill/>
              </p:spPr>
              <p:txBody>
                <a:bodyPr wrap="square">
                  <a:spAutoFit/>
                </a:bodyPr>
                <a:lstStyle/>
                <a:p>
                  <a:pPr/>
                  <a14:m>
                    <m:oMathPara xmlns:m="http://schemas.openxmlformats.org/officeDocument/2006/math">
                      <m:o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2</m:t>
                            </m:r>
                          </m:sub>
                        </m:sSub>
                      </m:oMath>
                    </m:oMathPara>
                  </a14:m>
                  <a:endParaRPr lang="en-US" dirty="0"/>
                </a:p>
              </p:txBody>
            </p:sp>
          </mc:Choice>
          <mc:Fallback>
            <p:sp>
              <p:nvSpPr>
                <p:cNvPr id="47" name="CaixaDeTexto 46">
                  <a:extLst>
                    <a:ext uri="{FF2B5EF4-FFF2-40B4-BE49-F238E27FC236}">
                      <a16:creationId xmlns:a16="http://schemas.microsoft.com/office/drawing/2014/main" id="{677E1F36-3710-3E59-C995-6329EADC335A}"/>
                    </a:ext>
                  </a:extLst>
                </p:cNvPr>
                <p:cNvSpPr txBox="1">
                  <a:spLocks noRot="1" noChangeAspect="1" noMove="1" noResize="1" noEditPoints="1" noAdjustHandles="1" noChangeArrowheads="1" noChangeShapeType="1" noTextEdit="1"/>
                </p:cNvSpPr>
                <p:nvPr/>
              </p:nvSpPr>
              <p:spPr>
                <a:xfrm>
                  <a:off x="2237375" y="3983630"/>
                  <a:ext cx="396949" cy="369332"/>
                </a:xfrm>
                <a:prstGeom prst="rect">
                  <a:avLst/>
                </a:prstGeom>
                <a:blipFill>
                  <a:blip r:embed="rId15"/>
                  <a:stretch>
                    <a:fillRect/>
                  </a:stretch>
                </a:blipFill>
              </p:spPr>
              <p:txBody>
                <a:bodyPr/>
                <a:lstStyle/>
                <a:p>
                  <a:r>
                    <a:rPr lang="en-US">
                      <a:noFill/>
                    </a:rPr>
                    <a:t> </a:t>
                  </a:r>
                </a:p>
              </p:txBody>
            </p:sp>
          </mc:Fallback>
        </mc:AlternateContent>
      </p:grpSp>
      <p:sp>
        <p:nvSpPr>
          <p:cNvPr id="56" name="CaixaDeTexto 55">
            <a:extLst>
              <a:ext uri="{FF2B5EF4-FFF2-40B4-BE49-F238E27FC236}">
                <a16:creationId xmlns:a16="http://schemas.microsoft.com/office/drawing/2014/main" id="{E838513A-73D5-40DF-2D0A-1DC09DB4D566}"/>
              </a:ext>
            </a:extLst>
          </p:cNvPr>
          <p:cNvSpPr txBox="1"/>
          <p:nvPr/>
        </p:nvSpPr>
        <p:spPr>
          <a:xfrm>
            <a:off x="2579527" y="5709240"/>
            <a:ext cx="2961274" cy="830997"/>
          </a:xfrm>
          <a:prstGeom prst="rect">
            <a:avLst/>
          </a:prstGeom>
          <a:noFill/>
        </p:spPr>
        <p:txBody>
          <a:bodyPr wrap="square">
            <a:spAutoFit/>
          </a:bodyPr>
          <a:lstStyle/>
          <a:p>
            <a:pPr marL="171450" indent="-171450">
              <a:buFont typeface="Arial" panose="020B0604020202020204" pitchFamily="34" charset="0"/>
              <a:buChar char="•"/>
            </a:pPr>
            <a:r>
              <a:rPr lang="pt-BR" sz="1200" dirty="0" err="1"/>
              <a:t>Encoder</a:t>
            </a:r>
            <a:r>
              <a:rPr lang="pt-BR" sz="1200" dirty="0"/>
              <a:t> gera vetor contendo informação latente da sequência de entrada. </a:t>
            </a:r>
          </a:p>
          <a:p>
            <a:pPr marL="171450" indent="-171450">
              <a:buFont typeface="Arial" panose="020B0604020202020204" pitchFamily="34" charset="0"/>
              <a:buChar char="•"/>
            </a:pPr>
            <a:r>
              <a:rPr lang="pt-BR" sz="1200" dirty="0" err="1"/>
              <a:t>Decoder</a:t>
            </a:r>
            <a:r>
              <a:rPr lang="pt-BR" sz="1200" dirty="0"/>
              <a:t> decodifica o vetor em uma sequência.</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CDB46BC3-F856-DFED-2D33-4B282F2C3DCC}"/>
              </a:ext>
            </a:extLst>
          </p:cNvPr>
          <p:cNvSpPr>
            <a:spLocks noGrp="1"/>
          </p:cNvSpPr>
          <p:nvPr>
            <p:ph idx="1"/>
          </p:nvPr>
        </p:nvSpPr>
        <p:spPr>
          <a:xfrm>
            <a:off x="838200" y="2449950"/>
            <a:ext cx="10515600" cy="1958099"/>
          </a:xfrm>
        </p:spPr>
        <p:txBody>
          <a:bodyPr>
            <a:normAutofit/>
          </a:bodyPr>
          <a:lstStyle/>
          <a:p>
            <a:pPr marL="0" indent="0" algn="ctr">
              <a:buNone/>
            </a:pPr>
            <a:r>
              <a:rPr lang="pt-BR" sz="6000" dirty="0"/>
              <a:t>Por que não usar funções de ativação </a:t>
            </a:r>
            <a:r>
              <a:rPr lang="pt-BR" sz="6000" dirty="0" err="1"/>
              <a:t>ReLU</a:t>
            </a:r>
            <a:r>
              <a:rPr lang="pt-BR" sz="6000" dirty="0"/>
              <a:t>?</a:t>
            </a:r>
            <a:endParaRPr lang="en-US" sz="6000" dirty="0"/>
          </a:p>
        </p:txBody>
      </p:sp>
    </p:spTree>
    <p:extLst>
      <p:ext uri="{BB962C8B-B14F-4D97-AF65-F5344CB8AC3E}">
        <p14:creationId xmlns:p14="http://schemas.microsoft.com/office/powerpoint/2010/main" val="24563349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RNNs),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30248719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91359-BF4C-BD81-0701-98042AB44285}"/>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54AC35A-48E2-F8E5-2C07-01AF9933694F}"/>
              </a:ext>
            </a:extLst>
          </p:cNvPr>
          <p:cNvSpPr>
            <a:spLocks noGrp="1"/>
          </p:cNvSpPr>
          <p:nvPr>
            <p:ph idx="1"/>
          </p:nvPr>
        </p:nvSpPr>
        <p:spPr>
          <a:xfrm>
            <a:off x="838200" y="2449950"/>
            <a:ext cx="10515600" cy="1958099"/>
          </a:xfrm>
        </p:spPr>
        <p:txBody>
          <a:bodyPr>
            <a:normAutofit/>
          </a:bodyPr>
          <a:lstStyle/>
          <a:p>
            <a:pPr marL="0" indent="0" algn="ctr">
              <a:buNone/>
            </a:pPr>
            <a:r>
              <a:rPr lang="pt-BR" sz="6000" dirty="0"/>
              <a:t>Resumo das equações de atualização da célula</a:t>
            </a:r>
            <a:endParaRPr lang="en-US" sz="6000" dirty="0"/>
          </a:p>
        </p:txBody>
      </p:sp>
    </p:spTree>
    <p:extLst>
      <p:ext uri="{BB962C8B-B14F-4D97-AF65-F5344CB8AC3E}">
        <p14:creationId xmlns:p14="http://schemas.microsoft.com/office/powerpoint/2010/main" val="1703803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2A5E-E9E7-5F6C-D6F7-066EDEFF9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B08D5-1DF6-EA55-48A7-D9AA3003D5B0}"/>
              </a:ext>
            </a:extLst>
          </p:cNvPr>
          <p:cNvSpPr>
            <a:spLocks noGrp="1"/>
          </p:cNvSpPr>
          <p:nvPr>
            <p:ph type="title"/>
          </p:nvPr>
        </p:nvSpPr>
        <p:spPr>
          <a:xfrm>
            <a:off x="838200" y="365125"/>
            <a:ext cx="10744200" cy="1325563"/>
          </a:xfrm>
        </p:spPr>
        <p:txBody>
          <a:bodyPr/>
          <a:lstStyle/>
          <a:p>
            <a:r>
              <a:rPr lang="pt-BR" dirty="0"/>
              <a:t>Resumo das equações de atualização da célula</a:t>
            </a:r>
            <a:endParaRPr lang="en-US" dirty="0"/>
          </a:p>
        </p:txBody>
      </p:sp>
      <mc:AlternateContent xmlns:mc="http://schemas.openxmlformats.org/markup-compatibility/2006">
        <mc:Choice xmlns:a14="http://schemas.microsoft.com/office/drawing/2010/main" Requires="a14">
          <p:sp>
            <p:nvSpPr>
              <p:cNvPr id="8" name="Content Placeholder 7">
                <a:extLst>
                  <a:ext uri="{FF2B5EF4-FFF2-40B4-BE49-F238E27FC236}">
                    <a16:creationId xmlns:a16="http://schemas.microsoft.com/office/drawing/2014/main" id="{1682DE2D-81D4-199F-C30F-5526881A22B9}"/>
                  </a:ext>
                </a:extLst>
              </p:cNvPr>
              <p:cNvSpPr>
                <a:spLocks noGrp="1"/>
              </p:cNvSpPr>
              <p:nvPr>
                <p:ph idx="1"/>
              </p:nvPr>
            </p:nvSpPr>
            <p:spPr>
              <a:xfrm>
                <a:off x="838200" y="1825625"/>
                <a:ext cx="11353800" cy="5032376"/>
              </a:xfrm>
            </p:spPr>
            <p:txBody>
              <a:bodyPr>
                <a:normAutofit fontScale="92500" lnSpcReduction="20000"/>
              </a:bodyPr>
              <a:lstStyle/>
              <a:p>
                <a:r>
                  <a:rPr lang="pt-BR" noProof="0" dirty="0"/>
                  <a:t>Vetor da porta de esquecimento</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da porta de entrada</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noProof="0" dirty="0"/>
              </a:p>
              <a:p>
                <a:r>
                  <a:rPr lang="pt-BR" noProof="0" dirty="0"/>
                  <a:t>Vetor da porta de saída</a:t>
                </a:r>
              </a:p>
              <a:p>
                <a:pPr marL="0" indent="0">
                  <a:buNone/>
                </a:pPr>
                <a14:m>
                  <m:oMathPara xmlns:m="http://schemas.openxmlformats.org/officeDocument/2006/math">
                    <m:oMath>
                      <m:sSub>
                        <m:sSubPr>
                          <m:ctrlPr>
                            <a:rPr lang="pt-BR" sz="2600" b="1" i="1" smtClean="0">
                              <a:latin typeface="Cambria Math" panose="02040503050406030204" pitchFamily="18" charset="0"/>
                            </a:rPr>
                          </m:ctrlPr>
                        </m:sSubPr>
                        <m:e>
                          <m:r>
                            <a:rPr lang="pt-BR" sz="2600" b="1" i="1" smtClean="0">
                              <a:latin typeface="Cambria Math" panose="02040503050406030204" pitchFamily="18" charset="0"/>
                            </a:rPr>
                            <m:t>𝒐</m:t>
                          </m:r>
                        </m:e>
                        <m:sub>
                          <m:r>
                            <a:rPr lang="pt-BR" sz="2600" i="1">
                              <a:latin typeface="Cambria Math" panose="02040503050406030204" pitchFamily="18" charset="0"/>
                            </a:rPr>
                            <m:t>𝑡</m:t>
                          </m:r>
                        </m:sub>
                      </m:sSub>
                      <m:r>
                        <a:rPr lang="pt-BR" sz="2600" i="1">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𝜎</m:t>
                      </m:r>
                      <m:d>
                        <m:dPr>
                          <m:ctrlPr>
                            <a:rPr lang="pt-BR" sz="2600" b="1" i="1">
                              <a:latin typeface="Cambria Math" panose="02040503050406030204" pitchFamily="18" charset="0"/>
                              <a:ea typeface="Cambria Math" panose="02040503050406030204" pitchFamily="18" charset="0"/>
                            </a:rPr>
                          </m:ctrlPr>
                        </m:dPr>
                        <m:e>
                          <m:d>
                            <m:dPr>
                              <m:begChr m:val="["/>
                              <m:endChr m:val="]"/>
                              <m:ctrlPr>
                                <a:rPr lang="pt-BR" sz="2600" b="1" i="1">
                                  <a:latin typeface="Cambria Math" panose="02040503050406030204" pitchFamily="18" charset="0"/>
                                  <a:ea typeface="Cambria Math" panose="02040503050406030204" pitchFamily="18" charset="0"/>
                                </a:rPr>
                              </m:ctrlPr>
                            </m:dPr>
                            <m:e>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𝒉</m:t>
                                  </m:r>
                                </m:e>
                                <m:sub>
                                  <m:r>
                                    <a:rPr lang="pt-BR" sz="2600" i="1">
                                      <a:latin typeface="Cambria Math" panose="02040503050406030204" pitchFamily="18" charset="0"/>
                                      <a:ea typeface="Cambria Math" panose="02040503050406030204" pitchFamily="18" charset="0"/>
                                    </a:rPr>
                                    <m:t>𝑡</m:t>
                                  </m:r>
                                  <m:r>
                                    <a:rPr lang="pt-BR" sz="2600" i="1">
                                      <a:latin typeface="Cambria Math" panose="02040503050406030204" pitchFamily="18" charset="0"/>
                                      <a:ea typeface="Cambria Math" panose="02040503050406030204" pitchFamily="18" charset="0"/>
                                    </a:rPr>
                                    <m:t>−1</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𝒙</m:t>
                                  </m:r>
                                </m:e>
                                <m:sub>
                                  <m:r>
                                    <a:rPr lang="pt-BR" sz="2600" i="1">
                                      <a:latin typeface="Cambria Math" panose="02040503050406030204" pitchFamily="18" charset="0"/>
                                      <a:ea typeface="Cambria Math" panose="02040503050406030204" pitchFamily="18" charset="0"/>
                                    </a:rPr>
                                    <m:t>𝑡</m:t>
                                  </m:r>
                                </m:sub>
                              </m:sSub>
                            </m:e>
                          </m:d>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𝑾</m:t>
                              </m:r>
                            </m:e>
                            <m:sub>
                              <m:r>
                                <a:rPr lang="pt-BR" sz="2600" b="0" i="1" smtClean="0">
                                  <a:latin typeface="Cambria Math" panose="02040503050406030204" pitchFamily="18" charset="0"/>
                                  <a:ea typeface="Cambria Math" panose="02040503050406030204" pitchFamily="18" charset="0"/>
                                </a:rPr>
                                <m:t>𝑜</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𝒃</m:t>
                              </m:r>
                            </m:e>
                            <m:sub>
                              <m:r>
                                <a:rPr lang="pt-BR" sz="2600" b="0" i="1" smtClean="0">
                                  <a:latin typeface="Cambria Math" panose="02040503050406030204" pitchFamily="18" charset="0"/>
                                  <a:ea typeface="Cambria Math" panose="02040503050406030204" pitchFamily="18" charset="0"/>
                                </a:rPr>
                                <m:t>𝑜</m:t>
                              </m:r>
                            </m:sub>
                          </m:sSub>
                        </m:e>
                      </m:d>
                      <m:r>
                        <a:rPr lang="pt-BR" sz="2600" i="1">
                          <a:latin typeface="Cambria Math" panose="02040503050406030204" pitchFamily="18" charset="0"/>
                          <a:ea typeface="Cambria Math" panose="02040503050406030204" pitchFamily="18" charset="0"/>
                        </a:rPr>
                        <m:t>,</m:t>
                      </m:r>
                    </m:oMath>
                  </m:oMathPara>
                </a14:m>
                <a:endParaRPr lang="pt-BR" noProof="0" dirty="0"/>
              </a:p>
              <a:p>
                <a:r>
                  <a:rPr lang="pt-BR" noProof="0" dirty="0"/>
                  <a:t>Vetor de informação (ou memória) candidata</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acc>
                            <m:accPr>
                              <m:chr m:val="̃"/>
                              <m:ctrlPr>
                                <a:rPr lang="pt-BR" sz="2400" b="1" i="1" noProof="0" smtClean="0">
                                  <a:latin typeface="Cambria Math" panose="02040503050406030204" pitchFamily="18" charset="0"/>
                                </a:rPr>
                              </m:ctrlPr>
                            </m:accPr>
                            <m:e>
                              <m:r>
                                <a:rPr lang="pt-BR" sz="2400" b="1" i="1" noProof="0" smtClean="0">
                                  <a:latin typeface="Cambria Math" panose="02040503050406030204" pitchFamily="18" charset="0"/>
                                </a:rPr>
                                <m:t>𝒄</m:t>
                              </m:r>
                            </m:e>
                          </m:acc>
                        </m:e>
                        <m:sub>
                          <m:r>
                            <a:rPr lang="pt-BR" sz="2400" i="1" noProof="0">
                              <a:latin typeface="Cambria Math" panose="02040503050406030204" pitchFamily="18" charset="0"/>
                            </a:rPr>
                            <m:t>𝑡</m:t>
                          </m:r>
                        </m:sub>
                      </m:sSub>
                      <m:r>
                        <a:rPr lang="pt-BR" sz="2400" i="1" noProof="0">
                          <a:latin typeface="Cambria Math" panose="02040503050406030204" pitchFamily="18" charset="0"/>
                        </a:rPr>
                        <m:t>=</m:t>
                      </m:r>
                      <m:func>
                        <m:funcPr>
                          <m:ctrlPr>
                            <a:rPr lang="pt-BR" sz="2400" i="0" noProof="0" smtClean="0">
                              <a:latin typeface="Cambria Math" panose="02040503050406030204" pitchFamily="18" charset="0"/>
                            </a:rPr>
                          </m:ctrlPr>
                        </m:funcPr>
                        <m:fName>
                          <m:r>
                            <m:rPr>
                              <m:sty m:val="p"/>
                            </m:rPr>
                            <a:rPr lang="pt-BR" sz="2400" i="0" noProof="0" smtClean="0">
                              <a:latin typeface="Cambria Math" panose="02040503050406030204" pitchFamily="18" charset="0"/>
                            </a:rPr>
                            <m:t>tanh</m:t>
                          </m:r>
                        </m:fName>
                        <m:e>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𝑐</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𝑐</m:t>
                                  </m:r>
                                </m:sub>
                              </m:sSub>
                            </m:e>
                          </m:d>
                        </m:e>
                      </m:func>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de estado de longo prazo</a:t>
                </a:r>
              </a:p>
              <a:p>
                <a:pPr marL="0" indent="0">
                  <a:buNone/>
                </a:pPr>
                <a14:m>
                  <m:oMathPara xmlns:m="http://schemas.openxmlformats.org/officeDocument/2006/math">
                    <m:oMathParaPr>
                      <m:jc m:val="center"/>
                    </m:oMathParaPr>
                    <m:o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pos m:val="bot"/>
                              <m:vertJc m:val="top"/>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𝒇</m:t>
                                  </m:r>
                                </m:e>
                                <m:sub>
                                  <m:r>
                                    <a:rPr lang="pt-BR" sz="2400" i="1" noProof="0">
                                      <a:latin typeface="Cambria Math" panose="02040503050406030204" pitchFamily="18" charset="0"/>
                                    </a:rPr>
                                    <m:t>𝑡</m:t>
                                  </m:r>
                                </m:sub>
                              </m:sSub>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r>
                                    <a:rPr lang="pt-BR" sz="2400" i="1" noProof="0">
                                      <a:latin typeface="Cambria Math" panose="02040503050406030204" pitchFamily="18" charset="0"/>
                                    </a:rPr>
                                    <m:t>−1</m:t>
                                  </m:r>
                                </m:sub>
                              </m:sSub>
                            </m:e>
                          </m:groupCh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esquecimento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informa</m:t>
                          </m:r>
                          <m:r>
                            <a:rPr lang="pt-BR" sz="2400" b="0" i="0" noProof="0" smtClean="0">
                              <a:latin typeface="Cambria Math" panose="02040503050406030204" pitchFamily="18" charset="0"/>
                            </a:rPr>
                            <m:t>çã</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anterior</m:t>
                          </m:r>
                        </m:lim>
                      </m:limLow>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pos m:val="bot"/>
                              <m:vertJc m:val="top"/>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𝒊</m:t>
                                      </m:r>
                                    </m:e>
                                    <m:sub>
                                      <m:r>
                                        <a:rPr lang="pt-BR" sz="2400" i="1" noProof="0">
                                          <a:latin typeface="Cambria Math" panose="02040503050406030204" pitchFamily="18" charset="0"/>
                                        </a:rPr>
                                        <m:t>𝑡</m:t>
                                      </m:r>
                                    </m:sub>
                                  </m:sSub>
                                  <m:acc>
                                    <m:accPr>
                                      <m:chr m:val="̃"/>
                                      <m:ctrlPr>
                                        <a:rPr lang="pt-BR" sz="2400" b="1" i="1" noProof="0">
                                          <a:latin typeface="Cambria Math" panose="02040503050406030204" pitchFamily="18" charset="0"/>
                                        </a:rPr>
                                      </m:ctrlPr>
                                    </m:accPr>
                                    <m:e>
                                      <m:r>
                                        <a:rPr lang="pt-BR" sz="2400" b="1" i="1" noProof="0">
                                          <a:latin typeface="Cambria Math" panose="02040503050406030204" pitchFamily="18" charset="0"/>
                                        </a:rPr>
                                        <m:t>𝒄</m:t>
                                      </m:r>
                                    </m:e>
                                  </m:acc>
                                </m:e>
                                <m:sub>
                                  <m:r>
                                    <a:rPr lang="pt-BR" sz="2400" i="1" noProof="0">
                                      <a:latin typeface="Cambria Math" panose="02040503050406030204" pitchFamily="18" charset="0"/>
                                    </a:rPr>
                                    <m:t>𝑡</m:t>
                                  </m:r>
                                </m:sub>
                              </m:sSub>
                            </m:e>
                          </m:groupChr>
                          <m:r>
                            <a:rPr lang="pt-BR" sz="2400" b="0" i="1" noProof="0" smtClean="0">
                              <a:latin typeface="Cambria Math" panose="02040503050406030204" pitchFamily="18" charset="0"/>
                            </a:rPr>
                            <m:t>,</m:t>
                          </m: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entrada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de</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nova</m:t>
                          </m:r>
                          <m:r>
                            <a:rPr lang="pt-BR" sz="2400" noProof="0">
                              <a:latin typeface="Cambria Math" panose="02040503050406030204" pitchFamily="18" charset="0"/>
                            </a:rPr>
                            <m:t> </m:t>
                          </m:r>
                          <m:r>
                            <m:rPr>
                              <m:sty m:val="p"/>
                            </m:rPr>
                            <a:rPr lang="pt-BR" sz="2400" noProof="0">
                              <a:latin typeface="Cambria Math" panose="02040503050406030204" pitchFamily="18" charset="0"/>
                            </a:rPr>
                            <m:t>informa</m:t>
                          </m:r>
                          <m:r>
                            <a:rPr lang="pt-BR" sz="2400" noProof="0">
                              <a:latin typeface="Cambria Math" panose="02040503050406030204" pitchFamily="18" charset="0"/>
                            </a:rPr>
                            <m:t>çã</m:t>
                          </m:r>
                          <m:r>
                            <m:rPr>
                              <m:sty m:val="p"/>
                            </m:rPr>
                            <a:rPr lang="pt-BR" sz="2400" noProof="0">
                              <a:latin typeface="Cambria Math" panose="02040503050406030204" pitchFamily="18" charset="0"/>
                            </a:rPr>
                            <m:t>o</m:t>
                          </m:r>
                        </m:lim>
                      </m:limLow>
                    </m:oMath>
                  </m:oMathPara>
                </a14:m>
                <a:endParaRPr lang="pt-BR" sz="2400" noProof="0" dirty="0"/>
              </a:p>
              <a:p>
                <a:r>
                  <a:rPr lang="pt-BR" noProof="0" dirty="0"/>
                  <a:t>Vetor de estado de curto prazo</a:t>
                </a:r>
              </a:p>
              <a:p>
                <a:pPr marL="0" indent="0">
                  <a:buNone/>
                </a:pPr>
                <a14:m>
                  <m:oMathPara xmlns:m="http://schemas.openxmlformats.org/officeDocument/2006/math">
                    <m:oMathParaPr>
                      <m:jc m:val="center"/>
                    </m:oMathParaPr>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𝒉</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m:rPr>
                          <m:sty m:val="p"/>
                        </m:rPr>
                        <a:rPr lang="pt-BR" sz="2400" noProof="0">
                          <a:latin typeface="Cambria Math" panose="02040503050406030204" pitchFamily="18" charset="0"/>
                        </a:rPr>
                        <m:t>tanh</m:t>
                      </m:r>
                      <m:d>
                        <m:dPr>
                          <m:ctrlPr>
                            <a:rPr lang="pt-BR" sz="2400" b="1" i="1" noProof="0">
                              <a:latin typeface="Cambria Math" panose="02040503050406030204" pitchFamily="18" charset="0"/>
                            </a:rPr>
                          </m:ctrlPr>
                        </m:d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e>
                      </m:d>
                      <m:sSub>
                        <m:sSubPr>
                          <m:ctrlPr>
                            <a:rPr lang="pt-BR" sz="2400" i="1" noProof="0" smtClean="0">
                              <a:latin typeface="Cambria Math" panose="02040503050406030204" pitchFamily="18" charset="0"/>
                              <a:ea typeface="Cambria Math" panose="02040503050406030204" pitchFamily="18" charset="0"/>
                            </a:rPr>
                          </m:ctrlPr>
                        </m:sSubPr>
                        <m:e>
                          <m:r>
                            <a:rPr lang="pt-BR" sz="240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𝒐</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oMath>
                  </m:oMathPara>
                </a14:m>
                <a:endParaRPr lang="pt-BR" sz="2400" noProof="0" dirty="0"/>
              </a:p>
              <a:p>
                <a:pPr marL="0" indent="0">
                  <a:buNone/>
                </a:pPr>
                <a:r>
                  <a:rPr lang="pt-BR" sz="2400" dirty="0"/>
                  <a:t>o</a:t>
                </a:r>
                <a:r>
                  <a:rPr lang="pt-BR" sz="2400" noProof="0" dirty="0" err="1"/>
                  <a:t>nde</a:t>
                </a:r>
                <a:r>
                  <a:rPr lang="pt-BR" sz="2400" noProof="0" dirty="0"/>
                  <a:t> </a:t>
                </a:r>
                <a14:m>
                  <m:oMath xmlns:m="http://schemas.openxmlformats.org/officeDocument/2006/math">
                    <m:r>
                      <a:rPr lang="pt-BR" sz="2400" i="1" noProof="0" smtClean="0">
                        <a:latin typeface="Cambria Math" panose="02040503050406030204" pitchFamily="18" charset="0"/>
                        <a:ea typeface="Cambria Math" panose="02040503050406030204" pitchFamily="18" charset="0"/>
                      </a:rPr>
                      <m:t>⊙</m:t>
                    </m:r>
                  </m:oMath>
                </a14:m>
                <a:r>
                  <a:rPr lang="pt-BR" sz="2400" noProof="0" dirty="0"/>
                  <a:t> é o operador de multiplicação elemento a elemento.</a:t>
                </a:r>
              </a:p>
            </p:txBody>
          </p:sp>
        </mc:Choice>
        <mc:Fallback>
          <p:sp>
            <p:nvSpPr>
              <p:cNvPr id="8" name="Content Placeholder 7">
                <a:extLst>
                  <a:ext uri="{FF2B5EF4-FFF2-40B4-BE49-F238E27FC236}">
                    <a16:creationId xmlns:a16="http://schemas.microsoft.com/office/drawing/2014/main" id="{1682DE2D-81D4-199F-C30F-5526881A22B9}"/>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859" t="-3027" b="-48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1989BB5B-7370-FFBD-AB33-760803ECA8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57076" y="2298057"/>
            <a:ext cx="3368249" cy="2043756"/>
          </a:xfrm>
          <a:prstGeom prst="rect">
            <a:avLst/>
          </a:prstGeom>
        </p:spPr>
      </p:pic>
    </p:spTree>
    <p:extLst>
      <p:ext uri="{BB962C8B-B14F-4D97-AF65-F5344CB8AC3E}">
        <p14:creationId xmlns:p14="http://schemas.microsoft.com/office/powerpoint/2010/main" val="25986539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F1BEC-82EA-8E7D-59D1-DE7E34F4444F}"/>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DBFA4-777B-82AF-1A9B-F48A28DB934A}"/>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id="{382B2D82-0D27-C941-539F-498F105E3DA0}"/>
              </a:ext>
            </a:extLst>
          </p:cNvPr>
          <p:cNvGrpSpPr/>
          <p:nvPr/>
        </p:nvGrpSpPr>
        <p:grpSpPr>
          <a:xfrm>
            <a:off x="1020835" y="1012521"/>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87" name="Agrupar 86">
            <a:extLst>
              <a:ext uri="{FF2B5EF4-FFF2-40B4-BE49-F238E27FC236}">
                <a16:creationId xmlns:a16="http://schemas.microsoft.com/office/drawing/2014/main" id="{25BA8BFE-472C-AA0D-E7FC-939F1E912AF9}"/>
              </a:ext>
            </a:extLst>
          </p:cNvPr>
          <p:cNvGrpSpPr/>
          <p:nvPr/>
        </p:nvGrpSpPr>
        <p:grpSpPr>
          <a:xfrm>
            <a:off x="4643102" y="568958"/>
            <a:ext cx="2256081" cy="5665002"/>
            <a:chOff x="4643102" y="568958"/>
            <a:chExt cx="2256081" cy="5665002"/>
          </a:xfrm>
        </p:grpSpPr>
        <mc:AlternateContent xmlns:mc="http://schemas.openxmlformats.org/markup-compatibility/2006" xmlns:a14="http://schemas.microsoft.com/office/drawing/2010/main">
          <mc:Choice Requires="a14">
            <p:sp>
              <p:nvSpPr>
                <p:cNvPr id="3" name="Rectangle 4">
                  <a:extLst>
                    <a:ext uri="{FF2B5EF4-FFF2-40B4-BE49-F238E27FC236}">
                      <a16:creationId xmlns:a16="http://schemas.microsoft.com/office/drawing/2014/main" id="{76A85B48-7380-2CCD-FF64-7ADAA61C49CD}"/>
                    </a:ext>
                  </a:extLst>
                </p:cNvPr>
                <p:cNvSpPr/>
                <p:nvPr/>
              </p:nvSpPr>
              <p:spPr>
                <a:xfrm>
                  <a:off x="4665549" y="1849942"/>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4665549" y="1849942"/>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a16="http://schemas.microsoft.com/office/drawing/2014/main" id="{381AC555-FEB7-CFA8-583A-EFB748428BC7}"/>
                    </a:ext>
                  </a:extLst>
                </p:cNvPr>
                <p:cNvSpPr/>
                <p:nvPr/>
              </p:nvSpPr>
              <p:spPr>
                <a:xfrm>
                  <a:off x="4669372" y="511500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4669372" y="5115008"/>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a16="http://schemas.microsoft.com/office/drawing/2014/main" id="{81A71E86-23EC-43BE-4CDC-F69180FEC82F}"/>
                    </a:ext>
                  </a:extLst>
                </p:cNvPr>
                <p:cNvSpPr/>
                <p:nvPr/>
              </p:nvSpPr>
              <p:spPr>
                <a:xfrm>
                  <a:off x="5674111" y="336823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5674111" y="3368234"/>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a16="http://schemas.microsoft.com/office/drawing/2014/main" id="{CA988B7A-1B0B-82F5-9415-E8E6402D7314}"/>
                </a:ext>
              </a:extLst>
            </p:cNvPr>
            <p:cNvSpPr/>
            <p:nvPr/>
          </p:nvSpPr>
          <p:spPr>
            <a:xfrm>
              <a:off x="4688409" y="56895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a16="http://schemas.microsoft.com/office/drawing/2014/main" id="{AAE1E49D-9B08-0B79-5467-F9E05E71413E}"/>
                </a:ext>
              </a:extLst>
            </p:cNvPr>
            <p:cNvSpPr/>
            <p:nvPr/>
          </p:nvSpPr>
          <p:spPr>
            <a:xfrm>
              <a:off x="4680789" y="338661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a16="http://schemas.microsoft.com/office/drawing/2014/main" id="{B8BE4B74-3C6A-2E82-FCA0-6556493DD525}"/>
                </a:ext>
              </a:extLst>
            </p:cNvPr>
            <p:cNvSpPr/>
            <p:nvPr/>
          </p:nvSpPr>
          <p:spPr>
            <a:xfrm>
              <a:off x="4691144" y="5792890"/>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a16="http://schemas.microsoft.com/office/drawing/2014/main" id="{C3D54E13-140B-5E52-0B82-E85F5AEF036A}"/>
                    </a:ext>
                  </a:extLst>
                </p:cNvPr>
                <p:cNvSpPr/>
                <p:nvPr/>
              </p:nvSpPr>
              <p:spPr>
                <a:xfrm>
                  <a:off x="5176293" y="2667198"/>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5176293" y="2667198"/>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a16="http://schemas.microsoft.com/office/drawing/2014/main" id="{3A515DFD-2273-43CA-BC90-55C35DE12AE2}"/>
                    </a:ext>
                  </a:extLst>
                </p:cNvPr>
                <p:cNvSpPr/>
                <p:nvPr/>
              </p:nvSpPr>
              <p:spPr>
                <a:xfrm>
                  <a:off x="4673245" y="4034474"/>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4673245" y="4034474"/>
                  <a:ext cx="432000" cy="441070"/>
                </a:xfrm>
                <a:prstGeom prst="ellipse">
                  <a:avLst/>
                </a:prstGeom>
                <a:blipFill>
                  <a:blip r:embed="rId15"/>
                  <a:stretch>
                    <a:fillRect l="-2817" r="-9859"/>
                  </a:stretch>
                </a:blipFill>
              </p:spPr>
              <p:txBody>
                <a:bodyPr/>
                <a:lstStyle/>
                <a:p>
                  <a:r>
                    <a:rPr lang="en-US">
                      <a:noFill/>
                    </a:rPr>
                    <a:t> </a:t>
                  </a:r>
                </a:p>
              </p:txBody>
            </p:sp>
          </mc:Fallback>
        </mc:AlternateContent>
        <p:cxnSp>
          <p:nvCxnSpPr>
            <p:cNvPr id="32" name="Straight Arrow Connector 12">
              <a:extLst>
                <a:ext uri="{FF2B5EF4-FFF2-40B4-BE49-F238E27FC236}">
                  <a16:creationId xmlns:a16="http://schemas.microsoft.com/office/drawing/2014/main" id="{4C7F79EF-BDDD-A3E9-801D-ECB66DFEA188}"/>
                </a:ext>
              </a:extLst>
            </p:cNvPr>
            <p:cNvCxnSpPr>
              <a:stCxn id="29" idx="0"/>
              <a:endCxn id="4" idx="2"/>
            </p:cNvCxnSpPr>
            <p:nvPr/>
          </p:nvCxnSpPr>
          <p:spPr>
            <a:xfrm flipH="1" flipV="1">
              <a:off x="4903372" y="5592834"/>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a16="http://schemas.microsoft.com/office/drawing/2014/main" id="{B5CF0874-65C0-A04C-D46E-1D31438CA4BA}"/>
                </a:ext>
              </a:extLst>
            </p:cNvPr>
            <p:cNvCxnSpPr/>
            <p:nvPr/>
          </p:nvCxnSpPr>
          <p:spPr>
            <a:xfrm flipH="1" flipV="1">
              <a:off x="4896789" y="447554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a16="http://schemas.microsoft.com/office/drawing/2014/main" id="{B7FC0459-C9D3-5EC5-CA8E-F63D1801A265}"/>
                </a:ext>
              </a:extLst>
            </p:cNvPr>
            <p:cNvCxnSpPr/>
            <p:nvPr/>
          </p:nvCxnSpPr>
          <p:spPr>
            <a:xfrm flipH="1" flipV="1">
              <a:off x="4893017" y="383441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a16="http://schemas.microsoft.com/office/drawing/2014/main" id="{62627B63-6154-491C-CEF1-B37C66D42BAF}"/>
                </a:ext>
              </a:extLst>
            </p:cNvPr>
            <p:cNvCxnSpPr>
              <a:stCxn id="28" idx="0"/>
              <a:endCxn id="3" idx="2"/>
            </p:cNvCxnSpPr>
            <p:nvPr/>
          </p:nvCxnSpPr>
          <p:spPr>
            <a:xfrm flipV="1">
              <a:off x="4896789" y="2327767"/>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a16="http://schemas.microsoft.com/office/drawing/2014/main" id="{3519258D-B8C1-DE2B-9AB3-D478E3C893D8}"/>
                </a:ext>
              </a:extLst>
            </p:cNvPr>
            <p:cNvCxnSpPr>
              <a:stCxn id="30" idx="3"/>
              <a:endCxn id="21" idx="0"/>
            </p:cNvCxnSpPr>
            <p:nvPr/>
          </p:nvCxnSpPr>
          <p:spPr>
            <a:xfrm>
              <a:off x="5722811" y="2906110"/>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a16="http://schemas.microsoft.com/office/drawing/2014/main" id="{9079B4A8-8566-C8E3-FD26-1AD2E579A563}"/>
                </a:ext>
              </a:extLst>
            </p:cNvPr>
            <p:cNvCxnSpPr>
              <a:stCxn id="30" idx="1"/>
            </p:cNvCxnSpPr>
            <p:nvPr/>
          </p:nvCxnSpPr>
          <p:spPr>
            <a:xfrm flipH="1">
              <a:off x="4909489" y="2906110"/>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a16="http://schemas.microsoft.com/office/drawing/2014/main" id="{FB5A9D70-A6BA-5543-5036-B306037D4314}"/>
                </a:ext>
              </a:extLst>
            </p:cNvPr>
            <p:cNvCxnSpPr>
              <a:cxnSpLocks/>
              <a:stCxn id="21" idx="2"/>
              <a:endCxn id="75" idx="3"/>
            </p:cNvCxnSpPr>
            <p:nvPr/>
          </p:nvCxnSpPr>
          <p:spPr>
            <a:xfrm rot="5400000">
              <a:off x="5000887" y="3870601"/>
              <a:ext cx="931767" cy="88268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a16="http://schemas.microsoft.com/office/drawing/2014/main" id="{165E681B-13AF-F55B-80BE-0268B15154D6}"/>
                </a:ext>
              </a:extLst>
            </p:cNvPr>
            <p:cNvCxnSpPr>
              <a:cxnSpLocks/>
              <a:stCxn id="3" idx="0"/>
              <a:endCxn id="44" idx="4"/>
            </p:cNvCxnSpPr>
            <p:nvPr/>
          </p:nvCxnSpPr>
          <p:spPr>
            <a:xfrm flipV="1">
              <a:off x="4899549" y="1624772"/>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a16="http://schemas.microsoft.com/office/drawing/2014/main" id="{D1348BBD-068C-A363-3005-B1289B8D89CD}"/>
                    </a:ext>
                  </a:extLst>
                </p:cNvPr>
                <p:cNvSpPr txBox="1"/>
                <p:nvPr/>
              </p:nvSpPr>
              <p:spPr>
                <a:xfrm>
                  <a:off x="4658005" y="580710"/>
                  <a:ext cx="578748" cy="377086"/>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4658005" y="580710"/>
                  <a:ext cx="578748" cy="377086"/>
                </a:xfrm>
                <a:prstGeom prst="rect">
                  <a:avLst/>
                </a:prstGeom>
                <a:blipFill>
                  <a:blip r:embed="rId16"/>
                  <a:stretch>
                    <a:fillRect l="-4211" t="-6452"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a16="http://schemas.microsoft.com/office/drawing/2014/main" id="{61AF4ACA-82A7-38B5-1AA0-CF7EA98E07ED}"/>
                    </a:ext>
                  </a:extLst>
                </p:cNvPr>
                <p:cNvSpPr txBox="1"/>
                <p:nvPr/>
              </p:nvSpPr>
              <p:spPr>
                <a:xfrm>
                  <a:off x="4649669" y="5828169"/>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4649669" y="5828169"/>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a16="http://schemas.microsoft.com/office/drawing/2014/main" id="{566E3115-AE91-024B-A6A4-0767F86DE0D5}"/>
                    </a:ext>
                  </a:extLst>
                </p:cNvPr>
                <p:cNvSpPr txBox="1"/>
                <p:nvPr/>
              </p:nvSpPr>
              <p:spPr>
                <a:xfrm>
                  <a:off x="4643102" y="3407335"/>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4643102" y="3407335"/>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a16="http://schemas.microsoft.com/office/drawing/2014/main" id="{9E370B18-E5BE-A9AC-F9B6-139BB6C7D877}"/>
                    </a:ext>
                  </a:extLst>
                </p:cNvPr>
                <p:cNvSpPr txBox="1"/>
                <p:nvPr/>
              </p:nvSpPr>
              <p:spPr>
                <a:xfrm>
                  <a:off x="5914490" y="2916060"/>
                  <a:ext cx="984693"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5914490" y="2916060"/>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a16="http://schemas.microsoft.com/office/drawing/2014/main" id="{7A4582A7-DB9A-8D9D-8E97-BCEC8C6FBEEA}"/>
                    </a:ext>
                  </a:extLst>
                </p:cNvPr>
                <p:cNvSpPr/>
                <p:nvPr/>
              </p:nvSpPr>
              <p:spPr>
                <a:xfrm>
                  <a:off x="4687397" y="11837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4687397" y="1183702"/>
                  <a:ext cx="432000" cy="441070"/>
                </a:xfrm>
                <a:prstGeom prst="ellipse">
                  <a:avLst/>
                </a:prstGeom>
                <a:blipFill>
                  <a:blip r:embed="rId20"/>
                  <a:stretch>
                    <a:fillRect l="-2778" r="-8333"/>
                  </a:stretch>
                </a:blipFill>
              </p:spPr>
              <p:txBody>
                <a:bodyPr/>
                <a:lstStyle/>
                <a:p>
                  <a:r>
                    <a:rPr lang="en-US">
                      <a:noFill/>
                    </a:rPr>
                    <a:t> </a:t>
                  </a:r>
                </a:p>
              </p:txBody>
            </p:sp>
          </mc:Fallback>
        </mc:AlternateContent>
        <p:cxnSp>
          <p:nvCxnSpPr>
            <p:cNvPr id="47" name="Straight Arrow Connector 19">
              <a:extLst>
                <a:ext uri="{FF2B5EF4-FFF2-40B4-BE49-F238E27FC236}">
                  <a16:creationId xmlns:a16="http://schemas.microsoft.com/office/drawing/2014/main" id="{08F3B26B-77C0-F7A6-9D1B-EFA91EC5706D}"/>
                </a:ext>
              </a:extLst>
            </p:cNvPr>
            <p:cNvCxnSpPr>
              <a:cxnSpLocks/>
              <a:stCxn id="44" idx="0"/>
              <a:endCxn id="27" idx="4"/>
            </p:cNvCxnSpPr>
            <p:nvPr/>
          </p:nvCxnSpPr>
          <p:spPr>
            <a:xfrm flipV="1">
              <a:off x="4903397" y="1010028"/>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id="{3DA71E34-A5F2-DD0F-7F5E-C8FD62CF743C}"/>
                    </a:ext>
                  </a:extLst>
                </p:cNvPr>
                <p:cNvSpPr txBox="1"/>
                <p:nvPr/>
              </p:nvSpPr>
              <p:spPr>
                <a:xfrm>
                  <a:off x="4683467" y="4546993"/>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75" name="CaixaDeTexto 74">
                  <a:extLst>
                    <a:ext uri="{FF2B5EF4-FFF2-40B4-BE49-F238E27FC236}">
                      <a16:creationId xmlns:a16="http://schemas.microsoft.com/office/drawing/2014/main" id="{3DA71E34-A5F2-DD0F-7F5E-C8FD62CF743C}"/>
                    </a:ext>
                  </a:extLst>
                </p:cNvPr>
                <p:cNvSpPr txBox="1">
                  <a:spLocks noRot="1" noChangeAspect="1" noMove="1" noResize="1" noEditPoints="1" noAdjustHandles="1" noChangeArrowheads="1" noChangeShapeType="1" noTextEdit="1"/>
                </p:cNvSpPr>
                <p:nvPr/>
              </p:nvSpPr>
              <p:spPr>
                <a:xfrm>
                  <a:off x="4683467" y="4546993"/>
                  <a:ext cx="341961" cy="461665"/>
                </a:xfrm>
                <a:prstGeom prst="rect">
                  <a:avLst/>
                </a:prstGeom>
                <a:blipFill>
                  <a:blip r:embed="rId21"/>
                  <a:stretch>
                    <a:fillRect l="-7143" r="-41071" b="-3947"/>
                  </a:stretch>
                </a:blipFill>
              </p:spPr>
              <p:txBody>
                <a:bodyPr/>
                <a:lstStyle/>
                <a:p>
                  <a:r>
                    <a:rPr lang="en-US">
                      <a:noFill/>
                    </a:rPr>
                    <a:t> </a:t>
                  </a:r>
                </a:p>
              </p:txBody>
            </p:sp>
          </mc:Fallback>
        </mc:AlternateContent>
        <p:cxnSp>
          <p:nvCxnSpPr>
            <p:cNvPr id="76" name="Straight Arrow Connector 13">
              <a:extLst>
                <a:ext uri="{FF2B5EF4-FFF2-40B4-BE49-F238E27FC236}">
                  <a16:creationId xmlns:a16="http://schemas.microsoft.com/office/drawing/2014/main" id="{8D072C5D-29CE-C7ED-EF72-662B643C5B69}"/>
                </a:ext>
              </a:extLst>
            </p:cNvPr>
            <p:cNvCxnSpPr>
              <a:cxnSpLocks/>
              <a:stCxn id="4" idx="0"/>
            </p:cNvCxnSpPr>
            <p:nvPr/>
          </p:nvCxnSpPr>
          <p:spPr>
            <a:xfrm flipV="1">
              <a:off x="4903372" y="4908629"/>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86" name="Agrupar 85">
            <a:extLst>
              <a:ext uri="{FF2B5EF4-FFF2-40B4-BE49-F238E27FC236}">
                <a16:creationId xmlns:a16="http://schemas.microsoft.com/office/drawing/2014/main" id="{E063750C-F2AC-4734-9951-B3FB5C0890CC}"/>
              </a:ext>
            </a:extLst>
          </p:cNvPr>
          <p:cNvGrpSpPr/>
          <p:nvPr/>
        </p:nvGrpSpPr>
        <p:grpSpPr>
          <a:xfrm>
            <a:off x="8303280" y="680349"/>
            <a:ext cx="2260881" cy="5651260"/>
            <a:chOff x="8303280" y="680349"/>
            <a:chExt cx="2260881" cy="5651260"/>
          </a:xfrm>
        </p:grpSpPr>
        <p:sp>
          <p:nvSpPr>
            <p:cNvPr id="70" name="Retângulo 69">
              <a:extLst>
                <a:ext uri="{FF2B5EF4-FFF2-40B4-BE49-F238E27FC236}">
                  <a16:creationId xmlns:a16="http://schemas.microsoft.com/office/drawing/2014/main" id="{379EA8BC-EAE2-A335-455F-66FF753A4DB1}"/>
                </a:ext>
              </a:extLst>
            </p:cNvPr>
            <p:cNvSpPr/>
            <p:nvPr/>
          </p:nvSpPr>
          <p:spPr>
            <a:xfrm>
              <a:off x="8628101" y="2714230"/>
              <a:ext cx="1917539" cy="2373654"/>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5" name="Rectangle 4">
                  <a:extLst>
                    <a:ext uri="{FF2B5EF4-FFF2-40B4-BE49-F238E27FC236}">
                      <a16:creationId xmlns:a16="http://schemas.microsoft.com/office/drawing/2014/main" id="{CC60DF1B-DD18-2622-82FA-D88918B433CF}"/>
                    </a:ext>
                  </a:extLst>
                </p:cNvPr>
                <p:cNvSpPr/>
                <p:nvPr/>
              </p:nvSpPr>
              <p:spPr>
                <a:xfrm>
                  <a:off x="8330527" y="1961333"/>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5" name="Rectangle 4">
                  <a:extLst>
                    <a:ext uri="{FF2B5EF4-FFF2-40B4-BE49-F238E27FC236}">
                      <a16:creationId xmlns:a16="http://schemas.microsoft.com/office/drawing/2014/main" id="{CC60DF1B-DD18-2622-82FA-D88918B433CF}"/>
                    </a:ext>
                  </a:extLst>
                </p:cNvPr>
                <p:cNvSpPr>
                  <a:spLocks noRot="1" noChangeAspect="1" noMove="1" noResize="1" noEditPoints="1" noAdjustHandles="1" noChangeArrowheads="1" noChangeShapeType="1" noTextEdit="1"/>
                </p:cNvSpPr>
                <p:nvPr/>
              </p:nvSpPr>
              <p:spPr>
                <a:xfrm>
                  <a:off x="8330527" y="1961333"/>
                  <a:ext cx="468000" cy="477825"/>
                </a:xfrm>
                <a:prstGeom prst="rect">
                  <a:avLst/>
                </a:prstGeom>
                <a:blipFill>
                  <a:blip r:embed="rId22"/>
                  <a:stretch>
                    <a:fillRect l="-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6">
                  <a:extLst>
                    <a:ext uri="{FF2B5EF4-FFF2-40B4-BE49-F238E27FC236}">
                      <a16:creationId xmlns:a16="http://schemas.microsoft.com/office/drawing/2014/main" id="{98838481-B93B-0C0D-FA59-734E96DD984F}"/>
                    </a:ext>
                  </a:extLst>
                </p:cNvPr>
                <p:cNvSpPr/>
                <p:nvPr/>
              </p:nvSpPr>
              <p:spPr>
                <a:xfrm>
                  <a:off x="9339089" y="3479625"/>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48" name="Rectangle 6">
                  <a:extLst>
                    <a:ext uri="{FF2B5EF4-FFF2-40B4-BE49-F238E27FC236}">
                      <a16:creationId xmlns:a16="http://schemas.microsoft.com/office/drawing/2014/main" id="{98838481-B93B-0C0D-FA59-734E96DD984F}"/>
                    </a:ext>
                  </a:extLst>
                </p:cNvPr>
                <p:cNvSpPr>
                  <a:spLocks noRot="1" noChangeAspect="1" noMove="1" noResize="1" noEditPoints="1" noAdjustHandles="1" noChangeArrowheads="1" noChangeShapeType="1" noTextEdit="1"/>
                </p:cNvSpPr>
                <p:nvPr/>
              </p:nvSpPr>
              <p:spPr>
                <a:xfrm>
                  <a:off x="9339089" y="3479625"/>
                  <a:ext cx="468000" cy="477825"/>
                </a:xfrm>
                <a:prstGeom prst="rect">
                  <a:avLst/>
                </a:prstGeom>
                <a:blipFill>
                  <a:blip r:embed="rId23"/>
                  <a:stretch>
                    <a:fillRect l="-8974"/>
                  </a:stretch>
                </a:blipFill>
              </p:spPr>
              <p:txBody>
                <a:bodyPr/>
                <a:lstStyle/>
                <a:p>
                  <a:r>
                    <a:rPr lang="en-US">
                      <a:noFill/>
                    </a:rPr>
                    <a:t> </a:t>
                  </a:r>
                </a:p>
              </p:txBody>
            </p:sp>
          </mc:Fallback>
        </mc:AlternateContent>
        <p:sp>
          <p:nvSpPr>
            <p:cNvPr id="49" name="Oval 7">
              <a:extLst>
                <a:ext uri="{FF2B5EF4-FFF2-40B4-BE49-F238E27FC236}">
                  <a16:creationId xmlns:a16="http://schemas.microsoft.com/office/drawing/2014/main" id="{3C4A2307-848D-9F58-E353-6C1E681FE2FA}"/>
                </a:ext>
              </a:extLst>
            </p:cNvPr>
            <p:cNvSpPr/>
            <p:nvPr/>
          </p:nvSpPr>
          <p:spPr>
            <a:xfrm>
              <a:off x="8353387" y="68034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51" name="Oval 8">
              <a:extLst>
                <a:ext uri="{FF2B5EF4-FFF2-40B4-BE49-F238E27FC236}">
                  <a16:creationId xmlns:a16="http://schemas.microsoft.com/office/drawing/2014/main" id="{E9B7B2A4-193B-9DF2-5198-7EE8FD0BBBDB}"/>
                </a:ext>
              </a:extLst>
            </p:cNvPr>
            <p:cNvSpPr/>
            <p:nvPr/>
          </p:nvSpPr>
          <p:spPr>
            <a:xfrm>
              <a:off x="8345767" y="349800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3" name="Diamond 10">
                  <a:extLst>
                    <a:ext uri="{FF2B5EF4-FFF2-40B4-BE49-F238E27FC236}">
                      <a16:creationId xmlns:a16="http://schemas.microsoft.com/office/drawing/2014/main" id="{2999EDBF-A5CB-B020-668E-9210C5A45C76}"/>
                    </a:ext>
                  </a:extLst>
                </p:cNvPr>
                <p:cNvSpPr/>
                <p:nvPr/>
              </p:nvSpPr>
              <p:spPr>
                <a:xfrm>
                  <a:off x="8841271" y="2778589"/>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53" name="Diamond 10">
                  <a:extLst>
                    <a:ext uri="{FF2B5EF4-FFF2-40B4-BE49-F238E27FC236}">
                      <a16:creationId xmlns:a16="http://schemas.microsoft.com/office/drawing/2014/main" id="{2999EDBF-A5CB-B020-668E-9210C5A45C76}"/>
                    </a:ext>
                  </a:extLst>
                </p:cNvPr>
                <p:cNvSpPr>
                  <a:spLocks noRot="1" noChangeAspect="1" noMove="1" noResize="1" noEditPoints="1" noAdjustHandles="1" noChangeArrowheads="1" noChangeShapeType="1" noTextEdit="1"/>
                </p:cNvSpPr>
                <p:nvPr/>
              </p:nvSpPr>
              <p:spPr>
                <a:xfrm>
                  <a:off x="8841271" y="2778589"/>
                  <a:ext cx="546518" cy="477825"/>
                </a:xfrm>
                <a:prstGeom prst="diamond">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11">
                  <a:extLst>
                    <a:ext uri="{FF2B5EF4-FFF2-40B4-BE49-F238E27FC236}">
                      <a16:creationId xmlns:a16="http://schemas.microsoft.com/office/drawing/2014/main" id="{EAB91A69-A587-3EBF-EEAF-50916C6CC9D2}"/>
                    </a:ext>
                  </a:extLst>
                </p:cNvPr>
                <p:cNvSpPr/>
                <p:nvPr/>
              </p:nvSpPr>
              <p:spPr>
                <a:xfrm>
                  <a:off x="8338223" y="4145865"/>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54" name="Oval 11">
                  <a:extLst>
                    <a:ext uri="{FF2B5EF4-FFF2-40B4-BE49-F238E27FC236}">
                      <a16:creationId xmlns:a16="http://schemas.microsoft.com/office/drawing/2014/main" id="{EAB91A69-A587-3EBF-EEAF-50916C6CC9D2}"/>
                    </a:ext>
                  </a:extLst>
                </p:cNvPr>
                <p:cNvSpPr>
                  <a:spLocks noRot="1" noChangeAspect="1" noMove="1" noResize="1" noEditPoints="1" noAdjustHandles="1" noChangeArrowheads="1" noChangeShapeType="1" noTextEdit="1"/>
                </p:cNvSpPr>
                <p:nvPr/>
              </p:nvSpPr>
              <p:spPr>
                <a:xfrm>
                  <a:off x="8338223" y="4145865"/>
                  <a:ext cx="432000" cy="441070"/>
                </a:xfrm>
                <a:prstGeom prst="ellipse">
                  <a:avLst/>
                </a:prstGeom>
                <a:blipFill>
                  <a:blip r:embed="rId25"/>
                  <a:stretch>
                    <a:fillRect l="-1389" r="-8333"/>
                  </a:stretch>
                </a:blipFill>
              </p:spPr>
              <p:txBody>
                <a:bodyPr/>
                <a:lstStyle/>
                <a:p>
                  <a:r>
                    <a:rPr lang="en-US">
                      <a:noFill/>
                    </a:rPr>
                    <a:t> </a:t>
                  </a:r>
                </a:p>
              </p:txBody>
            </p:sp>
          </mc:Fallback>
        </mc:AlternateContent>
        <p:cxnSp>
          <p:nvCxnSpPr>
            <p:cNvPr id="57" name="Straight Arrow Connector 14">
              <a:extLst>
                <a:ext uri="{FF2B5EF4-FFF2-40B4-BE49-F238E27FC236}">
                  <a16:creationId xmlns:a16="http://schemas.microsoft.com/office/drawing/2014/main" id="{E2E4EF89-06B5-BE6E-EDFF-E39EDA24404D}"/>
                </a:ext>
              </a:extLst>
            </p:cNvPr>
            <p:cNvCxnSpPr/>
            <p:nvPr/>
          </p:nvCxnSpPr>
          <p:spPr>
            <a:xfrm flipH="1" flipV="1">
              <a:off x="8557995" y="3945808"/>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15">
              <a:extLst>
                <a:ext uri="{FF2B5EF4-FFF2-40B4-BE49-F238E27FC236}">
                  <a16:creationId xmlns:a16="http://schemas.microsoft.com/office/drawing/2014/main" id="{268A3BBB-ECA0-D345-D634-885A815E0832}"/>
                </a:ext>
              </a:extLst>
            </p:cNvPr>
            <p:cNvCxnSpPr>
              <a:stCxn id="51" idx="0"/>
              <a:endCxn id="45" idx="2"/>
            </p:cNvCxnSpPr>
            <p:nvPr/>
          </p:nvCxnSpPr>
          <p:spPr>
            <a:xfrm flipV="1">
              <a:off x="8561767" y="2439158"/>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9" name="Connector: Elbow 16">
              <a:extLst>
                <a:ext uri="{FF2B5EF4-FFF2-40B4-BE49-F238E27FC236}">
                  <a16:creationId xmlns:a16="http://schemas.microsoft.com/office/drawing/2014/main" id="{D978BFBE-6025-2DD3-880B-ED65A5A107FD}"/>
                </a:ext>
              </a:extLst>
            </p:cNvPr>
            <p:cNvCxnSpPr>
              <a:stCxn id="53" idx="3"/>
              <a:endCxn id="48" idx="0"/>
            </p:cNvCxnSpPr>
            <p:nvPr/>
          </p:nvCxnSpPr>
          <p:spPr>
            <a:xfrm>
              <a:off x="9387789" y="3017501"/>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17">
              <a:extLst>
                <a:ext uri="{FF2B5EF4-FFF2-40B4-BE49-F238E27FC236}">
                  <a16:creationId xmlns:a16="http://schemas.microsoft.com/office/drawing/2014/main" id="{2DC1F776-77E2-6DB3-8520-4325F781B59B}"/>
                </a:ext>
              </a:extLst>
            </p:cNvPr>
            <p:cNvCxnSpPr>
              <a:stCxn id="53" idx="1"/>
            </p:cNvCxnSpPr>
            <p:nvPr/>
          </p:nvCxnSpPr>
          <p:spPr>
            <a:xfrm flipH="1">
              <a:off x="8574467" y="3017501"/>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1" name="Connector: Elbow 18">
              <a:extLst>
                <a:ext uri="{FF2B5EF4-FFF2-40B4-BE49-F238E27FC236}">
                  <a16:creationId xmlns:a16="http://schemas.microsoft.com/office/drawing/2014/main" id="{4959EBAE-910C-1F97-4634-79D6540E3A0E}"/>
                </a:ext>
              </a:extLst>
            </p:cNvPr>
            <p:cNvCxnSpPr>
              <a:cxnSpLocks/>
              <a:stCxn id="48" idx="2"/>
              <a:endCxn id="83" idx="3"/>
            </p:cNvCxnSpPr>
            <p:nvPr/>
          </p:nvCxnSpPr>
          <p:spPr>
            <a:xfrm rot="5400000">
              <a:off x="8668143" y="3970528"/>
              <a:ext cx="918025" cy="89186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19">
              <a:extLst>
                <a:ext uri="{FF2B5EF4-FFF2-40B4-BE49-F238E27FC236}">
                  <a16:creationId xmlns:a16="http://schemas.microsoft.com/office/drawing/2014/main" id="{2AA37296-AE82-9886-3517-5776C763B50A}"/>
                </a:ext>
              </a:extLst>
            </p:cNvPr>
            <p:cNvCxnSpPr>
              <a:cxnSpLocks/>
              <a:stCxn id="45" idx="0"/>
              <a:endCxn id="67" idx="4"/>
            </p:cNvCxnSpPr>
            <p:nvPr/>
          </p:nvCxnSpPr>
          <p:spPr>
            <a:xfrm flipV="1">
              <a:off x="8564527" y="1736163"/>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3" name="TextBox 21">
                  <a:extLst>
                    <a:ext uri="{FF2B5EF4-FFF2-40B4-BE49-F238E27FC236}">
                      <a16:creationId xmlns:a16="http://schemas.microsoft.com/office/drawing/2014/main" id="{B06A00F5-1EA0-7A85-5B01-94BEEA747BAE}"/>
                    </a:ext>
                  </a:extLst>
                </p:cNvPr>
                <p:cNvSpPr txBox="1"/>
                <p:nvPr/>
              </p:nvSpPr>
              <p:spPr>
                <a:xfrm>
                  <a:off x="8322983" y="692101"/>
                  <a:ext cx="578748" cy="377086"/>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3" name="TextBox 21">
                  <a:extLst>
                    <a:ext uri="{FF2B5EF4-FFF2-40B4-BE49-F238E27FC236}">
                      <a16:creationId xmlns:a16="http://schemas.microsoft.com/office/drawing/2014/main" id="{B06A00F5-1EA0-7A85-5B01-94BEEA747BAE}"/>
                    </a:ext>
                  </a:extLst>
                </p:cNvPr>
                <p:cNvSpPr txBox="1">
                  <a:spLocks noRot="1" noChangeAspect="1" noMove="1" noResize="1" noEditPoints="1" noAdjustHandles="1" noChangeArrowheads="1" noChangeShapeType="1" noTextEdit="1"/>
                </p:cNvSpPr>
                <p:nvPr/>
              </p:nvSpPr>
              <p:spPr>
                <a:xfrm>
                  <a:off x="8322983" y="692101"/>
                  <a:ext cx="578748" cy="377086"/>
                </a:xfrm>
                <a:prstGeom prst="rect">
                  <a:avLst/>
                </a:prstGeom>
                <a:blipFill>
                  <a:blip r:embed="rId26"/>
                  <a:stretch>
                    <a:fillRect l="-3158"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23">
                  <a:extLst>
                    <a:ext uri="{FF2B5EF4-FFF2-40B4-BE49-F238E27FC236}">
                      <a16:creationId xmlns:a16="http://schemas.microsoft.com/office/drawing/2014/main" id="{09507CE9-1F6A-CD19-FCC1-7D96DD05583C}"/>
                    </a:ext>
                  </a:extLst>
                </p:cNvPr>
                <p:cNvSpPr txBox="1"/>
                <p:nvPr/>
              </p:nvSpPr>
              <p:spPr>
                <a:xfrm>
                  <a:off x="8308080" y="3518726"/>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5" name="TextBox 23">
                  <a:extLst>
                    <a:ext uri="{FF2B5EF4-FFF2-40B4-BE49-F238E27FC236}">
                      <a16:creationId xmlns:a16="http://schemas.microsoft.com/office/drawing/2014/main" id="{09507CE9-1F6A-CD19-FCC1-7D96DD05583C}"/>
                    </a:ext>
                  </a:extLst>
                </p:cNvPr>
                <p:cNvSpPr txBox="1">
                  <a:spLocks noRot="1" noChangeAspect="1" noMove="1" noResize="1" noEditPoints="1" noAdjustHandles="1" noChangeArrowheads="1" noChangeShapeType="1" noTextEdit="1"/>
                </p:cNvSpPr>
                <p:nvPr/>
              </p:nvSpPr>
              <p:spPr>
                <a:xfrm>
                  <a:off x="8308080" y="3518726"/>
                  <a:ext cx="578748" cy="377086"/>
                </a:xfrm>
                <a:prstGeom prst="rect">
                  <a:avLst/>
                </a:prstGeom>
                <a:blipFill>
                  <a:blip r:embed="rId27"/>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24">
                  <a:extLst>
                    <a:ext uri="{FF2B5EF4-FFF2-40B4-BE49-F238E27FC236}">
                      <a16:creationId xmlns:a16="http://schemas.microsoft.com/office/drawing/2014/main" id="{6E6AEFFA-B625-88EB-CE70-A7CF249DF3F7}"/>
                    </a:ext>
                  </a:extLst>
                </p:cNvPr>
                <p:cNvSpPr txBox="1"/>
                <p:nvPr/>
              </p:nvSpPr>
              <p:spPr>
                <a:xfrm>
                  <a:off x="9579468" y="3027451"/>
                  <a:ext cx="984693"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66" name="TextBox 24">
                  <a:extLst>
                    <a:ext uri="{FF2B5EF4-FFF2-40B4-BE49-F238E27FC236}">
                      <a16:creationId xmlns:a16="http://schemas.microsoft.com/office/drawing/2014/main" id="{6E6AEFFA-B625-88EB-CE70-A7CF249DF3F7}"/>
                    </a:ext>
                  </a:extLst>
                </p:cNvPr>
                <p:cNvSpPr txBox="1">
                  <a:spLocks noRot="1" noChangeAspect="1" noMove="1" noResize="1" noEditPoints="1" noAdjustHandles="1" noChangeArrowheads="1" noChangeShapeType="1" noTextEdit="1"/>
                </p:cNvSpPr>
                <p:nvPr/>
              </p:nvSpPr>
              <p:spPr>
                <a:xfrm>
                  <a:off x="9579468" y="3027451"/>
                  <a:ext cx="984693" cy="377086"/>
                </a:xfrm>
                <a:prstGeom prst="rect">
                  <a:avLst/>
                </a:prstGeom>
                <a:blipFill>
                  <a:blip r:embed="rId28"/>
                  <a:stretch>
                    <a:fillRect l="-1852"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11">
                  <a:extLst>
                    <a:ext uri="{FF2B5EF4-FFF2-40B4-BE49-F238E27FC236}">
                      <a16:creationId xmlns:a16="http://schemas.microsoft.com/office/drawing/2014/main" id="{3BBF63DB-6B52-7B51-8A0C-C1825B80EDF7}"/>
                    </a:ext>
                  </a:extLst>
                </p:cNvPr>
                <p:cNvSpPr/>
                <p:nvPr/>
              </p:nvSpPr>
              <p:spPr>
                <a:xfrm>
                  <a:off x="8352375" y="129509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7" name="Oval 11">
                  <a:extLst>
                    <a:ext uri="{FF2B5EF4-FFF2-40B4-BE49-F238E27FC236}">
                      <a16:creationId xmlns:a16="http://schemas.microsoft.com/office/drawing/2014/main" id="{3BBF63DB-6B52-7B51-8A0C-C1825B80EDF7}"/>
                    </a:ext>
                  </a:extLst>
                </p:cNvPr>
                <p:cNvSpPr>
                  <a:spLocks noRot="1" noChangeAspect="1" noMove="1" noResize="1" noEditPoints="1" noAdjustHandles="1" noChangeArrowheads="1" noChangeShapeType="1" noTextEdit="1"/>
                </p:cNvSpPr>
                <p:nvPr/>
              </p:nvSpPr>
              <p:spPr>
                <a:xfrm>
                  <a:off x="8352375" y="1295093"/>
                  <a:ext cx="432000" cy="441070"/>
                </a:xfrm>
                <a:prstGeom prst="ellipse">
                  <a:avLst/>
                </a:prstGeom>
                <a:blipFill>
                  <a:blip r:embed="rId29"/>
                  <a:stretch>
                    <a:fillRect l="-2778" r="-9722"/>
                  </a:stretch>
                </a:blipFill>
              </p:spPr>
              <p:txBody>
                <a:bodyPr/>
                <a:lstStyle/>
                <a:p>
                  <a:r>
                    <a:rPr lang="en-US">
                      <a:noFill/>
                    </a:rPr>
                    <a:t> </a:t>
                  </a:r>
                </a:p>
              </p:txBody>
            </p:sp>
          </mc:Fallback>
        </mc:AlternateContent>
        <p:cxnSp>
          <p:nvCxnSpPr>
            <p:cNvPr id="68" name="Straight Arrow Connector 19">
              <a:extLst>
                <a:ext uri="{FF2B5EF4-FFF2-40B4-BE49-F238E27FC236}">
                  <a16:creationId xmlns:a16="http://schemas.microsoft.com/office/drawing/2014/main" id="{9105CD93-AFA7-77CD-09EB-387FCB9F350B}"/>
                </a:ext>
              </a:extLst>
            </p:cNvPr>
            <p:cNvCxnSpPr>
              <a:cxnSpLocks/>
              <a:stCxn id="67" idx="0"/>
              <a:endCxn id="49" idx="4"/>
            </p:cNvCxnSpPr>
            <p:nvPr/>
          </p:nvCxnSpPr>
          <p:spPr>
            <a:xfrm flipV="1">
              <a:off x="8568375" y="1121419"/>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8" name="Rectangle 5">
                  <a:extLst>
                    <a:ext uri="{FF2B5EF4-FFF2-40B4-BE49-F238E27FC236}">
                      <a16:creationId xmlns:a16="http://schemas.microsoft.com/office/drawing/2014/main" id="{18A8269A-6FCA-C533-9956-DC7949707886}"/>
                    </a:ext>
                  </a:extLst>
                </p:cNvPr>
                <p:cNvSpPr/>
                <p:nvPr/>
              </p:nvSpPr>
              <p:spPr>
                <a:xfrm>
                  <a:off x="8322983" y="5212657"/>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78" name="Rectangle 5">
                  <a:extLst>
                    <a:ext uri="{FF2B5EF4-FFF2-40B4-BE49-F238E27FC236}">
                      <a16:creationId xmlns:a16="http://schemas.microsoft.com/office/drawing/2014/main" id="{18A8269A-6FCA-C533-9956-DC7949707886}"/>
                    </a:ext>
                  </a:extLst>
                </p:cNvPr>
                <p:cNvSpPr>
                  <a:spLocks noRot="1" noChangeAspect="1" noMove="1" noResize="1" noEditPoints="1" noAdjustHandles="1" noChangeArrowheads="1" noChangeShapeType="1" noTextEdit="1"/>
                </p:cNvSpPr>
                <p:nvPr/>
              </p:nvSpPr>
              <p:spPr>
                <a:xfrm>
                  <a:off x="8322983" y="5212657"/>
                  <a:ext cx="468000" cy="477825"/>
                </a:xfrm>
                <a:prstGeom prst="rect">
                  <a:avLst/>
                </a:prstGeom>
                <a:blipFill>
                  <a:blip r:embed="rId30"/>
                  <a:stretch>
                    <a:fillRect l="-5128"/>
                  </a:stretch>
                </a:blipFill>
              </p:spPr>
              <p:txBody>
                <a:bodyPr/>
                <a:lstStyle/>
                <a:p>
                  <a:r>
                    <a:rPr lang="en-US">
                      <a:noFill/>
                    </a:rPr>
                    <a:t> </a:t>
                  </a:r>
                </a:p>
              </p:txBody>
            </p:sp>
          </mc:Fallback>
        </mc:AlternateContent>
        <p:sp>
          <p:nvSpPr>
            <p:cNvPr id="79" name="Oval 9">
              <a:extLst>
                <a:ext uri="{FF2B5EF4-FFF2-40B4-BE49-F238E27FC236}">
                  <a16:creationId xmlns:a16="http://schemas.microsoft.com/office/drawing/2014/main" id="{D9A6C148-A8EE-508C-F385-EAEB66B7EC64}"/>
                </a:ext>
              </a:extLst>
            </p:cNvPr>
            <p:cNvSpPr/>
            <p:nvPr/>
          </p:nvSpPr>
          <p:spPr>
            <a:xfrm>
              <a:off x="8344755" y="589053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cxnSp>
          <p:nvCxnSpPr>
            <p:cNvPr id="80" name="Straight Arrow Connector 12">
              <a:extLst>
                <a:ext uri="{FF2B5EF4-FFF2-40B4-BE49-F238E27FC236}">
                  <a16:creationId xmlns:a16="http://schemas.microsoft.com/office/drawing/2014/main" id="{D9FBADDF-CE30-822E-2E6F-8E10007F6F28}"/>
                </a:ext>
              </a:extLst>
            </p:cNvPr>
            <p:cNvCxnSpPr>
              <a:stCxn id="79" idx="0"/>
              <a:endCxn id="78" idx="2"/>
            </p:cNvCxnSpPr>
            <p:nvPr/>
          </p:nvCxnSpPr>
          <p:spPr>
            <a:xfrm flipH="1" flipV="1">
              <a:off x="8556983" y="569048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1" name="Straight Arrow Connector 13">
              <a:extLst>
                <a:ext uri="{FF2B5EF4-FFF2-40B4-BE49-F238E27FC236}">
                  <a16:creationId xmlns:a16="http://schemas.microsoft.com/office/drawing/2014/main" id="{7955E62E-C81E-5C22-3748-019775E7F142}"/>
                </a:ext>
              </a:extLst>
            </p:cNvPr>
            <p:cNvCxnSpPr>
              <a:cxnSpLocks/>
              <a:endCxn id="54" idx="4"/>
            </p:cNvCxnSpPr>
            <p:nvPr/>
          </p:nvCxnSpPr>
          <p:spPr>
            <a:xfrm flipV="1">
              <a:off x="8554172" y="4586935"/>
              <a:ext cx="51" cy="186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22">
                  <a:extLst>
                    <a:ext uri="{FF2B5EF4-FFF2-40B4-BE49-F238E27FC236}">
                      <a16:creationId xmlns:a16="http://schemas.microsoft.com/office/drawing/2014/main" id="{F929E6D5-31AA-0907-916E-28F687E25432}"/>
                    </a:ext>
                  </a:extLst>
                </p:cNvPr>
                <p:cNvSpPr txBox="1"/>
                <p:nvPr/>
              </p:nvSpPr>
              <p:spPr>
                <a:xfrm>
                  <a:off x="8303280" y="5925818"/>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82" name="TextBox 22">
                  <a:extLst>
                    <a:ext uri="{FF2B5EF4-FFF2-40B4-BE49-F238E27FC236}">
                      <a16:creationId xmlns:a16="http://schemas.microsoft.com/office/drawing/2014/main" id="{F929E6D5-31AA-0907-916E-28F687E25432}"/>
                    </a:ext>
                  </a:extLst>
                </p:cNvPr>
                <p:cNvSpPr txBox="1">
                  <a:spLocks noRot="1" noChangeAspect="1" noMove="1" noResize="1" noEditPoints="1" noAdjustHandles="1" noChangeArrowheads="1" noChangeShapeType="1" noTextEdit="1"/>
                </p:cNvSpPr>
                <p:nvPr/>
              </p:nvSpPr>
              <p:spPr>
                <a:xfrm>
                  <a:off x="8303280" y="5925818"/>
                  <a:ext cx="578748" cy="377086"/>
                </a:xfrm>
                <a:prstGeom prst="rect">
                  <a:avLst/>
                </a:prstGeom>
                <a:blipFill>
                  <a:blip r:embed="rId31"/>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CaixaDeTexto 82">
                  <a:extLst>
                    <a:ext uri="{FF2B5EF4-FFF2-40B4-BE49-F238E27FC236}">
                      <a16:creationId xmlns:a16="http://schemas.microsoft.com/office/drawing/2014/main" id="{438E07A8-AE95-D841-D57C-9D8EC083C056}"/>
                    </a:ext>
                  </a:extLst>
                </p:cNvPr>
                <p:cNvSpPr txBox="1"/>
                <p:nvPr/>
              </p:nvSpPr>
              <p:spPr>
                <a:xfrm>
                  <a:off x="8339508" y="4644642"/>
                  <a:ext cx="341712"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83" name="CaixaDeTexto 82">
                  <a:extLst>
                    <a:ext uri="{FF2B5EF4-FFF2-40B4-BE49-F238E27FC236}">
                      <a16:creationId xmlns:a16="http://schemas.microsoft.com/office/drawing/2014/main" id="{438E07A8-AE95-D841-D57C-9D8EC083C056}"/>
                    </a:ext>
                  </a:extLst>
                </p:cNvPr>
                <p:cNvSpPr txBox="1">
                  <a:spLocks noRot="1" noChangeAspect="1" noMove="1" noResize="1" noEditPoints="1" noAdjustHandles="1" noChangeArrowheads="1" noChangeShapeType="1" noTextEdit="1"/>
                </p:cNvSpPr>
                <p:nvPr/>
              </p:nvSpPr>
              <p:spPr>
                <a:xfrm>
                  <a:off x="8339508" y="4644642"/>
                  <a:ext cx="341712" cy="461665"/>
                </a:xfrm>
                <a:prstGeom prst="rect">
                  <a:avLst/>
                </a:prstGeom>
                <a:blipFill>
                  <a:blip r:embed="rId32"/>
                  <a:stretch>
                    <a:fillRect l="-7143" r="-41071" b="-3947"/>
                  </a:stretch>
                </a:blipFill>
              </p:spPr>
              <p:txBody>
                <a:bodyPr/>
                <a:lstStyle/>
                <a:p>
                  <a:r>
                    <a:rPr lang="en-US">
                      <a:noFill/>
                    </a:rPr>
                    <a:t> </a:t>
                  </a:r>
                </a:p>
              </p:txBody>
            </p:sp>
          </mc:Fallback>
        </mc:AlternateContent>
        <p:cxnSp>
          <p:nvCxnSpPr>
            <p:cNvPr id="84" name="Straight Arrow Connector 13">
              <a:extLst>
                <a:ext uri="{FF2B5EF4-FFF2-40B4-BE49-F238E27FC236}">
                  <a16:creationId xmlns:a16="http://schemas.microsoft.com/office/drawing/2014/main" id="{7FC5485A-8F16-D3EF-37BE-0B94710E76C1}"/>
                </a:ext>
              </a:extLst>
            </p:cNvPr>
            <p:cNvCxnSpPr>
              <a:cxnSpLocks/>
              <a:stCxn id="78" idx="0"/>
            </p:cNvCxnSpPr>
            <p:nvPr/>
          </p:nvCxnSpPr>
          <p:spPr>
            <a:xfrm flipV="1">
              <a:off x="8556983" y="5006278"/>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Agrupar 116">
            <a:extLst>
              <a:ext uri="{FF2B5EF4-FFF2-40B4-BE49-F238E27FC236}">
                <a16:creationId xmlns:a16="http://schemas.microsoft.com/office/drawing/2014/main" id="{B37F3DB4-B131-2223-68E5-D18377A042AA}"/>
              </a:ext>
            </a:extLst>
          </p:cNvPr>
          <p:cNvGrpSpPr/>
          <p:nvPr/>
        </p:nvGrpSpPr>
        <p:grpSpPr>
          <a:xfrm>
            <a:off x="764117" y="756806"/>
            <a:ext cx="7724575" cy="5561497"/>
            <a:chOff x="764117" y="756806"/>
            <a:chExt cx="7724575" cy="5561497"/>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5A8CCC43-1D42-7F2F-E428-E85BBDA67D37}"/>
                    </a:ext>
                  </a:extLst>
                </p:cNvPr>
                <p:cNvSpPr/>
                <p:nvPr/>
              </p:nvSpPr>
              <p:spPr>
                <a:xfrm>
                  <a:off x="764117"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64117"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410E7DC3-8E48-A5D7-D205-DC7611FFE8EE}"/>
                    </a:ext>
                  </a:extLst>
                </p:cNvPr>
                <p:cNvSpPr/>
                <p:nvPr/>
              </p:nvSpPr>
              <p:spPr>
                <a:xfrm>
                  <a:off x="808114"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808114" y="771184"/>
                  <a:ext cx="432000" cy="432000"/>
                </a:xfrm>
                <a:prstGeom prst="ellipse">
                  <a:avLst/>
                </a:prstGeom>
                <a:blipFill>
                  <a:blip r:embed="rId5"/>
                  <a:stretch>
                    <a:fillRect l="-14085" r="-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CC6B1917-7E5F-F008-0FC7-4FE6D71A2353}"/>
                    </a:ext>
                  </a:extLst>
                </p:cNvPr>
                <p:cNvSpPr/>
                <p:nvPr/>
              </p:nvSpPr>
              <p:spPr>
                <a:xfrm>
                  <a:off x="785889"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85889" y="5886303"/>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6E1ADF88-3F46-3F6C-D44A-25CFCFF58380}"/>
                </a:ext>
              </a:extLst>
            </p:cNvPr>
            <p:cNvCxnSpPr>
              <a:stCxn id="10" idx="0"/>
              <a:endCxn id="6" idx="2"/>
            </p:cNvCxnSpPr>
            <p:nvPr/>
          </p:nvCxnSpPr>
          <p:spPr>
            <a:xfrm flipH="1" flipV="1">
              <a:off x="998117"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4213198D-DC17-2470-5AB4-FBACBBC41374}"/>
                </a:ext>
              </a:extLst>
            </p:cNvPr>
            <p:cNvCxnSpPr/>
            <p:nvPr/>
          </p:nvCxnSpPr>
          <p:spPr>
            <a:xfrm flipH="1" flipV="1">
              <a:off x="1001889"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CA1FB7FE-64DA-AD96-0437-50FF891D4C76}"/>
                </a:ext>
              </a:extLst>
            </p:cNvPr>
            <p:cNvCxnSpPr>
              <a:cxnSpLocks/>
              <a:stCxn id="7" idx="2"/>
              <a:endCxn id="4" idx="3"/>
            </p:cNvCxnSpPr>
            <p:nvPr/>
          </p:nvCxnSpPr>
          <p:spPr>
            <a:xfrm rot="5400000">
              <a:off x="1123942" y="4009665"/>
              <a:ext cx="903339" cy="90060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DF8C03E3-8716-2E6D-369B-AC1813574A57}"/>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AD295B7E-C267-873F-E0E0-6F754810CBE3}"/>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id="{22F39AD1-94B7-7A64-F11A-A209AC4FBCED}"/>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id="{A265BF78-156E-E80F-64A8-219A58A58CD7}"/>
                </a:ext>
              </a:extLst>
            </p:cNvPr>
            <p:cNvCxnSpPr>
              <a:cxnSpLocks/>
              <a:stCxn id="27" idx="0"/>
              <a:endCxn id="2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DBAA1E31-4ACF-4A4A-4878-2FDC1544D4AC}"/>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id="{5EE8A078-E420-65CE-F198-2ACDE8F319E7}"/>
                </a:ext>
              </a:extLst>
            </p:cNvPr>
            <p:cNvCxnSpPr>
              <a:cxnSpLocks/>
              <a:stCxn id="114" idx="2"/>
              <a:endCxn id="95"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id="{C935B77A-2A90-8654-7AA4-487ED72D18B7}"/>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id="{08C12D3D-1458-CB06-00FF-813305E88984}"/>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id="{033A37FD-3D2D-1C32-A21B-3476BA69473A}"/>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id="{D03D73B0-F40C-EA41-E76B-E7EB0E170398}"/>
                </a:ext>
              </a:extLst>
            </p:cNvPr>
            <p:cNvCxnSpPr>
              <a:stCxn id="49" idx="0"/>
              <a:endCxn id="45"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001566B3-ACB2-0F70-F410-8B26149B92AA}"/>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id="{47D4ECCA-1B5E-7F2C-A9FC-B18B5CB0BADE}"/>
                </a:ext>
              </a:extLst>
            </p:cNvPr>
            <p:cNvCxnSpPr>
              <a:cxnSpLocks/>
              <a:stCxn id="24" idx="2"/>
              <a:endCxn id="100"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id="{41D8D43E-E48E-C188-72E9-121AEB1D37C4}"/>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CE11F32-F73C-593D-2BB1-23924A5693E0}"/>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id="{62CE4D63-E952-565F-A041-5FE4F250C5CE}"/>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3080287C-8306-9C65-7A6F-2D218C99C919}"/>
                </a:ext>
              </a:extLst>
            </p:cNvPr>
            <p:cNvCxnSpPr>
              <a:stCxn id="73" idx="0"/>
              <a:endCxn id="69"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id="{554A301A-E6EA-C46C-78E5-5942556E42D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45188B31-976F-6366-AAD8-A63C479F343F}"/>
                </a:ext>
              </a:extLst>
            </p:cNvPr>
            <p:cNvCxnSpPr>
              <a:cxnSpLocks/>
              <a:stCxn id="46" idx="2"/>
              <a:endCxn id="108"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id="{693E3011-495E-7E76-8871-F30E1F5C8088}"/>
                </a:ext>
              </a:extLst>
            </p:cNvPr>
            <p:cNvCxnSpPr>
              <a:cxnSpLocks/>
              <a:stCxn id="70" idx="2"/>
              <a:endCxn id="11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a16="http://schemas.microsoft.com/office/drawing/2014/main"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77E887F-EDBB-0313-5CE7-0FFA5FC4E09D}"/>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4EC7983-6440-106E-40A4-B9271A9AD72F}"/>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D5EA899-4635-3E2A-C4DF-7472C47377E5}"/>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2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B33A7FE-46D7-DEBB-AF6F-0E2BF6B23F69}"/>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8"/>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EF26E3FE-6209-F4AA-637B-22DC9834FEA1}"/>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9"/>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C00EA537-BE98-DE0B-50F5-FFC11DA371D0}"/>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3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Oval 11">
                  <a:extLst>
                    <a:ext uri="{FF2B5EF4-FFF2-40B4-BE49-F238E27FC236}">
                      <a16:creationId xmlns:a16="http://schemas.microsoft.com/office/drawing/2014/main" id="{C5E5D330-A6A2-200D-669F-4FD803F346E3}"/>
                    </a:ext>
                  </a:extLst>
                </p:cNvPr>
                <p:cNvSpPr/>
                <p:nvPr/>
              </p:nvSpPr>
              <p:spPr>
                <a:xfrm>
                  <a:off x="807320" y="1403017"/>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3" name="Oval 11">
                  <a:extLst>
                    <a:ext uri="{FF2B5EF4-FFF2-40B4-BE49-F238E27FC236}">
                      <a16:creationId xmlns:a16="http://schemas.microsoft.com/office/drawing/2014/main" id="{C5E5D330-A6A2-200D-669F-4FD803F346E3}"/>
                    </a:ext>
                  </a:extLst>
                </p:cNvPr>
                <p:cNvSpPr>
                  <a:spLocks noRot="1" noChangeAspect="1" noMove="1" noResize="1" noEditPoints="1" noAdjustHandles="1" noChangeArrowheads="1" noChangeShapeType="1" noTextEdit="1"/>
                </p:cNvSpPr>
                <p:nvPr/>
              </p:nvSpPr>
              <p:spPr>
                <a:xfrm>
                  <a:off x="807320" y="1403017"/>
                  <a:ext cx="432000" cy="441070"/>
                </a:xfrm>
                <a:prstGeom prst="ellipse">
                  <a:avLst/>
                </a:prstGeom>
                <a:blipFill>
                  <a:blip r:embed="rId31"/>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11">
                  <a:extLst>
                    <a:ext uri="{FF2B5EF4-FFF2-40B4-BE49-F238E27FC236}">
                      <a16:creationId xmlns:a16="http://schemas.microsoft.com/office/drawing/2014/main" id="{B6FE33E8-0760-8FC9-84F7-56C62D4E1118}"/>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21" name="Oval 11">
                  <a:extLst>
                    <a:ext uri="{FF2B5EF4-FFF2-40B4-BE49-F238E27FC236}">
                      <a16:creationId xmlns:a16="http://schemas.microsoft.com/office/drawing/2014/main" id="{B6FE33E8-0760-8FC9-84F7-56C62D4E1118}"/>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11">
                  <a:extLst>
                    <a:ext uri="{FF2B5EF4-FFF2-40B4-BE49-F238E27FC236}">
                      <a16:creationId xmlns:a16="http://schemas.microsoft.com/office/drawing/2014/main" id="{C0F421C5-E4C5-F634-6C6D-62942FCBDD5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57" name="Oval 11">
                  <a:extLst>
                    <a:ext uri="{FF2B5EF4-FFF2-40B4-BE49-F238E27FC236}">
                      <a16:creationId xmlns:a16="http://schemas.microsoft.com/office/drawing/2014/main" id="{C0F421C5-E4C5-F634-6C6D-62942FCBDD5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11">
                  <a:extLst>
                    <a:ext uri="{FF2B5EF4-FFF2-40B4-BE49-F238E27FC236}">
                      <a16:creationId xmlns:a16="http://schemas.microsoft.com/office/drawing/2014/main" id="{BC90D06B-3639-7A67-06BC-FC60D23DDB6C}"/>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1" name="Oval 11">
                  <a:extLst>
                    <a:ext uri="{FF2B5EF4-FFF2-40B4-BE49-F238E27FC236}">
                      <a16:creationId xmlns:a16="http://schemas.microsoft.com/office/drawing/2014/main" id="{BC90D06B-3639-7A67-06BC-FC60D23DDB6C}"/>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32"/>
                  <a:stretch>
                    <a:fillRect l="-2778" r="-9722"/>
                  </a:stretch>
                </a:blipFill>
              </p:spPr>
              <p:txBody>
                <a:bodyPr/>
                <a:lstStyle/>
                <a:p>
                  <a:r>
                    <a:rPr lang="en-US">
                      <a:noFill/>
                    </a:rPr>
                    <a:t> </a:t>
                  </a:r>
                </a:p>
              </p:txBody>
            </p:sp>
          </mc:Fallback>
        </mc:AlternateContent>
        <p:cxnSp>
          <p:nvCxnSpPr>
            <p:cNvPr id="67" name="Conector de Seta Reta 66">
              <a:extLst>
                <a:ext uri="{FF2B5EF4-FFF2-40B4-BE49-F238E27FC236}">
                  <a16:creationId xmlns:a16="http://schemas.microsoft.com/office/drawing/2014/main" id="{86429720-2DF6-7A74-9EC1-6BEE85907D59}"/>
                </a:ext>
              </a:extLst>
            </p:cNvPr>
            <p:cNvCxnSpPr>
              <a:stCxn id="3" idx="0"/>
              <a:endCxn id="8" idx="4"/>
            </p:cNvCxnSpPr>
            <p:nvPr/>
          </p:nvCxnSpPr>
          <p:spPr>
            <a:xfrm flipV="1">
              <a:off x="1023320" y="1203184"/>
              <a:ext cx="794" cy="199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AB54464B-2901-8D54-0EDE-480548FAE497}"/>
                </a:ext>
              </a:extLst>
            </p:cNvPr>
            <p:cNvCxnSpPr>
              <a:stCxn id="21" idx="0"/>
              <a:endCxn id="2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8E37C0AA-93CB-AB30-D02A-AEA85FD9686D}"/>
                </a:ext>
              </a:extLst>
            </p:cNvPr>
            <p:cNvCxnSpPr>
              <a:stCxn id="57" idx="0"/>
              <a:endCxn id="47"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3B223D1E-A477-5832-D7EC-B417A729B8D2}"/>
                </a:ext>
              </a:extLst>
            </p:cNvPr>
            <p:cNvCxnSpPr>
              <a:stCxn id="61" idx="0"/>
              <a:endCxn id="71"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DD93D607-FBDF-1D71-A36E-AB15E7DA6DC2}"/>
                    </a:ext>
                  </a:extLst>
                </p:cNvPr>
                <p:cNvSpPr txBox="1"/>
                <p:nvPr/>
              </p:nvSpPr>
              <p:spPr>
                <a:xfrm>
                  <a:off x="783349" y="4680802"/>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4" name="CaixaDeTexto 3">
                  <a:extLst>
                    <a:ext uri="{FF2B5EF4-FFF2-40B4-BE49-F238E27FC236}">
                      <a16:creationId xmlns:a16="http://schemas.microsoft.com/office/drawing/2014/main" id="{DD93D607-FBDF-1D71-A36E-AB15E7DA6DC2}"/>
                    </a:ext>
                  </a:extLst>
                </p:cNvPr>
                <p:cNvSpPr txBox="1">
                  <a:spLocks noRot="1" noChangeAspect="1" noMove="1" noResize="1" noEditPoints="1" noAdjustHandles="1" noChangeArrowheads="1" noChangeShapeType="1" noTextEdit="1"/>
                </p:cNvSpPr>
                <p:nvPr/>
              </p:nvSpPr>
              <p:spPr>
                <a:xfrm>
                  <a:off x="783349" y="4680802"/>
                  <a:ext cx="341961" cy="461665"/>
                </a:xfrm>
                <a:prstGeom prst="rect">
                  <a:avLst/>
                </a:prstGeom>
                <a:blipFill>
                  <a:blip r:embed="rId33"/>
                  <a:stretch>
                    <a:fillRect l="-8929" r="-39286" b="-3947"/>
                  </a:stretch>
                </a:blipFill>
              </p:spPr>
              <p:txBody>
                <a:bodyPr/>
                <a:lstStyle/>
                <a:p>
                  <a:r>
                    <a:rPr lang="en-US">
                      <a:noFill/>
                    </a:rPr>
                    <a:t> </a:t>
                  </a:r>
                </a:p>
              </p:txBody>
            </p:sp>
          </mc:Fallback>
        </mc:AlternateContent>
        <p:cxnSp>
          <p:nvCxnSpPr>
            <p:cNvPr id="35" name="Straight Arrow Connector 13">
              <a:extLst>
                <a:ext uri="{FF2B5EF4-FFF2-40B4-BE49-F238E27FC236}">
                  <a16:creationId xmlns:a16="http://schemas.microsoft.com/office/drawing/2014/main" id="{DAA61C5C-6836-CD11-0CE5-E4E5EF8AA1C5}"/>
                </a:ext>
              </a:extLst>
            </p:cNvPr>
            <p:cNvCxnSpPr/>
            <p:nvPr/>
          </p:nvCxnSpPr>
          <p:spPr>
            <a:xfrm flipH="1" flipV="1">
              <a:off x="1005159" y="463143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CaixaDeTexto 57">
                  <a:extLst>
                    <a:ext uri="{FF2B5EF4-FFF2-40B4-BE49-F238E27FC236}">
                      <a16:creationId xmlns:a16="http://schemas.microsoft.com/office/drawing/2014/main" id="{0CC2E73C-ED0F-381F-8C2F-D8C9C097F98F}"/>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58" name="CaixaDeTexto 57">
                  <a:extLst>
                    <a:ext uri="{FF2B5EF4-FFF2-40B4-BE49-F238E27FC236}">
                      <a16:creationId xmlns:a16="http://schemas.microsoft.com/office/drawing/2014/main" id="{0CC2E73C-ED0F-381F-8C2F-D8C9C097F98F}"/>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34"/>
                  <a:stretch>
                    <a:fillRect l="-8475" r="-32203" b="-3947"/>
                  </a:stretch>
                </a:blipFill>
              </p:spPr>
              <p:txBody>
                <a:bodyPr/>
                <a:lstStyle/>
                <a:p>
                  <a:r>
                    <a:rPr lang="en-US">
                      <a:noFill/>
                    </a:rPr>
                    <a:t> </a:t>
                  </a:r>
                </a:p>
              </p:txBody>
            </p:sp>
          </mc:Fallback>
        </mc:AlternateContent>
        <p:cxnSp>
          <p:nvCxnSpPr>
            <p:cNvPr id="63" name="Straight Arrow Connector 13">
              <a:extLst>
                <a:ext uri="{FF2B5EF4-FFF2-40B4-BE49-F238E27FC236}">
                  <a16:creationId xmlns:a16="http://schemas.microsoft.com/office/drawing/2014/main" id="{09C24D21-9BD0-9EBE-C85E-B4AF9A8BE707}"/>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4" name="CaixaDeTexto 63">
                  <a:extLst>
                    <a:ext uri="{FF2B5EF4-FFF2-40B4-BE49-F238E27FC236}">
                      <a16:creationId xmlns:a16="http://schemas.microsoft.com/office/drawing/2014/main" id="{2F6ECEF3-0AF8-0A47-4F65-065A7C0EDEE6}"/>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4" name="CaixaDeTexto 63">
                  <a:extLst>
                    <a:ext uri="{FF2B5EF4-FFF2-40B4-BE49-F238E27FC236}">
                      <a16:creationId xmlns:a16="http://schemas.microsoft.com/office/drawing/2014/main" id="{2F6ECEF3-0AF8-0A47-4F65-065A7C0EDEE6}"/>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35"/>
                  <a:stretch>
                    <a:fillRect l="-8929" r="-39286" b="-5333"/>
                  </a:stretch>
                </a:blipFill>
              </p:spPr>
              <p:txBody>
                <a:bodyPr/>
                <a:lstStyle/>
                <a:p>
                  <a:r>
                    <a:rPr lang="en-US">
                      <a:noFill/>
                    </a:rPr>
                    <a:t> </a:t>
                  </a:r>
                </a:p>
              </p:txBody>
            </p:sp>
          </mc:Fallback>
        </mc:AlternateContent>
        <p:cxnSp>
          <p:nvCxnSpPr>
            <p:cNvPr id="65" name="Straight Arrow Connector 13">
              <a:extLst>
                <a:ext uri="{FF2B5EF4-FFF2-40B4-BE49-F238E27FC236}">
                  <a16:creationId xmlns:a16="http://schemas.microsoft.com/office/drawing/2014/main" id="{533C3979-B69A-9BC9-A887-F9CC7FA30F33}"/>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6" name="CaixaDeTexto 65">
                  <a:extLst>
                    <a:ext uri="{FF2B5EF4-FFF2-40B4-BE49-F238E27FC236}">
                      <a16:creationId xmlns:a16="http://schemas.microsoft.com/office/drawing/2014/main" id="{2E9FCB7F-87E3-20A0-C26F-F8FC635DFEEA}"/>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6" name="CaixaDeTexto 65">
                  <a:extLst>
                    <a:ext uri="{FF2B5EF4-FFF2-40B4-BE49-F238E27FC236}">
                      <a16:creationId xmlns:a16="http://schemas.microsoft.com/office/drawing/2014/main" id="{2E9FCB7F-87E3-20A0-C26F-F8FC635DFEEA}"/>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36"/>
                  <a:stretch>
                    <a:fillRect l="-8929" r="-39286" b="-3947"/>
                  </a:stretch>
                </a:blipFill>
              </p:spPr>
              <p:txBody>
                <a:bodyPr/>
                <a:lstStyle/>
                <a:p>
                  <a:r>
                    <a:rPr lang="en-US">
                      <a:noFill/>
                    </a:rPr>
                    <a:t> </a:t>
                  </a:r>
                </a:p>
              </p:txBody>
            </p:sp>
          </mc:Fallback>
        </mc:AlternateContent>
        <p:cxnSp>
          <p:nvCxnSpPr>
            <p:cNvPr id="81" name="Straight Arrow Connector 13">
              <a:extLst>
                <a:ext uri="{FF2B5EF4-FFF2-40B4-BE49-F238E27FC236}">
                  <a16:creationId xmlns:a16="http://schemas.microsoft.com/office/drawing/2014/main" id="{ADC0B0A6-B7C3-7544-183C-99B5A38303AD}"/>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5" name="Retângulo 94">
              <a:extLst>
                <a:ext uri="{FF2B5EF4-FFF2-40B4-BE49-F238E27FC236}">
                  <a16:creationId xmlns:a16="http://schemas.microsoft.com/office/drawing/2014/main" id="{2311C78D-38A7-7169-70C4-4FF41C9EE4E2}"/>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tângulo 99">
              <a:extLst>
                <a:ext uri="{FF2B5EF4-FFF2-40B4-BE49-F238E27FC236}">
                  <a16:creationId xmlns:a16="http://schemas.microsoft.com/office/drawing/2014/main" id="{687381DA-B2B2-93D4-5C71-7BDDFC395ED6}"/>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tângulo 107">
              <a:extLst>
                <a:ext uri="{FF2B5EF4-FFF2-40B4-BE49-F238E27FC236}">
                  <a16:creationId xmlns:a16="http://schemas.microsoft.com/office/drawing/2014/main" id="{31109F72-139E-156F-087D-69D93DDAD6CC}"/>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tângulo 110">
              <a:extLst>
                <a:ext uri="{FF2B5EF4-FFF2-40B4-BE49-F238E27FC236}">
                  <a16:creationId xmlns:a16="http://schemas.microsoft.com/office/drawing/2014/main" id="{C457AF9D-D07B-DCAD-F9FD-A3E0F0EA9646}"/>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tângulo 113">
              <a:extLst>
                <a:ext uri="{FF2B5EF4-FFF2-40B4-BE49-F238E27FC236}">
                  <a16:creationId xmlns:a16="http://schemas.microsoft.com/office/drawing/2014/main" id="{907F0DEE-F165-496E-296D-9E8500265E5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4207752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D3EB3-5EBF-59B6-185F-3A08307686C5}"/>
            </a:ext>
          </a:extLst>
        </p:cNvPr>
        <p:cNvGrpSpPr/>
        <p:nvPr/>
      </p:nvGrpSpPr>
      <p:grpSpPr>
        <a:xfrm>
          <a:off x="0" y="0"/>
          <a:ext cx="0" cy="0"/>
          <a:chOff x="0" y="0"/>
          <a:chExt cx="0" cy="0"/>
        </a:xfrm>
      </p:grpSpPr>
      <p:grpSp>
        <p:nvGrpSpPr>
          <p:cNvPr id="153" name="Agrupar 152">
            <a:extLst>
              <a:ext uri="{FF2B5EF4-FFF2-40B4-BE49-F238E27FC236}">
                <a16:creationId xmlns:a16="http://schemas.microsoft.com/office/drawing/2014/main" id="{3FE42402-3488-1597-DC88-0738C5475C11}"/>
              </a:ext>
            </a:extLst>
          </p:cNvPr>
          <p:cNvGrpSpPr/>
          <p:nvPr/>
        </p:nvGrpSpPr>
        <p:grpSpPr>
          <a:xfrm>
            <a:off x="3472289" y="756806"/>
            <a:ext cx="5016403" cy="5561497"/>
            <a:chOff x="3472289" y="756806"/>
            <a:chExt cx="5016403" cy="5561497"/>
          </a:xfrm>
        </p:grpSpPr>
        <mc:AlternateContent xmlns:mc="http://schemas.openxmlformats.org/markup-compatibility/2006" xmlns:a14="http://schemas.microsoft.com/office/drawing/2010/main">
          <mc:Choice Requires="a14">
            <p:sp>
              <p:nvSpPr>
                <p:cNvPr id="57" name="Rectangle 21">
                  <a:extLst>
                    <a:ext uri="{FF2B5EF4-FFF2-40B4-BE49-F238E27FC236}">
                      <a16:creationId xmlns:a16="http://schemas.microsoft.com/office/drawing/2014/main" id="{703EC0AB-27D6-7C7B-D882-189DAE8913A2}"/>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7" name="Rectangle 21">
                  <a:extLst>
                    <a:ext uri="{FF2B5EF4-FFF2-40B4-BE49-F238E27FC236}">
                      <a16:creationId xmlns:a16="http://schemas.microsoft.com/office/drawing/2014/main" id="{703EC0AB-27D6-7C7B-D882-189DAE8913A2}"/>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Rectangle 22">
                  <a:extLst>
                    <a:ext uri="{FF2B5EF4-FFF2-40B4-BE49-F238E27FC236}">
                      <a16:creationId xmlns:a16="http://schemas.microsoft.com/office/drawing/2014/main" id="{7AF8DE56-F9D5-10F4-578F-67357D90F5E9}"/>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3" name="Rectangle 22">
                  <a:extLst>
                    <a:ext uri="{FF2B5EF4-FFF2-40B4-BE49-F238E27FC236}">
                      <a16:creationId xmlns:a16="http://schemas.microsoft.com/office/drawing/2014/main" id="{7AF8DE56-F9D5-10F4-578F-67357D90F5E9}"/>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Rectangle 23">
                  <a:extLst>
                    <a:ext uri="{FF2B5EF4-FFF2-40B4-BE49-F238E27FC236}">
                      <a16:creationId xmlns:a16="http://schemas.microsoft.com/office/drawing/2014/main" id="{6082FE10-FCCF-951B-86D9-93CC42C56CB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64" name="Rectangle 23">
                  <a:extLst>
                    <a:ext uri="{FF2B5EF4-FFF2-40B4-BE49-F238E27FC236}">
                      <a16:creationId xmlns:a16="http://schemas.microsoft.com/office/drawing/2014/main" id="{6082FE10-FCCF-951B-86D9-93CC42C56CB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65" name="Oval 24">
              <a:extLst>
                <a:ext uri="{FF2B5EF4-FFF2-40B4-BE49-F238E27FC236}">
                  <a16:creationId xmlns:a16="http://schemas.microsoft.com/office/drawing/2014/main" id="{B02E09B5-4DE2-99EB-95C2-D290FFFEFE05}"/>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6" name="Oval 25">
              <a:extLst>
                <a:ext uri="{FF2B5EF4-FFF2-40B4-BE49-F238E27FC236}">
                  <a16:creationId xmlns:a16="http://schemas.microsoft.com/office/drawing/2014/main" id="{A64B3376-F942-D97F-4920-69663DA3394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7" name="Oval 26">
              <a:extLst>
                <a:ext uri="{FF2B5EF4-FFF2-40B4-BE49-F238E27FC236}">
                  <a16:creationId xmlns:a16="http://schemas.microsoft.com/office/drawing/2014/main" id="{18EA7A66-156D-779C-CBBE-C9CCB18E8477}"/>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81" name="Oval 28">
                  <a:extLst>
                    <a:ext uri="{FF2B5EF4-FFF2-40B4-BE49-F238E27FC236}">
                      <a16:creationId xmlns:a16="http://schemas.microsoft.com/office/drawing/2014/main" id="{71D72E52-8684-ADFE-98FE-1AA6C06645EF}"/>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81" name="Oval 28">
                  <a:extLst>
                    <a:ext uri="{FF2B5EF4-FFF2-40B4-BE49-F238E27FC236}">
                      <a16:creationId xmlns:a16="http://schemas.microsoft.com/office/drawing/2014/main" id="{71D72E52-8684-ADFE-98FE-1AA6C06645EF}"/>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83" name="Straight Arrow Connector 29">
              <a:extLst>
                <a:ext uri="{FF2B5EF4-FFF2-40B4-BE49-F238E27FC236}">
                  <a16:creationId xmlns:a16="http://schemas.microsoft.com/office/drawing/2014/main" id="{42B6704F-31CB-151B-D0D2-3AB868BCD291}"/>
                </a:ext>
              </a:extLst>
            </p:cNvPr>
            <p:cNvCxnSpPr>
              <a:cxnSpLocks/>
              <a:stCxn id="67" idx="0"/>
              <a:endCxn id="6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30">
              <a:extLst>
                <a:ext uri="{FF2B5EF4-FFF2-40B4-BE49-F238E27FC236}">
                  <a16:creationId xmlns:a16="http://schemas.microsoft.com/office/drawing/2014/main" id="{C2B7F163-4FB4-0EA0-6D5C-DC5B9C8F7C00}"/>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7" name="Straight Arrow Connector 31">
              <a:extLst>
                <a:ext uri="{FF2B5EF4-FFF2-40B4-BE49-F238E27FC236}">
                  <a16:creationId xmlns:a16="http://schemas.microsoft.com/office/drawing/2014/main" id="{083617EA-AFAD-B318-2CB6-EBD2F2C24C8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32">
              <a:extLst>
                <a:ext uri="{FF2B5EF4-FFF2-40B4-BE49-F238E27FC236}">
                  <a16:creationId xmlns:a16="http://schemas.microsoft.com/office/drawing/2014/main" id="{67F12484-1BC3-7198-EE9D-AF2FAE9690E1}"/>
                </a:ext>
              </a:extLst>
            </p:cNvPr>
            <p:cNvCxnSpPr>
              <a:stCxn id="66" idx="0"/>
              <a:endCxn id="57"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9" name="Connector: Elbow 33">
              <a:extLst>
                <a:ext uri="{FF2B5EF4-FFF2-40B4-BE49-F238E27FC236}">
                  <a16:creationId xmlns:a16="http://schemas.microsoft.com/office/drawing/2014/main" id="{4CD2ECF6-6D06-0B49-AA86-0AD98DBA05EA}"/>
                </a:ext>
              </a:extLst>
            </p:cNvPr>
            <p:cNvCxnSpPr>
              <a:cxnSpLocks/>
              <a:endCxn id="6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0" name="Straight Arrow Connector 36">
              <a:extLst>
                <a:ext uri="{FF2B5EF4-FFF2-40B4-BE49-F238E27FC236}">
                  <a16:creationId xmlns:a16="http://schemas.microsoft.com/office/drawing/2014/main" id="{BC174FCA-9040-90B0-0238-386772854A35}"/>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Connector: Elbow 38">
              <a:extLst>
                <a:ext uri="{FF2B5EF4-FFF2-40B4-BE49-F238E27FC236}">
                  <a16:creationId xmlns:a16="http://schemas.microsoft.com/office/drawing/2014/main" id="{4AE37987-ADBC-AC64-E0C9-493F7B97B390}"/>
                </a:ext>
              </a:extLst>
            </p:cNvPr>
            <p:cNvCxnSpPr>
              <a:cxnSpLocks/>
              <a:stCxn id="152" idx="2"/>
              <a:endCxn id="148"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2" name="Rectangle 43">
                  <a:extLst>
                    <a:ext uri="{FF2B5EF4-FFF2-40B4-BE49-F238E27FC236}">
                      <a16:creationId xmlns:a16="http://schemas.microsoft.com/office/drawing/2014/main" id="{8FF6AC0B-DC3B-FB8D-A114-9693D7E89C12}"/>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92" name="Rectangle 43">
                  <a:extLst>
                    <a:ext uri="{FF2B5EF4-FFF2-40B4-BE49-F238E27FC236}">
                      <a16:creationId xmlns:a16="http://schemas.microsoft.com/office/drawing/2014/main" id="{8FF6AC0B-DC3B-FB8D-A114-9693D7E89C12}"/>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44">
                  <a:extLst>
                    <a:ext uri="{FF2B5EF4-FFF2-40B4-BE49-F238E27FC236}">
                      <a16:creationId xmlns:a16="http://schemas.microsoft.com/office/drawing/2014/main" id="{24BD9F41-9622-F6ED-3763-AAE780C34EEC}"/>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93" name="Rectangle 44">
                  <a:extLst>
                    <a:ext uri="{FF2B5EF4-FFF2-40B4-BE49-F238E27FC236}">
                      <a16:creationId xmlns:a16="http://schemas.microsoft.com/office/drawing/2014/main" id="{24BD9F41-9622-F6ED-3763-AAE780C34EEC}"/>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45">
                  <a:extLst>
                    <a:ext uri="{FF2B5EF4-FFF2-40B4-BE49-F238E27FC236}">
                      <a16:creationId xmlns:a16="http://schemas.microsoft.com/office/drawing/2014/main" id="{77D60B64-876D-1A92-BE78-2CE94417ACB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94" name="Rectangle 45">
                  <a:extLst>
                    <a:ext uri="{FF2B5EF4-FFF2-40B4-BE49-F238E27FC236}">
                      <a16:creationId xmlns:a16="http://schemas.microsoft.com/office/drawing/2014/main" id="{77D60B64-876D-1A92-BE78-2CE94417ACB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95" name="Oval 46">
              <a:extLst>
                <a:ext uri="{FF2B5EF4-FFF2-40B4-BE49-F238E27FC236}">
                  <a16:creationId xmlns:a16="http://schemas.microsoft.com/office/drawing/2014/main" id="{2BDF9A8E-5384-28FB-AC42-8BEF88FCA7B5}"/>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6" name="Oval 47">
              <a:extLst>
                <a:ext uri="{FF2B5EF4-FFF2-40B4-BE49-F238E27FC236}">
                  <a16:creationId xmlns:a16="http://schemas.microsoft.com/office/drawing/2014/main" id="{3F345F26-85AE-36DF-E39B-7842E74E19E7}"/>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7" name="Oval 48">
              <a:extLst>
                <a:ext uri="{FF2B5EF4-FFF2-40B4-BE49-F238E27FC236}">
                  <a16:creationId xmlns:a16="http://schemas.microsoft.com/office/drawing/2014/main" id="{267DE311-2B2A-4161-C6BE-2B9C8B668F68}"/>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98" name="Oval 50">
                  <a:extLst>
                    <a:ext uri="{FF2B5EF4-FFF2-40B4-BE49-F238E27FC236}">
                      <a16:creationId xmlns:a16="http://schemas.microsoft.com/office/drawing/2014/main" id="{790001B2-9714-45A5-23F5-F7EBFB052238}"/>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98" name="Oval 50">
                  <a:extLst>
                    <a:ext uri="{FF2B5EF4-FFF2-40B4-BE49-F238E27FC236}">
                      <a16:creationId xmlns:a16="http://schemas.microsoft.com/office/drawing/2014/main" id="{790001B2-9714-45A5-23F5-F7EBFB052238}"/>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99" name="Straight Arrow Connector 51">
              <a:extLst>
                <a:ext uri="{FF2B5EF4-FFF2-40B4-BE49-F238E27FC236}">
                  <a16:creationId xmlns:a16="http://schemas.microsoft.com/office/drawing/2014/main" id="{4B32D95D-56C8-EFA5-8087-3873878BAE13}"/>
                </a:ext>
              </a:extLst>
            </p:cNvPr>
            <p:cNvCxnSpPr>
              <a:stCxn id="97" idx="0"/>
              <a:endCxn id="93"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0" name="Straight Arrow Connector 52">
              <a:extLst>
                <a:ext uri="{FF2B5EF4-FFF2-40B4-BE49-F238E27FC236}">
                  <a16:creationId xmlns:a16="http://schemas.microsoft.com/office/drawing/2014/main" id="{74EEDE69-3910-089A-6E15-60A5F6C044E5}"/>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53">
              <a:extLst>
                <a:ext uri="{FF2B5EF4-FFF2-40B4-BE49-F238E27FC236}">
                  <a16:creationId xmlns:a16="http://schemas.microsoft.com/office/drawing/2014/main" id="{50EE2673-2BF6-8591-2E60-C499064B2C15}"/>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2" name="Straight Arrow Connector 54">
              <a:extLst>
                <a:ext uri="{FF2B5EF4-FFF2-40B4-BE49-F238E27FC236}">
                  <a16:creationId xmlns:a16="http://schemas.microsoft.com/office/drawing/2014/main" id="{9886CE41-C68A-A7C8-654E-E31C59140A37}"/>
                </a:ext>
              </a:extLst>
            </p:cNvPr>
            <p:cNvCxnSpPr>
              <a:stCxn id="96" idx="0"/>
              <a:endCxn id="92"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3" name="Connector: Elbow 55">
              <a:extLst>
                <a:ext uri="{FF2B5EF4-FFF2-40B4-BE49-F238E27FC236}">
                  <a16:creationId xmlns:a16="http://schemas.microsoft.com/office/drawing/2014/main" id="{B734810F-C994-0DE2-A3AC-E974AF69455F}"/>
                </a:ext>
              </a:extLst>
            </p:cNvPr>
            <p:cNvCxnSpPr>
              <a:cxnSpLocks/>
              <a:endCxn id="94"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4" name="Straight Arrow Connector 58">
              <a:extLst>
                <a:ext uri="{FF2B5EF4-FFF2-40B4-BE49-F238E27FC236}">
                  <a16:creationId xmlns:a16="http://schemas.microsoft.com/office/drawing/2014/main" id="{D91AD0E8-D9DF-9084-46E6-0AFF7C52E79D}"/>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5" name="Connector: Elbow 61">
              <a:extLst>
                <a:ext uri="{FF2B5EF4-FFF2-40B4-BE49-F238E27FC236}">
                  <a16:creationId xmlns:a16="http://schemas.microsoft.com/office/drawing/2014/main" id="{80656119-455B-F222-A565-6CCCE73C73DE}"/>
                </a:ext>
              </a:extLst>
            </p:cNvPr>
            <p:cNvCxnSpPr>
              <a:cxnSpLocks/>
              <a:stCxn id="64" idx="2"/>
              <a:endCxn id="149"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6" name="Rectangle 67">
                  <a:extLst>
                    <a:ext uri="{FF2B5EF4-FFF2-40B4-BE49-F238E27FC236}">
                      <a16:creationId xmlns:a16="http://schemas.microsoft.com/office/drawing/2014/main" id="{5267A59D-F194-1509-853E-9DDBF426E1D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106" name="Rectangle 67">
                  <a:extLst>
                    <a:ext uri="{FF2B5EF4-FFF2-40B4-BE49-F238E27FC236}">
                      <a16:creationId xmlns:a16="http://schemas.microsoft.com/office/drawing/2014/main" id="{5267A59D-F194-1509-853E-9DDBF426E1D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Rectangle 68">
                  <a:extLst>
                    <a:ext uri="{FF2B5EF4-FFF2-40B4-BE49-F238E27FC236}">
                      <a16:creationId xmlns:a16="http://schemas.microsoft.com/office/drawing/2014/main" id="{243A0677-39F6-EB43-C752-FA9758F34340}"/>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107" name="Rectangle 68">
                  <a:extLst>
                    <a:ext uri="{FF2B5EF4-FFF2-40B4-BE49-F238E27FC236}">
                      <a16:creationId xmlns:a16="http://schemas.microsoft.com/office/drawing/2014/main" id="{243A0677-39F6-EB43-C752-FA9758F34340}"/>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Rectangle 69">
                  <a:extLst>
                    <a:ext uri="{FF2B5EF4-FFF2-40B4-BE49-F238E27FC236}">
                      <a16:creationId xmlns:a16="http://schemas.microsoft.com/office/drawing/2014/main" id="{4468384E-0039-A266-BD3A-6EA47582185D}"/>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108" name="Rectangle 69">
                  <a:extLst>
                    <a:ext uri="{FF2B5EF4-FFF2-40B4-BE49-F238E27FC236}">
                      <a16:creationId xmlns:a16="http://schemas.microsoft.com/office/drawing/2014/main" id="{4468384E-0039-A266-BD3A-6EA47582185D}"/>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109" name="Oval 70">
              <a:extLst>
                <a:ext uri="{FF2B5EF4-FFF2-40B4-BE49-F238E27FC236}">
                  <a16:creationId xmlns:a16="http://schemas.microsoft.com/office/drawing/2014/main" id="{CE1BFA7C-F058-D7FA-1D38-C520C699707E}"/>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0" name="Oval 71">
              <a:extLst>
                <a:ext uri="{FF2B5EF4-FFF2-40B4-BE49-F238E27FC236}">
                  <a16:creationId xmlns:a16="http://schemas.microsoft.com/office/drawing/2014/main" id="{446A192A-127E-F29F-0417-4FC4E2E4DD54}"/>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1" name="Oval 72">
              <a:extLst>
                <a:ext uri="{FF2B5EF4-FFF2-40B4-BE49-F238E27FC236}">
                  <a16:creationId xmlns:a16="http://schemas.microsoft.com/office/drawing/2014/main" id="{A2EDE7F4-72CD-4BC3-50B9-67985A0F9A7A}"/>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2" name="Oval 73">
                  <a:extLst>
                    <a:ext uri="{FF2B5EF4-FFF2-40B4-BE49-F238E27FC236}">
                      <a16:creationId xmlns:a16="http://schemas.microsoft.com/office/drawing/2014/main" id="{09176103-FD67-320E-7BE1-D5B07DEC10FA}"/>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112" name="Oval 73">
                  <a:extLst>
                    <a:ext uri="{FF2B5EF4-FFF2-40B4-BE49-F238E27FC236}">
                      <a16:creationId xmlns:a16="http://schemas.microsoft.com/office/drawing/2014/main" id="{09176103-FD67-320E-7BE1-D5B07DEC10FA}"/>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113" name="Straight Arrow Connector 74">
              <a:extLst>
                <a:ext uri="{FF2B5EF4-FFF2-40B4-BE49-F238E27FC236}">
                  <a16:creationId xmlns:a16="http://schemas.microsoft.com/office/drawing/2014/main" id="{DADF144B-101D-8A9E-D15A-879761D7AC97}"/>
                </a:ext>
              </a:extLst>
            </p:cNvPr>
            <p:cNvCxnSpPr>
              <a:stCxn id="111" idx="0"/>
              <a:endCxn id="107"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75">
              <a:extLst>
                <a:ext uri="{FF2B5EF4-FFF2-40B4-BE49-F238E27FC236}">
                  <a16:creationId xmlns:a16="http://schemas.microsoft.com/office/drawing/2014/main" id="{80911A7E-0F96-F192-C5C5-84929407522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5" name="Straight Arrow Connector 76">
              <a:extLst>
                <a:ext uri="{FF2B5EF4-FFF2-40B4-BE49-F238E27FC236}">
                  <a16:creationId xmlns:a16="http://schemas.microsoft.com/office/drawing/2014/main" id="{AAA789AB-34ED-48F5-F2A6-2B34AB4F8935}"/>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77">
              <a:extLst>
                <a:ext uri="{FF2B5EF4-FFF2-40B4-BE49-F238E27FC236}">
                  <a16:creationId xmlns:a16="http://schemas.microsoft.com/office/drawing/2014/main" id="{6013F962-8B66-76A1-AB81-D1AF5D18F0AE}"/>
                </a:ext>
              </a:extLst>
            </p:cNvPr>
            <p:cNvCxnSpPr>
              <a:stCxn id="110" idx="0"/>
              <a:endCxn id="106"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7" name="Connector: Elbow 78">
              <a:extLst>
                <a:ext uri="{FF2B5EF4-FFF2-40B4-BE49-F238E27FC236}">
                  <a16:creationId xmlns:a16="http://schemas.microsoft.com/office/drawing/2014/main" id="{524A35AF-9227-6CE9-317A-A1914671CD92}"/>
                </a:ext>
              </a:extLst>
            </p:cNvPr>
            <p:cNvCxnSpPr>
              <a:cxnSpLocks/>
              <a:endCxn id="108"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79">
              <a:extLst>
                <a:ext uri="{FF2B5EF4-FFF2-40B4-BE49-F238E27FC236}">
                  <a16:creationId xmlns:a16="http://schemas.microsoft.com/office/drawing/2014/main" id="{F62F1E98-765B-2B83-28B5-FAB19C3E0854}"/>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9" name="Connector: Elbow 81">
              <a:extLst>
                <a:ext uri="{FF2B5EF4-FFF2-40B4-BE49-F238E27FC236}">
                  <a16:creationId xmlns:a16="http://schemas.microsoft.com/office/drawing/2014/main" id="{0CE11212-551E-D407-E67F-7353D7BBE0F0}"/>
                </a:ext>
              </a:extLst>
            </p:cNvPr>
            <p:cNvCxnSpPr>
              <a:cxnSpLocks/>
              <a:stCxn id="94" idx="2"/>
              <a:endCxn id="150"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20" name="Connector: Elbow 84">
              <a:extLst>
                <a:ext uri="{FF2B5EF4-FFF2-40B4-BE49-F238E27FC236}">
                  <a16:creationId xmlns:a16="http://schemas.microsoft.com/office/drawing/2014/main" id="{4D388EFD-97BA-B136-5E2B-CB439033B9AE}"/>
                </a:ext>
              </a:extLst>
            </p:cNvPr>
            <p:cNvCxnSpPr>
              <a:cxnSpLocks/>
              <a:stCxn id="108" idx="2"/>
              <a:endCxn id="15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3" name="TextBox 27">
                  <a:extLst>
                    <a:ext uri="{FF2B5EF4-FFF2-40B4-BE49-F238E27FC236}">
                      <a16:creationId xmlns:a16="http://schemas.microsoft.com/office/drawing/2014/main" id="{360974AD-EC89-E7FA-90C8-F0340D36468C}"/>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3" name="TextBox 27">
                  <a:extLst>
                    <a:ext uri="{FF2B5EF4-FFF2-40B4-BE49-F238E27FC236}">
                      <a16:creationId xmlns:a16="http://schemas.microsoft.com/office/drawing/2014/main" id="{360974AD-EC89-E7FA-90C8-F0340D36468C}"/>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35">
                  <a:extLst>
                    <a:ext uri="{FF2B5EF4-FFF2-40B4-BE49-F238E27FC236}">
                      <a16:creationId xmlns:a16="http://schemas.microsoft.com/office/drawing/2014/main" id="{8D0D2F0D-FEE7-57F9-3C29-F7F3365F3825}"/>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4" name="TextBox 35">
                  <a:extLst>
                    <a:ext uri="{FF2B5EF4-FFF2-40B4-BE49-F238E27FC236}">
                      <a16:creationId xmlns:a16="http://schemas.microsoft.com/office/drawing/2014/main" id="{8D0D2F0D-FEE7-57F9-3C29-F7F3365F3825}"/>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37">
                  <a:extLst>
                    <a:ext uri="{FF2B5EF4-FFF2-40B4-BE49-F238E27FC236}">
                      <a16:creationId xmlns:a16="http://schemas.microsoft.com/office/drawing/2014/main" id="{B33AE77F-5DB9-9406-7FF3-9E05CED73431}"/>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5" name="TextBox 37">
                  <a:extLst>
                    <a:ext uri="{FF2B5EF4-FFF2-40B4-BE49-F238E27FC236}">
                      <a16:creationId xmlns:a16="http://schemas.microsoft.com/office/drawing/2014/main" id="{B33AE77F-5DB9-9406-7FF3-9E05CED73431}"/>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1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39">
                  <a:extLst>
                    <a:ext uri="{FF2B5EF4-FFF2-40B4-BE49-F238E27FC236}">
                      <a16:creationId xmlns:a16="http://schemas.microsoft.com/office/drawing/2014/main" id="{BE79523F-8026-C2B7-5177-91B3FC9E9234}"/>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6" name="TextBox 39">
                  <a:extLst>
                    <a:ext uri="{FF2B5EF4-FFF2-40B4-BE49-F238E27FC236}">
                      <a16:creationId xmlns:a16="http://schemas.microsoft.com/office/drawing/2014/main" id="{BE79523F-8026-C2B7-5177-91B3FC9E9234}"/>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40">
                  <a:extLst>
                    <a:ext uri="{FF2B5EF4-FFF2-40B4-BE49-F238E27FC236}">
                      <a16:creationId xmlns:a16="http://schemas.microsoft.com/office/drawing/2014/main" id="{865D0659-8421-A16C-E456-9D7DD9C549AA}"/>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7" name="TextBox 40">
                  <a:extLst>
                    <a:ext uri="{FF2B5EF4-FFF2-40B4-BE49-F238E27FC236}">
                      <a16:creationId xmlns:a16="http://schemas.microsoft.com/office/drawing/2014/main" id="{865D0659-8421-A16C-E456-9D7DD9C549AA}"/>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41">
                  <a:extLst>
                    <a:ext uri="{FF2B5EF4-FFF2-40B4-BE49-F238E27FC236}">
                      <a16:creationId xmlns:a16="http://schemas.microsoft.com/office/drawing/2014/main" id="{71CED86C-EFAD-622E-9651-C330C20037E7}"/>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8" name="TextBox 41">
                  <a:extLst>
                    <a:ext uri="{FF2B5EF4-FFF2-40B4-BE49-F238E27FC236}">
                      <a16:creationId xmlns:a16="http://schemas.microsoft.com/office/drawing/2014/main" id="{71CED86C-EFAD-622E-9651-C330C20037E7}"/>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42">
                  <a:extLst>
                    <a:ext uri="{FF2B5EF4-FFF2-40B4-BE49-F238E27FC236}">
                      <a16:creationId xmlns:a16="http://schemas.microsoft.com/office/drawing/2014/main" id="{0EAB816F-2E80-98C6-D37B-1CAE65F21677}"/>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9" name="TextBox 42">
                  <a:extLst>
                    <a:ext uri="{FF2B5EF4-FFF2-40B4-BE49-F238E27FC236}">
                      <a16:creationId xmlns:a16="http://schemas.microsoft.com/office/drawing/2014/main" id="{0EAB816F-2E80-98C6-D37B-1CAE65F21677}"/>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49">
                  <a:extLst>
                    <a:ext uri="{FF2B5EF4-FFF2-40B4-BE49-F238E27FC236}">
                      <a16:creationId xmlns:a16="http://schemas.microsoft.com/office/drawing/2014/main" id="{8527ED50-AF61-8D82-3FF2-BFE867D2E44F}"/>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30" name="TextBox 49">
                  <a:extLst>
                    <a:ext uri="{FF2B5EF4-FFF2-40B4-BE49-F238E27FC236}">
                      <a16:creationId xmlns:a16="http://schemas.microsoft.com/office/drawing/2014/main" id="{8527ED50-AF61-8D82-3FF2-BFE867D2E44F}"/>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59">
                  <a:extLst>
                    <a:ext uri="{FF2B5EF4-FFF2-40B4-BE49-F238E27FC236}">
                      <a16:creationId xmlns:a16="http://schemas.microsoft.com/office/drawing/2014/main" id="{AC329E1E-1CE9-06F1-DDB8-5F68AC815CCE}"/>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31" name="TextBox 59">
                  <a:extLst>
                    <a:ext uri="{FF2B5EF4-FFF2-40B4-BE49-F238E27FC236}">
                      <a16:creationId xmlns:a16="http://schemas.microsoft.com/office/drawing/2014/main" id="{AC329E1E-1CE9-06F1-DDB8-5F68AC815CCE}"/>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2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Oval 11">
                  <a:extLst>
                    <a:ext uri="{FF2B5EF4-FFF2-40B4-BE49-F238E27FC236}">
                      <a16:creationId xmlns:a16="http://schemas.microsoft.com/office/drawing/2014/main" id="{8AD11058-AEA1-820A-5891-1F7CA4D0A1F2}"/>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3" name="Oval 11">
                  <a:extLst>
                    <a:ext uri="{FF2B5EF4-FFF2-40B4-BE49-F238E27FC236}">
                      <a16:creationId xmlns:a16="http://schemas.microsoft.com/office/drawing/2014/main" id="{8AD11058-AEA1-820A-5891-1F7CA4D0A1F2}"/>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Oval 11">
                  <a:extLst>
                    <a:ext uri="{FF2B5EF4-FFF2-40B4-BE49-F238E27FC236}">
                      <a16:creationId xmlns:a16="http://schemas.microsoft.com/office/drawing/2014/main" id="{27CD7460-3C1D-0698-35AA-9978324B94E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4" name="Oval 11">
                  <a:extLst>
                    <a:ext uri="{FF2B5EF4-FFF2-40B4-BE49-F238E27FC236}">
                      <a16:creationId xmlns:a16="http://schemas.microsoft.com/office/drawing/2014/main" id="{27CD7460-3C1D-0698-35AA-9978324B94E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Oval 11">
                  <a:extLst>
                    <a:ext uri="{FF2B5EF4-FFF2-40B4-BE49-F238E27FC236}">
                      <a16:creationId xmlns:a16="http://schemas.microsoft.com/office/drawing/2014/main" id="{45EDBEFD-F5FA-8A62-FE3A-88173F4799DD}"/>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5" name="Oval 11">
                  <a:extLst>
                    <a:ext uri="{FF2B5EF4-FFF2-40B4-BE49-F238E27FC236}">
                      <a16:creationId xmlns:a16="http://schemas.microsoft.com/office/drawing/2014/main" id="{45EDBEFD-F5FA-8A62-FE3A-88173F4799DD}"/>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23"/>
                  <a:stretch>
                    <a:fillRect l="-2778" r="-9722"/>
                  </a:stretch>
                </a:blipFill>
              </p:spPr>
              <p:txBody>
                <a:bodyPr/>
                <a:lstStyle/>
                <a:p>
                  <a:r>
                    <a:rPr lang="en-US">
                      <a:noFill/>
                    </a:rPr>
                    <a:t> </a:t>
                  </a:r>
                </a:p>
              </p:txBody>
            </p:sp>
          </mc:Fallback>
        </mc:AlternateContent>
        <p:cxnSp>
          <p:nvCxnSpPr>
            <p:cNvPr id="137" name="Conector de Seta Reta 136">
              <a:extLst>
                <a:ext uri="{FF2B5EF4-FFF2-40B4-BE49-F238E27FC236}">
                  <a16:creationId xmlns:a16="http://schemas.microsoft.com/office/drawing/2014/main" id="{CA25C820-0A1B-4FEE-4904-0B05840266EA}"/>
                </a:ext>
              </a:extLst>
            </p:cNvPr>
            <p:cNvCxnSpPr>
              <a:stCxn id="133" idx="0"/>
              <a:endCxn id="6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2D073169-FE80-5264-3E78-6DC0F248CDAD}"/>
                </a:ext>
              </a:extLst>
            </p:cNvPr>
            <p:cNvCxnSpPr>
              <a:stCxn id="134" idx="0"/>
              <a:endCxn id="95"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Conector de Seta Reta 138">
              <a:extLst>
                <a:ext uri="{FF2B5EF4-FFF2-40B4-BE49-F238E27FC236}">
                  <a16:creationId xmlns:a16="http://schemas.microsoft.com/office/drawing/2014/main" id="{5346BF5C-7FDD-C37A-8DEC-86E8C5DBBE0C}"/>
                </a:ext>
              </a:extLst>
            </p:cNvPr>
            <p:cNvCxnSpPr>
              <a:stCxn id="135" idx="0"/>
              <a:endCxn id="109"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CaixaDeTexto 141">
                  <a:extLst>
                    <a:ext uri="{FF2B5EF4-FFF2-40B4-BE49-F238E27FC236}">
                      <a16:creationId xmlns:a16="http://schemas.microsoft.com/office/drawing/2014/main" id="{0E5AEF8F-29E4-A57A-04A7-F35F03A2C2DB}"/>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2" name="CaixaDeTexto 141">
                  <a:extLst>
                    <a:ext uri="{FF2B5EF4-FFF2-40B4-BE49-F238E27FC236}">
                      <a16:creationId xmlns:a16="http://schemas.microsoft.com/office/drawing/2014/main" id="{0E5AEF8F-29E4-A57A-04A7-F35F03A2C2DB}"/>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24"/>
                  <a:stretch>
                    <a:fillRect l="-8475" r="-32203" b="-3947"/>
                  </a:stretch>
                </a:blipFill>
              </p:spPr>
              <p:txBody>
                <a:bodyPr/>
                <a:lstStyle/>
                <a:p>
                  <a:r>
                    <a:rPr lang="en-US">
                      <a:noFill/>
                    </a:rPr>
                    <a:t> </a:t>
                  </a:r>
                </a:p>
              </p:txBody>
            </p:sp>
          </mc:Fallback>
        </mc:AlternateContent>
        <p:cxnSp>
          <p:nvCxnSpPr>
            <p:cNvPr id="143" name="Straight Arrow Connector 13">
              <a:extLst>
                <a:ext uri="{FF2B5EF4-FFF2-40B4-BE49-F238E27FC236}">
                  <a16:creationId xmlns:a16="http://schemas.microsoft.com/office/drawing/2014/main" id="{777BABA3-7317-2D4E-B62C-D19235C9B59D}"/>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CaixaDeTexto 143">
                  <a:extLst>
                    <a:ext uri="{FF2B5EF4-FFF2-40B4-BE49-F238E27FC236}">
                      <a16:creationId xmlns:a16="http://schemas.microsoft.com/office/drawing/2014/main" id="{6605CE1F-3FB4-4E4E-4A1B-54440799A5EB}"/>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4" name="CaixaDeTexto 143">
                  <a:extLst>
                    <a:ext uri="{FF2B5EF4-FFF2-40B4-BE49-F238E27FC236}">
                      <a16:creationId xmlns:a16="http://schemas.microsoft.com/office/drawing/2014/main" id="{6605CE1F-3FB4-4E4E-4A1B-54440799A5EB}"/>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25"/>
                  <a:stretch>
                    <a:fillRect l="-8929" r="-39286" b="-5333"/>
                  </a:stretch>
                </a:blipFill>
              </p:spPr>
              <p:txBody>
                <a:bodyPr/>
                <a:lstStyle/>
                <a:p>
                  <a:r>
                    <a:rPr lang="en-US">
                      <a:noFill/>
                    </a:rPr>
                    <a:t> </a:t>
                  </a:r>
                </a:p>
              </p:txBody>
            </p:sp>
          </mc:Fallback>
        </mc:AlternateContent>
        <p:cxnSp>
          <p:nvCxnSpPr>
            <p:cNvPr id="145" name="Straight Arrow Connector 13">
              <a:extLst>
                <a:ext uri="{FF2B5EF4-FFF2-40B4-BE49-F238E27FC236}">
                  <a16:creationId xmlns:a16="http://schemas.microsoft.com/office/drawing/2014/main" id="{A32F2BDA-F7FB-7347-9EF6-0701DCF6D759}"/>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CaixaDeTexto 145">
                  <a:extLst>
                    <a:ext uri="{FF2B5EF4-FFF2-40B4-BE49-F238E27FC236}">
                      <a16:creationId xmlns:a16="http://schemas.microsoft.com/office/drawing/2014/main" id="{BDABA424-2BE6-1517-3B7E-47478EAFD8C7}"/>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6" name="CaixaDeTexto 145">
                  <a:extLst>
                    <a:ext uri="{FF2B5EF4-FFF2-40B4-BE49-F238E27FC236}">
                      <a16:creationId xmlns:a16="http://schemas.microsoft.com/office/drawing/2014/main" id="{BDABA424-2BE6-1517-3B7E-47478EAFD8C7}"/>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26"/>
                  <a:stretch>
                    <a:fillRect l="-8929" r="-39286" b="-3947"/>
                  </a:stretch>
                </a:blipFill>
              </p:spPr>
              <p:txBody>
                <a:bodyPr/>
                <a:lstStyle/>
                <a:p>
                  <a:r>
                    <a:rPr lang="en-US">
                      <a:noFill/>
                    </a:rPr>
                    <a:t> </a:t>
                  </a:r>
                </a:p>
              </p:txBody>
            </p:sp>
          </mc:Fallback>
        </mc:AlternateContent>
        <p:cxnSp>
          <p:nvCxnSpPr>
            <p:cNvPr id="147" name="Straight Arrow Connector 13">
              <a:extLst>
                <a:ext uri="{FF2B5EF4-FFF2-40B4-BE49-F238E27FC236}">
                  <a16:creationId xmlns:a16="http://schemas.microsoft.com/office/drawing/2014/main" id="{26F3C258-6C4D-AEB9-3AE1-177AF2ECC26B}"/>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8" name="Retângulo 147">
              <a:extLst>
                <a:ext uri="{FF2B5EF4-FFF2-40B4-BE49-F238E27FC236}">
                  <a16:creationId xmlns:a16="http://schemas.microsoft.com/office/drawing/2014/main" id="{7C946B44-5C07-EAFE-A628-5DD162A397E7}"/>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tângulo 148">
              <a:extLst>
                <a:ext uri="{FF2B5EF4-FFF2-40B4-BE49-F238E27FC236}">
                  <a16:creationId xmlns:a16="http://schemas.microsoft.com/office/drawing/2014/main" id="{513AF336-BAE8-7563-4198-8BB109858D52}"/>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tângulo 149">
              <a:extLst>
                <a:ext uri="{FF2B5EF4-FFF2-40B4-BE49-F238E27FC236}">
                  <a16:creationId xmlns:a16="http://schemas.microsoft.com/office/drawing/2014/main" id="{89558F84-021E-5786-BED4-0F0FF3D94B09}"/>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tângulo 150">
              <a:extLst>
                <a:ext uri="{FF2B5EF4-FFF2-40B4-BE49-F238E27FC236}">
                  <a16:creationId xmlns:a16="http://schemas.microsoft.com/office/drawing/2014/main" id="{C8EB61C9-0B2E-45B3-EE12-585876F91F0C}"/>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tângulo 151">
              <a:extLst>
                <a:ext uri="{FF2B5EF4-FFF2-40B4-BE49-F238E27FC236}">
                  <a16:creationId xmlns:a16="http://schemas.microsoft.com/office/drawing/2014/main" id="{E1CD2919-A3DA-D7DB-EDBA-EC06E5CBD6D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14294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C46F5-9D39-3200-9315-7E41F8A21564}"/>
            </a:ext>
          </a:extLst>
        </p:cNvPr>
        <p:cNvGrpSpPr/>
        <p:nvPr/>
      </p:nvGrpSpPr>
      <p:grpSpPr>
        <a:xfrm>
          <a:off x="0" y="0"/>
          <a:ext cx="0" cy="0"/>
          <a:chOff x="0" y="0"/>
          <a:chExt cx="0" cy="0"/>
        </a:xfrm>
      </p:grpSpPr>
      <p:grpSp>
        <p:nvGrpSpPr>
          <p:cNvPr id="100" name="Group 99">
            <a:extLst>
              <a:ext uri="{FF2B5EF4-FFF2-40B4-BE49-F238E27FC236}">
                <a16:creationId xmlns:a16="http://schemas.microsoft.com/office/drawing/2014/main"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a16="http://schemas.microsoft.com/office/drawing/2014/main"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[3]</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a16="http://schemas.microsoft.com/office/drawing/2014/main"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a16="http://schemas.microsoft.com/office/drawing/2014/main"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a16="http://schemas.microsoft.com/office/drawing/2014/main"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a16="http://schemas.microsoft.com/office/drawing/2014/main"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a16="http://schemas.microsoft.com/office/drawing/2014/main"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a16="http://schemas.microsoft.com/office/drawing/2014/main"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a16="http://schemas.microsoft.com/office/drawing/2014/main"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73694-5604-5578-962F-15A2E6C1A543}"/>
            </a:ext>
          </a:extLst>
        </p:cNvPr>
        <p:cNvGrpSpPr/>
        <p:nvPr/>
      </p:nvGrpSpPr>
      <p:grpSpPr>
        <a:xfrm>
          <a:off x="0" y="0"/>
          <a:ext cx="0" cy="0"/>
          <a:chOff x="0" y="0"/>
          <a:chExt cx="0" cy="0"/>
        </a:xfrm>
      </p:grpSpPr>
      <p:grpSp>
        <p:nvGrpSpPr>
          <p:cNvPr id="38" name="Group 37">
            <a:extLst>
              <a:ext uri="{FF2B5EF4-FFF2-40B4-BE49-F238E27FC236}">
                <a16:creationId xmlns:a16="http://schemas.microsoft.com/office/drawing/2014/main"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a16="http://schemas.microsoft.com/office/drawing/2014/main"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a16="http://schemas.microsoft.com/office/drawing/2014/main"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a16="http://schemas.microsoft.com/office/drawing/2014/main"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a16="http://schemas.microsoft.com/office/drawing/2014/main"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a16="http://schemas.microsoft.com/office/drawing/2014/main"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a16="http://schemas.microsoft.com/office/drawing/2014/main"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a16="http://schemas.microsoft.com/office/drawing/2014/main"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a16="http://schemas.microsoft.com/office/drawing/2014/main"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a16="http://schemas.microsoft.com/office/drawing/2014/main"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a16="http://schemas.microsoft.com/office/drawing/2014/main"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a16="http://schemas.microsoft.com/office/drawing/2014/main"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a16="http://schemas.microsoft.com/office/drawing/2014/main"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a16="http://schemas.microsoft.com/office/drawing/2014/main"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a16="http://schemas.microsoft.com/office/drawing/2014/main"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a16="http://schemas.microsoft.com/office/drawing/2014/main"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a16="http://schemas.microsoft.com/office/drawing/2014/main"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+2]</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1A8E6-4B10-4A75-B9D7-6D57BC91BB9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a16="http://schemas.microsoft.com/office/drawing/2014/main"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a16="http://schemas.microsoft.com/office/drawing/2014/main"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16" name="Straight Connector 15">
              <a:extLst>
                <a:ext uri="{FF2B5EF4-FFF2-40B4-BE49-F238E27FC236}">
                  <a16:creationId xmlns:a16="http://schemas.microsoft.com/office/drawing/2014/main"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a16="http://schemas.microsoft.com/office/drawing/2014/main"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a16="http://schemas.microsoft.com/office/drawing/2014/main"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a16="http://schemas.microsoft.com/office/drawing/2014/main"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2" name="Connector: Elbow 41">
              <a:extLst>
                <a:ext uri="{FF2B5EF4-FFF2-40B4-BE49-F238E27FC236}">
                  <a16:creationId xmlns:a16="http://schemas.microsoft.com/office/drawing/2014/main"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a16="http://schemas.microsoft.com/office/drawing/2014/main"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a16="http://schemas.microsoft.com/office/drawing/2014/main"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a16="http://schemas.microsoft.com/office/drawing/2014/main"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a16="http://schemas.microsoft.com/office/drawing/2014/main"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a16="http://schemas.microsoft.com/office/drawing/2014/main"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a16="http://schemas.microsoft.com/office/drawing/2014/main"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a16="http://schemas.microsoft.com/office/drawing/2014/main"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a16="http://schemas.microsoft.com/office/drawing/2014/main"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a16="http://schemas.microsoft.com/office/drawing/2014/main"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a16="http://schemas.microsoft.com/office/drawing/2014/main"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a16="http://schemas.microsoft.com/office/drawing/2014/main"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a16="http://schemas.microsoft.com/office/drawing/2014/main"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a16="http://schemas.microsoft.com/office/drawing/2014/main"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a16="http://schemas.microsoft.com/office/drawing/2014/main"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a16="http://schemas.microsoft.com/office/drawing/2014/main"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a16="http://schemas.microsoft.com/office/drawing/2014/main"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a16="http://schemas.microsoft.com/office/drawing/2014/main"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a16="http://schemas.microsoft.com/office/drawing/2014/main"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a16="http://schemas.microsoft.com/office/drawing/2014/main"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a16="http://schemas.microsoft.com/office/drawing/2014/main"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a16="http://schemas.microsoft.com/office/drawing/2014/main"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40" name="TextBox 39">
            <a:extLst>
              <a:ext uri="{FF2B5EF4-FFF2-40B4-BE49-F238E27FC236}">
                <a16:creationId xmlns:a16="http://schemas.microsoft.com/office/drawing/2014/main"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465463"/>
            <a:chOff x="1975628" y="1834844"/>
            <a:chExt cx="7884560" cy="4465463"/>
          </a:xfrm>
        </p:grpSpPr>
        <p:grpSp>
          <p:nvGrpSpPr>
            <p:cNvPr id="43" name="Group 42">
              <a:extLst>
                <a:ext uri="{FF2B5EF4-FFF2-40B4-BE49-F238E27FC236}">
                  <a16:creationId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a16="http://schemas.microsoft.com/office/drawing/2014/main"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a16="http://schemas.microsoft.com/office/drawing/2014/main" id="{94483E7F-A937-DCD5-593D-9BF0A521317D}"/>
                </a:ext>
              </a:extLst>
            </p:cNvPr>
            <p:cNvSpPr txBox="1"/>
            <p:nvPr/>
          </p:nvSpPr>
          <p:spPr>
            <a:xfrm>
              <a:off x="1975628" y="5561643"/>
              <a:ext cx="1705021" cy="738664"/>
            </a:xfrm>
            <a:prstGeom prst="rect">
              <a:avLst/>
            </a:prstGeom>
            <a:noFill/>
          </p:spPr>
          <p:txBody>
            <a:bodyPr wrap="square" rtlCol="0">
              <a:spAutoFit/>
            </a:bodyPr>
            <a:lstStyle/>
            <a:p>
              <a:pPr algn="ctr"/>
              <a:r>
                <a:rPr lang="pt-BR" sz="1400" dirty="0"/>
                <a:t>Camada totalmente conectada com ativação sigmoide</a:t>
              </a:r>
              <a:endParaRPr lang="en-US" sz="1400" dirty="0"/>
            </a:p>
          </p:txBody>
        </p:sp>
        <p:sp>
          <p:nvSpPr>
            <p:cNvPr id="44" name="Oval 3">
              <a:extLst>
                <a:ext uri="{FF2B5EF4-FFF2-40B4-BE49-F238E27FC236}">
                  <a16:creationId xmlns:a16="http://schemas.microsoft.com/office/drawing/2014/main"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a16="http://schemas.microsoft.com/office/drawing/2014/main" id="{E601EEF9-98B3-9F64-F85F-07641BA1F0E3}"/>
                </a:ext>
              </a:extLst>
            </p:cNvPr>
            <p:cNvSpPr txBox="1"/>
            <p:nvPr/>
          </p:nvSpPr>
          <p:spPr>
            <a:xfrm>
              <a:off x="5124168" y="5560453"/>
              <a:ext cx="1210943" cy="738664"/>
            </a:xfrm>
            <a:prstGeom prst="rect">
              <a:avLst/>
            </a:prstGeom>
            <a:noFill/>
          </p:spPr>
          <p:txBody>
            <a:bodyPr wrap="square">
              <a:spAutoFit/>
            </a:bodyPr>
            <a:lstStyle/>
            <a:p>
              <a:pPr algn="ctr"/>
              <a:r>
                <a:rPr lang="en-US" sz="1400" dirty="0" err="1"/>
                <a:t>operação</a:t>
              </a:r>
              <a:r>
                <a:rPr lang="en-US" sz="1400" dirty="0"/>
                <a:t> </a:t>
              </a:r>
              <a:r>
                <a:rPr lang="en-US" sz="1400" dirty="0" err="1"/>
                <a:t>elemento</a:t>
              </a:r>
              <a:r>
                <a:rPr lang="en-US" sz="1400" dirty="0"/>
                <a:t> a </a:t>
              </a:r>
              <a:r>
                <a:rPr lang="en-US" sz="1400" dirty="0" err="1"/>
                <a:t>elemento</a:t>
              </a:r>
              <a:endParaRPr lang="en-US" sz="1400" dirty="0"/>
            </a:p>
          </p:txBody>
        </p:sp>
        <p:cxnSp>
          <p:nvCxnSpPr>
            <p:cNvPr id="46" name="Straight Connector 8">
              <a:extLst>
                <a:ext uri="{FF2B5EF4-FFF2-40B4-BE49-F238E27FC236}">
                  <a16:creationId xmlns:a16="http://schemas.microsoft.com/office/drawing/2014/main"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a16="http://schemas.microsoft.com/office/drawing/2014/main"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a16="http://schemas.microsoft.com/office/drawing/2014/main"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a16="http://schemas.microsoft.com/office/drawing/2014/main"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a16="http://schemas.microsoft.com/office/drawing/2014/main" id="{F2C1639E-62C8-EF4F-BC59-06D35F047F64}"/>
                </a:ext>
              </a:extLst>
            </p:cNvPr>
            <p:cNvSpPr txBox="1"/>
            <p:nvPr/>
          </p:nvSpPr>
          <p:spPr>
            <a:xfrm>
              <a:off x="7522813" y="5659293"/>
              <a:ext cx="1210943" cy="523220"/>
            </a:xfrm>
            <a:prstGeom prst="rect">
              <a:avLst/>
            </a:prstGeom>
            <a:noFill/>
          </p:spPr>
          <p:txBody>
            <a:bodyPr wrap="square">
              <a:spAutoFit/>
            </a:bodyPr>
            <a:lstStyle/>
            <a:p>
              <a:pPr algn="ctr"/>
              <a:r>
                <a:rPr lang="en-US" sz="1400" dirty="0" err="1"/>
                <a:t>concatenação</a:t>
              </a:r>
              <a:r>
                <a:rPr lang="en-US" sz="1400" dirty="0"/>
                <a:t> de </a:t>
              </a:r>
              <a:r>
                <a:rPr lang="en-US" sz="1400" dirty="0" err="1"/>
                <a:t>vetores</a:t>
              </a:r>
              <a:endParaRPr lang="en-US" sz="1400" dirty="0"/>
            </a:p>
          </p:txBody>
        </p:sp>
        <p:cxnSp>
          <p:nvCxnSpPr>
            <p:cNvPr id="55" name="Straight Connector 22">
              <a:extLst>
                <a:ext uri="{FF2B5EF4-FFF2-40B4-BE49-F238E27FC236}">
                  <a16:creationId xmlns:a16="http://schemas.microsoft.com/office/drawing/2014/main"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a16="http://schemas.microsoft.com/office/drawing/2014/main"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a16="http://schemas.microsoft.com/office/drawing/2014/main" id="{82CB8A93-557A-5259-EB5A-85D7D4D96AD1}"/>
                </a:ext>
              </a:extLst>
            </p:cNvPr>
            <p:cNvSpPr txBox="1"/>
            <p:nvPr/>
          </p:nvSpPr>
          <p:spPr>
            <a:xfrm>
              <a:off x="8649245" y="5650622"/>
              <a:ext cx="1210943" cy="523220"/>
            </a:xfrm>
            <a:prstGeom prst="rect">
              <a:avLst/>
            </a:prstGeom>
            <a:noFill/>
          </p:spPr>
          <p:txBody>
            <a:bodyPr wrap="square">
              <a:spAutoFit/>
            </a:bodyPr>
            <a:lstStyle/>
            <a:p>
              <a:pPr algn="ctr"/>
              <a:r>
                <a:rPr lang="en-US" sz="1400" dirty="0" err="1"/>
                <a:t>cópia</a:t>
              </a:r>
              <a:r>
                <a:rPr lang="en-US" sz="1400" dirty="0"/>
                <a:t> de </a:t>
              </a:r>
              <a:r>
                <a:rPr lang="en-US" sz="1400" dirty="0" err="1"/>
                <a:t>vetor</a:t>
              </a:r>
              <a:endParaRPr lang="en-US" sz="1400" dirty="0"/>
            </a:p>
          </p:txBody>
        </p:sp>
        <p:sp>
          <p:nvSpPr>
            <p:cNvPr id="59" name="Rectangle 37">
              <a:extLst>
                <a:ext uri="{FF2B5EF4-FFF2-40B4-BE49-F238E27FC236}">
                  <a16:creationId xmlns:a16="http://schemas.microsoft.com/office/drawing/2014/main"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60" name="TextBox 39">
              <a:extLst>
                <a:ext uri="{FF2B5EF4-FFF2-40B4-BE49-F238E27FC236}">
                  <a16:creationId xmlns:a16="http://schemas.microsoft.com/office/drawing/2014/main" id="{36895CF3-782C-C5FB-0D92-D28EF588D039}"/>
                </a:ext>
              </a:extLst>
            </p:cNvPr>
            <p:cNvSpPr txBox="1"/>
            <p:nvPr/>
          </p:nvSpPr>
          <p:spPr>
            <a:xfrm>
              <a:off x="3592695" y="5550261"/>
              <a:ext cx="1705021" cy="738664"/>
            </a:xfrm>
            <a:prstGeom prst="rect">
              <a:avLst/>
            </a:prstGeom>
            <a:noFill/>
          </p:spPr>
          <p:txBody>
            <a:bodyPr wrap="square" rtlCol="0">
              <a:spAutoFit/>
            </a:bodyPr>
            <a:lstStyle/>
            <a:p>
              <a:pPr algn="ctr"/>
              <a:r>
                <a:rPr lang="pt-BR" sz="1400" dirty="0"/>
                <a:t>Camada totalmente conectada com ativação 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EC042-7CB7-B389-4F07-73C2D81EF70E}"/>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F7BC4-3994-CEE8-677F-0741A6B1A05B}"/>
            </a:ext>
          </a:extLst>
        </p:cNvPr>
        <p:cNvGrpSpPr/>
        <p:nvPr/>
      </p:nvGrpSpPr>
      <p:grpSpPr>
        <a:xfrm>
          <a:off x="0" y="0"/>
          <a:ext cx="0" cy="0"/>
          <a:chOff x="0" y="0"/>
          <a:chExt cx="0" cy="0"/>
        </a:xfrm>
      </p:grpSpPr>
      <p:grpSp>
        <p:nvGrpSpPr>
          <p:cNvPr id="6" name="Agrupar 5">
            <a:extLst>
              <a:ext uri="{FF2B5EF4-FFF2-40B4-BE49-F238E27FC236}">
                <a16:creationId xmlns:a16="http://schemas.microsoft.com/office/drawing/2014/main" id="{58BF9D6A-5434-434E-602B-B08D946E38BD}"/>
              </a:ext>
            </a:extLst>
          </p:cNvPr>
          <p:cNvGrpSpPr/>
          <p:nvPr/>
        </p:nvGrpSpPr>
        <p:grpSpPr>
          <a:xfrm>
            <a:off x="6011628" y="1918390"/>
            <a:ext cx="5133274" cy="3158904"/>
            <a:chOff x="6011628" y="1918390"/>
            <a:chExt cx="5133274" cy="3158904"/>
          </a:xfrm>
        </p:grpSpPr>
        <p:cxnSp>
          <p:nvCxnSpPr>
            <p:cNvPr id="93" name="Straight Arrow Connector 92">
              <a:extLst>
                <a:ext uri="{FF2B5EF4-FFF2-40B4-BE49-F238E27FC236}">
                  <a16:creationId xmlns:a16="http://schemas.microsoft.com/office/drawing/2014/main" id="{23B5C879-86CF-1489-D983-F6C55915B102}"/>
                </a:ext>
              </a:extLst>
            </p:cNvPr>
            <p:cNvCxnSpPr>
              <a:cxnSpLocks/>
            </p:cNvCxnSpPr>
            <p:nvPr/>
          </p:nvCxnSpPr>
          <p:spPr>
            <a:xfrm flipV="1">
              <a:off x="10273859" y="2280752"/>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B4FC16DB-E8FC-F794-ADC0-7F23CD171994}"/>
                </a:ext>
              </a:extLst>
            </p:cNvPr>
            <p:cNvCxnSpPr>
              <a:cxnSpLocks/>
            </p:cNvCxnSpPr>
            <p:nvPr/>
          </p:nvCxnSpPr>
          <p:spPr>
            <a:xfrm flipV="1">
              <a:off x="6595645" y="4324100"/>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59ED29A8-D33B-A9E0-6FB0-6DA35F11AA69}"/>
                </a:ext>
              </a:extLst>
            </p:cNvPr>
            <p:cNvCxnSpPr>
              <a:cxnSpLocks/>
            </p:cNvCxnSpPr>
            <p:nvPr/>
          </p:nvCxnSpPr>
          <p:spPr>
            <a:xfrm flipH="1" flipV="1">
              <a:off x="9856031" y="2792414"/>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9ED7EA8-2248-C549-C0D3-4789E31F2198}"/>
                </a:ext>
              </a:extLst>
            </p:cNvPr>
            <p:cNvCxnSpPr>
              <a:cxnSpLocks/>
            </p:cNvCxnSpPr>
            <p:nvPr/>
          </p:nvCxnSpPr>
          <p:spPr>
            <a:xfrm flipH="1" flipV="1">
              <a:off x="10273859" y="2833166"/>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8BAC7E3D-1CA3-518E-DD58-B30975FF74A6}"/>
                </a:ext>
              </a:extLst>
            </p:cNvPr>
            <p:cNvCxnSpPr>
              <a:cxnSpLocks/>
              <a:endCxn id="11" idx="2"/>
            </p:cNvCxnSpPr>
            <p:nvPr/>
          </p:nvCxnSpPr>
          <p:spPr>
            <a:xfrm rot="5400000" flipH="1" flipV="1">
              <a:off x="7911839" y="3336917"/>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F73F4CFE-21DF-A9CF-A0E3-BE6FCD93FD2F}"/>
                </a:ext>
              </a:extLst>
            </p:cNvPr>
            <p:cNvCxnSpPr>
              <a:cxnSpLocks/>
            </p:cNvCxnSpPr>
            <p:nvPr/>
          </p:nvCxnSpPr>
          <p:spPr>
            <a:xfrm>
              <a:off x="9857368" y="4318530"/>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3C354A2-1F93-E0BA-7BEB-1E8BB1A4752E}"/>
                    </a:ext>
                  </a:extLst>
                </p:cNvPr>
                <p:cNvSpPr txBox="1"/>
                <p:nvPr/>
              </p:nvSpPr>
              <p:spPr>
                <a:xfrm>
                  <a:off x="6972276" y="3150823"/>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6972276" y="3150823"/>
                  <a:ext cx="41594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A1951F4B-38D3-1319-7B2A-ECDDFF348DBB}"/>
                    </a:ext>
                  </a:extLst>
                </p:cNvPr>
                <p:cNvSpPr txBox="1"/>
                <p:nvPr/>
              </p:nvSpPr>
              <p:spPr>
                <a:xfrm>
                  <a:off x="7965114" y="3130443"/>
                  <a:ext cx="399084"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7965114" y="3130443"/>
                  <a:ext cx="39908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106D3A33-618E-C1DA-5D91-C0E86025E614}"/>
                    </a:ext>
                  </a:extLst>
                </p:cNvPr>
                <p:cNvSpPr txBox="1"/>
                <p:nvPr/>
              </p:nvSpPr>
              <p:spPr>
                <a:xfrm>
                  <a:off x="9049712" y="3144943"/>
                  <a:ext cx="441468"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9049712" y="3144943"/>
                  <a:ext cx="44146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0AD91B46-B781-DC41-B1E1-4726FC1FB47E}"/>
                    </a:ext>
                  </a:extLst>
                </p:cNvPr>
                <p:cNvSpPr txBox="1"/>
                <p:nvPr/>
              </p:nvSpPr>
              <p:spPr>
                <a:xfrm>
                  <a:off x="8649651" y="3475659"/>
                  <a:ext cx="425501" cy="369332"/>
                </a:xfrm>
                <a:prstGeom prst="rect">
                  <a:avLst/>
                </a:prstGeom>
                <a:noFill/>
              </p:spPr>
              <p:txBody>
                <a:bodyPr wrap="none" rtlCol="0">
                  <a:spAutoFit/>
                </a:bodyPr>
                <a:lstStyle/>
                <a:p>
                  <a:pPr/>
                  <a14:m>
                    <m:oMathPara xmlns:m="http://schemas.openxmlformats.org/officeDocument/2006/math">
                      <m:o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8649651" y="3475659"/>
                  <a:ext cx="425501" cy="369332"/>
                </a:xfrm>
                <a:prstGeom prst="rect">
                  <a:avLst/>
                </a:prstGeom>
                <a:blipFill>
                  <a:blip r:embed="rId6"/>
                  <a:stretch>
                    <a:fillRect r="-2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26C059A-6E06-5777-5754-23C200926D83}"/>
                    </a:ext>
                  </a:extLst>
                </p:cNvPr>
                <p:cNvSpPr/>
                <p:nvPr/>
              </p:nvSpPr>
              <p:spPr>
                <a:xfrm>
                  <a:off x="7181879"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7181879" y="3812678"/>
                  <a:ext cx="332510" cy="29787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D5E7D54C-7034-1BD8-63C6-5043FC65A28D}"/>
                    </a:ext>
                  </a:extLst>
                </p:cNvPr>
                <p:cNvSpPr/>
                <p:nvPr/>
              </p:nvSpPr>
              <p:spPr>
                <a:xfrm>
                  <a:off x="7746018"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7746018" y="3812678"/>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177514C8-D2E4-86D6-AF82-FAF60A44C33A}"/>
                    </a:ext>
                  </a:extLst>
                </p:cNvPr>
                <p:cNvSpPr/>
                <p:nvPr/>
              </p:nvSpPr>
              <p:spPr>
                <a:xfrm>
                  <a:off x="9163841" y="3815474"/>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9163841" y="3815474"/>
                  <a:ext cx="332510" cy="297872"/>
                </a:xfrm>
                <a:prstGeom prst="rect">
                  <a:avLst/>
                </a:prstGeom>
                <a:blipFill>
                  <a:blip r:embed="rId9"/>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F8531BB-5842-5BAF-1D3A-682398D284D2}"/>
                </a:ext>
              </a:extLst>
            </p:cNvPr>
            <p:cNvSpPr/>
            <p:nvPr/>
          </p:nvSpPr>
          <p:spPr>
            <a:xfrm>
              <a:off x="8310157" y="3812678"/>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C7E17DBB-C7BC-494A-E992-8DE8D288F40F}"/>
                </a:ext>
              </a:extLst>
            </p:cNvPr>
            <p:cNvGrpSpPr/>
            <p:nvPr/>
          </p:nvGrpSpPr>
          <p:grpSpPr>
            <a:xfrm>
              <a:off x="9545841" y="2925974"/>
              <a:ext cx="627482" cy="369332"/>
              <a:chOff x="6108367" y="2910505"/>
              <a:chExt cx="627482" cy="369332"/>
            </a:xfrm>
          </p:grpSpPr>
          <p:sp>
            <p:nvSpPr>
              <p:cNvPr id="13" name="Oval 12">
                <a:extLst>
                  <a:ext uri="{FF2B5EF4-FFF2-40B4-BE49-F238E27FC236}">
                    <a16:creationId xmlns:a16="http://schemas.microsoft.com/office/drawing/2014/main"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a16="http://schemas.microsoft.com/office/drawing/2014/main" id="{D2F697DC-DE68-5F5D-A5BE-F745A119CF71}"/>
                </a:ext>
              </a:extLst>
            </p:cNvPr>
            <p:cNvCxnSpPr>
              <a:stCxn id="8" idx="0"/>
              <a:endCxn id="17" idx="4"/>
            </p:cNvCxnSpPr>
            <p:nvPr/>
          </p:nvCxnSpPr>
          <p:spPr>
            <a:xfrm flipV="1">
              <a:off x="7348134" y="2928889"/>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B3565DE1-2C94-76FF-7E49-46F7EA406B1F}"/>
                </a:ext>
              </a:extLst>
            </p:cNvPr>
            <p:cNvCxnSpPr>
              <a:cxnSpLocks/>
            </p:cNvCxnSpPr>
            <p:nvPr/>
          </p:nvCxnSpPr>
          <p:spPr>
            <a:xfrm>
              <a:off x="73481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1ABDDD09-DD98-0666-3795-306DBE0ECE9F}"/>
                </a:ext>
              </a:extLst>
            </p:cNvPr>
            <p:cNvCxnSpPr>
              <a:cxnSpLocks/>
            </p:cNvCxnSpPr>
            <p:nvPr/>
          </p:nvCxnSpPr>
          <p:spPr>
            <a:xfrm>
              <a:off x="79069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F61B55E-723D-2358-27DC-A1C3C16D2B69}"/>
                </a:ext>
              </a:extLst>
            </p:cNvPr>
            <p:cNvCxnSpPr>
              <a:cxnSpLocks/>
            </p:cNvCxnSpPr>
            <p:nvPr/>
          </p:nvCxnSpPr>
          <p:spPr>
            <a:xfrm>
              <a:off x="8611784" y="4110550"/>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2A4E816D-7056-ACB4-28DE-1431775F31B9}"/>
                </a:ext>
              </a:extLst>
            </p:cNvPr>
            <p:cNvSpPr/>
            <p:nvPr/>
          </p:nvSpPr>
          <p:spPr>
            <a:xfrm>
              <a:off x="8480155"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CF3F4951-741E-7175-755B-F847FABD1A53}"/>
                </a:ext>
              </a:extLst>
            </p:cNvPr>
            <p:cNvCxnSpPr>
              <a:cxnSpLocks/>
              <a:stCxn id="12" idx="0"/>
              <a:endCxn id="37" idx="4"/>
            </p:cNvCxnSpPr>
            <p:nvPr/>
          </p:nvCxnSpPr>
          <p:spPr>
            <a:xfrm flipH="1" flipV="1">
              <a:off x="8616680" y="3678578"/>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0C9119F5-BC18-B506-6AE3-54BED2ACDE1D}"/>
                </a:ext>
              </a:extLst>
            </p:cNvPr>
            <p:cNvCxnSpPr>
              <a:cxnSpLocks/>
              <a:stCxn id="37" idx="0"/>
              <a:endCxn id="48" idx="4"/>
            </p:cNvCxnSpPr>
            <p:nvPr/>
          </p:nvCxnSpPr>
          <p:spPr>
            <a:xfrm flipH="1" flipV="1">
              <a:off x="8613340" y="2930052"/>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9A90CFC2-367F-DDD0-0347-A75CC3C46DD8}"/>
                </a:ext>
              </a:extLst>
            </p:cNvPr>
            <p:cNvSpPr/>
            <p:nvPr/>
          </p:nvSpPr>
          <p:spPr>
            <a:xfrm>
              <a:off x="9723849"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742EAAEE-4BC0-0FF8-1B29-921257A94C82}"/>
                </a:ext>
              </a:extLst>
            </p:cNvPr>
            <p:cNvCxnSpPr>
              <a:cxnSpLocks/>
            </p:cNvCxnSpPr>
            <p:nvPr/>
          </p:nvCxnSpPr>
          <p:spPr>
            <a:xfrm flipH="1" flipV="1">
              <a:off x="9859749" y="3269114"/>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6B39DB6C-853E-9EC6-5E8B-6D4F3DB4B58F}"/>
                </a:ext>
              </a:extLst>
            </p:cNvPr>
            <p:cNvCxnSpPr>
              <a:cxnSpLocks/>
              <a:endCxn id="52" idx="2"/>
            </p:cNvCxnSpPr>
            <p:nvPr/>
          </p:nvCxnSpPr>
          <p:spPr>
            <a:xfrm flipV="1">
              <a:off x="9330096" y="3542053"/>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55E9DF20-2BAA-AD3A-BF01-C8B2A79EBCBF}"/>
                </a:ext>
              </a:extLst>
            </p:cNvPr>
            <p:cNvCxnSpPr>
              <a:stCxn id="10" idx="0"/>
              <a:endCxn id="37" idx="2"/>
            </p:cNvCxnSpPr>
            <p:nvPr/>
          </p:nvCxnSpPr>
          <p:spPr>
            <a:xfrm rot="5400000" flipH="1" flipV="1">
              <a:off x="8060902" y="3393425"/>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3B2DE638-D898-6EEE-FDE9-EF6483D3EE43}"/>
                </a:ext>
              </a:extLst>
            </p:cNvPr>
            <p:cNvCxnSpPr>
              <a:cxnSpLocks/>
              <a:endCxn id="52" idx="4"/>
            </p:cNvCxnSpPr>
            <p:nvPr/>
          </p:nvCxnSpPr>
          <p:spPr>
            <a:xfrm flipV="1">
              <a:off x="9860374" y="3678578"/>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id="{842C10F0-6ADD-9912-2061-FB7E19CE2DD3}"/>
                </a:ext>
              </a:extLst>
            </p:cNvPr>
            <p:cNvSpPr/>
            <p:nvPr/>
          </p:nvSpPr>
          <p:spPr>
            <a:xfrm>
              <a:off x="6924850" y="2514976"/>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id="{290DB68F-D678-91AC-FDAB-0432895FD9FC}"/>
                </a:ext>
              </a:extLst>
            </p:cNvPr>
            <p:cNvSpPr/>
            <p:nvPr/>
          </p:nvSpPr>
          <p:spPr>
            <a:xfrm>
              <a:off x="7211609" y="265583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a16="http://schemas.microsoft.com/office/drawing/2014/main" id="{2189D1DB-4B5F-E20F-5E70-0649D2A09125}"/>
                </a:ext>
              </a:extLst>
            </p:cNvPr>
            <p:cNvSpPr/>
            <p:nvPr/>
          </p:nvSpPr>
          <p:spPr>
            <a:xfrm>
              <a:off x="8476815" y="265700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2F17F637-CDA3-BC2F-CEC0-EDA23BDF1793}"/>
                </a:ext>
              </a:extLst>
            </p:cNvPr>
            <p:cNvCxnSpPr>
              <a:cxnSpLocks/>
              <a:endCxn id="17" idx="2"/>
            </p:cNvCxnSpPr>
            <p:nvPr/>
          </p:nvCxnSpPr>
          <p:spPr>
            <a:xfrm flipV="1">
              <a:off x="6636370" y="2792364"/>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B7F0BCAC-2A6C-C3FC-BFC1-52890A7CFAFB}"/>
                </a:ext>
              </a:extLst>
            </p:cNvPr>
            <p:cNvCxnSpPr>
              <a:cxnSpLocks/>
              <a:stCxn id="17" idx="6"/>
              <a:endCxn id="48" idx="2"/>
            </p:cNvCxnSpPr>
            <p:nvPr/>
          </p:nvCxnSpPr>
          <p:spPr>
            <a:xfrm>
              <a:off x="7484659" y="2792364"/>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DB10787B-CA55-FACA-097A-B384CCF2FC57}"/>
                </a:ext>
              </a:extLst>
            </p:cNvPr>
            <p:cNvCxnSpPr>
              <a:cxnSpLocks/>
            </p:cNvCxnSpPr>
            <p:nvPr/>
          </p:nvCxnSpPr>
          <p:spPr>
            <a:xfrm>
              <a:off x="8749865" y="2792364"/>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4A866C9-4A28-7252-015B-A2E419706176}"/>
                    </a:ext>
                  </a:extLst>
                </p:cNvPr>
                <p:cNvSpPr txBox="1"/>
                <p:nvPr/>
              </p:nvSpPr>
              <p:spPr>
                <a:xfrm>
                  <a:off x="6023650" y="2556642"/>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6023650" y="2556642"/>
                  <a:ext cx="66197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26498C2-0A02-0FDF-4FCF-947527EBD09A}"/>
                    </a:ext>
                  </a:extLst>
                </p:cNvPr>
                <p:cNvSpPr txBox="1"/>
                <p:nvPr/>
              </p:nvSpPr>
              <p:spPr>
                <a:xfrm>
                  <a:off x="10662874" y="2606206"/>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10662874" y="2606206"/>
                  <a:ext cx="442365"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2B529DB-2BE0-6E9C-4EBB-DBD7BFF2CD32}"/>
                    </a:ext>
                  </a:extLst>
                </p:cNvPr>
                <p:cNvSpPr txBox="1"/>
                <p:nvPr/>
              </p:nvSpPr>
              <p:spPr>
                <a:xfrm>
                  <a:off x="6011628" y="4139125"/>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6011628" y="4139125"/>
                  <a:ext cx="69083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B1DAE0C-E746-36F2-7A7D-C331502D001C}"/>
                    </a:ext>
                  </a:extLst>
                </p:cNvPr>
                <p:cNvSpPr txBox="1"/>
                <p:nvPr/>
              </p:nvSpPr>
              <p:spPr>
                <a:xfrm>
                  <a:off x="10673684" y="4147015"/>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10673684" y="4147015"/>
                  <a:ext cx="471218"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E10D406-319D-3BE3-1B60-7827B12CBF7C}"/>
                    </a:ext>
                  </a:extLst>
                </p:cNvPr>
                <p:cNvSpPr txBox="1"/>
                <p:nvPr/>
              </p:nvSpPr>
              <p:spPr>
                <a:xfrm>
                  <a:off x="10047066" y="1918390"/>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10047066" y="1918390"/>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5F8E290-BD3E-780B-C51B-6AB841AA0F43}"/>
                    </a:ext>
                  </a:extLst>
                </p:cNvPr>
                <p:cNvSpPr txBox="1"/>
                <p:nvPr/>
              </p:nvSpPr>
              <p:spPr>
                <a:xfrm>
                  <a:off x="6911807" y="470796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6911807" y="4707962"/>
                  <a:ext cx="458394" cy="369332"/>
                </a:xfrm>
                <a:prstGeom prst="rect">
                  <a:avLst/>
                </a:prstGeom>
                <a:blipFill>
                  <a:blip r:embed="rId15"/>
                  <a:stretch>
                    <a:fillRect/>
                  </a:stretch>
                </a:blipFill>
              </p:spPr>
              <p:txBody>
                <a:bodyPr/>
                <a:lstStyle/>
                <a:p>
                  <a:r>
                    <a:rPr lang="en-US">
                      <a:noFill/>
                    </a:rPr>
                    <a:t> </a:t>
                  </a:r>
                </a:p>
              </p:txBody>
            </p:sp>
          </mc:Fallback>
        </mc:AlternateContent>
      </p:grpSp>
      <p:grpSp>
        <p:nvGrpSpPr>
          <p:cNvPr id="23" name="Agrupar 22">
            <a:extLst>
              <a:ext uri="{FF2B5EF4-FFF2-40B4-BE49-F238E27FC236}">
                <a16:creationId xmlns:a16="http://schemas.microsoft.com/office/drawing/2014/main" id="{D99F1511-F322-606A-6FBC-9AD1F62D1657}"/>
              </a:ext>
            </a:extLst>
          </p:cNvPr>
          <p:cNvGrpSpPr/>
          <p:nvPr/>
        </p:nvGrpSpPr>
        <p:grpSpPr>
          <a:xfrm>
            <a:off x="185008" y="2382276"/>
            <a:ext cx="3858936" cy="2179237"/>
            <a:chOff x="185008" y="2382276"/>
            <a:chExt cx="3858936" cy="2179237"/>
          </a:xfrm>
        </p:grpSpPr>
        <p:sp>
          <p:nvSpPr>
            <p:cNvPr id="22" name="Retângulo 21">
              <a:extLst>
                <a:ext uri="{FF2B5EF4-FFF2-40B4-BE49-F238E27FC236}">
                  <a16:creationId xmlns:a16="http://schemas.microsoft.com/office/drawing/2014/main" id="{769F270E-34E5-EC23-E1C9-0E52094766A1}"/>
                </a:ext>
              </a:extLst>
            </p:cNvPr>
            <p:cNvSpPr/>
            <p:nvPr/>
          </p:nvSpPr>
          <p:spPr>
            <a:xfrm>
              <a:off x="859402" y="2699268"/>
              <a:ext cx="1138179" cy="1294664"/>
            </a:xfrm>
            <a:prstGeom prst="rect">
              <a:avLst/>
            </a:prstGeom>
            <a:noFill/>
            <a:ln>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cxnSp>
          <p:nvCxnSpPr>
            <p:cNvPr id="42" name="Straight Connector 41">
              <a:extLst>
                <a:ext uri="{FF2B5EF4-FFF2-40B4-BE49-F238E27FC236}">
                  <a16:creationId xmlns:a16="http://schemas.microsoft.com/office/drawing/2014/main" id="{61EA366A-638B-19A2-FADF-869CD901FD65}"/>
                </a:ext>
              </a:extLst>
            </p:cNvPr>
            <p:cNvCxnSpPr>
              <a:cxnSpLocks/>
            </p:cNvCxnSpPr>
            <p:nvPr/>
          </p:nvCxnSpPr>
          <p:spPr>
            <a:xfrm flipV="1">
              <a:off x="619501" y="2934602"/>
              <a:ext cx="648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EBC88C9A-7E93-26B5-43AD-0D21BC813E6A}"/>
                    </a:ext>
                  </a:extLst>
                </p:cNvPr>
                <p:cNvSpPr/>
                <p:nvPr/>
              </p:nvSpPr>
              <p:spPr>
                <a:xfrm>
                  <a:off x="1240764" y="348553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485536"/>
                  <a:ext cx="332510" cy="297872"/>
                </a:xfrm>
                <a:prstGeom prst="rect">
                  <a:avLst/>
                </a:prstGeom>
                <a:blipFill>
                  <a:blip r:embed="rId16"/>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a16="http://schemas.microsoft.com/office/drawing/2014/main" id="{4155F256-7522-763D-F307-222BEC825F1D}"/>
                </a:ext>
              </a:extLst>
            </p:cNvPr>
            <p:cNvCxnSpPr>
              <a:stCxn id="31" idx="0"/>
              <a:endCxn id="32" idx="4"/>
            </p:cNvCxnSpPr>
            <p:nvPr/>
          </p:nvCxnSpPr>
          <p:spPr>
            <a:xfrm flipV="1">
              <a:off x="1407019" y="3068367"/>
              <a:ext cx="0" cy="41716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B515080E-515E-F684-8C15-0D9EE9C6B308}"/>
                </a:ext>
              </a:extLst>
            </p:cNvPr>
            <p:cNvCxnSpPr/>
            <p:nvPr/>
          </p:nvCxnSpPr>
          <p:spPr>
            <a:xfrm flipV="1">
              <a:off x="1407019" y="378340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EC283BF4-C291-0D01-D34B-CCB67EF0B6CC}"/>
                </a:ext>
              </a:extLst>
            </p:cNvPr>
            <p:cNvSpPr txBox="1"/>
            <p:nvPr/>
          </p:nvSpPr>
          <p:spPr>
            <a:xfrm>
              <a:off x="859402" y="2382276"/>
              <a:ext cx="1138179" cy="369332"/>
            </a:xfrm>
            <a:prstGeom prst="rect">
              <a:avLst/>
            </a:prstGeom>
            <a:noFill/>
          </p:spPr>
          <p:txBody>
            <a:bodyPr wrap="square" rtlCol="0">
              <a:spAutoFit/>
            </a:bodyPr>
            <a:lstStyle/>
            <a:p>
              <a:pPr algn="ctr"/>
              <a:r>
                <a:rPr lang="pt-BR" dirty="0">
                  <a:solidFill>
                    <a:schemeClr val="accent1"/>
                  </a:solidFill>
                </a:rPr>
                <a:t>porta</a:t>
              </a:r>
              <a:endParaRPr lang="en-US" dirty="0">
                <a:solidFill>
                  <a:schemeClr val="accent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288BC0B-701F-DD40-E539-EE9ACBCA5489}"/>
                    </a:ext>
                  </a:extLst>
                </p:cNvPr>
                <p:cNvSpPr txBox="1"/>
                <p:nvPr/>
              </p:nvSpPr>
              <p:spPr>
                <a:xfrm>
                  <a:off x="185008" y="2688275"/>
                  <a:ext cx="46801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185008" y="2688275"/>
                  <a:ext cx="46801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EDC5D6C-3289-0D8E-9DDB-6C9470087026}"/>
                    </a:ext>
                  </a:extLst>
                </p:cNvPr>
                <p:cNvSpPr txBox="1"/>
                <p:nvPr/>
              </p:nvSpPr>
              <p:spPr>
                <a:xfrm>
                  <a:off x="1364813" y="3069945"/>
                  <a:ext cx="2679131"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b="1" i="1">
                                <a:latin typeface="Cambria Math" panose="02040503050406030204" pitchFamily="18" charset="0"/>
                                <a:ea typeface="Cambria Math" panose="02040503050406030204" pitchFamily="18" charset="0"/>
                              </a:rPr>
                            </m:ctrlPr>
                          </m:dPr>
                          <m:e>
                            <m:d>
                              <m:dPr>
                                <m:begChr m:val="["/>
                                <m:endChr m:val="]"/>
                                <m:ctrlPr>
                                  <a:rPr lang="pt-BR" b="1" i="1">
                                    <a:latin typeface="Cambria Math" panose="02040503050406030204" pitchFamily="18" charset="0"/>
                                    <a:ea typeface="Cambria Math" panose="02040503050406030204" pitchFamily="18" charset="0"/>
                                  </a:rPr>
                                </m:ctrlPr>
                              </m:dPr>
                              <m:e>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r>
                              <a:rPr lang="pt-BR" b="1" i="1" smtClean="0">
                                <a:latin typeface="Cambria Math" panose="02040503050406030204" pitchFamily="18" charset="0"/>
                                <a:ea typeface="Cambria Math" panose="02040503050406030204" pitchFamily="18" charset="0"/>
                              </a:rPr>
                              <m:t>𝑾</m:t>
                            </m:r>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𝒃</m:t>
                            </m:r>
                          </m:e>
                        </m:d>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364813" y="3069945"/>
                  <a:ext cx="2679131" cy="369332"/>
                </a:xfrm>
                <a:prstGeom prst="rect">
                  <a:avLst/>
                </a:prstGeom>
                <a:blipFill>
                  <a:blip r:embed="rId18"/>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40272D-BABB-2719-28B7-93A8B8650926}"/>
                    </a:ext>
                  </a:extLst>
                </p:cNvPr>
                <p:cNvSpPr txBox="1"/>
                <p:nvPr/>
              </p:nvSpPr>
              <p:spPr>
                <a:xfrm>
                  <a:off x="2163789" y="2709477"/>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2163789" y="2709477"/>
                  <a:ext cx="463204" cy="369332"/>
                </a:xfrm>
                <a:prstGeom prst="rect">
                  <a:avLst/>
                </a:prstGeom>
                <a:blipFill>
                  <a:blip r:embed="rId19"/>
                  <a:stretch>
                    <a:fillRect b="-6557"/>
                  </a:stretch>
                </a:blipFill>
              </p:spPr>
              <p:txBody>
                <a:bodyPr/>
                <a:lstStyle/>
                <a:p>
                  <a:r>
                    <a:rPr lang="en-US">
                      <a:noFill/>
                    </a:rPr>
                    <a:t> </a:t>
                  </a:r>
                </a:p>
              </p:txBody>
            </p:sp>
          </mc:Fallback>
        </mc:AlternateContent>
        <p:cxnSp>
          <p:nvCxnSpPr>
            <p:cNvPr id="9" name="Straight Connector 41">
              <a:extLst>
                <a:ext uri="{FF2B5EF4-FFF2-40B4-BE49-F238E27FC236}">
                  <a16:creationId xmlns:a16="http://schemas.microsoft.com/office/drawing/2014/main" id="{4351BED6-9CC8-9034-67A1-1A6D7E93D22A}"/>
                </a:ext>
              </a:extLst>
            </p:cNvPr>
            <p:cNvCxnSpPr>
              <a:cxnSpLocks/>
            </p:cNvCxnSpPr>
            <p:nvPr/>
          </p:nvCxnSpPr>
          <p:spPr>
            <a:xfrm>
              <a:off x="1543543" y="2931842"/>
              <a:ext cx="684000" cy="276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01E9F4C-7EDD-1C6A-9412-7B67716D803E}"/>
                    </a:ext>
                  </a:extLst>
                </p:cNvPr>
                <p:cNvSpPr txBox="1"/>
                <p:nvPr/>
              </p:nvSpPr>
              <p:spPr>
                <a:xfrm>
                  <a:off x="776813" y="4192181"/>
                  <a:ext cx="1322745" cy="369332"/>
                </a:xfrm>
                <a:prstGeom prst="rect">
                  <a:avLst/>
                </a:prstGeom>
                <a:noFill/>
              </p:spPr>
              <p:txBody>
                <a:bodyPr wrap="square">
                  <a:spAutoFit/>
                </a:bodyPr>
                <a:lstStyle/>
                <a:p>
                  <a:pPr/>
                  <a14:m>
                    <m:oMathPara xmlns:m="http://schemas.openxmlformats.org/officeDocument/2006/math">
                      <m:oMath>
                        <m:d>
                          <m:dPr>
                            <m:begChr m:val="["/>
                            <m:endChr m:val="]"/>
                            <m:ctrlPr>
                              <a:rPr lang="pt-BR" sz="1800" b="1" i="1">
                                <a:latin typeface="Cambria Math" panose="02040503050406030204" pitchFamily="18" charset="0"/>
                                <a:ea typeface="Cambria Math" panose="02040503050406030204" pitchFamily="18" charset="0"/>
                              </a:rPr>
                            </m:ctrlPr>
                          </m:dPr>
                          <m:e>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𝒉</m:t>
                                </m:r>
                              </m:e>
                              <m:sub>
                                <m:r>
                                  <a:rPr lang="pt-BR" sz="1800" i="1">
                                    <a:latin typeface="Cambria Math" panose="02040503050406030204" pitchFamily="18" charset="0"/>
                                    <a:ea typeface="Cambria Math" panose="02040503050406030204" pitchFamily="18" charset="0"/>
                                  </a:rPr>
                                  <m:t>𝑡</m:t>
                                </m:r>
                                <m:r>
                                  <a:rPr lang="pt-BR" sz="1800" i="1">
                                    <a:latin typeface="Cambria Math" panose="02040503050406030204" pitchFamily="18" charset="0"/>
                                    <a:ea typeface="Cambria Math" panose="02040503050406030204" pitchFamily="18" charset="0"/>
                                  </a:rPr>
                                  <m:t>−1</m:t>
                                </m:r>
                              </m:sub>
                            </m:sSub>
                            <m:r>
                              <a:rPr lang="pt-BR" sz="1800" i="1">
                                <a:latin typeface="Cambria Math" panose="02040503050406030204" pitchFamily="18" charset="0"/>
                                <a:ea typeface="Cambria Math" panose="02040503050406030204" pitchFamily="18" charset="0"/>
                              </a:rPr>
                              <m:t>,</m:t>
                            </m:r>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𝒙</m:t>
                                </m:r>
                              </m:e>
                              <m:sub>
                                <m:r>
                                  <a:rPr lang="pt-BR" sz="1800" i="1">
                                    <a:latin typeface="Cambria Math" panose="02040503050406030204" pitchFamily="18" charset="0"/>
                                    <a:ea typeface="Cambria Math" panose="02040503050406030204" pitchFamily="18" charset="0"/>
                                  </a:rPr>
                                  <m:t>𝑡</m:t>
                                </m:r>
                              </m:sub>
                            </m:sSub>
                          </m:e>
                        </m:d>
                      </m:oMath>
                    </m:oMathPara>
                  </a14:m>
                  <a:endParaRPr lang="en-US" dirty="0"/>
                </a:p>
              </p:txBody>
            </p:sp>
          </mc:Choice>
          <mc:Fallback xmlns="">
            <p:sp>
              <p:nvSpPr>
                <p:cNvPr id="19" name="CaixaDeTexto 18">
                  <a:extLst>
                    <a:ext uri="{FF2B5EF4-FFF2-40B4-BE49-F238E27FC236}">
                      <a16:creationId xmlns:a16="http://schemas.microsoft.com/office/drawing/2014/main" id="{C01E9F4C-7EDD-1C6A-9412-7B67716D803E}"/>
                    </a:ext>
                  </a:extLst>
                </p:cNvPr>
                <p:cNvSpPr txBox="1">
                  <a:spLocks noRot="1" noChangeAspect="1" noMove="1" noResize="1" noEditPoints="1" noAdjustHandles="1" noChangeArrowheads="1" noChangeShapeType="1" noTextEdit="1"/>
                </p:cNvSpPr>
                <p:nvPr/>
              </p:nvSpPr>
              <p:spPr>
                <a:xfrm>
                  <a:off x="776813" y="4192181"/>
                  <a:ext cx="1322745" cy="369332"/>
                </a:xfrm>
                <a:prstGeom prst="rect">
                  <a:avLst/>
                </a:prstGeom>
                <a:blipFill>
                  <a:blip r:embed="rId2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5483620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1C906-BA12-06E8-B408-AC00764492D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a16="http://schemas.microsoft.com/office/drawing/2014/main"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a16="http://schemas.microsoft.com/office/drawing/2014/main"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1D64E-2469-FC63-F655-1FF1BC1DD72B}"/>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a16="http://schemas.microsoft.com/office/drawing/2014/main"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a16="http://schemas.microsoft.com/office/drawing/2014/main"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a16="http://schemas.microsoft.com/office/drawing/2014/main"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34DB3-EF34-ECEA-612A-5AF4DB057051}"/>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a16="http://schemas.microsoft.com/office/drawing/2014/main"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a16="http://schemas.microsoft.com/office/drawing/2014/main"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a16="http://schemas.microsoft.com/office/drawing/2014/main"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a16="http://schemas.microsoft.com/office/drawing/2014/main"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a16="http://schemas.microsoft.com/office/drawing/2014/main"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84BF1A6-CB8D-11E0-69DF-1D0112A2A4FC}"/>
                    </a:ext>
                  </a:extLst>
                </p:cNvPr>
                <p:cNvSpPr txBox="1"/>
                <p:nvPr/>
              </p:nvSpPr>
              <p:spPr>
                <a:xfrm>
                  <a:off x="5993968" y="3389277"/>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93968" y="3389277"/>
                  <a:ext cx="442364" cy="369332"/>
                </a:xfrm>
                <a:prstGeom prst="rect">
                  <a:avLst/>
                </a:prstGeom>
                <a:blipFill>
                  <a:blip r:embed="rId8"/>
                  <a:stretch>
                    <a:fillRect r="-2778"/>
                  </a:stretch>
                </a:blipFill>
              </p:spPr>
              <p:txBody>
                <a:bodyPr/>
                <a:lstStyle/>
                <a:p>
                  <a:r>
                    <a:rPr lang="en-US">
                      <a:noFill/>
                    </a:rPr>
                    <a:t> </a:t>
                  </a:r>
                </a:p>
              </p:txBody>
            </p:sp>
          </mc:Fallback>
        </mc:AlternateContent>
        <p:cxnSp>
          <p:nvCxnSpPr>
            <p:cNvPr id="19" name="Connector: Elbow 18">
              <a:extLst>
                <a:ext uri="{FF2B5EF4-FFF2-40B4-BE49-F238E27FC236}">
                  <a16:creationId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4AEBB-1DB3-0C45-B06E-B6487708D94E}"/>
            </a:ext>
          </a:extLst>
        </p:cNvPr>
        <p:cNvGrpSpPr/>
        <p:nvPr/>
      </p:nvGrpSpPr>
      <p:grpSpPr>
        <a:xfrm>
          <a:off x="0" y="0"/>
          <a:ext cx="0" cy="0"/>
          <a:chOff x="0" y="0"/>
          <a:chExt cx="0" cy="0"/>
        </a:xfrm>
      </p:grpSpPr>
      <p:grpSp>
        <p:nvGrpSpPr>
          <p:cNvPr id="2" name="Grupo 1"/>
          <p:cNvGrpSpPr/>
          <p:nvPr/>
        </p:nvGrpSpPr>
        <p:grpSpPr>
          <a:xfrm>
            <a:off x="1000551" y="722618"/>
            <a:ext cx="4928922" cy="2713085"/>
            <a:chOff x="3581399" y="2111642"/>
            <a:chExt cx="4928922" cy="2713085"/>
          </a:xfrm>
        </p:grpSpPr>
        <p:sp>
          <p:nvSpPr>
            <p:cNvPr id="134" name="Rectangle: Rounded Corners 133">
              <a:extLst>
                <a:ext uri="{FF2B5EF4-FFF2-40B4-BE49-F238E27FC236}">
                  <a16:creationId xmlns:a16="http://schemas.microsoft.com/office/drawing/2014/main"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a16="http://schemas.microsoft.com/office/drawing/2014/main"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a16="http://schemas.microsoft.com/office/drawing/2014/main"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a16="http://schemas.microsoft.com/office/drawing/2014/main"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a16="http://schemas.microsoft.com/office/drawing/2014/main"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39" name="Oval 138">
              <a:extLst>
                <a:ext uri="{FF2B5EF4-FFF2-40B4-BE49-F238E27FC236}">
                  <a16:creationId xmlns:a16="http://schemas.microsoft.com/office/drawing/2014/main"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 xmlns:a16="http://schemas.microsoft.com/office/drawing/2014/main" xmlns:a14="http://schemas.microsoft.com/office/drawing/2010/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rotWithShape="0">
                  <a:blip r:embed="rId3"/>
                  <a:stretch>
                    <a:fillRect r="-15476"/>
                  </a:stretch>
                </a:blipFill>
              </p:spPr>
              <p:txBody>
                <a:bodyPr/>
                <a:lstStyle/>
                <a:p>
                  <a:r>
                    <a:rPr lang="pt-BR">
                      <a:noFill/>
                    </a:rPr>
                    <a:t> </a:t>
                  </a:r>
                </a:p>
              </p:txBody>
            </p:sp>
          </mc:Fallback>
        </mc:AlternateContent>
        <p:sp>
          <p:nvSpPr>
            <p:cNvPr id="141" name="Oval 140">
              <a:extLst>
                <a:ext uri="{FF2B5EF4-FFF2-40B4-BE49-F238E27FC236}">
                  <a16:creationId xmlns:a16="http://schemas.microsoft.com/office/drawing/2014/main"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a16="http://schemas.microsoft.com/office/drawing/2014/main"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 xmlns:a16="http://schemas.microsoft.com/office/drawing/2014/main" xmlns:a14="http://schemas.microsoft.com/office/drawing/2010/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a16="http://schemas.microsoft.com/office/drawing/2014/main"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 xmlns:a16="http://schemas.microsoft.com/office/drawing/2014/main" xmlns:a14="http://schemas.microsoft.com/office/drawing/2010/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44" name="Oval 143">
              <a:extLst>
                <a:ext uri="{FF2B5EF4-FFF2-40B4-BE49-F238E27FC236}">
                  <a16:creationId xmlns:a16="http://schemas.microsoft.com/office/drawing/2014/main"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a16="http://schemas.microsoft.com/office/drawing/2014/main"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a16="http://schemas.microsoft.com/office/drawing/2014/main"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a16="http://schemas.microsoft.com/office/drawing/2014/main"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rotWithShape="0">
                  <a:blip r:embed="rId6"/>
                  <a:stretch>
                    <a:fillRect/>
                  </a:stretch>
                </a:blipFill>
              </p:spPr>
              <p:txBody>
                <a:bodyPr/>
                <a:lstStyle/>
                <a:p>
                  <a:r>
                    <a:rPr lang="pt-BR">
                      <a:noFill/>
                    </a:rPr>
                    <a:t> </a:t>
                  </a:r>
                </a:p>
              </p:txBody>
            </p:sp>
          </mc:Fallback>
        </mc:AlternateContent>
        <p:cxnSp>
          <p:nvCxnSpPr>
            <p:cNvPr id="153" name="Connector: Elbow 152">
              <a:extLst>
                <a:ext uri="{FF2B5EF4-FFF2-40B4-BE49-F238E27FC236}">
                  <a16:creationId xmlns:a16="http://schemas.microsoft.com/office/drawing/2014/main"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a16="http://schemas.microsoft.com/office/drawing/2014/main"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 xmlns:a16="http://schemas.microsoft.com/office/drawing/2014/main" xmlns:a14="http://schemas.microsoft.com/office/drawing/2010/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rotWithShape="0">
                  <a:blip r:embed="rId7"/>
                  <a:stretch>
                    <a:fillRect/>
                  </a:stretch>
                </a:blipFill>
              </p:spPr>
              <p:txBody>
                <a:bodyPr/>
                <a:lstStyle/>
                <a:p>
                  <a:r>
                    <a:rPr lang="pt-BR">
                      <a:noFill/>
                    </a:rPr>
                    <a:t> </a:t>
                  </a:r>
                </a:p>
              </p:txBody>
            </p:sp>
          </mc:Fallback>
        </mc:AlternateContent>
        <p:cxnSp>
          <p:nvCxnSpPr>
            <p:cNvPr id="157" name="Connector: Elbow 156">
              <a:extLst>
                <a:ext uri="{FF2B5EF4-FFF2-40B4-BE49-F238E27FC236}">
                  <a16:creationId xmlns:a16="http://schemas.microsoft.com/office/drawing/2014/main"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a16="http://schemas.microsoft.com/office/drawing/2014/main"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a16="http://schemas.microsoft.com/office/drawing/2014/main"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a16="http://schemas.microsoft.com/office/drawing/2014/main"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a16="http://schemas.microsoft.com/office/drawing/2014/main"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 xmlns:a16="http://schemas.microsoft.com/office/drawing/2014/main" xmlns:a14="http://schemas.microsoft.com/office/drawing/2010/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 xmlns:a16="http://schemas.microsoft.com/office/drawing/2014/main" xmlns:a14="http://schemas.microsoft.com/office/drawing/2010/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 xmlns:a16="http://schemas.microsoft.com/office/drawing/2014/main" xmlns:a14="http://schemas.microsoft.com/office/drawing/2010/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rotWithShape="0">
                  <a:blip r:embed="rId10"/>
                  <a:stretch>
                    <a:fillRect t="-7937" r="-5195"/>
                  </a:stretch>
                </a:blipFill>
              </p:spPr>
              <p:txBody>
                <a:bodyPr/>
                <a:lstStyle/>
                <a:p>
                  <a:r>
                    <a:rPr lang="pt-BR">
                      <a:noFill/>
                    </a:rPr>
                    <a:t> </a:t>
                  </a:r>
                </a:p>
              </p:txBody>
            </p:sp>
          </mc:Fallback>
        </mc:AlternateContent>
        <p:cxnSp>
          <p:nvCxnSpPr>
            <p:cNvPr id="173" name="Straight Arrow Connector 172">
              <a:extLst>
                <a:ext uri="{FF2B5EF4-FFF2-40B4-BE49-F238E27FC236}">
                  <a16:creationId xmlns:a16="http://schemas.microsoft.com/office/drawing/2014/main"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a16="http://schemas.microsoft.com/office/drawing/2014/main"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8" name="TextBox 151">
                  <a:extLst>
                    <a:ext uri="{FF2B5EF4-FFF2-40B4-BE49-F238E27FC236}">
                      <a16:creationId xmlns:a16="http://schemas.microsoft.com/office/drawing/2014/main" id="{13433DA1-D8F5-0EEE-EEC8-A05EC5E55CCC}"/>
                    </a:ext>
                  </a:extLst>
                </p:cNvPr>
                <p:cNvSpPr txBox="1"/>
                <p:nvPr/>
              </p:nvSpPr>
              <p:spPr>
                <a:xfrm>
                  <a:off x="7964857" y="2111642"/>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38"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7964857" y="2111642"/>
                  <a:ext cx="363844" cy="369332"/>
                </a:xfrm>
                <a:prstGeom prst="rect">
                  <a:avLst/>
                </a:prstGeom>
                <a:blipFill rotWithShape="0">
                  <a:blip r:embed="rId11"/>
                  <a:stretch>
                    <a:fillRect r="-1695"/>
                  </a:stretch>
                </a:blipFill>
              </p:spPr>
              <p:txBody>
                <a:bodyPr/>
                <a:lstStyle/>
                <a:p>
                  <a:r>
                    <a:rPr lang="pt-BR">
                      <a:noFill/>
                    </a:rPr>
                    <a:t> </a:t>
                  </a:r>
                </a:p>
              </p:txBody>
            </p:sp>
          </mc:Fallback>
        </mc:AlternateContent>
      </p:grpSp>
      <p:grpSp>
        <p:nvGrpSpPr>
          <p:cNvPr id="83" name="Agrupar 82">
            <a:extLst>
              <a:ext uri="{FF2B5EF4-FFF2-40B4-BE49-F238E27FC236}">
                <a16:creationId xmlns:a16="http://schemas.microsoft.com/office/drawing/2014/main" id="{3829C9C8-68E0-A161-6783-8325BBD0C9AF}"/>
              </a:ext>
            </a:extLst>
          </p:cNvPr>
          <p:cNvGrpSpPr/>
          <p:nvPr/>
        </p:nvGrpSpPr>
        <p:grpSpPr>
          <a:xfrm>
            <a:off x="1393870" y="3892247"/>
            <a:ext cx="4928922" cy="2713085"/>
            <a:chOff x="1393870" y="3892247"/>
            <a:chExt cx="4928922" cy="2713085"/>
          </a:xfrm>
        </p:grpSpPr>
        <p:sp>
          <p:nvSpPr>
            <p:cNvPr id="5" name="Rectangle: Rounded Corners 133">
              <a:extLst>
                <a:ext uri="{FF2B5EF4-FFF2-40B4-BE49-F238E27FC236}">
                  <a16:creationId xmlns:a16="http://schemas.microsoft.com/office/drawing/2014/main" id="{76B82460-6712-509A-7F39-7E3342D21837}"/>
                </a:ext>
              </a:extLst>
            </p:cNvPr>
            <p:cNvSpPr/>
            <p:nvPr/>
          </p:nvSpPr>
          <p:spPr>
            <a:xfrm>
              <a:off x="2113647" y="4219005"/>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6" name="Straight Arrow Connector 134">
              <a:extLst>
                <a:ext uri="{FF2B5EF4-FFF2-40B4-BE49-F238E27FC236}">
                  <a16:creationId xmlns:a16="http://schemas.microsoft.com/office/drawing/2014/main" id="{00825B81-BABB-775B-C142-3EB6C20FB5E5}"/>
                </a:ext>
              </a:extLst>
            </p:cNvPr>
            <p:cNvCxnSpPr>
              <a:cxnSpLocks/>
            </p:cNvCxnSpPr>
            <p:nvPr/>
          </p:nvCxnSpPr>
          <p:spPr>
            <a:xfrm flipV="1">
              <a:off x="5736620" y="4025478"/>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7" name="Oval 135">
              <a:extLst>
                <a:ext uri="{FF2B5EF4-FFF2-40B4-BE49-F238E27FC236}">
                  <a16:creationId xmlns:a16="http://schemas.microsoft.com/office/drawing/2014/main" id="{299B97CD-2596-41F1-C944-D841B055FD4F}"/>
                </a:ext>
              </a:extLst>
            </p:cNvPr>
            <p:cNvSpPr/>
            <p:nvPr/>
          </p:nvSpPr>
          <p:spPr>
            <a:xfrm>
              <a:off x="2546073" y="49684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 name="Oval 136">
              <a:extLst>
                <a:ext uri="{FF2B5EF4-FFF2-40B4-BE49-F238E27FC236}">
                  <a16:creationId xmlns:a16="http://schemas.microsoft.com/office/drawing/2014/main" id="{5A2821D2-04DD-590C-E6EF-7FEB220F2DD9}"/>
                </a:ext>
              </a:extLst>
            </p:cNvPr>
            <p:cNvSpPr/>
            <p:nvPr/>
          </p:nvSpPr>
          <p:spPr>
            <a:xfrm>
              <a:off x="4048952"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 name="Rectangle 137">
              <a:extLst>
                <a:ext uri="{FF2B5EF4-FFF2-40B4-BE49-F238E27FC236}">
                  <a16:creationId xmlns:a16="http://schemas.microsoft.com/office/drawing/2014/main" id="{51169341-7C6A-C220-1721-4F73952EEF3F}"/>
                </a:ext>
              </a:extLst>
            </p:cNvPr>
            <p:cNvSpPr/>
            <p:nvPr/>
          </p:nvSpPr>
          <p:spPr>
            <a:xfrm>
              <a:off x="4889202" y="539301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0" name="Oval 138">
              <a:extLst>
                <a:ext uri="{FF2B5EF4-FFF2-40B4-BE49-F238E27FC236}">
                  <a16:creationId xmlns:a16="http://schemas.microsoft.com/office/drawing/2014/main" id="{66B6166C-B62E-A0A3-1C8F-5870F25564FC}"/>
                </a:ext>
              </a:extLst>
            </p:cNvPr>
            <p:cNvSpPr/>
            <p:nvPr/>
          </p:nvSpPr>
          <p:spPr>
            <a:xfrm>
              <a:off x="5060068"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TextBox 139">
                  <a:extLst>
                    <a:ext uri="{FF2B5EF4-FFF2-40B4-BE49-F238E27FC236}">
                      <a16:creationId xmlns:a16="http://schemas.microsoft.com/office/drawing/2014/main" id="{14D576C3-4CC9-E995-4273-0A0504F1DC54}"/>
                    </a:ext>
                  </a:extLst>
                </p:cNvPr>
                <p:cNvSpPr txBox="1"/>
                <p:nvPr/>
              </p:nvSpPr>
              <p:spPr>
                <a:xfrm>
                  <a:off x="1393870" y="4300796"/>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1" name="TextBox 139">
                  <a:extLst>
                    <a:ext uri="{FF2B5EF4-FFF2-40B4-BE49-F238E27FC236}">
                      <a16:creationId xmlns:a16="http://schemas.microsoft.com/office/drawing/2014/main" id="{14D576C3-4CC9-E995-4273-0A0504F1DC54}"/>
                    </a:ext>
                  </a:extLst>
                </p:cNvPr>
                <p:cNvSpPr txBox="1">
                  <a:spLocks noRot="1" noChangeAspect="1" noMove="1" noResize="1" noEditPoints="1" noAdjustHandles="1" noChangeArrowheads="1" noChangeShapeType="1" noTextEdit="1"/>
                </p:cNvSpPr>
                <p:nvPr/>
              </p:nvSpPr>
              <p:spPr>
                <a:xfrm>
                  <a:off x="1393870" y="4300796"/>
                  <a:ext cx="511583" cy="369332"/>
                </a:xfrm>
                <a:prstGeom prst="rect">
                  <a:avLst/>
                </a:prstGeom>
                <a:blipFill>
                  <a:blip r:embed="rId12"/>
                  <a:stretch>
                    <a:fillRect r="-14286"/>
                  </a:stretch>
                </a:blipFill>
              </p:spPr>
              <p:txBody>
                <a:bodyPr/>
                <a:lstStyle/>
                <a:p>
                  <a:r>
                    <a:rPr lang="en-US">
                      <a:noFill/>
                    </a:rPr>
                    <a:t> </a:t>
                  </a:r>
                </a:p>
              </p:txBody>
            </p:sp>
          </mc:Fallback>
        </mc:AlternateContent>
        <p:sp>
          <p:nvSpPr>
            <p:cNvPr id="12" name="Oval 140">
              <a:extLst>
                <a:ext uri="{FF2B5EF4-FFF2-40B4-BE49-F238E27FC236}">
                  <a16:creationId xmlns:a16="http://schemas.microsoft.com/office/drawing/2014/main" id="{E32641F0-F42D-21EA-BC6A-9B9282C4533E}"/>
                </a:ext>
              </a:extLst>
            </p:cNvPr>
            <p:cNvSpPr/>
            <p:nvPr/>
          </p:nvSpPr>
          <p:spPr>
            <a:xfrm>
              <a:off x="5060068" y="48668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3" name="Rectangle 141">
                  <a:extLst>
                    <a:ext uri="{FF2B5EF4-FFF2-40B4-BE49-F238E27FC236}">
                      <a16:creationId xmlns:a16="http://schemas.microsoft.com/office/drawing/2014/main" id="{C3636391-8219-5A2B-D717-423AC3B27F6E}"/>
                    </a:ext>
                  </a:extLst>
                </p:cNvPr>
                <p:cNvSpPr/>
                <p:nvPr/>
              </p:nvSpPr>
              <p:spPr>
                <a:xfrm>
                  <a:off x="4018904" y="5387770"/>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3" name="Rectangle 141">
                  <a:extLst>
                    <a:ext uri="{FF2B5EF4-FFF2-40B4-BE49-F238E27FC236}">
                      <a16:creationId xmlns:a16="http://schemas.microsoft.com/office/drawing/2014/main" id="{C3636391-8219-5A2B-D717-423AC3B27F6E}"/>
                    </a:ext>
                  </a:extLst>
                </p:cNvPr>
                <p:cNvSpPr>
                  <a:spLocks noRot="1" noChangeAspect="1" noMove="1" noResize="1" noEditPoints="1" noAdjustHandles="1" noChangeArrowheads="1" noChangeShapeType="1" noTextEdit="1"/>
                </p:cNvSpPr>
                <p:nvPr/>
              </p:nvSpPr>
              <p:spPr>
                <a:xfrm>
                  <a:off x="4018904" y="5387770"/>
                  <a:ext cx="332510" cy="29787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42">
                  <a:extLst>
                    <a:ext uri="{FF2B5EF4-FFF2-40B4-BE49-F238E27FC236}">
                      <a16:creationId xmlns:a16="http://schemas.microsoft.com/office/drawing/2014/main" id="{E0E83C28-82ED-F423-E8E9-0253AE0C615B}"/>
                    </a:ext>
                  </a:extLst>
                </p:cNvPr>
                <p:cNvSpPr/>
                <p:nvPr/>
              </p:nvSpPr>
              <p:spPr>
                <a:xfrm>
                  <a:off x="3139082" y="539065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42">
                  <a:extLst>
                    <a:ext uri="{FF2B5EF4-FFF2-40B4-BE49-F238E27FC236}">
                      <a16:creationId xmlns:a16="http://schemas.microsoft.com/office/drawing/2014/main" id="{E0E83C28-82ED-F423-E8E9-0253AE0C615B}"/>
                    </a:ext>
                  </a:extLst>
                </p:cNvPr>
                <p:cNvSpPr>
                  <a:spLocks noRot="1" noChangeAspect="1" noMove="1" noResize="1" noEditPoints="1" noAdjustHandles="1" noChangeArrowheads="1" noChangeShapeType="1" noTextEdit="1"/>
                </p:cNvSpPr>
                <p:nvPr/>
              </p:nvSpPr>
              <p:spPr>
                <a:xfrm>
                  <a:off x="3139082" y="5390656"/>
                  <a:ext cx="332510" cy="297872"/>
                </a:xfrm>
                <a:prstGeom prst="rect">
                  <a:avLst/>
                </a:prstGeom>
                <a:blipFill>
                  <a:blip r:embed="rId14"/>
                  <a:stretch>
                    <a:fillRect/>
                  </a:stretch>
                </a:blipFill>
              </p:spPr>
              <p:txBody>
                <a:bodyPr/>
                <a:lstStyle/>
                <a:p>
                  <a:r>
                    <a:rPr lang="en-US">
                      <a:noFill/>
                    </a:rPr>
                    <a:t> </a:t>
                  </a:r>
                </a:p>
              </p:txBody>
            </p:sp>
          </mc:Fallback>
        </mc:AlternateContent>
        <p:sp>
          <p:nvSpPr>
            <p:cNvPr id="15" name="Oval 143">
              <a:extLst>
                <a:ext uri="{FF2B5EF4-FFF2-40B4-BE49-F238E27FC236}">
                  <a16:creationId xmlns:a16="http://schemas.microsoft.com/office/drawing/2014/main" id="{041396E0-C58E-16C3-3F28-E205627319DE}"/>
                </a:ext>
              </a:extLst>
            </p:cNvPr>
            <p:cNvSpPr/>
            <p:nvPr/>
          </p:nvSpPr>
          <p:spPr>
            <a:xfrm>
              <a:off x="4492549" y="48655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6" name="Straight Connector 144">
              <a:extLst>
                <a:ext uri="{FF2B5EF4-FFF2-40B4-BE49-F238E27FC236}">
                  <a16:creationId xmlns:a16="http://schemas.microsoft.com/office/drawing/2014/main" id="{329DFF21-ACA5-F8F3-FBE8-F05E18912B49}"/>
                </a:ext>
              </a:extLst>
            </p:cNvPr>
            <p:cNvCxnSpPr>
              <a:cxnSpLocks/>
              <a:stCxn id="11" idx="3"/>
              <a:endCxn id="8" idx="2"/>
            </p:cNvCxnSpPr>
            <p:nvPr/>
          </p:nvCxnSpPr>
          <p:spPr>
            <a:xfrm>
              <a:off x="1905453" y="4485462"/>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7" name="Straight Arrow Connector 145">
              <a:extLst>
                <a:ext uri="{FF2B5EF4-FFF2-40B4-BE49-F238E27FC236}">
                  <a16:creationId xmlns:a16="http://schemas.microsoft.com/office/drawing/2014/main" id="{BD8F51DA-A7F5-1B2D-C65A-52E31CC37001}"/>
                </a:ext>
              </a:extLst>
            </p:cNvPr>
            <p:cNvCxnSpPr>
              <a:cxnSpLocks/>
              <a:stCxn id="13" idx="0"/>
              <a:endCxn id="8" idx="4"/>
            </p:cNvCxnSpPr>
            <p:nvPr/>
          </p:nvCxnSpPr>
          <p:spPr>
            <a:xfrm flipV="1">
              <a:off x="4185159" y="4630003"/>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46">
              <a:extLst>
                <a:ext uri="{FF2B5EF4-FFF2-40B4-BE49-F238E27FC236}">
                  <a16:creationId xmlns:a16="http://schemas.microsoft.com/office/drawing/2014/main" id="{8DC40D2B-03A4-E6E0-8F28-A1C990D606DB}"/>
                </a:ext>
              </a:extLst>
            </p:cNvPr>
            <p:cNvSpPr txBox="1"/>
            <p:nvPr/>
          </p:nvSpPr>
          <p:spPr>
            <a:xfrm>
              <a:off x="4455484" y="4817407"/>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9" name="Straight Connector 147">
              <a:extLst>
                <a:ext uri="{FF2B5EF4-FFF2-40B4-BE49-F238E27FC236}">
                  <a16:creationId xmlns:a16="http://schemas.microsoft.com/office/drawing/2014/main" id="{CDA71C24-089D-2774-5617-65EA4D14DEA6}"/>
                </a:ext>
              </a:extLst>
            </p:cNvPr>
            <p:cNvCxnSpPr>
              <a:stCxn id="8" idx="6"/>
              <a:endCxn id="10" idx="2"/>
            </p:cNvCxnSpPr>
            <p:nvPr/>
          </p:nvCxnSpPr>
          <p:spPr>
            <a:xfrm>
              <a:off x="4322002" y="4493478"/>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48">
              <a:extLst>
                <a:ext uri="{FF2B5EF4-FFF2-40B4-BE49-F238E27FC236}">
                  <a16:creationId xmlns:a16="http://schemas.microsoft.com/office/drawing/2014/main" id="{2C2EE00C-3585-DF73-1A5B-40B6ADF20BE2}"/>
                </a:ext>
              </a:extLst>
            </p:cNvPr>
            <p:cNvCxnSpPr>
              <a:stCxn id="12" idx="0"/>
              <a:endCxn id="10" idx="4"/>
            </p:cNvCxnSpPr>
            <p:nvPr/>
          </p:nvCxnSpPr>
          <p:spPr>
            <a:xfrm flipV="1">
              <a:off x="5196593" y="4630003"/>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149">
              <a:extLst>
                <a:ext uri="{FF2B5EF4-FFF2-40B4-BE49-F238E27FC236}">
                  <a16:creationId xmlns:a16="http://schemas.microsoft.com/office/drawing/2014/main" id="{B4CA279F-EB35-30D6-EFCA-25E43EFC16BE}"/>
                </a:ext>
              </a:extLst>
            </p:cNvPr>
            <p:cNvCxnSpPr>
              <a:cxnSpLocks/>
              <a:stCxn id="9" idx="0"/>
              <a:endCxn id="12" idx="4"/>
            </p:cNvCxnSpPr>
            <p:nvPr/>
          </p:nvCxnSpPr>
          <p:spPr>
            <a:xfrm flipV="1">
              <a:off x="5196593" y="5139920"/>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Straight Arrow Connector 150">
              <a:extLst>
                <a:ext uri="{FF2B5EF4-FFF2-40B4-BE49-F238E27FC236}">
                  <a16:creationId xmlns:a16="http://schemas.microsoft.com/office/drawing/2014/main" id="{BDEBB756-37EB-569D-DA71-65F80EDBF030}"/>
                </a:ext>
              </a:extLst>
            </p:cNvPr>
            <p:cNvCxnSpPr>
              <a:cxnSpLocks/>
              <a:stCxn id="10" idx="6"/>
            </p:cNvCxnSpPr>
            <p:nvPr/>
          </p:nvCxnSpPr>
          <p:spPr>
            <a:xfrm>
              <a:off x="5333117" y="4493478"/>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151">
                  <a:extLst>
                    <a:ext uri="{FF2B5EF4-FFF2-40B4-BE49-F238E27FC236}">
                      <a16:creationId xmlns:a16="http://schemas.microsoft.com/office/drawing/2014/main" id="{213CE53E-9D45-277F-6053-A932079CC9B1}"/>
                    </a:ext>
                  </a:extLst>
                </p:cNvPr>
                <p:cNvSpPr txBox="1"/>
                <p:nvPr/>
              </p:nvSpPr>
              <p:spPr>
                <a:xfrm>
                  <a:off x="5958948" y="430079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3" name="TextBox 151">
                  <a:extLst>
                    <a:ext uri="{FF2B5EF4-FFF2-40B4-BE49-F238E27FC236}">
                      <a16:creationId xmlns:a16="http://schemas.microsoft.com/office/drawing/2014/main" id="{213CE53E-9D45-277F-6053-A932079CC9B1}"/>
                    </a:ext>
                  </a:extLst>
                </p:cNvPr>
                <p:cNvSpPr txBox="1">
                  <a:spLocks noRot="1" noChangeAspect="1" noMove="1" noResize="1" noEditPoints="1" noAdjustHandles="1" noChangeArrowheads="1" noChangeShapeType="1" noTextEdit="1"/>
                </p:cNvSpPr>
                <p:nvPr/>
              </p:nvSpPr>
              <p:spPr>
                <a:xfrm>
                  <a:off x="5958948" y="4300796"/>
                  <a:ext cx="363844" cy="369332"/>
                </a:xfrm>
                <a:prstGeom prst="rect">
                  <a:avLst/>
                </a:prstGeom>
                <a:blipFill>
                  <a:blip r:embed="rId15"/>
                  <a:stretch>
                    <a:fillRect/>
                  </a:stretch>
                </a:blipFill>
              </p:spPr>
              <p:txBody>
                <a:bodyPr/>
                <a:lstStyle/>
                <a:p>
                  <a:r>
                    <a:rPr lang="en-US">
                      <a:noFill/>
                    </a:rPr>
                    <a:t> </a:t>
                  </a:r>
                </a:p>
              </p:txBody>
            </p:sp>
          </mc:Fallback>
        </mc:AlternateContent>
        <p:cxnSp>
          <p:nvCxnSpPr>
            <p:cNvPr id="24" name="Connector: Elbow 152">
              <a:extLst>
                <a:ext uri="{FF2B5EF4-FFF2-40B4-BE49-F238E27FC236}">
                  <a16:creationId xmlns:a16="http://schemas.microsoft.com/office/drawing/2014/main" id="{4FF11D69-F448-12A8-95B0-78E5BDBD95AA}"/>
                </a:ext>
              </a:extLst>
            </p:cNvPr>
            <p:cNvCxnSpPr>
              <a:stCxn id="14" idx="0"/>
              <a:endCxn id="7" idx="6"/>
            </p:cNvCxnSpPr>
            <p:nvPr/>
          </p:nvCxnSpPr>
          <p:spPr>
            <a:xfrm rot="16200000" flipV="1">
              <a:off x="2919400" y="5004719"/>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5" name="Straight Connector 153">
              <a:extLst>
                <a:ext uri="{FF2B5EF4-FFF2-40B4-BE49-F238E27FC236}">
                  <a16:creationId xmlns:a16="http://schemas.microsoft.com/office/drawing/2014/main" id="{C85D28FD-CBC7-37E0-25B1-EF2F02F553F2}"/>
                </a:ext>
              </a:extLst>
            </p:cNvPr>
            <p:cNvCxnSpPr/>
            <p:nvPr/>
          </p:nvCxnSpPr>
          <p:spPr>
            <a:xfrm flipV="1">
              <a:off x="2682598" y="4493478"/>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155">
                  <a:extLst>
                    <a:ext uri="{FF2B5EF4-FFF2-40B4-BE49-F238E27FC236}">
                      <a16:creationId xmlns:a16="http://schemas.microsoft.com/office/drawing/2014/main" id="{6871C6B9-2768-B203-7CBF-BD84246AE9AC}"/>
                    </a:ext>
                  </a:extLst>
                </p:cNvPr>
                <p:cNvSpPr txBox="1"/>
                <p:nvPr/>
              </p:nvSpPr>
              <p:spPr>
                <a:xfrm>
                  <a:off x="2083263" y="6236000"/>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155">
                  <a:extLst>
                    <a:ext uri="{FF2B5EF4-FFF2-40B4-BE49-F238E27FC236}">
                      <a16:creationId xmlns:a16="http://schemas.microsoft.com/office/drawing/2014/main" id="{6871C6B9-2768-B203-7CBF-BD84246AE9AC}"/>
                    </a:ext>
                  </a:extLst>
                </p:cNvPr>
                <p:cNvSpPr txBox="1">
                  <a:spLocks noRot="1" noChangeAspect="1" noMove="1" noResize="1" noEditPoints="1" noAdjustHandles="1" noChangeArrowheads="1" noChangeShapeType="1" noTextEdit="1"/>
                </p:cNvSpPr>
                <p:nvPr/>
              </p:nvSpPr>
              <p:spPr>
                <a:xfrm>
                  <a:off x="2083263" y="6236000"/>
                  <a:ext cx="458394" cy="369332"/>
                </a:xfrm>
                <a:prstGeom prst="rect">
                  <a:avLst/>
                </a:prstGeom>
                <a:blipFill>
                  <a:blip r:embed="rId16"/>
                  <a:stretch>
                    <a:fillRect/>
                  </a:stretch>
                </a:blipFill>
              </p:spPr>
              <p:txBody>
                <a:bodyPr/>
                <a:lstStyle/>
                <a:p>
                  <a:r>
                    <a:rPr lang="en-US">
                      <a:noFill/>
                    </a:rPr>
                    <a:t> </a:t>
                  </a:r>
                </a:p>
              </p:txBody>
            </p:sp>
          </mc:Fallback>
        </mc:AlternateContent>
        <p:cxnSp>
          <p:nvCxnSpPr>
            <p:cNvPr id="28" name="Connector: Elbow 156">
              <a:extLst>
                <a:ext uri="{FF2B5EF4-FFF2-40B4-BE49-F238E27FC236}">
                  <a16:creationId xmlns:a16="http://schemas.microsoft.com/office/drawing/2014/main" id="{DEC0DAD1-6E1E-2C3D-2296-C329C2DB3833}"/>
                </a:ext>
              </a:extLst>
            </p:cNvPr>
            <p:cNvCxnSpPr>
              <a:cxnSpLocks/>
            </p:cNvCxnSpPr>
            <p:nvPr/>
          </p:nvCxnSpPr>
          <p:spPr>
            <a:xfrm rot="5400000">
              <a:off x="3591796" y="4406495"/>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157">
              <a:extLst>
                <a:ext uri="{FF2B5EF4-FFF2-40B4-BE49-F238E27FC236}">
                  <a16:creationId xmlns:a16="http://schemas.microsoft.com/office/drawing/2014/main" id="{4EA62229-0791-55FD-3E6E-71532C8BDCB1}"/>
                </a:ext>
              </a:extLst>
            </p:cNvPr>
            <p:cNvCxnSpPr/>
            <p:nvPr/>
          </p:nvCxnSpPr>
          <p:spPr>
            <a:xfrm flipV="1">
              <a:off x="2314621" y="4493478"/>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Connector: Elbow 158">
              <a:extLst>
                <a:ext uri="{FF2B5EF4-FFF2-40B4-BE49-F238E27FC236}">
                  <a16:creationId xmlns:a16="http://schemas.microsoft.com/office/drawing/2014/main" id="{EA1DA73A-2215-EBA2-9BBC-A62FB48161EE}"/>
                </a:ext>
              </a:extLst>
            </p:cNvPr>
            <p:cNvCxnSpPr>
              <a:cxnSpLocks/>
              <a:stCxn id="31" idx="2"/>
              <a:endCxn id="13" idx="2"/>
            </p:cNvCxnSpPr>
            <p:nvPr/>
          </p:nvCxnSpPr>
          <p:spPr>
            <a:xfrm flipV="1">
              <a:off x="2413045" y="5685642"/>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1" name="Freeform: Shape 159">
              <a:extLst>
                <a:ext uri="{FF2B5EF4-FFF2-40B4-BE49-F238E27FC236}">
                  <a16:creationId xmlns:a16="http://schemas.microsoft.com/office/drawing/2014/main" id="{894E7D26-6B82-2506-9B0D-661DCACF7BB7}"/>
                </a:ext>
              </a:extLst>
            </p:cNvPr>
            <p:cNvSpPr/>
            <p:nvPr/>
          </p:nvSpPr>
          <p:spPr>
            <a:xfrm>
              <a:off x="2308270" y="558346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160">
              <a:extLst>
                <a:ext uri="{FF2B5EF4-FFF2-40B4-BE49-F238E27FC236}">
                  <a16:creationId xmlns:a16="http://schemas.microsoft.com/office/drawing/2014/main" id="{57BA2596-1AE8-FD32-F75E-AC2C9EB74155}"/>
                </a:ext>
              </a:extLst>
            </p:cNvPr>
            <p:cNvCxnSpPr/>
            <p:nvPr/>
          </p:nvCxnSpPr>
          <p:spPr>
            <a:xfrm flipV="1">
              <a:off x="2313032" y="5921361"/>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Shape 161">
              <a:extLst>
                <a:ext uri="{FF2B5EF4-FFF2-40B4-BE49-F238E27FC236}">
                  <a16:creationId xmlns:a16="http://schemas.microsoft.com/office/drawing/2014/main" id="{A40F716A-DA26-CD3D-F640-06D13B113263}"/>
                </a:ext>
              </a:extLst>
            </p:cNvPr>
            <p:cNvSpPr/>
            <p:nvPr/>
          </p:nvSpPr>
          <p:spPr>
            <a:xfrm rot="5170363">
              <a:off x="2370814" y="5751407"/>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162">
              <a:extLst>
                <a:ext uri="{FF2B5EF4-FFF2-40B4-BE49-F238E27FC236}">
                  <a16:creationId xmlns:a16="http://schemas.microsoft.com/office/drawing/2014/main" id="{7AFF4DB5-70AC-A228-2CED-B874D1B909D1}"/>
                </a:ext>
              </a:extLst>
            </p:cNvPr>
            <p:cNvCxnSpPr>
              <a:cxnSpLocks/>
              <a:stCxn id="14" idx="2"/>
            </p:cNvCxnSpPr>
            <p:nvPr/>
          </p:nvCxnSpPr>
          <p:spPr>
            <a:xfrm>
              <a:off x="3305337" y="5688528"/>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163">
                  <a:extLst>
                    <a:ext uri="{FF2B5EF4-FFF2-40B4-BE49-F238E27FC236}">
                      <a16:creationId xmlns:a16="http://schemas.microsoft.com/office/drawing/2014/main" id="{B67C4B5A-CC33-184B-EE45-86AA186E3AF2}"/>
                    </a:ext>
                  </a:extLst>
                </p:cNvPr>
                <p:cNvSpPr txBox="1"/>
                <p:nvPr/>
              </p:nvSpPr>
              <p:spPr>
                <a:xfrm>
                  <a:off x="3815377" y="5003422"/>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35" name="TextBox 163">
                  <a:extLst>
                    <a:ext uri="{FF2B5EF4-FFF2-40B4-BE49-F238E27FC236}">
                      <a16:creationId xmlns:a16="http://schemas.microsoft.com/office/drawing/2014/main" id="{B67C4B5A-CC33-184B-EE45-86AA186E3AF2}"/>
                    </a:ext>
                  </a:extLst>
                </p:cNvPr>
                <p:cNvSpPr txBox="1">
                  <a:spLocks noRot="1" noChangeAspect="1" noMove="1" noResize="1" noEditPoints="1" noAdjustHandles="1" noChangeArrowheads="1" noChangeShapeType="1" noTextEdit="1"/>
                </p:cNvSpPr>
                <p:nvPr/>
              </p:nvSpPr>
              <p:spPr>
                <a:xfrm>
                  <a:off x="3815377" y="5003422"/>
                  <a:ext cx="4362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164">
                  <a:extLst>
                    <a:ext uri="{FF2B5EF4-FFF2-40B4-BE49-F238E27FC236}">
                      <a16:creationId xmlns:a16="http://schemas.microsoft.com/office/drawing/2014/main" id="{42109F51-0327-B208-BD2B-4785C4C9A0DD}"/>
                    </a:ext>
                  </a:extLst>
                </p:cNvPr>
                <p:cNvSpPr txBox="1"/>
                <p:nvPr/>
              </p:nvSpPr>
              <p:spPr>
                <a:xfrm>
                  <a:off x="2934669" y="5028554"/>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36" name="TextBox 164">
                  <a:extLst>
                    <a:ext uri="{FF2B5EF4-FFF2-40B4-BE49-F238E27FC236}">
                      <a16:creationId xmlns:a16="http://schemas.microsoft.com/office/drawing/2014/main" id="{42109F51-0327-B208-BD2B-4785C4C9A0DD}"/>
                    </a:ext>
                  </a:extLst>
                </p:cNvPr>
                <p:cNvSpPr txBox="1">
                  <a:spLocks noRot="1" noChangeAspect="1" noMove="1" noResize="1" noEditPoints="1" noAdjustHandles="1" noChangeArrowheads="1" noChangeShapeType="1" noTextEdit="1"/>
                </p:cNvSpPr>
                <p:nvPr/>
              </p:nvSpPr>
              <p:spPr>
                <a:xfrm>
                  <a:off x="2934669" y="5028554"/>
                  <a:ext cx="44877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165">
                  <a:extLst>
                    <a:ext uri="{FF2B5EF4-FFF2-40B4-BE49-F238E27FC236}">
                      <a16:creationId xmlns:a16="http://schemas.microsoft.com/office/drawing/2014/main" id="{5709A3A4-F24D-A15B-23F3-CB82A893FB70}"/>
                    </a:ext>
                  </a:extLst>
                </p:cNvPr>
                <p:cNvSpPr txBox="1"/>
                <p:nvPr/>
              </p:nvSpPr>
              <p:spPr>
                <a:xfrm>
                  <a:off x="5189339" y="5050156"/>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37" name="TextBox 165">
                  <a:extLst>
                    <a:ext uri="{FF2B5EF4-FFF2-40B4-BE49-F238E27FC236}">
                      <a16:creationId xmlns:a16="http://schemas.microsoft.com/office/drawing/2014/main" id="{5709A3A4-F24D-A15B-23F3-CB82A893FB70}"/>
                    </a:ext>
                  </a:extLst>
                </p:cNvPr>
                <p:cNvSpPr txBox="1">
                  <a:spLocks noRot="1" noChangeAspect="1" noMove="1" noResize="1" noEditPoints="1" noAdjustHandles="1" noChangeArrowheads="1" noChangeShapeType="1" noTextEdit="1"/>
                </p:cNvSpPr>
                <p:nvPr/>
              </p:nvSpPr>
              <p:spPr>
                <a:xfrm>
                  <a:off x="5189339" y="5050156"/>
                  <a:ext cx="471218" cy="383759"/>
                </a:xfrm>
                <a:prstGeom prst="rect">
                  <a:avLst/>
                </a:prstGeom>
                <a:blipFill>
                  <a:blip r:embed="rId19"/>
                  <a:stretch>
                    <a:fillRect t="-7937" r="-3846"/>
                  </a:stretch>
                </a:blipFill>
              </p:spPr>
              <p:txBody>
                <a:bodyPr/>
                <a:lstStyle/>
                <a:p>
                  <a:r>
                    <a:rPr lang="en-US">
                      <a:noFill/>
                    </a:rPr>
                    <a:t> </a:t>
                  </a:r>
                </a:p>
              </p:txBody>
            </p:sp>
          </mc:Fallback>
        </mc:AlternateContent>
        <p:cxnSp>
          <p:nvCxnSpPr>
            <p:cNvPr id="39" name="Straight Arrow Connector 172">
              <a:extLst>
                <a:ext uri="{FF2B5EF4-FFF2-40B4-BE49-F238E27FC236}">
                  <a16:creationId xmlns:a16="http://schemas.microsoft.com/office/drawing/2014/main" id="{B6850192-2E70-FA7D-0690-8617CA2A2D95}"/>
                </a:ext>
              </a:extLst>
            </p:cNvPr>
            <p:cNvCxnSpPr>
              <a:cxnSpLocks/>
              <a:endCxn id="15" idx="2"/>
            </p:cNvCxnSpPr>
            <p:nvPr/>
          </p:nvCxnSpPr>
          <p:spPr>
            <a:xfrm>
              <a:off x="4185159" y="5002073"/>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173">
              <a:extLst>
                <a:ext uri="{FF2B5EF4-FFF2-40B4-BE49-F238E27FC236}">
                  <a16:creationId xmlns:a16="http://schemas.microsoft.com/office/drawing/2014/main" id="{957CA07F-439B-EA86-6998-D63B28329897}"/>
                </a:ext>
              </a:extLst>
            </p:cNvPr>
            <p:cNvCxnSpPr>
              <a:cxnSpLocks/>
              <a:stCxn id="15" idx="6"/>
              <a:endCxn id="12" idx="2"/>
            </p:cNvCxnSpPr>
            <p:nvPr/>
          </p:nvCxnSpPr>
          <p:spPr>
            <a:xfrm>
              <a:off x="4765599" y="5002073"/>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7" name="TextBox 151">
                  <a:extLst>
                    <a:ext uri="{FF2B5EF4-FFF2-40B4-BE49-F238E27FC236}">
                      <a16:creationId xmlns:a16="http://schemas.microsoft.com/office/drawing/2014/main" id="{3CE7FA00-5AD7-0B4D-FAC7-E41D83AD74D4}"/>
                    </a:ext>
                  </a:extLst>
                </p:cNvPr>
                <p:cNvSpPr txBox="1"/>
                <p:nvPr/>
              </p:nvSpPr>
              <p:spPr>
                <a:xfrm>
                  <a:off x="5777328" y="3892247"/>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77" name="TextBox 151">
                  <a:extLst>
                    <a:ext uri="{FF2B5EF4-FFF2-40B4-BE49-F238E27FC236}">
                      <a16:creationId xmlns:a16="http://schemas.microsoft.com/office/drawing/2014/main" id="{3CE7FA00-5AD7-0B4D-FAC7-E41D83AD74D4}"/>
                    </a:ext>
                  </a:extLst>
                </p:cNvPr>
                <p:cNvSpPr txBox="1">
                  <a:spLocks noRot="1" noChangeAspect="1" noMove="1" noResize="1" noEditPoints="1" noAdjustHandles="1" noChangeArrowheads="1" noChangeShapeType="1" noTextEdit="1"/>
                </p:cNvSpPr>
                <p:nvPr/>
              </p:nvSpPr>
              <p:spPr>
                <a:xfrm>
                  <a:off x="5777328" y="3892247"/>
                  <a:ext cx="363844" cy="369332"/>
                </a:xfrm>
                <a:prstGeom prst="rect">
                  <a:avLst/>
                </a:prstGeom>
                <a:blipFill>
                  <a:blip r:embed="rId20"/>
                  <a:stretch>
                    <a:fillRect/>
                  </a:stretch>
                </a:blipFill>
              </p:spPr>
              <p:txBody>
                <a:bodyPr/>
                <a:lstStyle/>
                <a:p>
                  <a:r>
                    <a:rPr lang="en-US">
                      <a:noFill/>
                    </a:rPr>
                    <a:t> </a:t>
                  </a:r>
                </a:p>
              </p:txBody>
            </p:sp>
          </mc:Fallback>
        </mc:AlternateContent>
        <p:sp>
          <p:nvSpPr>
            <p:cNvPr id="79" name="Freeform: Shape 159">
              <a:extLst>
                <a:ext uri="{FF2B5EF4-FFF2-40B4-BE49-F238E27FC236}">
                  <a16:creationId xmlns:a16="http://schemas.microsoft.com/office/drawing/2014/main" id="{3098DFA0-3B06-44D9-2E01-EE616EADE9E3}"/>
                </a:ext>
              </a:extLst>
            </p:cNvPr>
            <p:cNvSpPr/>
            <p:nvPr/>
          </p:nvSpPr>
          <p:spPr>
            <a:xfrm rot="21335253">
              <a:off x="2677364" y="57906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Conector reto 80">
              <a:extLst>
                <a:ext uri="{FF2B5EF4-FFF2-40B4-BE49-F238E27FC236}">
                  <a16:creationId xmlns:a16="http://schemas.microsoft.com/office/drawing/2014/main" id="{BDC6C279-F0D0-F104-A845-992FEF41D8B1}"/>
                </a:ext>
              </a:extLst>
            </p:cNvPr>
            <p:cNvCxnSpPr>
              <a:stCxn id="7" idx="4"/>
              <a:endCxn id="79" idx="0"/>
            </p:cNvCxnSpPr>
            <p:nvPr/>
          </p:nvCxnSpPr>
          <p:spPr>
            <a:xfrm flipH="1">
              <a:off x="2674805" y="5241520"/>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3" name="Agrupar 122">
            <a:extLst>
              <a:ext uri="{FF2B5EF4-FFF2-40B4-BE49-F238E27FC236}">
                <a16:creationId xmlns:a16="http://schemas.microsoft.com/office/drawing/2014/main" id="{A14CA10E-C85E-28AC-674E-E3875C9EB7BE}"/>
              </a:ext>
            </a:extLst>
          </p:cNvPr>
          <p:cNvGrpSpPr/>
          <p:nvPr/>
        </p:nvGrpSpPr>
        <p:grpSpPr>
          <a:xfrm>
            <a:off x="6373737" y="1935366"/>
            <a:ext cx="4928922" cy="2713085"/>
            <a:chOff x="6373737" y="1935366"/>
            <a:chExt cx="4928922" cy="2713085"/>
          </a:xfrm>
        </p:grpSpPr>
        <p:cxnSp>
          <p:nvCxnSpPr>
            <p:cNvPr id="97" name="Straight Arrow Connector 145">
              <a:extLst>
                <a:ext uri="{FF2B5EF4-FFF2-40B4-BE49-F238E27FC236}">
                  <a16:creationId xmlns:a16="http://schemas.microsoft.com/office/drawing/2014/main" id="{FFCE4766-33E0-D27F-4E2E-47FA24C524B1}"/>
                </a:ext>
              </a:extLst>
            </p:cNvPr>
            <p:cNvCxnSpPr>
              <a:cxnSpLocks/>
              <a:stCxn id="93" idx="0"/>
              <a:endCxn id="88" idx="4"/>
            </p:cNvCxnSpPr>
            <p:nvPr/>
          </p:nvCxnSpPr>
          <p:spPr>
            <a:xfrm flipV="1">
              <a:off x="9165026" y="2673122"/>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148">
              <a:extLst>
                <a:ext uri="{FF2B5EF4-FFF2-40B4-BE49-F238E27FC236}">
                  <a16:creationId xmlns:a16="http://schemas.microsoft.com/office/drawing/2014/main" id="{07F340C5-8E03-EE50-399C-BF6C3555B23F}"/>
                </a:ext>
              </a:extLst>
            </p:cNvPr>
            <p:cNvCxnSpPr>
              <a:stCxn id="92" idx="0"/>
              <a:endCxn id="90" idx="4"/>
            </p:cNvCxnSpPr>
            <p:nvPr/>
          </p:nvCxnSpPr>
          <p:spPr>
            <a:xfrm flipV="1">
              <a:off x="10176460" y="2673122"/>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49">
              <a:extLst>
                <a:ext uri="{FF2B5EF4-FFF2-40B4-BE49-F238E27FC236}">
                  <a16:creationId xmlns:a16="http://schemas.microsoft.com/office/drawing/2014/main" id="{9103FDCA-D84F-37DF-CC5A-91588F757EB0}"/>
                </a:ext>
              </a:extLst>
            </p:cNvPr>
            <p:cNvCxnSpPr>
              <a:cxnSpLocks/>
              <a:stCxn id="89" idx="0"/>
              <a:endCxn id="92" idx="4"/>
            </p:cNvCxnSpPr>
            <p:nvPr/>
          </p:nvCxnSpPr>
          <p:spPr>
            <a:xfrm flipV="1">
              <a:off x="10176460" y="3183039"/>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53">
              <a:extLst>
                <a:ext uri="{FF2B5EF4-FFF2-40B4-BE49-F238E27FC236}">
                  <a16:creationId xmlns:a16="http://schemas.microsoft.com/office/drawing/2014/main" id="{AE75D4EB-B1D4-701F-E710-BDE4E4FBB64F}"/>
                </a:ext>
              </a:extLst>
            </p:cNvPr>
            <p:cNvCxnSpPr/>
            <p:nvPr/>
          </p:nvCxnSpPr>
          <p:spPr>
            <a:xfrm flipV="1">
              <a:off x="7662465" y="2536597"/>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1" name="Straight Connector 160">
              <a:extLst>
                <a:ext uri="{FF2B5EF4-FFF2-40B4-BE49-F238E27FC236}">
                  <a16:creationId xmlns:a16="http://schemas.microsoft.com/office/drawing/2014/main" id="{D754B5F8-378E-308B-8249-A26A4D326863}"/>
                </a:ext>
              </a:extLst>
            </p:cNvPr>
            <p:cNvCxnSpPr/>
            <p:nvPr/>
          </p:nvCxnSpPr>
          <p:spPr>
            <a:xfrm flipV="1">
              <a:off x="7292899" y="3964480"/>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62">
              <a:extLst>
                <a:ext uri="{FF2B5EF4-FFF2-40B4-BE49-F238E27FC236}">
                  <a16:creationId xmlns:a16="http://schemas.microsoft.com/office/drawing/2014/main" id="{A30D0A16-E2D1-7E19-1B40-8CC5510F0079}"/>
                </a:ext>
              </a:extLst>
            </p:cNvPr>
            <p:cNvCxnSpPr>
              <a:cxnSpLocks/>
              <a:stCxn id="94" idx="2"/>
            </p:cNvCxnSpPr>
            <p:nvPr/>
          </p:nvCxnSpPr>
          <p:spPr>
            <a:xfrm>
              <a:off x="8285204" y="3731647"/>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7" name="Straight Arrow Connector 172">
              <a:extLst>
                <a:ext uri="{FF2B5EF4-FFF2-40B4-BE49-F238E27FC236}">
                  <a16:creationId xmlns:a16="http://schemas.microsoft.com/office/drawing/2014/main" id="{17380AA7-33C3-AE39-20FE-857F6BE421A0}"/>
                </a:ext>
              </a:extLst>
            </p:cNvPr>
            <p:cNvCxnSpPr>
              <a:cxnSpLocks/>
              <a:endCxn id="95" idx="2"/>
            </p:cNvCxnSpPr>
            <p:nvPr/>
          </p:nvCxnSpPr>
          <p:spPr>
            <a:xfrm>
              <a:off x="9165026" y="3045192"/>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73">
              <a:extLst>
                <a:ext uri="{FF2B5EF4-FFF2-40B4-BE49-F238E27FC236}">
                  <a16:creationId xmlns:a16="http://schemas.microsoft.com/office/drawing/2014/main" id="{8A0D0F86-73AA-4C37-7FD6-7A351477CA6F}"/>
                </a:ext>
              </a:extLst>
            </p:cNvPr>
            <p:cNvCxnSpPr>
              <a:cxnSpLocks/>
              <a:stCxn id="95" idx="6"/>
              <a:endCxn id="92" idx="2"/>
            </p:cNvCxnSpPr>
            <p:nvPr/>
          </p:nvCxnSpPr>
          <p:spPr>
            <a:xfrm>
              <a:off x="9745466" y="3045192"/>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0" name="Freeform: Shape 159">
              <a:extLst>
                <a:ext uri="{FF2B5EF4-FFF2-40B4-BE49-F238E27FC236}">
                  <a16:creationId xmlns:a16="http://schemas.microsoft.com/office/drawing/2014/main" id="{817D3687-4C52-A7B6-4116-0DC677950DA9}"/>
                </a:ext>
              </a:extLst>
            </p:cNvPr>
            <p:cNvSpPr/>
            <p:nvPr/>
          </p:nvSpPr>
          <p:spPr>
            <a:xfrm rot="21335253">
              <a:off x="7657231" y="3833745"/>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140">
              <a:extLst>
                <a:ext uri="{FF2B5EF4-FFF2-40B4-BE49-F238E27FC236}">
                  <a16:creationId xmlns:a16="http://schemas.microsoft.com/office/drawing/2014/main" id="{3C934291-13E8-1615-4FB3-16C593530C71}"/>
                </a:ext>
              </a:extLst>
            </p:cNvPr>
            <p:cNvSpPr/>
            <p:nvPr/>
          </p:nvSpPr>
          <p:spPr>
            <a:xfrm>
              <a:off x="10039935" y="29099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5" name="Oval 143">
              <a:extLst>
                <a:ext uri="{FF2B5EF4-FFF2-40B4-BE49-F238E27FC236}">
                  <a16:creationId xmlns:a16="http://schemas.microsoft.com/office/drawing/2014/main" id="{084FC3E3-2BA8-69D2-39C3-09B20D59055D}"/>
                </a:ext>
              </a:extLst>
            </p:cNvPr>
            <p:cNvSpPr/>
            <p:nvPr/>
          </p:nvSpPr>
          <p:spPr>
            <a:xfrm>
              <a:off x="9472416" y="290866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04" name="Connector: Elbow 152">
              <a:extLst>
                <a:ext uri="{FF2B5EF4-FFF2-40B4-BE49-F238E27FC236}">
                  <a16:creationId xmlns:a16="http://schemas.microsoft.com/office/drawing/2014/main" id="{CE2BFA31-B2A1-3DB2-A292-68B304312768}"/>
                </a:ext>
              </a:extLst>
            </p:cNvPr>
            <p:cNvCxnSpPr>
              <a:stCxn id="94" idx="0"/>
              <a:endCxn id="87" idx="6"/>
            </p:cNvCxnSpPr>
            <p:nvPr/>
          </p:nvCxnSpPr>
          <p:spPr>
            <a:xfrm rot="16200000" flipV="1">
              <a:off x="7899267" y="3047838"/>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Connector: Elbow 156">
              <a:extLst>
                <a:ext uri="{FF2B5EF4-FFF2-40B4-BE49-F238E27FC236}">
                  <a16:creationId xmlns:a16="http://schemas.microsoft.com/office/drawing/2014/main" id="{896C1B2B-91E0-847B-9289-47EB59AD80B3}"/>
                </a:ext>
              </a:extLst>
            </p:cNvPr>
            <p:cNvCxnSpPr>
              <a:cxnSpLocks/>
            </p:cNvCxnSpPr>
            <p:nvPr/>
          </p:nvCxnSpPr>
          <p:spPr>
            <a:xfrm rot="5400000">
              <a:off x="8571663" y="2449614"/>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9" name="Connector: Elbow 158">
              <a:extLst>
                <a:ext uri="{FF2B5EF4-FFF2-40B4-BE49-F238E27FC236}">
                  <a16:creationId xmlns:a16="http://schemas.microsoft.com/office/drawing/2014/main" id="{F0FA5897-623E-2F28-C0F4-4782D5CCDB4D}"/>
                </a:ext>
              </a:extLst>
            </p:cNvPr>
            <p:cNvCxnSpPr>
              <a:cxnSpLocks/>
              <a:stCxn id="110" idx="2"/>
              <a:endCxn id="93" idx="2"/>
            </p:cNvCxnSpPr>
            <p:nvPr/>
          </p:nvCxnSpPr>
          <p:spPr>
            <a:xfrm flipV="1">
              <a:off x="7412984" y="3728761"/>
              <a:ext cx="1752042" cy="12394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0" name="Freeform: Shape 159">
              <a:extLst>
                <a:ext uri="{FF2B5EF4-FFF2-40B4-BE49-F238E27FC236}">
                  <a16:creationId xmlns:a16="http://schemas.microsoft.com/office/drawing/2014/main" id="{F41FB465-21CE-CF3A-5C9B-60312CA84496}"/>
                </a:ext>
              </a:extLst>
            </p:cNvPr>
            <p:cNvSpPr/>
            <p:nvPr/>
          </p:nvSpPr>
          <p:spPr>
            <a:xfrm rot="21272626">
              <a:off x="7297661" y="363134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Conector reto 120">
              <a:extLst>
                <a:ext uri="{FF2B5EF4-FFF2-40B4-BE49-F238E27FC236}">
                  <a16:creationId xmlns:a16="http://schemas.microsoft.com/office/drawing/2014/main" id="{C46C344B-1AD9-9C35-4670-EFB6F8B3D4CB}"/>
                </a:ext>
              </a:extLst>
            </p:cNvPr>
            <p:cNvCxnSpPr>
              <a:stCxn id="87" idx="4"/>
              <a:endCxn id="120" idx="0"/>
            </p:cNvCxnSpPr>
            <p:nvPr/>
          </p:nvCxnSpPr>
          <p:spPr>
            <a:xfrm flipH="1">
              <a:off x="7654672" y="3284639"/>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7" name="Oval 135">
              <a:extLst>
                <a:ext uri="{FF2B5EF4-FFF2-40B4-BE49-F238E27FC236}">
                  <a16:creationId xmlns:a16="http://schemas.microsoft.com/office/drawing/2014/main" id="{B7B574ED-AB73-EA18-9CBB-7B7DCF08F2BA}"/>
                </a:ext>
              </a:extLst>
            </p:cNvPr>
            <p:cNvSpPr/>
            <p:nvPr/>
          </p:nvSpPr>
          <p:spPr>
            <a:xfrm>
              <a:off x="7525940" y="30115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9" name="Rectangle 137">
              <a:extLst>
                <a:ext uri="{FF2B5EF4-FFF2-40B4-BE49-F238E27FC236}">
                  <a16:creationId xmlns:a16="http://schemas.microsoft.com/office/drawing/2014/main" id="{1ADBB6FE-3220-812D-AA74-CBE4E6BDA6FF}"/>
                </a:ext>
              </a:extLst>
            </p:cNvPr>
            <p:cNvSpPr/>
            <p:nvPr/>
          </p:nvSpPr>
          <p:spPr>
            <a:xfrm>
              <a:off x="9869069" y="3436131"/>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mc:AlternateContent xmlns:mc="http://schemas.openxmlformats.org/markup-compatibility/2006" xmlns:a14="http://schemas.microsoft.com/office/drawing/2010/main">
          <mc:Choice Requires="a14">
            <p:sp>
              <p:nvSpPr>
                <p:cNvPr id="93" name="Rectangle 141">
                  <a:extLst>
                    <a:ext uri="{FF2B5EF4-FFF2-40B4-BE49-F238E27FC236}">
                      <a16:creationId xmlns:a16="http://schemas.microsoft.com/office/drawing/2014/main" id="{AB880D80-7CF8-A920-5EBA-FFE6D639145A}"/>
                    </a:ext>
                  </a:extLst>
                </p:cNvPr>
                <p:cNvSpPr/>
                <p:nvPr/>
              </p:nvSpPr>
              <p:spPr>
                <a:xfrm>
                  <a:off x="8998771" y="3430889"/>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3" name="Rectangle 141">
                  <a:extLst>
                    <a:ext uri="{FF2B5EF4-FFF2-40B4-BE49-F238E27FC236}">
                      <a16:creationId xmlns:a16="http://schemas.microsoft.com/office/drawing/2014/main" id="{AB880D80-7CF8-A920-5EBA-FFE6D639145A}"/>
                    </a:ext>
                  </a:extLst>
                </p:cNvPr>
                <p:cNvSpPr>
                  <a:spLocks noRot="1" noChangeAspect="1" noMove="1" noResize="1" noEditPoints="1" noAdjustHandles="1" noChangeArrowheads="1" noChangeShapeType="1" noTextEdit="1"/>
                </p:cNvSpPr>
                <p:nvPr/>
              </p:nvSpPr>
              <p:spPr>
                <a:xfrm>
                  <a:off x="8998771" y="3430889"/>
                  <a:ext cx="332510" cy="29787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142">
                  <a:extLst>
                    <a:ext uri="{FF2B5EF4-FFF2-40B4-BE49-F238E27FC236}">
                      <a16:creationId xmlns:a16="http://schemas.microsoft.com/office/drawing/2014/main" id="{4CA8F6E9-E6F7-AFE2-0B59-007659AF56BD}"/>
                    </a:ext>
                  </a:extLst>
                </p:cNvPr>
                <p:cNvSpPr/>
                <p:nvPr/>
              </p:nvSpPr>
              <p:spPr>
                <a:xfrm>
                  <a:off x="8118949" y="343377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4" name="Rectangle 142">
                  <a:extLst>
                    <a:ext uri="{FF2B5EF4-FFF2-40B4-BE49-F238E27FC236}">
                      <a16:creationId xmlns:a16="http://schemas.microsoft.com/office/drawing/2014/main" id="{4CA8F6E9-E6F7-AFE2-0B59-007659AF56BD}"/>
                    </a:ext>
                  </a:extLst>
                </p:cNvPr>
                <p:cNvSpPr>
                  <a:spLocks noRot="1" noChangeAspect="1" noMove="1" noResize="1" noEditPoints="1" noAdjustHandles="1" noChangeArrowheads="1" noChangeShapeType="1" noTextEdit="1"/>
                </p:cNvSpPr>
                <p:nvPr/>
              </p:nvSpPr>
              <p:spPr>
                <a:xfrm>
                  <a:off x="8118949" y="3433775"/>
                  <a:ext cx="332510" cy="297872"/>
                </a:xfrm>
                <a:prstGeom prst="rect">
                  <a:avLst/>
                </a:prstGeom>
                <a:blipFill>
                  <a:blip r:embed="rId22"/>
                  <a:stretch>
                    <a:fillRect/>
                  </a:stretch>
                </a:blipFill>
              </p:spPr>
              <p:txBody>
                <a:bodyPr/>
                <a:lstStyle/>
                <a:p>
                  <a:r>
                    <a:rPr lang="en-US">
                      <a:noFill/>
                    </a:rPr>
                    <a:t> </a:t>
                  </a:r>
                </a:p>
              </p:txBody>
            </p:sp>
          </mc:Fallback>
        </mc:AlternateContent>
        <p:sp>
          <p:nvSpPr>
            <p:cNvPr id="98" name="TextBox 146">
              <a:extLst>
                <a:ext uri="{FF2B5EF4-FFF2-40B4-BE49-F238E27FC236}">
                  <a16:creationId xmlns:a16="http://schemas.microsoft.com/office/drawing/2014/main" id="{E88579DA-24C0-EACC-F7CA-C594474567CA}"/>
                </a:ext>
              </a:extLst>
            </p:cNvPr>
            <p:cNvSpPr txBox="1"/>
            <p:nvPr/>
          </p:nvSpPr>
          <p:spPr>
            <a:xfrm>
              <a:off x="9435351" y="2860526"/>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08" name="Straight Connector 157">
              <a:extLst>
                <a:ext uri="{FF2B5EF4-FFF2-40B4-BE49-F238E27FC236}">
                  <a16:creationId xmlns:a16="http://schemas.microsoft.com/office/drawing/2014/main" id="{864F9693-07A6-4744-FB2C-A4BCBAEDF7FA}"/>
                </a:ext>
              </a:extLst>
            </p:cNvPr>
            <p:cNvCxnSpPr/>
            <p:nvPr/>
          </p:nvCxnSpPr>
          <p:spPr>
            <a:xfrm flipV="1">
              <a:off x="7294488" y="2536597"/>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Freeform: Shape 161">
              <a:extLst>
                <a:ext uri="{FF2B5EF4-FFF2-40B4-BE49-F238E27FC236}">
                  <a16:creationId xmlns:a16="http://schemas.microsoft.com/office/drawing/2014/main" id="{1F87D734-F552-E139-FBF4-397A865A6BAE}"/>
                </a:ext>
              </a:extLst>
            </p:cNvPr>
            <p:cNvSpPr/>
            <p:nvPr/>
          </p:nvSpPr>
          <p:spPr>
            <a:xfrm rot="5093909">
              <a:off x="7348300" y="37945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63">
                  <a:extLst>
                    <a:ext uri="{FF2B5EF4-FFF2-40B4-BE49-F238E27FC236}">
                      <a16:creationId xmlns:a16="http://schemas.microsoft.com/office/drawing/2014/main" id="{DDAE1450-82FA-3CB6-B806-701797994D45}"/>
                    </a:ext>
                  </a:extLst>
                </p:cNvPr>
                <p:cNvSpPr txBox="1"/>
                <p:nvPr/>
              </p:nvSpPr>
              <p:spPr>
                <a:xfrm>
                  <a:off x="8795244" y="3046541"/>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14" name="TextBox 163">
                  <a:extLst>
                    <a:ext uri="{FF2B5EF4-FFF2-40B4-BE49-F238E27FC236}">
                      <a16:creationId xmlns:a16="http://schemas.microsoft.com/office/drawing/2014/main" id="{DDAE1450-82FA-3CB6-B806-701797994D45}"/>
                    </a:ext>
                  </a:extLst>
                </p:cNvPr>
                <p:cNvSpPr txBox="1">
                  <a:spLocks noRot="1" noChangeAspect="1" noMove="1" noResize="1" noEditPoints="1" noAdjustHandles="1" noChangeArrowheads="1" noChangeShapeType="1" noTextEdit="1"/>
                </p:cNvSpPr>
                <p:nvPr/>
              </p:nvSpPr>
              <p:spPr>
                <a:xfrm>
                  <a:off x="8795244" y="3046541"/>
                  <a:ext cx="4362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64">
                  <a:extLst>
                    <a:ext uri="{FF2B5EF4-FFF2-40B4-BE49-F238E27FC236}">
                      <a16:creationId xmlns:a16="http://schemas.microsoft.com/office/drawing/2014/main" id="{C32CC159-0AA5-71A0-F4E5-E9352BF7A293}"/>
                    </a:ext>
                  </a:extLst>
                </p:cNvPr>
                <p:cNvSpPr txBox="1"/>
                <p:nvPr/>
              </p:nvSpPr>
              <p:spPr>
                <a:xfrm>
                  <a:off x="7914536" y="3071673"/>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15" name="TextBox 164">
                  <a:extLst>
                    <a:ext uri="{FF2B5EF4-FFF2-40B4-BE49-F238E27FC236}">
                      <a16:creationId xmlns:a16="http://schemas.microsoft.com/office/drawing/2014/main" id="{C32CC159-0AA5-71A0-F4E5-E9352BF7A293}"/>
                    </a:ext>
                  </a:extLst>
                </p:cNvPr>
                <p:cNvSpPr txBox="1">
                  <a:spLocks noRot="1" noChangeAspect="1" noMove="1" noResize="1" noEditPoints="1" noAdjustHandles="1" noChangeArrowheads="1" noChangeShapeType="1" noTextEdit="1"/>
                </p:cNvSpPr>
                <p:nvPr/>
              </p:nvSpPr>
              <p:spPr>
                <a:xfrm>
                  <a:off x="7914536" y="3071673"/>
                  <a:ext cx="44877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65">
                  <a:extLst>
                    <a:ext uri="{FF2B5EF4-FFF2-40B4-BE49-F238E27FC236}">
                      <a16:creationId xmlns:a16="http://schemas.microsoft.com/office/drawing/2014/main" id="{88FC8830-6A3A-4A8C-DA3A-F7C924023353}"/>
                    </a:ext>
                  </a:extLst>
                </p:cNvPr>
                <p:cNvSpPr txBox="1"/>
                <p:nvPr/>
              </p:nvSpPr>
              <p:spPr>
                <a:xfrm>
                  <a:off x="10169206" y="3093275"/>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16" name="TextBox 165">
                  <a:extLst>
                    <a:ext uri="{FF2B5EF4-FFF2-40B4-BE49-F238E27FC236}">
                      <a16:creationId xmlns:a16="http://schemas.microsoft.com/office/drawing/2014/main" id="{88FC8830-6A3A-4A8C-DA3A-F7C924023353}"/>
                    </a:ext>
                  </a:extLst>
                </p:cNvPr>
                <p:cNvSpPr txBox="1">
                  <a:spLocks noRot="1" noChangeAspect="1" noMove="1" noResize="1" noEditPoints="1" noAdjustHandles="1" noChangeArrowheads="1" noChangeShapeType="1" noTextEdit="1"/>
                </p:cNvSpPr>
                <p:nvPr/>
              </p:nvSpPr>
              <p:spPr>
                <a:xfrm>
                  <a:off x="10169206" y="3093275"/>
                  <a:ext cx="471218" cy="383759"/>
                </a:xfrm>
                <a:prstGeom prst="rect">
                  <a:avLst/>
                </a:prstGeom>
                <a:blipFill>
                  <a:blip r:embed="rId25"/>
                  <a:stretch>
                    <a:fillRect t="-7937" r="-5195"/>
                  </a:stretch>
                </a:blipFill>
              </p:spPr>
              <p:txBody>
                <a:bodyPr/>
                <a:lstStyle/>
                <a:p>
                  <a:r>
                    <a:rPr lang="en-US">
                      <a:noFill/>
                    </a:rPr>
                    <a:t> </a:t>
                  </a:r>
                </a:p>
              </p:txBody>
            </p:sp>
          </mc:Fallback>
        </mc:AlternateContent>
        <p:sp>
          <p:nvSpPr>
            <p:cNvPr id="85" name="Rectangle: Rounded Corners 133">
              <a:extLst>
                <a:ext uri="{FF2B5EF4-FFF2-40B4-BE49-F238E27FC236}">
                  <a16:creationId xmlns:a16="http://schemas.microsoft.com/office/drawing/2014/main" id="{C22F73FC-22E6-4C04-4138-C6E4840A457B}"/>
                </a:ext>
              </a:extLst>
            </p:cNvPr>
            <p:cNvSpPr/>
            <p:nvPr/>
          </p:nvSpPr>
          <p:spPr>
            <a:xfrm>
              <a:off x="7093514" y="2262124"/>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86" name="Straight Arrow Connector 134">
              <a:extLst>
                <a:ext uri="{FF2B5EF4-FFF2-40B4-BE49-F238E27FC236}">
                  <a16:creationId xmlns:a16="http://schemas.microsoft.com/office/drawing/2014/main" id="{2CC61B4E-8888-D162-6D95-B9FE3B5D36AA}"/>
                </a:ext>
              </a:extLst>
            </p:cNvPr>
            <p:cNvCxnSpPr>
              <a:cxnSpLocks/>
            </p:cNvCxnSpPr>
            <p:nvPr/>
          </p:nvCxnSpPr>
          <p:spPr>
            <a:xfrm flipV="1">
              <a:off x="10716487" y="2068597"/>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88" name="Oval 136">
              <a:extLst>
                <a:ext uri="{FF2B5EF4-FFF2-40B4-BE49-F238E27FC236}">
                  <a16:creationId xmlns:a16="http://schemas.microsoft.com/office/drawing/2014/main" id="{C68A2736-8717-3DD0-DD01-7B61C8468B69}"/>
                </a:ext>
              </a:extLst>
            </p:cNvPr>
            <p:cNvSpPr/>
            <p:nvPr/>
          </p:nvSpPr>
          <p:spPr>
            <a:xfrm>
              <a:off x="9028819"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0" name="Oval 138">
              <a:extLst>
                <a:ext uri="{FF2B5EF4-FFF2-40B4-BE49-F238E27FC236}">
                  <a16:creationId xmlns:a16="http://schemas.microsoft.com/office/drawing/2014/main" id="{28474D35-7F2A-1499-BF67-A56E9CBB2FC6}"/>
                </a:ext>
              </a:extLst>
            </p:cNvPr>
            <p:cNvSpPr/>
            <p:nvPr/>
          </p:nvSpPr>
          <p:spPr>
            <a:xfrm>
              <a:off x="10039935"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91" name="TextBox 139">
                  <a:extLst>
                    <a:ext uri="{FF2B5EF4-FFF2-40B4-BE49-F238E27FC236}">
                      <a16:creationId xmlns:a16="http://schemas.microsoft.com/office/drawing/2014/main" id="{E0C6E98E-ACF4-9488-A87C-FDDDBD391DC5}"/>
                    </a:ext>
                  </a:extLst>
                </p:cNvPr>
                <p:cNvSpPr txBox="1"/>
                <p:nvPr/>
              </p:nvSpPr>
              <p:spPr>
                <a:xfrm>
                  <a:off x="6373737" y="2343915"/>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91" name="TextBox 139">
                  <a:extLst>
                    <a:ext uri="{FF2B5EF4-FFF2-40B4-BE49-F238E27FC236}">
                      <a16:creationId xmlns:a16="http://schemas.microsoft.com/office/drawing/2014/main" id="{E0C6E98E-ACF4-9488-A87C-FDDDBD391DC5}"/>
                    </a:ext>
                  </a:extLst>
                </p:cNvPr>
                <p:cNvSpPr txBox="1">
                  <a:spLocks noRot="1" noChangeAspect="1" noMove="1" noResize="1" noEditPoints="1" noAdjustHandles="1" noChangeArrowheads="1" noChangeShapeType="1" noTextEdit="1"/>
                </p:cNvSpPr>
                <p:nvPr/>
              </p:nvSpPr>
              <p:spPr>
                <a:xfrm>
                  <a:off x="6373737" y="2343915"/>
                  <a:ext cx="511583" cy="369332"/>
                </a:xfrm>
                <a:prstGeom prst="rect">
                  <a:avLst/>
                </a:prstGeom>
                <a:blipFill>
                  <a:blip r:embed="rId26"/>
                  <a:stretch>
                    <a:fillRect r="-15663"/>
                  </a:stretch>
                </a:blipFill>
              </p:spPr>
              <p:txBody>
                <a:bodyPr/>
                <a:lstStyle/>
                <a:p>
                  <a:r>
                    <a:rPr lang="en-US">
                      <a:noFill/>
                    </a:rPr>
                    <a:t> </a:t>
                  </a:r>
                </a:p>
              </p:txBody>
            </p:sp>
          </mc:Fallback>
        </mc:AlternateContent>
        <p:cxnSp>
          <p:nvCxnSpPr>
            <p:cNvPr id="96" name="Straight Connector 144">
              <a:extLst>
                <a:ext uri="{FF2B5EF4-FFF2-40B4-BE49-F238E27FC236}">
                  <a16:creationId xmlns:a16="http://schemas.microsoft.com/office/drawing/2014/main" id="{94081AD1-ED81-9C0E-2BC9-06E7A6BFA20D}"/>
                </a:ext>
              </a:extLst>
            </p:cNvPr>
            <p:cNvCxnSpPr>
              <a:cxnSpLocks/>
              <a:stCxn id="91" idx="3"/>
              <a:endCxn id="88" idx="2"/>
            </p:cNvCxnSpPr>
            <p:nvPr/>
          </p:nvCxnSpPr>
          <p:spPr>
            <a:xfrm>
              <a:off x="6885320" y="2528581"/>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Straight Connector 147">
              <a:extLst>
                <a:ext uri="{FF2B5EF4-FFF2-40B4-BE49-F238E27FC236}">
                  <a16:creationId xmlns:a16="http://schemas.microsoft.com/office/drawing/2014/main" id="{75B733EE-950D-D301-BA46-CA4DC385D6EB}"/>
                </a:ext>
              </a:extLst>
            </p:cNvPr>
            <p:cNvCxnSpPr>
              <a:stCxn id="88" idx="6"/>
              <a:endCxn id="90" idx="2"/>
            </p:cNvCxnSpPr>
            <p:nvPr/>
          </p:nvCxnSpPr>
          <p:spPr>
            <a:xfrm>
              <a:off x="9301869" y="2536597"/>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Arrow Connector 150">
              <a:extLst>
                <a:ext uri="{FF2B5EF4-FFF2-40B4-BE49-F238E27FC236}">
                  <a16:creationId xmlns:a16="http://schemas.microsoft.com/office/drawing/2014/main" id="{FEFDB515-7ABA-4900-267A-51F10B3F22A9}"/>
                </a:ext>
              </a:extLst>
            </p:cNvPr>
            <p:cNvCxnSpPr>
              <a:cxnSpLocks/>
              <a:stCxn id="90" idx="6"/>
            </p:cNvCxnSpPr>
            <p:nvPr/>
          </p:nvCxnSpPr>
          <p:spPr>
            <a:xfrm>
              <a:off x="10312984" y="2536597"/>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3" name="TextBox 151">
                  <a:extLst>
                    <a:ext uri="{FF2B5EF4-FFF2-40B4-BE49-F238E27FC236}">
                      <a16:creationId xmlns:a16="http://schemas.microsoft.com/office/drawing/2014/main" id="{03DA660E-E283-6E20-ED9F-5E2FB81B5106}"/>
                    </a:ext>
                  </a:extLst>
                </p:cNvPr>
                <p:cNvSpPr txBox="1"/>
                <p:nvPr/>
              </p:nvSpPr>
              <p:spPr>
                <a:xfrm>
                  <a:off x="10938815" y="2343915"/>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03" name="TextBox 151">
                  <a:extLst>
                    <a:ext uri="{FF2B5EF4-FFF2-40B4-BE49-F238E27FC236}">
                      <a16:creationId xmlns:a16="http://schemas.microsoft.com/office/drawing/2014/main" id="{03DA660E-E283-6E20-ED9F-5E2FB81B5106}"/>
                    </a:ext>
                  </a:extLst>
                </p:cNvPr>
                <p:cNvSpPr txBox="1">
                  <a:spLocks noRot="1" noChangeAspect="1" noMove="1" noResize="1" noEditPoints="1" noAdjustHandles="1" noChangeArrowheads="1" noChangeShapeType="1" noTextEdit="1"/>
                </p:cNvSpPr>
                <p:nvPr/>
              </p:nvSpPr>
              <p:spPr>
                <a:xfrm>
                  <a:off x="10938815" y="2343915"/>
                  <a:ext cx="36384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55">
                  <a:extLst>
                    <a:ext uri="{FF2B5EF4-FFF2-40B4-BE49-F238E27FC236}">
                      <a16:creationId xmlns:a16="http://schemas.microsoft.com/office/drawing/2014/main" id="{4887E9F6-207A-7111-1D25-FF90C0EED4DD}"/>
                    </a:ext>
                  </a:extLst>
                </p:cNvPr>
                <p:cNvSpPr txBox="1"/>
                <p:nvPr/>
              </p:nvSpPr>
              <p:spPr>
                <a:xfrm>
                  <a:off x="7063130" y="4279119"/>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06" name="TextBox 155">
                  <a:extLst>
                    <a:ext uri="{FF2B5EF4-FFF2-40B4-BE49-F238E27FC236}">
                      <a16:creationId xmlns:a16="http://schemas.microsoft.com/office/drawing/2014/main" id="{4887E9F6-207A-7111-1D25-FF90C0EED4DD}"/>
                    </a:ext>
                  </a:extLst>
                </p:cNvPr>
                <p:cNvSpPr txBox="1">
                  <a:spLocks noRot="1" noChangeAspect="1" noMove="1" noResize="1" noEditPoints="1" noAdjustHandles="1" noChangeArrowheads="1" noChangeShapeType="1" noTextEdit="1"/>
                </p:cNvSpPr>
                <p:nvPr/>
              </p:nvSpPr>
              <p:spPr>
                <a:xfrm>
                  <a:off x="7063130" y="4279119"/>
                  <a:ext cx="458394"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51">
                  <a:extLst>
                    <a:ext uri="{FF2B5EF4-FFF2-40B4-BE49-F238E27FC236}">
                      <a16:creationId xmlns:a16="http://schemas.microsoft.com/office/drawing/2014/main" id="{6347BF7A-E257-0517-DF8B-551D5E60395D}"/>
                    </a:ext>
                  </a:extLst>
                </p:cNvPr>
                <p:cNvSpPr txBox="1"/>
                <p:nvPr/>
              </p:nvSpPr>
              <p:spPr>
                <a:xfrm>
                  <a:off x="10757195" y="193536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19" name="TextBox 151">
                  <a:extLst>
                    <a:ext uri="{FF2B5EF4-FFF2-40B4-BE49-F238E27FC236}">
                      <a16:creationId xmlns:a16="http://schemas.microsoft.com/office/drawing/2014/main" id="{6347BF7A-E257-0517-DF8B-551D5E60395D}"/>
                    </a:ext>
                  </a:extLst>
                </p:cNvPr>
                <p:cNvSpPr txBox="1">
                  <a:spLocks noRot="1" noChangeAspect="1" noMove="1" noResize="1" noEditPoints="1" noAdjustHandles="1" noChangeArrowheads="1" noChangeShapeType="1" noTextEdit="1"/>
                </p:cNvSpPr>
                <p:nvPr/>
              </p:nvSpPr>
              <p:spPr>
                <a:xfrm>
                  <a:off x="10757195" y="1935366"/>
                  <a:ext cx="363844" cy="369332"/>
                </a:xfrm>
                <a:prstGeom prst="rect">
                  <a:avLst/>
                </a:prstGeom>
                <a:blipFill>
                  <a:blip r:embed="rId2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3374502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252F6-7CF6-0CB5-2A37-B62D170C75AC}"/>
            </a:ext>
          </a:extLst>
        </p:cNvPr>
        <p:cNvGrpSpPr/>
        <p:nvPr/>
      </p:nvGrpSpPr>
      <p:grpSpPr>
        <a:xfrm>
          <a:off x="0" y="0"/>
          <a:ext cx="0" cy="0"/>
          <a:chOff x="0" y="0"/>
          <a:chExt cx="0" cy="0"/>
        </a:xfrm>
      </p:grpSpPr>
      <p:grpSp>
        <p:nvGrpSpPr>
          <p:cNvPr id="11" name="Agrupar 10">
            <a:extLst>
              <a:ext uri="{FF2B5EF4-FFF2-40B4-BE49-F238E27FC236}">
                <a16:creationId xmlns:a16="http://schemas.microsoft.com/office/drawing/2014/main" id="{366F7BF2-C635-C709-4EB5-7F9A5D5B6DBD}"/>
              </a:ext>
            </a:extLst>
          </p:cNvPr>
          <p:cNvGrpSpPr/>
          <p:nvPr/>
        </p:nvGrpSpPr>
        <p:grpSpPr>
          <a:xfrm>
            <a:off x="3105149" y="1848292"/>
            <a:ext cx="4928922" cy="2995485"/>
            <a:chOff x="3105149" y="1848292"/>
            <a:chExt cx="4928922" cy="2995485"/>
          </a:xfrm>
        </p:grpSpPr>
        <p:sp>
          <p:nvSpPr>
            <p:cNvPr id="39" name="Rectangle: Rounded Corners 38">
              <a:extLst>
                <a:ext uri="{FF2B5EF4-FFF2-40B4-BE49-F238E27FC236}">
                  <a16:creationId xmlns:a16="http://schemas.microsoft.com/office/drawing/2014/main" id="{BA002826-58F0-2B0D-1038-C97581B5271D}"/>
                </a:ext>
              </a:extLst>
            </p:cNvPr>
            <p:cNvSpPr/>
            <p:nvPr/>
          </p:nvSpPr>
          <p:spPr>
            <a:xfrm>
              <a:off x="3824926" y="245745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a16="http://schemas.microsoft.com/office/drawing/2014/main" id="{1B79736A-236D-E3D9-6C83-C58E440FA780}"/>
                </a:ext>
              </a:extLst>
            </p:cNvPr>
            <p:cNvCxnSpPr>
              <a:cxnSpLocks/>
            </p:cNvCxnSpPr>
            <p:nvPr/>
          </p:nvCxnSpPr>
          <p:spPr>
            <a:xfrm flipV="1">
              <a:off x="7447899" y="226392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2414ECA-C1B7-3469-AA7E-EC751760A2ED}"/>
                </a:ext>
              </a:extLst>
            </p:cNvPr>
            <p:cNvSpPr/>
            <p:nvPr/>
          </p:nvSpPr>
          <p:spPr>
            <a:xfrm>
              <a:off x="4257352" y="32069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id="{ED51A595-29D8-A07D-C3F0-F222BCFA01C8}"/>
                </a:ext>
              </a:extLst>
            </p:cNvPr>
            <p:cNvSpPr/>
            <p:nvPr/>
          </p:nvSpPr>
          <p:spPr>
            <a:xfrm>
              <a:off x="5760231"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a16="http://schemas.microsoft.com/office/drawing/2014/main" id="{440BE548-A72A-2BF0-59F6-02658DA115FF}"/>
                </a:ext>
              </a:extLst>
            </p:cNvPr>
            <p:cNvSpPr/>
            <p:nvPr/>
          </p:nvSpPr>
          <p:spPr>
            <a:xfrm>
              <a:off x="6600481" y="363145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48" name="Oval 47">
              <a:extLst>
                <a:ext uri="{FF2B5EF4-FFF2-40B4-BE49-F238E27FC236}">
                  <a16:creationId xmlns:a16="http://schemas.microsoft.com/office/drawing/2014/main" id="{E6D8DDBB-3D1C-6DFC-433F-295B122112B7}"/>
                </a:ext>
              </a:extLst>
            </p:cNvPr>
            <p:cNvSpPr/>
            <p:nvPr/>
          </p:nvSpPr>
          <p:spPr>
            <a:xfrm>
              <a:off x="6771347"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4262BB3-B947-8525-67E1-678650132CEC}"/>
                    </a:ext>
                  </a:extLst>
                </p:cNvPr>
                <p:cNvSpPr txBox="1"/>
                <p:nvPr/>
              </p:nvSpPr>
              <p:spPr>
                <a:xfrm>
                  <a:off x="3105149" y="2539241"/>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105149" y="253924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A0E8F15-DE4D-390E-F4A4-F035B779E166}"/>
                </a:ext>
              </a:extLst>
            </p:cNvPr>
            <p:cNvSpPr/>
            <p:nvPr/>
          </p:nvSpPr>
          <p:spPr>
            <a:xfrm>
              <a:off x="6771347" y="31053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9213067C-7827-348E-6613-891F3A96783C}"/>
                    </a:ext>
                  </a:extLst>
                </p:cNvPr>
                <p:cNvSpPr/>
                <p:nvPr/>
              </p:nvSpPr>
              <p:spPr>
                <a:xfrm>
                  <a:off x="5730183" y="362621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5730183" y="362621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D9360C69-650C-8769-4C8B-CFCD0CF33DA6}"/>
                    </a:ext>
                  </a:extLst>
                </p:cNvPr>
                <p:cNvSpPr/>
                <p:nvPr/>
              </p:nvSpPr>
              <p:spPr>
                <a:xfrm>
                  <a:off x="4850361" y="362910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4850361" y="362910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C0629450-C119-502D-C9FE-A91B3C7D5847}"/>
                </a:ext>
              </a:extLst>
            </p:cNvPr>
            <p:cNvSpPr/>
            <p:nvPr/>
          </p:nvSpPr>
          <p:spPr>
            <a:xfrm>
              <a:off x="6203828" y="310399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a16="http://schemas.microsoft.com/office/drawing/2014/main" id="{54C05E61-D20B-738A-2DA6-6C154D176A9D}"/>
                </a:ext>
              </a:extLst>
            </p:cNvPr>
            <p:cNvCxnSpPr>
              <a:cxnSpLocks/>
              <a:stCxn id="5" idx="3"/>
              <a:endCxn id="52" idx="2"/>
            </p:cNvCxnSpPr>
            <p:nvPr/>
          </p:nvCxnSpPr>
          <p:spPr>
            <a:xfrm>
              <a:off x="3616732" y="272390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AA92D7CB-640B-D967-DC02-4066C5EB26AA}"/>
                </a:ext>
              </a:extLst>
            </p:cNvPr>
            <p:cNvCxnSpPr>
              <a:cxnSpLocks/>
              <a:stCxn id="14" idx="0"/>
              <a:endCxn id="52" idx="4"/>
            </p:cNvCxnSpPr>
            <p:nvPr/>
          </p:nvCxnSpPr>
          <p:spPr>
            <a:xfrm flipV="1">
              <a:off x="5896438" y="286844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0D1B64B4-7D6A-099F-591C-1F74EE2899F3}"/>
                </a:ext>
              </a:extLst>
            </p:cNvPr>
            <p:cNvSpPr txBox="1"/>
            <p:nvPr/>
          </p:nvSpPr>
          <p:spPr>
            <a:xfrm>
              <a:off x="6166763" y="305585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a16="http://schemas.microsoft.com/office/drawing/2014/main" id="{F1C8C073-B9C6-A980-3D68-03DD6E4321DA}"/>
                </a:ext>
              </a:extLst>
            </p:cNvPr>
            <p:cNvCxnSpPr>
              <a:stCxn id="52" idx="6"/>
              <a:endCxn id="48" idx="2"/>
            </p:cNvCxnSpPr>
            <p:nvPr/>
          </p:nvCxnSpPr>
          <p:spPr>
            <a:xfrm>
              <a:off x="6033281" y="273192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E2228004-25D2-FC50-BB67-5122D67A3E40}"/>
                </a:ext>
              </a:extLst>
            </p:cNvPr>
            <p:cNvCxnSpPr>
              <a:stCxn id="4" idx="0"/>
              <a:endCxn id="48" idx="4"/>
            </p:cNvCxnSpPr>
            <p:nvPr/>
          </p:nvCxnSpPr>
          <p:spPr>
            <a:xfrm flipV="1">
              <a:off x="6907872" y="286844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224F3CC-FC36-8E12-DB65-87AA483CCE92}"/>
                </a:ext>
              </a:extLst>
            </p:cNvPr>
            <p:cNvCxnSpPr>
              <a:cxnSpLocks/>
              <a:stCxn id="12" idx="0"/>
              <a:endCxn id="4" idx="4"/>
            </p:cNvCxnSpPr>
            <p:nvPr/>
          </p:nvCxnSpPr>
          <p:spPr>
            <a:xfrm flipV="1">
              <a:off x="6907872" y="337836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id="{FC4C760C-41A3-2B9F-BDBD-EACAF2930C86}"/>
                </a:ext>
              </a:extLst>
            </p:cNvPr>
            <p:cNvCxnSpPr>
              <a:cxnSpLocks/>
              <a:stCxn id="48" idx="6"/>
            </p:cNvCxnSpPr>
            <p:nvPr/>
          </p:nvCxnSpPr>
          <p:spPr>
            <a:xfrm>
              <a:off x="7044396" y="273192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88590DC-E339-4D94-6CCB-A85E1063A95C}"/>
                    </a:ext>
                  </a:extLst>
                </p:cNvPr>
                <p:cNvSpPr txBox="1"/>
                <p:nvPr/>
              </p:nvSpPr>
              <p:spPr>
                <a:xfrm>
                  <a:off x="7670227" y="253924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7670227" y="253924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a16="http://schemas.microsoft.com/office/drawing/2014/main" id="{540822DA-C440-2FF8-1393-44F98D89EC54}"/>
                </a:ext>
              </a:extLst>
            </p:cNvPr>
            <p:cNvCxnSpPr>
              <a:stCxn id="19" idx="0"/>
              <a:endCxn id="37" idx="6"/>
            </p:cNvCxnSpPr>
            <p:nvPr/>
          </p:nvCxnSpPr>
          <p:spPr>
            <a:xfrm rot="16200000" flipV="1">
              <a:off x="4630679" y="324316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id="{180749C7-0E69-D172-CFA1-210BCB96C9E1}"/>
                </a:ext>
              </a:extLst>
            </p:cNvPr>
            <p:cNvCxnSpPr/>
            <p:nvPr/>
          </p:nvCxnSpPr>
          <p:spPr>
            <a:xfrm flipV="1">
              <a:off x="4393877" y="273192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75ACD4F-2125-CA2F-A6D1-F0CFBF0C345E}"/>
                    </a:ext>
                  </a:extLst>
                </p:cNvPr>
                <p:cNvSpPr txBox="1"/>
                <p:nvPr/>
              </p:nvSpPr>
              <p:spPr>
                <a:xfrm>
                  <a:off x="3794542" y="447444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3794542" y="447444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a16="http://schemas.microsoft.com/office/drawing/2014/main" id="{0DE47F14-750D-68C0-E1AD-B3723EE38EFD}"/>
                </a:ext>
              </a:extLst>
            </p:cNvPr>
            <p:cNvCxnSpPr>
              <a:cxnSpLocks/>
            </p:cNvCxnSpPr>
            <p:nvPr/>
          </p:nvCxnSpPr>
          <p:spPr>
            <a:xfrm rot="5400000">
              <a:off x="5303075" y="264494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id="{716C0B98-441D-08AF-01CE-CB39C12BF5BC}"/>
                </a:ext>
              </a:extLst>
            </p:cNvPr>
            <p:cNvCxnSpPr/>
            <p:nvPr/>
          </p:nvCxnSpPr>
          <p:spPr>
            <a:xfrm flipV="1">
              <a:off x="4025900" y="273192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id="{737121D0-0380-2E97-A3BF-0A624A417999}"/>
                </a:ext>
              </a:extLst>
            </p:cNvPr>
            <p:cNvCxnSpPr>
              <a:cxnSpLocks/>
              <a:stCxn id="114" idx="2"/>
              <a:endCxn id="14" idx="2"/>
            </p:cNvCxnSpPr>
            <p:nvPr/>
          </p:nvCxnSpPr>
          <p:spPr>
            <a:xfrm flipV="1">
              <a:off x="4124324" y="392408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a16="http://schemas.microsoft.com/office/drawing/2014/main" id="{11A13A5E-D171-20F2-D972-AD32DF855867}"/>
                </a:ext>
              </a:extLst>
            </p:cNvPr>
            <p:cNvSpPr/>
            <p:nvPr/>
          </p:nvSpPr>
          <p:spPr>
            <a:xfrm>
              <a:off x="4019549" y="382190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id="{4CA64C18-D2EA-8E55-6B93-5C413921DD43}"/>
                </a:ext>
              </a:extLst>
            </p:cNvPr>
            <p:cNvCxnSpPr/>
            <p:nvPr/>
          </p:nvCxnSpPr>
          <p:spPr>
            <a:xfrm flipV="1">
              <a:off x="4024311" y="415980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a16="http://schemas.microsoft.com/office/drawing/2014/main" id="{B1F4FBC4-364C-A19F-A81D-DA38A3FDF67F}"/>
                </a:ext>
              </a:extLst>
            </p:cNvPr>
            <p:cNvSpPr/>
            <p:nvPr/>
          </p:nvSpPr>
          <p:spPr>
            <a:xfrm rot="5170363">
              <a:off x="4082093" y="398985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id="{A4AFA3A5-3D61-AD77-0FD5-E05A04A78770}"/>
                </a:ext>
              </a:extLst>
            </p:cNvPr>
            <p:cNvCxnSpPr>
              <a:cxnSpLocks/>
              <a:stCxn id="19" idx="2"/>
            </p:cNvCxnSpPr>
            <p:nvPr/>
          </p:nvCxnSpPr>
          <p:spPr>
            <a:xfrm>
              <a:off x="5016616" y="392697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2ADCA7E5-A076-5B32-BC9D-A16A6D795C3A}"/>
                    </a:ext>
                  </a:extLst>
                </p:cNvPr>
                <p:cNvSpPr txBox="1"/>
                <p:nvPr/>
              </p:nvSpPr>
              <p:spPr>
                <a:xfrm>
                  <a:off x="5526656" y="3241867"/>
                  <a:ext cx="44396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5526656" y="324186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30D44200-682E-3C64-7263-CD46DB66F451}"/>
                    </a:ext>
                  </a:extLst>
                </p:cNvPr>
                <p:cNvSpPr txBox="1"/>
                <p:nvPr/>
              </p:nvSpPr>
              <p:spPr>
                <a:xfrm>
                  <a:off x="4645948" y="3266999"/>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4645948" y="326699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6700C2E8-30BB-D3C5-50C9-1951D85495E1}"/>
                    </a:ext>
                  </a:extLst>
                </p:cNvPr>
                <p:cNvSpPr txBox="1"/>
                <p:nvPr/>
              </p:nvSpPr>
              <p:spPr>
                <a:xfrm>
                  <a:off x="6938718" y="3242881"/>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6938718" y="3242881"/>
                  <a:ext cx="471218" cy="383759"/>
                </a:xfrm>
                <a:prstGeom prst="rect">
                  <a:avLst/>
                </a:prstGeom>
                <a:blipFill>
                  <a:blip r:embed="rId10"/>
                  <a:stretch>
                    <a:fillRect t="-7937" r="-3846"/>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84BBC452-1110-2988-2E65-E445EE63C4C7}"/>
                </a:ext>
              </a:extLst>
            </p:cNvPr>
            <p:cNvSpPr/>
            <p:nvPr/>
          </p:nvSpPr>
          <p:spPr>
            <a:xfrm>
              <a:off x="4190568" y="305032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3AB5C93-A0FA-4FF5-F0AA-FD75161F0631}"/>
                </a:ext>
              </a:extLst>
            </p:cNvPr>
            <p:cNvSpPr txBox="1"/>
            <p:nvPr/>
          </p:nvSpPr>
          <p:spPr>
            <a:xfrm>
              <a:off x="5359355" y="184829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a16="http://schemas.microsoft.com/office/drawing/2014/main" id="{7B4BB778-3C5D-0F93-B5F7-D66D9C30556C}"/>
                </a:ext>
              </a:extLst>
            </p:cNvPr>
            <p:cNvCxnSpPr>
              <a:cxnSpLocks/>
              <a:endCxn id="6" idx="2"/>
            </p:cNvCxnSpPr>
            <p:nvPr/>
          </p:nvCxnSpPr>
          <p:spPr>
            <a:xfrm flipH="1" flipV="1">
              <a:off x="5830038" y="2309957"/>
              <a:ext cx="646840" cy="191408"/>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027BE59C-84F5-3A6A-1F58-4156CACC3A1F}"/>
                </a:ext>
              </a:extLst>
            </p:cNvPr>
            <p:cNvSpPr txBox="1"/>
            <p:nvPr/>
          </p:nvSpPr>
          <p:spPr>
            <a:xfrm>
              <a:off x="4283136" y="185926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a16="http://schemas.microsoft.com/office/drawing/2014/main" id="{F4D7901D-0577-0DF7-A300-F4B8DDD2B08B}"/>
                </a:ext>
              </a:extLst>
            </p:cNvPr>
            <p:cNvCxnSpPr>
              <a:cxnSpLocks/>
              <a:stCxn id="3" idx="0"/>
              <a:endCxn id="9" idx="2"/>
            </p:cNvCxnSpPr>
            <p:nvPr/>
          </p:nvCxnSpPr>
          <p:spPr>
            <a:xfrm flipV="1">
              <a:off x="4749414" y="232092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8CF85A48-30D2-A843-6627-1DD7BA329BD6}"/>
                </a:ext>
              </a:extLst>
            </p:cNvPr>
            <p:cNvCxnSpPr>
              <a:cxnSpLocks/>
              <a:endCxn id="17" idx="2"/>
            </p:cNvCxnSpPr>
            <p:nvPr/>
          </p:nvCxnSpPr>
          <p:spPr>
            <a:xfrm>
              <a:off x="5896438" y="324051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53162AA-0266-E2D5-F390-ED75645298B3}"/>
                </a:ext>
              </a:extLst>
            </p:cNvPr>
            <p:cNvCxnSpPr>
              <a:cxnSpLocks/>
              <a:stCxn id="17" idx="6"/>
              <a:endCxn id="4" idx="2"/>
            </p:cNvCxnSpPr>
            <p:nvPr/>
          </p:nvCxnSpPr>
          <p:spPr>
            <a:xfrm>
              <a:off x="6476878" y="324051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151">
                  <a:extLst>
                    <a:ext uri="{FF2B5EF4-FFF2-40B4-BE49-F238E27FC236}">
                      <a16:creationId xmlns:a16="http://schemas.microsoft.com/office/drawing/2014/main" id="{13433DA1-D8F5-0EEE-EEC8-A05EC5E55CCC}"/>
                    </a:ext>
                  </a:extLst>
                </p:cNvPr>
                <p:cNvSpPr txBox="1"/>
                <p:nvPr/>
              </p:nvSpPr>
              <p:spPr>
                <a:xfrm>
                  <a:off x="7467796" y="213377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46"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7467796" y="2133771"/>
                  <a:ext cx="363844" cy="369332"/>
                </a:xfrm>
                <a:prstGeom prst="rect">
                  <a:avLst/>
                </a:prstGeom>
                <a:blipFill>
                  <a:blip r:embed="rId11"/>
                  <a:stretch>
                    <a:fillRect/>
                  </a:stretch>
                </a:blipFill>
              </p:spPr>
              <p:txBody>
                <a:bodyPr/>
                <a:lstStyle/>
                <a:p>
                  <a:r>
                    <a:rPr lang="en-US">
                      <a:noFill/>
                    </a:rPr>
                    <a:t> </a:t>
                  </a:r>
                </a:p>
              </p:txBody>
            </p:sp>
          </mc:Fallback>
        </mc:AlternateContent>
        <p:grpSp>
          <p:nvGrpSpPr>
            <p:cNvPr id="44" name="Agrupar 43">
              <a:extLst>
                <a:ext uri="{FF2B5EF4-FFF2-40B4-BE49-F238E27FC236}">
                  <a16:creationId xmlns:a16="http://schemas.microsoft.com/office/drawing/2014/main" id="{A3051DFC-A45B-FD0E-D278-10E63E4DF97B}"/>
                </a:ext>
              </a:extLst>
            </p:cNvPr>
            <p:cNvGrpSpPr/>
            <p:nvPr/>
          </p:nvGrpSpPr>
          <p:grpSpPr>
            <a:xfrm>
              <a:off x="5584607" y="2516381"/>
              <a:ext cx="1717688" cy="1642522"/>
              <a:chOff x="8827837" y="3357993"/>
              <a:chExt cx="1717688" cy="1642522"/>
            </a:xfrm>
          </p:grpSpPr>
          <p:cxnSp>
            <p:nvCxnSpPr>
              <p:cNvPr id="28" name="Conector reto 27">
                <a:extLst>
                  <a:ext uri="{FF2B5EF4-FFF2-40B4-BE49-F238E27FC236}">
                    <a16:creationId xmlns:a16="http://schemas.microsoft.com/office/drawing/2014/main" id="{3C801D42-BBEE-7EA8-C27E-E2E9B59BEF4E}"/>
                  </a:ext>
                </a:extLst>
              </p:cNvPr>
              <p:cNvCxnSpPr>
                <a:cxnSpLocks/>
              </p:cNvCxnSpPr>
              <p:nvPr/>
            </p:nvCxnSpPr>
            <p:spPr>
              <a:xfrm>
                <a:off x="8827837" y="3357993"/>
                <a:ext cx="0" cy="1642522"/>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33" name="Conector reto 32">
                <a:extLst>
                  <a:ext uri="{FF2B5EF4-FFF2-40B4-BE49-F238E27FC236}">
                    <a16:creationId xmlns:a16="http://schemas.microsoft.com/office/drawing/2014/main" id="{B1603849-608A-D0CB-04FF-7FFE5C64EBD4}"/>
                  </a:ext>
                </a:extLst>
              </p:cNvPr>
              <p:cNvCxnSpPr>
                <a:cxnSpLocks/>
              </p:cNvCxnSpPr>
              <p:nvPr/>
            </p:nvCxnSpPr>
            <p:spPr>
              <a:xfrm flipH="1">
                <a:off x="8827837" y="3357993"/>
                <a:ext cx="1717688"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grpSp>
        <p:cxnSp>
          <p:nvCxnSpPr>
            <p:cNvPr id="49" name="Conector reto 48">
              <a:extLst>
                <a:ext uri="{FF2B5EF4-FFF2-40B4-BE49-F238E27FC236}">
                  <a16:creationId xmlns:a16="http://schemas.microsoft.com/office/drawing/2014/main" id="{7ED3F87C-EFFD-4DE1-2450-B47542CF5F92}"/>
                </a:ext>
              </a:extLst>
            </p:cNvPr>
            <p:cNvCxnSpPr/>
            <p:nvPr/>
          </p:nvCxnSpPr>
          <p:spPr>
            <a:xfrm>
              <a:off x="5584607" y="4158903"/>
              <a:ext cx="756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0" name="Conector reto 49">
              <a:extLst>
                <a:ext uri="{FF2B5EF4-FFF2-40B4-BE49-F238E27FC236}">
                  <a16:creationId xmlns:a16="http://schemas.microsoft.com/office/drawing/2014/main" id="{E34E9718-BF01-738B-8B73-3E583890193A}"/>
                </a:ext>
              </a:extLst>
            </p:cNvPr>
            <p:cNvCxnSpPr/>
            <p:nvPr/>
          </p:nvCxnSpPr>
          <p:spPr>
            <a:xfrm>
              <a:off x="6338693" y="3582688"/>
              <a:ext cx="972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1" name="Conector reto 50">
              <a:extLst>
                <a:ext uri="{FF2B5EF4-FFF2-40B4-BE49-F238E27FC236}">
                  <a16:creationId xmlns:a16="http://schemas.microsoft.com/office/drawing/2014/main" id="{DEA0A1B2-AC93-F32B-6CCA-266EDCD9B1B6}"/>
                </a:ext>
              </a:extLst>
            </p:cNvPr>
            <p:cNvCxnSpPr>
              <a:cxnSpLocks/>
            </p:cNvCxnSpPr>
            <p:nvPr/>
          </p:nvCxnSpPr>
          <p:spPr>
            <a:xfrm flipH="1" flipV="1">
              <a:off x="6331156" y="3587184"/>
              <a:ext cx="1783" cy="5760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9" name="Conector reto 58">
              <a:extLst>
                <a:ext uri="{FF2B5EF4-FFF2-40B4-BE49-F238E27FC236}">
                  <a16:creationId xmlns:a16="http://schemas.microsoft.com/office/drawing/2014/main" id="{C7A5282E-7541-7BB9-8579-7C168E5DCBDB}"/>
                </a:ext>
              </a:extLst>
            </p:cNvPr>
            <p:cNvCxnSpPr>
              <a:cxnSpLocks/>
            </p:cNvCxnSpPr>
            <p:nvPr/>
          </p:nvCxnSpPr>
          <p:spPr>
            <a:xfrm flipH="1" flipV="1">
              <a:off x="7315217" y="2522793"/>
              <a:ext cx="4437" cy="10241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sp>
          <p:nvSpPr>
            <p:cNvPr id="2" name="Freeform: Shape 159">
              <a:extLst>
                <a:ext uri="{FF2B5EF4-FFF2-40B4-BE49-F238E27FC236}">
                  <a16:creationId xmlns:a16="http://schemas.microsoft.com/office/drawing/2014/main" id="{01FDC6DC-1E90-1E8B-0DFA-A33BB1DA9614}"/>
                </a:ext>
              </a:extLst>
            </p:cNvPr>
            <p:cNvSpPr/>
            <p:nvPr/>
          </p:nvSpPr>
          <p:spPr>
            <a:xfrm rot="21335253">
              <a:off x="4397003" y="402907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nector reto 6">
              <a:extLst>
                <a:ext uri="{FF2B5EF4-FFF2-40B4-BE49-F238E27FC236}">
                  <a16:creationId xmlns:a16="http://schemas.microsoft.com/office/drawing/2014/main" id="{E74C7B34-C122-8861-FE4A-62F6E6658992}"/>
                </a:ext>
              </a:extLst>
            </p:cNvPr>
            <p:cNvCxnSpPr>
              <a:endCxn id="2" idx="0"/>
            </p:cNvCxnSpPr>
            <p:nvPr/>
          </p:nvCxnSpPr>
          <p:spPr>
            <a:xfrm flipH="1">
              <a:off x="4394444" y="3479965"/>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p:cNvGrpSpPr/>
          <p:nvPr/>
        </p:nvGrpSpPr>
        <p:grpSpPr>
          <a:xfrm>
            <a:off x="438243" y="2178701"/>
            <a:ext cx="5212640" cy="3419852"/>
            <a:chOff x="438243" y="2178701"/>
            <a:chExt cx="5212640" cy="3419852"/>
          </a:xfrm>
        </p:grpSpPr>
        <p:sp>
          <p:nvSpPr>
            <p:cNvPr id="5" name="Retângulo 4"/>
            <p:cNvSpPr/>
            <p:nvPr/>
          </p:nvSpPr>
          <p:spPr>
            <a:xfrm>
              <a:off x="1132114" y="3641911"/>
              <a:ext cx="972456" cy="754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a:t>RNN</a:t>
              </a:r>
            </a:p>
          </p:txBody>
        </p:sp>
        <p:sp>
          <p:nvSpPr>
            <p:cNvPr id="6" name="CaixaDeTexto 5"/>
            <p:cNvSpPr txBox="1"/>
            <p:nvPr/>
          </p:nvSpPr>
          <p:spPr>
            <a:xfrm>
              <a:off x="762000" y="2625271"/>
              <a:ext cx="1712685" cy="369332"/>
            </a:xfrm>
            <a:prstGeom prst="rect">
              <a:avLst/>
            </a:prstGeom>
            <a:noFill/>
            <a:ln>
              <a:solidFill>
                <a:schemeClr val="tx1"/>
              </a:solidFill>
            </a:ln>
          </p:spPr>
          <p:txBody>
            <a:bodyPr wrap="square" rtlCol="0">
              <a:spAutoFit/>
            </a:bodyPr>
            <a:lstStyle/>
            <a:p>
              <a:pPr algn="ctr"/>
              <a:r>
                <a:rPr lang="pt-BR" b="1" dirty="0">
                  <a:effectLst>
                    <a:outerShdw blurRad="38100" dist="38100" dir="2700000" algn="tl">
                      <a:srgbClr val="000000">
                        <a:alpha val="43137"/>
                      </a:srgbClr>
                    </a:outerShdw>
                  </a:effectLst>
                </a:rPr>
                <a:t>O gato subiu no</a:t>
              </a:r>
            </a:p>
          </p:txBody>
        </p:sp>
        <p:cxnSp>
          <p:nvCxnSpPr>
            <p:cNvPr id="7" name="Conector de seta reta 6"/>
            <p:cNvCxnSpPr>
              <a:stCxn id="6" idx="2"/>
              <a:endCxn id="5" idx="0"/>
            </p:cNvCxnSpPr>
            <p:nvPr/>
          </p:nvCxnSpPr>
          <p:spPr>
            <a:xfrm flipH="1">
              <a:off x="1618342" y="2994603"/>
              <a:ext cx="1" cy="647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3233057" y="3305625"/>
              <a:ext cx="1152000" cy="2775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0.6</a:t>
              </a:r>
            </a:p>
          </p:txBody>
        </p:sp>
        <p:sp>
          <p:nvSpPr>
            <p:cNvPr id="9" name="CaixaDeTexto 8"/>
            <p:cNvSpPr txBox="1"/>
            <p:nvPr/>
          </p:nvSpPr>
          <p:spPr>
            <a:xfrm>
              <a:off x="4362435" y="3259752"/>
              <a:ext cx="934166"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Telhado</a:t>
              </a:r>
            </a:p>
          </p:txBody>
        </p:sp>
        <p:sp>
          <p:nvSpPr>
            <p:cNvPr id="10" name="Retângulo 9"/>
            <p:cNvSpPr/>
            <p:nvPr/>
          </p:nvSpPr>
          <p:spPr>
            <a:xfrm>
              <a:off x="3244837" y="3728355"/>
              <a:ext cx="504000" cy="2775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1" name="CaixaDeTexto 10"/>
            <p:cNvSpPr txBox="1"/>
            <p:nvPr/>
          </p:nvSpPr>
          <p:spPr>
            <a:xfrm>
              <a:off x="4350655" y="3686504"/>
              <a:ext cx="972702"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Hospital</a:t>
              </a:r>
            </a:p>
          </p:txBody>
        </p:sp>
        <p:sp>
          <p:nvSpPr>
            <p:cNvPr id="12" name="Retângulo 11"/>
            <p:cNvSpPr/>
            <p:nvPr/>
          </p:nvSpPr>
          <p:spPr>
            <a:xfrm>
              <a:off x="3244837" y="4153457"/>
              <a:ext cx="720000" cy="27758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0.2</a:t>
              </a:r>
            </a:p>
          </p:txBody>
        </p:sp>
        <p:sp>
          <p:nvSpPr>
            <p:cNvPr id="13" name="CaixaDeTexto 12"/>
            <p:cNvSpPr txBox="1"/>
            <p:nvPr/>
          </p:nvSpPr>
          <p:spPr>
            <a:xfrm>
              <a:off x="4350655" y="4111606"/>
              <a:ext cx="712439"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Muro</a:t>
              </a:r>
            </a:p>
          </p:txBody>
        </p:sp>
        <p:sp>
          <p:nvSpPr>
            <p:cNvPr id="14" name="Retângulo 13"/>
            <p:cNvSpPr/>
            <p:nvPr/>
          </p:nvSpPr>
          <p:spPr>
            <a:xfrm>
              <a:off x="3244837" y="4561505"/>
              <a:ext cx="504000" cy="27758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5" name="CaixaDeTexto 14"/>
            <p:cNvSpPr txBox="1"/>
            <p:nvPr/>
          </p:nvSpPr>
          <p:spPr>
            <a:xfrm>
              <a:off x="4350655" y="4519654"/>
              <a:ext cx="1300228"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Espaçonave</a:t>
              </a:r>
            </a:p>
          </p:txBody>
        </p:sp>
        <p:cxnSp>
          <p:nvCxnSpPr>
            <p:cNvPr id="16" name="Conector angulado 15"/>
            <p:cNvCxnSpPr>
              <a:stCxn id="5" idx="3"/>
              <a:endCxn id="8" idx="1"/>
            </p:cNvCxnSpPr>
            <p:nvPr/>
          </p:nvCxnSpPr>
          <p:spPr>
            <a:xfrm flipV="1">
              <a:off x="2104570" y="3444419"/>
              <a:ext cx="1128487" cy="57486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p:cNvCxnSpPr>
              <a:stCxn id="5" idx="3"/>
              <a:endCxn id="10" idx="1"/>
            </p:cNvCxnSpPr>
            <p:nvPr/>
          </p:nvCxnSpPr>
          <p:spPr>
            <a:xfrm flipV="1">
              <a:off x="2104570" y="3867149"/>
              <a:ext cx="1140267" cy="1521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p:cNvCxnSpPr>
              <a:stCxn id="5" idx="3"/>
              <a:endCxn id="12" idx="1"/>
            </p:cNvCxnSpPr>
            <p:nvPr/>
          </p:nvCxnSpPr>
          <p:spPr>
            <a:xfrm>
              <a:off x="2104570" y="4019283"/>
              <a:ext cx="1140267" cy="27296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angulado 18"/>
            <p:cNvCxnSpPr>
              <a:stCxn id="5" idx="3"/>
              <a:endCxn id="14" idx="1"/>
            </p:cNvCxnSpPr>
            <p:nvPr/>
          </p:nvCxnSpPr>
          <p:spPr>
            <a:xfrm>
              <a:off x="2104570" y="4019283"/>
              <a:ext cx="1140267" cy="6810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aixaDeTexto 19"/>
            <p:cNvSpPr txBox="1"/>
            <p:nvPr/>
          </p:nvSpPr>
          <p:spPr>
            <a:xfrm>
              <a:off x="438243" y="2178701"/>
              <a:ext cx="2360198" cy="307777"/>
            </a:xfrm>
            <a:prstGeom prst="rect">
              <a:avLst/>
            </a:prstGeom>
            <a:noFill/>
          </p:spPr>
          <p:txBody>
            <a:bodyPr wrap="none" rtlCol="0">
              <a:spAutoFit/>
            </a:bodyPr>
            <a:lstStyle/>
            <a:p>
              <a:r>
                <a:rPr lang="pt-BR" sz="1400" dirty="0"/>
                <a:t>Palavras anteriores (contexto)</a:t>
              </a:r>
            </a:p>
          </p:txBody>
        </p:sp>
        <p:sp>
          <p:nvSpPr>
            <p:cNvPr id="21" name="CaixaDeTexto 20"/>
            <p:cNvSpPr txBox="1"/>
            <p:nvPr/>
          </p:nvSpPr>
          <p:spPr>
            <a:xfrm>
              <a:off x="3102427" y="2645949"/>
              <a:ext cx="2322287" cy="523220"/>
            </a:xfrm>
            <a:prstGeom prst="rect">
              <a:avLst/>
            </a:prstGeom>
            <a:noFill/>
          </p:spPr>
          <p:txBody>
            <a:bodyPr wrap="square" rtlCol="0">
              <a:spAutoFit/>
            </a:bodyPr>
            <a:lstStyle/>
            <a:p>
              <a:pPr algn="ctr"/>
              <a:r>
                <a:rPr lang="pt-BR" sz="1400" dirty="0"/>
                <a:t>Distribuição de probabilidade da próxima palavra</a:t>
              </a:r>
            </a:p>
          </p:txBody>
        </p:sp>
        <p:sp>
          <p:nvSpPr>
            <p:cNvPr id="22" name="CaixaDeTexto 21"/>
            <p:cNvSpPr txBox="1"/>
            <p:nvPr/>
          </p:nvSpPr>
          <p:spPr>
            <a:xfrm>
              <a:off x="2974314" y="5075333"/>
              <a:ext cx="2322287" cy="523220"/>
            </a:xfrm>
            <a:prstGeom prst="rect">
              <a:avLst/>
            </a:prstGeom>
            <a:noFill/>
          </p:spPr>
          <p:txBody>
            <a:bodyPr wrap="square" rtlCol="0">
              <a:spAutoFit/>
            </a:bodyPr>
            <a:lstStyle/>
            <a:p>
              <a:pPr algn="ctr"/>
              <a:r>
                <a:rPr lang="pt-BR" sz="1400" dirty="0"/>
                <a:t>A palavra com maior probabilidade é escolhida</a:t>
              </a:r>
            </a:p>
          </p:txBody>
        </p:sp>
      </p:grpSp>
    </p:spTree>
    <p:extLst>
      <p:ext uri="{BB962C8B-B14F-4D97-AF65-F5344CB8AC3E}">
        <p14:creationId xmlns:p14="http://schemas.microsoft.com/office/powerpoint/2010/main" val="152773729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12917</TotalTime>
  <Words>9813</Words>
  <Application>Microsoft Office PowerPoint</Application>
  <PresentationFormat>Widescreen</PresentationFormat>
  <Paragraphs>1288</Paragraphs>
  <Slides>101</Slides>
  <Notes>68</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101</vt:i4>
      </vt:variant>
    </vt:vector>
  </HeadingPairs>
  <TitlesOfParts>
    <vt:vector size="108"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Limitação de redes tradicionais</vt:lpstr>
      <vt:lpstr>Apresentação do PowerPoint</vt:lpstr>
      <vt:lpstr>Apresentação do PowerPoint</vt:lpstr>
      <vt:lpstr>Aplicações de redes neurais recorrentes</vt:lpstr>
      <vt:lpstr>Padrões temporais</vt:lpstr>
      <vt:lpstr>Redes recorrentes</vt:lpstr>
      <vt:lpstr>Redes recorrentes</vt:lpstr>
      <vt:lpstr>Redes recorrentes</vt:lpstr>
      <vt:lpstr>Apresentação do PowerPoint</vt:lpstr>
      <vt:lpstr>Célula recorrente</vt:lpstr>
      <vt:lpstr>Célula recorrente</vt:lpstr>
      <vt:lpstr>Célula recorrente</vt:lpstr>
      <vt:lpstr>Atualização do estado e geração da saída</vt:lpstr>
      <vt:lpstr>Célula recorrente</vt:lpstr>
      <vt:lpstr>Célula recorrente: passo a passo</vt:lpstr>
      <vt:lpstr>Desdobrando uma RNN</vt:lpstr>
      <vt:lpstr>Desdobrando uma RNN</vt:lpstr>
      <vt:lpstr>Desdobrando uma RNN</vt:lpstr>
      <vt:lpstr>Desdobrando uma RNN</vt:lpstr>
      <vt:lpstr>Treinando uma RNN</vt:lpstr>
      <vt:lpstr>Treinando uma RNN</vt:lpstr>
      <vt:lpstr>Treinando uma RNN</vt:lpstr>
      <vt:lpstr>Treinando uma RNN: BPTT</vt:lpstr>
      <vt:lpstr>Apresentação do PowerPoint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Truncated Backpropagation Through Time (TBPTT)</vt:lpstr>
      <vt:lpstr>Por que o BPTT truncado funciona?</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Como as portas funcionam?</vt:lpstr>
      <vt:lpstr>Como as portas funcionam?</vt:lpstr>
      <vt:lpstr>Long-short term memory (LSTM)</vt:lpstr>
      <vt:lpstr>Como as portas funcionam?</vt:lpstr>
      <vt:lpstr>Como as portas funcionam?</vt:lpstr>
      <vt:lpstr>Dinâmica das portas em uma célula LSTM</vt:lpstr>
      <vt:lpstr>Dinâmica das portas em uma célula LSTM</vt:lpstr>
      <vt:lpstr>Porta de esquecimento</vt:lpstr>
      <vt:lpstr>Porta de entrada</vt:lpstr>
      <vt:lpstr>Porta de saída</vt:lpstr>
      <vt:lpstr>Vetor de estado de longo prazo</vt:lpstr>
      <vt:lpstr>Resumo: o que uma célula LSTM faz?</vt:lpstr>
      <vt:lpstr>Principais desvantagens de LSTMs</vt:lpstr>
      <vt:lpstr>Apresentação do PowerPoint</vt:lpstr>
      <vt:lpstr>Gated recurrent unit (GRU)</vt:lpstr>
      <vt:lpstr>Gated recurrent unit (GRU)</vt:lpstr>
      <vt:lpstr>Gated recurrent unit (GRU)</vt:lpstr>
      <vt:lpstr>Gated recurrent unit (GRU)</vt:lpstr>
      <vt:lpstr>Gated recurrent unit (GRU)</vt:lpstr>
      <vt:lpstr>Apresentação do PowerPoint</vt:lpstr>
      <vt:lpstr>Desaparecimento em RNNs tradicionais</vt:lpstr>
      <vt:lpstr>Como LSTMs e GRUs atacam o problema</vt:lpstr>
      <vt:lpstr>Desaparecimento do gradiente</vt:lpstr>
      <vt:lpstr>Apresentação do PowerPoint</vt:lpstr>
      <vt:lpstr>Aplicação: um-para-um</vt:lpstr>
      <vt:lpstr>Aplicação: um-para-vários</vt:lpstr>
      <vt:lpstr>Aplicação: vários-para-um</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Por que não usar funções de ativação ReLU?</vt:lpstr>
      <vt:lpstr>Apresentação do PowerPoint</vt:lpstr>
      <vt:lpstr>Resumo das equações de atualização da célula</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2411</cp:revision>
  <dcterms:created xsi:type="dcterms:W3CDTF">2020-01-20T13:50:05Z</dcterms:created>
  <dcterms:modified xsi:type="dcterms:W3CDTF">2026-10-26T19:54:11Z</dcterms:modified>
</cp:coreProperties>
</file>