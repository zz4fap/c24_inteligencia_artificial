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347" r:id="rId3"/>
    <p:sldId id="348" r:id="rId4"/>
    <p:sldId id="329" r:id="rId5"/>
    <p:sldId id="351" r:id="rId6"/>
    <p:sldId id="350" r:id="rId7"/>
    <p:sldId id="353" r:id="rId8"/>
    <p:sldId id="349" r:id="rId9"/>
    <p:sldId id="355" r:id="rId10"/>
    <p:sldId id="354" r:id="rId11"/>
    <p:sldId id="332" r:id="rId12"/>
    <p:sldId id="356" r:id="rId13"/>
    <p:sldId id="352" r:id="rId14"/>
    <p:sldId id="293" r:id="rId15"/>
    <p:sldId id="306" r:id="rId16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8" autoAdjust="0"/>
    <p:restoredTop sz="79540" autoAdjust="0"/>
  </p:normalViewPr>
  <p:slideViewPr>
    <p:cSldViewPr snapToGrid="0">
      <p:cViewPr varScale="1">
        <p:scale>
          <a:sx n="88" d="100"/>
          <a:sy n="88" d="100"/>
        </p:scale>
        <p:origin x="1698" y="66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18/02/2026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 err="1"/>
              <a:t>Motivacão</a:t>
            </a:r>
            <a:r>
              <a:rPr lang="pt-BR" dirty="0"/>
              <a:t>:</a:t>
            </a:r>
            <a:r>
              <a:rPr lang="pt-BR" baseline="0" dirty="0"/>
              <a:t> </a:t>
            </a:r>
            <a:r>
              <a:rPr lang="pt-BR" baseline="0" dirty="0" err="1"/>
              <a:t>classificacão</a:t>
            </a:r>
            <a:r>
              <a:rPr lang="pt-BR" baseline="0" dirty="0"/>
              <a:t> de e-mails, detecção de símbolos, classificação de modulações, etc.</a:t>
            </a:r>
            <a:endParaRPr lang="pt-BR" dirty="0"/>
          </a:p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2863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5174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DA5E1-00E0-2F8D-E426-C2BE1BC87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5444DB-79D2-76F0-537D-343DD7EF7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29730-5EFD-DF7F-FC23-84032A9E7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740AF-93D3-5439-F324-AEC42AF75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814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elipe.figueiredo@Inatel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A. P. de Figueiredo</a:t>
            </a:r>
          </a:p>
          <a:p>
            <a:r>
              <a:rPr lang="pt-BR" dirty="0">
                <a:hlinkClick r:id="rId3"/>
              </a:rPr>
              <a:t>felipe.figueiredo@Inatel.br</a:t>
            </a:r>
            <a:endParaRPr lang="pt-BR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767" y="836433"/>
            <a:ext cx="10906298" cy="2690156"/>
          </a:xfrm>
        </p:spPr>
        <p:txBody>
          <a:bodyPr anchor="ctr">
            <a:noAutofit/>
          </a:bodyPr>
          <a:lstStyle/>
          <a:p>
            <a:r>
              <a:rPr lang="pt-BR" sz="6600" dirty="0"/>
              <a:t>C24 – Inteligência Artificial:</a:t>
            </a:r>
            <a:br>
              <a:rPr lang="pt-BR" sz="7200" dirty="0"/>
            </a:br>
            <a:r>
              <a:rPr lang="pt-BR" sz="7200" b="1" i="1" dirty="0"/>
              <a:t>Classificação</a:t>
            </a:r>
          </a:p>
        </p:txBody>
      </p:sp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010900" cy="4351338"/>
              </a:xfrm>
            </p:spPr>
            <p:txBody>
              <a:bodyPr/>
              <a:lstStyle/>
              <a:p>
                <a:r>
                  <a:rPr lang="pt-BR" dirty="0"/>
                  <a:t>Tarefa (ou problema) de </a:t>
                </a:r>
                <a:r>
                  <a:rPr lang="pt-BR" b="1" dirty="0">
                    <a:solidFill>
                      <a:schemeClr val="accent2"/>
                    </a:solidFill>
                  </a:rPr>
                  <a:t>aprendizado supervisionado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As saídas esperadas (rótulos) são conhecidas.</a:t>
                </a:r>
              </a:p>
              <a:p>
                <a:r>
                  <a:rPr lang="pt-BR" dirty="0"/>
                  <a:t>Envolve encontrar uma função,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 que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mapeie</a:t>
                </a:r>
                <a:r>
                  <a:rPr lang="pt-BR" dirty="0"/>
                  <a:t> os atributos de entrada em um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conjunto finito de valores discretos</a:t>
                </a:r>
                <a:r>
                  <a:rPr lang="pt-BR" dirty="0"/>
                  <a:t>, ou seja, em classes.</a:t>
                </a:r>
                <a:endParaRPr lang="en-US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010900" cy="4351338"/>
              </a:xfrm>
              <a:blipFill>
                <a:blip r:embed="rId2"/>
                <a:stretch>
                  <a:fillRect l="-99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s://miro.medium.com/max/1276/1*4sixxtuD8unWceZ-yp9TgQ.jpe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3" t="33761" r="47008" b="10621"/>
          <a:stretch/>
        </p:blipFill>
        <p:spPr bwMode="auto">
          <a:xfrm>
            <a:off x="7031891" y="3774326"/>
            <a:ext cx="2549237" cy="2537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ttps://miro.medium.com/max/1276/1*4sixxtuD8unWceZ-yp9TgQ.jpe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47" t="33424" r="5087" b="12524"/>
          <a:stretch/>
        </p:blipFill>
        <p:spPr bwMode="auto">
          <a:xfrm>
            <a:off x="1671781" y="3763638"/>
            <a:ext cx="2538080" cy="2466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1088136" y="6229747"/>
                <a:ext cx="384047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i="1" dirty="0" err="1">
                    <a:solidFill>
                      <a:srgbClr val="00B050"/>
                    </a:solidFill>
                  </a:rPr>
                  <a:t>aproxima</a:t>
                </a:r>
                <a:r>
                  <a:rPr lang="en-US" dirty="0"/>
                  <a:t> o </a:t>
                </a:r>
                <a:r>
                  <a:rPr lang="en-US" dirty="0" err="1"/>
                  <a:t>comportamento</a:t>
                </a:r>
                <a:r>
                  <a:rPr lang="en-US" dirty="0"/>
                  <a:t> dos dados.</a:t>
                </a: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136" y="6229747"/>
                <a:ext cx="3840479" cy="646331"/>
              </a:xfrm>
              <a:prstGeom prst="rect">
                <a:avLst/>
              </a:prstGeom>
              <a:blipFill rotWithShape="0">
                <a:blip r:embed="rId4"/>
                <a:stretch>
                  <a:fillRect t="-5660" r="-1113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/>
              <p:cNvSpPr txBox="1"/>
              <p:nvPr/>
            </p:nvSpPr>
            <p:spPr>
              <a:xfrm>
                <a:off x="6509713" y="6311900"/>
                <a:ext cx="35935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i="1" dirty="0">
                    <a:solidFill>
                      <a:srgbClr val="0070C0"/>
                    </a:solidFill>
                  </a:rPr>
                  <a:t>classifica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 err="1"/>
                  <a:t>os</a:t>
                </a:r>
                <a:r>
                  <a:rPr lang="en-US" dirty="0"/>
                  <a:t> dados.</a:t>
                </a:r>
              </a:p>
            </p:txBody>
          </p:sp>
        </mc:Choice>
        <mc:Fallback xmlns="">
          <p:sp>
            <p:nvSpPr>
              <p:cNvPr id="7" name="CaixaDe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713" y="6311900"/>
                <a:ext cx="3593592" cy="369332"/>
              </a:xfrm>
              <a:prstGeom prst="rect">
                <a:avLst/>
              </a:prstGeom>
              <a:blipFill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CECF4BC9-393F-92F3-2241-24670E5635B4}"/>
                  </a:ext>
                </a:extLst>
              </p:cNvPr>
              <p:cNvSpPr txBox="1"/>
              <p:nvPr/>
            </p:nvSpPr>
            <p:spPr>
              <a:xfrm>
                <a:off x="9716654" y="4664364"/>
                <a:ext cx="163714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pt-BR" dirty="0"/>
                  <a:t>forma uma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fronteira de decisão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CECF4BC9-393F-92F3-2241-24670E563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654" y="4664364"/>
                <a:ext cx="1637146" cy="923330"/>
              </a:xfrm>
              <a:prstGeom prst="rect">
                <a:avLst/>
              </a:prstGeom>
              <a:blipFill>
                <a:blip r:embed="rId6"/>
                <a:stretch>
                  <a:fillRect t="-3289" r="-1487" b="-92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5">
                <a:extLst>
                  <a:ext uri="{FF2B5EF4-FFF2-40B4-BE49-F238E27FC236}">
                    <a16:creationId xmlns:a16="http://schemas.microsoft.com/office/drawing/2014/main" id="{48D3A820-D198-F9AB-C6B3-3F78DA6684D0}"/>
                  </a:ext>
                </a:extLst>
              </p:cNvPr>
              <p:cNvSpPr txBox="1"/>
              <p:nvPr/>
            </p:nvSpPr>
            <p:spPr>
              <a:xfrm>
                <a:off x="4209861" y="4664364"/>
                <a:ext cx="176606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pt-BR" dirty="0"/>
                  <a:t>captura o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comportamento geral</a:t>
                </a:r>
                <a:r>
                  <a:rPr lang="pt-BR" dirty="0"/>
                  <a:t> dos dados.</a:t>
                </a:r>
              </a:p>
            </p:txBody>
          </p:sp>
        </mc:Choice>
        <mc:Fallback xmlns="">
          <p:sp>
            <p:nvSpPr>
              <p:cNvPr id="8" name="CaixaDeTexto 5">
                <a:extLst>
                  <a:ext uri="{FF2B5EF4-FFF2-40B4-BE49-F238E27FC236}">
                    <a16:creationId xmlns:a16="http://schemas.microsoft.com/office/drawing/2014/main" id="{48D3A820-D198-F9AB-C6B3-3F78DA668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861" y="4664364"/>
                <a:ext cx="1766066" cy="923330"/>
              </a:xfrm>
              <a:prstGeom prst="rect">
                <a:avLst/>
              </a:prstGeom>
              <a:blipFill>
                <a:blip r:embed="rId7"/>
                <a:stretch>
                  <a:fillRect l="-2422" t="-3289" r="-380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0474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Tarefas de classificação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5007429"/>
            <a:ext cx="10515600" cy="1850571"/>
          </a:xfrm>
        </p:spPr>
        <p:txBody>
          <a:bodyPr>
            <a:normAutofit/>
          </a:bodyPr>
          <a:lstStyle/>
          <a:p>
            <a:r>
              <a:rPr lang="pt-BR" dirty="0"/>
              <a:t>Classificação de </a:t>
            </a:r>
            <a:r>
              <a:rPr lang="pt-BR" dirty="0" err="1"/>
              <a:t>emails</a:t>
            </a:r>
            <a:r>
              <a:rPr lang="pt-BR" dirty="0"/>
              <a:t> entre </a:t>
            </a:r>
            <a:r>
              <a:rPr lang="pt-BR" i="1" dirty="0"/>
              <a:t>spam</a:t>
            </a:r>
            <a:r>
              <a:rPr lang="pt-BR" dirty="0"/>
              <a:t> e </a:t>
            </a:r>
            <a:r>
              <a:rPr lang="pt-BR" i="1" dirty="0" err="1"/>
              <a:t>ham</a:t>
            </a:r>
            <a:r>
              <a:rPr lang="pt-BR" dirty="0"/>
              <a:t> (legítimo).</a:t>
            </a:r>
          </a:p>
          <a:p>
            <a:r>
              <a:rPr lang="pt-BR" dirty="0"/>
              <a:t>Classificação de objetos em imagens.</a:t>
            </a:r>
          </a:p>
          <a:p>
            <a:r>
              <a:rPr lang="pt-BR" dirty="0"/>
              <a:t>Reconhecimento de caracteres.</a:t>
            </a:r>
          </a:p>
        </p:txBody>
      </p:sp>
      <p:pic>
        <p:nvPicPr>
          <p:cNvPr id="4" name="Picture 5" descr="Image result for supervised learning">
            <a:extLst>
              <a:ext uri="{FF2B5EF4-FFF2-40B4-BE49-F238E27FC236}">
                <a16:creationId xmlns:a16="http://schemas.microsoft.com/office/drawing/2014/main" id="{2520F4EA-1E3E-4F3B-97C0-DF47861DC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12" y="2475379"/>
            <a:ext cx="4096017" cy="131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Measure Classification Performance: New in Wolfram Languag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589" y="1690688"/>
            <a:ext cx="2879696" cy="2879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na Barros (@anathinker) | Twitte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557" y="1915932"/>
            <a:ext cx="3635331" cy="2409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742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22156"/>
            <a:ext cx="10858500" cy="1834185"/>
          </a:xfrm>
        </p:spPr>
        <p:txBody>
          <a:bodyPr>
            <a:normAutofit/>
          </a:bodyPr>
          <a:lstStyle/>
          <a:p>
            <a:r>
              <a:rPr lang="pt-BR" dirty="0"/>
              <a:t>Classificação de texto (e.g., notícias).</a:t>
            </a:r>
          </a:p>
          <a:p>
            <a:r>
              <a:rPr lang="pt-BR" dirty="0"/>
              <a:t>Classificação de sentimentos.</a:t>
            </a:r>
          </a:p>
          <a:p>
            <a:r>
              <a:rPr lang="pt-BR" dirty="0"/>
              <a:t>Classificação do doenças (e.g., pulmonares).</a:t>
            </a:r>
          </a:p>
        </p:txBody>
      </p:sp>
      <p:pic>
        <p:nvPicPr>
          <p:cNvPr id="1030" name="Picture 6" descr="Analyzing Text Classification Techniques on Youtube Dat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7" t="4114" r="9213" b="4823"/>
          <a:stretch/>
        </p:blipFill>
        <p:spPr bwMode="auto">
          <a:xfrm>
            <a:off x="179761" y="1843447"/>
            <a:ext cx="4215802" cy="2409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Sentiment Fig 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6"/>
          <a:stretch>
            <a:fillRect/>
          </a:stretch>
        </p:blipFill>
        <p:spPr bwMode="auto">
          <a:xfrm>
            <a:off x="4746170" y="1843447"/>
            <a:ext cx="3581201" cy="2597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838200" y="10165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Tarefas de classificação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9D184C6-ECA9-05BF-F6B4-C0965441E4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0" r="73203" b="10234"/>
          <a:stretch/>
        </p:blipFill>
        <p:spPr bwMode="auto">
          <a:xfrm>
            <a:off x="8652452" y="1337220"/>
            <a:ext cx="3267075" cy="333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082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ut it happened 😂 #DeepLearning #AI #MachineLearning">
            <a:extLst>
              <a:ext uri="{FF2B5EF4-FFF2-40B4-BE49-F238E27FC236}">
                <a16:creationId xmlns:a16="http://schemas.microsoft.com/office/drawing/2014/main" id="{F25FF98E-22C0-F45E-2254-540617F2F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240" y="1264812"/>
            <a:ext cx="4647519" cy="4328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5962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95A22-E872-4069-E235-358A1FCDD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classificadores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65F31-6E51-4FAB-4852-DECB11BED9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125200" cy="5032376"/>
              </a:xfrm>
            </p:spPr>
            <p:txBody>
              <a:bodyPr/>
              <a:lstStyle/>
              <a:p>
                <a:r>
                  <a:rPr lang="pt-BR" dirty="0"/>
                  <a:t>Organizamos os tipos de classificadores segundo dois critérios principais: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Número total de classes possíveis,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, e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Quantidade de classes atribuídas a cada amostra.</a:t>
                </a:r>
              </a:p>
              <a:p>
                <a:r>
                  <a:rPr lang="pt-BR" dirty="0"/>
                  <a:t>Dependendo do número de classes possíveis,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, podemos separar os classificadores em dois tipos: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Binários, onde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pt-BR" b="0" dirty="0"/>
                  <a:t>.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dirty="0"/>
                  <a:t>Existem apenas </a:t>
                </a:r>
                <a:r>
                  <a:rPr lang="pt-BR" b="1" dirty="0"/>
                  <a:t>duas classes possíveis</a:t>
                </a:r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 err="1"/>
                  <a:t>Multiclasse</a:t>
                </a:r>
                <a:r>
                  <a:rPr lang="en-US" dirty="0"/>
                  <a:t>, </a:t>
                </a:r>
                <a:r>
                  <a:rPr lang="en-US" dirty="0" err="1"/>
                  <a:t>onde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&gt;2.</m:t>
                    </m:r>
                  </m:oMath>
                </a14:m>
                <a:endParaRPr lang="en-US" dirty="0"/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dirty="0"/>
                  <a:t>Existem </a:t>
                </a:r>
                <a:r>
                  <a:rPr lang="pt-BR" b="1" dirty="0"/>
                  <a:t>três ou mais classes</a:t>
                </a:r>
                <a:endParaRPr lang="pt-BR" dirty="0"/>
              </a:p>
              <a:p>
                <a:r>
                  <a:rPr lang="pt-BR" dirty="0"/>
                  <a:t>Em ambos os casos, cada amostra pertence a </a:t>
                </a:r>
                <a:r>
                  <a:rPr lang="pt-BR" b="1" dirty="0"/>
                  <a:t>uma única classe.</a:t>
                </a:r>
                <a:endParaRPr lang="pt-BR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65F31-6E51-4FAB-4852-DECB11BED9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125200" cy="5032376"/>
              </a:xfrm>
              <a:blipFill>
                <a:blip r:embed="rId3"/>
                <a:stretch>
                  <a:fillRect l="-986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2811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AE076-4457-7BD3-2388-70AAD7122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F8340-2935-1CC3-CE87-3E1A76A73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classificadores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FC0EC-BE21-C1F6-BD0D-5113525C2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25200" cy="5032376"/>
          </a:xfrm>
        </p:spPr>
        <p:txBody>
          <a:bodyPr>
            <a:normAutofit/>
          </a:bodyPr>
          <a:lstStyle/>
          <a:p>
            <a:r>
              <a:rPr lang="pt-BR" dirty="0"/>
              <a:t>Podemos também separar os classificadores dependendo de quantas classes podem ser atribuídas a uma única instância: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Classificação </a:t>
            </a:r>
            <a:r>
              <a:rPr lang="pt-BR" i="1" dirty="0"/>
              <a:t>single-</a:t>
            </a:r>
            <a:r>
              <a:rPr lang="pt-BR" i="1" dirty="0" err="1"/>
              <a:t>label</a:t>
            </a:r>
            <a:endParaRPr lang="pt-BR" i="1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Cada amostra recebe apenas uma classe.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Inclui: binária e </a:t>
            </a:r>
            <a:r>
              <a:rPr lang="pt-BR" dirty="0" err="1"/>
              <a:t>multiclasse</a:t>
            </a:r>
            <a:endParaRPr lang="pt-BR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As classes são mutuamente exclusivas.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Classificação </a:t>
            </a:r>
            <a:r>
              <a:rPr lang="pt-BR" i="1" dirty="0" err="1"/>
              <a:t>multilabel</a:t>
            </a:r>
            <a:endParaRPr lang="pt-BR" i="1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Uma amostra pode pertencer a várias classes simultaneamente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As classes não são mutuamente exclusivas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Exemplos: 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pt-BR" dirty="0"/>
              <a:t>Imagem com “cachorro” e “pessoa”,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pt-BR" dirty="0"/>
              <a:t>Artigo com múltiplos tópicos.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O modelo prevê um vetor binário indicando quais rótulos estão presentes. </a:t>
            </a:r>
          </a:p>
        </p:txBody>
      </p:sp>
    </p:spTree>
    <p:extLst>
      <p:ext uri="{BB962C8B-B14F-4D97-AF65-F5344CB8AC3E}">
        <p14:creationId xmlns:p14="http://schemas.microsoft.com/office/powerpoint/2010/main" val="3944489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127B6-6972-D992-E732-0F4C9D928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Algoritmos de classificação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50875-3EEC-71D0-1DC4-489808F82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14314" cy="5032375"/>
          </a:xfrm>
        </p:spPr>
        <p:txBody>
          <a:bodyPr>
            <a:normAutofit/>
          </a:bodyPr>
          <a:lstStyle/>
          <a:p>
            <a:r>
              <a:rPr lang="pt-BR" dirty="0"/>
              <a:t>Existe uma grande quantidade de algoritmos de classificação, mas focaremos nos seguintes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Regressor logístico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Classificador binário e </a:t>
            </a:r>
            <a:r>
              <a:rPr lang="pt-BR" i="1" dirty="0"/>
              <a:t>single-</a:t>
            </a:r>
            <a:r>
              <a:rPr lang="pt-BR" i="1" dirty="0" err="1"/>
              <a:t>label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Regressor softmax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Classificador multiclasses e </a:t>
            </a:r>
            <a:r>
              <a:rPr lang="pt-BR" i="1" dirty="0"/>
              <a:t>single-</a:t>
            </a:r>
            <a:r>
              <a:rPr lang="pt-BR" i="1" dirty="0" err="1"/>
              <a:t>label</a:t>
            </a:r>
            <a:r>
              <a:rPr lang="pt-BR" dirty="0"/>
              <a:t>.</a:t>
            </a:r>
          </a:p>
          <a:p>
            <a:r>
              <a:rPr lang="pt-BR" dirty="0"/>
              <a:t>Discutiremos adiante também algoritmos que resolvem problemas de regressão e classificação, como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Árvores de decisão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Classificadores binários, multiclasses e </a:t>
            </a:r>
            <a:r>
              <a:rPr lang="pt-BR" i="1" dirty="0"/>
              <a:t>single-</a:t>
            </a:r>
            <a:r>
              <a:rPr lang="pt-BR" i="1" dirty="0" err="1"/>
              <a:t>label</a:t>
            </a:r>
            <a:endParaRPr lang="pt-B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Redes neurais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Classificadores binários, multiclasses, </a:t>
            </a:r>
            <a:r>
              <a:rPr lang="pt-BR" i="1" dirty="0"/>
              <a:t>single-</a:t>
            </a:r>
            <a:r>
              <a:rPr lang="pt-BR" i="1" dirty="0" err="1"/>
              <a:t>label</a:t>
            </a:r>
            <a:r>
              <a:rPr lang="pt-BR" i="1" dirty="0"/>
              <a:t> </a:t>
            </a:r>
            <a:r>
              <a:rPr lang="pt-BR" dirty="0"/>
              <a:t>e</a:t>
            </a:r>
            <a:r>
              <a:rPr lang="pt-BR" i="1" dirty="0"/>
              <a:t> </a:t>
            </a:r>
            <a:r>
              <a:rPr lang="pt-BR" i="1" dirty="0" err="1"/>
              <a:t>multilabel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5313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302BD-A868-44A9-D6B7-B33026A62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27463"/>
            <a:ext cx="10515600" cy="100307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6000" i="1" dirty="0"/>
              <a:t>Como representamos os rótulos?</a:t>
            </a:r>
            <a:endParaRPr lang="en-US" sz="6000" i="1" dirty="0"/>
          </a:p>
        </p:txBody>
      </p:sp>
    </p:spTree>
    <p:extLst>
      <p:ext uri="{BB962C8B-B14F-4D97-AF65-F5344CB8AC3E}">
        <p14:creationId xmlns:p14="http://schemas.microsoft.com/office/powerpoint/2010/main" val="3833417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0B6E8-C5D5-B13B-B9FA-30F92A8BE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Classificação</a:t>
            </a:r>
            <a:r>
              <a:rPr lang="en-US" dirty="0"/>
              <a:t> </a:t>
            </a:r>
            <a:r>
              <a:rPr lang="en-US" dirty="0" err="1"/>
              <a:t>binária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6319A-7329-EA87-2675-D63CB7368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Representação do rótulo</a:t>
            </a:r>
          </a:p>
          <a:p>
            <a:pPr lvl="1"/>
            <a:r>
              <a:rPr lang="pt-BR" dirty="0"/>
              <a:t>0 ou 1</a:t>
            </a:r>
          </a:p>
          <a:p>
            <a:pPr lvl="1"/>
            <a:r>
              <a:rPr lang="pt-BR" dirty="0"/>
              <a:t>−1 ou +1 (em alguns poucos modelos)</a:t>
            </a:r>
          </a:p>
          <a:p>
            <a:r>
              <a:rPr lang="pt-BR" dirty="0"/>
              <a:t>Exemplo: detecção de spam</a:t>
            </a:r>
          </a:p>
          <a:p>
            <a:pPr lvl="1"/>
            <a:r>
              <a:rPr lang="pt-BR" dirty="0"/>
              <a:t>spam = 1</a:t>
            </a:r>
          </a:p>
          <a:p>
            <a:pPr lvl="1"/>
            <a:r>
              <a:rPr lang="pt-BR" dirty="0"/>
              <a:t>não spam = 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832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Classificação</a:t>
            </a:r>
            <a:r>
              <a:rPr lang="en-US" dirty="0"/>
              <a:t> </a:t>
            </a:r>
            <a:r>
              <a:rPr lang="en-US" dirty="0" err="1"/>
              <a:t>binária</a:t>
            </a: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215255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O classificador tem </a:t>
                </a:r>
                <a:r>
                  <a:rPr lang="pt-BR" b="1" dirty="0">
                    <a:solidFill>
                      <a:srgbClr val="00B050"/>
                    </a:solidFill>
                  </a:rPr>
                  <a:t>única saída escalar </a:t>
                </a:r>
                <a:r>
                  <a:rPr lang="pt-BR" dirty="0"/>
                  <a:t>para indicar a </a:t>
                </a:r>
                <a:r>
                  <a:rPr lang="pt-BR" b="1" dirty="0"/>
                  <a:t>classe</a:t>
                </a:r>
                <a:r>
                  <a:rPr lang="pt-BR" dirty="0"/>
                  <a:t> correspondente ao </a:t>
                </a:r>
                <a:r>
                  <a:rPr lang="pt-BR" b="1" dirty="0"/>
                  <a:t>vetor de atributos,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b="1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 representam as classe negativa e positiva, </a:t>
                </a:r>
                <a:r>
                  <a:rPr lang="pt-BR" dirty="0" err="1"/>
                  <a:t>respecitvamebnte</a:t>
                </a:r>
                <a:r>
                  <a:rPr lang="pt-BR" dirty="0"/>
                  <a:t>.</a:t>
                </a:r>
              </a:p>
              <a:p>
                <a:r>
                  <a:rPr lang="pt-BR"/>
                  <a:t>Também </a:t>
                </a:r>
                <a:r>
                  <a:rPr lang="pt-BR" dirty="0"/>
                  <a:t>é possível utilizar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pt-BR" dirty="0"/>
                  <a:t> para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, ou seja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215255" cy="5032376"/>
              </a:xfrm>
              <a:blipFill>
                <a:blip r:embed="rId2"/>
                <a:stretch>
                  <a:fillRect l="-1087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5758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DC7F-B899-B1A6-F69A-351822C6E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0C298-3D62-58C4-3B44-8F0C5C3E0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13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B30D0-D052-EC03-3C25-35C106AA1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confusão</a:t>
            </a:r>
            <a:endParaRPr lang="en-US" dirty="0"/>
          </a:p>
        </p:txBody>
      </p:sp>
      <p:pic>
        <p:nvPicPr>
          <p:cNvPr id="2050" name="Picture 2" descr="Validate me Constructive criticism permitted – @gallusrostromegalus on  Tumblr">
            <a:extLst>
              <a:ext uri="{FF2B5EF4-FFF2-40B4-BE49-F238E27FC236}">
                <a16:creationId xmlns:a16="http://schemas.microsoft.com/office/drawing/2014/main" id="{A9C68C0F-3A42-8D60-0B8A-979695E40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9561" y="1690688"/>
            <a:ext cx="5635002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6464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8043</TotalTime>
  <Words>511</Words>
  <Application>Microsoft Office PowerPoint</Application>
  <PresentationFormat>Widescreen</PresentationFormat>
  <Paragraphs>75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Courier New</vt:lpstr>
      <vt:lpstr>Wingdings</vt:lpstr>
      <vt:lpstr>Tema do Office</vt:lpstr>
      <vt:lpstr>C24 – Inteligência Artificial: Classificação</vt:lpstr>
      <vt:lpstr>Classificação</vt:lpstr>
      <vt:lpstr>Tarefas de classificação</vt:lpstr>
      <vt:lpstr>PowerPoint Presentation</vt:lpstr>
      <vt:lpstr>PowerPoint Presentation</vt:lpstr>
      <vt:lpstr>Tipos de classificadores</vt:lpstr>
      <vt:lpstr>Tipos de classificadores</vt:lpstr>
      <vt:lpstr>Algoritmos de classificação</vt:lpstr>
      <vt:lpstr>PowerPoint Presentation</vt:lpstr>
      <vt:lpstr>Classificação binária</vt:lpstr>
      <vt:lpstr>Classificação binária</vt:lpstr>
      <vt:lpstr>PowerPoint Presentation</vt:lpstr>
      <vt:lpstr>Matriz de confusão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1746</cp:revision>
  <dcterms:created xsi:type="dcterms:W3CDTF">2020-01-20T13:50:05Z</dcterms:created>
  <dcterms:modified xsi:type="dcterms:W3CDTF">2026-02-18T16:05:29Z</dcterms:modified>
</cp:coreProperties>
</file>