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256" r:id="rId2"/>
    <p:sldId id="316" r:id="rId3"/>
    <p:sldId id="344" r:id="rId4"/>
    <p:sldId id="317" r:id="rId5"/>
    <p:sldId id="318" r:id="rId6"/>
    <p:sldId id="319" r:id="rId7"/>
    <p:sldId id="320" r:id="rId8"/>
    <p:sldId id="321" r:id="rId9"/>
    <p:sldId id="322" r:id="rId10"/>
    <p:sldId id="323" r:id="rId11"/>
    <p:sldId id="324" r:id="rId12"/>
    <p:sldId id="325" r:id="rId13"/>
    <p:sldId id="326" r:id="rId14"/>
    <p:sldId id="327" r:id="rId15"/>
    <p:sldId id="328" r:id="rId16"/>
    <p:sldId id="329" r:id="rId17"/>
    <p:sldId id="330" r:id="rId18"/>
    <p:sldId id="331" r:id="rId19"/>
    <p:sldId id="332" r:id="rId20"/>
    <p:sldId id="333" r:id="rId21"/>
    <p:sldId id="334" r:id="rId22"/>
    <p:sldId id="457" r:id="rId23"/>
    <p:sldId id="336" r:id="rId24"/>
    <p:sldId id="337" r:id="rId2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27/02/2026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79624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</a:t>
            </a:r>
            <a:r>
              <a:rPr lang="pt-BR" sz="1200" dirty="0"/>
              <a:t>u seja, </a:t>
            </a:r>
            <a:r>
              <a:rPr lang="pt-BR" sz="1200" b="1" i="1" dirty="0"/>
              <a:t>rotulando incorretamente</a:t>
            </a:r>
            <a:r>
              <a:rPr lang="pt-BR" sz="1200" dirty="0"/>
              <a:t> os exemplos.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45955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matriz de confusão, também conhecida como tabela de contingência ou matriz de erros, é um layout de tabela específico que permite a visualização do desempenho de um classificador.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Cada linha da matriz representa os</a:t>
            </a:r>
            <a:r>
              <a:rPr lang="pt-BR" baseline="0" dirty="0"/>
              <a:t> exemplos que foram classificados como pertencentes a uma dada </a:t>
            </a:r>
            <a:r>
              <a:rPr lang="pt-BR" dirty="0"/>
              <a:t>classe, enquanto cada coluna representa os exemplos</a:t>
            </a:r>
            <a:r>
              <a:rPr lang="pt-BR" baseline="0" dirty="0"/>
              <a:t> realmente pertencentes a </a:t>
            </a:r>
            <a:r>
              <a:rPr lang="pt-BR" dirty="0"/>
              <a:t>uma dada classe.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nome, matriz de confusão, deriva do fato de tornar fácil verificar se o classificador está confundindo classes (ou seja, geralmente rotulando incorretamente uma como a outra).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920329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matriz de confusão, também conhecida como tabela de contingência ou matriz de erros, é um layout de tabela específico que permite a visualização do desempenho de um classificador.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Cada linha da matriz representa os</a:t>
            </a:r>
            <a:r>
              <a:rPr lang="pt-BR" baseline="0" dirty="0"/>
              <a:t> exemplos que foram classificados como pertencentes a uma dada </a:t>
            </a:r>
            <a:r>
              <a:rPr lang="pt-BR" dirty="0"/>
              <a:t>classe, enquanto cada coluna representa os exemplos</a:t>
            </a:r>
            <a:r>
              <a:rPr lang="pt-BR" baseline="0" dirty="0"/>
              <a:t> realmente pertencentes a </a:t>
            </a:r>
            <a:r>
              <a:rPr lang="pt-BR" dirty="0"/>
              <a:t>uma dada classe.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nome, matriz de confusão, deriva do fato de tornar fácil verificar se o classificador está confundindo classes (ou seja, geralmente rotulando incorretamente uma como a outra).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006790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acurácia é uma métrica de avaliação comumente usada no contexto de classificação de modelos de aprendizado de máquina. Ela mede a proporção de exemplos classificados corretamente em relação ao total de exemplos avaliados. Em outras palavras, a acurácia fornece uma indicação de quão bem o modelo está fazendo suas previsões corretas em comparação com todas as previsões feitas.</a:t>
            </a:r>
          </a:p>
          <a:p>
            <a:endParaRPr lang="pt-BR" dirty="0"/>
          </a:p>
          <a:p>
            <a:r>
              <a:rPr lang="pt-BR" dirty="0"/>
              <a:t>A fórmula básica da acurácia é a seguinte:</a:t>
            </a:r>
          </a:p>
          <a:p>
            <a:endParaRPr lang="pt-BR" dirty="0"/>
          </a:p>
          <a:p>
            <a:r>
              <a:rPr lang="pt-BR" dirty="0"/>
              <a:t>\[ \</a:t>
            </a:r>
            <a:r>
              <a:rPr lang="pt-BR" dirty="0" err="1"/>
              <a:t>text</a:t>
            </a:r>
            <a:r>
              <a:rPr lang="pt-BR" dirty="0"/>
              <a:t>{Acurácia} = \</a:t>
            </a:r>
            <a:r>
              <a:rPr lang="pt-BR" dirty="0" err="1"/>
              <a:t>frac</a:t>
            </a:r>
            <a:r>
              <a:rPr lang="pt-BR" dirty="0"/>
              <a:t>{\</a:t>
            </a:r>
            <a:r>
              <a:rPr lang="pt-BR" dirty="0" err="1"/>
              <a:t>text</a:t>
            </a:r>
            <a:r>
              <a:rPr lang="pt-BR" dirty="0"/>
              <a:t>{Número de previsões corretas}}{\</a:t>
            </a:r>
            <a:r>
              <a:rPr lang="pt-BR" dirty="0" err="1"/>
              <a:t>text</a:t>
            </a:r>
            <a:r>
              <a:rPr lang="pt-BR" dirty="0"/>
              <a:t>{Total de exemplos}} \]</a:t>
            </a:r>
          </a:p>
          <a:p>
            <a:endParaRPr lang="pt-BR" dirty="0"/>
          </a:p>
          <a:p>
            <a:r>
              <a:rPr lang="pt-BR" dirty="0"/>
              <a:t>Por exemplo, se um modelo classificar corretamente 85 amostras de um total de 100, a acurácia seria \( \</a:t>
            </a:r>
            <a:r>
              <a:rPr lang="pt-BR" dirty="0" err="1"/>
              <a:t>frac</a:t>
            </a:r>
            <a:r>
              <a:rPr lang="pt-BR" dirty="0"/>
              <a:t>{85}{100} = 0.85 \), ou seja, 85%.</a:t>
            </a:r>
          </a:p>
          <a:p>
            <a:endParaRPr lang="pt-BR" dirty="0"/>
          </a:p>
          <a:p>
            <a:r>
              <a:rPr lang="pt-BR" dirty="0"/>
              <a:t>Apesar de ser uma métrica útil para avaliar a performance geral de um modelo, a acurácia pode ser enganosa em alguns cenários, especialmente quando os dados estão desbalanceados (quando uma classe é mais comum que a outra) ou quando os custos de falsos positivos e falsos negativos não são iguais. Portanto, em casos mais complexos, é importante considerar outras métricas, como precisão, recall, F1-score, entre outras, para ter uma visão mais completa do desempenho do modelo.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7457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acurácia é uma métrica simples e fácil de interpretar, mas ela pode ser enganosa em alguns casos. Por exemplo, se os custos de falsos positivos e falsos negativos não são iguais, a acurácia pode não refletir o desempenho real do modelo.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considere um modelo de classificação que é usado para diagnosticar uma doença grave. Se o modelo classificar um paciente saudável como doente, isso pode levar a um tratamento desnecessário e caro. Nesse caso, um falso positivo é mais prejudicial do que um falso negativo.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entanto, a acurácia não leva em consideração os custos associados aos erros de classificação, ou seja, não diferencia entre falsos positivos (quando o modelo prevê que algo acontecerá, mas na verdade não acontece) e falsos negativos (quando o modelo não prevê algo que acontece). Em muitos cenários do mundo real, os custos de falsos positivos e falsos negativos podem ser muito diferentes.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em um sistema de detecção de fraudes em transações financeiras, um falso positivo (classificar uma transação legítima como fraude) pode causar inconveniência para o cliente, enquanto um falso negativo (não detectar uma transação fraudulenta) pode resultar em perdas significativas para a empresa. Nesse caso, os custos de falsos negativos são muito maiores do que os de falsos positivos. A acurácia não levaria em consideração essa diferença de custos.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4187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acurácia é uma métrica simples e fácil de interpretar, mas ela pode ser enganosa em alguns casos. Por exemplo, se os custos de falsos positivos e falsos negativos não são iguais, a acurácia pode não refletir o desempenho real do modelo.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considere um modelo de classificação que é usado para diagnosticar uma doença grave. Se o modelo classificar um paciente saudável como doente, isso pode levar a um tratamento desnecessário e caro. Nesse caso, um falso positivo é mais prejudicial do que um falso negativo.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entanto, a acurácia não leva em consideração os custos associados aos erros de classificação, ou seja, não diferencia entre falsos positivos (quando o modelo prevê que algo acontecerá, mas na verdade não acontece) e falsos negativos (quando o modelo não prevê algo que acontece). Em muitos cenários do mundo real, os custos de falsos positivos e falsos negativos podem ser muito diferentes.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em um sistema de detecção de fraudes em transações financeiras, um falso positivo (classificar uma transação legítima como fraude) pode causar inconveniência para o cliente, enquanto um falso negativo (não detectar uma transação fraudulenta) pode resultar em perdas significativas para a empresa. Nesse caso, os custos de falsos negativos são muito maiores do que os de falsos positivos. A acurácia não levaria em consideração essa diferença de custos.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63031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https://colab.research.google.com/github/zz4fap/c24_inteligencia_artificial/blob/master/notebooks/m%C3%A9tricas_de_classifica%C3%A7%C3%A3o.ipynb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32817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27/02/2026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0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m%C3%A9tricas_de_classifica%C3%A7%C3%A3o.ipynb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jpeg"/><Relationship Id="rId4" Type="http://schemas.openxmlformats.org/officeDocument/2006/relationships/image" Target="../media/image33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Métricas de 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CB3FED-5D1A-7084-5333-A3B2FA75F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vamos ver?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FE7774-7186-A846-D8DE-518B2CBF4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05444" cy="5032376"/>
          </a:xfrm>
        </p:spPr>
        <p:txBody>
          <a:bodyPr>
            <a:normAutofit/>
          </a:bodyPr>
          <a:lstStyle/>
          <a:p>
            <a:r>
              <a:rPr lang="pt-BR" dirty="0"/>
              <a:t>Anteriormente, para realizar a análise do desempenho de um classificador, usamos apenas a acurácia. </a:t>
            </a:r>
          </a:p>
          <a:p>
            <a:r>
              <a:rPr lang="pt-BR" dirty="0"/>
              <a:t>Porém, existem outras métricas que podem ser usadas para se medir a qualidade de um classificador.</a:t>
            </a:r>
          </a:p>
          <a:p>
            <a:r>
              <a:rPr lang="pt-BR" dirty="0"/>
              <a:t>Portanto, neste tópico, veremos algumas outras métricas.</a:t>
            </a:r>
          </a:p>
        </p:txBody>
      </p:sp>
    </p:spTree>
    <p:extLst>
      <p:ext uri="{BB962C8B-B14F-4D97-AF65-F5344CB8AC3E}">
        <p14:creationId xmlns:p14="http://schemas.microsoft.com/office/powerpoint/2010/main" val="21775165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B30D0-D052-EC03-3C25-35C106AA1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  <a:endParaRPr lang="en-US" dirty="0"/>
          </a:p>
        </p:txBody>
      </p:sp>
      <p:pic>
        <p:nvPicPr>
          <p:cNvPr id="2050" name="Picture 2" descr="Validate me Constructive criticism permitted – @gallusrostromegalus on  Tumblr">
            <a:extLst>
              <a:ext uri="{FF2B5EF4-FFF2-40B4-BE49-F238E27FC236}">
                <a16:creationId xmlns:a16="http://schemas.microsoft.com/office/drawing/2014/main" id="{A9C68C0F-3A42-8D60-0B8A-979695E40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436" y="1491183"/>
            <a:ext cx="5635002" cy="516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tângulo 2"/>
          <p:cNvSpPr/>
          <p:nvPr/>
        </p:nvSpPr>
        <p:spPr>
          <a:xfrm>
            <a:off x="6096000" y="2479702"/>
            <a:ext cx="5885410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O nome, </a:t>
            </a:r>
            <a:r>
              <a:rPr lang="pt-BR" sz="2800" b="1" dirty="0"/>
              <a:t>matriz de confusão </a:t>
            </a:r>
            <a:r>
              <a:rPr lang="pt-BR" sz="2800" dirty="0"/>
              <a:t>mostra o quanto um classificador está se </a:t>
            </a:r>
            <a:r>
              <a:rPr lang="pt-BR" sz="2800" b="1" dirty="0"/>
              <a:t>confundindo</a:t>
            </a:r>
            <a:r>
              <a:rPr lang="pt-BR" sz="2800" dirty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A matriz permite verificar quais classes o </a:t>
            </a:r>
            <a:r>
              <a:rPr lang="pt-BR" sz="2800" b="1" dirty="0"/>
              <a:t>classificador</a:t>
            </a:r>
            <a:r>
              <a:rPr lang="pt-BR" sz="2800" dirty="0"/>
              <a:t> tem </a:t>
            </a:r>
            <a:r>
              <a:rPr lang="pt-BR" sz="2800" b="1" dirty="0">
                <a:solidFill>
                  <a:srgbClr val="00B050"/>
                </a:solidFill>
              </a:rPr>
              <a:t>maior dificuldade em classificar</a:t>
            </a:r>
            <a:r>
              <a:rPr lang="pt-BR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352531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3156" y="1825624"/>
                <a:ext cx="6423377" cy="5032375"/>
              </a:xfrm>
            </p:spPr>
            <p:txBody>
              <a:bodyPr>
                <a:normAutofit/>
              </a:bodyPr>
              <a:lstStyle/>
              <a:p>
                <a:r>
                  <a:rPr lang="pt-BR" sz="2800" dirty="0"/>
                  <a:t>A </a:t>
                </a:r>
                <a:r>
                  <a:rPr lang="pt-BR" sz="2800" b="1" dirty="0"/>
                  <a:t>matriz de confusão</a:t>
                </a:r>
                <a:r>
                  <a:rPr lang="pt-BR" sz="2800" dirty="0"/>
                  <a:t>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contabiliza o número de classificações corretas e incorretas </a:t>
                </a:r>
                <a:r>
                  <a:rPr lang="pt-BR" sz="2800" dirty="0"/>
                  <a:t>para cada uma das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800" dirty="0"/>
                  <a:t>classes existentes. </a:t>
                </a:r>
              </a:p>
              <a:p>
                <a:r>
                  <a:rPr lang="pt-BR" dirty="0"/>
                  <a:t>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matriz quadrada </a:t>
                </a:r>
                <a:r>
                  <a:rPr lang="pt-BR" dirty="0"/>
                  <a:t>com dimensões </a:t>
                </a:r>
                <a:r>
                  <a:rPr lang="pt-BR" sz="2800" b="1" i="1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sup>
                    </m:sSup>
                  </m:oMath>
                </a14:m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3156" y="1825624"/>
                <a:ext cx="6423377" cy="5032375"/>
              </a:xfrm>
              <a:blipFill>
                <a:blip r:embed="rId3"/>
                <a:stretch>
                  <a:fillRect l="-170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28220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4114741" y="2367844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741" y="2367844"/>
                <a:ext cx="4854223" cy="21223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ave Direita 3">
            <a:extLst>
              <a:ext uri="{FF2B5EF4-FFF2-40B4-BE49-F238E27FC236}">
                <a16:creationId xmlns:a16="http://schemas.microsoft.com/office/drawing/2014/main" id="{314F6830-34E9-8654-9AF0-D69DE9FAE980}"/>
              </a:ext>
            </a:extLst>
          </p:cNvPr>
          <p:cNvSpPr/>
          <p:nvPr/>
        </p:nvSpPr>
        <p:spPr>
          <a:xfrm rot="16200000" flipH="1">
            <a:off x="6371397" y="2963136"/>
            <a:ext cx="340913" cy="33949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A46DBC8-FBDE-250B-240D-193F0A609C0C}"/>
              </a:ext>
            </a:extLst>
          </p:cNvPr>
          <p:cNvSpPr txBox="1"/>
          <p:nvPr/>
        </p:nvSpPr>
        <p:spPr>
          <a:xfrm>
            <a:off x="4844376" y="4846951"/>
            <a:ext cx="33949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i="1" dirty="0">
                <a:solidFill>
                  <a:srgbClr val="00B050"/>
                </a:solidFill>
              </a:rPr>
              <a:t>Rótulos</a:t>
            </a:r>
            <a:r>
              <a:rPr lang="pt-BR" dirty="0"/>
              <a:t>: classes a que realmente pertencem os exemplos</a:t>
            </a:r>
          </a:p>
        </p:txBody>
      </p:sp>
      <p:sp>
        <p:nvSpPr>
          <p:cNvPr id="7" name="Chave Direita 6">
            <a:extLst>
              <a:ext uri="{FF2B5EF4-FFF2-40B4-BE49-F238E27FC236}">
                <a16:creationId xmlns:a16="http://schemas.microsoft.com/office/drawing/2014/main" id="{E94D5995-3604-C1B4-B485-9B393568D39B}"/>
              </a:ext>
            </a:extLst>
          </p:cNvPr>
          <p:cNvSpPr/>
          <p:nvPr/>
        </p:nvSpPr>
        <p:spPr>
          <a:xfrm flipH="1">
            <a:off x="4172678" y="2509734"/>
            <a:ext cx="340913" cy="183852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F3B44CB-FB5A-9774-1C6B-808D8FC9AA1C}"/>
              </a:ext>
            </a:extLst>
          </p:cNvPr>
          <p:cNvSpPr txBox="1"/>
          <p:nvPr/>
        </p:nvSpPr>
        <p:spPr>
          <a:xfrm>
            <a:off x="1381327" y="3105832"/>
            <a:ext cx="27334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i="1" dirty="0">
                <a:solidFill>
                  <a:srgbClr val="00B050"/>
                </a:solidFill>
              </a:rPr>
              <a:t>Predições</a:t>
            </a:r>
            <a:r>
              <a:rPr lang="pt-BR" dirty="0"/>
              <a:t>: classes a que os exemplos foram atribuídos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9DC4B7-28AE-3B52-6F26-3A317D0DAC53}"/>
              </a:ext>
            </a:extLst>
          </p:cNvPr>
          <p:cNvSpPr txBox="1"/>
          <p:nvPr/>
        </p:nvSpPr>
        <p:spPr>
          <a:xfrm>
            <a:off x="0" y="6612468"/>
            <a:ext cx="564770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/>
              <a:t>*em geral se apresenta a matriz desta forma, mas ela pode ser encontrada transposta também.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280594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3156" y="1825624"/>
                <a:ext cx="6423377" cy="5032375"/>
              </a:xfrm>
            </p:spPr>
            <p:txBody>
              <a:bodyPr>
                <a:normAutofit/>
              </a:bodyPr>
              <a:lstStyle/>
              <a:p>
                <a:r>
                  <a:rPr lang="pt-BR" sz="2800" dirty="0"/>
                  <a:t>A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diagonal principal </a:t>
                </a:r>
                <a:r>
                  <a:rPr lang="pt-BR" sz="2800" dirty="0"/>
                  <a:t>de </a:t>
                </a:r>
                <a14:m>
                  <m:oMath xmlns:m="http://schemas.openxmlformats.org/officeDocument/2006/math">
                    <m:r>
                      <a:rPr lang="pt-BR" sz="2800" b="1" i="1">
                        <a:latin typeface="Cambria Math" panose="02040503050406030204" pitchFamily="18" charset="0"/>
                      </a:rPr>
                      <m:t>𝑪</m:t>
                    </m:r>
                  </m:oMath>
                </a14:m>
                <a:r>
                  <a:rPr lang="pt-BR" sz="2800" dirty="0"/>
                  <a:t> fornece o número de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classificações corretas</a:t>
                </a:r>
                <a:r>
                  <a:rPr lang="pt-BR" sz="2800" dirty="0"/>
                  <a:t>.</a:t>
                </a:r>
              </a:p>
              <a:p>
                <a:r>
                  <a:rPr lang="pt-BR" sz="2800" dirty="0"/>
                  <a:t>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sz="2800" dirty="0"/>
                  <a:t>-</a:t>
                </a:r>
                <a:r>
                  <a:rPr lang="pt-BR" sz="2800" dirty="0" err="1"/>
                  <a:t>ésima</a:t>
                </a:r>
                <a:r>
                  <a:rPr lang="pt-BR" sz="2800" dirty="0"/>
                  <a:t> </a:t>
                </a:r>
                <a:r>
                  <a:rPr lang="pt-BR" sz="2800" b="1" i="1" dirty="0">
                    <a:solidFill>
                      <a:srgbClr val="7030A0"/>
                    </a:solidFill>
                  </a:rPr>
                  <a:t>linha</a:t>
                </a:r>
                <a:r>
                  <a:rPr lang="pt-BR" sz="2800" dirty="0"/>
                  <a:t> indica 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total de exemplos que foram classificados como pertencentes a </a:t>
                </a:r>
                <a14:m>
                  <m:oMath xmlns:m="http://schemas.openxmlformats.org/officeDocument/2006/math">
                    <m:r>
                      <a:rPr lang="pt-BR" sz="2800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pt-BR" sz="2800" b="1" i="1" dirty="0">
                    <a:solidFill>
                      <a:srgbClr val="00B050"/>
                    </a:solidFill>
                  </a:rPr>
                  <a:t>-</a:t>
                </a:r>
                <a:r>
                  <a:rPr lang="pt-BR" sz="2800" b="1" i="1" dirty="0" err="1">
                    <a:solidFill>
                      <a:srgbClr val="00B050"/>
                    </a:solidFill>
                  </a:rPr>
                  <a:t>ésima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 classe</a:t>
                </a:r>
                <a:r>
                  <a:rPr lang="pt-BR" sz="2800" dirty="0"/>
                  <a:t>, incluindo exemplos que pertencem e não pertencem à classe.</a:t>
                </a:r>
              </a:p>
              <a:p>
                <a:r>
                  <a:rPr lang="pt-BR" sz="2800" dirty="0"/>
                  <a:t>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sz="2800" dirty="0"/>
                  <a:t>-</a:t>
                </a:r>
                <a:r>
                  <a:rPr lang="pt-BR" sz="2800" dirty="0" err="1"/>
                  <a:t>ésima</a:t>
                </a:r>
                <a:r>
                  <a:rPr lang="pt-BR" sz="2800" dirty="0"/>
                  <a:t> </a:t>
                </a:r>
                <a:r>
                  <a:rPr lang="pt-BR" sz="2800" b="1" i="1" dirty="0">
                    <a:solidFill>
                      <a:srgbClr val="7030A0"/>
                    </a:solidFill>
                  </a:rPr>
                  <a:t>coluna</a:t>
                </a:r>
                <a:r>
                  <a:rPr lang="pt-BR" sz="2800" dirty="0"/>
                  <a:t> indica o 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total de exemplos que realmente pertencem à </a:t>
                </a:r>
                <a14:m>
                  <m:oMath xmlns:m="http://schemas.openxmlformats.org/officeDocument/2006/math">
                    <m:r>
                      <a:rPr lang="pt-BR" sz="2800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pt-BR" sz="2800" b="1" i="1" dirty="0">
                    <a:solidFill>
                      <a:srgbClr val="00B050"/>
                    </a:solidFill>
                  </a:rPr>
                  <a:t>-</a:t>
                </a:r>
                <a:r>
                  <a:rPr lang="pt-BR" sz="2800" b="1" i="1" dirty="0" err="1">
                    <a:solidFill>
                      <a:srgbClr val="00B050"/>
                    </a:solidFill>
                  </a:rPr>
                  <a:t>ésima</a:t>
                </a:r>
                <a:r>
                  <a:rPr lang="pt-BR" sz="2800" b="1" i="1" dirty="0">
                    <a:solidFill>
                      <a:srgbClr val="00B050"/>
                    </a:solidFill>
                  </a:rPr>
                  <a:t> classe</a:t>
                </a:r>
                <a:r>
                  <a:rPr lang="pt-BR" sz="2800" dirty="0"/>
                  <a:t>, incluindo classificações corretas e incorretas. 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3156" y="1825624"/>
                <a:ext cx="6423377" cy="5032375"/>
              </a:xfrm>
              <a:blipFill>
                <a:blip r:embed="rId3"/>
                <a:stretch>
                  <a:fillRect l="-1708" t="-1937" r="-170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3">
            <a:extLst>
              <a:ext uri="{FF2B5EF4-FFF2-40B4-BE49-F238E27FC236}">
                <a16:creationId xmlns:a16="http://schemas.microsoft.com/office/drawing/2014/main" id="{E3C2398C-FA6E-B604-0A4E-B8DC5CF24EF7}"/>
              </a:ext>
            </a:extLst>
          </p:cNvPr>
          <p:cNvSpPr/>
          <p:nvPr/>
        </p:nvSpPr>
        <p:spPr>
          <a:xfrm>
            <a:off x="1051034" y="2703827"/>
            <a:ext cx="4096698" cy="52628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BF1D53-FE8C-A737-118B-224A249F0F55}"/>
              </a:ext>
            </a:extLst>
          </p:cNvPr>
          <p:cNvSpPr/>
          <p:nvPr/>
        </p:nvSpPr>
        <p:spPr>
          <a:xfrm rot="5400000">
            <a:off x="559069" y="3357278"/>
            <a:ext cx="2251700" cy="79225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00374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3036709" y="2488766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6709" y="2488766"/>
                <a:ext cx="4854223" cy="212231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3">
            <a:extLst>
              <a:ext uri="{FF2B5EF4-FFF2-40B4-BE49-F238E27FC236}">
                <a16:creationId xmlns:a16="http://schemas.microsoft.com/office/drawing/2014/main" id="{E9839706-E14C-629A-7F56-18012BB99C3A}"/>
              </a:ext>
            </a:extLst>
          </p:cNvPr>
          <p:cNvSpPr/>
          <p:nvPr/>
        </p:nvSpPr>
        <p:spPr>
          <a:xfrm>
            <a:off x="3794234" y="2523792"/>
            <a:ext cx="4096698" cy="52628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6279C33D-9270-DC3C-212E-0FD57AC45F7D}"/>
              </a:ext>
            </a:extLst>
          </p:cNvPr>
          <p:cNvSpPr txBox="1"/>
          <p:nvPr/>
        </p:nvSpPr>
        <p:spPr>
          <a:xfrm>
            <a:off x="7894389" y="2452160"/>
            <a:ext cx="34013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dirty="0"/>
              <a:t>Exemplos classificados como pertencentes à classe 1.</a:t>
            </a:r>
          </a:p>
        </p:txBody>
      </p:sp>
      <p:sp>
        <p:nvSpPr>
          <p:cNvPr id="8" name="Oval 5">
            <a:extLst>
              <a:ext uri="{FF2B5EF4-FFF2-40B4-BE49-F238E27FC236}">
                <a16:creationId xmlns:a16="http://schemas.microsoft.com/office/drawing/2014/main" id="{1BD26B11-37BD-057A-7642-8513680C0B09}"/>
              </a:ext>
            </a:extLst>
          </p:cNvPr>
          <p:cNvSpPr/>
          <p:nvPr/>
        </p:nvSpPr>
        <p:spPr>
          <a:xfrm rot="5400000">
            <a:off x="3302270" y="3141648"/>
            <a:ext cx="2251700" cy="79225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0F0FD986-F79E-DA0A-829E-1F5A7437324A}"/>
              </a:ext>
            </a:extLst>
          </p:cNvPr>
          <p:cNvSpPr/>
          <p:nvPr/>
        </p:nvSpPr>
        <p:spPr>
          <a:xfrm>
            <a:off x="7525012" y="2452160"/>
            <a:ext cx="577516" cy="145253"/>
          </a:xfrm>
          <a:custGeom>
            <a:avLst/>
            <a:gdLst>
              <a:gd name="connsiteX0" fmla="*/ 0 w 577516"/>
              <a:gd name="connsiteY0" fmla="*/ 145253 h 145253"/>
              <a:gd name="connsiteX1" fmla="*/ 272716 w 577516"/>
              <a:gd name="connsiteY1" fmla="*/ 874 h 145253"/>
              <a:gd name="connsiteX2" fmla="*/ 577516 w 577516"/>
              <a:gd name="connsiteY2" fmla="*/ 81085 h 1452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77516" h="145253">
                <a:moveTo>
                  <a:pt x="0" y="145253"/>
                </a:moveTo>
                <a:cubicBezTo>
                  <a:pt x="88231" y="78411"/>
                  <a:pt x="176463" y="11569"/>
                  <a:pt x="272716" y="874"/>
                </a:cubicBezTo>
                <a:cubicBezTo>
                  <a:pt x="368969" y="-9821"/>
                  <a:pt x="577516" y="81085"/>
                  <a:pt x="577516" y="81085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30228E55-A04A-15F3-F542-24A94935CB8F}"/>
              </a:ext>
            </a:extLst>
          </p:cNvPr>
          <p:cNvSpPr txBox="1"/>
          <p:nvPr/>
        </p:nvSpPr>
        <p:spPr>
          <a:xfrm>
            <a:off x="1260491" y="4807062"/>
            <a:ext cx="39211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dirty="0"/>
              <a:t>Quantidade de exemplos realmente pertencentes à classe 1.</a:t>
            </a:r>
          </a:p>
        </p:txBody>
      </p:sp>
      <p:sp>
        <p:nvSpPr>
          <p:cNvPr id="11" name="Freeform 8">
            <a:extLst>
              <a:ext uri="{FF2B5EF4-FFF2-40B4-BE49-F238E27FC236}">
                <a16:creationId xmlns:a16="http://schemas.microsoft.com/office/drawing/2014/main" id="{DE8EF324-A6C8-6014-6A79-6F6CD536E661}"/>
              </a:ext>
            </a:extLst>
          </p:cNvPr>
          <p:cNvSpPr/>
          <p:nvPr/>
        </p:nvSpPr>
        <p:spPr>
          <a:xfrm rot="871324">
            <a:off x="3488790" y="4556114"/>
            <a:ext cx="792260" cy="501897"/>
          </a:xfrm>
          <a:custGeom>
            <a:avLst/>
            <a:gdLst>
              <a:gd name="connsiteX0" fmla="*/ 994610 w 994610"/>
              <a:gd name="connsiteY0" fmla="*/ 0 h 80211"/>
              <a:gd name="connsiteX1" fmla="*/ 0 w 994610"/>
              <a:gd name="connsiteY1" fmla="*/ 80211 h 80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94610" h="80211">
                <a:moveTo>
                  <a:pt x="994610" y="0"/>
                </a:moveTo>
                <a:cubicBezTo>
                  <a:pt x="596231" y="18716"/>
                  <a:pt x="197853" y="37432"/>
                  <a:pt x="0" y="80211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9">
                <a:extLst>
                  <a:ext uri="{FF2B5EF4-FFF2-40B4-BE49-F238E27FC236}">
                    <a16:creationId xmlns:a16="http://schemas.microsoft.com/office/drawing/2014/main" id="{B0A8A935-42A2-46DB-34B6-70E5007CD2FA}"/>
                  </a:ext>
                </a:extLst>
              </p:cNvPr>
              <p:cNvSpPr/>
              <p:nvPr/>
            </p:nvSpPr>
            <p:spPr>
              <a:xfrm>
                <a:off x="5757333" y="5298131"/>
                <a:ext cx="6242319" cy="132343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2000" dirty="0"/>
                  <a:t> indica quantos exemplos da classe 1 foram corretamente atribuídos à classe 1.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</m:oMath>
                </a14:m>
                <a:r>
                  <a:rPr lang="pt-BR" sz="2000" dirty="0"/>
                  <a:t> indica quantos exemplos da classe 2 foram atribuídos à classe 1.</a:t>
                </a:r>
              </a:p>
            </p:txBody>
          </p:sp>
        </mc:Choice>
        <mc:Fallback xmlns="">
          <p:sp>
            <p:nvSpPr>
              <p:cNvPr id="12" name="Rectangle 9">
                <a:extLst>
                  <a:ext uri="{FF2B5EF4-FFF2-40B4-BE49-F238E27FC236}">
                    <a16:creationId xmlns:a16="http://schemas.microsoft.com/office/drawing/2014/main" id="{B0A8A935-42A2-46DB-34B6-70E5007CD2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7333" y="5298131"/>
                <a:ext cx="6242319" cy="1323439"/>
              </a:xfrm>
              <a:prstGeom prst="rect">
                <a:avLst/>
              </a:prstGeom>
              <a:blipFill>
                <a:blip r:embed="rId3"/>
                <a:stretch>
                  <a:fillRect l="-879" t="-2304" b="-737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36796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EAC8C3E-AFB0-15A1-EDEF-475FA364337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caso binário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EAC8C3E-AFB0-15A1-EDEF-475FA36433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r="-81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A052458-A5D6-9055-C748-5BFDB00FC7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56663" y="1825624"/>
                <a:ext cx="608858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i="1" dirty="0"/>
                  <a:t>Verdadeiros Positivos </a:t>
                </a:r>
                <a:r>
                  <a:rPr lang="pt-BR" dirty="0"/>
                  <a:t>(TP): número de exemplos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classificados corretamente. </a:t>
                </a:r>
              </a:p>
              <a:p>
                <a:r>
                  <a:rPr lang="pt-BR" b="1" i="1" dirty="0"/>
                  <a:t>Verdadeiros Negativos</a:t>
                </a:r>
                <a:r>
                  <a:rPr lang="pt-BR" dirty="0"/>
                  <a:t> (TN): número de exemplos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classificados corretamente.</a:t>
                </a:r>
              </a:p>
              <a:p>
                <a:r>
                  <a:rPr lang="pt-BR" b="1" i="1" dirty="0"/>
                  <a:t>Falsos Positivos </a:t>
                </a:r>
                <a:r>
                  <a:rPr lang="pt-BR" dirty="0"/>
                  <a:t>(FP): número de exemplos atribuídos à classe positiva, mas que pertencem à classe negativa.</a:t>
                </a:r>
              </a:p>
              <a:p>
                <a:r>
                  <a:rPr lang="pt-BR" b="1" i="1" dirty="0"/>
                  <a:t>Falsos Negativos</a:t>
                </a:r>
                <a:r>
                  <a:rPr lang="pt-BR" dirty="0"/>
                  <a:t> (FN): número de exemplos atribuídos à classe negativa, mas que pertencem à classe positiva.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A052458-A5D6-9055-C748-5BFDB00FC7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56663" y="1825624"/>
                <a:ext cx="6088581" cy="5032375"/>
              </a:xfrm>
              <a:blipFill>
                <a:blip r:embed="rId3"/>
                <a:stretch>
                  <a:fillRect l="-1802" t="-2663" r="-16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ela 5">
            <a:extLst>
              <a:ext uri="{FF2B5EF4-FFF2-40B4-BE49-F238E27FC236}">
                <a16:creationId xmlns:a16="http://schemas.microsoft.com/office/drawing/2014/main" id="{744D7738-C774-F8D0-DD85-76976F9C0032}"/>
              </a:ext>
            </a:extLst>
          </p:cNvPr>
          <p:cNvGraphicFramePr>
            <a:graphicFrameLocks noGrp="1"/>
          </p:cNvGraphicFramePr>
          <p:nvPr/>
        </p:nvGraphicFramePr>
        <p:xfrm>
          <a:off x="1411239" y="2716108"/>
          <a:ext cx="420579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2895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2102895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Verdadeiros </a:t>
                      </a:r>
                      <a:b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</a:b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Negativos (TN)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Falsos</a:t>
                      </a:r>
                      <a:b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Negativos (FN)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Falsos </a:t>
                      </a:r>
                      <a:b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</a:b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Positivos (FP)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Verdadeiros </a:t>
                      </a:r>
                      <a:b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</a:b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Positivos (TP)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7" name="CaixaDeTexto 6">
            <a:extLst>
              <a:ext uri="{FF2B5EF4-FFF2-40B4-BE49-F238E27FC236}">
                <a16:creationId xmlns:a16="http://schemas.microsoft.com/office/drawing/2014/main" id="{44F3702B-0FE3-BDED-62A7-35438A8F3B75}"/>
              </a:ext>
            </a:extLst>
          </p:cNvPr>
          <p:cNvSpPr txBox="1"/>
          <p:nvPr/>
        </p:nvSpPr>
        <p:spPr>
          <a:xfrm rot="16200000">
            <a:off x="-452875" y="3354402"/>
            <a:ext cx="193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 fontAlgn="ctr"/>
            <a:r>
              <a:rPr lang="pt-BR" sz="1800" b="1" dirty="0">
                <a:effectLst/>
              </a:rPr>
              <a:t>Classes Estimadas 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FC82D3C-E180-54E3-CEFE-B2BD9B8D3E2A}"/>
              </a:ext>
            </a:extLst>
          </p:cNvPr>
          <p:cNvSpPr txBox="1"/>
          <p:nvPr/>
        </p:nvSpPr>
        <p:spPr>
          <a:xfrm>
            <a:off x="1517411" y="4856336"/>
            <a:ext cx="39934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 fontAlgn="b"/>
            <a:r>
              <a:rPr lang="pt-BR" sz="1800" b="1" dirty="0">
                <a:effectLst/>
              </a:rPr>
              <a:t>Classes Verdadeiras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D618FE73-F69F-A4D4-3E14-7C80BD56C5C9}"/>
                  </a:ext>
                </a:extLst>
              </p:cNvPr>
              <p:cNvSpPr txBox="1"/>
              <p:nvPr/>
            </p:nvSpPr>
            <p:spPr>
              <a:xfrm>
                <a:off x="687719" y="3724613"/>
                <a:ext cx="723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sz="1800" b="1" dirty="0">
                    <a:effectLst/>
                  </a:rPr>
                  <a:t>+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D618FE73-F69F-A4D4-3E14-7C80BD56C5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719" y="3724613"/>
                <a:ext cx="723520" cy="369332"/>
              </a:xfrm>
              <a:prstGeom prst="rect">
                <a:avLst/>
              </a:prstGeom>
              <a:blipFill>
                <a:blip r:embed="rId4"/>
                <a:stretch>
                  <a:fillRect l="-7563" t="-8197" r="-6723" b="-262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4841025-C42C-FB64-87B6-62F7C4AD612E}"/>
                  </a:ext>
                </a:extLst>
              </p:cNvPr>
              <p:cNvSpPr txBox="1"/>
              <p:nvPr/>
            </p:nvSpPr>
            <p:spPr>
              <a:xfrm>
                <a:off x="701026" y="2938030"/>
                <a:ext cx="723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b="1" dirty="0"/>
                  <a:t>-</a:t>
                </a:r>
                <a:r>
                  <a:rPr lang="pt-BR" sz="1800" b="1" dirty="0">
                    <a:effectLst/>
                  </a:rPr>
                  <a:t>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4841025-C42C-FB64-87B6-62F7C4AD61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026" y="2938030"/>
                <a:ext cx="723520" cy="369332"/>
              </a:xfrm>
              <a:prstGeom prst="rect">
                <a:avLst/>
              </a:prstGeom>
              <a:blipFill>
                <a:blip r:embed="rId5"/>
                <a:stretch>
                  <a:fillRect l="-3361" t="-8197" r="-4202" b="-262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33FF584A-410C-DBCB-7735-A7CD30A88BC6}"/>
                  </a:ext>
                </a:extLst>
              </p:cNvPr>
              <p:cNvSpPr txBox="1"/>
              <p:nvPr/>
            </p:nvSpPr>
            <p:spPr>
              <a:xfrm>
                <a:off x="3432856" y="4362075"/>
                <a:ext cx="200255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sz="1800" b="1" dirty="0">
                    <a:effectLst/>
                  </a:rPr>
                  <a:t>+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33FF584A-410C-DBCB-7735-A7CD30A88B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2856" y="4362075"/>
                <a:ext cx="2002557" cy="369332"/>
              </a:xfrm>
              <a:prstGeom prst="rect">
                <a:avLst/>
              </a:prstGeom>
              <a:blipFill>
                <a:blip r:embed="rId6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01118442-F1CF-69E3-68DB-2A693775C8C5}"/>
                  </a:ext>
                </a:extLst>
              </p:cNvPr>
              <p:cNvSpPr txBox="1"/>
              <p:nvPr/>
            </p:nvSpPr>
            <p:spPr>
              <a:xfrm>
                <a:off x="1411239" y="4362075"/>
                <a:ext cx="200255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b="1" dirty="0"/>
                  <a:t>-</a:t>
                </a:r>
                <a:r>
                  <a:rPr lang="pt-BR" sz="1800" b="1" dirty="0">
                    <a:effectLst/>
                  </a:rPr>
                  <a:t>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01118442-F1CF-69E3-68DB-2A693775C8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1239" y="4362075"/>
                <a:ext cx="2002557" cy="369332"/>
              </a:xfrm>
              <a:prstGeom prst="rect">
                <a:avLst/>
              </a:prstGeom>
              <a:blipFill>
                <a:blip r:embed="rId7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99473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2EDB17EF-5EC1-A178-3122-9310D2C0D3C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caso binário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2EDB17EF-5EC1-A178-3122-9310D2C0D3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r="-81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Imagem 21">
            <a:extLst>
              <a:ext uri="{FF2B5EF4-FFF2-40B4-BE49-F238E27FC236}">
                <a16:creationId xmlns:a16="http://schemas.microsoft.com/office/drawing/2014/main" id="{43854156-1399-9016-BDBA-8C80710C3EC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5539" y="1611691"/>
            <a:ext cx="6420922" cy="5235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5112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418656-538C-BBD9-47FA-40A924A66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45381"/>
            <a:ext cx="10515600" cy="29672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b="1" i="1" dirty="0"/>
              <a:t>Nós podemos calcular algumas métricas de desempenho importantes a partir das informações contidas na matriz de confusão.</a:t>
            </a:r>
          </a:p>
        </p:txBody>
      </p:sp>
    </p:spTree>
    <p:extLst>
      <p:ext uri="{BB962C8B-B14F-4D97-AF65-F5344CB8AC3E}">
        <p14:creationId xmlns:p14="http://schemas.microsoft.com/office/powerpoint/2010/main" val="36090633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C76DB9-C5DB-DAD2-5D1D-F064916FE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243F063-09F2-F192-E084-325BC5032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6379" y="1825624"/>
            <a:ext cx="5760154" cy="5032375"/>
          </a:xfrm>
        </p:spPr>
        <p:txBody>
          <a:bodyPr/>
          <a:lstStyle/>
          <a:p>
            <a:r>
              <a:rPr lang="pt-BR" dirty="0"/>
              <a:t>Acurácia med</a:t>
            </a:r>
            <a:r>
              <a:rPr lang="pt-BR" b="0" i="0" dirty="0">
                <a:effectLst/>
              </a:rPr>
              <a:t>e a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proporção de exemplos classificados corretamente em relação ao total de exemplos </a:t>
            </a:r>
            <a:r>
              <a:rPr lang="pt-BR" b="0" i="0" dirty="0">
                <a:effectLst/>
              </a:rPr>
              <a:t>avaliados. </a:t>
            </a:r>
          </a:p>
          <a:p>
            <a:r>
              <a:rPr lang="pt-BR" b="0" i="0" dirty="0">
                <a:effectLst/>
              </a:rPr>
              <a:t>Em outras palavras, a acurácia fornece uma indicação de quão bem o modelo está fazendo suas </a:t>
            </a:r>
            <a:r>
              <a:rPr lang="pt-BR" b="1" i="1" dirty="0">
                <a:solidFill>
                  <a:srgbClr val="00B050"/>
                </a:solidFill>
                <a:effectLst/>
              </a:rPr>
              <a:t>predições corretas em comparação com todas as previsões feitas</a:t>
            </a:r>
            <a:r>
              <a:rPr lang="pt-BR" b="0" i="0" dirty="0">
                <a:effectLst/>
              </a:rPr>
              <a:t>.</a:t>
            </a:r>
          </a:p>
          <a:p>
            <a:r>
              <a:rPr lang="pt-BR" b="0" i="0" dirty="0">
                <a:effectLst/>
              </a:rPr>
              <a:t>É uma métrica útil para avaliar a </a:t>
            </a:r>
            <a:r>
              <a:rPr lang="pt-BR" b="1" i="1" dirty="0">
                <a:solidFill>
                  <a:srgbClr val="FF0000"/>
                </a:solidFill>
                <a:effectLst/>
              </a:rPr>
              <a:t>performance geral</a:t>
            </a:r>
            <a:r>
              <a:rPr lang="pt-BR" b="1" i="1" dirty="0">
                <a:solidFill>
                  <a:srgbClr val="00B050"/>
                </a:solidFill>
                <a:effectLst/>
              </a:rPr>
              <a:t> do modelo</a:t>
            </a:r>
            <a:r>
              <a:rPr lang="pt-BR" b="0" i="0" dirty="0">
                <a:effectLst/>
              </a:rPr>
              <a:t>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1A8E5FE-3F01-AAA0-2326-F47AA1AC18B9}"/>
                  </a:ext>
                </a:extLst>
              </p:cNvPr>
              <p:cNvSpPr txBox="1"/>
              <p:nvPr/>
            </p:nvSpPr>
            <p:spPr>
              <a:xfrm>
                <a:off x="838200" y="2922836"/>
                <a:ext cx="5057423" cy="1012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cur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cia</m:t>
                      </m:r>
                      <m:r>
                        <a:rPr lang="pt-BR" sz="32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BR" sz="3200" dirty="0"/>
                            <m:t>TP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FN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FP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TN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1A8E5FE-3F01-AAA0-2326-F47AA1AC18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922836"/>
                <a:ext cx="5057423" cy="10123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52892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64D5D3-A9ED-9B8B-0474-AF3EF6224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29D007B-9E18-00C3-2CF2-47D7955EB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85626" y="1690688"/>
            <a:ext cx="5442250" cy="5167312"/>
          </a:xfrm>
        </p:spPr>
        <p:txBody>
          <a:bodyPr>
            <a:normAutofit/>
          </a:bodyPr>
          <a:lstStyle/>
          <a:p>
            <a:r>
              <a:rPr lang="pt-BR" dirty="0">
                <a:solidFill>
                  <a:schemeClr val="tx1"/>
                </a:solidFill>
              </a:rPr>
              <a:t>A </a:t>
            </a:r>
            <a:r>
              <a:rPr lang="pt-BR" b="1" i="1" dirty="0">
                <a:solidFill>
                  <a:srgbClr val="00B050"/>
                </a:solidFill>
              </a:rPr>
              <a:t>acurácia</a:t>
            </a:r>
            <a:r>
              <a:rPr lang="pt-BR" dirty="0">
                <a:solidFill>
                  <a:schemeClr val="tx1"/>
                </a:solidFill>
              </a:rPr>
              <a:t> é, geralmente, a </a:t>
            </a:r>
            <a:r>
              <a:rPr lang="pt-BR" b="1" i="1" dirty="0">
                <a:solidFill>
                  <a:srgbClr val="00B050"/>
                </a:solidFill>
              </a:rPr>
              <a:t>primeira escolha </a:t>
            </a:r>
            <a:r>
              <a:rPr lang="pt-BR" dirty="0">
                <a:solidFill>
                  <a:schemeClr val="tx1"/>
                </a:solidFill>
              </a:rPr>
              <a:t>para medir a qualidade de um classificador.</a:t>
            </a:r>
          </a:p>
          <a:p>
            <a:r>
              <a:rPr lang="pt-BR" dirty="0">
                <a:solidFill>
                  <a:schemeClr val="tx1"/>
                </a:solidFill>
              </a:rPr>
              <a:t>Entretanto, ela pode ser </a:t>
            </a:r>
            <a:r>
              <a:rPr lang="pt-BR" b="1" i="1" dirty="0">
                <a:solidFill>
                  <a:srgbClr val="00B050"/>
                </a:solidFill>
              </a:rPr>
              <a:t>enganosa com problemas </a:t>
            </a:r>
            <a:r>
              <a:rPr lang="pt-BR" b="1" i="1" dirty="0">
                <a:solidFill>
                  <a:srgbClr val="FF0000"/>
                </a:solidFill>
              </a:rPr>
              <a:t>desbalanceados</a:t>
            </a:r>
            <a:r>
              <a:rPr lang="pt-BR" dirty="0">
                <a:solidFill>
                  <a:schemeClr val="tx1"/>
                </a:solidFill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Problemas onde uma ou algumas classes têm muito mais exemplos do que as demais.</a:t>
            </a:r>
            <a:endParaRPr lang="pt-BR" dirty="0">
              <a:solidFill>
                <a:schemeClr val="tx1"/>
              </a:solidFill>
            </a:endParaRPr>
          </a:p>
          <a:p>
            <a:r>
              <a:rPr lang="pt-BR" dirty="0"/>
              <a:t>Nesses casos, ela pode nos levar a concluir que um </a:t>
            </a:r>
            <a:r>
              <a:rPr lang="pt-BR" b="1" i="1" dirty="0">
                <a:solidFill>
                  <a:srgbClr val="00B050"/>
                </a:solidFill>
              </a:rPr>
              <a:t>classificador ruim é muito bom</a:t>
            </a:r>
            <a:r>
              <a:rPr lang="pt-BR" dirty="0"/>
              <a:t>.</a:t>
            </a:r>
            <a:endParaRPr lang="pt-BR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3B70A8A1-B016-521E-B475-1827A59F773A}"/>
                  </a:ext>
                </a:extLst>
              </p:cNvPr>
              <p:cNvSpPr txBox="1"/>
              <p:nvPr/>
            </p:nvSpPr>
            <p:spPr>
              <a:xfrm>
                <a:off x="838200" y="2922836"/>
                <a:ext cx="5057423" cy="1012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cur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cia</m:t>
                      </m:r>
                      <m:r>
                        <a:rPr lang="pt-BR" sz="32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BR" sz="3200" dirty="0"/>
                            <m:t>TP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FN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FP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TN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3B70A8A1-B016-521E-B475-1827A59F77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922836"/>
                <a:ext cx="5057423" cy="10123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95624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64D5D3-A9ED-9B8B-0474-AF3EF6224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29D007B-9E18-00C3-2CF2-47D7955EBA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690688"/>
                <a:ext cx="11189678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>
                    <a:solidFill>
                      <a:schemeClr val="tx1"/>
                    </a:solidFill>
                  </a:rPr>
                  <a:t>Analisando a equação da acurácia, o que aconteceria se TP fosse muito maior do que TN, FN e FP?</a:t>
                </a:r>
              </a:p>
              <a:p>
                <a:pPr marL="0" indent="0">
                  <a:buNone/>
                </a:pPr>
                <a:endParaRPr lang="pt-BR" sz="8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m:rPr>
                              <m:sty m:val="p"/>
                            </m:rPr>
                            <a:rPr lang="pt-BR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acur</m:t>
                          </m:r>
                          <m:r>
                            <a:rPr lang="pt-BR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á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cia</m:t>
                          </m:r>
                        </m:e>
                      </m:func>
                      <m:r>
                        <a:rPr lang="pt-BR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d>
                        <m:dPr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TN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TN</m:t>
                              </m:r>
                              <m: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FN</m:t>
                              </m:r>
                              <m: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FP</m:t>
                              </m:r>
                            </m:den>
                          </m:f>
                        </m:e>
                      </m:d>
                      <m:r>
                        <a:rPr lang="pt-B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  <m:r>
                        <a:rPr lang="pt-B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pt-BR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pt-BR" sz="800" dirty="0">
                  <a:solidFill>
                    <a:schemeClr val="tx1"/>
                  </a:solidFill>
                </a:endParaRP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O mesmo aconteceria se TN fosse muito maior do que TP, FN e FP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Portanto, quando temos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classes desbalanceadas, precisamos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analisar outras métricas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b="0" i="0" dirty="0">
                    <a:solidFill>
                      <a:schemeClr val="tx1"/>
                    </a:solidFill>
                    <a:effectLst/>
                  </a:rPr>
                  <a:t>Ela também é enganosa quando os custos de falsos positivos e falsos negativos não são iguais.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29D007B-9E18-00C3-2CF2-47D7955EBA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690688"/>
                <a:ext cx="11189678" cy="5167312"/>
              </a:xfrm>
              <a:blipFill>
                <a:blip r:embed="rId3"/>
                <a:stretch>
                  <a:fillRect l="-926" t="-188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03564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59409E-2F7C-F9FB-1D90-828F558DA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Precisão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47B3338-3C79-280E-33CD-E184CC7529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9690" y="1870780"/>
            <a:ext cx="7066844" cy="4987219"/>
          </a:xfrm>
        </p:spPr>
        <p:txBody>
          <a:bodyPr>
            <a:normAutofit/>
          </a:bodyPr>
          <a:lstStyle/>
          <a:p>
            <a:r>
              <a:rPr lang="pt-BR" b="1" dirty="0"/>
              <a:t>Precisão</a:t>
            </a:r>
            <a:r>
              <a:rPr lang="pt-BR" dirty="0"/>
              <a:t> é a proporção de exemplos da classe positiva corretamente classificados (TP) em relação a todos os exemplos atribuídos à classe positiva (TP + FP).</a:t>
            </a:r>
          </a:p>
          <a:p>
            <a:r>
              <a:rPr lang="pt-BR" dirty="0"/>
              <a:t>É uma </a:t>
            </a:r>
            <a:r>
              <a:rPr lang="pt-BR" b="1" i="1" dirty="0">
                <a:solidFill>
                  <a:srgbClr val="00B050"/>
                </a:solidFill>
              </a:rPr>
              <a:t>boa medida </a:t>
            </a:r>
            <a:r>
              <a:rPr lang="pt-BR" dirty="0"/>
              <a:t>para determinar a qualidade do classificador </a:t>
            </a:r>
            <a:r>
              <a:rPr lang="pt-BR" b="1" i="1" dirty="0">
                <a:solidFill>
                  <a:srgbClr val="00B050"/>
                </a:solidFill>
              </a:rPr>
              <a:t>quando os custos de </a:t>
            </a:r>
            <a:r>
              <a:rPr lang="pt-BR" b="1" i="1" dirty="0">
                <a:solidFill>
                  <a:srgbClr val="FF0000"/>
                </a:solidFill>
              </a:rPr>
              <a:t>falsos positivos</a:t>
            </a:r>
            <a:r>
              <a:rPr lang="pt-BR" b="1" i="1" dirty="0">
                <a:solidFill>
                  <a:srgbClr val="00B050"/>
                </a:solidFill>
              </a:rPr>
              <a:t> são altos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na classificação de </a:t>
            </a:r>
            <a:r>
              <a:rPr lang="pt-BR" b="1" i="1" dirty="0"/>
              <a:t>spams</a:t>
            </a:r>
            <a:r>
              <a:rPr lang="pt-BR" dirty="0"/>
              <a:t> (</a:t>
            </a:r>
            <a:r>
              <a:rPr lang="pt-BR" b="1" i="1" dirty="0"/>
              <a:t>verdadeiro positivo</a:t>
            </a:r>
            <a:r>
              <a:rPr lang="pt-BR" dirty="0"/>
              <a:t>), um </a:t>
            </a:r>
            <a:r>
              <a:rPr lang="pt-BR" b="1" i="1" dirty="0"/>
              <a:t>falso positivo </a:t>
            </a:r>
            <a:r>
              <a:rPr lang="pt-BR" dirty="0"/>
              <a:t>significa que um </a:t>
            </a:r>
            <a:r>
              <a:rPr lang="pt-BR" b="1" i="1" dirty="0" err="1"/>
              <a:t>ham</a:t>
            </a:r>
            <a:r>
              <a:rPr lang="pt-BR" dirty="0"/>
              <a:t> (</a:t>
            </a:r>
            <a:r>
              <a:rPr lang="pt-BR" b="1" i="1" dirty="0"/>
              <a:t>verdadeiro negativo</a:t>
            </a:r>
            <a:r>
              <a:rPr lang="pt-BR" dirty="0"/>
              <a:t>) foi classificado como </a:t>
            </a:r>
            <a:r>
              <a:rPr lang="pt-BR" b="1" i="1" dirty="0"/>
              <a:t>spam</a:t>
            </a:r>
            <a:r>
              <a:rPr lang="pt-BR" dirty="0"/>
              <a:t>. O usuário de </a:t>
            </a:r>
            <a:r>
              <a:rPr lang="pt-BR" i="1" dirty="0" err="1"/>
              <a:t>email</a:t>
            </a:r>
            <a:r>
              <a:rPr lang="pt-BR" dirty="0"/>
              <a:t> pode perder </a:t>
            </a:r>
            <a:r>
              <a:rPr lang="pt-BR" i="1" dirty="0" err="1"/>
              <a:t>emails</a:t>
            </a:r>
            <a:r>
              <a:rPr lang="pt-BR" dirty="0"/>
              <a:t> importantes se a </a:t>
            </a:r>
            <a:r>
              <a:rPr lang="pt-BR" b="1" i="1" dirty="0"/>
              <a:t>precisão</a:t>
            </a:r>
            <a:r>
              <a:rPr lang="pt-BR" dirty="0"/>
              <a:t> for baixa.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3376B35-7B47-DF75-A545-B75926FB5BB2}"/>
                  </a:ext>
                </a:extLst>
              </p:cNvPr>
              <p:cNvSpPr txBox="1"/>
              <p:nvPr/>
            </p:nvSpPr>
            <p:spPr>
              <a:xfrm>
                <a:off x="654753" y="3341865"/>
                <a:ext cx="3939823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precis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FP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3376B35-7B47-DF75-A545-B75926FB5B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753" y="3341865"/>
                <a:ext cx="3939823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0D5ABCB4-5EB5-F832-F110-AD1F2FD3532A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685BDF4E-E4CF-5896-0326-96A536D9643C}"/>
              </a:ext>
            </a:extLst>
          </p:cNvPr>
          <p:cNvSpPr/>
          <p:nvPr/>
        </p:nvSpPr>
        <p:spPr>
          <a:xfrm rot="16200000">
            <a:off x="2438401" y="4876801"/>
            <a:ext cx="609602" cy="2081050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36506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87A758-CC86-49D1-9698-4D8C118C4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Recall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0E4F4E1-BE8B-2CDE-011D-F70A3522A2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0045" y="1825624"/>
            <a:ext cx="7326490" cy="5032375"/>
          </a:xfrm>
        </p:spPr>
        <p:txBody>
          <a:bodyPr>
            <a:normAutofit lnSpcReduction="10000"/>
          </a:bodyPr>
          <a:lstStyle/>
          <a:p>
            <a:r>
              <a:rPr lang="pt-BR" b="1" i="1" dirty="0"/>
              <a:t>Recall</a:t>
            </a:r>
            <a:r>
              <a:rPr lang="pt-BR" dirty="0"/>
              <a:t> ou sensibilidade é a proporção de exemplos da classe positiva corretamente classificados.</a:t>
            </a:r>
            <a:endParaRPr lang="pt-BR" b="1" i="1" dirty="0"/>
          </a:p>
          <a:p>
            <a:r>
              <a:rPr lang="pt-BR" dirty="0"/>
              <a:t>O </a:t>
            </a:r>
            <a:r>
              <a:rPr lang="pt-BR" i="1" dirty="0"/>
              <a:t>recall</a:t>
            </a:r>
            <a:r>
              <a:rPr lang="pt-BR" dirty="0"/>
              <a:t> calcula quantos exemplos realmente positivos o classificador captura em relação a todos exemplos positivos. </a:t>
            </a:r>
            <a:endParaRPr lang="pt-BR" sz="2100" dirty="0"/>
          </a:p>
          <a:p>
            <a:r>
              <a:rPr lang="pt-BR" dirty="0"/>
              <a:t>É uma </a:t>
            </a:r>
            <a:r>
              <a:rPr lang="pt-BR" b="1" i="1" dirty="0">
                <a:solidFill>
                  <a:srgbClr val="00B050"/>
                </a:solidFill>
              </a:rPr>
              <a:t>boa medida </a:t>
            </a:r>
            <a:r>
              <a:rPr lang="pt-BR" dirty="0"/>
              <a:t>para determinar a qualidade de um classificador </a:t>
            </a:r>
            <a:r>
              <a:rPr lang="pt-BR" b="1" i="1" dirty="0">
                <a:solidFill>
                  <a:srgbClr val="00B050"/>
                </a:solidFill>
              </a:rPr>
              <a:t>quando os custos de </a:t>
            </a:r>
            <a:r>
              <a:rPr lang="pt-BR" b="1" i="1" dirty="0">
                <a:solidFill>
                  <a:srgbClr val="FF0000"/>
                </a:solidFill>
              </a:rPr>
              <a:t>falsos negativos</a:t>
            </a:r>
            <a:r>
              <a:rPr lang="pt-BR" b="1" i="1" dirty="0">
                <a:solidFill>
                  <a:srgbClr val="00B050"/>
                </a:solidFill>
              </a:rPr>
              <a:t> são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na classificação de doenças, se um paciente doente (</a:t>
            </a:r>
            <a:r>
              <a:rPr lang="pt-BR" b="1" i="1" dirty="0"/>
              <a:t>verdadeiro positivo</a:t>
            </a:r>
            <a:r>
              <a:rPr lang="pt-BR" dirty="0"/>
              <a:t>) for classificado como não doente (</a:t>
            </a:r>
            <a:r>
              <a:rPr lang="pt-BR" b="1" i="1" dirty="0"/>
              <a:t>falso negativo</a:t>
            </a:r>
            <a:r>
              <a:rPr lang="pt-BR" dirty="0"/>
              <a:t>). O custo associado ao </a:t>
            </a:r>
            <a:r>
              <a:rPr lang="pt-BR" b="1" i="1" dirty="0"/>
              <a:t>falso negativo </a:t>
            </a:r>
            <a:r>
              <a:rPr lang="pt-BR" dirty="0"/>
              <a:t>será extremamente alto se a doença for contagiosa.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92F9593-43C2-2FC6-D7DF-B4A04BE65B06}"/>
                  </a:ext>
                </a:extLst>
              </p:cNvPr>
              <p:cNvSpPr txBox="1"/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𝑟𝑒𝑐𝑎𝑙𝑙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FN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92F9593-43C2-2FC6-D7DF-B4A04BE65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AB28634A-9E6D-BA06-E08B-AF1826CF6578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894B2598-B989-4F1A-AB5A-34B5BD2133A9}"/>
              </a:ext>
            </a:extLst>
          </p:cNvPr>
          <p:cNvSpPr/>
          <p:nvPr/>
        </p:nvSpPr>
        <p:spPr>
          <a:xfrm>
            <a:off x="2848303" y="5129049"/>
            <a:ext cx="641131" cy="1135118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49343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F418656-538C-BBD9-47FA-40A924A669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8254" y="2533701"/>
                <a:ext cx="10735491" cy="1790597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pt-BR" sz="4800" b="1" i="1" dirty="0"/>
                  <a:t>OK, consigo calcular as métricas para problemas binários, mas e quando </a:t>
                </a:r>
                <a14:m>
                  <m:oMath xmlns:m="http://schemas.openxmlformats.org/officeDocument/2006/math">
                    <m:r>
                      <a:rPr lang="pt-BR" sz="4800" b="1" i="1" smtClean="0"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sz="4800" b="1" i="1" dirty="0"/>
                  <a:t> &gt; 2?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F418656-538C-BBD9-47FA-40A924A669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8254" y="2533701"/>
                <a:ext cx="10735491" cy="1790597"/>
              </a:xfrm>
              <a:blipFill>
                <a:blip r:embed="rId2"/>
                <a:stretch>
                  <a:fillRect l="-2213" t="-11604" r="-215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16118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4F6D18B-0399-55B9-FD83-C7EDF77FF08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</p:spPr>
            <p:txBody>
              <a:bodyPr/>
              <a:lstStyle/>
              <a:p>
                <a:r>
                  <a:rPr lang="pt-BR" dirty="0"/>
                  <a:t>Matriz de confusão para caso multiclasses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4F6D18B-0399-55B9-FD83-C7EDF77FF0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  <a:blipFill>
                <a:blip r:embed="rId2"/>
                <a:stretch>
                  <a:fillRect l="-2318" t="-13364" b="-211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6AE9087-3D2E-DF8E-D6D3-12EDE54371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62349" y="1859491"/>
                <a:ext cx="5709300" cy="4998509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É possível calcular as métricas anteriores para o cenário multiclasses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Para isso, basta selecionar, uma vez, cada classe como sendo a classe positiva, enquanto todas as demais classes formam a classe negativa.</a:t>
                </a:r>
              </a:p>
              <a:p>
                <a:r>
                  <a:rPr lang="pt-BR" dirty="0"/>
                  <a:t>Assim, obtém-se os valores das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métricas para cada uma das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i="1" dirty="0">
                    <a:solidFill>
                      <a:srgbClr val="00B050"/>
                    </a:solidFill>
                  </a:rPr>
                  <a:t> classes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Vejamos um exemplo 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pt-BR" dirty="0"/>
                  <a:t>, ou seja,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6AE9087-3D2E-DF8E-D6D3-12EDE54371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62349" y="1859491"/>
                <a:ext cx="5709300" cy="4998509"/>
              </a:xfrm>
              <a:blipFill>
                <a:blip r:embed="rId3"/>
                <a:stretch>
                  <a:fillRect l="-1921" t="-2683" r="-149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08325068-7110-8CDE-99D3-4E05F625B769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0351" y="2766990"/>
              <a:ext cx="6276622" cy="2933897"/>
            </p:xfrm>
            <a:graphic>
              <a:graphicData uri="http://schemas.openxmlformats.org/drawingml/2006/table">
                <a:tbl>
                  <a:tblPr/>
                  <a:tblGrid>
                    <a:gridCol w="107350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96712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98713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18879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18879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08325068-7110-8CDE-99D3-4E05F625B76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66512468"/>
                  </p:ext>
                </p:extLst>
              </p:nvPr>
            </p:nvGraphicFramePr>
            <p:xfrm>
              <a:off x="20351" y="2766990"/>
              <a:ext cx="6276622" cy="2933897"/>
            </p:xfrm>
            <a:graphic>
              <a:graphicData uri="http://schemas.openxmlformats.org/drawingml/2006/table">
                <a:tbl>
                  <a:tblPr/>
                  <a:tblGrid>
                    <a:gridCol w="107350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96712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98713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870" r="-438994" b="-3373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100870" r="-438994" b="-2373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200870" r="-438994" b="-1373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18879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4828" t="-501449" r="-200862" b="-1289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45887" t="-501449" r="-101732" b="-1289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44397" t="-501449" r="-1293" b="-1289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18879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C5882695-5DE1-C1D3-36F2-0FBA637ABB6A}"/>
                  </a:ext>
                </a:extLst>
              </p:cNvPr>
              <p:cNvSpPr txBox="1"/>
              <p:nvPr/>
            </p:nvSpPr>
            <p:spPr>
              <a:xfrm>
                <a:off x="2063640" y="2305325"/>
                <a:ext cx="423333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2400" dirty="0"/>
                  <a:t> é a positiva.</a:t>
                </a:r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C5882695-5DE1-C1D3-36F2-0FBA637ABB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3640" y="2305325"/>
                <a:ext cx="4233333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51383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6F3810FD-8C1E-E235-CDF3-A845D40ED97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caso multiclasses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6F3810FD-8C1E-E235-CDF3-A845D40ED9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13364" b="-211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F549053F-BDE4-C8D3-A996-B46C550898B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49958" y="2834725"/>
              <a:ext cx="5610576" cy="3040125"/>
            </p:xfrm>
            <a:graphic>
              <a:graphicData uri="http://schemas.openxmlformats.org/drawingml/2006/table">
                <a:tbl>
                  <a:tblPr/>
                  <a:tblGrid>
                    <a:gridCol w="108373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4035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27976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F549053F-BDE4-C8D3-A996-B46C550898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35949868"/>
                  </p:ext>
                </p:extLst>
              </p:nvPr>
            </p:nvGraphicFramePr>
            <p:xfrm>
              <a:off x="349958" y="2834725"/>
              <a:ext cx="5610576" cy="3040125"/>
            </p:xfrm>
            <a:graphic>
              <a:graphicData uri="http://schemas.openxmlformats.org/drawingml/2006/table">
                <a:tbl>
                  <a:tblPr/>
                  <a:tblGrid>
                    <a:gridCol w="108373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4035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861060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7092" r="-515702" b="-2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141121" r="-515702" b="-2532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86106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182979" r="-515702" b="-921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4231" t="-725455" r="-200000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45411" t="-725455" r="-100966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45411" t="-725455" r="-966" b="-1363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A4FF6500-B127-E5EB-2288-D345D9AB581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355645" y="2834725"/>
              <a:ext cx="5610577" cy="3040125"/>
            </p:xfrm>
            <a:graphic>
              <a:graphicData uri="http://schemas.openxmlformats.org/drawingml/2006/table">
                <a:tbl>
                  <a:tblPr/>
                  <a:tblGrid>
                    <a:gridCol w="11288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9519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27976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A4FF6500-B127-E5EB-2288-D345D9AB581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9424126"/>
                  </p:ext>
                </p:extLst>
              </p:nvPr>
            </p:nvGraphicFramePr>
            <p:xfrm>
              <a:off x="6355645" y="2834725"/>
              <a:ext cx="5610577" cy="3040125"/>
            </p:xfrm>
            <a:graphic>
              <a:graphicData uri="http://schemas.openxmlformats.org/drawingml/2006/table">
                <a:tbl>
                  <a:tblPr/>
                  <a:tblGrid>
                    <a:gridCol w="11288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9519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861060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3158" t="-7092" r="-548246" b="-2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86106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3158" t="-106338" r="-548246" b="-166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3158" t="-276415" r="-548246" b="-1226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4231" t="-725455" r="-200481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45411" t="-725455" r="-101449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45411" t="-725455" r="-1449" b="-1363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7DCAE37-0B68-31FE-C4B4-15B3A38CF8F2}"/>
                  </a:ext>
                </a:extLst>
              </p:cNvPr>
              <p:cNvSpPr txBox="1"/>
              <p:nvPr/>
            </p:nvSpPr>
            <p:spPr>
              <a:xfrm>
                <a:off x="2167466" y="2365178"/>
                <a:ext cx="37930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2400" dirty="0"/>
                  <a:t> é a positiva.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7DCAE37-0B68-31FE-C4B4-15B3A38CF8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7466" y="2365178"/>
                <a:ext cx="3793067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FA95A716-2329-11F1-7CC2-2B3C42F20DCF}"/>
                  </a:ext>
                </a:extLst>
              </p:cNvPr>
              <p:cNvSpPr txBox="1"/>
              <p:nvPr/>
            </p:nvSpPr>
            <p:spPr>
              <a:xfrm>
                <a:off x="8173155" y="2374387"/>
                <a:ext cx="37930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400" dirty="0"/>
                  <a:t>é a positiva.</a:t>
                </a:r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FA95A716-2329-11F1-7CC2-2B3C42F20D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3155" y="2374387"/>
                <a:ext cx="3793067" cy="461665"/>
              </a:xfrm>
              <a:prstGeom prst="rect">
                <a:avLst/>
              </a:prstGeom>
              <a:blipFill>
                <a:blip r:embed="rId6"/>
                <a:stretch>
                  <a:fillRect t="-9211" b="-289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24173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F87474-9D5C-0B3D-63E8-AD1CF986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Precisão versus </a:t>
            </a:r>
            <a:r>
              <a:rPr lang="pt-BR" i="1" dirty="0"/>
              <a:t>recall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2DAA94B-AA8F-AF15-EE11-8B107DF8C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0136" y="1825624"/>
            <a:ext cx="6352162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 </a:t>
            </a:r>
            <a:r>
              <a:rPr lang="pt-BR" b="1" i="1" dirty="0">
                <a:solidFill>
                  <a:srgbClr val="00B050"/>
                </a:solidFill>
              </a:rPr>
              <a:t>precisão</a:t>
            </a:r>
            <a:r>
              <a:rPr lang="pt-BR" dirty="0"/>
              <a:t> não fornece informações a respeito da quantidade de </a:t>
            </a:r>
            <a:r>
              <a:rPr lang="pt-BR" b="1" i="1" dirty="0">
                <a:solidFill>
                  <a:srgbClr val="00B050"/>
                </a:solidFill>
              </a:rPr>
              <a:t>falsos negativos</a:t>
            </a:r>
            <a:r>
              <a:rPr lang="pt-BR" dirty="0"/>
              <a:t>. </a:t>
            </a:r>
          </a:p>
          <a:p>
            <a:r>
              <a:rPr lang="pt-BR" dirty="0"/>
              <a:t>Por outro lado, o </a:t>
            </a:r>
            <a:r>
              <a:rPr lang="pt-BR" b="1" i="1" dirty="0">
                <a:solidFill>
                  <a:srgbClr val="00B050"/>
                </a:solidFill>
              </a:rPr>
              <a:t>recall</a:t>
            </a:r>
            <a:r>
              <a:rPr lang="pt-BR" dirty="0"/>
              <a:t> não fornece informações a respeito da quantidade de </a:t>
            </a:r>
            <a:r>
              <a:rPr lang="pt-BR" b="1" i="1" dirty="0">
                <a:solidFill>
                  <a:srgbClr val="00B050"/>
                </a:solidFill>
              </a:rPr>
              <a:t>falsos positivos</a:t>
            </a:r>
            <a:r>
              <a:rPr lang="pt-BR" dirty="0"/>
              <a:t>.</a:t>
            </a:r>
          </a:p>
          <a:p>
            <a:r>
              <a:rPr lang="pt-BR" dirty="0"/>
              <a:t>Mas e se os </a:t>
            </a:r>
            <a:r>
              <a:rPr lang="pt-BR" b="1" i="1" dirty="0">
                <a:solidFill>
                  <a:srgbClr val="00B050"/>
                </a:solidFill>
              </a:rPr>
              <a:t>custos associados a falsos positivos e negativos são iguais</a:t>
            </a:r>
            <a:r>
              <a:rPr lang="pt-BR" dirty="0"/>
              <a:t>?</a:t>
            </a:r>
          </a:p>
          <a:p>
            <a:r>
              <a:rPr lang="pt-BR" dirty="0"/>
              <a:t>Nesse caso, para analisarmos o desempenho de um classificador, precisamos de uma métrica que </a:t>
            </a:r>
            <a:r>
              <a:rPr lang="pt-BR" b="1" i="1" dirty="0">
                <a:solidFill>
                  <a:srgbClr val="00B050"/>
                </a:solidFill>
              </a:rPr>
              <a:t>combine as duas</a:t>
            </a:r>
            <a:r>
              <a:rPr lang="pt-BR" dirty="0"/>
              <a:t>.</a:t>
            </a:r>
          </a:p>
          <a:p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66DD82C-2C7C-932B-0676-6777E743E2CA}"/>
                  </a:ext>
                </a:extLst>
              </p:cNvPr>
              <p:cNvSpPr txBox="1"/>
              <p:nvPr/>
            </p:nvSpPr>
            <p:spPr>
              <a:xfrm>
                <a:off x="838200" y="4204505"/>
                <a:ext cx="3417711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𝑟𝑒𝑐𝑎𝑙𝑙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FN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66DD82C-2C7C-932B-0676-6777E743E2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204505"/>
                <a:ext cx="3417711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C33F56B-917E-EDAE-B038-52C2901A324E}"/>
                  </a:ext>
                </a:extLst>
              </p:cNvPr>
              <p:cNvSpPr txBox="1"/>
              <p:nvPr/>
            </p:nvSpPr>
            <p:spPr>
              <a:xfrm>
                <a:off x="577143" y="2563651"/>
                <a:ext cx="3939823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precis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FP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C33F56B-917E-EDAE-B038-52C2901A32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143" y="2563651"/>
                <a:ext cx="3939823" cy="102252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254921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4DCA44-CC6E-8998-A693-998426B94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F1-</a:t>
            </a:r>
            <a:r>
              <a:rPr lang="pt-BR" i="1" dirty="0"/>
              <a:t>score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261D671-8D7F-BF6D-3C19-CFC15A190C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8518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F1-</a:t>
                </a:r>
                <a:r>
                  <a:rPr lang="pt-BR" i="1" dirty="0"/>
                  <a:t>score</a:t>
                </a:r>
                <a:r>
                  <a:rPr lang="pt-BR" dirty="0"/>
                  <a:t> combina as duas métricas em uma única.</a:t>
                </a:r>
              </a:p>
              <a:p>
                <a:r>
                  <a:rPr lang="pt-BR" dirty="0"/>
                  <a:t>A métrica dá a mesma importância a </a:t>
                </a:r>
                <a:r>
                  <a:rPr lang="pt-BR" b="1" i="1" dirty="0"/>
                  <a:t>precisão</a:t>
                </a:r>
                <a:r>
                  <a:rPr lang="pt-BR" dirty="0"/>
                  <a:t> e para o </a:t>
                </a:r>
                <a:r>
                  <a:rPr lang="pt-BR" b="1" i="1" dirty="0"/>
                  <a:t>recall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Valores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próximos de 1 indicam que o </a:t>
                </a:r>
                <a:r>
                  <a:rPr lang="pt-BR" b="1" i="1" dirty="0"/>
                  <a:t>classificador</a:t>
                </a:r>
                <a:r>
                  <a:rPr lang="pt-BR" dirty="0"/>
                  <a:t> obteve ótimos resultados tanto de </a:t>
                </a:r>
                <a:r>
                  <a:rPr lang="pt-BR" b="1" i="1" dirty="0"/>
                  <a:t>precisão</a:t>
                </a:r>
                <a:r>
                  <a:rPr lang="pt-BR" dirty="0"/>
                  <a:t> quanto de </a:t>
                </a:r>
                <a:r>
                  <a:rPr lang="pt-BR" b="1" i="1" dirty="0"/>
                  <a:t>recall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outras palavras,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significa que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FN</m:t>
                    </m:r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FP</m:t>
                    </m:r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261D671-8D7F-BF6D-3C19-CFC15A190C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85187" cy="5032375"/>
              </a:xfrm>
              <a:blipFill>
                <a:blip r:embed="rId2"/>
                <a:stretch>
                  <a:fillRect l="-981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C0A929A7-E33F-6D02-D301-38706DE0743C}"/>
                  </a:ext>
                </a:extLst>
              </p:cNvPr>
              <p:cNvSpPr txBox="1"/>
              <p:nvPr/>
            </p:nvSpPr>
            <p:spPr>
              <a:xfrm>
                <a:off x="1589091" y="4664413"/>
                <a:ext cx="9013818" cy="14182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32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FN</m:t>
                              </m:r>
                              <m: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FP</m:t>
                              </m:r>
                            </m:num>
                            <m:den>
                              <m: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den>
                      </m:f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=2</m:t>
                      </m:r>
                      <m:f>
                        <m:fPr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precis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𝑟𝑒𝑐𝑎𝑙𝑙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precis</m:t>
                          </m:r>
                          <m:r>
                            <a:rPr lang="pt-BR" sz="3200" i="0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𝑟𝑒𝑐𝑎𝑙𝑙</m:t>
                          </m:r>
                        </m:den>
                      </m:f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C0A929A7-E33F-6D02-D301-38706DE074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9091" y="4664413"/>
                <a:ext cx="9013818" cy="14182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8406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D00B3E-85D7-8B25-6629-4A85FF361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730104F-E6BA-B308-644A-11A7E4939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57898" cy="4351338"/>
          </a:xfrm>
        </p:spPr>
        <p:txBody>
          <a:bodyPr/>
          <a:lstStyle/>
          <a:p>
            <a:r>
              <a:rPr lang="pt-BR" dirty="0">
                <a:hlinkClick r:id="rId3"/>
              </a:rPr>
              <a:t>Exemplo: Métricas de classificação</a:t>
            </a:r>
            <a:endParaRPr lang="pt-BR" dirty="0"/>
          </a:p>
        </p:txBody>
      </p:sp>
      <p:pic>
        <p:nvPicPr>
          <p:cNvPr id="2052" name="Picture 4" descr="Project Jupyter | Try Jupyter">
            <a:extLst>
              <a:ext uri="{FF2B5EF4-FFF2-40B4-BE49-F238E27FC236}">
                <a16:creationId xmlns:a16="http://schemas.microsoft.com/office/drawing/2014/main" id="{FC70A9A5-A2C7-C005-C6C5-A9FF77565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3952" y="3317393"/>
            <a:ext cx="3461657" cy="181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oogle Colaboratory Colab - Guía Completa Español - Marketing Branding">
            <a:extLst>
              <a:ext uri="{FF2B5EF4-FFF2-40B4-BE49-F238E27FC236}">
                <a16:creationId xmlns:a16="http://schemas.microsoft.com/office/drawing/2014/main" id="{8A007768-2032-FE11-22C9-9394A0EF02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5" r="10641"/>
          <a:stretch/>
        </p:blipFill>
        <p:spPr bwMode="auto">
          <a:xfrm>
            <a:off x="7085609" y="2896205"/>
            <a:ext cx="3331071" cy="2659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IT12A01: FUNDAMENTALS OF PYTHON PROGRAMMING (SF) (SYNCHRONOUS E-LEARNING) -  NTUC LearningHub">
            <a:extLst>
              <a:ext uri="{FF2B5EF4-FFF2-40B4-BE49-F238E27FC236}">
                <a16:creationId xmlns:a16="http://schemas.microsoft.com/office/drawing/2014/main" id="{80EDF8DB-E749-8471-3ACA-2FFE3006FC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19" r="20198"/>
          <a:stretch/>
        </p:blipFill>
        <p:spPr bwMode="auto">
          <a:xfrm>
            <a:off x="1729838" y="3317393"/>
            <a:ext cx="1894114" cy="1877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Sinal de Adição 9">
            <a:extLst>
              <a:ext uri="{FF2B5EF4-FFF2-40B4-BE49-F238E27FC236}">
                <a16:creationId xmlns:a16="http://schemas.microsoft.com/office/drawing/2014/main" id="{C6DC4B29-EABA-20F7-BB46-C33BEC93E2DD}"/>
              </a:ext>
            </a:extLst>
          </p:cNvPr>
          <p:cNvSpPr>
            <a:spLocks noChangeAspect="1"/>
          </p:cNvSpPr>
          <p:nvPr/>
        </p:nvSpPr>
        <p:spPr>
          <a:xfrm>
            <a:off x="3700195" y="3685597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Sinal de Adição 10">
            <a:extLst>
              <a:ext uri="{FF2B5EF4-FFF2-40B4-BE49-F238E27FC236}">
                <a16:creationId xmlns:a16="http://schemas.microsoft.com/office/drawing/2014/main" id="{FF65B64B-136B-DCC4-8A01-509D3D5CD19F}"/>
              </a:ext>
            </a:extLst>
          </p:cNvPr>
          <p:cNvSpPr>
            <a:spLocks noChangeAspect="1"/>
          </p:cNvSpPr>
          <p:nvPr/>
        </p:nvSpPr>
        <p:spPr>
          <a:xfrm>
            <a:off x="6388968" y="3682923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88059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Lista #8 – </a:t>
            </a:r>
            <a:r>
              <a:rPr lang="en-US" dirty="0" err="1"/>
              <a:t>Métricas</a:t>
            </a:r>
            <a:r>
              <a:rPr lang="en-US" dirty="0"/>
              <a:t> de </a:t>
            </a:r>
            <a:r>
              <a:rPr lang="en-US" dirty="0" err="1"/>
              <a:t>classificação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20531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5346110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9946767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7962</TotalTime>
  <Words>2373</Words>
  <Application>Microsoft Office PowerPoint</Application>
  <PresentationFormat>Widescreen</PresentationFormat>
  <Paragraphs>207</Paragraphs>
  <Slides>24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Calibri Light</vt:lpstr>
      <vt:lpstr>Cambria Math</vt:lpstr>
      <vt:lpstr>Wingdings</vt:lpstr>
      <vt:lpstr>Tema do Office</vt:lpstr>
      <vt:lpstr>C24 – Inteligência Artificial: Métricas de classificação</vt:lpstr>
      <vt:lpstr>O que vamos ver?</vt:lpstr>
      <vt:lpstr>Matriz de confusão</vt:lpstr>
      <vt:lpstr>Matriz de confusão</vt:lpstr>
      <vt:lpstr>Matriz de confusão</vt:lpstr>
      <vt:lpstr>Matriz de confusão</vt:lpstr>
      <vt:lpstr>Matriz de confusão</vt:lpstr>
      <vt:lpstr>Matriz de confusão para caso binário (Q=2)</vt:lpstr>
      <vt:lpstr>Matriz de confusão para caso binário (Q=2)</vt:lpstr>
      <vt:lpstr>PowerPoint Presentation</vt:lpstr>
      <vt:lpstr>Acurácia</vt:lpstr>
      <vt:lpstr>Acurácia</vt:lpstr>
      <vt:lpstr>Acurácia</vt:lpstr>
      <vt:lpstr>Precisão</vt:lpstr>
      <vt:lpstr>Recall</vt:lpstr>
      <vt:lpstr>PowerPoint Presentation</vt:lpstr>
      <vt:lpstr>Matriz de confusão para caso multiclasses (Q&gt;2)</vt:lpstr>
      <vt:lpstr>Matriz de confusão para caso multiclasses (Q&gt;2)</vt:lpstr>
      <vt:lpstr>Precisão versus recall</vt:lpstr>
      <vt:lpstr>F1-score</vt:lpstr>
      <vt:lpstr>Exemplo</vt:lpstr>
      <vt:lpstr>Lista de exercícios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1739</cp:revision>
  <dcterms:created xsi:type="dcterms:W3CDTF">2020-01-20T13:50:05Z</dcterms:created>
  <dcterms:modified xsi:type="dcterms:W3CDTF">2026-02-27T14:33:23Z</dcterms:modified>
</cp:coreProperties>
</file>