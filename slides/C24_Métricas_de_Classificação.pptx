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256" r:id="rId2"/>
    <p:sldId id="316" r:id="rId3"/>
    <p:sldId id="344" r:id="rId4"/>
    <p:sldId id="317" r:id="rId5"/>
    <p:sldId id="318" r:id="rId6"/>
    <p:sldId id="319" r:id="rId7"/>
    <p:sldId id="320" r:id="rId8"/>
    <p:sldId id="321" r:id="rId9"/>
    <p:sldId id="322" r:id="rId10"/>
    <p:sldId id="323" r:id="rId11"/>
    <p:sldId id="324" r:id="rId12"/>
    <p:sldId id="325" r:id="rId13"/>
    <p:sldId id="326" r:id="rId14"/>
    <p:sldId id="464" r:id="rId15"/>
    <p:sldId id="327" r:id="rId16"/>
    <p:sldId id="458" r:id="rId17"/>
    <p:sldId id="328" r:id="rId18"/>
    <p:sldId id="459" r:id="rId19"/>
    <p:sldId id="332" r:id="rId20"/>
    <p:sldId id="333" r:id="rId21"/>
    <p:sldId id="329" r:id="rId22"/>
    <p:sldId id="330" r:id="rId23"/>
    <p:sldId id="381" r:id="rId24"/>
    <p:sldId id="460" r:id="rId25"/>
    <p:sldId id="331" r:id="rId26"/>
    <p:sldId id="463" r:id="rId27"/>
    <p:sldId id="462" r:id="rId28"/>
    <p:sldId id="461" r:id="rId29"/>
    <p:sldId id="334" r:id="rId30"/>
    <p:sldId id="457" r:id="rId31"/>
    <p:sldId id="336" r:id="rId32"/>
    <p:sldId id="337" r:id="rId3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91041" autoAdjust="0"/>
  </p:normalViewPr>
  <p:slideViewPr>
    <p:cSldViewPr snapToGrid="0">
      <p:cViewPr varScale="1">
        <p:scale>
          <a:sx n="101" d="100"/>
          <a:sy n="101" d="100"/>
        </p:scale>
        <p:origin x="1218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14/09/2026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962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</a:t>
            </a:r>
            <a:r>
              <a:rPr lang="pt-BR" sz="1200" dirty="0"/>
              <a:t>u seja, </a:t>
            </a:r>
            <a:r>
              <a:rPr lang="pt-BR" sz="1200" b="1" i="1" dirty="0"/>
              <a:t>rotulando incorretamente</a:t>
            </a:r>
            <a:r>
              <a:rPr lang="pt-BR" sz="1200" dirty="0"/>
              <a:t> os exemplos.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4595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032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0679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10409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acurácia é uma métrica de avaliação comumente usada no contexto de classificação de modelos de aprendizado de máquina. Ela mede a proporção de exemplos classificados corretamente em relação ao total de exemplos avaliados. Em outras palavras, a acurácia fornece uma indicação de quão bem o modelo está fazendo suas previsões corretas em comparação com todas as previsões feitas.</a:t>
            </a:r>
          </a:p>
          <a:p>
            <a:endParaRPr lang="pt-BR" dirty="0"/>
          </a:p>
          <a:p>
            <a:r>
              <a:rPr lang="pt-BR" dirty="0"/>
              <a:t>A fórmula básica da acurácia é a seguinte:</a:t>
            </a:r>
          </a:p>
          <a:p>
            <a:endParaRPr lang="pt-BR" dirty="0"/>
          </a:p>
          <a:p>
            <a:r>
              <a:rPr lang="pt-BR" dirty="0"/>
              <a:t>\[ \</a:t>
            </a:r>
            <a:r>
              <a:rPr lang="pt-BR" dirty="0" err="1"/>
              <a:t>text</a:t>
            </a:r>
            <a:r>
              <a:rPr lang="pt-BR" dirty="0"/>
              <a:t>{Acurácia} = \</a:t>
            </a:r>
            <a:r>
              <a:rPr lang="pt-BR" dirty="0" err="1"/>
              <a:t>frac</a:t>
            </a:r>
            <a:r>
              <a:rPr lang="pt-BR" dirty="0"/>
              <a:t>{\</a:t>
            </a:r>
            <a:r>
              <a:rPr lang="pt-BR" dirty="0" err="1"/>
              <a:t>text</a:t>
            </a:r>
            <a:r>
              <a:rPr lang="pt-BR" dirty="0"/>
              <a:t>{Número de previsões corretas}}{\</a:t>
            </a:r>
            <a:r>
              <a:rPr lang="pt-BR" dirty="0" err="1"/>
              <a:t>text</a:t>
            </a:r>
            <a:r>
              <a:rPr lang="pt-BR" dirty="0"/>
              <a:t>{Total de exemplos}} \]</a:t>
            </a:r>
          </a:p>
          <a:p>
            <a:endParaRPr lang="pt-BR" dirty="0"/>
          </a:p>
          <a:p>
            <a:r>
              <a:rPr lang="pt-BR" dirty="0"/>
              <a:t>Por exemplo, se um modelo classificar corretamente 85 amostras de um total de 100, a acurácia seria \( \</a:t>
            </a:r>
            <a:r>
              <a:rPr lang="pt-BR" dirty="0" err="1"/>
              <a:t>frac</a:t>
            </a:r>
            <a:r>
              <a:rPr lang="pt-BR" dirty="0"/>
              <a:t>{85}{100} = 0.85 \), ou seja, 85%.</a:t>
            </a:r>
          </a:p>
          <a:p>
            <a:endParaRPr lang="pt-BR" dirty="0"/>
          </a:p>
          <a:p>
            <a:r>
              <a:rPr lang="pt-BR" dirty="0"/>
              <a:t>Apesar de ser uma métrica útil para avaliar a performance geral de um modelo, a acurácia pode ser enganosa em alguns cenários, especialmente quando os dados estão desbalanceados (quando uma classe é mais comum que a outra) ou quando os custos de falsos positivos e falsos negativos não são iguais. Portanto, em casos mais complexos, é importante considerar outras métricas, como precisão, recall, F1-score, entre outras, para ter uma visão mais completa do desempenho do modelo.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7457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418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pode tender à 1 (100%)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o </a:t>
            </a:r>
            <a:r>
              <a:rPr lang="en-US" dirty="0" err="1"/>
              <a:t>modelo</a:t>
            </a:r>
            <a:r>
              <a:rPr lang="en-US" dirty="0"/>
              <a:t> </a:t>
            </a:r>
            <a:r>
              <a:rPr lang="en-US" dirty="0" err="1"/>
              <a:t>esteja</a:t>
            </a:r>
            <a:r>
              <a:rPr lang="en-US" dirty="0"/>
              <a:t> tendo um </a:t>
            </a:r>
            <a:r>
              <a:rPr lang="en-US" dirty="0" err="1"/>
              <a:t>desempenho</a:t>
            </a:r>
            <a:r>
              <a:rPr lang="en-US" dirty="0"/>
              <a:t> </a:t>
            </a:r>
            <a:r>
              <a:rPr lang="en-US" dirty="0" err="1"/>
              <a:t>ruim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identificação</a:t>
            </a:r>
            <a:r>
              <a:rPr lang="en-US" dirty="0"/>
              <a:t> da </a:t>
            </a:r>
            <a:r>
              <a:rPr lang="en-US" dirty="0" err="1"/>
              <a:t>classe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63031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Precisão</a:t>
            </a:r>
            <a:r>
              <a:rPr lang="en-US" dirty="0"/>
              <a:t> </a:t>
            </a:r>
            <a:r>
              <a:rPr lang="en-US" dirty="0" err="1"/>
              <a:t>mede</a:t>
            </a:r>
            <a:r>
              <a:rPr lang="en-US" dirty="0"/>
              <a:t> a </a:t>
            </a:r>
            <a:r>
              <a:rPr lang="en-US" dirty="0" err="1"/>
              <a:t>confiabilidade</a:t>
            </a:r>
            <a:r>
              <a:rPr lang="en-US" dirty="0"/>
              <a:t> das </a:t>
            </a:r>
            <a:r>
              <a:rPr lang="en-US" dirty="0" err="1"/>
              <a:t>previsões</a:t>
            </a:r>
            <a:r>
              <a:rPr lang="en-US" dirty="0"/>
              <a:t> </a:t>
            </a:r>
            <a:r>
              <a:rPr lang="en-US" dirty="0" err="1"/>
              <a:t>positivas</a:t>
            </a:r>
            <a:r>
              <a:rPr lang="en-US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770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https://colab.research.google.com/github/zz4fap/c24_inteligencia_artificial/blob/master/notebooks/m%C3%A9tricas_de_classifica%C3%A7%C3%A3o.ipynb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3281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14/09/2026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13" Type="http://schemas.openxmlformats.org/officeDocument/2006/relationships/image" Target="NULL"/><Relationship Id="rId18" Type="http://schemas.openxmlformats.org/officeDocument/2006/relationships/image" Target="NULL"/><Relationship Id="rId3" Type="http://schemas.openxmlformats.org/officeDocument/2006/relationships/image" Target="NULL"/><Relationship Id="rId21" Type="http://schemas.openxmlformats.org/officeDocument/2006/relationships/image" Target="../media/image33.png"/><Relationship Id="rId7" Type="http://schemas.openxmlformats.org/officeDocument/2006/relationships/image" Target="NULL"/><Relationship Id="rId12" Type="http://schemas.openxmlformats.org/officeDocument/2006/relationships/image" Target="NULL"/><Relationship Id="rId17" Type="http://schemas.openxmlformats.org/officeDocument/2006/relationships/image" Target="NULL"/><Relationship Id="rId2" Type="http://schemas.openxmlformats.org/officeDocument/2006/relationships/image" Target="NULL"/><Relationship Id="rId16" Type="http://schemas.openxmlformats.org/officeDocument/2006/relationships/image" Target="NULL"/><Relationship Id="rId20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11" Type="http://schemas.openxmlformats.org/officeDocument/2006/relationships/image" Target="NULL"/><Relationship Id="rId5" Type="http://schemas.openxmlformats.org/officeDocument/2006/relationships/image" Target="NULL"/><Relationship Id="rId15" Type="http://schemas.openxmlformats.org/officeDocument/2006/relationships/image" Target="NULL"/><Relationship Id="rId10" Type="http://schemas.openxmlformats.org/officeDocument/2006/relationships/image" Target="../media/image25.png"/><Relationship Id="rId19" Type="http://schemas.openxmlformats.org/officeDocument/2006/relationships/image" Target="../media/image26.png"/><Relationship Id="rId4" Type="http://schemas.openxmlformats.org/officeDocument/2006/relationships/image" Target="NULL"/><Relationship Id="rId9" Type="http://schemas.openxmlformats.org/officeDocument/2006/relationships/image" Target="NULL"/><Relationship Id="rId14" Type="http://schemas.openxmlformats.org/officeDocument/2006/relationships/image" Target="NULL"/><Relationship Id="rId22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0.png"/><Relationship Id="rId4" Type="http://schemas.openxmlformats.org/officeDocument/2006/relationships/image" Target="../media/image3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2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7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m%C3%A9tricas_de_classifica%C3%A7%C3%A3o.ipynb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jpeg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8%20-%20M%C3%A9tricas%20de%20classifica%C3%A7%C3%A3o.pdf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Métricas de 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para analisar o desempenho de um classificador, usamos apenas a acurácia. </a:t>
            </a:r>
          </a:p>
          <a:p>
            <a:r>
              <a:rPr lang="pt-BR" dirty="0"/>
              <a:t>Porém, existem outras métricas que podem ser usadas para se medir a qualidade de um classificador.</a:t>
            </a:r>
          </a:p>
          <a:p>
            <a:r>
              <a:rPr lang="pt-BR" dirty="0"/>
              <a:t>Portanto, neste tópico, veremos algumas outras métricas.</a:t>
            </a:r>
          </a:p>
        </p:txBody>
      </p:sp>
    </p:spTree>
    <p:extLst>
      <p:ext uri="{BB962C8B-B14F-4D97-AF65-F5344CB8AC3E}">
        <p14:creationId xmlns:p14="http://schemas.microsoft.com/office/powerpoint/2010/main" val="2177516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630" y="1556497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 2"/>
          <p:cNvSpPr/>
          <p:nvPr/>
        </p:nvSpPr>
        <p:spPr>
          <a:xfrm>
            <a:off x="5998028" y="2708302"/>
            <a:ext cx="596537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Como o próprio nome diz, a </a:t>
            </a:r>
            <a:r>
              <a:rPr lang="pt-BR" sz="2800" b="1" dirty="0"/>
              <a:t>matriz de confusão </a:t>
            </a:r>
            <a:r>
              <a:rPr lang="pt-BR" sz="2800" dirty="0"/>
              <a:t>mostra o </a:t>
            </a:r>
            <a:r>
              <a:rPr lang="pt-BR" sz="2800" b="1" dirty="0">
                <a:solidFill>
                  <a:schemeClr val="accent2"/>
                </a:solidFill>
              </a:rPr>
              <a:t>quanto</a:t>
            </a:r>
            <a:r>
              <a:rPr lang="pt-BR" sz="2800" dirty="0"/>
              <a:t> um classificador está se </a:t>
            </a:r>
            <a:r>
              <a:rPr lang="pt-BR" sz="2800" b="1" dirty="0"/>
              <a:t>confundindo</a:t>
            </a:r>
            <a:r>
              <a:rPr lang="pt-BR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 matriz permite verificar quais classes o </a:t>
            </a:r>
            <a:r>
              <a:rPr lang="pt-BR" sz="2800" b="1" dirty="0"/>
              <a:t>classificador</a:t>
            </a:r>
            <a:r>
              <a:rPr lang="pt-BR" sz="2800" dirty="0"/>
              <a:t> tem </a:t>
            </a:r>
            <a:r>
              <a:rPr lang="pt-BR" sz="2800" b="1" dirty="0">
                <a:solidFill>
                  <a:srgbClr val="00B050"/>
                </a:solidFill>
              </a:rPr>
              <a:t>maior dificuldade em classificar</a:t>
            </a:r>
            <a:r>
              <a:rPr lang="pt-BR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5253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/>
                  <a:t>matriz de confusão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contabiliza o número de classificações corretas e incorretas </a:t>
                </a:r>
                <a:r>
                  <a:rPr lang="pt-BR" sz="2800" dirty="0"/>
                  <a:t>para cada uma das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classes existentes. </a:t>
                </a:r>
              </a:p>
              <a:p>
                <a:r>
                  <a:rPr lang="pt-BR" dirty="0"/>
                  <a:t>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matriz quadrada </a:t>
                </a:r>
                <a:r>
                  <a:rPr lang="pt-BR" dirty="0"/>
                  <a:t>com dimensões </a:t>
                </a:r>
                <a:r>
                  <a:rPr lang="pt-BR" sz="2800" b="1" i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>
                <a:blip r:embed="rId3"/>
                <a:stretch>
                  <a:fillRect l="-170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8220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id="{314F6830-34E9-8654-9AF0-D69DE9FAE980}"/>
              </a:ext>
            </a:extLst>
          </p:cNvPr>
          <p:cNvSpPr/>
          <p:nvPr/>
        </p:nvSpPr>
        <p:spPr>
          <a:xfrm rot="16200000" flipH="1">
            <a:off x="6371397" y="2963136"/>
            <a:ext cx="340913" cy="33949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46DBC8-FBDE-250B-240D-193F0A609C0C}"/>
              </a:ext>
            </a:extLst>
          </p:cNvPr>
          <p:cNvSpPr txBox="1"/>
          <p:nvPr/>
        </p:nvSpPr>
        <p:spPr>
          <a:xfrm>
            <a:off x="4844376" y="4846951"/>
            <a:ext cx="3394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Rótulos</a:t>
            </a:r>
            <a:r>
              <a:rPr lang="pt-BR" dirty="0"/>
              <a:t>: classes a que realmente os exemplos pertencem</a:t>
            </a:r>
          </a:p>
        </p:txBody>
      </p:sp>
      <p:sp>
        <p:nvSpPr>
          <p:cNvPr id="7" name="Chave Direita 6">
            <a:extLst>
              <a:ext uri="{FF2B5EF4-FFF2-40B4-BE49-F238E27FC236}">
                <a16:creationId xmlns:a16="http://schemas.microsoft.com/office/drawing/2014/main" id="{E94D5995-3604-C1B4-B485-9B393568D39B}"/>
              </a:ext>
            </a:extLst>
          </p:cNvPr>
          <p:cNvSpPr/>
          <p:nvPr/>
        </p:nvSpPr>
        <p:spPr>
          <a:xfrm flipH="1">
            <a:off x="4172678" y="2509734"/>
            <a:ext cx="340913" cy="18385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F3B44CB-FB5A-9774-1C6B-808D8FC9AA1C}"/>
              </a:ext>
            </a:extLst>
          </p:cNvPr>
          <p:cNvSpPr txBox="1"/>
          <p:nvPr/>
        </p:nvSpPr>
        <p:spPr>
          <a:xfrm>
            <a:off x="1381327" y="3105832"/>
            <a:ext cx="27334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Predições</a:t>
            </a:r>
            <a:r>
              <a:rPr lang="pt-BR" dirty="0"/>
              <a:t>: classes a que os exemplos foram atribuídos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DC4B7-28AE-3B52-6F26-3A317D0DAC53}"/>
              </a:ext>
            </a:extLst>
          </p:cNvPr>
          <p:cNvSpPr txBox="1"/>
          <p:nvPr/>
        </p:nvSpPr>
        <p:spPr>
          <a:xfrm>
            <a:off x="0" y="6612468"/>
            <a:ext cx="595547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</a:t>
            </a:r>
            <a:r>
              <a:rPr lang="pt-BR" sz="1100" b="1" dirty="0"/>
              <a:t>OBS</a:t>
            </a:r>
            <a:r>
              <a:rPr lang="pt-BR" sz="1100" dirty="0"/>
              <a:t>.: Em geral se apresenta a matriz desta forma, mas ela pode ser encontrada transposta também.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059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diagonal principal </a:t>
                </a:r>
                <a:r>
                  <a:rPr lang="pt-BR" sz="2800" dirty="0"/>
                  <a:t>fornece o número de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classificações corretas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linha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foram classificados como pertencentes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exemplos que pertencem e não pertencem à classe.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coluna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realmente pertencem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classificações corretas e incorretas.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  <a:blipFill>
                <a:blip r:embed="rId3"/>
                <a:stretch>
                  <a:fillRect l="-1706" t="-1937" r="-1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E3C2398C-FA6E-B604-0A4E-B8DC5CF24EF7}"/>
              </a:ext>
            </a:extLst>
          </p:cNvPr>
          <p:cNvSpPr/>
          <p:nvPr/>
        </p:nvSpPr>
        <p:spPr>
          <a:xfrm>
            <a:off x="1051034" y="270382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BF1D53-FE8C-A737-118B-224A249F0F55}"/>
              </a:ext>
            </a:extLst>
          </p:cNvPr>
          <p:cNvSpPr/>
          <p:nvPr/>
        </p:nvSpPr>
        <p:spPr>
          <a:xfrm rot="5400000">
            <a:off x="559069" y="335727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037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3036709" y="2098241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09" y="2098241"/>
                <a:ext cx="4854223" cy="21223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3">
            <a:extLst>
              <a:ext uri="{FF2B5EF4-FFF2-40B4-BE49-F238E27FC236}">
                <a16:creationId xmlns:a16="http://schemas.microsoft.com/office/drawing/2014/main" id="{E9839706-E14C-629A-7F56-18012BB99C3A}"/>
              </a:ext>
            </a:extLst>
          </p:cNvPr>
          <p:cNvSpPr/>
          <p:nvPr/>
        </p:nvSpPr>
        <p:spPr>
          <a:xfrm>
            <a:off x="3794234" y="213326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6279C33D-9270-DC3C-212E-0FD57AC45F7D}"/>
              </a:ext>
            </a:extLst>
          </p:cNvPr>
          <p:cNvSpPr txBox="1"/>
          <p:nvPr/>
        </p:nvSpPr>
        <p:spPr>
          <a:xfrm>
            <a:off x="7894389" y="2061635"/>
            <a:ext cx="34013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Exemplos classificados como pertencentes à classe 1.</a:t>
            </a:r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1BD26B11-37BD-057A-7642-8513680C0B09}"/>
              </a:ext>
            </a:extLst>
          </p:cNvPr>
          <p:cNvSpPr/>
          <p:nvPr/>
        </p:nvSpPr>
        <p:spPr>
          <a:xfrm rot="5400000">
            <a:off x="3302270" y="2751123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0F0FD986-F79E-DA0A-829E-1F5A7437324A}"/>
              </a:ext>
            </a:extLst>
          </p:cNvPr>
          <p:cNvSpPr/>
          <p:nvPr/>
        </p:nvSpPr>
        <p:spPr>
          <a:xfrm>
            <a:off x="7525012" y="2061635"/>
            <a:ext cx="577516" cy="145253"/>
          </a:xfrm>
          <a:custGeom>
            <a:avLst/>
            <a:gdLst>
              <a:gd name="connsiteX0" fmla="*/ 0 w 577516"/>
              <a:gd name="connsiteY0" fmla="*/ 145253 h 145253"/>
              <a:gd name="connsiteX1" fmla="*/ 272716 w 577516"/>
              <a:gd name="connsiteY1" fmla="*/ 874 h 145253"/>
              <a:gd name="connsiteX2" fmla="*/ 577516 w 577516"/>
              <a:gd name="connsiteY2" fmla="*/ 81085 h 1452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7516" h="145253">
                <a:moveTo>
                  <a:pt x="0" y="145253"/>
                </a:moveTo>
                <a:cubicBezTo>
                  <a:pt x="88231" y="78411"/>
                  <a:pt x="176463" y="11569"/>
                  <a:pt x="272716" y="874"/>
                </a:cubicBezTo>
                <a:cubicBezTo>
                  <a:pt x="368969" y="-9821"/>
                  <a:pt x="577516" y="81085"/>
                  <a:pt x="577516" y="81085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30228E55-A04A-15F3-F542-24A94935CB8F}"/>
              </a:ext>
            </a:extLst>
          </p:cNvPr>
          <p:cNvSpPr txBox="1"/>
          <p:nvPr/>
        </p:nvSpPr>
        <p:spPr>
          <a:xfrm>
            <a:off x="1260491" y="4416537"/>
            <a:ext cx="39211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Quantidade de exemplos que realmente pertencem à classe 1.</a:t>
            </a:r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DE8EF324-A6C8-6014-6A79-6F6CD536E661}"/>
              </a:ext>
            </a:extLst>
          </p:cNvPr>
          <p:cNvSpPr/>
          <p:nvPr/>
        </p:nvSpPr>
        <p:spPr>
          <a:xfrm rot="871324">
            <a:off x="3488790" y="4165589"/>
            <a:ext cx="792260" cy="501897"/>
          </a:xfrm>
          <a:custGeom>
            <a:avLst/>
            <a:gdLst>
              <a:gd name="connsiteX0" fmla="*/ 994610 w 994610"/>
              <a:gd name="connsiteY0" fmla="*/ 0 h 80211"/>
              <a:gd name="connsiteX1" fmla="*/ 0 w 994610"/>
              <a:gd name="connsiteY1" fmla="*/ 80211 h 8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94610" h="80211">
                <a:moveTo>
                  <a:pt x="994610" y="0"/>
                </a:moveTo>
                <a:cubicBezTo>
                  <a:pt x="596231" y="18716"/>
                  <a:pt x="197853" y="37432"/>
                  <a:pt x="0" y="80211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/>
              <p:nvPr/>
            </p:nvSpPr>
            <p:spPr>
              <a:xfrm>
                <a:off x="838200" y="5506851"/>
                <a:ext cx="11201400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indica quantos exemplos da classe 1 foram corretamente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</m:oMath>
                </a14:m>
                <a:r>
                  <a:rPr lang="pt-BR" sz="2400" dirty="0"/>
                  <a:t> indica quantos exemplos da classe 2 foram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pt-BR" sz="2400" b="1" dirty="0"/>
                  <a:t>OBS</a:t>
                </a:r>
                <a:r>
                  <a:rPr lang="pt-BR" sz="2400" dirty="0"/>
                  <a:t>.: Algumas versões da matriz apresentam porcentagens ao invés de contagens.</a:t>
                </a:r>
              </a:p>
            </p:txBody>
          </p:sp>
        </mc:Choice>
        <mc:Fallback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506851"/>
                <a:ext cx="11201400" cy="1200329"/>
              </a:xfrm>
              <a:prstGeom prst="rect">
                <a:avLst/>
              </a:prstGeom>
              <a:blipFill>
                <a:blip r:embed="rId3"/>
                <a:stretch>
                  <a:fillRect l="-762" t="-4061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7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27171" y="1825624"/>
                <a:ext cx="7064832" cy="5032375"/>
              </a:xfrm>
            </p:spPr>
            <p:txBody>
              <a:bodyPr>
                <a:normAutofit fontScale="92500"/>
              </a:bodyPr>
              <a:lstStyle/>
              <a:p>
                <a:r>
                  <a:rPr lang="pt-BR" b="1" dirty="0"/>
                  <a:t>Matriz com dimensão: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Verdadeiros Positivos </a:t>
                </a:r>
                <a:r>
                  <a:rPr lang="pt-BR" dirty="0"/>
                  <a:t>(TP): número de exemplos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classificados corretamente. </a:t>
                </a:r>
              </a:p>
              <a:p>
                <a:r>
                  <a:rPr lang="pt-BR" b="1" dirty="0"/>
                  <a:t>Verdadeiros Negativos</a:t>
                </a:r>
                <a:r>
                  <a:rPr lang="pt-BR" dirty="0"/>
                  <a:t> (TN): número de exemplos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classificados corretamente.</a:t>
                </a:r>
              </a:p>
              <a:p>
                <a:r>
                  <a:rPr lang="pt-BR" b="1" dirty="0"/>
                  <a:t>Falsos Positivos </a:t>
                </a:r>
                <a:r>
                  <a:rPr lang="pt-BR" dirty="0"/>
                  <a:t>(FP): número de exemplos atribuídos à classe positiva, mas que pertencem à classe negativa.</a:t>
                </a:r>
              </a:p>
              <a:p>
                <a:r>
                  <a:rPr lang="pt-BR" b="1" dirty="0"/>
                  <a:t>Falsos Negativos</a:t>
                </a:r>
                <a:r>
                  <a:rPr lang="pt-BR" dirty="0"/>
                  <a:t> (FN): número de exemplos atribuídos à classe negativa, mas que pertencem à classe positiva.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27171" y="1825624"/>
                <a:ext cx="7064832" cy="5032375"/>
              </a:xfrm>
              <a:blipFill>
                <a:blip r:embed="rId4"/>
                <a:stretch>
                  <a:fillRect l="-1294" t="-1816" r="-2502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ela 5">
            <a:extLst>
              <a:ext uri="{FF2B5EF4-FFF2-40B4-BE49-F238E27FC236}">
                <a16:creationId xmlns:a16="http://schemas.microsoft.com/office/drawing/2014/main" id="{744D7738-C774-F8D0-DD85-76976F9C00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361054"/>
              </p:ext>
            </p:extLst>
          </p:nvPr>
        </p:nvGraphicFramePr>
        <p:xfrm>
          <a:off x="1313262" y="3107994"/>
          <a:ext cx="3563538" cy="140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1769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1781769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>
                          <a:solidFill>
                            <a:srgbClr val="FF0000"/>
                          </a:solidFill>
                          <a:effectLst/>
                        </a:rPr>
                        <a:t>Verdadeiros </a:t>
                      </a:r>
                      <a:br>
                        <a:rPr lang="pt-BR" sz="2000" b="1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pt-BR" sz="2000" b="1" dirty="0">
                          <a:solidFill>
                            <a:srgbClr val="FF0000"/>
                          </a:solidFill>
                          <a:effectLst/>
                        </a:rPr>
                        <a:t>Negativos (TN)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Falsos</a:t>
                      </a:r>
                      <a:br>
                        <a:rPr lang="pt-BR" sz="20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pt-BR" sz="20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Negativos (FN)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>
                          <a:solidFill>
                            <a:srgbClr val="7030A0"/>
                          </a:solidFill>
                          <a:effectLst/>
                        </a:rPr>
                        <a:t>Falsos </a:t>
                      </a:r>
                      <a:br>
                        <a:rPr lang="pt-BR" sz="2000" b="1" dirty="0">
                          <a:solidFill>
                            <a:srgbClr val="7030A0"/>
                          </a:solidFill>
                          <a:effectLst/>
                        </a:rPr>
                      </a:br>
                      <a:r>
                        <a:rPr lang="pt-BR" sz="2000" b="1" dirty="0">
                          <a:solidFill>
                            <a:srgbClr val="7030A0"/>
                          </a:solidFill>
                          <a:effectLst/>
                        </a:rPr>
                        <a:t>Positivos (FP)</a:t>
                      </a:r>
                      <a:endParaRPr lang="pt-BR" sz="2000" b="1" kern="1200" dirty="0">
                        <a:solidFill>
                          <a:srgbClr val="7030A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000" b="1" dirty="0">
                          <a:solidFill>
                            <a:srgbClr val="00B050"/>
                          </a:solidFill>
                          <a:effectLst/>
                        </a:rPr>
                        <a:t>Verdadeiros </a:t>
                      </a:r>
                      <a:br>
                        <a:rPr lang="pt-BR" sz="2000" b="1" dirty="0">
                          <a:solidFill>
                            <a:srgbClr val="00B050"/>
                          </a:solidFill>
                          <a:effectLst/>
                        </a:rPr>
                      </a:br>
                      <a:r>
                        <a:rPr lang="pt-BR" sz="2000" b="1" dirty="0">
                          <a:solidFill>
                            <a:srgbClr val="00B050"/>
                          </a:solidFill>
                          <a:effectLst/>
                        </a:rPr>
                        <a:t>Positivos (TP)</a:t>
                      </a:r>
                      <a:endParaRPr lang="pt-BR" sz="20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44F3702B-0FE3-BDED-62A7-35438A8F3B75}"/>
              </a:ext>
            </a:extLst>
          </p:cNvPr>
          <p:cNvSpPr txBox="1"/>
          <p:nvPr/>
        </p:nvSpPr>
        <p:spPr>
          <a:xfrm rot="16200000">
            <a:off x="-511047" y="3619395"/>
            <a:ext cx="19161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ctr"/>
            <a:r>
              <a:rPr lang="pt-BR" sz="1800" b="1" dirty="0">
                <a:effectLst/>
              </a:rPr>
              <a:t>Classes Preditas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FC82D3C-E180-54E3-CEFE-B2BD9B8D3E2A}"/>
              </a:ext>
            </a:extLst>
          </p:cNvPr>
          <p:cNvSpPr txBox="1"/>
          <p:nvPr/>
        </p:nvSpPr>
        <p:spPr>
          <a:xfrm>
            <a:off x="1313262" y="4926676"/>
            <a:ext cx="35104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b"/>
            <a:r>
              <a:rPr lang="pt-BR" sz="1800" b="1" dirty="0">
                <a:effectLst/>
              </a:rPr>
              <a:t>Classes Verdadeiras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/>
              <p:nvPr/>
            </p:nvSpPr>
            <p:spPr>
              <a:xfrm>
                <a:off x="589742" y="3953209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742" y="3953209"/>
                <a:ext cx="723520" cy="369332"/>
              </a:xfrm>
              <a:prstGeom prst="rect">
                <a:avLst/>
              </a:prstGeom>
              <a:blipFill>
                <a:blip r:embed="rId5"/>
                <a:stretch>
                  <a:fillRect l="-7627" t="-6557" r="-762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/>
              <p:nvPr/>
            </p:nvSpPr>
            <p:spPr>
              <a:xfrm>
                <a:off x="603049" y="3253714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049" y="3253714"/>
                <a:ext cx="723520" cy="369332"/>
              </a:xfrm>
              <a:prstGeom prst="rect">
                <a:avLst/>
              </a:prstGeom>
              <a:blipFill>
                <a:blip r:embed="rId6"/>
                <a:stretch>
                  <a:fillRect l="-3361" t="-8333" r="-4202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/>
              <p:nvPr/>
            </p:nvSpPr>
            <p:spPr>
              <a:xfrm>
                <a:off x="3102429" y="4514474"/>
                <a:ext cx="177437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2429" y="4514474"/>
                <a:ext cx="1774371" cy="369332"/>
              </a:xfrm>
              <a:prstGeom prst="rect">
                <a:avLst/>
              </a:prstGeom>
              <a:blipFill>
                <a:blip r:embed="rId7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/>
              <p:nvPr/>
            </p:nvSpPr>
            <p:spPr>
              <a:xfrm>
                <a:off x="1313262" y="4512527"/>
                <a:ext cx="17891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3262" y="4512527"/>
                <a:ext cx="1789167" cy="369332"/>
              </a:xfrm>
              <a:prstGeom prst="rect">
                <a:avLst/>
              </a:prstGeom>
              <a:blipFill>
                <a:blip r:embed="rId8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947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m 21">
            <a:extLst>
              <a:ext uri="{FF2B5EF4-FFF2-40B4-BE49-F238E27FC236}">
                <a16:creationId xmlns:a16="http://schemas.microsoft.com/office/drawing/2014/main" id="{43854156-1399-9016-BDBA-8C80710C3E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5539" y="1611691"/>
            <a:ext cx="6420922" cy="523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511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418656-538C-BBD9-47FA-40A924A66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28604"/>
            <a:ext cx="10515600" cy="2800791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Nós podemos calcular algumas métricas de desempenho importantes a partir das informações contidas na </a:t>
            </a:r>
            <a:r>
              <a:rPr lang="pt-BR" sz="4800" b="1" dirty="0">
                <a:solidFill>
                  <a:srgbClr val="7030A0"/>
                </a:solidFill>
              </a:rPr>
              <a:t>matriz de confusão binária</a:t>
            </a:r>
            <a:r>
              <a:rPr lang="pt-BR" sz="4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9063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C76DB9-C5DB-DAD2-5D1D-F064916F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43F063-09F2-F192-E084-325BC503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5886" y="1825624"/>
            <a:ext cx="6466114" cy="5032375"/>
          </a:xfrm>
        </p:spPr>
        <p:txBody>
          <a:bodyPr/>
          <a:lstStyle/>
          <a:p>
            <a:r>
              <a:rPr lang="pt-BR" dirty="0"/>
              <a:t>Acurácia med</a:t>
            </a:r>
            <a:r>
              <a:rPr lang="pt-BR" b="0" dirty="0">
                <a:effectLst/>
              </a:rPr>
              <a:t>e a </a:t>
            </a:r>
            <a:r>
              <a:rPr lang="pt-BR" b="1" dirty="0">
                <a:solidFill>
                  <a:srgbClr val="00B050"/>
                </a:solidFill>
                <a:effectLst/>
              </a:rPr>
              <a:t>proporção de exemplos classificados corretamente em relação ao total de exemplos </a:t>
            </a:r>
            <a:r>
              <a:rPr lang="pt-BR" b="0" dirty="0">
                <a:effectLst/>
              </a:rPr>
              <a:t>avaliados</a:t>
            </a:r>
            <a:r>
              <a:rPr lang="pt-BR" b="0" i="0" dirty="0">
                <a:effectLst/>
              </a:rPr>
              <a:t>. </a:t>
            </a:r>
          </a:p>
          <a:p>
            <a:r>
              <a:rPr lang="pt-BR" b="0" i="0" dirty="0">
                <a:effectLst/>
              </a:rPr>
              <a:t>Em outras palavras, a acurácia fornece uma indicação de quão bem o </a:t>
            </a:r>
            <a:r>
              <a:rPr lang="pt-BR" b="0" dirty="0">
                <a:effectLst/>
              </a:rPr>
              <a:t>modelo está fazendo suas </a:t>
            </a:r>
            <a:r>
              <a:rPr lang="pt-BR" b="1" dirty="0">
                <a:solidFill>
                  <a:srgbClr val="00B050"/>
                </a:solidFill>
                <a:effectLst/>
              </a:rPr>
              <a:t>predições corretas em comparação com todas as previsões feitas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b="0" dirty="0">
                <a:effectLst/>
              </a:rPr>
              <a:t>É uma métrica útil para avaliar </a:t>
            </a:r>
            <a:r>
              <a:rPr lang="pt-BR" dirty="0"/>
              <a:t>o</a:t>
            </a:r>
            <a:r>
              <a:rPr lang="pt-BR" b="0" dirty="0">
                <a:effectLst/>
              </a:rPr>
              <a:t> </a:t>
            </a:r>
            <a:r>
              <a:rPr lang="pt-BR" b="1" dirty="0">
                <a:solidFill>
                  <a:srgbClr val="FF0000"/>
                </a:solidFill>
                <a:effectLst/>
              </a:rPr>
              <a:t>desempenho geral</a:t>
            </a:r>
            <a:r>
              <a:rPr lang="pt-BR" b="1" dirty="0">
                <a:solidFill>
                  <a:srgbClr val="00B050"/>
                </a:solidFill>
                <a:effectLst/>
              </a:rPr>
              <a:t> do modelo</a:t>
            </a:r>
            <a:r>
              <a:rPr lang="pt-BR" b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/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i="0" dirty="0"/>
                            <m:t>TP + FN + FP + 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5289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9D007B-9E18-00C3-2CF2-47D7955EB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1" y="1690688"/>
            <a:ext cx="6324600" cy="5167312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tx1"/>
                </a:solidFill>
              </a:rPr>
              <a:t>A </a:t>
            </a:r>
            <a:r>
              <a:rPr lang="pt-BR" b="1" dirty="0">
                <a:solidFill>
                  <a:srgbClr val="00B050"/>
                </a:solidFill>
              </a:rPr>
              <a:t>acurácia</a:t>
            </a:r>
            <a:r>
              <a:rPr lang="pt-BR" dirty="0">
                <a:solidFill>
                  <a:schemeClr val="tx1"/>
                </a:solidFill>
              </a:rPr>
              <a:t> é, geralmente, a </a:t>
            </a:r>
            <a:r>
              <a:rPr lang="pt-BR" b="1" dirty="0">
                <a:solidFill>
                  <a:srgbClr val="00B050"/>
                </a:solidFill>
              </a:rPr>
              <a:t>primeira escolha </a:t>
            </a:r>
            <a:r>
              <a:rPr lang="pt-BR" dirty="0">
                <a:solidFill>
                  <a:schemeClr val="tx1"/>
                </a:solidFill>
              </a:rPr>
              <a:t>para medir a qualidade de um classificador.</a:t>
            </a:r>
          </a:p>
          <a:p>
            <a:r>
              <a:rPr lang="pt-BR" dirty="0">
                <a:solidFill>
                  <a:schemeClr val="tx1"/>
                </a:solidFill>
              </a:rPr>
              <a:t>Entretanto, ela pode ser </a:t>
            </a:r>
            <a:r>
              <a:rPr lang="pt-BR" b="1" dirty="0">
                <a:solidFill>
                  <a:srgbClr val="00B050"/>
                </a:solidFill>
              </a:rPr>
              <a:t>enganosa com problemas </a:t>
            </a:r>
            <a:r>
              <a:rPr lang="pt-BR" b="1" dirty="0">
                <a:solidFill>
                  <a:srgbClr val="FF0000"/>
                </a:solidFill>
              </a:rPr>
              <a:t>desbalanceados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Problemas onde uma ou algumas classes têm muito mais exemplos do que as demais.</a:t>
            </a:r>
            <a:endParaRPr lang="pt-BR" dirty="0">
              <a:solidFill>
                <a:schemeClr val="tx1"/>
              </a:solidFill>
            </a:endParaRPr>
          </a:p>
          <a:p>
            <a:r>
              <a:rPr lang="pt-BR" dirty="0"/>
              <a:t>Nesses casos, ela pode nos levar a </a:t>
            </a:r>
            <a:r>
              <a:rPr lang="pt-BR" b="1" dirty="0">
                <a:solidFill>
                  <a:schemeClr val="accent2"/>
                </a:solidFill>
              </a:rPr>
              <a:t>concluir</a:t>
            </a:r>
            <a:r>
              <a:rPr lang="pt-BR" dirty="0"/>
              <a:t> que um </a:t>
            </a:r>
            <a:r>
              <a:rPr lang="pt-BR" b="1" dirty="0">
                <a:solidFill>
                  <a:srgbClr val="7030A0"/>
                </a:solidFill>
              </a:rPr>
              <a:t>classificador ruim é muito bom</a:t>
            </a:r>
            <a:r>
              <a:rPr lang="pt-BR" dirty="0"/>
              <a:t>.</a:t>
            </a:r>
            <a:endParaRPr lang="pt-BR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/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i="0" dirty="0"/>
                            <m:t>TP + FN + FP + 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562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690688"/>
                <a:ext cx="11353801" cy="5167312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>
                    <a:solidFill>
                      <a:schemeClr val="tx1"/>
                    </a:solidFill>
                  </a:rPr>
                  <a:t>Analisando a equação da acurácia, o que aconteceria se TP fosse muito maior do que TN, FN e FP?</a:t>
                </a:r>
                <a:endParaRPr lang="pt-BR" sz="800" noProof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pt-BR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0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b="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pt-BR" b="0" i="0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acur</m:t>
                          </m:r>
                          <m:r>
                            <a:rPr lang="pt-BR" b="0" i="0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á</m:t>
                          </m:r>
                          <m:r>
                            <m:rPr>
                              <m:sty m:val="p"/>
                            </m:rPr>
                            <a:rPr lang="pt-BR" b="0" i="0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cia</m:t>
                          </m:r>
                        </m:e>
                      </m:func>
                      <m:r>
                        <a:rPr lang="pt-BR" noProof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i="1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d>
                        <m:dPr>
                          <m:ctrlPr>
                            <a:rPr lang="pt-BR" i="1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  <m:r>
                                <a:rPr lang="pt-BR" i="1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noProof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den>
                          </m:f>
                        </m:e>
                      </m:d>
                      <m:r>
                        <a:rPr lang="pt-BR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f>
                        <m:fPr>
                          <m:ctrl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noProof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  <m:r>
                        <a:rPr lang="pt-BR" b="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pt-BR" b="0" i="0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800" noProof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pt-BR" sz="800" noProof="0" dirty="0">
                  <a:solidFill>
                    <a:schemeClr val="tx1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A acurácia pode tender à 1 mesmo que o modelo tenha um desempenho ruim na identificação da classe negativa.</a:t>
                </a:r>
              </a:p>
              <a:p>
                <a:r>
                  <a:rPr lang="pt-BR" noProof="0" dirty="0">
                    <a:solidFill>
                      <a:schemeClr val="tx1"/>
                    </a:solidFill>
                  </a:rPr>
                  <a:t>O mesmo aconteceria se TN fosse muito maior do que TP, FN e FP</a:t>
                </a:r>
              </a:p>
              <a:p>
                <a:r>
                  <a:rPr lang="pt-BR" b="0" noProof="0" dirty="0">
                    <a:solidFill>
                      <a:schemeClr val="tx1"/>
                    </a:solidFill>
                    <a:effectLst/>
                  </a:rPr>
                  <a:t>Ela também é enganosa quando os custos de falsos positivos e falsos negativos não são iguais.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Por exemplo, para um modelo de classificação de doenças contagiosas, o custo de um FN (tem a doença, mas o modelo diz que não) é mais alto do que o de um FP.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690688"/>
                <a:ext cx="11353801" cy="5167312"/>
              </a:xfrm>
              <a:blipFill>
                <a:blip r:embed="rId3"/>
                <a:stretch>
                  <a:fillRect l="-913" t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356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0351861-7A86-07B3-5514-F1B15497F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912" y="2217737"/>
            <a:ext cx="11306175" cy="242252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Portanto, quando temos </a:t>
            </a:r>
            <a:r>
              <a:rPr lang="pt-BR" sz="5400" b="1" dirty="0">
                <a:solidFill>
                  <a:srgbClr val="00B050"/>
                </a:solidFill>
              </a:rPr>
              <a:t>classes desbalanceadas ou custos diferentes, devemos </a:t>
            </a:r>
            <a:r>
              <a:rPr lang="pt-BR" sz="5400" b="1" dirty="0">
                <a:solidFill>
                  <a:srgbClr val="7030A0"/>
                </a:solidFill>
              </a:rPr>
              <a:t>analisar outras métricas</a:t>
            </a:r>
            <a:endParaRPr lang="pt-BR" sz="5400" dirty="0"/>
          </a:p>
        </p:txBody>
      </p:sp>
    </p:spTree>
    <p:extLst>
      <p:ext uri="{BB962C8B-B14F-4D97-AF65-F5344CB8AC3E}">
        <p14:creationId xmlns:p14="http://schemas.microsoft.com/office/powerpoint/2010/main" val="21121768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59409E-2F7C-F9FB-1D90-828F558DA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7B3338-3C79-280E-33CD-E184CC752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68686" y="1870780"/>
            <a:ext cx="6836228" cy="4987219"/>
          </a:xfrm>
        </p:spPr>
        <p:txBody>
          <a:bodyPr>
            <a:normAutofit/>
          </a:bodyPr>
          <a:lstStyle/>
          <a:p>
            <a:r>
              <a:rPr lang="pt-BR" b="1" noProof="0" dirty="0"/>
              <a:t>Precisão</a:t>
            </a:r>
            <a:r>
              <a:rPr lang="pt-BR" noProof="0" dirty="0"/>
              <a:t> é a proporção de exemplos da classe positiva corretamente classificados (TP) em relação a todos os exemplos atribuídos à classe positiva (TP + FP).</a:t>
            </a:r>
          </a:p>
          <a:p>
            <a:r>
              <a:rPr lang="pt-BR" noProof="0" dirty="0"/>
              <a:t>Ou seja, de tudo aquilo que o modelo classificou como positivo, quanto realmente era positivo?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Quando ele prediz positivo, podemos confiar?</a:t>
            </a:r>
            <a:endParaRPr lang="pt-BR" b="1" noProof="0" dirty="0">
              <a:solidFill>
                <a:srgbClr val="7030A0"/>
              </a:solidFill>
            </a:endParaRPr>
          </a:p>
          <a:p>
            <a:r>
              <a:rPr lang="pt-BR" noProof="0" dirty="0"/>
              <a:t>É uma </a:t>
            </a:r>
            <a:r>
              <a:rPr lang="pt-BR" b="1" noProof="0" dirty="0">
                <a:solidFill>
                  <a:srgbClr val="00B050"/>
                </a:solidFill>
              </a:rPr>
              <a:t>boa medida </a:t>
            </a:r>
            <a:r>
              <a:rPr lang="pt-BR" noProof="0" dirty="0"/>
              <a:t>para determinar a qualidade do classificador </a:t>
            </a:r>
            <a:r>
              <a:rPr lang="pt-BR" b="1" noProof="0" dirty="0">
                <a:solidFill>
                  <a:srgbClr val="00B050"/>
                </a:solidFill>
              </a:rPr>
              <a:t>quando os custos de </a:t>
            </a:r>
            <a:r>
              <a:rPr lang="pt-BR" b="1" noProof="0" dirty="0">
                <a:solidFill>
                  <a:srgbClr val="FF0000"/>
                </a:solidFill>
              </a:rPr>
              <a:t>falsos positivos</a:t>
            </a:r>
            <a:r>
              <a:rPr lang="pt-BR" b="1" noProof="0" dirty="0">
                <a:solidFill>
                  <a:srgbClr val="00B050"/>
                </a:solidFill>
              </a:rPr>
              <a:t> são altos</a:t>
            </a:r>
            <a:r>
              <a:rPr lang="pt-BR" noProof="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/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0D5ABCB4-5EB5-F832-F110-AD1F2FD3532A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685BDF4E-E4CF-5896-0326-96A536D9643C}"/>
              </a:ext>
            </a:extLst>
          </p:cNvPr>
          <p:cNvSpPr/>
          <p:nvPr/>
        </p:nvSpPr>
        <p:spPr>
          <a:xfrm rot="16200000">
            <a:off x="2443164" y="4941012"/>
            <a:ext cx="609602" cy="195262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1154846-7200-8A13-7CE3-866E0423AC95}"/>
              </a:ext>
            </a:extLst>
          </p:cNvPr>
          <p:cNvSpPr txBox="1"/>
          <p:nvPr/>
        </p:nvSpPr>
        <p:spPr>
          <a:xfrm>
            <a:off x="2200275" y="6157592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-</a:t>
            </a:r>
            <a:endParaRPr lang="en-US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5BECE90-0299-928D-2937-BAD69964EB36}"/>
              </a:ext>
            </a:extLst>
          </p:cNvPr>
          <p:cNvSpPr txBox="1"/>
          <p:nvPr/>
        </p:nvSpPr>
        <p:spPr>
          <a:xfrm>
            <a:off x="3070353" y="61701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+</a:t>
            </a:r>
            <a:endParaRPr lang="en-US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E5240CA-203C-851E-7E56-73BFF976FA1B}"/>
              </a:ext>
            </a:extLst>
          </p:cNvPr>
          <p:cNvSpPr txBox="1"/>
          <p:nvPr/>
        </p:nvSpPr>
        <p:spPr>
          <a:xfrm>
            <a:off x="1469270" y="56880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+</a:t>
            </a:r>
            <a:endParaRPr lang="en-US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8DF3936-009E-86E3-DA9B-9C242B4A2046}"/>
              </a:ext>
            </a:extLst>
          </p:cNvPr>
          <p:cNvSpPr txBox="1"/>
          <p:nvPr/>
        </p:nvSpPr>
        <p:spPr>
          <a:xfrm>
            <a:off x="1491712" y="5280937"/>
            <a:ext cx="255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-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36506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94076-840C-F8A0-1EBA-0559789D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E837E6-3644-108F-C376-E31809129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D50CCD-BAF9-D705-F6DD-4E87FC3E6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9690" y="1870780"/>
            <a:ext cx="7115224" cy="4987219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i="1" dirty="0"/>
              <a:t>spams</a:t>
            </a:r>
            <a:r>
              <a:rPr lang="pt-BR" dirty="0"/>
              <a:t> onde o </a:t>
            </a:r>
            <a:r>
              <a:rPr lang="pt-BR" b="1" dirty="0"/>
              <a:t>verdadeiro positivo</a:t>
            </a:r>
            <a:r>
              <a:rPr lang="pt-BR" dirty="0"/>
              <a:t> é um </a:t>
            </a:r>
            <a:r>
              <a:rPr lang="pt-BR" dirty="0" err="1"/>
              <a:t>email</a:t>
            </a:r>
            <a:r>
              <a:rPr lang="pt-BR" dirty="0"/>
              <a:t> de </a:t>
            </a:r>
            <a:r>
              <a:rPr lang="pt-BR" b="1" i="1" dirty="0"/>
              <a:t>spam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/>
              <a:t>falso positivo </a:t>
            </a:r>
            <a:r>
              <a:rPr lang="pt-BR" dirty="0"/>
              <a:t>significa que um </a:t>
            </a:r>
            <a:r>
              <a:rPr lang="pt-BR" b="1" dirty="0" err="1"/>
              <a:t>email</a:t>
            </a:r>
            <a:r>
              <a:rPr lang="pt-BR" b="1" dirty="0"/>
              <a:t> legítimo </a:t>
            </a:r>
            <a:r>
              <a:rPr lang="pt-BR" dirty="0"/>
              <a:t>(</a:t>
            </a:r>
            <a:r>
              <a:rPr lang="pt-BR" i="1" dirty="0" err="1"/>
              <a:t>ham</a:t>
            </a:r>
            <a:r>
              <a:rPr lang="pt-BR" dirty="0"/>
              <a:t>) (</a:t>
            </a:r>
            <a:r>
              <a:rPr lang="pt-BR" b="1" dirty="0"/>
              <a:t>verdadeiro negativo</a:t>
            </a:r>
            <a:r>
              <a:rPr lang="pt-BR" dirty="0"/>
              <a:t>) foi classificado como </a:t>
            </a:r>
            <a:r>
              <a:rPr lang="pt-BR" b="1" i="1" dirty="0"/>
              <a:t>spam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caso, o cliente do serviço de </a:t>
            </a:r>
            <a:r>
              <a:rPr lang="pt-BR" dirty="0" err="1"/>
              <a:t>email</a:t>
            </a:r>
            <a:r>
              <a:rPr lang="pt-BR" dirty="0"/>
              <a:t> pode perder correspondências importantes se a </a:t>
            </a:r>
            <a:r>
              <a:rPr lang="pt-BR" b="1" dirty="0"/>
              <a:t>precisão</a:t>
            </a:r>
            <a:r>
              <a:rPr lang="pt-BR" dirty="0"/>
              <a:t> for baixa.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704D3BDA-16E0-C30B-2504-2D58C9069DF7}"/>
                  </a:ext>
                </a:extLst>
              </p:cNvPr>
              <p:cNvSpPr txBox="1"/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72E4F38E-A7EF-429F-6B31-B7E993C4BB4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7DBCA45D-01DE-F21C-9CC9-EBEE7C31C895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FD64B03D-AF6E-F650-7BA8-30B1ADE878DC}"/>
              </a:ext>
            </a:extLst>
          </p:cNvPr>
          <p:cNvSpPr txBox="1"/>
          <p:nvPr/>
        </p:nvSpPr>
        <p:spPr>
          <a:xfrm>
            <a:off x="2943805" y="6222127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spam</a:t>
            </a:r>
            <a:endParaRPr lang="en-US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C6F87C0-602F-3FE7-1A8C-E76501466135}"/>
              </a:ext>
            </a:extLst>
          </p:cNvPr>
          <p:cNvSpPr txBox="1"/>
          <p:nvPr/>
        </p:nvSpPr>
        <p:spPr>
          <a:xfrm>
            <a:off x="2007143" y="6234506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ham</a:t>
            </a:r>
            <a:endParaRPr lang="en-US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4D11FED4-798F-FE62-4DD0-9B02BCE4FF2E}"/>
              </a:ext>
            </a:extLst>
          </p:cNvPr>
          <p:cNvSpPr txBox="1"/>
          <p:nvPr/>
        </p:nvSpPr>
        <p:spPr>
          <a:xfrm>
            <a:off x="1238641" y="5230813"/>
            <a:ext cx="601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/>
              <a:t>ham</a:t>
            </a:r>
            <a:endParaRPr lang="en-US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F6DA85B-6614-958D-C680-07895E10B379}"/>
              </a:ext>
            </a:extLst>
          </p:cNvPr>
          <p:cNvSpPr txBox="1"/>
          <p:nvPr/>
        </p:nvSpPr>
        <p:spPr>
          <a:xfrm>
            <a:off x="1171177" y="5688013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spam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22564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87A758-CC86-49D1-9698-4D8C118C4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E4F4E1-BE8B-2CDE-011D-F70A3522A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374869" cy="5032375"/>
          </a:xfrm>
        </p:spPr>
        <p:txBody>
          <a:bodyPr>
            <a:normAutofit/>
          </a:bodyPr>
          <a:lstStyle/>
          <a:p>
            <a:r>
              <a:rPr lang="pt-BR" b="1" i="1" noProof="0" dirty="0"/>
              <a:t>Recall</a:t>
            </a:r>
            <a:r>
              <a:rPr lang="pt-BR" noProof="0" dirty="0"/>
              <a:t> ou </a:t>
            </a:r>
            <a:r>
              <a:rPr lang="pt-BR" b="1" i="1" noProof="0" dirty="0"/>
              <a:t>sensibilidade</a:t>
            </a:r>
            <a:r>
              <a:rPr lang="pt-BR" noProof="0" dirty="0"/>
              <a:t> é a proporção de exemplos da classe positiva corretamente classificados.</a:t>
            </a:r>
          </a:p>
          <a:p>
            <a:r>
              <a:rPr lang="pt-BR" noProof="0" dirty="0"/>
              <a:t>Dos exemplos que realmente são positivos, quantos o modelo conseguiu encontrar?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O modelo conseguiu encontrar os positivos?</a:t>
            </a:r>
            <a:endParaRPr lang="pt-BR" b="1" noProof="0" dirty="0">
              <a:solidFill>
                <a:srgbClr val="7030A0"/>
              </a:solidFill>
            </a:endParaRPr>
          </a:p>
          <a:p>
            <a:r>
              <a:rPr lang="pt-BR" noProof="0" dirty="0"/>
              <a:t>É uma </a:t>
            </a:r>
            <a:r>
              <a:rPr lang="pt-BR" b="1" noProof="0" dirty="0">
                <a:solidFill>
                  <a:srgbClr val="00B050"/>
                </a:solidFill>
              </a:rPr>
              <a:t>boa medida </a:t>
            </a:r>
            <a:r>
              <a:rPr lang="pt-BR" noProof="0" dirty="0"/>
              <a:t>para determinar a qualidade de um classificador </a:t>
            </a:r>
            <a:r>
              <a:rPr lang="pt-BR" b="1" noProof="0" dirty="0">
                <a:solidFill>
                  <a:srgbClr val="00B050"/>
                </a:solidFill>
              </a:rPr>
              <a:t>quando os custos de </a:t>
            </a:r>
            <a:r>
              <a:rPr lang="pt-BR" b="1" noProof="0" dirty="0">
                <a:solidFill>
                  <a:srgbClr val="FF0000"/>
                </a:solidFill>
              </a:rPr>
              <a:t>falsos negativos</a:t>
            </a:r>
            <a:r>
              <a:rPr lang="pt-BR" b="1" noProof="0" dirty="0">
                <a:solidFill>
                  <a:srgbClr val="00B050"/>
                </a:solidFill>
              </a:rPr>
              <a:t> são altos</a:t>
            </a:r>
            <a:r>
              <a:rPr lang="pt-BR" noProof="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AB28634A-9E6D-BA06-E08B-AF1826CF657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894B2598-B989-4F1A-AB5A-34B5BD2133A9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934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8E56-1063-9535-583F-68F98BEE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281AC0-3FAB-E1EC-DE8A-76F8FBB33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A4931E-FED8-1E19-BC1E-B1813EAF8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461955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dirty="0"/>
              <a:t>doenças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um paciente doente (</a:t>
            </a:r>
            <a:r>
              <a:rPr lang="pt-BR" b="1" dirty="0"/>
              <a:t>verdadeiro positivo</a:t>
            </a:r>
            <a:r>
              <a:rPr lang="pt-BR" dirty="0"/>
              <a:t>) for classificado como não doente (</a:t>
            </a:r>
            <a:r>
              <a:rPr lang="pt-BR" b="1" dirty="0"/>
              <a:t>falso negativo</a:t>
            </a:r>
            <a:r>
              <a:rPr lang="pt-BR" dirty="0"/>
              <a:t>).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custo associado ao </a:t>
            </a:r>
            <a:r>
              <a:rPr lang="pt-BR" b="1" dirty="0"/>
              <a:t>falso negativo </a:t>
            </a:r>
            <a:r>
              <a:rPr lang="pt-BR" dirty="0"/>
              <a:t>será extremamente alto se a doença for contagiosa.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38A3350-B424-FFC8-887E-A4F979401EC1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6F8B50E5-59B3-7D20-E676-F37DDCFCA230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26508683-E050-40A0-9B76-B0CF504C46C8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F4E8F31-70DD-AFAD-34E2-A822946626E9}"/>
              </a:ext>
            </a:extLst>
          </p:cNvPr>
          <p:cNvSpPr txBox="1"/>
          <p:nvPr/>
        </p:nvSpPr>
        <p:spPr>
          <a:xfrm>
            <a:off x="2781709" y="6181265"/>
            <a:ext cx="85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doente</a:t>
            </a:r>
            <a:endParaRPr lang="en-US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339B622-0A8F-73D9-2449-EDF1095410C1}"/>
              </a:ext>
            </a:extLst>
          </p:cNvPr>
          <p:cNvSpPr txBox="1"/>
          <p:nvPr/>
        </p:nvSpPr>
        <p:spPr>
          <a:xfrm>
            <a:off x="1775984" y="6181265"/>
            <a:ext cx="1005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saudável</a:t>
            </a:r>
            <a:endParaRPr lang="en-US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8BDA5C3-77D9-BE4A-F72B-0D83504807E8}"/>
              </a:ext>
            </a:extLst>
          </p:cNvPr>
          <p:cNvSpPr txBox="1"/>
          <p:nvPr/>
        </p:nvSpPr>
        <p:spPr>
          <a:xfrm>
            <a:off x="838200" y="5248003"/>
            <a:ext cx="1005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saudável</a:t>
            </a:r>
            <a:endParaRPr lang="en-US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5CFE41C-61A5-A9A5-1493-12FF02B34221}"/>
              </a:ext>
            </a:extLst>
          </p:cNvPr>
          <p:cNvSpPr txBox="1"/>
          <p:nvPr/>
        </p:nvSpPr>
        <p:spPr>
          <a:xfrm>
            <a:off x="1001652" y="5696608"/>
            <a:ext cx="8533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doente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2528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F87474-9D5C-0B3D-63E8-AD1CF986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 versus </a:t>
            </a:r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DAA94B-AA8F-AF15-EE11-8B107DF8C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4" y="1825624"/>
            <a:ext cx="70212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precisão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negativos</a:t>
            </a:r>
            <a:r>
              <a:rPr lang="pt-BR" dirty="0"/>
              <a:t>. </a:t>
            </a:r>
          </a:p>
          <a:p>
            <a:r>
              <a:rPr lang="pt-BR" dirty="0"/>
              <a:t>Por outro lado, o </a:t>
            </a:r>
            <a:r>
              <a:rPr lang="pt-BR" b="1" i="1" dirty="0">
                <a:solidFill>
                  <a:srgbClr val="00B050"/>
                </a:solidFill>
              </a:rPr>
              <a:t>recall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positivos</a:t>
            </a:r>
            <a:r>
              <a:rPr lang="pt-BR" dirty="0"/>
              <a:t>.</a:t>
            </a:r>
          </a:p>
          <a:p>
            <a:r>
              <a:rPr lang="pt-BR" dirty="0"/>
              <a:t>Mas e se os </a:t>
            </a:r>
            <a:r>
              <a:rPr lang="pt-BR" b="1" dirty="0">
                <a:solidFill>
                  <a:srgbClr val="00B050"/>
                </a:solidFill>
              </a:rPr>
              <a:t>custos associados a falsos positivos e negativos </a:t>
            </a:r>
            <a:r>
              <a:rPr lang="pt-BR" b="1" dirty="0">
                <a:solidFill>
                  <a:schemeClr val="accent2"/>
                </a:solidFill>
              </a:rPr>
              <a:t>são iguais</a:t>
            </a:r>
            <a:r>
              <a:rPr lang="pt-BR" dirty="0"/>
              <a:t>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identificação de cães e gatos onde ambas as classificações corretas são importantes.</a:t>
            </a:r>
          </a:p>
          <a:p>
            <a:r>
              <a:rPr lang="pt-BR" dirty="0"/>
              <a:t>Nesse caso, para analisarmos o desempenho de um classificador, precisamos de </a:t>
            </a:r>
            <a:r>
              <a:rPr lang="pt-BR" b="1" dirty="0">
                <a:solidFill>
                  <a:schemeClr val="accent2"/>
                </a:solidFill>
              </a:rPr>
              <a:t>uma métrica que combine as duas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/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/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2549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DCA44-CC6E-8998-A693-998426B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F1-</a:t>
            </a:r>
            <a:r>
              <a:rPr lang="pt-BR" i="1" dirty="0"/>
              <a:t>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F1-</a:t>
                </a:r>
                <a:r>
                  <a:rPr lang="pt-BR" i="1" dirty="0"/>
                  <a:t>score</a:t>
                </a:r>
                <a:r>
                  <a:rPr lang="pt-BR" dirty="0"/>
                  <a:t> combina as duas métricas em uma única.</a:t>
                </a:r>
              </a:p>
              <a:p>
                <a:r>
                  <a:rPr lang="pt-BR" dirty="0"/>
                  <a:t>A métrica dá a mesma importância à </a:t>
                </a:r>
                <a:r>
                  <a:rPr lang="pt-BR" b="1" dirty="0"/>
                  <a:t>precisão</a:t>
                </a:r>
                <a:r>
                  <a:rPr lang="pt-BR" dirty="0"/>
                  <a:t> e ao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próximos de 1 indicam que o </a:t>
                </a:r>
                <a:r>
                  <a:rPr lang="pt-BR" b="1" dirty="0"/>
                  <a:t>classificador</a:t>
                </a:r>
                <a:r>
                  <a:rPr lang="pt-BR" dirty="0"/>
                  <a:t> obteve ótimos resultados tanto de </a:t>
                </a:r>
                <a:r>
                  <a:rPr lang="pt-BR" b="1" dirty="0"/>
                  <a:t>precisão</a:t>
                </a:r>
                <a:r>
                  <a:rPr lang="pt-BR" dirty="0"/>
                  <a:t> quanto de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significa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FN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FP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  <a:blipFill>
                <a:blip r:embed="rId2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/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num>
                            <m:den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=2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40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8254" y="2533701"/>
                <a:ext cx="10735491" cy="1755270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pt-BR" sz="4800" dirty="0"/>
                  <a:t>OK, consigo calcular as métricas para problemas binários, mas e quando </a:t>
                </a:r>
                <a14:m>
                  <m:oMath xmlns:m="http://schemas.openxmlformats.org/officeDocument/2006/math">
                    <m:r>
                      <a:rPr lang="pt-BR" sz="48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4800" dirty="0"/>
                  <a:t> &gt; 2?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8254" y="2533701"/>
                <a:ext cx="10735491" cy="1755270"/>
              </a:xfrm>
              <a:blipFill>
                <a:blip r:embed="rId2"/>
                <a:stretch>
                  <a:fillRect l="-1305" t="-11806" r="-12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611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caso multiclasses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 t="-13364" b="-21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9491"/>
                <a:ext cx="11353800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É possível calcular todas as métricas anteriores para o cenário multiclasses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Para isso, basta selecionar </a:t>
                </a:r>
                <a:r>
                  <a:rPr lang="pt-BR" b="1" dirty="0">
                    <a:solidFill>
                      <a:srgbClr val="7030A0"/>
                    </a:solidFill>
                  </a:rPr>
                  <a:t>uma classe por vez</a:t>
                </a:r>
                <a:r>
                  <a:rPr lang="pt-BR" dirty="0"/>
                  <a:t> como sendo a </a:t>
                </a:r>
                <a:r>
                  <a:rPr lang="pt-BR" b="1" dirty="0">
                    <a:solidFill>
                      <a:srgbClr val="7030A0"/>
                    </a:solidFill>
                  </a:rPr>
                  <a:t>classe positiva</a:t>
                </a:r>
                <a:r>
                  <a:rPr lang="pt-BR" dirty="0"/>
                  <a:t>, enquanto todas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as demais classes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formam a classe negativa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Essa abordagem se chama </a:t>
                </a:r>
                <a:r>
                  <a:rPr lang="pt-BR" b="1" dirty="0">
                    <a:solidFill>
                      <a:srgbClr val="0070C0"/>
                    </a:solidFill>
                  </a:rPr>
                  <a:t>um-contra-o-resto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uma maneira de transformar um problema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problemas binários.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</a:t>
                </a:r>
                <a:r>
                  <a:rPr lang="pt-BR" b="1" dirty="0">
                    <a:solidFill>
                      <a:srgbClr val="7030A0"/>
                    </a:solidFill>
                  </a:rPr>
                  <a:t>passamos a ter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rgbClr val="7030A0"/>
                    </a:solidFill>
                  </a:rPr>
                  <a:t> matrizes de confusão binárias, uma para cada classe sendo a classe positiva.</a:t>
                </a:r>
              </a:p>
              <a:p>
                <a:r>
                  <a:rPr lang="pt-BR" dirty="0"/>
                  <a:t>Desta forma, obtém-se os valores das </a:t>
                </a:r>
                <a:r>
                  <a:rPr lang="pt-BR" b="1" dirty="0">
                    <a:solidFill>
                      <a:srgbClr val="00B050"/>
                    </a:solidFill>
                  </a:rPr>
                  <a:t>métricas para cada uma das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um exemplo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9491"/>
                <a:ext cx="11353800" cy="4998509"/>
              </a:xfrm>
              <a:blipFill>
                <a:blip r:embed="rId3"/>
                <a:stretch>
                  <a:fillRect l="-967" t="-1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51383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Agrupar 20">
            <a:extLst>
              <a:ext uri="{FF2B5EF4-FFF2-40B4-BE49-F238E27FC236}">
                <a16:creationId xmlns:a16="http://schemas.microsoft.com/office/drawing/2014/main" id="{C5995D85-6E2F-F101-4F83-A59335472961}"/>
              </a:ext>
            </a:extLst>
          </p:cNvPr>
          <p:cNvGrpSpPr/>
          <p:nvPr/>
        </p:nvGrpSpPr>
        <p:grpSpPr>
          <a:xfrm>
            <a:off x="1617294" y="242939"/>
            <a:ext cx="6992205" cy="6506243"/>
            <a:chOff x="2194241" y="188509"/>
            <a:chExt cx="6992205" cy="6506243"/>
          </a:xfrm>
        </p:grpSpPr>
        <p:grpSp>
          <p:nvGrpSpPr>
            <p:cNvPr id="14" name="Group 13"/>
            <p:cNvGrpSpPr/>
            <p:nvPr/>
          </p:nvGrpSpPr>
          <p:grpSpPr>
            <a:xfrm>
              <a:off x="2194241" y="188509"/>
              <a:ext cx="6992205" cy="6506243"/>
              <a:chOff x="2194241" y="188509"/>
              <a:chExt cx="6992205" cy="6506243"/>
            </a:xfrm>
          </p:grpSpPr>
          <p:grpSp>
            <p:nvGrpSpPr>
              <p:cNvPr id="63" name="Group 62"/>
              <p:cNvGrpSpPr/>
              <p:nvPr/>
            </p:nvGrpSpPr>
            <p:grpSpPr>
              <a:xfrm>
                <a:off x="2194241" y="2343949"/>
                <a:ext cx="2614572" cy="2044068"/>
                <a:chOff x="838200" y="2110077"/>
                <a:chExt cx="2614572" cy="2044068"/>
              </a:xfrm>
            </p:grpSpPr>
            <p:cxnSp>
              <p:nvCxnSpPr>
                <p:cNvPr id="5" name="Straight Connector 4"/>
                <p:cNvCxnSpPr/>
                <p:nvPr/>
              </p:nvCxnSpPr>
              <p:spPr>
                <a:xfrm>
                  <a:off x="990682" y="2254516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Straight Connector 5"/>
                <p:cNvCxnSpPr/>
                <p:nvPr/>
              </p:nvCxnSpPr>
              <p:spPr>
                <a:xfrm rot="16200000">
                  <a:off x="1994309" y="2863461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" name="TextBox 6"/>
                    <p:cNvSpPr txBox="1"/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7" name="TextBox 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2"/>
                      <a:stretch>
                        <a:fillRect r="-3448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TextBox 7"/>
                    <p:cNvSpPr txBox="1"/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" name="TextBox 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3"/>
                      <a:stretch>
                        <a:fillRect r="-1695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5" name="Oval 14"/>
                <p:cNvSpPr/>
                <p:nvPr/>
              </p:nvSpPr>
              <p:spPr>
                <a:xfrm>
                  <a:off x="2194198" y="2661111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0" name="Oval 19"/>
                <p:cNvSpPr/>
                <p:nvPr/>
              </p:nvSpPr>
              <p:spPr>
                <a:xfrm>
                  <a:off x="2187973" y="2842565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2" name="Oval 21"/>
                <p:cNvSpPr/>
                <p:nvPr/>
              </p:nvSpPr>
              <p:spPr>
                <a:xfrm>
                  <a:off x="2606963" y="2512448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6" name="Oval 25"/>
                <p:cNvSpPr/>
                <p:nvPr/>
              </p:nvSpPr>
              <p:spPr>
                <a:xfrm>
                  <a:off x="2227111" y="244841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28" name="Oval 27"/>
                <p:cNvSpPr/>
                <p:nvPr/>
              </p:nvSpPr>
              <p:spPr>
                <a:xfrm>
                  <a:off x="2420446" y="26267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0" name="Multiply 29"/>
                <p:cNvSpPr/>
                <p:nvPr/>
              </p:nvSpPr>
              <p:spPr>
                <a:xfrm>
                  <a:off x="1379427" y="253403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1" name="Multiply 30"/>
                <p:cNvSpPr/>
                <p:nvPr/>
              </p:nvSpPr>
              <p:spPr>
                <a:xfrm>
                  <a:off x="1261029" y="2724508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2" name="Multiply 31"/>
                <p:cNvSpPr/>
                <p:nvPr/>
              </p:nvSpPr>
              <p:spPr>
                <a:xfrm>
                  <a:off x="1155997" y="250237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3" name="Multiply 32"/>
                <p:cNvSpPr/>
                <p:nvPr/>
              </p:nvSpPr>
              <p:spPr>
                <a:xfrm>
                  <a:off x="1017618" y="276165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5" name="Multiply 34"/>
                <p:cNvSpPr/>
                <p:nvPr/>
              </p:nvSpPr>
              <p:spPr>
                <a:xfrm>
                  <a:off x="1238102" y="2966671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6" name="Oval 35"/>
                <p:cNvSpPr/>
                <p:nvPr/>
              </p:nvSpPr>
              <p:spPr>
                <a:xfrm>
                  <a:off x="2397411" y="241802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38" name="Oval 37"/>
                <p:cNvSpPr/>
                <p:nvPr/>
              </p:nvSpPr>
              <p:spPr>
                <a:xfrm>
                  <a:off x="2495121" y="282287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2" name="Isosceles Triangle 51"/>
                <p:cNvSpPr/>
                <p:nvPr/>
              </p:nvSpPr>
              <p:spPr>
                <a:xfrm>
                  <a:off x="1618386" y="3440309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3" name="Isosceles Triangle 52"/>
                <p:cNvSpPr/>
                <p:nvPr/>
              </p:nvSpPr>
              <p:spPr>
                <a:xfrm>
                  <a:off x="1899719" y="338747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4" name="Isosceles Triangle 53"/>
                <p:cNvSpPr/>
                <p:nvPr/>
              </p:nvSpPr>
              <p:spPr>
                <a:xfrm>
                  <a:off x="1814030" y="3646170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5" name="Isosceles Triangle 54"/>
                <p:cNvSpPr/>
                <p:nvPr/>
              </p:nvSpPr>
              <p:spPr>
                <a:xfrm>
                  <a:off x="1546386" y="368509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56" name="Isosceles Triangle 55"/>
                <p:cNvSpPr/>
                <p:nvPr/>
              </p:nvSpPr>
              <p:spPr>
                <a:xfrm>
                  <a:off x="2084693" y="359131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64" name="Group 63"/>
              <p:cNvGrpSpPr/>
              <p:nvPr/>
            </p:nvGrpSpPr>
            <p:grpSpPr>
              <a:xfrm>
                <a:off x="6571874" y="4650684"/>
                <a:ext cx="2614572" cy="2044068"/>
                <a:chOff x="838200" y="2110077"/>
                <a:chExt cx="2614572" cy="2044068"/>
              </a:xfrm>
            </p:grpSpPr>
            <p:cxnSp>
              <p:nvCxnSpPr>
                <p:cNvPr id="65" name="Straight Connector 64"/>
                <p:cNvCxnSpPr/>
                <p:nvPr/>
              </p:nvCxnSpPr>
              <p:spPr>
                <a:xfrm>
                  <a:off x="990682" y="2254516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/>
                <p:cNvCxnSpPr/>
                <p:nvPr/>
              </p:nvCxnSpPr>
              <p:spPr>
                <a:xfrm rot="16200000">
                  <a:off x="1994309" y="2863461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7" name="TextBox 66"/>
                    <p:cNvSpPr txBox="1"/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67" name="TextBox 6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4"/>
                      <a:stretch>
                        <a:fillRect r="-5172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8" name="TextBox 67"/>
                    <p:cNvSpPr txBox="1"/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68" name="TextBox 6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5"/>
                      <a:stretch>
                        <a:fillRect r="-1724" b="-4285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9" name="Oval 68"/>
                <p:cNvSpPr/>
                <p:nvPr/>
              </p:nvSpPr>
              <p:spPr>
                <a:xfrm>
                  <a:off x="2194198" y="2661111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0" name="Oval 69"/>
                <p:cNvSpPr/>
                <p:nvPr/>
              </p:nvSpPr>
              <p:spPr>
                <a:xfrm>
                  <a:off x="2187973" y="2842565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1" name="Oval 70"/>
                <p:cNvSpPr/>
                <p:nvPr/>
              </p:nvSpPr>
              <p:spPr>
                <a:xfrm>
                  <a:off x="2606963" y="2512448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2" name="Oval 71"/>
                <p:cNvSpPr/>
                <p:nvPr/>
              </p:nvSpPr>
              <p:spPr>
                <a:xfrm>
                  <a:off x="2227111" y="244841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3" name="Oval 72"/>
                <p:cNvSpPr/>
                <p:nvPr/>
              </p:nvSpPr>
              <p:spPr>
                <a:xfrm>
                  <a:off x="2420446" y="26267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4" name="Multiply 73"/>
                <p:cNvSpPr/>
                <p:nvPr/>
              </p:nvSpPr>
              <p:spPr>
                <a:xfrm>
                  <a:off x="1379427" y="253403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5" name="Multiply 74"/>
                <p:cNvSpPr/>
                <p:nvPr/>
              </p:nvSpPr>
              <p:spPr>
                <a:xfrm>
                  <a:off x="1261029" y="2724508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6" name="Multiply 75"/>
                <p:cNvSpPr/>
                <p:nvPr/>
              </p:nvSpPr>
              <p:spPr>
                <a:xfrm>
                  <a:off x="1155997" y="250237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7" name="Multiply 76"/>
                <p:cNvSpPr/>
                <p:nvPr/>
              </p:nvSpPr>
              <p:spPr>
                <a:xfrm>
                  <a:off x="1017618" y="276165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8" name="Multiply 77"/>
                <p:cNvSpPr/>
                <p:nvPr/>
              </p:nvSpPr>
              <p:spPr>
                <a:xfrm>
                  <a:off x="1238102" y="2966671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79" name="Oval 78"/>
                <p:cNvSpPr/>
                <p:nvPr/>
              </p:nvSpPr>
              <p:spPr>
                <a:xfrm>
                  <a:off x="2397411" y="241802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0" name="Oval 79"/>
                <p:cNvSpPr/>
                <p:nvPr/>
              </p:nvSpPr>
              <p:spPr>
                <a:xfrm>
                  <a:off x="2495121" y="282287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1" name="Isosceles Triangle 80"/>
                <p:cNvSpPr/>
                <p:nvPr/>
              </p:nvSpPr>
              <p:spPr>
                <a:xfrm>
                  <a:off x="1618386" y="3440309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2" name="Isosceles Triangle 81"/>
                <p:cNvSpPr/>
                <p:nvPr/>
              </p:nvSpPr>
              <p:spPr>
                <a:xfrm>
                  <a:off x="1899719" y="338747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3" name="Isosceles Triangle 82"/>
                <p:cNvSpPr/>
                <p:nvPr/>
              </p:nvSpPr>
              <p:spPr>
                <a:xfrm>
                  <a:off x="1814030" y="3646170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4" name="Isosceles Triangle 83"/>
                <p:cNvSpPr/>
                <p:nvPr/>
              </p:nvSpPr>
              <p:spPr>
                <a:xfrm>
                  <a:off x="1546386" y="368509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85" name="Isosceles Triangle 84"/>
                <p:cNvSpPr/>
                <p:nvPr/>
              </p:nvSpPr>
              <p:spPr>
                <a:xfrm>
                  <a:off x="2084693" y="359131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86" name="Group 85"/>
              <p:cNvGrpSpPr/>
              <p:nvPr/>
            </p:nvGrpSpPr>
            <p:grpSpPr>
              <a:xfrm>
                <a:off x="6543675" y="2448410"/>
                <a:ext cx="2614572" cy="2044068"/>
                <a:chOff x="838200" y="2110077"/>
                <a:chExt cx="2614572" cy="2044068"/>
              </a:xfrm>
            </p:grpSpPr>
            <p:cxnSp>
              <p:nvCxnSpPr>
                <p:cNvPr id="87" name="Straight Connector 86"/>
                <p:cNvCxnSpPr/>
                <p:nvPr/>
              </p:nvCxnSpPr>
              <p:spPr>
                <a:xfrm>
                  <a:off x="990682" y="2254516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" name="Straight Connector 87"/>
                <p:cNvCxnSpPr/>
                <p:nvPr/>
              </p:nvCxnSpPr>
              <p:spPr>
                <a:xfrm rot="16200000">
                  <a:off x="1994309" y="2863461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TextBox 88"/>
                    <p:cNvSpPr txBox="1"/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9" name="TextBox 8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90682" y="2110077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6"/>
                      <a:stretch>
                        <a:fillRect r="-3390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/>
                    <p:cNvSpPr txBox="1"/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96756" y="3893688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7"/>
                      <a:stretch>
                        <a:fillRect r="-1724" b="-4285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1" name="Oval 90"/>
                <p:cNvSpPr/>
                <p:nvPr/>
              </p:nvSpPr>
              <p:spPr>
                <a:xfrm>
                  <a:off x="2194198" y="2661111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2" name="Oval 91"/>
                <p:cNvSpPr/>
                <p:nvPr/>
              </p:nvSpPr>
              <p:spPr>
                <a:xfrm>
                  <a:off x="2187973" y="2842565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3" name="Oval 92"/>
                <p:cNvSpPr/>
                <p:nvPr/>
              </p:nvSpPr>
              <p:spPr>
                <a:xfrm>
                  <a:off x="2606963" y="2512448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4" name="Oval 93"/>
                <p:cNvSpPr/>
                <p:nvPr/>
              </p:nvSpPr>
              <p:spPr>
                <a:xfrm>
                  <a:off x="2227111" y="244841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5" name="Oval 94"/>
                <p:cNvSpPr/>
                <p:nvPr/>
              </p:nvSpPr>
              <p:spPr>
                <a:xfrm>
                  <a:off x="2420446" y="26267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6" name="Multiply 95"/>
                <p:cNvSpPr/>
                <p:nvPr/>
              </p:nvSpPr>
              <p:spPr>
                <a:xfrm>
                  <a:off x="1379427" y="253403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7" name="Multiply 96"/>
                <p:cNvSpPr/>
                <p:nvPr/>
              </p:nvSpPr>
              <p:spPr>
                <a:xfrm>
                  <a:off x="1261029" y="2724508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8" name="Multiply 97"/>
                <p:cNvSpPr/>
                <p:nvPr/>
              </p:nvSpPr>
              <p:spPr>
                <a:xfrm>
                  <a:off x="1155997" y="250237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99" name="Multiply 98"/>
                <p:cNvSpPr/>
                <p:nvPr/>
              </p:nvSpPr>
              <p:spPr>
                <a:xfrm>
                  <a:off x="1017618" y="2761654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0" name="Multiply 99"/>
                <p:cNvSpPr/>
                <p:nvPr/>
              </p:nvSpPr>
              <p:spPr>
                <a:xfrm>
                  <a:off x="1238102" y="2966671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1" name="Oval 100"/>
                <p:cNvSpPr/>
                <p:nvPr/>
              </p:nvSpPr>
              <p:spPr>
                <a:xfrm>
                  <a:off x="2397411" y="241802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2" name="Oval 101"/>
                <p:cNvSpPr/>
                <p:nvPr/>
              </p:nvSpPr>
              <p:spPr>
                <a:xfrm>
                  <a:off x="2495121" y="282287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3" name="Isosceles Triangle 102"/>
                <p:cNvSpPr/>
                <p:nvPr/>
              </p:nvSpPr>
              <p:spPr>
                <a:xfrm>
                  <a:off x="1618386" y="3440309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4" name="Isosceles Triangle 103"/>
                <p:cNvSpPr/>
                <p:nvPr/>
              </p:nvSpPr>
              <p:spPr>
                <a:xfrm>
                  <a:off x="1899719" y="338747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5" name="Isosceles Triangle 104"/>
                <p:cNvSpPr/>
                <p:nvPr/>
              </p:nvSpPr>
              <p:spPr>
                <a:xfrm>
                  <a:off x="1814030" y="3646170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6" name="Isosceles Triangle 105"/>
                <p:cNvSpPr/>
                <p:nvPr/>
              </p:nvSpPr>
              <p:spPr>
                <a:xfrm>
                  <a:off x="1546386" y="368509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7" name="Isosceles Triangle 106"/>
                <p:cNvSpPr/>
                <p:nvPr/>
              </p:nvSpPr>
              <p:spPr>
                <a:xfrm>
                  <a:off x="2084693" y="3591315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p:grpSp>
            <p:nvGrpSpPr>
              <p:cNvPr id="150" name="Group 149"/>
              <p:cNvGrpSpPr/>
              <p:nvPr/>
            </p:nvGrpSpPr>
            <p:grpSpPr>
              <a:xfrm>
                <a:off x="6543675" y="188509"/>
                <a:ext cx="2614572" cy="2044068"/>
                <a:chOff x="6543675" y="188509"/>
                <a:chExt cx="2614572" cy="2044068"/>
              </a:xfrm>
            </p:grpSpPr>
            <p:cxnSp>
              <p:nvCxnSpPr>
                <p:cNvPr id="109" name="Straight Connector 108"/>
                <p:cNvCxnSpPr/>
                <p:nvPr/>
              </p:nvCxnSpPr>
              <p:spPr>
                <a:xfrm>
                  <a:off x="6696157" y="332948"/>
                  <a:ext cx="0" cy="1899629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arrow" w="med" len="med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0" name="Straight Connector 109"/>
                <p:cNvCxnSpPr/>
                <p:nvPr/>
              </p:nvCxnSpPr>
              <p:spPr>
                <a:xfrm rot="16200000">
                  <a:off x="7699784" y="941893"/>
                  <a:ext cx="0" cy="2312217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  <a:headEnd type="none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1" name="TextBox 110"/>
                    <p:cNvSpPr txBox="1"/>
                    <p:nvPr/>
                  </p:nvSpPr>
                  <p:spPr>
                    <a:xfrm>
                      <a:off x="6696157" y="188509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11" name="TextBox 11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96157" y="188509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8"/>
                      <a:stretch>
                        <a:fillRect r="-3390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2" name="TextBox 111"/>
                    <p:cNvSpPr txBox="1"/>
                    <p:nvPr/>
                  </p:nvSpPr>
                  <p:spPr>
                    <a:xfrm>
                      <a:off x="8802231" y="1972120"/>
                      <a:ext cx="356016" cy="2517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12" name="TextBox 11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802231" y="1972120"/>
                      <a:ext cx="356016" cy="251762"/>
                    </a:xfrm>
                    <a:prstGeom prst="rect">
                      <a:avLst/>
                    </a:prstGeom>
                    <a:blipFill rotWithShape="0">
                      <a:blip r:embed="rId9"/>
                      <a:stretch>
                        <a:fillRect r="-1724" b="-463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13" name="Oval 112"/>
                <p:cNvSpPr/>
                <p:nvPr/>
              </p:nvSpPr>
              <p:spPr>
                <a:xfrm>
                  <a:off x="7899673" y="739543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4" name="Oval 113"/>
                <p:cNvSpPr/>
                <p:nvPr/>
              </p:nvSpPr>
              <p:spPr>
                <a:xfrm>
                  <a:off x="7893448" y="920997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5" name="Oval 114"/>
                <p:cNvSpPr/>
                <p:nvPr/>
              </p:nvSpPr>
              <p:spPr>
                <a:xfrm>
                  <a:off x="8312438" y="590880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6" name="Oval 115"/>
                <p:cNvSpPr/>
                <p:nvPr/>
              </p:nvSpPr>
              <p:spPr>
                <a:xfrm>
                  <a:off x="7932586" y="52684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7" name="Oval 116"/>
                <p:cNvSpPr/>
                <p:nvPr/>
              </p:nvSpPr>
              <p:spPr>
                <a:xfrm>
                  <a:off x="8125921" y="705134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8" name="Multiply 117"/>
                <p:cNvSpPr/>
                <p:nvPr/>
              </p:nvSpPr>
              <p:spPr>
                <a:xfrm>
                  <a:off x="7084902" y="612466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9" name="Multiply 118"/>
                <p:cNvSpPr/>
                <p:nvPr/>
              </p:nvSpPr>
              <p:spPr>
                <a:xfrm>
                  <a:off x="6966504" y="802940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0" name="Multiply 119"/>
                <p:cNvSpPr/>
                <p:nvPr/>
              </p:nvSpPr>
              <p:spPr>
                <a:xfrm>
                  <a:off x="6861472" y="580805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1" name="Multiply 120"/>
                <p:cNvSpPr/>
                <p:nvPr/>
              </p:nvSpPr>
              <p:spPr>
                <a:xfrm>
                  <a:off x="6723093" y="840086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2" name="Multiply 121"/>
                <p:cNvSpPr/>
                <p:nvPr/>
              </p:nvSpPr>
              <p:spPr>
                <a:xfrm>
                  <a:off x="6943577" y="1045103"/>
                  <a:ext cx="238959" cy="196320"/>
                </a:xfrm>
                <a:prstGeom prst="mathMultiply">
                  <a:avLst/>
                </a:prstGeom>
                <a:noFill/>
                <a:ln w="28575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3" name="Oval 122"/>
                <p:cNvSpPr/>
                <p:nvPr/>
              </p:nvSpPr>
              <p:spPr>
                <a:xfrm>
                  <a:off x="8102886" y="496456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4" name="Oval 123"/>
                <p:cNvSpPr/>
                <p:nvPr/>
              </p:nvSpPr>
              <p:spPr>
                <a:xfrm>
                  <a:off x="8200596" y="901302"/>
                  <a:ext cx="149350" cy="122700"/>
                </a:xfrm>
                <a:prstGeom prst="ellips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5" name="Isosceles Triangle 124"/>
                <p:cNvSpPr/>
                <p:nvPr/>
              </p:nvSpPr>
              <p:spPr>
                <a:xfrm>
                  <a:off x="7323861" y="1518741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6" name="Isosceles Triangle 125"/>
                <p:cNvSpPr/>
                <p:nvPr/>
              </p:nvSpPr>
              <p:spPr>
                <a:xfrm>
                  <a:off x="7605194" y="1465903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7" name="Isosceles Triangle 126"/>
                <p:cNvSpPr/>
                <p:nvPr/>
              </p:nvSpPr>
              <p:spPr>
                <a:xfrm>
                  <a:off x="7519505" y="1724602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8" name="Isosceles Triangle 127"/>
                <p:cNvSpPr/>
                <p:nvPr/>
              </p:nvSpPr>
              <p:spPr>
                <a:xfrm>
                  <a:off x="7251861" y="1763527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9" name="Isosceles Triangle 128"/>
                <p:cNvSpPr/>
                <p:nvPr/>
              </p:nvSpPr>
              <p:spPr>
                <a:xfrm>
                  <a:off x="7790168" y="1669747"/>
                  <a:ext cx="144000" cy="144000"/>
                </a:xfrm>
                <a:prstGeom prst="triangle">
                  <a:avLst/>
                </a:prstGeom>
                <a:noFill/>
                <a:ln w="38100">
                  <a:solidFill>
                    <a:srgbClr val="00B05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1" name="Rectangle 150"/>
                  <p:cNvSpPr/>
                  <p:nvPr/>
                </p:nvSpPr>
                <p:spPr>
                  <a:xfrm>
                    <a:off x="2817038" y="2833017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1" name="Rectangle 150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17038" y="2833017"/>
                    <a:ext cx="463909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2" name="Rectangle 151"/>
                  <p:cNvSpPr/>
                  <p:nvPr/>
                </p:nvSpPr>
                <p:spPr>
                  <a:xfrm>
                    <a:off x="4000512" y="2884021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2" name="Rectangle 151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00512" y="2884021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3" name="Rectangle 152"/>
                  <p:cNvSpPr/>
                  <p:nvPr/>
                </p:nvSpPr>
                <p:spPr>
                  <a:xfrm>
                    <a:off x="3441417" y="3486878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3" name="Rectangle 152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41417" y="3486878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Rectangle 153"/>
                  <p:cNvSpPr/>
                  <p:nvPr/>
                </p:nvSpPr>
                <p:spPr>
                  <a:xfrm>
                    <a:off x="7942160" y="1172430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4" name="Rectangle 153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942160" y="1172430"/>
                    <a:ext cx="463909" cy="369332"/>
                  </a:xfrm>
                  <a:prstGeom prst="rect">
                    <a:avLst/>
                  </a:prstGeom>
                  <a:blipFill rotWithShape="0">
                    <a:blip r:embed="rId1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Rectangle 154"/>
                  <p:cNvSpPr/>
                  <p:nvPr/>
                </p:nvSpPr>
                <p:spPr>
                  <a:xfrm>
                    <a:off x="7246868" y="271429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5" name="Rectangle 154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46868" y="271429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6" name="Rectangle 155"/>
                  <p:cNvSpPr/>
                  <p:nvPr/>
                </p:nvSpPr>
                <p:spPr>
                  <a:xfrm>
                    <a:off x="6779418" y="3654913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6" name="Rectangle 155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79418" y="3654913"/>
                    <a:ext cx="463909" cy="369332"/>
                  </a:xfrm>
                  <a:prstGeom prst="rect">
                    <a:avLst/>
                  </a:prstGeom>
                  <a:blipFill rotWithShape="0">
                    <a:blip r:embed="rId1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7" name="Rectangle 156"/>
                  <p:cNvSpPr/>
                  <p:nvPr/>
                </p:nvSpPr>
                <p:spPr>
                  <a:xfrm>
                    <a:off x="8187872" y="3365983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7" name="Rectangle 156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87872" y="3365983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8" name="Rectangle 157"/>
                  <p:cNvSpPr/>
                  <p:nvPr/>
                </p:nvSpPr>
                <p:spPr>
                  <a:xfrm>
                    <a:off x="8053403" y="5980916"/>
                    <a:ext cx="46923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8" name="Rectangle 157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53403" y="5980916"/>
                    <a:ext cx="469231" cy="369332"/>
                  </a:xfrm>
                  <a:prstGeom prst="rect">
                    <a:avLst/>
                  </a:prstGeom>
                  <a:blipFill rotWithShape="0">
                    <a:blip r:embed="rId1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9" name="Rectangle 158"/>
                  <p:cNvSpPr/>
                  <p:nvPr/>
                </p:nvSpPr>
                <p:spPr>
                  <a:xfrm>
                    <a:off x="7356884" y="5153276"/>
                    <a:ext cx="463909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59" name="Rectangle 158"/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56884" y="5153276"/>
                    <a:ext cx="463909" cy="369332"/>
                  </a:xfrm>
                  <a:prstGeom prst="rect">
                    <a:avLst/>
                  </a:prstGeom>
                  <a:blipFill rotWithShape="0">
                    <a:blip r:embed="rId1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9" name="Straight Arrow Connector 8"/>
              <p:cNvCxnSpPr/>
              <p:nvPr/>
            </p:nvCxnSpPr>
            <p:spPr>
              <a:xfrm flipV="1">
                <a:off x="5127093" y="1537903"/>
                <a:ext cx="1243999" cy="137154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/>
              <p:cNvCxnSpPr/>
              <p:nvPr/>
            </p:nvCxnSpPr>
            <p:spPr>
              <a:xfrm>
                <a:off x="5186436" y="3501324"/>
                <a:ext cx="1328175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/>
              <p:cNvCxnSpPr/>
              <p:nvPr/>
            </p:nvCxnSpPr>
            <p:spPr>
              <a:xfrm>
                <a:off x="5127093" y="3969187"/>
                <a:ext cx="1243999" cy="17344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CaixaDeTexto 2">
                  <a:extLst>
                    <a:ext uri="{FF2B5EF4-FFF2-40B4-BE49-F238E27FC236}">
                      <a16:creationId xmlns:a16="http://schemas.microsoft.com/office/drawing/2014/main" id="{569EE34C-BDCC-0D10-1E8B-D043A5A2353D}"/>
                    </a:ext>
                  </a:extLst>
                </p:cNvPr>
                <p:cNvSpPr txBox="1"/>
                <p:nvPr/>
              </p:nvSpPr>
              <p:spPr>
                <a:xfrm rot="18753228">
                  <a:off x="4686829" y="1876394"/>
                  <a:ext cx="194116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</m:e>
                      </m:d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pt-BR" dirty="0"/>
                    <a:t>&amp;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b="0" i="0" dirty="0" smtClean="0">
                          <a:latin typeface="Cambria Math" panose="02040503050406030204" pitchFamily="18" charset="0"/>
                        </a:rPr>
                        <m:t>(−)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3" name="CaixaDeTexto 2">
                  <a:extLst>
                    <a:ext uri="{FF2B5EF4-FFF2-40B4-BE49-F238E27FC236}">
                      <a16:creationId xmlns:a16="http://schemas.microsoft.com/office/drawing/2014/main" id="{569EE34C-BDCC-0D10-1E8B-D043A5A235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8753228">
                  <a:off x="4686829" y="1876394"/>
                  <a:ext cx="1941162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350798A0-066E-CC4D-389B-8D3FB768C8CB}"/>
                    </a:ext>
                  </a:extLst>
                </p:cNvPr>
                <p:cNvSpPr txBox="1"/>
                <p:nvPr/>
              </p:nvSpPr>
              <p:spPr>
                <a:xfrm>
                  <a:off x="4654571" y="3101632"/>
                  <a:ext cx="20056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(+)</m:t>
                      </m:r>
                    </m:oMath>
                  </a14:m>
                  <a:r>
                    <a:rPr lang="pt-BR" dirty="0"/>
                    <a:t> </a:t>
                  </a:r>
                  <a14:m>
                    <m:oMath xmlns:m="http://schemas.openxmlformats.org/officeDocument/2006/math">
                      <m:r>
                        <a:rPr lang="pt-BR" i="1" dirty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pt-BR" dirty="0"/>
                    <a:t>&amp;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dirty="0">
                          <a:latin typeface="Cambria Math" panose="02040503050406030204" pitchFamily="18" charset="0"/>
                        </a:rPr>
                        <m:t>(−)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0" name="CaixaDeTexto 9">
                  <a:extLst>
                    <a:ext uri="{FF2B5EF4-FFF2-40B4-BE49-F238E27FC236}">
                      <a16:creationId xmlns:a16="http://schemas.microsoft.com/office/drawing/2014/main" id="{350798A0-066E-CC4D-389B-8D3FB768C8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4571" y="3101632"/>
                  <a:ext cx="2005677" cy="369332"/>
                </a:xfrm>
                <a:prstGeom prst="rect">
                  <a:avLst/>
                </a:prstGeom>
                <a:blipFill>
                  <a:blip r:embed="rId20"/>
                  <a:stretch>
                    <a:fillRect t="-10000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1FF1EB9B-4390-9FF2-BD8A-6EE552F64DB4}"/>
                    </a:ext>
                  </a:extLst>
                </p:cNvPr>
                <p:cNvSpPr txBox="1"/>
                <p:nvPr/>
              </p:nvSpPr>
              <p:spPr>
                <a:xfrm rot="3228880">
                  <a:off x="4503987" y="4650921"/>
                  <a:ext cx="20056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b="0" i="1" dirty="0" smtClean="0">
                          <a:latin typeface="Cambria Math" panose="02040503050406030204" pitchFamily="18" charset="0"/>
                        </a:rPr>
                        <m:t>(+)</m:t>
                      </m:r>
                    </m:oMath>
                  </a14:m>
                  <a:r>
                    <a:rPr lang="pt-BR" dirty="0"/>
                    <a:t> </a:t>
                  </a:r>
                  <a14:m>
                    <m:oMath xmlns:m="http://schemas.openxmlformats.org/officeDocument/2006/math">
                      <m:r>
                        <a:rPr lang="pt-BR" i="1" dirty="0">
                          <a:latin typeface="Cambria Math" panose="02040503050406030204" pitchFamily="18" charset="0"/>
                        </a:rPr>
                        <m:t>/</m:t>
                      </m:r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pt-BR" dirty="0"/>
                    <a:t>&amp;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 dirty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dirty="0">
                          <a:latin typeface="Cambria Math" panose="02040503050406030204" pitchFamily="18" charset="0"/>
                        </a:rPr>
                        <m:t>(−)</m:t>
                      </m:r>
                    </m:oMath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CaixaDeTexto 15">
                  <a:extLst>
                    <a:ext uri="{FF2B5EF4-FFF2-40B4-BE49-F238E27FC236}">
                      <a16:creationId xmlns:a16="http://schemas.microsoft.com/office/drawing/2014/main" id="{1FF1EB9B-4390-9FF2-BD8A-6EE552F64D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3228880">
                  <a:off x="4503987" y="4650921"/>
                  <a:ext cx="2005677" cy="369332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5F594E2D-9C00-0397-8F33-5E9A964A065A}"/>
                  </a:ext>
                </a:extLst>
              </p:cNvPr>
              <p:cNvSpPr txBox="1"/>
              <p:nvPr/>
            </p:nvSpPr>
            <p:spPr>
              <a:xfrm>
                <a:off x="439481" y="5207706"/>
                <a:ext cx="406512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Com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400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sz="2400" dirty="0"/>
                  <a:t>, passamos a ter </a:t>
                </a:r>
                <a:r>
                  <a:rPr lang="pt-BR" sz="2400" b="1" dirty="0"/>
                  <a:t>3 problemas binários</a:t>
                </a:r>
                <a:r>
                  <a:rPr lang="pt-BR" sz="2400" dirty="0"/>
                  <a:t>.</a:t>
                </a:r>
                <a:endParaRPr lang="pt-BR" sz="2400" b="1" i="1" dirty="0"/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5F594E2D-9C00-0397-8F33-5E9A964A0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481" y="5207706"/>
                <a:ext cx="4065127" cy="830997"/>
              </a:xfrm>
              <a:prstGeom prst="rect">
                <a:avLst/>
              </a:prstGeom>
              <a:blipFill>
                <a:blip r:embed="rId22"/>
                <a:stretch>
                  <a:fillRect t="-5839" r="-900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itle 1">
            <a:extLst>
              <a:ext uri="{FF2B5EF4-FFF2-40B4-BE49-F238E27FC236}">
                <a16:creationId xmlns:a16="http://schemas.microsoft.com/office/drawing/2014/main" id="{1A0E4709-46E3-F10D-1F0B-C228BEF03A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Um-Contra-o-Resto</a:t>
            </a:r>
          </a:p>
        </p:txBody>
      </p:sp>
      <p:sp>
        <p:nvSpPr>
          <p:cNvPr id="23" name="Espaço Reservado para Conteúdo 2">
            <a:extLst>
              <a:ext uri="{FF2B5EF4-FFF2-40B4-BE49-F238E27FC236}">
                <a16:creationId xmlns:a16="http://schemas.microsoft.com/office/drawing/2014/main" id="{1F869FA1-6ABE-A62C-D1D9-85E87B1FFE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39306" y="1859491"/>
            <a:ext cx="3552694" cy="4998509"/>
          </a:xfrm>
        </p:spPr>
        <p:txBody>
          <a:bodyPr>
            <a:normAutofit/>
          </a:bodyPr>
          <a:lstStyle/>
          <a:p>
            <a:r>
              <a:rPr lang="pt-BR" dirty="0"/>
              <a:t>Os rótulos originais são: 1, 2, 3.</a:t>
            </a:r>
          </a:p>
          <a:p>
            <a:r>
              <a:rPr lang="pt-BR" dirty="0"/>
              <a:t>Para cada problema binário, mudamos os rótulos de </a:t>
            </a:r>
            <a:r>
              <a:rPr lang="pt-BR" b="1" dirty="0">
                <a:solidFill>
                  <a:srgbClr val="7030A0"/>
                </a:solidFill>
              </a:rPr>
              <a:t>uma classe</a:t>
            </a:r>
            <a:r>
              <a:rPr lang="pt-BR" dirty="0"/>
              <a:t> para 2 (+) </a:t>
            </a:r>
            <a:r>
              <a:rPr lang="pt-BR" b="1" dirty="0">
                <a:solidFill>
                  <a:schemeClr val="accent2"/>
                </a:solidFill>
              </a:rPr>
              <a:t>e das demais</a:t>
            </a:r>
            <a:r>
              <a:rPr lang="pt-BR" dirty="0"/>
              <a:t> para 1 (-).</a:t>
            </a:r>
          </a:p>
        </p:txBody>
      </p:sp>
    </p:spTree>
    <p:extLst>
      <p:ext uri="{BB962C8B-B14F-4D97-AF65-F5344CB8AC3E}">
        <p14:creationId xmlns:p14="http://schemas.microsoft.com/office/powerpoint/2010/main" val="9370966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0EF1D-BFF8-2F82-4975-9C47E0376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0915" y="1859491"/>
                <a:ext cx="5400736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teremos 3 matrizes de confusão binárias.</a:t>
                </a:r>
              </a:p>
              <a:p>
                <a:r>
                  <a:rPr lang="pt-BR" dirty="0"/>
                  <a:t>A primeira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como a classe positiva e as demais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, como a classe negativa.</a:t>
                </a:r>
              </a:p>
              <a:p>
                <a:r>
                  <a:rPr lang="pt-BR" dirty="0"/>
                  <a:t>Agora, de posse de TP, TN, FP, e FN, nós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conseguimos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pt-BR" b="1" i="1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chemeClr val="accent2"/>
                    </a:solidFill>
                  </a:rPr>
                  <a:t> sendo a classe positiva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Devemos somar todos os elementos com a mesma identificação.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0915" y="1859491"/>
                <a:ext cx="5400736" cy="4998509"/>
              </a:xfrm>
              <a:blipFill>
                <a:blip r:embed="rId3"/>
                <a:stretch>
                  <a:fillRect l="-2032" t="-1951" r="-3273" b="-9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4780193"/>
                  </p:ext>
                </p:extLst>
              </p:nvPr>
            </p:nvGraphicFramePr>
            <p:xfrm>
              <a:off x="259836" y="2722033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34780193"/>
                  </p:ext>
                </p:extLst>
              </p:nvPr>
            </p:nvGraphicFramePr>
            <p:xfrm>
              <a:off x="259836" y="2722033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870" r="-438994" b="-3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100870" r="-438994" b="-2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202632" r="-438994" b="-13859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828" t="-500000" r="-20086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4828" t="-500000" r="-10086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4828" t="-500000" r="-862" b="-1289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/>
              <p:nvPr/>
            </p:nvSpPr>
            <p:spPr>
              <a:xfrm>
                <a:off x="2422868" y="2260368"/>
                <a:ext cx="42333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2868" y="2260368"/>
                <a:ext cx="4233333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7205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8210450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08210450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7092" r="-51570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41121" r="-515702" b="-2532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82979" r="-515702" b="-921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000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0966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966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/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FB9017A-4D48-F779-0F83-6B9ADCB476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49143" y="1859491"/>
                <a:ext cx="5422507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segunda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como a classe positiva e as demais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, como a classe negativa.</a:t>
                </a:r>
              </a:p>
              <a:p>
                <a:r>
                  <a:rPr lang="pt-BR" dirty="0"/>
                  <a:t>Agora, de posse de TP, TN, FP, e FN, nós conseguimos 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sendo a classe positiva.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AFB9017A-4D48-F779-0F83-6B9ADCB476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49143" y="1859491"/>
                <a:ext cx="5422507" cy="4998509"/>
              </a:xfrm>
              <a:blipFill>
                <a:blip r:embed="rId6"/>
                <a:stretch>
                  <a:fillRect l="-2022" t="-1951" r="-26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24173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63306-0FB6-57F4-8340-A91D68410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9383E70-93A4-E908-802C-517D3ED3BE0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7ECD143D-AF30-8E23-B045-8B71B6EDF9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1536918"/>
                  </p:ext>
                </p:extLst>
              </p:nvPr>
            </p:nvGraphicFramePr>
            <p:xfrm>
              <a:off x="485423" y="2649668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7ECD143D-AF30-8E23-B045-8B71B6EDF9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61536918"/>
                  </p:ext>
                </p:extLst>
              </p:nvPr>
            </p:nvGraphicFramePr>
            <p:xfrm>
              <a:off x="485423" y="2649668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6338" r="-548246" b="-266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107092" r="-548246" b="-1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63158" t="-272897" r="-548246" b="-12149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7030A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481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1449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1449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5330AE9-A322-005B-2219-EB4A7E59F328}"/>
                  </a:ext>
                </a:extLst>
              </p:cNvPr>
              <p:cNvSpPr txBox="1"/>
              <p:nvPr/>
            </p:nvSpPr>
            <p:spPr>
              <a:xfrm>
                <a:off x="2302933" y="2189330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400" dirty="0"/>
                  <a:t>é a positiva.</a:t>
                </a: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A5330AE9-A322-005B-2219-EB4A7E59F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2933" y="2189330"/>
                <a:ext cx="3793067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DD8A4E-6FAD-9F48-24F8-EBBD83CDE4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60029" y="1859491"/>
                <a:ext cx="5411621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terceira matriz considera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como a classe positiva e as demais classes,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como a classe negativa.</a:t>
                </a:r>
              </a:p>
              <a:p>
                <a:r>
                  <a:rPr lang="pt-BR" dirty="0"/>
                  <a:t>Agora, de posse de TP, TN, FP, e FN, nós conseguimos calcular as métricas anteriores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sendo a classe positiva.</a:t>
                </a:r>
              </a:p>
              <a:p>
                <a:r>
                  <a:rPr lang="pt-BR" dirty="0"/>
                  <a:t>Percebam que teremos um </a:t>
                </a:r>
                <a:r>
                  <a:rPr lang="pt-BR" b="1" dirty="0">
                    <a:solidFill>
                      <a:schemeClr val="accent2"/>
                    </a:solidFill>
                  </a:rPr>
                  <a:t>conjunto de métricas (precisão,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recall</a:t>
                </a:r>
                <a:r>
                  <a:rPr lang="pt-BR" b="1" dirty="0">
                    <a:solidFill>
                      <a:schemeClr val="accent2"/>
                    </a:solidFill>
                  </a:rPr>
                  <a:t>, F1-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score</a:t>
                </a:r>
                <a:r>
                  <a:rPr lang="pt-BR" b="1" dirty="0">
                    <a:solidFill>
                      <a:schemeClr val="accent2"/>
                    </a:solidFill>
                  </a:rPr>
                  <a:t>) por classe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DD8A4E-6FAD-9F48-24F8-EBBD83CDE4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60029" y="1859491"/>
                <a:ext cx="5411621" cy="4998509"/>
              </a:xfrm>
              <a:blipFill>
                <a:blip r:embed="rId5"/>
                <a:stretch>
                  <a:fillRect l="-2027" t="-1951" r="-28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45202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478C6-7197-E66C-805B-12C1C5C16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 para o caso multiclasses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A3077-842E-10B4-83E8-F6B58E093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6113" y="1825625"/>
            <a:ext cx="5617029" cy="4351338"/>
          </a:xfrm>
        </p:spPr>
        <p:txBody>
          <a:bodyPr/>
          <a:lstStyle/>
          <a:p>
            <a:r>
              <a:rPr lang="pt-BR" dirty="0"/>
              <a:t>Para o caso multiclasses, a acurácia é calculada como razão entre a soma de todos os acertos e o total de exemplos (i.e., a soma erros e acertos).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CF716F4-6740-06F0-4F7F-43E81B6588C9}"/>
                  </a:ext>
                </a:extLst>
              </p:cNvPr>
              <p:cNvSpPr txBox="1"/>
              <p:nvPr/>
            </p:nvSpPr>
            <p:spPr>
              <a:xfrm>
                <a:off x="1458685" y="5418979"/>
                <a:ext cx="9274629" cy="1027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pt-BR" sz="3200" i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elementos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diagonal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princial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todos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elementos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CF716F4-6740-06F0-4F7F-43E81B658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8685" y="5418979"/>
                <a:ext cx="9274629" cy="102752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1DB5CB5-58D6-D6F0-CAE4-AE7FAAC84F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364785"/>
              </p:ext>
            </p:extLst>
          </p:nvPr>
        </p:nvGraphicFramePr>
        <p:xfrm>
          <a:off x="2139041" y="2511547"/>
          <a:ext cx="2590803" cy="1817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3601">
                  <a:extLst>
                    <a:ext uri="{9D8B030D-6E8A-4147-A177-3AD203B41FA5}">
                      <a16:colId xmlns:a16="http://schemas.microsoft.com/office/drawing/2014/main" val="3867026763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val="2035180929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val="1096411002"/>
                    </a:ext>
                  </a:extLst>
                </a:gridCol>
              </a:tblGrid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2607757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Acerto</a:t>
                      </a:r>
                      <a:endParaRPr 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3955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300212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FB9EF39-B90C-8E8A-FAA1-894F1357DF08}"/>
              </a:ext>
            </a:extLst>
          </p:cNvPr>
          <p:cNvSpPr txBox="1"/>
          <p:nvPr/>
        </p:nvSpPr>
        <p:spPr>
          <a:xfrm>
            <a:off x="2416628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98951F-EC06-3600-8596-2C37C9D3F470}"/>
              </a:ext>
            </a:extLst>
          </p:cNvPr>
          <p:cNvSpPr txBox="1"/>
          <p:nvPr/>
        </p:nvSpPr>
        <p:spPr>
          <a:xfrm>
            <a:off x="3271550" y="4328578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A648ED-ACCF-A0E8-A7FF-A93266861237}"/>
              </a:ext>
            </a:extLst>
          </p:cNvPr>
          <p:cNvSpPr txBox="1"/>
          <p:nvPr/>
        </p:nvSpPr>
        <p:spPr>
          <a:xfrm>
            <a:off x="4152897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24060A-F1D6-9DB5-76BA-3A64C1CCFBA2}"/>
              </a:ext>
            </a:extLst>
          </p:cNvPr>
          <p:cNvSpPr txBox="1"/>
          <p:nvPr/>
        </p:nvSpPr>
        <p:spPr>
          <a:xfrm>
            <a:off x="1837355" y="2569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4D6480-6017-F7EF-CBF8-45BE5E5980C6}"/>
              </a:ext>
            </a:extLst>
          </p:cNvPr>
          <p:cNvSpPr txBox="1"/>
          <p:nvPr/>
        </p:nvSpPr>
        <p:spPr>
          <a:xfrm>
            <a:off x="1837355" y="3235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EA34B0-3C80-7E6E-DB17-529180947558}"/>
              </a:ext>
            </a:extLst>
          </p:cNvPr>
          <p:cNvSpPr txBox="1"/>
          <p:nvPr/>
        </p:nvSpPr>
        <p:spPr>
          <a:xfrm>
            <a:off x="1837355" y="37994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>
                <a:off x="2841940" y="1960229"/>
                <a:ext cx="118500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=3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940" y="1960229"/>
                <a:ext cx="1185004" cy="523220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39365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99DC6-5E81-1EFB-D850-9CA5951E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2082459"/>
            <a:ext cx="5050971" cy="32439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200" dirty="0"/>
              <a:t>Não precisamos calcular nenhuma dessas métricas manualmente.</a:t>
            </a:r>
          </a:p>
          <a:p>
            <a:pPr marL="0" indent="0" algn="ctr">
              <a:buNone/>
            </a:pPr>
            <a:endParaRPr lang="pt-BR" sz="3200" dirty="0"/>
          </a:p>
          <a:p>
            <a:pPr marL="0" indent="0" algn="ctr">
              <a:buNone/>
            </a:pPr>
            <a:r>
              <a:rPr lang="pt-BR" sz="3200" dirty="0"/>
              <a:t>Existem funções prontas para isso.</a:t>
            </a:r>
            <a:endParaRPr lang="en-US" sz="3200" dirty="0"/>
          </a:p>
        </p:txBody>
      </p:sp>
      <p:pic>
        <p:nvPicPr>
          <p:cNvPr id="1026" name="Picture 2" descr="7 razões pelas quais você não deve se desesperar com a vigência imediata da  LGPD">
            <a:extLst>
              <a:ext uri="{FF2B5EF4-FFF2-40B4-BE49-F238E27FC236}">
                <a16:creationId xmlns:a16="http://schemas.microsoft.com/office/drawing/2014/main" id="{3834F76E-882E-CE2E-2975-876D4AFD7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1483405"/>
            <a:ext cx="5754885" cy="444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63610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57898" cy="4351338"/>
          </a:xfrm>
        </p:spPr>
        <p:txBody>
          <a:bodyPr/>
          <a:lstStyle/>
          <a:p>
            <a:r>
              <a:rPr lang="pt-BR" dirty="0">
                <a:hlinkClick r:id="rId3"/>
              </a:rPr>
              <a:t>Exemplo: Métricas de classificação</a:t>
            </a:r>
            <a:endParaRPr lang="pt-BR" dirty="0"/>
          </a:p>
        </p:txBody>
      </p:sp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3952" y="3317393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7085609" y="2896205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1729838" y="3317393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3700195" y="3685597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6388968" y="3682923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8059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#8 – </a:t>
            </a:r>
            <a:r>
              <a:rPr lang="en-US" dirty="0" err="1">
                <a:hlinkClick r:id="rId2"/>
              </a:rPr>
              <a:t>Métricas</a:t>
            </a:r>
            <a:r>
              <a:rPr lang="en-US" dirty="0">
                <a:hlinkClick r:id="rId2"/>
              </a:rPr>
              <a:t> de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5346110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9946767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8208</TotalTime>
  <Words>2987</Words>
  <Application>Microsoft Office PowerPoint</Application>
  <PresentationFormat>Widescreen</PresentationFormat>
  <Paragraphs>307</Paragraphs>
  <Slides>32</Slides>
  <Notes>11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32</vt:i4>
      </vt:variant>
    </vt:vector>
  </HeadingPairs>
  <TitlesOfParts>
    <vt:vector size="38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Métricas de classificação</vt:lpstr>
      <vt:lpstr>O que vamos ver?</vt:lpstr>
      <vt:lpstr>Matriz de confusão</vt:lpstr>
      <vt:lpstr>Matriz de confusão</vt:lpstr>
      <vt:lpstr>Matriz de confusão</vt:lpstr>
      <vt:lpstr>Matriz de confusão</vt:lpstr>
      <vt:lpstr>Matriz de confusão</vt:lpstr>
      <vt:lpstr>Matriz de confusão para caso binário (Q=2)</vt:lpstr>
      <vt:lpstr>Matriz de confusão para caso binário (Q=2)</vt:lpstr>
      <vt:lpstr>Apresentação do PowerPoint</vt:lpstr>
      <vt:lpstr>Acurácia</vt:lpstr>
      <vt:lpstr>Acurácia</vt:lpstr>
      <vt:lpstr>Acurácia</vt:lpstr>
      <vt:lpstr>Apresentação do PowerPoint</vt:lpstr>
      <vt:lpstr>Precisão</vt:lpstr>
      <vt:lpstr>Precisão</vt:lpstr>
      <vt:lpstr>Recall</vt:lpstr>
      <vt:lpstr>Recall</vt:lpstr>
      <vt:lpstr>Precisão versus recall</vt:lpstr>
      <vt:lpstr>F1-score</vt:lpstr>
      <vt:lpstr>Apresentação do PowerPoint</vt:lpstr>
      <vt:lpstr>Matriz de confusão para caso multiclasses (Q&gt;2)</vt:lpstr>
      <vt:lpstr>Um-Contra-o-Resto</vt:lpstr>
      <vt:lpstr>Matriz de confusão para Q=3</vt:lpstr>
      <vt:lpstr>Matriz de confusão para Q=3</vt:lpstr>
      <vt:lpstr>Matriz de confusão para Q=3</vt:lpstr>
      <vt:lpstr>Acurácia para o caso multiclasses</vt:lpstr>
      <vt:lpstr>Apresentação do PowerPoint</vt:lpstr>
      <vt:lpstr>Exemplo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1809</cp:revision>
  <dcterms:created xsi:type="dcterms:W3CDTF">2020-01-20T13:50:05Z</dcterms:created>
  <dcterms:modified xsi:type="dcterms:W3CDTF">2026-09-14T19:55:58Z</dcterms:modified>
</cp:coreProperties>
</file>