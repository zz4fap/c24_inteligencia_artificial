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316" r:id="rId3"/>
    <p:sldId id="344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464" r:id="rId15"/>
    <p:sldId id="327" r:id="rId16"/>
    <p:sldId id="458" r:id="rId17"/>
    <p:sldId id="328" r:id="rId18"/>
    <p:sldId id="459" r:id="rId19"/>
    <p:sldId id="465" r:id="rId20"/>
    <p:sldId id="332" r:id="rId21"/>
    <p:sldId id="333" r:id="rId22"/>
    <p:sldId id="329" r:id="rId23"/>
    <p:sldId id="330" r:id="rId24"/>
    <p:sldId id="381" r:id="rId25"/>
    <p:sldId id="460" r:id="rId26"/>
    <p:sldId id="331" r:id="rId27"/>
    <p:sldId id="463" r:id="rId28"/>
    <p:sldId id="462" r:id="rId29"/>
    <p:sldId id="461" r:id="rId30"/>
    <p:sldId id="334" r:id="rId31"/>
    <p:sldId id="457" r:id="rId32"/>
    <p:sldId id="336" r:id="rId33"/>
    <p:sldId id="337" r:id="rId34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8" autoAdjust="0"/>
    <p:restoredTop sz="91041" autoAdjust="0"/>
  </p:normalViewPr>
  <p:slideViewPr>
    <p:cSldViewPr snapToGrid="0">
      <p:cViewPr varScale="1">
        <p:scale>
          <a:sx n="67" d="100"/>
          <a:sy n="67" d="100"/>
        </p:scale>
        <p:origin x="1020" y="60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14/09/2026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62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</a:t>
            </a:r>
            <a:r>
              <a:rPr lang="pt-BR" sz="1200" dirty="0"/>
              <a:t>u seja, </a:t>
            </a:r>
            <a:r>
              <a:rPr lang="pt-BR" sz="1200" b="1" i="1" dirty="0"/>
              <a:t>rotulando incorretamente</a:t>
            </a:r>
            <a:r>
              <a:rPr lang="pt-BR" sz="1200" dirty="0"/>
              <a:t> os exemplos.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4595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Uma matriz de confusão, também conhecida como tabela de contingência ou matriz de erros, é um layout de tabela específico que permite a visualização do desempenho de um classificador.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Cada linha da matriz representa os</a:t>
            </a:r>
            <a:r>
              <a:rPr lang="pt-BR" baseline="0" dirty="0"/>
              <a:t> exemplos que foram classificados como pertencentes a uma dada </a:t>
            </a:r>
            <a:r>
              <a:rPr lang="pt-BR" dirty="0"/>
              <a:t>classe, enquanto cada coluna representa os exemplos</a:t>
            </a:r>
            <a:r>
              <a:rPr lang="pt-BR" baseline="0" dirty="0"/>
              <a:t> realmente pertencentes a </a:t>
            </a:r>
            <a:r>
              <a:rPr lang="pt-BR" dirty="0"/>
              <a:t>uma dada classe.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nome, matriz de confusão, deriva do fato de tornar fácil verificar se o classificador está confundindo classes (ou seja, geralmente rotulando incorretamente uma como a outra).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032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Uma matriz de confusão, também conhecida como tabela de contingência ou matriz de erros, é um layout de tabela específico que permite a visualização do desempenho de um classificador.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Cada linha da matriz representa os</a:t>
            </a:r>
            <a:r>
              <a:rPr lang="pt-BR" baseline="0" dirty="0"/>
              <a:t> exemplos que foram classificados como pertencentes a uma dada </a:t>
            </a:r>
            <a:r>
              <a:rPr lang="pt-BR" dirty="0"/>
              <a:t>classe, enquanto cada coluna representa os exemplos</a:t>
            </a:r>
            <a:r>
              <a:rPr lang="pt-BR" baseline="0" dirty="0"/>
              <a:t> realmente pertencentes a </a:t>
            </a:r>
            <a:r>
              <a:rPr lang="pt-BR" dirty="0"/>
              <a:t>uma dada classe.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nome, matriz de confusão, deriva do fato de tornar fácil verificar se o classificador está confundindo classes (ou seja, geralmente rotulando incorretamente uma como a outra).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679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1040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acurácia é uma métrica de avaliação comumente usada no contexto de classificação de modelos de aprendizado de máquina. Ela mede a proporção de exemplos classificados corretamente em relação ao total de exemplos avaliados. Em outras palavras, a acurácia fornece uma indicação de quão bem o modelo está fazendo suas previsões corretas em comparação com todas as previsões feitas.</a:t>
            </a:r>
          </a:p>
          <a:p>
            <a:endParaRPr lang="pt-BR" dirty="0"/>
          </a:p>
          <a:p>
            <a:r>
              <a:rPr lang="pt-BR" dirty="0"/>
              <a:t>A fórmula básica da acurácia é a seguinte:</a:t>
            </a:r>
          </a:p>
          <a:p>
            <a:endParaRPr lang="pt-BR" dirty="0"/>
          </a:p>
          <a:p>
            <a:r>
              <a:rPr lang="pt-BR" dirty="0"/>
              <a:t>\[ \</a:t>
            </a:r>
            <a:r>
              <a:rPr lang="pt-BR" dirty="0" err="1"/>
              <a:t>text</a:t>
            </a:r>
            <a:r>
              <a:rPr lang="pt-BR" dirty="0"/>
              <a:t>{Acurácia} = \</a:t>
            </a:r>
            <a:r>
              <a:rPr lang="pt-BR" dirty="0" err="1"/>
              <a:t>frac</a:t>
            </a:r>
            <a:r>
              <a:rPr lang="pt-BR" dirty="0"/>
              <a:t>{\</a:t>
            </a:r>
            <a:r>
              <a:rPr lang="pt-BR" dirty="0" err="1"/>
              <a:t>text</a:t>
            </a:r>
            <a:r>
              <a:rPr lang="pt-BR" dirty="0"/>
              <a:t>{Número de previsões corretas}}{\</a:t>
            </a:r>
            <a:r>
              <a:rPr lang="pt-BR" dirty="0" err="1"/>
              <a:t>text</a:t>
            </a:r>
            <a:r>
              <a:rPr lang="pt-BR" dirty="0"/>
              <a:t>{Total de exemplos}} \]</a:t>
            </a:r>
          </a:p>
          <a:p>
            <a:endParaRPr lang="pt-BR" dirty="0"/>
          </a:p>
          <a:p>
            <a:r>
              <a:rPr lang="pt-BR" dirty="0"/>
              <a:t>Por exemplo, se um modelo classificar corretamente 85 amostras de um total de 100, a acurácia seria \( \</a:t>
            </a:r>
            <a:r>
              <a:rPr lang="pt-BR" dirty="0" err="1"/>
              <a:t>frac</a:t>
            </a:r>
            <a:r>
              <a:rPr lang="pt-BR" dirty="0"/>
              <a:t>{85}{100} = 0.85 \), ou seja, 85%.</a:t>
            </a:r>
          </a:p>
          <a:p>
            <a:endParaRPr lang="pt-BR" dirty="0"/>
          </a:p>
          <a:p>
            <a:r>
              <a:rPr lang="pt-BR" dirty="0"/>
              <a:t>Apesar de ser uma métrica útil para avaliar a performance geral de um modelo, a acurácia pode ser enganosa em alguns cenários, especialmente quando os dados estão desbalanceados (quando uma classe é mais comum que a outra) ou quando os custos de falsos positivos e falsos negativos não são iguais. Portanto, em casos mais complexos, é importante considerar outras métricas, como precisão, recall, F1-score, entre outras, para ter uma visão mais completa do desempenho do modelo.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3745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acurácia é uma métrica simples e fácil de interpretar, mas ela pode ser enganosa em alguns casos. Por exemplo, se os custos de falsos positivos e falsos negativos não são iguais, a acurácia pode não refletir o desempenho real do modelo.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exemplo, considere um modelo de classificação que é usado para diagnosticar uma doença grave. Se o modelo classificar um paciente saudável como doente, isso pode levar a um tratamento desnecessário e caro. Nesse caso, um falso positivo é mais prejudicial do que um falso negativo.</a:t>
            </a:r>
          </a:p>
          <a:p>
            <a:endParaRPr lang="pt-BR" dirty="0"/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entanto, a acurácia não leva em consideração os custos associados aos erros de classificação, ou seja, não diferencia entre falsos positivos (quando o modelo prevê que algo acontecerá, mas na verdade não acontece) e falsos negativos (quando o modelo não prevê algo que acontece). Em muitos cenários do mundo real, os custos de falsos positivos e falsos negativos podem ser muito diferentes.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exemplo, em um sistema de detecção de fraudes em transações financeiras, um falso positivo (classificar uma transação legítima como fraude) pode causar inconveniência para o cliente, enquanto um falso negativo (não detectar uma transação fraudulenta) pode resultar em perdas significativas para a empresa. Nesse caso, os custos de falsos negativos são muito maiores do que os de falsos positivos. A acurácia não levaria em consideração essa diferença de custos.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418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acurácia pode tender à 1 (100%) </a:t>
            </a:r>
            <a:r>
              <a:rPr lang="en-US" dirty="0" err="1"/>
              <a:t>mesmo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esteja</a:t>
            </a:r>
            <a:r>
              <a:rPr lang="en-US" dirty="0"/>
              <a:t> tendo um </a:t>
            </a:r>
            <a:r>
              <a:rPr lang="en-US" dirty="0" err="1"/>
              <a:t>desempenho</a:t>
            </a:r>
            <a:r>
              <a:rPr lang="en-US" dirty="0"/>
              <a:t> </a:t>
            </a:r>
            <a:r>
              <a:rPr lang="en-US" dirty="0" err="1"/>
              <a:t>ruim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identificação</a:t>
            </a:r>
            <a:r>
              <a:rPr lang="en-US" dirty="0"/>
              <a:t> da </a:t>
            </a:r>
            <a:r>
              <a:rPr lang="en-US" dirty="0" err="1"/>
              <a:t>classe</a:t>
            </a:r>
            <a:r>
              <a:rPr lang="en-US" dirty="0"/>
              <a:t> </a:t>
            </a:r>
            <a:r>
              <a:rPr lang="en-US" dirty="0" err="1"/>
              <a:t>negativa</a:t>
            </a:r>
            <a:r>
              <a:rPr lang="en-US" dirty="0"/>
              <a:t>.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acurácia é uma métrica simples e fácil de interpretar, mas ela pode ser enganosa em alguns casos. Por exemplo, se os custos de falsos positivos e falsos negativos não são iguais, a acurácia pode não refletir o desempenho real do modelo.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exemplo, considere um modelo de classificação que é usado para diagnosticar uma doença grave. Se o modelo classificar um paciente saudável como doente, isso pode levar a um tratamento desnecessário e caro. Nesse caso, um falso positivo é mais prejudicial do que um falso negativo.</a:t>
            </a:r>
          </a:p>
          <a:p>
            <a:endParaRPr lang="pt-BR" dirty="0"/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entanto, a acurácia não leva em consideração os custos associados aos erros de classificação, ou seja, não diferencia entre falsos positivos (quando o modelo prevê que algo acontecerá, mas na verdade não acontece) e falsos negativos (quando o modelo não prevê algo que acontece). Em muitos cenários do mundo real, os custos de falsos positivos e falsos negativos podem ser muito diferentes.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exemplo, em um sistema de detecção de fraudes em transações financeiras, um falso positivo (classificar uma transação legítima como fraude) pode causar inconveniência para o cliente, enquanto um falso negativo (não detectar uma transação fraudulenta) pode resultar em perdas significativas para a empresa. Nesse caso, os custos de falsos negativos são muito maiores do que os de falsos positivos. A acurácia não levaria em consideração essa diferença de custos.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303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tudo</a:t>
            </a:r>
            <a:r>
              <a:rPr lang="en-US" dirty="0"/>
              <a:t> </a:t>
            </a:r>
            <a:r>
              <a:rPr lang="en-US" dirty="0" err="1"/>
              <a:t>aquilo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o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classificou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positivo</a:t>
            </a:r>
            <a:r>
              <a:rPr lang="en-US" dirty="0"/>
              <a:t>, o </a:t>
            </a:r>
            <a:r>
              <a:rPr lang="en-US" dirty="0" err="1"/>
              <a:t>quanto</a:t>
            </a:r>
            <a:r>
              <a:rPr lang="en-US" dirty="0"/>
              <a:t> é </a:t>
            </a:r>
            <a:r>
              <a:rPr lang="en-US" dirty="0" err="1"/>
              <a:t>realmente</a:t>
            </a:r>
            <a:r>
              <a:rPr lang="en-US" dirty="0"/>
              <a:t> </a:t>
            </a:r>
            <a:r>
              <a:rPr lang="en-US" dirty="0" err="1"/>
              <a:t>positivo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Precisão</a:t>
            </a:r>
            <a:r>
              <a:rPr lang="en-US" dirty="0"/>
              <a:t> </a:t>
            </a:r>
            <a:r>
              <a:rPr lang="en-US" dirty="0" err="1"/>
              <a:t>mede</a:t>
            </a:r>
            <a:r>
              <a:rPr lang="en-US" dirty="0"/>
              <a:t> a </a:t>
            </a:r>
            <a:r>
              <a:rPr lang="en-US" dirty="0" err="1"/>
              <a:t>confiabilidade</a:t>
            </a:r>
            <a:r>
              <a:rPr lang="en-US" dirty="0"/>
              <a:t> das </a:t>
            </a:r>
            <a:r>
              <a:rPr lang="en-US" dirty="0" err="1"/>
              <a:t>previsões</a:t>
            </a:r>
            <a:r>
              <a:rPr lang="en-US" dirty="0"/>
              <a:t> </a:t>
            </a:r>
            <a:r>
              <a:rPr lang="en-US" dirty="0" err="1"/>
              <a:t>positivas</a:t>
            </a:r>
            <a:r>
              <a:rPr lang="en-US" dirty="0"/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7709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https://colab.research.google.com/github/zz4fap/c24_inteligencia_artificial/blob/master/notebooks/m%C3%A9tricas_de_classifica%C3%A7%C3%A3o.ipynb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281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elipe.figueiredo@Inatel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../media/image33.png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../media/image25.png"/><Relationship Id="rId19" Type="http://schemas.openxmlformats.org/officeDocument/2006/relationships/image" Target="../media/image26.png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0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2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37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c24_inteligencia_artificial/blob/master/notebooks/m%C3%A9tricas_de_classifica%C3%A7%C3%A3o.ipynb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jpe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zz4fap/c24_inteligencia_artificial/blob/main/listas/Lista%208%20-%20M%C3%A9tricas%20de%20classifica%C3%A7%C3%A3o.pdf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A. P. de Figueiredo</a:t>
            </a:r>
          </a:p>
          <a:p>
            <a:r>
              <a:rPr lang="pt-BR" dirty="0">
                <a:hlinkClick r:id="rId3"/>
              </a:rPr>
              <a:t>felipe.figueiredo@Inatel.br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xmlns="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67" y="836433"/>
            <a:ext cx="10906298" cy="2690156"/>
          </a:xfrm>
        </p:spPr>
        <p:txBody>
          <a:bodyPr anchor="ctr">
            <a:noAutofit/>
          </a:bodyPr>
          <a:lstStyle/>
          <a:p>
            <a:r>
              <a:rPr lang="pt-BR" sz="6600" dirty="0"/>
              <a:t>C24 – Inteligência Artificial:</a:t>
            </a:r>
            <a:r>
              <a:rPr lang="pt-BR" sz="7200" dirty="0"/>
              <a:t/>
            </a:r>
            <a:br>
              <a:rPr lang="pt-BR" sz="7200" dirty="0"/>
            </a:br>
            <a:r>
              <a:rPr lang="pt-BR" sz="7200" b="1" i="1" dirty="0"/>
              <a:t>Métricas de classificação</a:t>
            </a:r>
          </a:p>
        </p:txBody>
      </p:sp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ECB3FED-5D1A-7084-5333-A3B2FA75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vamos ver?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5FE7774-7186-A846-D8DE-518B2CBF4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90514" cy="5032376"/>
          </a:xfrm>
        </p:spPr>
        <p:txBody>
          <a:bodyPr>
            <a:normAutofit/>
          </a:bodyPr>
          <a:lstStyle/>
          <a:p>
            <a:r>
              <a:rPr lang="pt-BR" dirty="0"/>
              <a:t>Anteriormente, para analisar o desempenho de um classificador, usamos apenas a acurácia. </a:t>
            </a:r>
          </a:p>
          <a:p>
            <a:r>
              <a:rPr lang="pt-BR" dirty="0"/>
              <a:t>Porém, existem outras métricas que podem ser usadas para se medir a qualidade de um classificador.</a:t>
            </a:r>
          </a:p>
          <a:p>
            <a:r>
              <a:rPr lang="pt-BR" dirty="0"/>
              <a:t>Portanto, neste tópico, veremos algumas outras métricas.</a:t>
            </a:r>
          </a:p>
        </p:txBody>
      </p:sp>
    </p:spTree>
    <p:extLst>
      <p:ext uri="{BB962C8B-B14F-4D97-AF65-F5344CB8AC3E}">
        <p14:creationId xmlns:p14="http://schemas.microsoft.com/office/powerpoint/2010/main" val="2177516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1CB30D0-D052-EC03-3C25-35C106AA1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</a:t>
            </a:r>
            <a:endParaRPr lang="en-US" dirty="0"/>
          </a:p>
        </p:txBody>
      </p:sp>
      <p:pic>
        <p:nvPicPr>
          <p:cNvPr id="2050" name="Picture 2" descr="Validate me Constructive criticism permitted – @gallusrostromegalus on  Tumblr">
            <a:extLst>
              <a:ext uri="{FF2B5EF4-FFF2-40B4-BE49-F238E27FC236}">
                <a16:creationId xmlns:a16="http://schemas.microsoft.com/office/drawing/2014/main" xmlns="" id="{A9C68C0F-3A42-8D60-0B8A-979695E40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30" y="1556497"/>
            <a:ext cx="5635002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5998028" y="2708302"/>
            <a:ext cx="596537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Como o próprio nome diz, a </a:t>
            </a:r>
            <a:r>
              <a:rPr lang="pt-BR" sz="2800" b="1" dirty="0"/>
              <a:t>matriz de confusão </a:t>
            </a:r>
            <a:r>
              <a:rPr lang="pt-BR" sz="2800" dirty="0"/>
              <a:t>mostra o </a:t>
            </a:r>
            <a:r>
              <a:rPr lang="pt-BR" sz="2800" b="1" dirty="0">
                <a:solidFill>
                  <a:schemeClr val="accent2"/>
                </a:solidFill>
              </a:rPr>
              <a:t>quanto</a:t>
            </a:r>
            <a:r>
              <a:rPr lang="pt-BR" sz="2800" dirty="0"/>
              <a:t> um classificador está se </a:t>
            </a:r>
            <a:r>
              <a:rPr lang="pt-BR" sz="2800" b="1" dirty="0"/>
              <a:t>confundindo</a:t>
            </a:r>
            <a:r>
              <a:rPr lang="pt-BR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A matriz permite verificar quais classes o </a:t>
            </a:r>
            <a:r>
              <a:rPr lang="pt-BR" sz="2800" b="1" dirty="0"/>
              <a:t>classificador</a:t>
            </a:r>
            <a:r>
              <a:rPr lang="pt-BR" sz="2800" dirty="0"/>
              <a:t> tem </a:t>
            </a:r>
            <a:r>
              <a:rPr lang="pt-BR" sz="2800" b="1" dirty="0">
                <a:solidFill>
                  <a:srgbClr val="00B050"/>
                </a:solidFill>
              </a:rPr>
              <a:t>maior dificuldade em classificar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5253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738E7C4-65BB-5A05-5DF4-FF60F520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40ABD154-3AFD-0036-3D3B-BDE0F6C2A3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33156" y="1825624"/>
                <a:ext cx="6423377" cy="5032375"/>
              </a:xfrm>
            </p:spPr>
            <p:txBody>
              <a:bodyPr>
                <a:normAutofit/>
              </a:bodyPr>
              <a:lstStyle/>
              <a:p>
                <a:r>
                  <a:rPr lang="pt-BR" sz="2800" dirty="0"/>
                  <a:t>A </a:t>
                </a:r>
                <a:r>
                  <a:rPr lang="pt-BR" sz="2800" b="1" dirty="0"/>
                  <a:t>matriz de confusão</a:t>
                </a:r>
                <a:r>
                  <a:rPr lang="pt-BR" sz="2800" dirty="0"/>
                  <a:t> </a:t>
                </a:r>
                <a:r>
                  <a:rPr lang="pt-BR" sz="2800" b="1" dirty="0">
                    <a:solidFill>
                      <a:srgbClr val="00B050"/>
                    </a:solidFill>
                  </a:rPr>
                  <a:t>contabiliza o número de classificações corretas e incorretas </a:t>
                </a:r>
                <a:r>
                  <a:rPr lang="pt-BR" sz="2800" dirty="0"/>
                  <a:t>para cada uma das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pt-B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>classes existentes. </a:t>
                </a:r>
              </a:p>
              <a:p>
                <a:r>
                  <a:rPr lang="pt-BR" dirty="0"/>
                  <a:t>É uma </a:t>
                </a:r>
                <a:r>
                  <a:rPr lang="pt-BR" b="1" dirty="0">
                    <a:solidFill>
                      <a:srgbClr val="00B050"/>
                    </a:solidFill>
                  </a:rPr>
                  <a:t>matriz quadrada </a:t>
                </a:r>
                <a:r>
                  <a:rPr lang="pt-BR" dirty="0"/>
                  <a:t>com dimensões </a:t>
                </a:r>
                <a:r>
                  <a:rPr lang="pt-BR" sz="2800" b="1" i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sup>
                    </m:sSup>
                  </m:oMath>
                </a14:m>
                <a:r>
                  <a:rPr lang="pt-BR" sz="28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0ABD154-3AFD-0036-3D3B-BDE0F6C2A3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33156" y="1825624"/>
                <a:ext cx="6423377" cy="5032375"/>
              </a:xfrm>
              <a:blipFill>
                <a:blip r:embed="rId3"/>
                <a:stretch>
                  <a:fillRect l="-1708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xmlns="" id="{9FE2C07F-02D2-0345-E394-150F01C017C4}"/>
                  </a:ext>
                </a:extLst>
              </p:cNvPr>
              <p:cNvSpPr txBox="1"/>
              <p:nvPr/>
            </p:nvSpPr>
            <p:spPr>
              <a:xfrm>
                <a:off x="293509" y="2680677"/>
                <a:ext cx="4854223" cy="2122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FE2C07F-02D2-0345-E394-150F01C01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09" y="2680677"/>
                <a:ext cx="4854223" cy="21223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8220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738E7C4-65BB-5A05-5DF4-FF60F520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xmlns="" id="{9FE2C07F-02D2-0345-E394-150F01C017C4}"/>
                  </a:ext>
                </a:extLst>
              </p:cNvPr>
              <p:cNvSpPr txBox="1"/>
              <p:nvPr/>
            </p:nvSpPr>
            <p:spPr>
              <a:xfrm>
                <a:off x="4114741" y="2367844"/>
                <a:ext cx="4854223" cy="2122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FE2C07F-02D2-0345-E394-150F01C01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741" y="2367844"/>
                <a:ext cx="4854223" cy="21223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have Direita 3">
            <a:extLst>
              <a:ext uri="{FF2B5EF4-FFF2-40B4-BE49-F238E27FC236}">
                <a16:creationId xmlns:a16="http://schemas.microsoft.com/office/drawing/2014/main" xmlns="" id="{314F6830-34E9-8654-9AF0-D69DE9FAE980}"/>
              </a:ext>
            </a:extLst>
          </p:cNvPr>
          <p:cNvSpPr/>
          <p:nvPr/>
        </p:nvSpPr>
        <p:spPr>
          <a:xfrm rot="16200000" flipH="1">
            <a:off x="6371397" y="2963136"/>
            <a:ext cx="340913" cy="339495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AA46DBC8-FBDE-250B-240D-193F0A609C0C}"/>
              </a:ext>
            </a:extLst>
          </p:cNvPr>
          <p:cNvSpPr txBox="1"/>
          <p:nvPr/>
        </p:nvSpPr>
        <p:spPr>
          <a:xfrm>
            <a:off x="4844376" y="4846951"/>
            <a:ext cx="3394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B050"/>
                </a:solidFill>
              </a:rPr>
              <a:t>Rótulos</a:t>
            </a:r>
            <a:r>
              <a:rPr lang="pt-BR" dirty="0"/>
              <a:t>: classes a que realmente os exemplos pertencem</a:t>
            </a:r>
          </a:p>
        </p:txBody>
      </p:sp>
      <p:sp>
        <p:nvSpPr>
          <p:cNvPr id="7" name="Chave Direita 6">
            <a:extLst>
              <a:ext uri="{FF2B5EF4-FFF2-40B4-BE49-F238E27FC236}">
                <a16:creationId xmlns:a16="http://schemas.microsoft.com/office/drawing/2014/main" xmlns="" id="{E94D5995-3604-C1B4-B485-9B393568D39B}"/>
              </a:ext>
            </a:extLst>
          </p:cNvPr>
          <p:cNvSpPr/>
          <p:nvPr/>
        </p:nvSpPr>
        <p:spPr>
          <a:xfrm flipH="1">
            <a:off x="4172678" y="2509734"/>
            <a:ext cx="340913" cy="18385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AF3B44CB-FB5A-9774-1C6B-808D8FC9AA1C}"/>
              </a:ext>
            </a:extLst>
          </p:cNvPr>
          <p:cNvSpPr txBox="1"/>
          <p:nvPr/>
        </p:nvSpPr>
        <p:spPr>
          <a:xfrm>
            <a:off x="1381327" y="3105832"/>
            <a:ext cx="2733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B050"/>
                </a:solidFill>
              </a:rPr>
              <a:t>Predições</a:t>
            </a:r>
            <a:r>
              <a:rPr lang="pt-BR" dirty="0"/>
              <a:t>: classes a que os exemplos foram atribuídos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69DC4B7-28AE-3B52-6F26-3A317D0DAC53}"/>
              </a:ext>
            </a:extLst>
          </p:cNvPr>
          <p:cNvSpPr txBox="1"/>
          <p:nvPr/>
        </p:nvSpPr>
        <p:spPr>
          <a:xfrm>
            <a:off x="0" y="6612468"/>
            <a:ext cx="59554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*</a:t>
            </a:r>
            <a:r>
              <a:rPr lang="pt-BR" sz="1100" b="1" dirty="0"/>
              <a:t>OBS</a:t>
            </a:r>
            <a:r>
              <a:rPr lang="pt-BR" sz="1100" dirty="0"/>
              <a:t>.: Em geral se apresenta a matriz desta forma, mas ela pode ser encontrada transposta também.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80594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738E7C4-65BB-5A05-5DF4-FF60F520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40ABD154-3AFD-0036-3D3B-BDE0F6C2A3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33156" y="1825624"/>
                <a:ext cx="6428215" cy="5032375"/>
              </a:xfrm>
            </p:spPr>
            <p:txBody>
              <a:bodyPr>
                <a:normAutofit/>
              </a:bodyPr>
              <a:lstStyle/>
              <a:p>
                <a:r>
                  <a:rPr lang="pt-BR" sz="2800" dirty="0"/>
                  <a:t>A </a:t>
                </a:r>
                <a:r>
                  <a:rPr lang="pt-BR" sz="2800" b="1" dirty="0">
                    <a:solidFill>
                      <a:srgbClr val="00B050"/>
                    </a:solidFill>
                  </a:rPr>
                  <a:t>diagonal principal </a:t>
                </a:r>
                <a:r>
                  <a:rPr lang="pt-BR" sz="2800" dirty="0"/>
                  <a:t>fornece o número de </a:t>
                </a:r>
                <a:r>
                  <a:rPr lang="pt-BR" sz="2800" b="1" dirty="0">
                    <a:solidFill>
                      <a:srgbClr val="00B050"/>
                    </a:solidFill>
                  </a:rPr>
                  <a:t>classificações corretas</a:t>
                </a:r>
                <a:r>
                  <a:rPr lang="pt-BR" sz="2800" dirty="0"/>
                  <a:t>.</a:t>
                </a:r>
              </a:p>
              <a:p>
                <a:r>
                  <a:rPr lang="pt-BR" sz="2800" dirty="0"/>
                  <a:t>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sz="2800" dirty="0"/>
                  <a:t>-</a:t>
                </a:r>
                <a:r>
                  <a:rPr lang="pt-BR" sz="2800" dirty="0" err="1"/>
                  <a:t>ésima</a:t>
                </a:r>
                <a:r>
                  <a:rPr lang="pt-BR" sz="2800" dirty="0"/>
                  <a:t> </a:t>
                </a:r>
                <a:r>
                  <a:rPr lang="pt-BR" sz="2800" b="1" dirty="0">
                    <a:solidFill>
                      <a:srgbClr val="7030A0"/>
                    </a:solidFill>
                  </a:rPr>
                  <a:t>linha</a:t>
                </a:r>
                <a:r>
                  <a:rPr lang="pt-BR" sz="2800" dirty="0"/>
                  <a:t> indica o </a:t>
                </a:r>
                <a:r>
                  <a:rPr lang="pt-BR" sz="2800" b="1" dirty="0">
                    <a:solidFill>
                      <a:srgbClr val="00B050"/>
                    </a:solidFill>
                  </a:rPr>
                  <a:t>total de exemplos que foram classificados como pertencentes à </a:t>
                </a:r>
                <a14:m>
                  <m:oMath xmlns:m="http://schemas.openxmlformats.org/officeDocument/2006/math">
                    <m:r>
                      <a:rPr lang="pt-BR" sz="28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pt-BR" sz="2800" b="1" dirty="0">
                    <a:solidFill>
                      <a:srgbClr val="00B050"/>
                    </a:solidFill>
                  </a:rPr>
                  <a:t>-</a:t>
                </a:r>
                <a:r>
                  <a:rPr lang="pt-BR" sz="2800" b="1" dirty="0" err="1">
                    <a:solidFill>
                      <a:srgbClr val="00B050"/>
                    </a:solidFill>
                  </a:rPr>
                  <a:t>ésima</a:t>
                </a:r>
                <a:r>
                  <a:rPr lang="pt-BR" sz="2800" b="1" dirty="0">
                    <a:solidFill>
                      <a:srgbClr val="00B050"/>
                    </a:solidFill>
                  </a:rPr>
                  <a:t> classe</a:t>
                </a:r>
                <a:r>
                  <a:rPr lang="pt-BR" sz="2800" dirty="0"/>
                  <a:t>, incluindo exemplos que pertencem e não pertencem à classe.</a:t>
                </a:r>
              </a:p>
              <a:p>
                <a:r>
                  <a:rPr lang="pt-BR" sz="2800" dirty="0"/>
                  <a:t>A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sz="2800" dirty="0"/>
                  <a:t>-</a:t>
                </a:r>
                <a:r>
                  <a:rPr lang="pt-BR" sz="2800" dirty="0" err="1"/>
                  <a:t>ésima</a:t>
                </a:r>
                <a:r>
                  <a:rPr lang="pt-BR" sz="2800" dirty="0"/>
                  <a:t> </a:t>
                </a:r>
                <a:r>
                  <a:rPr lang="pt-BR" sz="2800" b="1" dirty="0">
                    <a:solidFill>
                      <a:srgbClr val="7030A0"/>
                    </a:solidFill>
                  </a:rPr>
                  <a:t>coluna</a:t>
                </a:r>
                <a:r>
                  <a:rPr lang="pt-BR" sz="2800" dirty="0"/>
                  <a:t> indica o </a:t>
                </a:r>
                <a:r>
                  <a:rPr lang="pt-BR" sz="2800" b="1" dirty="0">
                    <a:solidFill>
                      <a:srgbClr val="00B050"/>
                    </a:solidFill>
                  </a:rPr>
                  <a:t>total de exemplos que realmente pertencem à </a:t>
                </a:r>
                <a14:m>
                  <m:oMath xmlns:m="http://schemas.openxmlformats.org/officeDocument/2006/math">
                    <m:r>
                      <a:rPr lang="pt-BR" sz="28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pt-BR" sz="2800" b="1" dirty="0">
                    <a:solidFill>
                      <a:srgbClr val="00B050"/>
                    </a:solidFill>
                  </a:rPr>
                  <a:t>-</a:t>
                </a:r>
                <a:r>
                  <a:rPr lang="pt-BR" sz="2800" b="1" dirty="0" err="1">
                    <a:solidFill>
                      <a:srgbClr val="00B050"/>
                    </a:solidFill>
                  </a:rPr>
                  <a:t>ésima</a:t>
                </a:r>
                <a:r>
                  <a:rPr lang="pt-BR" sz="2800" b="1" dirty="0">
                    <a:solidFill>
                      <a:srgbClr val="00B050"/>
                    </a:solidFill>
                  </a:rPr>
                  <a:t> classe</a:t>
                </a:r>
                <a:r>
                  <a:rPr lang="pt-BR" sz="2800" dirty="0"/>
                  <a:t>, incluindo classificações corretas e incorretas. 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0ABD154-3AFD-0036-3D3B-BDE0F6C2A3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33156" y="1825624"/>
                <a:ext cx="6428215" cy="5032375"/>
              </a:xfrm>
              <a:blipFill>
                <a:blip r:embed="rId3"/>
                <a:stretch>
                  <a:fillRect l="-1706" t="-1937" r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xmlns="" id="{9FE2C07F-02D2-0345-E394-150F01C017C4}"/>
                  </a:ext>
                </a:extLst>
              </p:cNvPr>
              <p:cNvSpPr txBox="1"/>
              <p:nvPr/>
            </p:nvSpPr>
            <p:spPr>
              <a:xfrm>
                <a:off x="293509" y="2680677"/>
                <a:ext cx="4854223" cy="2122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FE2C07F-02D2-0345-E394-150F01C01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09" y="2680677"/>
                <a:ext cx="4854223" cy="21223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xmlns="" id="{E3C2398C-FA6E-B604-0A4E-B8DC5CF24EF7}"/>
              </a:ext>
            </a:extLst>
          </p:cNvPr>
          <p:cNvSpPr/>
          <p:nvPr/>
        </p:nvSpPr>
        <p:spPr>
          <a:xfrm>
            <a:off x="1051034" y="2703827"/>
            <a:ext cx="4096698" cy="5262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4BBF1D53-FE8C-A737-118B-224A249F0F55}"/>
              </a:ext>
            </a:extLst>
          </p:cNvPr>
          <p:cNvSpPr/>
          <p:nvPr/>
        </p:nvSpPr>
        <p:spPr>
          <a:xfrm rot="5400000">
            <a:off x="559069" y="3357278"/>
            <a:ext cx="2251700" cy="79225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037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738E7C4-65BB-5A05-5DF4-FF60F520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de confusão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xmlns="" id="{9FE2C07F-02D2-0345-E394-150F01C017C4}"/>
                  </a:ext>
                </a:extLst>
              </p:cNvPr>
              <p:cNvSpPr txBox="1"/>
              <p:nvPr/>
            </p:nvSpPr>
            <p:spPr>
              <a:xfrm>
                <a:off x="3036709" y="2098241"/>
                <a:ext cx="4854223" cy="2122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pt-BR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pt-BR" sz="3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32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pt-BR" sz="32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pt-BR" sz="32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r>
                                      <a:rPr lang="pt-BR" sz="32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9FE2C07F-02D2-0345-E394-150F01C01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709" y="2098241"/>
                <a:ext cx="4854223" cy="21223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3">
            <a:extLst>
              <a:ext uri="{FF2B5EF4-FFF2-40B4-BE49-F238E27FC236}">
                <a16:creationId xmlns:a16="http://schemas.microsoft.com/office/drawing/2014/main" xmlns="" id="{E9839706-E14C-629A-7F56-18012BB99C3A}"/>
              </a:ext>
            </a:extLst>
          </p:cNvPr>
          <p:cNvSpPr/>
          <p:nvPr/>
        </p:nvSpPr>
        <p:spPr>
          <a:xfrm>
            <a:off x="3794234" y="2133267"/>
            <a:ext cx="4096698" cy="5262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xmlns="" id="{6279C33D-9270-DC3C-212E-0FD57AC45F7D}"/>
              </a:ext>
            </a:extLst>
          </p:cNvPr>
          <p:cNvSpPr txBox="1"/>
          <p:nvPr/>
        </p:nvSpPr>
        <p:spPr>
          <a:xfrm>
            <a:off x="7894389" y="2061635"/>
            <a:ext cx="34013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Exemplos classificados como pertencentes à classe 1.</a:t>
            </a: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xmlns="" id="{1BD26B11-37BD-057A-7642-8513680C0B09}"/>
              </a:ext>
            </a:extLst>
          </p:cNvPr>
          <p:cNvSpPr/>
          <p:nvPr/>
        </p:nvSpPr>
        <p:spPr>
          <a:xfrm rot="5400000">
            <a:off x="3302270" y="2751123"/>
            <a:ext cx="2251700" cy="79225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xmlns="" id="{0F0FD986-F79E-DA0A-829E-1F5A7437324A}"/>
              </a:ext>
            </a:extLst>
          </p:cNvPr>
          <p:cNvSpPr/>
          <p:nvPr/>
        </p:nvSpPr>
        <p:spPr>
          <a:xfrm>
            <a:off x="7525012" y="2061635"/>
            <a:ext cx="577516" cy="145253"/>
          </a:xfrm>
          <a:custGeom>
            <a:avLst/>
            <a:gdLst>
              <a:gd name="connsiteX0" fmla="*/ 0 w 577516"/>
              <a:gd name="connsiteY0" fmla="*/ 145253 h 145253"/>
              <a:gd name="connsiteX1" fmla="*/ 272716 w 577516"/>
              <a:gd name="connsiteY1" fmla="*/ 874 h 145253"/>
              <a:gd name="connsiteX2" fmla="*/ 577516 w 577516"/>
              <a:gd name="connsiteY2" fmla="*/ 81085 h 145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7516" h="145253">
                <a:moveTo>
                  <a:pt x="0" y="145253"/>
                </a:moveTo>
                <a:cubicBezTo>
                  <a:pt x="88231" y="78411"/>
                  <a:pt x="176463" y="11569"/>
                  <a:pt x="272716" y="874"/>
                </a:cubicBezTo>
                <a:cubicBezTo>
                  <a:pt x="368969" y="-9821"/>
                  <a:pt x="577516" y="81085"/>
                  <a:pt x="577516" y="81085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xmlns="" id="{30228E55-A04A-15F3-F542-24A94935CB8F}"/>
              </a:ext>
            </a:extLst>
          </p:cNvPr>
          <p:cNvSpPr txBox="1"/>
          <p:nvPr/>
        </p:nvSpPr>
        <p:spPr>
          <a:xfrm>
            <a:off x="1260491" y="4416537"/>
            <a:ext cx="39211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Quantidade de exemplos que realmente pertencem à classe 1.</a:t>
            </a: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xmlns="" id="{DE8EF324-A6C8-6014-6A79-6F6CD536E661}"/>
              </a:ext>
            </a:extLst>
          </p:cNvPr>
          <p:cNvSpPr/>
          <p:nvPr/>
        </p:nvSpPr>
        <p:spPr>
          <a:xfrm rot="871324">
            <a:off x="3488790" y="4165589"/>
            <a:ext cx="792260" cy="501897"/>
          </a:xfrm>
          <a:custGeom>
            <a:avLst/>
            <a:gdLst>
              <a:gd name="connsiteX0" fmla="*/ 994610 w 994610"/>
              <a:gd name="connsiteY0" fmla="*/ 0 h 80211"/>
              <a:gd name="connsiteX1" fmla="*/ 0 w 994610"/>
              <a:gd name="connsiteY1" fmla="*/ 80211 h 80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94610" h="80211">
                <a:moveTo>
                  <a:pt x="994610" y="0"/>
                </a:moveTo>
                <a:cubicBezTo>
                  <a:pt x="596231" y="18716"/>
                  <a:pt x="197853" y="37432"/>
                  <a:pt x="0" y="80211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9">
                <a:extLst>
                  <a:ext uri="{FF2B5EF4-FFF2-40B4-BE49-F238E27FC236}">
                    <a16:creationId xmlns:a16="http://schemas.microsoft.com/office/drawing/2014/main" xmlns="" id="{B0A8A935-42A2-46DB-34B6-70E5007CD2FA}"/>
                  </a:ext>
                </a:extLst>
              </p:cNvPr>
              <p:cNvSpPr/>
              <p:nvPr/>
            </p:nvSpPr>
            <p:spPr>
              <a:xfrm>
                <a:off x="838200" y="5506851"/>
                <a:ext cx="1120140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indica quantos exemplos da classe 1 foram corretamente atribuídos à classe 1.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pt-BR" sz="2400" dirty="0"/>
                  <a:t> indica quantos exemplos da classe 2 foram atribuídos à classe 1.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OBS</a:t>
                </a:r>
                <a:r>
                  <a:rPr lang="pt-BR" sz="2400" dirty="0"/>
                  <a:t>.: Algumas versões da matriz apresentam porcentagens ao invés de contagens.</a:t>
                </a:r>
              </a:p>
            </p:txBody>
          </p:sp>
        </mc:Choice>
        <mc:Fallback xmlns="">
          <p:sp>
            <p:nvSpPr>
              <p:cNvPr id="12" name="Rectangle 9">
                <a:extLst>
                  <a:ext uri="{FF2B5EF4-FFF2-40B4-BE49-F238E27FC236}">
                    <a16:creationId xmlns:a16="http://schemas.microsoft.com/office/drawing/2014/main" id="{B0A8A935-42A2-46DB-34B6-70E5007CD2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506851"/>
                <a:ext cx="11201400" cy="1200329"/>
              </a:xfrm>
              <a:prstGeom prst="rect">
                <a:avLst/>
              </a:prstGeom>
              <a:blipFill>
                <a:blip r:embed="rId3"/>
                <a:stretch>
                  <a:fillRect l="-762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679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xmlns="" id="{4EAC8C3E-AFB0-15A1-EDEF-475FA364337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Matriz de confusão para caso binário (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dirty="0"/>
                  <a:t>)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4EAC8C3E-AFB0-15A1-EDEF-475FA36433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 r="-8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6A052458-A5D6-9055-C748-5BFDB00FC7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27171" y="1825624"/>
                <a:ext cx="7064832" cy="5032375"/>
              </a:xfrm>
            </p:spPr>
            <p:txBody>
              <a:bodyPr>
                <a:normAutofit fontScale="92500"/>
              </a:bodyPr>
              <a:lstStyle/>
              <a:p>
                <a:r>
                  <a:rPr lang="pt-BR" b="1" dirty="0"/>
                  <a:t>Matriz com dimensão: 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b="1" dirty="0"/>
                  <a:t>Verdadeiros Positivos </a:t>
                </a:r>
                <a:r>
                  <a:rPr lang="pt-BR" dirty="0"/>
                  <a:t>(TP): número de exemplos da classe positiva,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, classificados corretamente. </a:t>
                </a:r>
              </a:p>
              <a:p>
                <a:r>
                  <a:rPr lang="pt-BR" b="1" dirty="0"/>
                  <a:t>Verdadeiros Negativos</a:t>
                </a:r>
                <a:r>
                  <a:rPr lang="pt-BR" dirty="0"/>
                  <a:t> (TN): número de exemplos da classe negativa,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, classificados corretamente.</a:t>
                </a:r>
              </a:p>
              <a:p>
                <a:r>
                  <a:rPr lang="pt-BR" b="1" dirty="0"/>
                  <a:t>Falsos Positivos </a:t>
                </a:r>
                <a:r>
                  <a:rPr lang="pt-BR" dirty="0"/>
                  <a:t>(FP): número de exemplos atribuídos à classe positiva, mas que pertencem à classe negativa.</a:t>
                </a:r>
              </a:p>
              <a:p>
                <a:r>
                  <a:rPr lang="pt-BR" b="1" dirty="0"/>
                  <a:t>Falsos Negativos</a:t>
                </a:r>
                <a:r>
                  <a:rPr lang="pt-BR" dirty="0"/>
                  <a:t> (FN): número de exemplos atribuídos à classe negativa, mas que pertencem à classe positiva.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A052458-A5D6-9055-C748-5BFDB00FC7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27171" y="1825624"/>
                <a:ext cx="7064832" cy="5032375"/>
              </a:xfrm>
              <a:blipFill>
                <a:blip r:embed="rId4"/>
                <a:stretch>
                  <a:fillRect l="-1294" t="-1816" r="-2502" b="-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xmlns="" id="{744D7738-C774-F8D0-DD85-76976F9C0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361054"/>
              </p:ext>
            </p:extLst>
          </p:nvPr>
        </p:nvGraphicFramePr>
        <p:xfrm>
          <a:off x="1313262" y="3107994"/>
          <a:ext cx="3563538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1769">
                  <a:extLst>
                    <a:ext uri="{9D8B030D-6E8A-4147-A177-3AD203B41FA5}">
                      <a16:colId xmlns:a16="http://schemas.microsoft.com/office/drawing/2014/main" xmlns="" val="2780398905"/>
                    </a:ext>
                  </a:extLst>
                </a:gridCol>
                <a:gridCol w="1781769">
                  <a:extLst>
                    <a:ext uri="{9D8B030D-6E8A-4147-A177-3AD203B41FA5}">
                      <a16:colId xmlns:a16="http://schemas.microsoft.com/office/drawing/2014/main" xmlns="" val="17525422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1" dirty="0">
                          <a:solidFill>
                            <a:srgbClr val="FF0000"/>
                          </a:solidFill>
                          <a:effectLst/>
                        </a:rPr>
                        <a:t>Verdadeiros </a:t>
                      </a:r>
                      <a:br>
                        <a:rPr lang="pt-BR" sz="2000" b="1" dirty="0">
                          <a:solidFill>
                            <a:srgbClr val="FF0000"/>
                          </a:solidFill>
                          <a:effectLst/>
                        </a:rPr>
                      </a:br>
                      <a:r>
                        <a:rPr lang="pt-BR" sz="2000" b="1" dirty="0">
                          <a:solidFill>
                            <a:srgbClr val="FF0000"/>
                          </a:solidFill>
                          <a:effectLst/>
                        </a:rPr>
                        <a:t>Negativos (TN)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Falsos</a:t>
                      </a:r>
                      <a:br>
                        <a:rPr lang="pt-BR" sz="20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BR" sz="20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Negativos (FN)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2155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1" dirty="0">
                          <a:solidFill>
                            <a:srgbClr val="7030A0"/>
                          </a:solidFill>
                          <a:effectLst/>
                        </a:rPr>
                        <a:t>Falsos </a:t>
                      </a:r>
                      <a:br>
                        <a:rPr lang="pt-BR" sz="2000" b="1" dirty="0">
                          <a:solidFill>
                            <a:srgbClr val="7030A0"/>
                          </a:solidFill>
                          <a:effectLst/>
                        </a:rPr>
                      </a:br>
                      <a:r>
                        <a:rPr lang="pt-BR" sz="2000" b="1" dirty="0">
                          <a:solidFill>
                            <a:srgbClr val="7030A0"/>
                          </a:solidFill>
                          <a:effectLst/>
                        </a:rPr>
                        <a:t>Positivos (FP)</a:t>
                      </a:r>
                      <a:endParaRPr lang="pt-BR" sz="2000" b="1" kern="1200" dirty="0">
                        <a:solidFill>
                          <a:srgbClr val="7030A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1" dirty="0">
                          <a:solidFill>
                            <a:srgbClr val="00B050"/>
                          </a:solidFill>
                          <a:effectLst/>
                        </a:rPr>
                        <a:t>Verdadeiros </a:t>
                      </a:r>
                      <a:br>
                        <a:rPr lang="pt-BR" sz="2000" b="1" dirty="0">
                          <a:solidFill>
                            <a:srgbClr val="00B050"/>
                          </a:solidFill>
                          <a:effectLst/>
                        </a:rPr>
                      </a:br>
                      <a:r>
                        <a:rPr lang="pt-BR" sz="2000" b="1" dirty="0">
                          <a:solidFill>
                            <a:srgbClr val="00B050"/>
                          </a:solidFill>
                          <a:effectLst/>
                        </a:rPr>
                        <a:t>Positivos (TP)</a:t>
                      </a:r>
                      <a:endParaRPr lang="pt-BR" sz="20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69341992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44F3702B-0FE3-BDED-62A7-35438A8F3B75}"/>
              </a:ext>
            </a:extLst>
          </p:cNvPr>
          <p:cNvSpPr txBox="1"/>
          <p:nvPr/>
        </p:nvSpPr>
        <p:spPr>
          <a:xfrm rot="16200000">
            <a:off x="-511047" y="3619395"/>
            <a:ext cx="1916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ctr"/>
            <a:r>
              <a:rPr lang="pt-BR" sz="1800" b="1" dirty="0">
                <a:effectLst/>
              </a:rPr>
              <a:t>Classes Preditas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1FC82D3C-E180-54E3-CEFE-B2BD9B8D3E2A}"/>
              </a:ext>
            </a:extLst>
          </p:cNvPr>
          <p:cNvSpPr txBox="1"/>
          <p:nvPr/>
        </p:nvSpPr>
        <p:spPr>
          <a:xfrm>
            <a:off x="1313262" y="4926676"/>
            <a:ext cx="3510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b"/>
            <a:r>
              <a:rPr lang="pt-BR" sz="1800" b="1" dirty="0">
                <a:effectLst/>
              </a:rPr>
              <a:t>Classes Verdadeiras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xmlns="" id="{D618FE73-F69F-A4D4-3E14-7C80BD56C5C9}"/>
                  </a:ext>
                </a:extLst>
              </p:cNvPr>
              <p:cNvSpPr txBox="1"/>
              <p:nvPr/>
            </p:nvSpPr>
            <p:spPr>
              <a:xfrm>
                <a:off x="589742" y="3953209"/>
                <a:ext cx="723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0" fontAlgn="ctr"/>
                <a:r>
                  <a:rPr lang="pt-BR" sz="1800" b="1" dirty="0">
                    <a:effectLst/>
                  </a:rPr>
                  <a:t>+ </a:t>
                </a:r>
                <a:r>
                  <a:rPr lang="pt-BR" sz="1800" dirty="0">
                    <a:effectLst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1800" dirty="0">
                    <a:effectLst/>
                  </a:rPr>
                  <a:t>)</a:t>
                </a: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618FE73-F69F-A4D4-3E14-7C80BD56C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42" y="3953209"/>
                <a:ext cx="723520" cy="369332"/>
              </a:xfrm>
              <a:prstGeom prst="rect">
                <a:avLst/>
              </a:prstGeom>
              <a:blipFill>
                <a:blip r:embed="rId5"/>
                <a:stretch>
                  <a:fillRect l="-7627" t="-6557" r="-762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xmlns="" id="{64841025-C42C-FB64-87B6-62F7C4AD612E}"/>
                  </a:ext>
                </a:extLst>
              </p:cNvPr>
              <p:cNvSpPr txBox="1"/>
              <p:nvPr/>
            </p:nvSpPr>
            <p:spPr>
              <a:xfrm>
                <a:off x="603049" y="3253714"/>
                <a:ext cx="7235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0" fontAlgn="ctr"/>
                <a:r>
                  <a:rPr lang="pt-BR" b="1" dirty="0"/>
                  <a:t>-</a:t>
                </a:r>
                <a:r>
                  <a:rPr lang="pt-BR" sz="1800" b="1" dirty="0">
                    <a:effectLst/>
                  </a:rPr>
                  <a:t> </a:t>
                </a:r>
                <a:r>
                  <a:rPr lang="pt-BR" sz="1800" dirty="0">
                    <a:effectLst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800" dirty="0">
                    <a:effectLst/>
                  </a:rPr>
                  <a:t>)</a:t>
                </a: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64841025-C42C-FB64-87B6-62F7C4AD6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049" y="3253714"/>
                <a:ext cx="723520" cy="369332"/>
              </a:xfrm>
              <a:prstGeom prst="rect">
                <a:avLst/>
              </a:prstGeom>
              <a:blipFill>
                <a:blip r:embed="rId6"/>
                <a:stretch>
                  <a:fillRect l="-3361" t="-8333" r="-4202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xmlns="" id="{33FF584A-410C-DBCB-7735-A7CD30A88BC6}"/>
                  </a:ext>
                </a:extLst>
              </p:cNvPr>
              <p:cNvSpPr txBox="1"/>
              <p:nvPr/>
            </p:nvSpPr>
            <p:spPr>
              <a:xfrm>
                <a:off x="3102429" y="4514474"/>
                <a:ext cx="17743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0" fontAlgn="ctr"/>
                <a:r>
                  <a:rPr lang="pt-BR" sz="1800" b="1" dirty="0">
                    <a:effectLst/>
                  </a:rPr>
                  <a:t>+ </a:t>
                </a:r>
                <a:r>
                  <a:rPr lang="pt-BR" sz="1800" dirty="0">
                    <a:effectLst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1800" dirty="0">
                    <a:effectLst/>
                  </a:rPr>
                  <a:t>)</a:t>
                </a:r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33FF584A-410C-DBCB-7735-A7CD30A88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2429" y="4514474"/>
                <a:ext cx="1774371" cy="369332"/>
              </a:xfrm>
              <a:prstGeom prst="rect">
                <a:avLst/>
              </a:prstGeom>
              <a:blipFill>
                <a:blip r:embed="rId7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xmlns="" id="{01118442-F1CF-69E3-68DB-2A693775C8C5}"/>
                  </a:ext>
                </a:extLst>
              </p:cNvPr>
              <p:cNvSpPr txBox="1"/>
              <p:nvPr/>
            </p:nvSpPr>
            <p:spPr>
              <a:xfrm>
                <a:off x="1313262" y="4512527"/>
                <a:ext cx="17891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0" fontAlgn="ctr"/>
                <a:r>
                  <a:rPr lang="pt-BR" b="1" dirty="0"/>
                  <a:t>-</a:t>
                </a:r>
                <a:r>
                  <a:rPr lang="pt-BR" sz="1800" b="1" dirty="0">
                    <a:effectLst/>
                  </a:rPr>
                  <a:t> </a:t>
                </a:r>
                <a:r>
                  <a:rPr lang="pt-BR" sz="1800" dirty="0">
                    <a:effectLst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800" dirty="0">
                    <a:effectLst/>
                  </a:rPr>
                  <a:t>)</a:t>
                </a: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01118442-F1CF-69E3-68DB-2A693775C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262" y="4512527"/>
                <a:ext cx="1789167" cy="369332"/>
              </a:xfrm>
              <a:prstGeom prst="rect">
                <a:avLst/>
              </a:prstGeom>
              <a:blipFill>
                <a:blip r:embed="rId8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9947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xmlns="" id="{2EDB17EF-5EC1-A178-3122-9310D2C0D3C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Matriz de confusão para caso binário (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dirty="0"/>
                  <a:t>)</a:t>
                </a:r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2EDB17EF-5EC1-A178-3122-9310D2C0D3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r="-8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Imagem 21">
            <a:extLst>
              <a:ext uri="{FF2B5EF4-FFF2-40B4-BE49-F238E27FC236}">
                <a16:creationId xmlns:a16="http://schemas.microsoft.com/office/drawing/2014/main" xmlns="" id="{43854156-1399-9016-BDBA-8C80710C3E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539" y="1611691"/>
            <a:ext cx="6420922" cy="523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511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0F418656-538C-BBD9-47FA-40A924A66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8604"/>
            <a:ext cx="10515600" cy="28007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800" dirty="0"/>
              <a:t>Nós podemos calcular algumas métricas de desempenho importantes a partir das informações contidas na </a:t>
            </a:r>
            <a:r>
              <a:rPr lang="pt-BR" sz="4800" b="1" dirty="0">
                <a:solidFill>
                  <a:srgbClr val="7030A0"/>
                </a:solidFill>
              </a:rPr>
              <a:t>matriz de confusão binária</a:t>
            </a:r>
            <a:r>
              <a:rPr lang="pt-BR" sz="4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9063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8C76DB9-C5DB-DAD2-5D1D-F064916F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Acurácia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0243F063-09F2-F192-E084-325BC5032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5886" y="1825624"/>
            <a:ext cx="6466114" cy="5032375"/>
          </a:xfrm>
        </p:spPr>
        <p:txBody>
          <a:bodyPr/>
          <a:lstStyle/>
          <a:p>
            <a:r>
              <a:rPr lang="pt-BR" dirty="0"/>
              <a:t>Acurácia med</a:t>
            </a:r>
            <a:r>
              <a:rPr lang="pt-BR" b="0" dirty="0">
                <a:effectLst/>
              </a:rPr>
              <a:t>e a </a:t>
            </a:r>
            <a:r>
              <a:rPr lang="pt-BR" b="1" dirty="0">
                <a:solidFill>
                  <a:srgbClr val="00B050"/>
                </a:solidFill>
                <a:effectLst/>
              </a:rPr>
              <a:t>proporção de exemplos classificados corretamente em relação ao total de exemplos </a:t>
            </a:r>
            <a:r>
              <a:rPr lang="pt-BR" b="0" dirty="0">
                <a:effectLst/>
              </a:rPr>
              <a:t>avaliados</a:t>
            </a:r>
            <a:r>
              <a:rPr lang="pt-BR" b="0" i="0" dirty="0">
                <a:effectLst/>
              </a:rPr>
              <a:t>. </a:t>
            </a:r>
          </a:p>
          <a:p>
            <a:r>
              <a:rPr lang="pt-BR" b="0" i="0" dirty="0">
                <a:effectLst/>
              </a:rPr>
              <a:t>Em outras palavras, a acurácia fornece uma indicação de quão bem o </a:t>
            </a:r>
            <a:r>
              <a:rPr lang="pt-BR" b="0" dirty="0">
                <a:effectLst/>
              </a:rPr>
              <a:t>modelo está fazendo suas </a:t>
            </a:r>
            <a:r>
              <a:rPr lang="pt-BR" b="1" dirty="0">
                <a:solidFill>
                  <a:srgbClr val="00B050"/>
                </a:solidFill>
                <a:effectLst/>
              </a:rPr>
              <a:t>predições corretas em comparação com todas as previsões feitas</a:t>
            </a:r>
            <a:r>
              <a:rPr lang="pt-BR" b="0" dirty="0">
                <a:effectLst/>
              </a:rPr>
              <a:t>.</a:t>
            </a:r>
          </a:p>
          <a:p>
            <a:r>
              <a:rPr lang="pt-BR" b="0" dirty="0">
                <a:effectLst/>
              </a:rPr>
              <a:t>É uma métrica útil para avaliar </a:t>
            </a:r>
            <a:r>
              <a:rPr lang="pt-BR" dirty="0"/>
              <a:t>o</a:t>
            </a:r>
            <a:r>
              <a:rPr lang="pt-BR" b="0" dirty="0">
                <a:effectLst/>
              </a:rPr>
              <a:t> </a:t>
            </a:r>
            <a:r>
              <a:rPr lang="pt-BR" b="1" dirty="0">
                <a:solidFill>
                  <a:srgbClr val="FF0000"/>
                </a:solidFill>
                <a:effectLst/>
              </a:rPr>
              <a:t>desempenho geral</a:t>
            </a:r>
            <a:r>
              <a:rPr lang="pt-BR" b="1" dirty="0">
                <a:solidFill>
                  <a:srgbClr val="00B050"/>
                </a:solidFill>
                <a:effectLst/>
              </a:rPr>
              <a:t> do modelo</a:t>
            </a:r>
            <a:r>
              <a:rPr lang="pt-BR" b="0" dirty="0">
                <a:effectLst/>
              </a:rPr>
              <a:t>.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xmlns="" id="{A1A8E5FE-3F01-AAA0-2326-F47AA1AC18B9}"/>
                  </a:ext>
                </a:extLst>
              </p:cNvPr>
              <p:cNvSpPr txBox="1"/>
              <p:nvPr/>
            </p:nvSpPr>
            <p:spPr>
              <a:xfrm>
                <a:off x="413657" y="3329483"/>
                <a:ext cx="5057423" cy="1012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320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cur</m:t>
                      </m:r>
                      <m:r>
                        <a:rPr lang="pt-BR" sz="3200" b="0" i="0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cia</m:t>
                      </m:r>
                      <m:r>
                        <a:rPr lang="pt-BR" sz="3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pt-BR" sz="32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TN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BR" sz="3200" i="0" dirty="0"/>
                            <m:t>TP</m:t>
                          </m:r>
                          <m:r>
                            <m:rPr>
                              <m:nor/>
                            </m:rPr>
                            <a:rPr lang="pt-BR" sz="3200" i="0" dirty="0"/>
                            <m:t> + </m:t>
                          </m:r>
                          <m:r>
                            <m:rPr>
                              <m:nor/>
                            </m:rPr>
                            <a:rPr lang="pt-BR" sz="3200" i="0" dirty="0"/>
                            <m:t>FN</m:t>
                          </m:r>
                          <m:r>
                            <m:rPr>
                              <m:nor/>
                            </m:rPr>
                            <a:rPr lang="pt-BR" sz="3200" i="0" dirty="0"/>
                            <m:t> + </m:t>
                          </m:r>
                          <m:r>
                            <m:rPr>
                              <m:nor/>
                            </m:rPr>
                            <a:rPr lang="pt-BR" sz="3200" i="0" dirty="0"/>
                            <m:t>FP</m:t>
                          </m:r>
                          <m:r>
                            <m:rPr>
                              <m:nor/>
                            </m:rPr>
                            <a:rPr lang="pt-BR" sz="3200" i="0" dirty="0"/>
                            <m:t> + </m:t>
                          </m:r>
                          <m:r>
                            <m:rPr>
                              <m:nor/>
                            </m:rPr>
                            <a:rPr lang="pt-BR" sz="3200" i="0" dirty="0"/>
                            <m:t>TN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1A8E5FE-3F01-AAA0-2326-F47AA1AC1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57" y="3329483"/>
                <a:ext cx="5057423" cy="1012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5289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364D5D3-A9ED-9B8B-0474-AF3EF6224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Acurácia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29D007B-9E18-00C3-2CF2-47D7955EB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1" y="1690688"/>
            <a:ext cx="6324600" cy="5167312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A </a:t>
            </a:r>
            <a:r>
              <a:rPr lang="pt-BR" b="1" dirty="0">
                <a:solidFill>
                  <a:srgbClr val="00B050"/>
                </a:solidFill>
              </a:rPr>
              <a:t>acurácia</a:t>
            </a:r>
            <a:r>
              <a:rPr lang="pt-BR" dirty="0">
                <a:solidFill>
                  <a:schemeClr val="tx1"/>
                </a:solidFill>
              </a:rPr>
              <a:t> é, geralmente, a </a:t>
            </a:r>
            <a:r>
              <a:rPr lang="pt-BR" b="1" dirty="0">
                <a:solidFill>
                  <a:srgbClr val="00B050"/>
                </a:solidFill>
              </a:rPr>
              <a:t>primeira escolha </a:t>
            </a:r>
            <a:r>
              <a:rPr lang="pt-BR" dirty="0">
                <a:solidFill>
                  <a:schemeClr val="tx1"/>
                </a:solidFill>
              </a:rPr>
              <a:t>para medir a qualidade de um classificador.</a:t>
            </a:r>
          </a:p>
          <a:p>
            <a:r>
              <a:rPr lang="pt-BR" dirty="0">
                <a:solidFill>
                  <a:schemeClr val="tx1"/>
                </a:solidFill>
              </a:rPr>
              <a:t>Entretanto, ela pode ser </a:t>
            </a:r>
            <a:r>
              <a:rPr lang="pt-BR" b="1" dirty="0">
                <a:solidFill>
                  <a:srgbClr val="00B050"/>
                </a:solidFill>
              </a:rPr>
              <a:t>enganosa com problemas </a:t>
            </a:r>
            <a:r>
              <a:rPr lang="pt-BR" b="1" dirty="0">
                <a:solidFill>
                  <a:srgbClr val="FF0000"/>
                </a:solidFill>
              </a:rPr>
              <a:t>desbalanceados</a:t>
            </a:r>
            <a:r>
              <a:rPr lang="pt-BR" dirty="0">
                <a:solidFill>
                  <a:schemeClr val="tx1"/>
                </a:solidFill>
              </a:rPr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Problemas onde uma ou algumas classes têm muito mais exemplos do que as demais.</a:t>
            </a:r>
            <a:endParaRPr lang="pt-BR" dirty="0">
              <a:solidFill>
                <a:schemeClr val="tx1"/>
              </a:solidFill>
            </a:endParaRPr>
          </a:p>
          <a:p>
            <a:r>
              <a:rPr lang="pt-BR" dirty="0"/>
              <a:t>Nesses casos, ela pode nos levar a </a:t>
            </a:r>
            <a:r>
              <a:rPr lang="pt-BR" b="1" dirty="0">
                <a:solidFill>
                  <a:schemeClr val="accent2"/>
                </a:solidFill>
              </a:rPr>
              <a:t>concluir</a:t>
            </a:r>
            <a:r>
              <a:rPr lang="pt-BR" dirty="0"/>
              <a:t> que um </a:t>
            </a:r>
            <a:r>
              <a:rPr lang="pt-BR" b="1" dirty="0">
                <a:solidFill>
                  <a:srgbClr val="7030A0"/>
                </a:solidFill>
              </a:rPr>
              <a:t>classificador ruim é muito bom</a:t>
            </a:r>
            <a:r>
              <a:rPr lang="pt-BR" dirty="0"/>
              <a:t>.</a:t>
            </a:r>
            <a:endParaRPr lang="pt-BR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xmlns="" id="{3B70A8A1-B016-521E-B475-1827A59F773A}"/>
                  </a:ext>
                </a:extLst>
              </p:cNvPr>
              <p:cNvSpPr txBox="1"/>
              <p:nvPr/>
            </p:nvSpPr>
            <p:spPr>
              <a:xfrm>
                <a:off x="315685" y="3184093"/>
                <a:ext cx="5057423" cy="1012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320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cur</m:t>
                      </m:r>
                      <m:r>
                        <a:rPr lang="pt-BR" sz="3200" b="0" i="0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cia</m:t>
                      </m:r>
                      <m:r>
                        <a:rPr lang="pt-BR" sz="3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pt-BR" sz="32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TN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BR" sz="3200" i="0" dirty="0"/>
                            <m:t>TP</m:t>
                          </m:r>
                          <m:r>
                            <m:rPr>
                              <m:nor/>
                            </m:rPr>
                            <a:rPr lang="pt-BR" sz="3200" i="0" dirty="0"/>
                            <m:t> + </m:t>
                          </m:r>
                          <m:r>
                            <m:rPr>
                              <m:nor/>
                            </m:rPr>
                            <a:rPr lang="pt-BR" sz="3200" i="0" dirty="0"/>
                            <m:t>FN</m:t>
                          </m:r>
                          <m:r>
                            <m:rPr>
                              <m:nor/>
                            </m:rPr>
                            <a:rPr lang="pt-BR" sz="3200" i="0" dirty="0"/>
                            <m:t> + </m:t>
                          </m:r>
                          <m:r>
                            <m:rPr>
                              <m:nor/>
                            </m:rPr>
                            <a:rPr lang="pt-BR" sz="3200" i="0" dirty="0"/>
                            <m:t>FP</m:t>
                          </m:r>
                          <m:r>
                            <m:rPr>
                              <m:nor/>
                            </m:rPr>
                            <a:rPr lang="pt-BR" sz="3200" i="0" dirty="0"/>
                            <m:t> + </m:t>
                          </m:r>
                          <m:r>
                            <m:rPr>
                              <m:nor/>
                            </m:rPr>
                            <a:rPr lang="pt-BR" sz="3200" i="0" dirty="0"/>
                            <m:t>TN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B70A8A1-B016-521E-B475-1827A59F7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85" y="3184093"/>
                <a:ext cx="5057423" cy="1012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562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364D5D3-A9ED-9B8B-0474-AF3EF6224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Acurácia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729D007B-9E18-00C3-2CF2-47D7955EBA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8" y="1690688"/>
                <a:ext cx="11353801" cy="5167312"/>
              </a:xfrm>
            </p:spPr>
            <p:txBody>
              <a:bodyPr>
                <a:normAutofit/>
              </a:bodyPr>
              <a:lstStyle/>
              <a:p>
                <a:r>
                  <a:rPr lang="pt-BR" noProof="0" dirty="0">
                    <a:solidFill>
                      <a:schemeClr val="tx1"/>
                    </a:solidFill>
                  </a:rPr>
                  <a:t>Analisando a equação da acurácia, o que aconteceria se TP fosse muito maior do que TN, FN e FP?</a:t>
                </a:r>
                <a:endParaRPr lang="pt-BR" sz="800" noProof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b="0" i="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TP</m:t>
                              </m:r>
                              <m:r>
                                <a:rPr lang="pt-BR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pt-BR" b="0" i="0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acur</m:t>
                          </m:r>
                          <m:r>
                            <a:rPr lang="pt-BR" b="0" i="0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á</m:t>
                          </m:r>
                          <m:r>
                            <m:rPr>
                              <m:sty m:val="p"/>
                            </m:rPr>
                            <a:rPr lang="pt-BR" b="0" i="0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cia</m:t>
                          </m:r>
                        </m:e>
                      </m:func>
                      <m:r>
                        <a:rPr lang="pt-BR" noProof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i="1" noProof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noProof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pt-BR" noProof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pt-BR" i="1" noProof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d>
                        <m:dPr>
                          <m:ctrlPr>
                            <a:rPr lang="pt-BR" i="1" noProof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pt-BR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TP</m:t>
                              </m:r>
                              <m:r>
                                <a:rPr lang="pt-BR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TN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TP</m:t>
                              </m:r>
                              <m:r>
                                <a:rPr lang="pt-BR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TN</m:t>
                              </m:r>
                              <m:r>
                                <a:rPr lang="pt-BR" i="1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FN</m:t>
                              </m:r>
                              <m:r>
                                <a:rPr lang="pt-BR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noProof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FP</m:t>
                              </m:r>
                            </m:den>
                          </m:f>
                        </m:e>
                      </m:d>
                      <m:r>
                        <a:rPr lang="pt-BR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pt-BR" i="1" noProof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noProof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noProof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TP</m:t>
                          </m:r>
                        </m:den>
                      </m:f>
                      <m:r>
                        <a:rPr lang="pt-BR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pt-BR" b="0" i="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800" noProof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pt-BR" sz="800" noProof="0" dirty="0">
                  <a:solidFill>
                    <a:schemeClr val="tx1"/>
                  </a:solidFill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noProof="0" dirty="0"/>
                  <a:t>A acurácia pode tender à 1 mesmo que o modelo tenha um desempenho ruim na identificação da classe negativa.</a:t>
                </a:r>
              </a:p>
              <a:p>
                <a:r>
                  <a:rPr lang="pt-BR" noProof="0" dirty="0">
                    <a:solidFill>
                      <a:schemeClr val="tx1"/>
                    </a:solidFill>
                  </a:rPr>
                  <a:t>O mesmo aconteceria se TN fosse muito maior do que TP, FN e FP</a:t>
                </a:r>
              </a:p>
              <a:p>
                <a:r>
                  <a:rPr lang="pt-BR" b="0" noProof="0" dirty="0">
                    <a:solidFill>
                      <a:schemeClr val="tx1"/>
                    </a:solidFill>
                    <a:effectLst/>
                  </a:rPr>
                  <a:t>Ela também é enganosa quando os custos de falsos positivos e falsos negativos não são iguais.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noProof="0" dirty="0"/>
                  <a:t>Por exemplo, para um modelo de classificação de doenças contagiosas, o custo de um FN (tem a doença, mas o modelo diz que não) é mais alto do que o de um FP.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29D007B-9E18-00C3-2CF2-47D7955EBA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8" y="1690688"/>
                <a:ext cx="11353801" cy="5167312"/>
              </a:xfrm>
              <a:blipFill>
                <a:blip r:embed="rId3"/>
                <a:stretch>
                  <a:fillRect l="-913" t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0356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0351861-7A86-07B3-5514-F1B15497F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2217737"/>
            <a:ext cx="11306175" cy="24225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dirty="0"/>
              <a:t>Portanto, quando temos </a:t>
            </a:r>
            <a:r>
              <a:rPr lang="pt-BR" sz="5400" b="1" dirty="0">
                <a:solidFill>
                  <a:srgbClr val="00B050"/>
                </a:solidFill>
              </a:rPr>
              <a:t>classes desbalanceadas ou custos diferentes, devemos </a:t>
            </a:r>
            <a:r>
              <a:rPr lang="pt-BR" sz="5400" b="1" dirty="0">
                <a:solidFill>
                  <a:srgbClr val="7030A0"/>
                </a:solidFill>
              </a:rPr>
              <a:t>analisar outras métricas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112176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759409E-2F7C-F9FB-1D90-828F558DA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Precisão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047B3338-3C79-280E-33CD-E184CC752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8686" y="1870780"/>
            <a:ext cx="6836228" cy="4987219"/>
          </a:xfrm>
        </p:spPr>
        <p:txBody>
          <a:bodyPr>
            <a:normAutofit/>
          </a:bodyPr>
          <a:lstStyle/>
          <a:p>
            <a:r>
              <a:rPr lang="pt-BR" b="1" noProof="0" dirty="0"/>
              <a:t>Precisão</a:t>
            </a:r>
            <a:r>
              <a:rPr lang="pt-BR" noProof="0" dirty="0"/>
              <a:t> é a proporção de exemplos da classe positiva corretamente classificados (TP) em relação a todos os exemplos atribuídos à classe positiva (TP + FP).</a:t>
            </a:r>
          </a:p>
          <a:p>
            <a:r>
              <a:rPr lang="pt-BR" noProof="0" dirty="0"/>
              <a:t>Ou seja, de tudo aquilo que o modelo classificou como positivo, quanto realmente é positivo?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>
                <a:solidFill>
                  <a:srgbClr val="7030A0"/>
                </a:solidFill>
              </a:rPr>
              <a:t>Quando ele prediz positivo, podemos confiar?</a:t>
            </a:r>
            <a:endParaRPr lang="pt-BR" b="1" noProof="0" dirty="0">
              <a:solidFill>
                <a:srgbClr val="7030A0"/>
              </a:solidFill>
            </a:endParaRPr>
          </a:p>
          <a:p>
            <a:r>
              <a:rPr lang="pt-BR" noProof="0" dirty="0"/>
              <a:t>É uma </a:t>
            </a:r>
            <a:r>
              <a:rPr lang="pt-BR" b="1" noProof="0" dirty="0">
                <a:solidFill>
                  <a:srgbClr val="00B050"/>
                </a:solidFill>
              </a:rPr>
              <a:t>boa medida </a:t>
            </a:r>
            <a:r>
              <a:rPr lang="pt-BR" noProof="0" dirty="0"/>
              <a:t>para determinar a qualidade do classificador </a:t>
            </a:r>
            <a:r>
              <a:rPr lang="pt-BR" b="1" noProof="0" dirty="0">
                <a:solidFill>
                  <a:srgbClr val="00B050"/>
                </a:solidFill>
              </a:rPr>
              <a:t>quando os custos de </a:t>
            </a:r>
            <a:r>
              <a:rPr lang="pt-BR" b="1" noProof="0" dirty="0">
                <a:solidFill>
                  <a:srgbClr val="FF0000"/>
                </a:solidFill>
              </a:rPr>
              <a:t>falsos positivos</a:t>
            </a:r>
            <a:r>
              <a:rPr lang="pt-BR" b="1" noProof="0" dirty="0">
                <a:solidFill>
                  <a:srgbClr val="00B050"/>
                </a:solidFill>
              </a:rPr>
              <a:t> são altos</a:t>
            </a:r>
            <a:r>
              <a:rPr lang="pt-BR" noProof="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xmlns="" id="{A3376B35-7B47-DF75-A545-B75926FB5BB2}"/>
                  </a:ext>
                </a:extLst>
              </p:cNvPr>
              <p:cNvSpPr txBox="1"/>
              <p:nvPr/>
            </p:nvSpPr>
            <p:spPr>
              <a:xfrm>
                <a:off x="571901" y="3254780"/>
                <a:ext cx="3939823" cy="1022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precis</m:t>
                      </m:r>
                      <m:r>
                        <a:rPr lang="pt-BR" sz="3200" b="0" i="0" smtClean="0">
                          <a:latin typeface="Cambria Math" panose="02040503050406030204" pitchFamily="18" charset="0"/>
                        </a:rPr>
                        <m:t>ã</m:t>
                      </m:r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FP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TP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3376B35-7B47-DF75-A545-B75926FB5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01" y="3254780"/>
                <a:ext cx="3939823" cy="10225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a 5">
            <a:extLst>
              <a:ext uri="{FF2B5EF4-FFF2-40B4-BE49-F238E27FC236}">
                <a16:creationId xmlns:a16="http://schemas.microsoft.com/office/drawing/2014/main" xmlns="" id="{0D5ABCB4-5EB5-F832-F110-AD1F2FD3532A}"/>
              </a:ext>
            </a:extLst>
          </p:cNvPr>
          <p:cNvGraphicFramePr>
            <a:graphicFrameLocks noGrp="1"/>
          </p:cNvGraphicFramePr>
          <p:nvPr/>
        </p:nvGraphicFramePr>
        <p:xfrm>
          <a:off x="1840088" y="5230813"/>
          <a:ext cx="179493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466">
                  <a:extLst>
                    <a:ext uri="{9D8B030D-6E8A-4147-A177-3AD203B41FA5}">
                      <a16:colId xmlns:a16="http://schemas.microsoft.com/office/drawing/2014/main" xmlns="" val="2780398905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xmlns="" val="1752542230"/>
                    </a:ext>
                  </a:extLst>
                </a:gridCol>
              </a:tblGrid>
              <a:tr h="431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FF0000"/>
                          </a:solidFill>
                          <a:effectLst/>
                        </a:rPr>
                        <a:t>TN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2155157"/>
                  </a:ext>
                </a:extLst>
              </a:tr>
              <a:tr h="431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0000FF"/>
                          </a:solidFill>
                          <a:effectLst/>
                        </a:rPr>
                        <a:t>FP</a:t>
                      </a:r>
                      <a:endParaRPr lang="pt-BR" sz="2400" b="1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00B050"/>
                          </a:solidFill>
                          <a:effectLst/>
                        </a:rPr>
                        <a:t>TP</a:t>
                      </a:r>
                      <a:endParaRPr lang="pt-BR" sz="2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69341992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685BDF4E-E4CF-5896-0326-96A536D9643C}"/>
              </a:ext>
            </a:extLst>
          </p:cNvPr>
          <p:cNvSpPr/>
          <p:nvPr/>
        </p:nvSpPr>
        <p:spPr>
          <a:xfrm rot="16200000">
            <a:off x="2443164" y="4941012"/>
            <a:ext cx="609602" cy="195262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D1154846-7200-8A13-7CE3-866E0423AC95}"/>
              </a:ext>
            </a:extLst>
          </p:cNvPr>
          <p:cNvSpPr txBox="1"/>
          <p:nvPr/>
        </p:nvSpPr>
        <p:spPr>
          <a:xfrm>
            <a:off x="2200275" y="615759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-</a:t>
            </a:r>
            <a:endParaRPr lang="en-US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D5BECE90-0299-928D-2937-BAD69964EB36}"/>
              </a:ext>
            </a:extLst>
          </p:cNvPr>
          <p:cNvSpPr txBox="1"/>
          <p:nvPr/>
        </p:nvSpPr>
        <p:spPr>
          <a:xfrm>
            <a:off x="3070353" y="61701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+</a:t>
            </a:r>
            <a:endParaRPr lang="en-US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4E5240CA-203C-851E-7E56-73BFF976FA1B}"/>
              </a:ext>
            </a:extLst>
          </p:cNvPr>
          <p:cNvSpPr txBox="1"/>
          <p:nvPr/>
        </p:nvSpPr>
        <p:spPr>
          <a:xfrm>
            <a:off x="1469270" y="568801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+</a:t>
            </a:r>
            <a:endParaRPr lang="en-US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xmlns="" id="{08DF3936-009E-86E3-DA9B-9C242B4A2046}"/>
              </a:ext>
            </a:extLst>
          </p:cNvPr>
          <p:cNvSpPr txBox="1"/>
          <p:nvPr/>
        </p:nvSpPr>
        <p:spPr>
          <a:xfrm>
            <a:off x="1491712" y="528093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650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6F94076-840C-F8A0-1EBA-0559789D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BE837E6-3644-108F-C376-E31809129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Precisão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1ED50CCD-BAF9-D705-F6DD-4E87FC3E6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690" y="1870780"/>
            <a:ext cx="7115224" cy="4987219"/>
          </a:xfrm>
        </p:spPr>
        <p:txBody>
          <a:bodyPr>
            <a:normAutofit/>
          </a:bodyPr>
          <a:lstStyle/>
          <a:p>
            <a:r>
              <a:rPr lang="pt-BR" dirty="0"/>
              <a:t>Por exemplo, na classificação de </a:t>
            </a:r>
            <a:r>
              <a:rPr lang="pt-BR" b="1" i="1" dirty="0"/>
              <a:t>spams</a:t>
            </a:r>
            <a:r>
              <a:rPr lang="pt-BR" dirty="0"/>
              <a:t> onde o </a:t>
            </a:r>
            <a:r>
              <a:rPr lang="pt-BR" b="1" dirty="0"/>
              <a:t>verdadeiro positivo</a:t>
            </a:r>
            <a:r>
              <a:rPr lang="pt-BR" dirty="0"/>
              <a:t> é um </a:t>
            </a:r>
            <a:r>
              <a:rPr lang="pt-BR" dirty="0" err="1"/>
              <a:t>email</a:t>
            </a:r>
            <a:r>
              <a:rPr lang="pt-BR" dirty="0"/>
              <a:t> de </a:t>
            </a:r>
            <a:r>
              <a:rPr lang="pt-BR" b="1" i="1" dirty="0"/>
              <a:t>spam</a:t>
            </a:r>
            <a:r>
              <a:rPr lang="pt-BR" dirty="0"/>
              <a:t>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Um </a:t>
            </a:r>
            <a:r>
              <a:rPr lang="pt-BR" b="1" dirty="0"/>
              <a:t>falso positivo </a:t>
            </a:r>
            <a:r>
              <a:rPr lang="pt-BR" dirty="0"/>
              <a:t>significa que um </a:t>
            </a:r>
            <a:r>
              <a:rPr lang="pt-BR" b="1" dirty="0" err="1"/>
              <a:t>email</a:t>
            </a:r>
            <a:r>
              <a:rPr lang="pt-BR" b="1" dirty="0"/>
              <a:t> legítimo </a:t>
            </a:r>
            <a:r>
              <a:rPr lang="pt-BR" dirty="0"/>
              <a:t>(</a:t>
            </a:r>
            <a:r>
              <a:rPr lang="pt-BR" i="1" dirty="0" err="1"/>
              <a:t>ham</a:t>
            </a:r>
            <a:r>
              <a:rPr lang="pt-BR" dirty="0"/>
              <a:t>) (</a:t>
            </a:r>
            <a:r>
              <a:rPr lang="pt-BR" b="1" dirty="0"/>
              <a:t>verdadeiro negativo</a:t>
            </a:r>
            <a:r>
              <a:rPr lang="pt-BR" dirty="0"/>
              <a:t>) foi classificado como </a:t>
            </a:r>
            <a:r>
              <a:rPr lang="pt-BR" b="1" i="1" dirty="0"/>
              <a:t>spam</a:t>
            </a:r>
            <a:r>
              <a:rPr lang="pt-BR" dirty="0"/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Nesse caso, o cliente do serviço de </a:t>
            </a:r>
            <a:r>
              <a:rPr lang="pt-BR" dirty="0" err="1"/>
              <a:t>email</a:t>
            </a:r>
            <a:r>
              <a:rPr lang="pt-BR" dirty="0"/>
              <a:t> pode perder correspondências importantes se a </a:t>
            </a:r>
            <a:r>
              <a:rPr lang="pt-BR" b="1" dirty="0"/>
              <a:t>precisão</a:t>
            </a:r>
            <a:r>
              <a:rPr lang="pt-BR" dirty="0"/>
              <a:t> for baixa.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xmlns="" id="{704D3BDA-16E0-C30B-2504-2D58C9069DF7}"/>
                  </a:ext>
                </a:extLst>
              </p:cNvPr>
              <p:cNvSpPr txBox="1"/>
              <p:nvPr/>
            </p:nvSpPr>
            <p:spPr>
              <a:xfrm>
                <a:off x="654753" y="3341865"/>
                <a:ext cx="3939823" cy="1022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precis</m:t>
                      </m:r>
                      <m:r>
                        <a:rPr lang="pt-BR" sz="3200" b="0" i="0" smtClean="0">
                          <a:latin typeface="Cambria Math" panose="02040503050406030204" pitchFamily="18" charset="0"/>
                        </a:rPr>
                        <m:t>ã</m:t>
                      </m:r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FP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TP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A3376B35-7B47-DF75-A545-B75926FB5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53" y="3341865"/>
                <a:ext cx="3939823" cy="10225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a 5">
            <a:extLst>
              <a:ext uri="{FF2B5EF4-FFF2-40B4-BE49-F238E27FC236}">
                <a16:creationId xmlns:a16="http://schemas.microsoft.com/office/drawing/2014/main" xmlns="" id="{72E4F38E-A7EF-429F-6B31-B7E993C4BB48}"/>
              </a:ext>
            </a:extLst>
          </p:cNvPr>
          <p:cNvGraphicFramePr>
            <a:graphicFrameLocks noGrp="1"/>
          </p:cNvGraphicFramePr>
          <p:nvPr/>
        </p:nvGraphicFramePr>
        <p:xfrm>
          <a:off x="1840088" y="5230813"/>
          <a:ext cx="179493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466">
                  <a:extLst>
                    <a:ext uri="{9D8B030D-6E8A-4147-A177-3AD203B41FA5}">
                      <a16:colId xmlns:a16="http://schemas.microsoft.com/office/drawing/2014/main" xmlns="" val="2780398905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xmlns="" val="1752542230"/>
                    </a:ext>
                  </a:extLst>
                </a:gridCol>
              </a:tblGrid>
              <a:tr h="431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FF0000"/>
                          </a:solidFill>
                          <a:effectLst/>
                        </a:rPr>
                        <a:t>TN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2155157"/>
                  </a:ext>
                </a:extLst>
              </a:tr>
              <a:tr h="431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0000FF"/>
                          </a:solidFill>
                          <a:effectLst/>
                        </a:rPr>
                        <a:t>FP</a:t>
                      </a:r>
                      <a:endParaRPr lang="pt-BR" sz="2400" b="1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00B050"/>
                          </a:solidFill>
                          <a:effectLst/>
                        </a:rPr>
                        <a:t>TP</a:t>
                      </a:r>
                      <a:endParaRPr lang="pt-BR" sz="2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69341992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7DBCA45D-01DE-F21C-9CC9-EBEE7C31C895}"/>
              </a:ext>
            </a:extLst>
          </p:cNvPr>
          <p:cNvSpPr/>
          <p:nvPr/>
        </p:nvSpPr>
        <p:spPr>
          <a:xfrm rot="16200000">
            <a:off x="2438401" y="4876801"/>
            <a:ext cx="609602" cy="208105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FD64B03D-AF6E-F650-7BA8-30B1ADE878DC}"/>
              </a:ext>
            </a:extLst>
          </p:cNvPr>
          <p:cNvSpPr txBox="1"/>
          <p:nvPr/>
        </p:nvSpPr>
        <p:spPr>
          <a:xfrm>
            <a:off x="2943805" y="622212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spam</a:t>
            </a:r>
            <a:endParaRPr lang="en-US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1C6F87C0-602F-3FE7-1A8C-E76501466135}"/>
              </a:ext>
            </a:extLst>
          </p:cNvPr>
          <p:cNvSpPr txBox="1"/>
          <p:nvPr/>
        </p:nvSpPr>
        <p:spPr>
          <a:xfrm>
            <a:off x="2007143" y="6234506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ham</a:t>
            </a:r>
            <a:endParaRPr lang="en-US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4D11FED4-798F-FE62-4DD0-9B02BCE4FF2E}"/>
              </a:ext>
            </a:extLst>
          </p:cNvPr>
          <p:cNvSpPr txBox="1"/>
          <p:nvPr/>
        </p:nvSpPr>
        <p:spPr>
          <a:xfrm>
            <a:off x="1238641" y="5230813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ham</a:t>
            </a:r>
            <a:endParaRPr lang="en-US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xmlns="" id="{DF6DA85B-6614-958D-C680-07895E10B379}"/>
              </a:ext>
            </a:extLst>
          </p:cNvPr>
          <p:cNvSpPr txBox="1"/>
          <p:nvPr/>
        </p:nvSpPr>
        <p:spPr>
          <a:xfrm>
            <a:off x="1171177" y="568801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spam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256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87A758-CC86-49D1-9698-4D8C118C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Recall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0E4F4E1-BE8B-2CDE-011D-F70A3522A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044" y="1825624"/>
            <a:ext cx="7374869" cy="5032375"/>
          </a:xfrm>
        </p:spPr>
        <p:txBody>
          <a:bodyPr>
            <a:normAutofit/>
          </a:bodyPr>
          <a:lstStyle/>
          <a:p>
            <a:r>
              <a:rPr lang="pt-BR" b="1" i="1" noProof="0" dirty="0"/>
              <a:t>Recall</a:t>
            </a:r>
            <a:r>
              <a:rPr lang="pt-BR" noProof="0" dirty="0"/>
              <a:t> ou </a:t>
            </a:r>
            <a:r>
              <a:rPr lang="pt-BR" b="1" i="1" noProof="0" dirty="0"/>
              <a:t>sensibilidade</a:t>
            </a:r>
            <a:r>
              <a:rPr lang="pt-BR" noProof="0" dirty="0"/>
              <a:t> é a proporção de exemplos da classe positiva corretamente classificados.</a:t>
            </a:r>
          </a:p>
          <a:p>
            <a:r>
              <a:rPr lang="pt-BR" noProof="0" dirty="0"/>
              <a:t>Dos exemplos que realmente são positivos, quantos o modelo conseguiu acertar?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>
                <a:solidFill>
                  <a:srgbClr val="7030A0"/>
                </a:solidFill>
              </a:rPr>
              <a:t>O modelo conseguiu encontrar todos os positivos?</a:t>
            </a:r>
            <a:endParaRPr lang="pt-BR" b="1" noProof="0" dirty="0">
              <a:solidFill>
                <a:srgbClr val="7030A0"/>
              </a:solidFill>
            </a:endParaRPr>
          </a:p>
          <a:p>
            <a:r>
              <a:rPr lang="pt-BR" noProof="0" dirty="0"/>
              <a:t>É uma </a:t>
            </a:r>
            <a:r>
              <a:rPr lang="pt-BR" b="1" noProof="0" dirty="0">
                <a:solidFill>
                  <a:srgbClr val="00B050"/>
                </a:solidFill>
              </a:rPr>
              <a:t>boa medida </a:t>
            </a:r>
            <a:r>
              <a:rPr lang="pt-BR" noProof="0" dirty="0"/>
              <a:t>para determinar a qualidade de um classificador </a:t>
            </a:r>
            <a:r>
              <a:rPr lang="pt-BR" b="1" noProof="0" dirty="0">
                <a:solidFill>
                  <a:srgbClr val="00B050"/>
                </a:solidFill>
              </a:rPr>
              <a:t>quando os custos de </a:t>
            </a:r>
            <a:r>
              <a:rPr lang="pt-BR" b="1" noProof="0" dirty="0">
                <a:solidFill>
                  <a:srgbClr val="FF0000"/>
                </a:solidFill>
              </a:rPr>
              <a:t>falsos negativos</a:t>
            </a:r>
            <a:r>
              <a:rPr lang="pt-BR" b="1" noProof="0" dirty="0">
                <a:solidFill>
                  <a:srgbClr val="00B050"/>
                </a:solidFill>
              </a:rPr>
              <a:t> são altos</a:t>
            </a:r>
            <a:r>
              <a:rPr lang="pt-BR" noProof="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xmlns="" id="{E92F9593-43C2-2FC6-D7DF-B4A04BE65B06}"/>
                  </a:ext>
                </a:extLst>
              </p:cNvPr>
              <p:cNvSpPr txBox="1"/>
              <p:nvPr/>
            </p:nvSpPr>
            <p:spPr>
              <a:xfrm>
                <a:off x="838200" y="3319287"/>
                <a:ext cx="3417711" cy="1022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𝑟𝑒𝑐𝑎𝑙𝑙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i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i="0">
                              <a:latin typeface="Cambria Math" panose="02040503050406030204" pitchFamily="18" charset="0"/>
                            </a:rPr>
                            <m:t>FN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TP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92F9593-43C2-2FC6-D7DF-B4A04BE65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19287"/>
                <a:ext cx="3417711" cy="10225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a 5">
            <a:extLst>
              <a:ext uri="{FF2B5EF4-FFF2-40B4-BE49-F238E27FC236}">
                <a16:creationId xmlns:a16="http://schemas.microsoft.com/office/drawing/2014/main" xmlns="" id="{AB28634A-9E6D-BA06-E08B-AF1826CF6578}"/>
              </a:ext>
            </a:extLst>
          </p:cNvPr>
          <p:cNvGraphicFramePr>
            <a:graphicFrameLocks noGrp="1"/>
          </p:cNvGraphicFramePr>
          <p:nvPr/>
        </p:nvGraphicFramePr>
        <p:xfrm>
          <a:off x="1840088" y="5230813"/>
          <a:ext cx="179493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466">
                  <a:extLst>
                    <a:ext uri="{9D8B030D-6E8A-4147-A177-3AD203B41FA5}">
                      <a16:colId xmlns:a16="http://schemas.microsoft.com/office/drawing/2014/main" xmlns="" val="2780398905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xmlns="" val="1752542230"/>
                    </a:ext>
                  </a:extLst>
                </a:gridCol>
              </a:tblGrid>
              <a:tr h="431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FF0000"/>
                          </a:solidFill>
                          <a:effectLst/>
                        </a:rPr>
                        <a:t>TN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2155157"/>
                  </a:ext>
                </a:extLst>
              </a:tr>
              <a:tr h="431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0000FF"/>
                          </a:solidFill>
                          <a:effectLst/>
                        </a:rPr>
                        <a:t>FP</a:t>
                      </a:r>
                      <a:endParaRPr lang="pt-BR" sz="2400" b="1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00B050"/>
                          </a:solidFill>
                          <a:effectLst/>
                        </a:rPr>
                        <a:t>TP</a:t>
                      </a:r>
                      <a:endParaRPr lang="pt-BR" sz="2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69341992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894B2598-B989-4F1A-AB5A-34B5BD2133A9}"/>
              </a:ext>
            </a:extLst>
          </p:cNvPr>
          <p:cNvSpPr/>
          <p:nvPr/>
        </p:nvSpPr>
        <p:spPr>
          <a:xfrm>
            <a:off x="2848303" y="5129049"/>
            <a:ext cx="641131" cy="113511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D1154846-7200-8A13-7CE3-866E0423AC95}"/>
              </a:ext>
            </a:extLst>
          </p:cNvPr>
          <p:cNvSpPr txBox="1"/>
          <p:nvPr/>
        </p:nvSpPr>
        <p:spPr>
          <a:xfrm>
            <a:off x="2200275" y="615759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-</a:t>
            </a:r>
            <a:endParaRPr lang="en-US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D5BECE90-0299-928D-2937-BAD69964EB36}"/>
              </a:ext>
            </a:extLst>
          </p:cNvPr>
          <p:cNvSpPr txBox="1"/>
          <p:nvPr/>
        </p:nvSpPr>
        <p:spPr>
          <a:xfrm>
            <a:off x="3070353" y="61701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+</a:t>
            </a:r>
            <a:endParaRPr lang="en-US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4E5240CA-203C-851E-7E56-73BFF976FA1B}"/>
              </a:ext>
            </a:extLst>
          </p:cNvPr>
          <p:cNvSpPr txBox="1"/>
          <p:nvPr/>
        </p:nvSpPr>
        <p:spPr>
          <a:xfrm>
            <a:off x="1469270" y="568801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+</a:t>
            </a:r>
            <a:endParaRPr lang="en-US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08DF3936-009E-86E3-DA9B-9C242B4A2046}"/>
              </a:ext>
            </a:extLst>
          </p:cNvPr>
          <p:cNvSpPr txBox="1"/>
          <p:nvPr/>
        </p:nvSpPr>
        <p:spPr>
          <a:xfrm>
            <a:off x="1491712" y="528093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34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1608E56-1063-9535-583F-68F98BEED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B281AC0-3FAB-E1EC-DE8A-76F8FBB3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Recall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AA4931E-FED8-1E19-BC1E-B1813EAF8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044" y="1825624"/>
            <a:ext cx="7461955" cy="5032375"/>
          </a:xfrm>
        </p:spPr>
        <p:txBody>
          <a:bodyPr>
            <a:normAutofit/>
          </a:bodyPr>
          <a:lstStyle/>
          <a:p>
            <a:r>
              <a:rPr lang="pt-BR" dirty="0"/>
              <a:t>Por exemplo, na classificação de </a:t>
            </a:r>
            <a:r>
              <a:rPr lang="pt-BR" b="1" dirty="0"/>
              <a:t>doenças</a:t>
            </a:r>
            <a:r>
              <a:rPr lang="pt-BR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Se um paciente doente (</a:t>
            </a:r>
            <a:r>
              <a:rPr lang="pt-BR" b="1" dirty="0"/>
              <a:t>verdadeiro positivo</a:t>
            </a:r>
            <a:r>
              <a:rPr lang="pt-BR" dirty="0"/>
              <a:t>) for classificado como não doente (</a:t>
            </a:r>
            <a:r>
              <a:rPr lang="pt-BR" b="1" dirty="0"/>
              <a:t>falso negativo</a:t>
            </a:r>
            <a:r>
              <a:rPr lang="pt-BR" dirty="0"/>
              <a:t>).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custo associado ao </a:t>
            </a:r>
            <a:r>
              <a:rPr lang="pt-BR" b="1" dirty="0"/>
              <a:t>falso negativo </a:t>
            </a:r>
            <a:r>
              <a:rPr lang="pt-BR" dirty="0"/>
              <a:t>será extremamente alto se a doença for contagiosa.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xmlns="" id="{838A3350-B424-FFC8-887E-A4F979401EC1}"/>
                  </a:ext>
                </a:extLst>
              </p:cNvPr>
              <p:cNvSpPr txBox="1"/>
              <p:nvPr/>
            </p:nvSpPr>
            <p:spPr>
              <a:xfrm>
                <a:off x="838200" y="3319287"/>
                <a:ext cx="3417711" cy="1022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𝑟𝑒𝑐𝑎𝑙𝑙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i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i="0">
                              <a:latin typeface="Cambria Math" panose="02040503050406030204" pitchFamily="18" charset="0"/>
                            </a:rPr>
                            <m:t>FN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TP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E92F9593-43C2-2FC6-D7DF-B4A04BE65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19287"/>
                <a:ext cx="3417711" cy="10225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a 5">
            <a:extLst>
              <a:ext uri="{FF2B5EF4-FFF2-40B4-BE49-F238E27FC236}">
                <a16:creationId xmlns:a16="http://schemas.microsoft.com/office/drawing/2014/main" xmlns="" id="{6F8B50E5-59B3-7D20-E676-F37DDCFCA230}"/>
              </a:ext>
            </a:extLst>
          </p:cNvPr>
          <p:cNvGraphicFramePr>
            <a:graphicFrameLocks noGrp="1"/>
          </p:cNvGraphicFramePr>
          <p:nvPr/>
        </p:nvGraphicFramePr>
        <p:xfrm>
          <a:off x="1840088" y="5230813"/>
          <a:ext cx="179493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466">
                  <a:extLst>
                    <a:ext uri="{9D8B030D-6E8A-4147-A177-3AD203B41FA5}">
                      <a16:colId xmlns:a16="http://schemas.microsoft.com/office/drawing/2014/main" xmlns="" val="2780398905"/>
                    </a:ext>
                  </a:extLst>
                </a:gridCol>
                <a:gridCol w="897466">
                  <a:extLst>
                    <a:ext uri="{9D8B030D-6E8A-4147-A177-3AD203B41FA5}">
                      <a16:colId xmlns:a16="http://schemas.microsoft.com/office/drawing/2014/main" xmlns="" val="1752542230"/>
                    </a:ext>
                  </a:extLst>
                </a:gridCol>
              </a:tblGrid>
              <a:tr h="431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FF0000"/>
                          </a:solidFill>
                          <a:effectLst/>
                        </a:rPr>
                        <a:t>TN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952155157"/>
                  </a:ext>
                </a:extLst>
              </a:tr>
              <a:tr h="431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0000FF"/>
                          </a:solidFill>
                          <a:effectLst/>
                        </a:rPr>
                        <a:t>FP</a:t>
                      </a:r>
                      <a:endParaRPr lang="pt-BR" sz="2400" b="1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>
                          <a:solidFill>
                            <a:srgbClr val="00B050"/>
                          </a:solidFill>
                          <a:effectLst/>
                        </a:rPr>
                        <a:t>TP</a:t>
                      </a:r>
                      <a:endParaRPr lang="pt-BR" sz="2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69341992"/>
                  </a:ext>
                </a:extLst>
              </a:tr>
            </a:tbl>
          </a:graphicData>
        </a:graphic>
      </p:graphicFrame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26508683-E050-40A0-9B76-B0CF504C46C8}"/>
              </a:ext>
            </a:extLst>
          </p:cNvPr>
          <p:cNvSpPr/>
          <p:nvPr/>
        </p:nvSpPr>
        <p:spPr>
          <a:xfrm>
            <a:off x="2848303" y="5129049"/>
            <a:ext cx="641131" cy="113511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EF4E8F31-70DD-AFAD-34E2-A822946626E9}"/>
              </a:ext>
            </a:extLst>
          </p:cNvPr>
          <p:cNvSpPr txBox="1"/>
          <p:nvPr/>
        </p:nvSpPr>
        <p:spPr>
          <a:xfrm>
            <a:off x="2781709" y="6181265"/>
            <a:ext cx="853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doente</a:t>
            </a:r>
            <a:endParaRPr lang="en-US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8339B622-0A8F-73D9-2449-EDF1095410C1}"/>
              </a:ext>
            </a:extLst>
          </p:cNvPr>
          <p:cNvSpPr txBox="1"/>
          <p:nvPr/>
        </p:nvSpPr>
        <p:spPr>
          <a:xfrm>
            <a:off x="1775984" y="6181265"/>
            <a:ext cx="1005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saudável</a:t>
            </a:r>
            <a:endParaRPr lang="en-US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xmlns="" id="{C8BDA5C3-77D9-BE4A-F72B-0D83504807E8}"/>
              </a:ext>
            </a:extLst>
          </p:cNvPr>
          <p:cNvSpPr txBox="1"/>
          <p:nvPr/>
        </p:nvSpPr>
        <p:spPr>
          <a:xfrm>
            <a:off x="838200" y="5248003"/>
            <a:ext cx="1005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saudável</a:t>
            </a:r>
            <a:endParaRPr lang="en-US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xmlns="" id="{A5CFE41C-61A5-A9A5-1493-12FF02B34221}"/>
              </a:ext>
            </a:extLst>
          </p:cNvPr>
          <p:cNvSpPr txBox="1"/>
          <p:nvPr/>
        </p:nvSpPr>
        <p:spPr>
          <a:xfrm>
            <a:off x="1001652" y="5696608"/>
            <a:ext cx="853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doente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252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171E3951-9049-F65B-B03A-1DB6F460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2337"/>
            <a:ext cx="10515600" cy="247332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dirty="0"/>
              <a:t>Mas e se falsos positivos e falsos negativos tiverem custos iguais, que métrica usar?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665855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BF87474-9D5C-0B3D-63E8-AD1CF986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Precisão versus </a:t>
            </a:r>
            <a:r>
              <a:rPr lang="pt-BR" i="1" dirty="0"/>
              <a:t>recall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2DAA94B-AA8F-AF15-EE11-8B107DF8C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8313" y="1825624"/>
            <a:ext cx="7087961" cy="503237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 </a:t>
            </a:r>
            <a:r>
              <a:rPr lang="pt-BR" b="1" dirty="0">
                <a:solidFill>
                  <a:srgbClr val="00B050"/>
                </a:solidFill>
              </a:rPr>
              <a:t>precisão</a:t>
            </a:r>
            <a:r>
              <a:rPr lang="pt-BR" dirty="0"/>
              <a:t> não fornece informações a respeito da quantidade de </a:t>
            </a:r>
            <a:r>
              <a:rPr lang="pt-BR" b="1" dirty="0">
                <a:solidFill>
                  <a:srgbClr val="00B050"/>
                </a:solidFill>
              </a:rPr>
              <a:t>falsos negativos</a:t>
            </a:r>
            <a:r>
              <a:rPr lang="pt-BR" dirty="0"/>
              <a:t>. </a:t>
            </a:r>
          </a:p>
          <a:p>
            <a:r>
              <a:rPr lang="pt-BR" dirty="0"/>
              <a:t>Por outro lado, o </a:t>
            </a:r>
            <a:r>
              <a:rPr lang="pt-BR" b="1" i="1" dirty="0">
                <a:solidFill>
                  <a:srgbClr val="00B050"/>
                </a:solidFill>
              </a:rPr>
              <a:t>recall</a:t>
            </a:r>
            <a:r>
              <a:rPr lang="pt-BR" dirty="0"/>
              <a:t> não fornece informações a respeito da quantidade de </a:t>
            </a:r>
            <a:r>
              <a:rPr lang="pt-BR" b="1" dirty="0">
                <a:solidFill>
                  <a:srgbClr val="00B050"/>
                </a:solidFill>
              </a:rPr>
              <a:t>falsos positivos</a:t>
            </a:r>
            <a:r>
              <a:rPr lang="pt-BR" dirty="0"/>
              <a:t>.</a:t>
            </a:r>
          </a:p>
          <a:p>
            <a:r>
              <a:rPr lang="pt-BR" dirty="0"/>
              <a:t>Mas e se os </a:t>
            </a:r>
            <a:r>
              <a:rPr lang="pt-BR" b="1" dirty="0">
                <a:solidFill>
                  <a:srgbClr val="00B050"/>
                </a:solidFill>
              </a:rPr>
              <a:t>custos associados a falsos positivos e negativos </a:t>
            </a:r>
            <a:r>
              <a:rPr lang="pt-BR" b="1" dirty="0">
                <a:solidFill>
                  <a:schemeClr val="accent2"/>
                </a:solidFill>
              </a:rPr>
              <a:t>são iguais</a:t>
            </a:r>
            <a:r>
              <a:rPr lang="pt-BR" dirty="0"/>
              <a:t>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Por exemplo, identificação de cães e gatos onde ambas as classificações corretas são importantes.</a:t>
            </a:r>
          </a:p>
          <a:p>
            <a:r>
              <a:rPr lang="pt-BR" dirty="0"/>
              <a:t>Nesse caso, para analisarmos o desempenho de um classificador, precisamos de </a:t>
            </a:r>
            <a:r>
              <a:rPr lang="pt-BR" b="1" dirty="0">
                <a:solidFill>
                  <a:schemeClr val="accent2"/>
                </a:solidFill>
              </a:rPr>
              <a:t>uma métrica que combine as duas</a:t>
            </a:r>
            <a:r>
              <a:rPr lang="pt-BR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xmlns="" id="{B66DD82C-2C7C-932B-0676-6777E743E2CA}"/>
                  </a:ext>
                </a:extLst>
              </p:cNvPr>
              <p:cNvSpPr txBox="1"/>
              <p:nvPr/>
            </p:nvSpPr>
            <p:spPr>
              <a:xfrm>
                <a:off x="838200" y="4204505"/>
                <a:ext cx="3417711" cy="1022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𝑟𝑒𝑐𝑎𝑙𝑙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i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i="0">
                              <a:latin typeface="Cambria Math" panose="02040503050406030204" pitchFamily="18" charset="0"/>
                            </a:rPr>
                            <m:t>FN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TP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B66DD82C-2C7C-932B-0676-6777E743E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04505"/>
                <a:ext cx="3417711" cy="10225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xmlns="" id="{1C33F56B-917E-EDAE-B038-52C2901A324E}"/>
                  </a:ext>
                </a:extLst>
              </p:cNvPr>
              <p:cNvSpPr txBox="1"/>
              <p:nvPr/>
            </p:nvSpPr>
            <p:spPr>
              <a:xfrm>
                <a:off x="577143" y="2563651"/>
                <a:ext cx="3939823" cy="1022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precis</m:t>
                      </m:r>
                      <m:r>
                        <a:rPr lang="pt-BR" sz="3200" b="0" i="0" smtClean="0">
                          <a:latin typeface="Cambria Math" panose="02040503050406030204" pitchFamily="18" charset="0"/>
                        </a:rPr>
                        <m:t>ã</m:t>
                      </m:r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FP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3200">
                              <a:latin typeface="Cambria Math" panose="02040503050406030204" pitchFamily="18" charset="0"/>
                            </a:rPr>
                            <m:t>TP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1C33F56B-917E-EDAE-B038-52C2901A3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143" y="2563651"/>
                <a:ext cx="3939823" cy="10225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2549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64DCA44-CC6E-8998-A693-998426B9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F1-</a:t>
            </a:r>
            <a:r>
              <a:rPr lang="pt-BR" i="1" dirty="0"/>
              <a:t>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C261D671-8D7F-BF6D-3C19-CFC15A190C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85187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F1-</a:t>
                </a:r>
                <a:r>
                  <a:rPr lang="pt-BR" i="1" dirty="0"/>
                  <a:t>score</a:t>
                </a:r>
                <a:r>
                  <a:rPr lang="pt-BR" dirty="0"/>
                  <a:t> combina as duas métricas em uma única.</a:t>
                </a:r>
              </a:p>
              <a:p>
                <a:r>
                  <a:rPr lang="pt-BR" dirty="0"/>
                  <a:t>A métrica dá a </a:t>
                </a:r>
                <a:r>
                  <a:rPr lang="pt-BR" b="1" dirty="0">
                    <a:solidFill>
                      <a:schemeClr val="accent2"/>
                    </a:solidFill>
                  </a:rPr>
                  <a:t>mesma importância </a:t>
                </a:r>
                <a:r>
                  <a:rPr lang="pt-BR" dirty="0"/>
                  <a:t>à </a:t>
                </a:r>
                <a:r>
                  <a:rPr lang="pt-BR" b="1" dirty="0"/>
                  <a:t>precisão</a:t>
                </a:r>
                <a:r>
                  <a:rPr lang="pt-BR" dirty="0"/>
                  <a:t> e ao </a:t>
                </a:r>
                <a:r>
                  <a:rPr lang="pt-BR" b="1" i="1" dirty="0"/>
                  <a:t>recall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i="1" dirty="0"/>
                  <a:t> </a:t>
                </a:r>
                <a:r>
                  <a:rPr lang="pt-BR" dirty="0"/>
                  <a:t>próximos de 1 indicam que o </a:t>
                </a:r>
                <a:r>
                  <a:rPr lang="pt-BR" b="1" dirty="0"/>
                  <a:t>classificador</a:t>
                </a:r>
                <a:r>
                  <a:rPr lang="pt-BR" dirty="0"/>
                  <a:t> obteve ótimos resultados tanto de </a:t>
                </a:r>
                <a:r>
                  <a:rPr lang="pt-BR" b="1" dirty="0"/>
                  <a:t>precisão</a:t>
                </a:r>
                <a:r>
                  <a:rPr lang="pt-BR" dirty="0"/>
                  <a:t> quanto de </a:t>
                </a:r>
                <a:r>
                  <a:rPr lang="pt-BR" b="1" i="1" dirty="0"/>
                  <a:t>recall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Em outras palavras,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pt-B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 significa que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i="0" smtClean="0">
                        <a:latin typeface="Cambria Math" panose="02040503050406030204" pitchFamily="18" charset="0"/>
                      </a:rPr>
                      <m:t>FN</m:t>
                    </m:r>
                  </m:oMath>
                </a14:m>
                <a:r>
                  <a:rPr lang="pt-BR" dirty="0">
                    <a:ea typeface="Cambria Math" panose="02040503050406030204" pitchFamily="18" charset="0"/>
                  </a:rPr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i="0" smtClean="0">
                        <a:latin typeface="Cambria Math" panose="02040503050406030204" pitchFamily="18" charset="0"/>
                      </a:rPr>
                      <m:t>FP</m:t>
                    </m:r>
                  </m:oMath>
                </a14:m>
                <a:r>
                  <a:rPr lang="pt-B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pt-B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261D671-8D7F-BF6D-3C19-CFC15A190C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85187" cy="5032375"/>
              </a:xfrm>
              <a:blipFill>
                <a:blip r:embed="rId2"/>
                <a:stretch>
                  <a:fillRect l="-981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xmlns="" id="{C0A929A7-E33F-6D02-D301-38706DE0743C}"/>
                  </a:ext>
                </a:extLst>
              </p:cNvPr>
              <p:cNvSpPr txBox="1"/>
              <p:nvPr/>
            </p:nvSpPr>
            <p:spPr>
              <a:xfrm>
                <a:off x="1589091" y="4664413"/>
                <a:ext cx="9013818" cy="1418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  <m:t>FN</m:t>
                              </m:r>
                              <m: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  <m:t>FP</m:t>
                              </m:r>
                            </m:num>
                            <m:den>
                              <m: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a:rPr lang="pt-BR" sz="3200" b="0" i="0" smtClean="0">
                          <a:latin typeface="Cambria Math" panose="02040503050406030204" pitchFamily="18" charset="0"/>
                        </a:rPr>
                        <m:t>=2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precis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𝑟𝑒𝑐𝑎𝑙𝑙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i="0">
                              <a:latin typeface="Cambria Math" panose="02040503050406030204" pitchFamily="18" charset="0"/>
                            </a:rPr>
                            <m:t>precis</m:t>
                          </m:r>
                          <m:r>
                            <a:rPr lang="pt-BR" sz="3200" i="0"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m:rPr>
                              <m:sty m:val="p"/>
                            </m:rPr>
                            <a:rPr lang="pt-BR" sz="3200" i="0"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𝑟𝑒𝑐𝑎𝑙𝑙</m:t>
                          </m:r>
                        </m:den>
                      </m:f>
                      <m:r>
                        <a:rPr lang="pt-BR" sz="32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0A929A7-E33F-6D02-D301-38706DE07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091" y="4664413"/>
                <a:ext cx="9013818" cy="14182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840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0F418656-538C-BBD9-47FA-40A924A669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0025" y="2505100"/>
                <a:ext cx="11791950" cy="1847799"/>
              </a:xfrm>
            </p:spPr>
            <p:txBody>
              <a:bodyPr>
                <a:noAutofit/>
              </a:bodyPr>
              <a:lstStyle/>
              <a:p>
                <a:pPr marL="0" indent="0" algn="ctr">
                  <a:buNone/>
                </a:pPr>
                <a:r>
                  <a:rPr lang="pt-BR" sz="5400" dirty="0"/>
                  <a:t>OK, consigo calcular as métricas para problemas binários, mas e quando </a:t>
                </a:r>
                <a14:m>
                  <m:oMath xmlns:m="http://schemas.openxmlformats.org/officeDocument/2006/math">
                    <m:r>
                      <a:rPr lang="pt-BR" sz="5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sz="5400" dirty="0"/>
                  <a:t> &gt; 2?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F418656-538C-BBD9-47FA-40A924A669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0025" y="2505100"/>
                <a:ext cx="11791950" cy="1847799"/>
              </a:xfrm>
              <a:blipFill>
                <a:blip r:embed="rId2"/>
                <a:stretch>
                  <a:fillRect l="-2585" t="-13531" r="-2482" b="-5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1611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4F6D18B-0399-55B9-FD83-C7EDF77FF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9356" cy="1325563"/>
          </a:xfrm>
        </p:spPr>
        <p:txBody>
          <a:bodyPr/>
          <a:lstStyle/>
          <a:p>
            <a:r>
              <a:rPr lang="pt-BR" dirty="0"/>
              <a:t>Matriz de confusão para caso multiclasses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06AE9087-3D2E-DF8E-D6D3-12EDE54371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59491"/>
                <a:ext cx="11353800" cy="4998509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É possível calcular todas as métricas anteriores para o cenário multiclasses (i.e.,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pt-BR" dirty="0"/>
                  <a:t>).</a:t>
                </a:r>
              </a:p>
              <a:p>
                <a:r>
                  <a:rPr lang="pt-BR" dirty="0"/>
                  <a:t>Para isso, basta selecionar </a:t>
                </a:r>
                <a:r>
                  <a:rPr lang="pt-BR" b="1" dirty="0">
                    <a:solidFill>
                      <a:srgbClr val="7030A0"/>
                    </a:solidFill>
                  </a:rPr>
                  <a:t>uma classe por vez</a:t>
                </a:r>
                <a:r>
                  <a:rPr lang="pt-BR" dirty="0"/>
                  <a:t> como sendo a </a:t>
                </a:r>
                <a:r>
                  <a:rPr lang="pt-BR" b="1" dirty="0">
                    <a:solidFill>
                      <a:srgbClr val="7030A0"/>
                    </a:solidFill>
                  </a:rPr>
                  <a:t>classe positiva</a:t>
                </a:r>
                <a:r>
                  <a:rPr lang="pt-BR" dirty="0"/>
                  <a:t>, enquanto todas </a:t>
                </a:r>
                <a:r>
                  <a:rPr lang="pt-BR" b="1" dirty="0">
                    <a:solidFill>
                      <a:schemeClr val="accent2"/>
                    </a:solidFill>
                  </a:rPr>
                  <a:t>as demais classes</a:t>
                </a:r>
                <a:r>
                  <a:rPr lang="pt-BR" dirty="0"/>
                  <a:t> </a:t>
                </a:r>
                <a:r>
                  <a:rPr lang="pt-BR" b="1" dirty="0">
                    <a:solidFill>
                      <a:schemeClr val="accent2"/>
                    </a:solidFill>
                  </a:rPr>
                  <a:t>formam a classe negativa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Essa abordagem se chama </a:t>
                </a:r>
                <a:r>
                  <a:rPr lang="pt-BR" b="1" dirty="0">
                    <a:solidFill>
                      <a:srgbClr val="0070C0"/>
                    </a:solidFill>
                  </a:rPr>
                  <a:t>um-contra-o-resto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É uma maneira de transformar um problema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 classes em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pt-BR" dirty="0"/>
                  <a:t> problemas binários.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Assim, </a:t>
                </a:r>
                <a:r>
                  <a:rPr lang="pt-BR" b="1" dirty="0">
                    <a:solidFill>
                      <a:srgbClr val="7030A0"/>
                    </a:solidFill>
                  </a:rPr>
                  <a:t>passamos a ter </a:t>
                </a:r>
                <a14:m>
                  <m:oMath xmlns:m="http://schemas.openxmlformats.org/officeDocument/2006/math">
                    <m:r>
                      <a:rPr lang="pt-BR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pt-BR" b="1" dirty="0">
                    <a:solidFill>
                      <a:srgbClr val="7030A0"/>
                    </a:solidFill>
                  </a:rPr>
                  <a:t> matrizes de confusão binárias, uma para cada classe sendo a classe positiva.</a:t>
                </a:r>
              </a:p>
              <a:p>
                <a:r>
                  <a:rPr lang="pt-BR" dirty="0"/>
                  <a:t>Desta forma, obtém-se os valores das </a:t>
                </a:r>
                <a:r>
                  <a:rPr lang="pt-BR" b="1" dirty="0">
                    <a:solidFill>
                      <a:srgbClr val="00B050"/>
                    </a:solidFill>
                  </a:rPr>
                  <a:t>métricas para cada uma das </a:t>
                </a:r>
                <a14:m>
                  <m:oMath xmlns:m="http://schemas.openxmlformats.org/officeDocument/2006/math">
                    <m:r>
                      <a:rPr lang="pt-BR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pt-BR" b="1" dirty="0">
                    <a:solidFill>
                      <a:srgbClr val="00B050"/>
                    </a:solidFill>
                  </a:rPr>
                  <a:t> classes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Vejamos um exemplo para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dirty="0"/>
                  <a:t>, ou seja,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6AE9087-3D2E-DF8E-D6D3-12EDE54371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59491"/>
                <a:ext cx="11353800" cy="4998509"/>
              </a:xfrm>
              <a:blipFill>
                <a:blip r:embed="rId3"/>
                <a:stretch>
                  <a:fillRect l="-967" t="-1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138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Agrupar 20">
            <a:extLst>
              <a:ext uri="{FF2B5EF4-FFF2-40B4-BE49-F238E27FC236}">
                <a16:creationId xmlns:a16="http://schemas.microsoft.com/office/drawing/2014/main" xmlns="" id="{C5995D85-6E2F-F101-4F83-A59335472961}"/>
              </a:ext>
            </a:extLst>
          </p:cNvPr>
          <p:cNvGrpSpPr/>
          <p:nvPr/>
        </p:nvGrpSpPr>
        <p:grpSpPr>
          <a:xfrm>
            <a:off x="1617294" y="242939"/>
            <a:ext cx="6992205" cy="6506243"/>
            <a:chOff x="2194241" y="188509"/>
            <a:chExt cx="6992205" cy="6506243"/>
          </a:xfrm>
        </p:grpSpPr>
        <p:grpSp>
          <p:nvGrpSpPr>
            <p:cNvPr id="14" name="Group 13"/>
            <p:cNvGrpSpPr/>
            <p:nvPr/>
          </p:nvGrpSpPr>
          <p:grpSpPr>
            <a:xfrm>
              <a:off x="2194241" y="188509"/>
              <a:ext cx="6992205" cy="6506243"/>
              <a:chOff x="2194241" y="188509"/>
              <a:chExt cx="6992205" cy="6506243"/>
            </a:xfrm>
          </p:grpSpPr>
          <p:grpSp>
            <p:nvGrpSpPr>
              <p:cNvPr id="63" name="Group 62"/>
              <p:cNvGrpSpPr/>
              <p:nvPr/>
            </p:nvGrpSpPr>
            <p:grpSpPr>
              <a:xfrm>
                <a:off x="2194241" y="2343949"/>
                <a:ext cx="2614572" cy="2044068"/>
                <a:chOff x="838200" y="2110077"/>
                <a:chExt cx="2614572" cy="2044068"/>
              </a:xfrm>
            </p:grpSpPr>
            <p:cxnSp>
              <p:nvCxnSpPr>
                <p:cNvPr id="5" name="Straight Connector 4"/>
                <p:cNvCxnSpPr/>
                <p:nvPr/>
              </p:nvCxnSpPr>
              <p:spPr>
                <a:xfrm>
                  <a:off x="990682" y="2254516"/>
                  <a:ext cx="0" cy="189962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Connector 5"/>
                <p:cNvCxnSpPr/>
                <p:nvPr/>
              </p:nvCxnSpPr>
              <p:spPr>
                <a:xfrm rot="16200000">
                  <a:off x="1994309" y="2863461"/>
                  <a:ext cx="0" cy="231221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TextBox 6"/>
                    <p:cNvSpPr txBox="1"/>
                    <p:nvPr/>
                  </p:nvSpPr>
                  <p:spPr>
                    <a:xfrm>
                      <a:off x="990682" y="2110077"/>
                      <a:ext cx="356016" cy="2517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7" name="TextBox 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90682" y="2110077"/>
                      <a:ext cx="356016" cy="251762"/>
                    </a:xfrm>
                    <a:prstGeom prst="rect">
                      <a:avLst/>
                    </a:prstGeom>
                    <a:blipFill rotWithShape="0">
                      <a:blip r:embed="rId2"/>
                      <a:stretch>
                        <a:fillRect r="-3448" b="-463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TextBox 7"/>
                    <p:cNvSpPr txBox="1"/>
                    <p:nvPr/>
                  </p:nvSpPr>
                  <p:spPr>
                    <a:xfrm>
                      <a:off x="3096756" y="3893688"/>
                      <a:ext cx="356016" cy="2517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8" name="TextBox 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96756" y="3893688"/>
                      <a:ext cx="356016" cy="251762"/>
                    </a:xfrm>
                    <a:prstGeom prst="rect">
                      <a:avLst/>
                    </a:prstGeom>
                    <a:blipFill rotWithShape="0">
                      <a:blip r:embed="rId3"/>
                      <a:stretch>
                        <a:fillRect r="-1695" b="-463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5" name="Oval 14"/>
                <p:cNvSpPr/>
                <p:nvPr/>
              </p:nvSpPr>
              <p:spPr>
                <a:xfrm>
                  <a:off x="2194198" y="2661111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2187973" y="2842565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2606963" y="2512448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6" name="Oval 25"/>
                <p:cNvSpPr/>
                <p:nvPr/>
              </p:nvSpPr>
              <p:spPr>
                <a:xfrm>
                  <a:off x="2227111" y="2448410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8" name="Oval 27"/>
                <p:cNvSpPr/>
                <p:nvPr/>
              </p:nvSpPr>
              <p:spPr>
                <a:xfrm>
                  <a:off x="2420446" y="2626702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0" name="Multiply 29"/>
                <p:cNvSpPr/>
                <p:nvPr/>
              </p:nvSpPr>
              <p:spPr>
                <a:xfrm>
                  <a:off x="1379427" y="2534034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1" name="Multiply 30"/>
                <p:cNvSpPr/>
                <p:nvPr/>
              </p:nvSpPr>
              <p:spPr>
                <a:xfrm>
                  <a:off x="1261029" y="2724508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2" name="Multiply 31"/>
                <p:cNvSpPr/>
                <p:nvPr/>
              </p:nvSpPr>
              <p:spPr>
                <a:xfrm>
                  <a:off x="1155997" y="2502373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3" name="Multiply 32"/>
                <p:cNvSpPr/>
                <p:nvPr/>
              </p:nvSpPr>
              <p:spPr>
                <a:xfrm>
                  <a:off x="1017618" y="2761654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5" name="Multiply 34"/>
                <p:cNvSpPr/>
                <p:nvPr/>
              </p:nvSpPr>
              <p:spPr>
                <a:xfrm>
                  <a:off x="1238102" y="2966671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6" name="Oval 35"/>
                <p:cNvSpPr/>
                <p:nvPr/>
              </p:nvSpPr>
              <p:spPr>
                <a:xfrm>
                  <a:off x="2397411" y="2418024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8" name="Oval 37"/>
                <p:cNvSpPr/>
                <p:nvPr/>
              </p:nvSpPr>
              <p:spPr>
                <a:xfrm>
                  <a:off x="2495121" y="2822870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52" name="Isosceles Triangle 51"/>
                <p:cNvSpPr/>
                <p:nvPr/>
              </p:nvSpPr>
              <p:spPr>
                <a:xfrm>
                  <a:off x="1618386" y="3440309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53" name="Isosceles Triangle 52"/>
                <p:cNvSpPr/>
                <p:nvPr/>
              </p:nvSpPr>
              <p:spPr>
                <a:xfrm>
                  <a:off x="1899719" y="3387471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54" name="Isosceles Triangle 53"/>
                <p:cNvSpPr/>
                <p:nvPr/>
              </p:nvSpPr>
              <p:spPr>
                <a:xfrm>
                  <a:off x="1814030" y="3646170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55" name="Isosceles Triangle 54"/>
                <p:cNvSpPr/>
                <p:nvPr/>
              </p:nvSpPr>
              <p:spPr>
                <a:xfrm>
                  <a:off x="1546386" y="3685095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56" name="Isosceles Triangle 55"/>
                <p:cNvSpPr/>
                <p:nvPr/>
              </p:nvSpPr>
              <p:spPr>
                <a:xfrm>
                  <a:off x="2084693" y="3591315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64" name="Group 63"/>
              <p:cNvGrpSpPr/>
              <p:nvPr/>
            </p:nvGrpSpPr>
            <p:grpSpPr>
              <a:xfrm>
                <a:off x="6571874" y="4650684"/>
                <a:ext cx="2614572" cy="2044068"/>
                <a:chOff x="838200" y="2110077"/>
                <a:chExt cx="2614572" cy="2044068"/>
              </a:xfrm>
            </p:grpSpPr>
            <p:cxnSp>
              <p:nvCxnSpPr>
                <p:cNvPr id="65" name="Straight Connector 64"/>
                <p:cNvCxnSpPr/>
                <p:nvPr/>
              </p:nvCxnSpPr>
              <p:spPr>
                <a:xfrm>
                  <a:off x="990682" y="2254516"/>
                  <a:ext cx="0" cy="189962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>
                <a:xfrm rot="16200000">
                  <a:off x="1994309" y="2863461"/>
                  <a:ext cx="0" cy="231221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TextBox 66"/>
                    <p:cNvSpPr txBox="1"/>
                    <p:nvPr/>
                  </p:nvSpPr>
                  <p:spPr>
                    <a:xfrm>
                      <a:off x="990682" y="2110077"/>
                      <a:ext cx="356016" cy="2517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67" name="TextBox 6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90682" y="2110077"/>
                      <a:ext cx="356016" cy="251762"/>
                    </a:xfrm>
                    <a:prstGeom prst="rect">
                      <a:avLst/>
                    </a:prstGeom>
                    <a:blipFill rotWithShape="0">
                      <a:blip r:embed="rId4"/>
                      <a:stretch>
                        <a:fillRect r="-5172" b="-463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TextBox 67"/>
                    <p:cNvSpPr txBox="1"/>
                    <p:nvPr/>
                  </p:nvSpPr>
                  <p:spPr>
                    <a:xfrm>
                      <a:off x="3096756" y="3893688"/>
                      <a:ext cx="356016" cy="2517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68" name="TextBox 6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96756" y="3893688"/>
                      <a:ext cx="356016" cy="251762"/>
                    </a:xfrm>
                    <a:prstGeom prst="rect">
                      <a:avLst/>
                    </a:prstGeom>
                    <a:blipFill rotWithShape="0">
                      <a:blip r:embed="rId5"/>
                      <a:stretch>
                        <a:fillRect r="-1724" b="-42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9" name="Oval 68"/>
                <p:cNvSpPr/>
                <p:nvPr/>
              </p:nvSpPr>
              <p:spPr>
                <a:xfrm>
                  <a:off x="2194198" y="2661111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70" name="Oval 69"/>
                <p:cNvSpPr/>
                <p:nvPr/>
              </p:nvSpPr>
              <p:spPr>
                <a:xfrm>
                  <a:off x="2187973" y="2842565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71" name="Oval 70"/>
                <p:cNvSpPr/>
                <p:nvPr/>
              </p:nvSpPr>
              <p:spPr>
                <a:xfrm>
                  <a:off x="2606963" y="2512448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72" name="Oval 71"/>
                <p:cNvSpPr/>
                <p:nvPr/>
              </p:nvSpPr>
              <p:spPr>
                <a:xfrm>
                  <a:off x="2227111" y="2448410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73" name="Oval 72"/>
                <p:cNvSpPr/>
                <p:nvPr/>
              </p:nvSpPr>
              <p:spPr>
                <a:xfrm>
                  <a:off x="2420446" y="2626702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74" name="Multiply 73"/>
                <p:cNvSpPr/>
                <p:nvPr/>
              </p:nvSpPr>
              <p:spPr>
                <a:xfrm>
                  <a:off x="1379427" y="2534034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75" name="Multiply 74"/>
                <p:cNvSpPr/>
                <p:nvPr/>
              </p:nvSpPr>
              <p:spPr>
                <a:xfrm>
                  <a:off x="1261029" y="2724508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76" name="Multiply 75"/>
                <p:cNvSpPr/>
                <p:nvPr/>
              </p:nvSpPr>
              <p:spPr>
                <a:xfrm>
                  <a:off x="1155997" y="2502373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77" name="Multiply 76"/>
                <p:cNvSpPr/>
                <p:nvPr/>
              </p:nvSpPr>
              <p:spPr>
                <a:xfrm>
                  <a:off x="1017618" y="2761654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78" name="Multiply 77"/>
                <p:cNvSpPr/>
                <p:nvPr/>
              </p:nvSpPr>
              <p:spPr>
                <a:xfrm>
                  <a:off x="1238102" y="2966671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79" name="Oval 78"/>
                <p:cNvSpPr/>
                <p:nvPr/>
              </p:nvSpPr>
              <p:spPr>
                <a:xfrm>
                  <a:off x="2397411" y="2418024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80" name="Oval 79"/>
                <p:cNvSpPr/>
                <p:nvPr/>
              </p:nvSpPr>
              <p:spPr>
                <a:xfrm>
                  <a:off x="2495121" y="2822870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81" name="Isosceles Triangle 80"/>
                <p:cNvSpPr/>
                <p:nvPr/>
              </p:nvSpPr>
              <p:spPr>
                <a:xfrm>
                  <a:off x="1618386" y="3440309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82" name="Isosceles Triangle 81"/>
                <p:cNvSpPr/>
                <p:nvPr/>
              </p:nvSpPr>
              <p:spPr>
                <a:xfrm>
                  <a:off x="1899719" y="3387471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83" name="Isosceles Triangle 82"/>
                <p:cNvSpPr/>
                <p:nvPr/>
              </p:nvSpPr>
              <p:spPr>
                <a:xfrm>
                  <a:off x="1814030" y="3646170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84" name="Isosceles Triangle 83"/>
                <p:cNvSpPr/>
                <p:nvPr/>
              </p:nvSpPr>
              <p:spPr>
                <a:xfrm>
                  <a:off x="1546386" y="3685095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85" name="Isosceles Triangle 84"/>
                <p:cNvSpPr/>
                <p:nvPr/>
              </p:nvSpPr>
              <p:spPr>
                <a:xfrm>
                  <a:off x="2084693" y="3591315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86" name="Group 85"/>
              <p:cNvGrpSpPr/>
              <p:nvPr/>
            </p:nvGrpSpPr>
            <p:grpSpPr>
              <a:xfrm>
                <a:off x="6543675" y="2448410"/>
                <a:ext cx="2614572" cy="2044068"/>
                <a:chOff x="838200" y="2110077"/>
                <a:chExt cx="2614572" cy="2044068"/>
              </a:xfrm>
            </p:grpSpPr>
            <p:cxnSp>
              <p:nvCxnSpPr>
                <p:cNvPr id="87" name="Straight Connector 86"/>
                <p:cNvCxnSpPr/>
                <p:nvPr/>
              </p:nvCxnSpPr>
              <p:spPr>
                <a:xfrm>
                  <a:off x="990682" y="2254516"/>
                  <a:ext cx="0" cy="189962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/>
                <p:cNvCxnSpPr/>
                <p:nvPr/>
              </p:nvCxnSpPr>
              <p:spPr>
                <a:xfrm rot="16200000">
                  <a:off x="1994309" y="2863461"/>
                  <a:ext cx="0" cy="231221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9" name="TextBox 88"/>
                    <p:cNvSpPr txBox="1"/>
                    <p:nvPr/>
                  </p:nvSpPr>
                  <p:spPr>
                    <a:xfrm>
                      <a:off x="990682" y="2110077"/>
                      <a:ext cx="356016" cy="2517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89" name="TextBox 8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90682" y="2110077"/>
                      <a:ext cx="356016" cy="251762"/>
                    </a:xfrm>
                    <a:prstGeom prst="rect">
                      <a:avLst/>
                    </a:prstGeom>
                    <a:blipFill rotWithShape="0">
                      <a:blip r:embed="rId6"/>
                      <a:stretch>
                        <a:fillRect r="-3390" b="-463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0" name="TextBox 89"/>
                    <p:cNvSpPr txBox="1"/>
                    <p:nvPr/>
                  </p:nvSpPr>
                  <p:spPr>
                    <a:xfrm>
                      <a:off x="3096756" y="3893688"/>
                      <a:ext cx="356016" cy="2517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90" name="TextBox 8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96756" y="3893688"/>
                      <a:ext cx="356016" cy="251762"/>
                    </a:xfrm>
                    <a:prstGeom prst="rect">
                      <a:avLst/>
                    </a:prstGeom>
                    <a:blipFill rotWithShape="0">
                      <a:blip r:embed="rId7"/>
                      <a:stretch>
                        <a:fillRect r="-1724" b="-42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91" name="Oval 90"/>
                <p:cNvSpPr/>
                <p:nvPr/>
              </p:nvSpPr>
              <p:spPr>
                <a:xfrm>
                  <a:off x="2194198" y="2661111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92" name="Oval 91"/>
                <p:cNvSpPr/>
                <p:nvPr/>
              </p:nvSpPr>
              <p:spPr>
                <a:xfrm>
                  <a:off x="2187973" y="2842565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93" name="Oval 92"/>
                <p:cNvSpPr/>
                <p:nvPr/>
              </p:nvSpPr>
              <p:spPr>
                <a:xfrm>
                  <a:off x="2606963" y="2512448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94" name="Oval 93"/>
                <p:cNvSpPr/>
                <p:nvPr/>
              </p:nvSpPr>
              <p:spPr>
                <a:xfrm>
                  <a:off x="2227111" y="2448410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95" name="Oval 94"/>
                <p:cNvSpPr/>
                <p:nvPr/>
              </p:nvSpPr>
              <p:spPr>
                <a:xfrm>
                  <a:off x="2420446" y="2626702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96" name="Multiply 95"/>
                <p:cNvSpPr/>
                <p:nvPr/>
              </p:nvSpPr>
              <p:spPr>
                <a:xfrm>
                  <a:off x="1379427" y="2534034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97" name="Multiply 96"/>
                <p:cNvSpPr/>
                <p:nvPr/>
              </p:nvSpPr>
              <p:spPr>
                <a:xfrm>
                  <a:off x="1261029" y="2724508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98" name="Multiply 97"/>
                <p:cNvSpPr/>
                <p:nvPr/>
              </p:nvSpPr>
              <p:spPr>
                <a:xfrm>
                  <a:off x="1155997" y="2502373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99" name="Multiply 98"/>
                <p:cNvSpPr/>
                <p:nvPr/>
              </p:nvSpPr>
              <p:spPr>
                <a:xfrm>
                  <a:off x="1017618" y="2761654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00" name="Multiply 99"/>
                <p:cNvSpPr/>
                <p:nvPr/>
              </p:nvSpPr>
              <p:spPr>
                <a:xfrm>
                  <a:off x="1238102" y="2966671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01" name="Oval 100"/>
                <p:cNvSpPr/>
                <p:nvPr/>
              </p:nvSpPr>
              <p:spPr>
                <a:xfrm>
                  <a:off x="2397411" y="2418024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02" name="Oval 101"/>
                <p:cNvSpPr/>
                <p:nvPr/>
              </p:nvSpPr>
              <p:spPr>
                <a:xfrm>
                  <a:off x="2495121" y="2822870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03" name="Isosceles Triangle 102"/>
                <p:cNvSpPr/>
                <p:nvPr/>
              </p:nvSpPr>
              <p:spPr>
                <a:xfrm>
                  <a:off x="1618386" y="3440309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04" name="Isosceles Triangle 103"/>
                <p:cNvSpPr/>
                <p:nvPr/>
              </p:nvSpPr>
              <p:spPr>
                <a:xfrm>
                  <a:off x="1899719" y="3387471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05" name="Isosceles Triangle 104"/>
                <p:cNvSpPr/>
                <p:nvPr/>
              </p:nvSpPr>
              <p:spPr>
                <a:xfrm>
                  <a:off x="1814030" y="3646170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06" name="Isosceles Triangle 105"/>
                <p:cNvSpPr/>
                <p:nvPr/>
              </p:nvSpPr>
              <p:spPr>
                <a:xfrm>
                  <a:off x="1546386" y="3685095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07" name="Isosceles Triangle 106"/>
                <p:cNvSpPr/>
                <p:nvPr/>
              </p:nvSpPr>
              <p:spPr>
                <a:xfrm>
                  <a:off x="2084693" y="3591315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grpSp>
            <p:nvGrpSpPr>
              <p:cNvPr id="150" name="Group 149"/>
              <p:cNvGrpSpPr/>
              <p:nvPr/>
            </p:nvGrpSpPr>
            <p:grpSpPr>
              <a:xfrm>
                <a:off x="6543675" y="188509"/>
                <a:ext cx="2614572" cy="2044068"/>
                <a:chOff x="6543675" y="188509"/>
                <a:chExt cx="2614572" cy="2044068"/>
              </a:xfrm>
            </p:grpSpPr>
            <p:cxnSp>
              <p:nvCxnSpPr>
                <p:cNvPr id="109" name="Straight Connector 108"/>
                <p:cNvCxnSpPr/>
                <p:nvPr/>
              </p:nvCxnSpPr>
              <p:spPr>
                <a:xfrm>
                  <a:off x="6696157" y="332948"/>
                  <a:ext cx="0" cy="1899629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>
                <a:xfrm rot="16200000">
                  <a:off x="7699784" y="941893"/>
                  <a:ext cx="0" cy="231221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1" name="TextBox 110"/>
                    <p:cNvSpPr txBox="1"/>
                    <p:nvPr/>
                  </p:nvSpPr>
                  <p:spPr>
                    <a:xfrm>
                      <a:off x="6696157" y="188509"/>
                      <a:ext cx="356016" cy="2517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111" name="TextBox 11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96157" y="188509"/>
                      <a:ext cx="356016" cy="251762"/>
                    </a:xfrm>
                    <a:prstGeom prst="rect">
                      <a:avLst/>
                    </a:prstGeom>
                    <a:blipFill rotWithShape="0">
                      <a:blip r:embed="rId8"/>
                      <a:stretch>
                        <a:fillRect r="-3390" b="-463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2" name="TextBox 111"/>
                    <p:cNvSpPr txBox="1"/>
                    <p:nvPr/>
                  </p:nvSpPr>
                  <p:spPr>
                    <a:xfrm>
                      <a:off x="8802231" y="1972120"/>
                      <a:ext cx="356016" cy="2517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112" name="TextBox 11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02231" y="1972120"/>
                      <a:ext cx="356016" cy="251762"/>
                    </a:xfrm>
                    <a:prstGeom prst="rect">
                      <a:avLst/>
                    </a:prstGeom>
                    <a:blipFill rotWithShape="0">
                      <a:blip r:embed="rId9"/>
                      <a:stretch>
                        <a:fillRect r="-1724" b="-4634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13" name="Oval 112"/>
                <p:cNvSpPr/>
                <p:nvPr/>
              </p:nvSpPr>
              <p:spPr>
                <a:xfrm>
                  <a:off x="7899673" y="739543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14" name="Oval 113"/>
                <p:cNvSpPr/>
                <p:nvPr/>
              </p:nvSpPr>
              <p:spPr>
                <a:xfrm>
                  <a:off x="7893448" y="920997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15" name="Oval 114"/>
                <p:cNvSpPr/>
                <p:nvPr/>
              </p:nvSpPr>
              <p:spPr>
                <a:xfrm>
                  <a:off x="8312438" y="590880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16" name="Oval 115"/>
                <p:cNvSpPr/>
                <p:nvPr/>
              </p:nvSpPr>
              <p:spPr>
                <a:xfrm>
                  <a:off x="7932586" y="526842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17" name="Oval 116"/>
                <p:cNvSpPr/>
                <p:nvPr/>
              </p:nvSpPr>
              <p:spPr>
                <a:xfrm>
                  <a:off x="8125921" y="705134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18" name="Multiply 117"/>
                <p:cNvSpPr/>
                <p:nvPr/>
              </p:nvSpPr>
              <p:spPr>
                <a:xfrm>
                  <a:off x="7084902" y="612466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19" name="Multiply 118"/>
                <p:cNvSpPr/>
                <p:nvPr/>
              </p:nvSpPr>
              <p:spPr>
                <a:xfrm>
                  <a:off x="6966504" y="802940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20" name="Multiply 119"/>
                <p:cNvSpPr/>
                <p:nvPr/>
              </p:nvSpPr>
              <p:spPr>
                <a:xfrm>
                  <a:off x="6861472" y="580805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21" name="Multiply 120"/>
                <p:cNvSpPr/>
                <p:nvPr/>
              </p:nvSpPr>
              <p:spPr>
                <a:xfrm>
                  <a:off x="6723093" y="840086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22" name="Multiply 121"/>
                <p:cNvSpPr/>
                <p:nvPr/>
              </p:nvSpPr>
              <p:spPr>
                <a:xfrm>
                  <a:off x="6943577" y="1045103"/>
                  <a:ext cx="238959" cy="196320"/>
                </a:xfrm>
                <a:prstGeom prst="mathMultiply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23" name="Oval 122"/>
                <p:cNvSpPr/>
                <p:nvPr/>
              </p:nvSpPr>
              <p:spPr>
                <a:xfrm>
                  <a:off x="8102886" y="496456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24" name="Oval 123"/>
                <p:cNvSpPr/>
                <p:nvPr/>
              </p:nvSpPr>
              <p:spPr>
                <a:xfrm>
                  <a:off x="8200596" y="901302"/>
                  <a:ext cx="149350" cy="122700"/>
                </a:xfrm>
                <a:prstGeom prst="ellips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25" name="Isosceles Triangle 124"/>
                <p:cNvSpPr/>
                <p:nvPr/>
              </p:nvSpPr>
              <p:spPr>
                <a:xfrm>
                  <a:off x="7323861" y="1518741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26" name="Isosceles Triangle 125"/>
                <p:cNvSpPr/>
                <p:nvPr/>
              </p:nvSpPr>
              <p:spPr>
                <a:xfrm>
                  <a:off x="7605194" y="1465903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27" name="Isosceles Triangle 126"/>
                <p:cNvSpPr/>
                <p:nvPr/>
              </p:nvSpPr>
              <p:spPr>
                <a:xfrm>
                  <a:off x="7519505" y="1724602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28" name="Isosceles Triangle 127"/>
                <p:cNvSpPr/>
                <p:nvPr/>
              </p:nvSpPr>
              <p:spPr>
                <a:xfrm>
                  <a:off x="7251861" y="1763527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29" name="Isosceles Triangle 128"/>
                <p:cNvSpPr/>
                <p:nvPr/>
              </p:nvSpPr>
              <p:spPr>
                <a:xfrm>
                  <a:off x="7790168" y="1669747"/>
                  <a:ext cx="144000" cy="144000"/>
                </a:xfrm>
                <a:prstGeom prst="triangle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1" name="Rectangle 150"/>
                  <p:cNvSpPr/>
                  <p:nvPr/>
                </p:nvSpPr>
                <p:spPr>
                  <a:xfrm>
                    <a:off x="2817038" y="2833017"/>
                    <a:ext cx="46390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51" name="Rectangle 15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17038" y="2833017"/>
                    <a:ext cx="463909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2" name="Rectangle 151"/>
                  <p:cNvSpPr/>
                  <p:nvPr/>
                </p:nvSpPr>
                <p:spPr>
                  <a:xfrm>
                    <a:off x="4000512" y="2884021"/>
                    <a:ext cx="46923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52" name="Rectangle 15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00512" y="2884021"/>
                    <a:ext cx="469231" cy="369332"/>
                  </a:xfrm>
                  <a:prstGeom prst="rect">
                    <a:avLst/>
                  </a:prstGeom>
                  <a:blipFill rotWithShape="0"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3" name="Rectangle 152"/>
                  <p:cNvSpPr/>
                  <p:nvPr/>
                </p:nvSpPr>
                <p:spPr>
                  <a:xfrm>
                    <a:off x="3441417" y="3486878"/>
                    <a:ext cx="46923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53" name="Rectangle 15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41417" y="3486878"/>
                    <a:ext cx="469231" cy="369332"/>
                  </a:xfrm>
                  <a:prstGeom prst="rect">
                    <a:avLst/>
                  </a:prstGeom>
                  <a:blipFill rotWithShape="0"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4" name="Rectangle 153"/>
                  <p:cNvSpPr/>
                  <p:nvPr/>
                </p:nvSpPr>
                <p:spPr>
                  <a:xfrm>
                    <a:off x="7942160" y="1172430"/>
                    <a:ext cx="46390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54" name="Rectangle 15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42160" y="1172430"/>
                    <a:ext cx="463909" cy="369332"/>
                  </a:xfrm>
                  <a:prstGeom prst="rect">
                    <a:avLst/>
                  </a:prstGeom>
                  <a:blipFill rotWithShape="0"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5" name="Rectangle 154"/>
                  <p:cNvSpPr/>
                  <p:nvPr/>
                </p:nvSpPr>
                <p:spPr>
                  <a:xfrm>
                    <a:off x="7246868" y="271429"/>
                    <a:ext cx="46923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55" name="Rectangle 15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46868" y="271429"/>
                    <a:ext cx="469231" cy="369332"/>
                  </a:xfrm>
                  <a:prstGeom prst="rect">
                    <a:avLst/>
                  </a:prstGeom>
                  <a:blipFill rotWithShape="0"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6" name="Rectangle 155"/>
                  <p:cNvSpPr/>
                  <p:nvPr/>
                </p:nvSpPr>
                <p:spPr>
                  <a:xfrm>
                    <a:off x="6779418" y="3654913"/>
                    <a:ext cx="46390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56" name="Rectangle 15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79418" y="3654913"/>
                    <a:ext cx="463909" cy="369332"/>
                  </a:xfrm>
                  <a:prstGeom prst="rect">
                    <a:avLst/>
                  </a:prstGeom>
                  <a:blipFill rotWithShape="0"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7" name="Rectangle 156"/>
                  <p:cNvSpPr/>
                  <p:nvPr/>
                </p:nvSpPr>
                <p:spPr>
                  <a:xfrm>
                    <a:off x="8187872" y="3365983"/>
                    <a:ext cx="46923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57" name="Rectangle 15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87872" y="3365983"/>
                    <a:ext cx="469231" cy="369332"/>
                  </a:xfrm>
                  <a:prstGeom prst="rect">
                    <a:avLst/>
                  </a:prstGeom>
                  <a:blipFill rotWithShape="0"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8" name="Rectangle 157"/>
                  <p:cNvSpPr/>
                  <p:nvPr/>
                </p:nvSpPr>
                <p:spPr>
                  <a:xfrm>
                    <a:off x="8053403" y="5980916"/>
                    <a:ext cx="46923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58" name="Rectangle 15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53403" y="5980916"/>
                    <a:ext cx="469231" cy="369332"/>
                  </a:xfrm>
                  <a:prstGeom prst="rect">
                    <a:avLst/>
                  </a:prstGeom>
                  <a:blipFill rotWithShape="0"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Rectangle 158"/>
                  <p:cNvSpPr/>
                  <p:nvPr/>
                </p:nvSpPr>
                <p:spPr>
                  <a:xfrm>
                    <a:off x="7356884" y="5153276"/>
                    <a:ext cx="46390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59" name="Rectangle 15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56884" y="5153276"/>
                    <a:ext cx="463909" cy="369332"/>
                  </a:xfrm>
                  <a:prstGeom prst="rect">
                    <a:avLst/>
                  </a:prstGeom>
                  <a:blipFill rotWithShape="0"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" name="Straight Arrow Connector 8"/>
              <p:cNvCxnSpPr/>
              <p:nvPr/>
            </p:nvCxnSpPr>
            <p:spPr>
              <a:xfrm flipV="1">
                <a:off x="5127093" y="1537903"/>
                <a:ext cx="1243999" cy="13715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>
                <a:off x="5186436" y="3501324"/>
                <a:ext cx="132817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>
                <a:off x="5127093" y="3969187"/>
                <a:ext cx="1243999" cy="17344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CaixaDeTexto 2">
                  <a:extLst>
                    <a:ext uri="{FF2B5EF4-FFF2-40B4-BE49-F238E27FC236}">
                      <a16:creationId xmlns:a16="http://schemas.microsoft.com/office/drawing/2014/main" xmlns="" id="{569EE34C-BDCC-0D10-1E8B-D043A5A2353D}"/>
                    </a:ext>
                  </a:extLst>
                </p:cNvPr>
                <p:cNvSpPr txBox="1"/>
                <p:nvPr/>
              </p:nvSpPr>
              <p:spPr>
                <a:xfrm rot="18753228">
                  <a:off x="4686829" y="1876394"/>
                  <a:ext cx="194116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pt-BR" b="0" i="1" dirty="0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pt-BR" dirty="0"/>
                    <a:t>&amp;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b="0" i="0" dirty="0" smtClean="0">
                          <a:latin typeface="Cambria Math" panose="02040503050406030204" pitchFamily="18" charset="0"/>
                        </a:rPr>
                        <m:t>(−)</m:t>
                      </m:r>
                    </m:oMath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" name="CaixaDeTexto 2">
                  <a:extLst>
                    <a:ext uri="{FF2B5EF4-FFF2-40B4-BE49-F238E27FC236}">
                      <a16:creationId xmlns:a16="http://schemas.microsoft.com/office/drawing/2014/main" id="{569EE34C-BDCC-0D10-1E8B-D043A5A235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753228">
                  <a:off x="4686829" y="1876394"/>
                  <a:ext cx="1941162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xmlns="" id="{350798A0-066E-CC4D-389B-8D3FB768C8CB}"/>
                    </a:ext>
                  </a:extLst>
                </p:cNvPr>
                <p:cNvSpPr txBox="1"/>
                <p:nvPr/>
              </p:nvSpPr>
              <p:spPr>
                <a:xfrm>
                  <a:off x="4654571" y="3101632"/>
                  <a:ext cx="20056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b="0" i="1" dirty="0" smtClean="0">
                          <a:latin typeface="Cambria Math" panose="02040503050406030204" pitchFamily="18" charset="0"/>
                        </a:rPr>
                        <m:t>(+)</m:t>
                      </m:r>
                    </m:oMath>
                  </a14:m>
                  <a:r>
                    <a:rPr lang="pt-BR" dirty="0"/>
                    <a:t> </a:t>
                  </a:r>
                  <a14:m>
                    <m:oMath xmlns:m="http://schemas.openxmlformats.org/officeDocument/2006/math">
                      <m:r>
                        <a:rPr lang="pt-BR" i="1" dirty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pt-BR" dirty="0"/>
                    <a:t>&amp;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dirty="0">
                          <a:latin typeface="Cambria Math" panose="02040503050406030204" pitchFamily="18" charset="0"/>
                        </a:rPr>
                        <m:t>(−)</m:t>
                      </m:r>
                    </m:oMath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CaixaDeTexto 9">
                  <a:extLst>
                    <a:ext uri="{FF2B5EF4-FFF2-40B4-BE49-F238E27FC236}">
                      <a16:creationId xmlns:a16="http://schemas.microsoft.com/office/drawing/2014/main" id="{350798A0-066E-CC4D-389B-8D3FB768C8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4571" y="3101632"/>
                  <a:ext cx="2005677" cy="369332"/>
                </a:xfrm>
                <a:prstGeom prst="rect">
                  <a:avLst/>
                </a:prstGeom>
                <a:blipFill>
                  <a:blip r:embed="rId20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xmlns="" id="{1FF1EB9B-4390-9FF2-BD8A-6EE552F64DB4}"/>
                    </a:ext>
                  </a:extLst>
                </p:cNvPr>
                <p:cNvSpPr txBox="1"/>
                <p:nvPr/>
              </p:nvSpPr>
              <p:spPr>
                <a:xfrm rot="3228880">
                  <a:off x="4503987" y="4650921"/>
                  <a:ext cx="20056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b="0" i="1" dirty="0" smtClean="0">
                          <a:latin typeface="Cambria Math" panose="02040503050406030204" pitchFamily="18" charset="0"/>
                        </a:rPr>
                        <m:t>(+)</m:t>
                      </m:r>
                    </m:oMath>
                  </a14:m>
                  <a:r>
                    <a:rPr lang="pt-BR" dirty="0"/>
                    <a:t> </a:t>
                  </a:r>
                  <a14:m>
                    <m:oMath xmlns:m="http://schemas.openxmlformats.org/officeDocument/2006/math">
                      <m:r>
                        <a:rPr lang="pt-BR" i="1" dirty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pt-BR" dirty="0"/>
                    <a:t>&amp;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dirty="0">
                          <a:latin typeface="Cambria Math" panose="02040503050406030204" pitchFamily="18" charset="0"/>
                        </a:rPr>
                        <m:t>(−)</m:t>
                      </m:r>
                    </m:oMath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1FF1EB9B-4390-9FF2-BD8A-6EE552F64D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3228880">
                  <a:off x="4503987" y="4650921"/>
                  <a:ext cx="2005677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xmlns="" id="{5F594E2D-9C00-0397-8F33-5E9A964A065A}"/>
                  </a:ext>
                </a:extLst>
              </p:cNvPr>
              <p:cNvSpPr txBox="1"/>
              <p:nvPr/>
            </p:nvSpPr>
            <p:spPr>
              <a:xfrm>
                <a:off x="439481" y="5207706"/>
                <a:ext cx="406512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400" dirty="0"/>
                  <a:t>Com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sz="2400" dirty="0"/>
                  <a:t>, passamos a ter </a:t>
                </a:r>
                <a:r>
                  <a:rPr lang="pt-BR" sz="2400" b="1" dirty="0"/>
                  <a:t>3 problemas binários</a:t>
                </a:r>
                <a:r>
                  <a:rPr lang="pt-BR" sz="2400" dirty="0"/>
                  <a:t>.</a:t>
                </a:r>
                <a:endParaRPr lang="pt-BR" sz="2400" b="1" i="1" dirty="0"/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5F594E2D-9C00-0397-8F33-5E9A964A0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81" y="5207706"/>
                <a:ext cx="4065127" cy="830997"/>
              </a:xfrm>
              <a:prstGeom prst="rect">
                <a:avLst/>
              </a:prstGeom>
              <a:blipFill>
                <a:blip r:embed="rId22"/>
                <a:stretch>
                  <a:fillRect t="-5839" r="-900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itle 1">
            <a:extLst>
              <a:ext uri="{FF2B5EF4-FFF2-40B4-BE49-F238E27FC236}">
                <a16:creationId xmlns:a16="http://schemas.microsoft.com/office/drawing/2014/main" xmlns="" id="{1A0E4709-46E3-F10D-1F0B-C228BEF03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dirty="0"/>
              <a:t>Um-Contra-o-Resto</a:t>
            </a:r>
          </a:p>
        </p:txBody>
      </p:sp>
      <p:sp>
        <p:nvSpPr>
          <p:cNvPr id="23" name="Espaço Reservado para Conteúdo 2">
            <a:extLst>
              <a:ext uri="{FF2B5EF4-FFF2-40B4-BE49-F238E27FC236}">
                <a16:creationId xmlns:a16="http://schemas.microsoft.com/office/drawing/2014/main" xmlns="" id="{1F869FA1-6ABE-A62C-D1D9-85E87B1FF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9306" y="1859491"/>
            <a:ext cx="3552694" cy="4998509"/>
          </a:xfrm>
        </p:spPr>
        <p:txBody>
          <a:bodyPr>
            <a:normAutofit/>
          </a:bodyPr>
          <a:lstStyle/>
          <a:p>
            <a:r>
              <a:rPr lang="pt-BR" dirty="0"/>
              <a:t>Os rótulos originais são: 1, 2, 3.</a:t>
            </a:r>
          </a:p>
          <a:p>
            <a:r>
              <a:rPr lang="pt-BR" dirty="0"/>
              <a:t>Para cada problema binário, mudamos os rótulos de </a:t>
            </a:r>
            <a:r>
              <a:rPr lang="pt-BR" b="1" dirty="0">
                <a:solidFill>
                  <a:srgbClr val="7030A0"/>
                </a:solidFill>
              </a:rPr>
              <a:t>uma classe</a:t>
            </a:r>
            <a:r>
              <a:rPr lang="pt-BR" dirty="0"/>
              <a:t> para 2 (+) </a:t>
            </a:r>
            <a:r>
              <a:rPr lang="pt-BR" b="1" dirty="0">
                <a:solidFill>
                  <a:schemeClr val="accent2"/>
                </a:solidFill>
              </a:rPr>
              <a:t>e das demais</a:t>
            </a:r>
            <a:r>
              <a:rPr lang="pt-BR" dirty="0"/>
              <a:t> para 1 (-).</a:t>
            </a:r>
          </a:p>
        </p:txBody>
      </p:sp>
    </p:spTree>
    <p:extLst>
      <p:ext uri="{BB962C8B-B14F-4D97-AF65-F5344CB8AC3E}">
        <p14:creationId xmlns:p14="http://schemas.microsoft.com/office/powerpoint/2010/main" val="9370966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130EF1D-BFF8-2F82-4975-9C47E0376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xmlns="" id="{9E8992A0-634A-97EF-203B-8346A5DC6DB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789356" cy="1325563"/>
              </a:xfrm>
            </p:spPr>
            <p:txBody>
              <a:bodyPr/>
              <a:lstStyle/>
              <a:p>
                <a:r>
                  <a:rPr lang="pt-BR" dirty="0"/>
                  <a:t>Matriz de confusão para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9E8992A0-634A-97EF-203B-8346A5DC6D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789356" cy="1325563"/>
              </a:xfrm>
              <a:blipFill>
                <a:blip r:embed="rId2"/>
                <a:stretch>
                  <a:fillRect l="-2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0DC01E49-26FA-3E21-CFB3-E9EF7AE695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0915" y="1859491"/>
                <a:ext cx="5400736" cy="4998509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Para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dirty="0"/>
                  <a:t>, teremos 3 matrizes de confusão binárias.</a:t>
                </a:r>
              </a:p>
              <a:p>
                <a:r>
                  <a:rPr lang="pt-BR" dirty="0"/>
                  <a:t>A primeira matriz considera a classe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como a classe positiva e as demais classes,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pt-BR" dirty="0"/>
                  <a:t>, como a classe negativa.</a:t>
                </a:r>
              </a:p>
              <a:p>
                <a:r>
                  <a:rPr lang="pt-BR" dirty="0"/>
                  <a:t>Agora, de posse de TP, TN, FP, e FN, nós </a:t>
                </a:r>
                <a:r>
                  <a:rPr lang="pt-BR" b="1" dirty="0">
                    <a:solidFill>
                      <a:schemeClr val="accent2"/>
                    </a:solidFill>
                  </a:rPr>
                  <a:t>conseguimos</a:t>
                </a:r>
                <a:r>
                  <a:rPr lang="pt-BR" dirty="0"/>
                  <a:t> </a:t>
                </a:r>
                <a:r>
                  <a:rPr lang="pt-BR" b="1" dirty="0">
                    <a:solidFill>
                      <a:schemeClr val="accent2"/>
                    </a:solidFill>
                  </a:rPr>
                  <a:t>calcular as métricas anteriores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pt-BR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pt-BR" b="1" dirty="0">
                    <a:solidFill>
                      <a:schemeClr val="accent2"/>
                    </a:solidFill>
                  </a:rPr>
                  <a:t> sendo a classe positiva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Devemos somar todos os elementos com a mesma identificação.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DC01E49-26FA-3E21-CFB3-E9EF7AE695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0915" y="1859491"/>
                <a:ext cx="5400736" cy="4998509"/>
              </a:xfrm>
              <a:blipFill>
                <a:blip r:embed="rId3"/>
                <a:stretch>
                  <a:fillRect l="-2032" t="-1951" r="-3273" b="-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="" id="{EB28D29F-1291-5914-B146-FE53202329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4780193"/>
                  </p:ext>
                </p:extLst>
              </p:nvPr>
            </p:nvGraphicFramePr>
            <p:xfrm>
              <a:off x="259836" y="2722033"/>
              <a:ext cx="6276622" cy="2933897"/>
            </p:xfrm>
            <a:graphic>
              <a:graphicData uri="http://schemas.openxmlformats.org/drawingml/2006/table">
                <a:tbl>
                  <a:tblPr/>
                  <a:tblGrid>
                    <a:gridCol w="107350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96712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411999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411999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1411999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</a:tblGrid>
                  <a:tr h="698713">
                    <a:tc row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Classes </a:t>
                          </a:r>
                          <a:br>
                            <a:rPr lang="pt-BR" sz="1800" b="1" dirty="0">
                              <a:effectLst/>
                            </a:rPr>
                          </a:br>
                          <a:r>
                            <a:rPr lang="pt-BR" sz="1800" b="1" dirty="0">
                              <a:effectLst/>
                            </a:rPr>
                            <a:t>Preditas</a:t>
                          </a: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+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(TP)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698713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698713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18879">
                    <a:tc rowSpan="2" gridSpan="2">
                      <a:txBody>
                        <a:bodyPr/>
                        <a:lstStyle/>
                        <a:p>
                          <a:pPr rtl="0" fontAlgn="b"/>
                          <a:endParaRPr lang="pt-BR" sz="1800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+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18879">
                    <a:tc gridSpan="2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Classes Verdadeiras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B28D29F-1291-5914-B146-FE53202329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4780193"/>
                  </p:ext>
                </p:extLst>
              </p:nvPr>
            </p:nvGraphicFramePr>
            <p:xfrm>
              <a:off x="259836" y="2722033"/>
              <a:ext cx="6276622" cy="2933897"/>
            </p:xfrm>
            <a:graphic>
              <a:graphicData uri="http://schemas.openxmlformats.org/drawingml/2006/table">
                <a:tbl>
                  <a:tblPr/>
                  <a:tblGrid>
                    <a:gridCol w="10735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71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1199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1199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41199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98713">
                    <a:tc row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Classes </a:t>
                          </a:r>
                          <a:br>
                            <a:rPr lang="pt-BR" sz="1800" b="1" dirty="0">
                              <a:effectLst/>
                            </a:rPr>
                          </a:br>
                          <a:r>
                            <a:rPr lang="pt-BR" sz="1800" b="1" dirty="0">
                              <a:effectLst/>
                            </a:rPr>
                            <a:t>Preditas</a:t>
                          </a: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1321" t="-870" r="-438994" b="-33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(TP)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98713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1321" t="-100870" r="-438994" b="-23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8713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1321" t="-202632" r="-438994" b="-1385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18879">
                    <a:tc rowSpan="2" gridSpan="2">
                      <a:txBody>
                        <a:bodyPr/>
                        <a:lstStyle/>
                        <a:p>
                          <a:pPr rtl="0" fontAlgn="b"/>
                          <a:endParaRPr lang="pt-BR" sz="1800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4828" t="-500000" r="-200862" b="-1289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4828" t="-500000" r="-100862" b="-1289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4828" t="-500000" r="-862" b="-1289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18879">
                    <a:tc gridSpan="2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Classes Verdadeiras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xmlns="" id="{23FA4BC7-C097-6186-8E44-F91117C6BABA}"/>
                  </a:ext>
                </a:extLst>
              </p:cNvPr>
              <p:cNvSpPr txBox="1"/>
              <p:nvPr/>
            </p:nvSpPr>
            <p:spPr>
              <a:xfrm>
                <a:off x="2422868" y="2260368"/>
                <a:ext cx="42333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400" dirty="0"/>
                  <a:t>A classe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a positiva.</a:t>
                </a: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3FA4BC7-C097-6186-8E44-F91117C6B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2868" y="2260368"/>
                <a:ext cx="4233333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720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xmlns="" id="{6F3810FD-8C1E-E235-CDF3-A845D40ED97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Matriz de confusão para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6F3810FD-8C1E-E235-CDF3-A845D40ED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xmlns="" id="{F549053F-BDE4-C8D3-A996-B46C550898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8210450"/>
                  </p:ext>
                </p:extLst>
              </p:nvPr>
            </p:nvGraphicFramePr>
            <p:xfrm>
              <a:off x="349958" y="2834725"/>
              <a:ext cx="5610576" cy="3040125"/>
            </p:xfrm>
            <a:graphic>
              <a:graphicData uri="http://schemas.openxmlformats.org/drawingml/2006/table">
                <a:tbl>
                  <a:tblPr/>
                  <a:tblGrid>
                    <a:gridCol w="1083731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740353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</a:tblGrid>
                  <a:tr h="627976">
                    <a:tc row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Classes </a:t>
                          </a:r>
                          <a:br>
                            <a:rPr lang="pt-BR" sz="1800" b="1" dirty="0">
                              <a:effectLst/>
                            </a:rPr>
                          </a:br>
                          <a:r>
                            <a:rPr lang="pt-BR" sz="1800" b="1" dirty="0">
                              <a:effectLst/>
                            </a:rPr>
                            <a:t>Preditas</a:t>
                          </a: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649251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effectLst/>
                            </a:rPr>
                            <a:t>+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(TP)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649251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34377">
                    <a:tc rowSpan="2" gridSpan="2">
                      <a:txBody>
                        <a:bodyPr/>
                        <a:lstStyle/>
                        <a:p>
                          <a:pPr rtl="0" fontAlgn="b"/>
                          <a:endParaRPr lang="pt-BR" sz="180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+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34377">
                    <a:tc gridSpan="2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Classes Verdadeiras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F549053F-BDE4-C8D3-A996-B46C550898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8210450"/>
                  </p:ext>
                </p:extLst>
              </p:nvPr>
            </p:nvGraphicFramePr>
            <p:xfrm>
              <a:off x="349958" y="2834725"/>
              <a:ext cx="5610576" cy="3040125"/>
            </p:xfrm>
            <a:graphic>
              <a:graphicData uri="http://schemas.openxmlformats.org/drawingml/2006/table">
                <a:tbl>
                  <a:tblPr/>
                  <a:tblGrid>
                    <a:gridCol w="10837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4035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61060">
                    <a:tc row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Classes </a:t>
                          </a:r>
                          <a:br>
                            <a:rPr lang="pt-BR" sz="1800" b="1" dirty="0">
                              <a:effectLst/>
                            </a:rPr>
                          </a:br>
                          <a:r>
                            <a:rPr lang="pt-BR" sz="1800" b="1" dirty="0">
                              <a:effectLst/>
                            </a:rPr>
                            <a:t>Preditas</a:t>
                          </a: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934" t="-7092" r="-515702" b="-268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9251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934" t="-141121" r="-515702" b="-2532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(TP)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61060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7934" t="-182979" r="-515702" b="-921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4377">
                    <a:tc rowSpan="2" gridSpan="2">
                      <a:txBody>
                        <a:bodyPr/>
                        <a:lstStyle/>
                        <a:p>
                          <a:pPr rtl="0" fontAlgn="b"/>
                          <a:endParaRPr lang="pt-BR" sz="180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4231" t="-725455" r="-200000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5411" t="-725455" r="-100966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5411" t="-725455" r="-966" b="-13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4377">
                    <a:tc gridSpan="2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Classes Verdadeiras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xmlns="" id="{B7DCAE37-0B68-31FE-C4B4-15B3A38CF8F2}"/>
                  </a:ext>
                </a:extLst>
              </p:cNvPr>
              <p:cNvSpPr txBox="1"/>
              <p:nvPr/>
            </p:nvSpPr>
            <p:spPr>
              <a:xfrm>
                <a:off x="2167466" y="2365178"/>
                <a:ext cx="37930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400" dirty="0"/>
                  <a:t>Classe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é a positiva.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B7DCAE37-0B68-31FE-C4B4-15B3A38CF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466" y="2365178"/>
                <a:ext cx="3793067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AFB9017A-4D48-F779-0F83-6B9ADCB476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49143" y="1859491"/>
                <a:ext cx="5422507" cy="4998509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 segunda matriz considera a classe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como a classe positiva e as demais classes,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pt-BR" dirty="0"/>
                  <a:t>, como a classe negativa.</a:t>
                </a:r>
              </a:p>
              <a:p>
                <a:r>
                  <a:rPr lang="pt-BR" dirty="0"/>
                  <a:t>Agora, de posse de TP, TN, FP, e FN, nós conseguimos calcular as métricas anteriores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sendo a classe positiva.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FB9017A-4D48-F779-0F83-6B9ADCB476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49143" y="1859491"/>
                <a:ext cx="5422507" cy="4998509"/>
              </a:xfrm>
              <a:blipFill>
                <a:blip r:embed="rId6"/>
                <a:stretch>
                  <a:fillRect l="-2022" t="-1951" r="-2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2417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2563306-0FB6-57F4-8340-A91D68410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xmlns="" id="{29383E70-93A4-E908-802C-517D3ED3BE0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pt-BR" dirty="0"/>
                  <a:t>Matriz de confusão para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2" name="Título 1">
                <a:extLst>
                  <a:ext uri="{FF2B5EF4-FFF2-40B4-BE49-F238E27FC236}">
                    <a16:creationId xmlns:a16="http://schemas.microsoft.com/office/drawing/2014/main" id="{6F3810FD-8C1E-E235-CDF3-A845D40ED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xmlns="" id="{7ECD143D-AF30-8E23-B045-8B71B6EDF9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1536918"/>
                  </p:ext>
                </p:extLst>
              </p:nvPr>
            </p:nvGraphicFramePr>
            <p:xfrm>
              <a:off x="485423" y="2649668"/>
              <a:ext cx="5610577" cy="3040125"/>
            </p:xfrm>
            <a:graphic>
              <a:graphicData uri="http://schemas.openxmlformats.org/drawingml/2006/table">
                <a:tbl>
                  <a:tblPr/>
                  <a:tblGrid>
                    <a:gridCol w="112888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95197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</a:tblGrid>
                  <a:tr h="627976">
                    <a:tc row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Classes </a:t>
                          </a:r>
                          <a:br>
                            <a:rPr lang="pt-BR" sz="1800" b="1" dirty="0">
                              <a:effectLst/>
                            </a:rPr>
                          </a:br>
                          <a:r>
                            <a:rPr lang="pt-BR" sz="1800" b="1" dirty="0">
                              <a:effectLst/>
                            </a:rPr>
                            <a:t>Preditas</a:t>
                          </a: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649251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649251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effectLst/>
                            </a:rPr>
                            <a:t>+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(TP)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34377">
                    <a:tc rowSpan="2" gridSpan="2">
                      <a:txBody>
                        <a:bodyPr/>
                        <a:lstStyle/>
                        <a:p>
                          <a:pPr rtl="0" fontAlgn="b"/>
                          <a:endParaRPr lang="pt-BR" sz="1800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effectLst/>
                            </a:rPr>
                            <a:t>-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+ </a:t>
                          </a:r>
                          <a:r>
                            <a:rPr lang="pt-BR" sz="1800" b="0" dirty="0">
                              <a:effectLst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8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pt-BR" sz="1800" b="0" dirty="0">
                              <a:effectLst/>
                            </a:rPr>
                            <a:t>)</a:t>
                          </a:r>
                          <a:endParaRPr lang="pt-BR" sz="1800" b="1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34377">
                    <a:tc gridSpan="2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Classes Verdadeiras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7ECD143D-AF30-8E23-B045-8B71B6EDF9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1536918"/>
                  </p:ext>
                </p:extLst>
              </p:nvPr>
            </p:nvGraphicFramePr>
            <p:xfrm>
              <a:off x="485423" y="2649668"/>
              <a:ext cx="5610577" cy="3040125"/>
            </p:xfrm>
            <a:graphic>
              <a:graphicData uri="http://schemas.openxmlformats.org/drawingml/2006/table">
                <a:tbl>
                  <a:tblPr/>
                  <a:tblGrid>
                    <a:gridCol w="11288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951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6216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61060">
                    <a:tc rowSpan="3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pt-BR" sz="1800" b="1" dirty="0">
                              <a:effectLst/>
                            </a:rPr>
                            <a:t>Classes </a:t>
                          </a:r>
                          <a:br>
                            <a:rPr lang="pt-BR" sz="1800" b="1" dirty="0">
                              <a:effectLst/>
                            </a:rPr>
                          </a:br>
                          <a:r>
                            <a:rPr lang="pt-BR" sz="1800" b="1" dirty="0">
                              <a:effectLst/>
                            </a:rPr>
                            <a:t>Preditas</a:t>
                          </a:r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3158" t="-6338" r="-548246" b="-266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61060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3158" t="-107092" r="-548246" b="-168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FF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(TN)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</a:t>
                          </a:r>
                          <a:b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00FF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Negativo (FN)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9251">
                    <a:tc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ctr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3158" t="-272897" r="-548246" b="-1214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Falso </a:t>
                          </a:r>
                          <a:b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7030A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(FP)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Verdadeiro </a:t>
                          </a:r>
                          <a:b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</a:br>
                          <a:r>
                            <a:rPr lang="pt-BR" sz="1800" b="1" dirty="0">
                              <a:solidFill>
                                <a:srgbClr val="00FF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Positivo (TP)</a:t>
                          </a:r>
                        </a:p>
                      </a:txBody>
                      <a:tcPr marL="28575" marR="28575" marT="19050" marB="1905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4377">
                    <a:tc rowSpan="2" gridSpan="2">
                      <a:txBody>
                        <a:bodyPr/>
                        <a:lstStyle/>
                        <a:p>
                          <a:pPr rtl="0" fontAlgn="b"/>
                          <a:endParaRPr lang="pt-BR" sz="1800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4231" t="-725455" r="-200481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5411" t="-725455" r="-101449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45411" t="-725455" r="-1449" b="-1363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4377">
                    <a:tc gridSpan="2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sz="1800" b="1" dirty="0">
                              <a:effectLst/>
                            </a:rPr>
                            <a:t>Classes Verdadeiras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xmlns="" id="{A5330AE9-A322-005B-2219-EB4A7E59F328}"/>
                  </a:ext>
                </a:extLst>
              </p:cNvPr>
              <p:cNvSpPr txBox="1"/>
              <p:nvPr/>
            </p:nvSpPr>
            <p:spPr>
              <a:xfrm>
                <a:off x="2302933" y="2189330"/>
                <a:ext cx="37930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2400" dirty="0"/>
                  <a:t>Classe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é a positiva.</a:t>
                </a: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A5330AE9-A322-005B-2219-EB4A7E59F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933" y="2189330"/>
                <a:ext cx="3793067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9DDD8A4E-6FAD-9F48-24F8-EBBD83CDE4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60029" y="1859491"/>
                <a:ext cx="5411621" cy="4998509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 terceira matriz considera a classe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pt-BR" dirty="0"/>
                  <a:t> como a classe positiva e as demais classes,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, como a classe negativa.</a:t>
                </a:r>
              </a:p>
              <a:p>
                <a:r>
                  <a:rPr lang="pt-BR" dirty="0"/>
                  <a:t>Agora, de posse de TP, TN, FP, e FN, nós conseguimos calcular as métricas anteriores para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dirty="0"/>
                  <a:t> sendo a classe positiva.</a:t>
                </a:r>
              </a:p>
              <a:p>
                <a:r>
                  <a:rPr lang="pt-BR" dirty="0"/>
                  <a:t>Percebam que, ao final, teremos um </a:t>
                </a:r>
                <a:r>
                  <a:rPr lang="pt-BR" b="1" dirty="0">
                    <a:solidFill>
                      <a:schemeClr val="accent2"/>
                    </a:solidFill>
                  </a:rPr>
                  <a:t>conjunto de métricas (precisão,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recall</a:t>
                </a:r>
                <a:r>
                  <a:rPr lang="pt-BR" b="1" dirty="0">
                    <a:solidFill>
                      <a:schemeClr val="accent2"/>
                    </a:solidFill>
                  </a:rPr>
                  <a:t>, F1-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score</a:t>
                </a:r>
                <a:r>
                  <a:rPr lang="pt-BR" b="1" dirty="0">
                    <a:solidFill>
                      <a:schemeClr val="accent2"/>
                    </a:solidFill>
                  </a:rPr>
                  <a:t>) por classe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DDD8A4E-6FAD-9F48-24F8-EBBD83CDE4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0029" y="1859491"/>
                <a:ext cx="5411621" cy="4998509"/>
              </a:xfrm>
              <a:blipFill>
                <a:blip r:embed="rId5"/>
                <a:stretch>
                  <a:fillRect l="-2027" t="-1951" r="-2815" b="-2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45202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A478C6-7197-E66C-805B-12C1C5C16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Acurácia para o caso multiclasses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0A3077-842E-10B4-83E8-F6B58E093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6113" y="1825625"/>
            <a:ext cx="5617029" cy="4351338"/>
          </a:xfrm>
        </p:spPr>
        <p:txBody>
          <a:bodyPr/>
          <a:lstStyle/>
          <a:p>
            <a:r>
              <a:rPr lang="pt-BR" dirty="0"/>
              <a:t>Para o caso multiclasses, a acurácia é calculada como razão entre a soma de todos os acertos e o total de exemplos avaliados (i.e., a soma erros e acertos).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xmlns="" id="{BCF716F4-6740-06F0-4F7F-43E81B6588C9}"/>
                  </a:ext>
                </a:extLst>
              </p:cNvPr>
              <p:cNvSpPr txBox="1"/>
              <p:nvPr/>
            </p:nvSpPr>
            <p:spPr>
              <a:xfrm>
                <a:off x="731383" y="5421759"/>
                <a:ext cx="10729233" cy="11148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320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cur</m:t>
                      </m:r>
                      <m:r>
                        <a:rPr lang="pt-BR" sz="3200" b="0" i="0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m:rPr>
                          <m:sty m:val="p"/>
                        </m:rPr>
                        <a:rPr lang="pt-BR" sz="3200" b="0" i="0" smtClean="0">
                          <a:latin typeface="Cambria Math" panose="02040503050406030204" pitchFamily="18" charset="0"/>
                        </a:rPr>
                        <m:t>cia</m:t>
                      </m:r>
                      <m:r>
                        <a:rPr lang="pt-BR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Soma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dos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elementos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da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diagonal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principal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Soma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de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todos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os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elementos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erros</m:t>
                          </m:r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acertos</m:t>
                          </m:r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BCF716F4-6740-06F0-4F7F-43E81B658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83" y="5421759"/>
                <a:ext cx="10729233" cy="11148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91DB5CB5-58D6-D6F0-CAE4-AE7FAAC84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364785"/>
              </p:ext>
            </p:extLst>
          </p:nvPr>
        </p:nvGraphicFramePr>
        <p:xfrm>
          <a:off x="2139041" y="2511547"/>
          <a:ext cx="2590803" cy="18170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3601">
                  <a:extLst>
                    <a:ext uri="{9D8B030D-6E8A-4147-A177-3AD203B41FA5}">
                      <a16:colId xmlns:a16="http://schemas.microsoft.com/office/drawing/2014/main" xmlns="" val="3867026763"/>
                    </a:ext>
                  </a:extLst>
                </a:gridCol>
                <a:gridCol w="863601">
                  <a:extLst>
                    <a:ext uri="{9D8B030D-6E8A-4147-A177-3AD203B41FA5}">
                      <a16:colId xmlns:a16="http://schemas.microsoft.com/office/drawing/2014/main" xmlns="" val="2035180929"/>
                    </a:ext>
                  </a:extLst>
                </a:gridCol>
                <a:gridCol w="863601">
                  <a:extLst>
                    <a:ext uri="{9D8B030D-6E8A-4147-A177-3AD203B41FA5}">
                      <a16:colId xmlns:a16="http://schemas.microsoft.com/office/drawing/2014/main" xmlns="" val="1096411002"/>
                    </a:ext>
                  </a:extLst>
                </a:gridCol>
              </a:tblGrid>
              <a:tr h="60567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Acerto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Erro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Erro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12607757"/>
                  </a:ext>
                </a:extLst>
              </a:tr>
              <a:tr h="60567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Erro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Acerto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Erro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473955"/>
                  </a:ext>
                </a:extLst>
              </a:tr>
              <a:tr h="605677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Erro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Erro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Acerto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930021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FB9EF39-B90C-8E8A-FAA1-894F1357DF08}"/>
              </a:ext>
            </a:extLst>
          </p:cNvPr>
          <p:cNvSpPr txBox="1"/>
          <p:nvPr/>
        </p:nvSpPr>
        <p:spPr>
          <a:xfrm>
            <a:off x="2416628" y="43285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E98951F-EC06-3600-8596-2C37C9D3F470}"/>
              </a:ext>
            </a:extLst>
          </p:cNvPr>
          <p:cNvSpPr txBox="1"/>
          <p:nvPr/>
        </p:nvSpPr>
        <p:spPr>
          <a:xfrm>
            <a:off x="3271550" y="4328578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4A648ED-ACCF-A0E8-A7FF-A93266861237}"/>
              </a:ext>
            </a:extLst>
          </p:cNvPr>
          <p:cNvSpPr txBox="1"/>
          <p:nvPr/>
        </p:nvSpPr>
        <p:spPr>
          <a:xfrm>
            <a:off x="4152897" y="432857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F24060A-F1D6-9DB5-76BA-3A64C1CCFBA2}"/>
              </a:ext>
            </a:extLst>
          </p:cNvPr>
          <p:cNvSpPr txBox="1"/>
          <p:nvPr/>
        </p:nvSpPr>
        <p:spPr>
          <a:xfrm>
            <a:off x="1837355" y="25696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504D6480-6017-F7EF-CBF8-45BE5E5980C6}"/>
              </a:ext>
            </a:extLst>
          </p:cNvPr>
          <p:cNvSpPr txBox="1"/>
          <p:nvPr/>
        </p:nvSpPr>
        <p:spPr>
          <a:xfrm>
            <a:off x="1837355" y="32353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0EA34B0-3C80-7E6E-DB17-529180947558}"/>
              </a:ext>
            </a:extLst>
          </p:cNvPr>
          <p:cNvSpPr txBox="1"/>
          <p:nvPr/>
        </p:nvSpPr>
        <p:spPr>
          <a:xfrm>
            <a:off x="1837355" y="379943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/>
              <p:cNvSpPr txBox="1"/>
              <p:nvPr/>
            </p:nvSpPr>
            <p:spPr>
              <a:xfrm>
                <a:off x="2841940" y="1960229"/>
                <a:ext cx="11850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12" name="CaixaDe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1940" y="1960229"/>
                <a:ext cx="1185004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3936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699DC6-5E81-1EFB-D850-9CA5951E8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143" y="2082459"/>
            <a:ext cx="5050971" cy="324394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3200" dirty="0"/>
              <a:t>Não precisamos calcular nenhuma dessas métricas manualmente.</a:t>
            </a:r>
          </a:p>
          <a:p>
            <a:pPr marL="0" indent="0" algn="ctr">
              <a:buNone/>
            </a:pPr>
            <a:endParaRPr lang="pt-BR" sz="3200" dirty="0"/>
          </a:p>
          <a:p>
            <a:pPr marL="0" indent="0" algn="ctr">
              <a:buNone/>
            </a:pPr>
            <a:r>
              <a:rPr lang="pt-BR" sz="3200" dirty="0"/>
              <a:t>Existem funções prontas para isso.</a:t>
            </a:r>
            <a:endParaRPr lang="en-US" sz="3200" dirty="0"/>
          </a:p>
        </p:txBody>
      </p:sp>
      <p:pic>
        <p:nvPicPr>
          <p:cNvPr id="1026" name="Picture 2" descr="7 razões pelas quais você não deve se desesperar com a vigência imediata da  LGPD">
            <a:extLst>
              <a:ext uri="{FF2B5EF4-FFF2-40B4-BE49-F238E27FC236}">
                <a16:creationId xmlns:a16="http://schemas.microsoft.com/office/drawing/2014/main" xmlns="" id="{3834F76E-882E-CE2E-2975-876D4AFD7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86" y="1483405"/>
            <a:ext cx="5754885" cy="4442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3610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CD00B3E-85D7-8B25-6629-4A85FF36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730104F-E6BA-B308-644A-11A7E493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57898" cy="4351338"/>
          </a:xfrm>
        </p:spPr>
        <p:txBody>
          <a:bodyPr/>
          <a:lstStyle/>
          <a:p>
            <a:r>
              <a:rPr lang="pt-BR" dirty="0">
                <a:hlinkClick r:id="rId3"/>
              </a:rPr>
              <a:t>Exemplo: Métricas de classificação</a:t>
            </a:r>
            <a:endParaRPr lang="pt-BR" dirty="0"/>
          </a:p>
        </p:txBody>
      </p:sp>
      <p:pic>
        <p:nvPicPr>
          <p:cNvPr id="2052" name="Picture 4" descr="Project Jupyter | Try Jupyter">
            <a:extLst>
              <a:ext uri="{FF2B5EF4-FFF2-40B4-BE49-F238E27FC236}">
                <a16:creationId xmlns:a16="http://schemas.microsoft.com/office/drawing/2014/main" xmlns="" id="{FC70A9A5-A2C7-C005-C6C5-A9FF77565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3952" y="3317393"/>
            <a:ext cx="3461657" cy="1817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oogle Colaboratory Colab - Guía Completa Español - Marketing Branding">
            <a:extLst>
              <a:ext uri="{FF2B5EF4-FFF2-40B4-BE49-F238E27FC236}">
                <a16:creationId xmlns:a16="http://schemas.microsoft.com/office/drawing/2014/main" xmlns="" id="{8A007768-2032-FE11-22C9-9394A0EF0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5" r="10641"/>
          <a:stretch/>
        </p:blipFill>
        <p:spPr bwMode="auto">
          <a:xfrm>
            <a:off x="7085609" y="2896205"/>
            <a:ext cx="3331071" cy="265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xmlns="" id="{80EDF8DB-E749-8471-3ACA-2FFE3006F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19" r="20198"/>
          <a:stretch/>
        </p:blipFill>
        <p:spPr bwMode="auto">
          <a:xfrm>
            <a:off x="1729838" y="3317393"/>
            <a:ext cx="1894114" cy="1877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inal de Adição 9">
            <a:extLst>
              <a:ext uri="{FF2B5EF4-FFF2-40B4-BE49-F238E27FC236}">
                <a16:creationId xmlns:a16="http://schemas.microsoft.com/office/drawing/2014/main" xmlns="" id="{C6DC4B29-EABA-20F7-BB46-C33BEC93E2DD}"/>
              </a:ext>
            </a:extLst>
          </p:cNvPr>
          <p:cNvSpPr>
            <a:spLocks noChangeAspect="1"/>
          </p:cNvSpPr>
          <p:nvPr/>
        </p:nvSpPr>
        <p:spPr>
          <a:xfrm>
            <a:off x="3700195" y="3685597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inal de Adição 10">
            <a:extLst>
              <a:ext uri="{FF2B5EF4-FFF2-40B4-BE49-F238E27FC236}">
                <a16:creationId xmlns:a16="http://schemas.microsoft.com/office/drawing/2014/main" xmlns="" id="{FF65B64B-136B-DCC4-8A01-509D3D5CD19F}"/>
              </a:ext>
            </a:extLst>
          </p:cNvPr>
          <p:cNvSpPr>
            <a:spLocks noChangeAspect="1"/>
          </p:cNvSpPr>
          <p:nvPr/>
        </p:nvSpPr>
        <p:spPr>
          <a:xfrm>
            <a:off x="6388968" y="3682923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88059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49AE95-3E0A-F9BB-A3FD-4C328EF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exercícios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31927B-FE56-CB25-3ECF-AB5E92A7D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Lista #8 – </a:t>
            </a:r>
            <a:r>
              <a:rPr lang="en-US" dirty="0" err="1">
                <a:hlinkClick r:id="rId2"/>
              </a:rPr>
              <a:t>Métricas</a:t>
            </a:r>
            <a:r>
              <a:rPr lang="en-US" dirty="0">
                <a:hlinkClick r:id="rId2"/>
              </a:rPr>
              <a:t> de </a:t>
            </a:r>
            <a:r>
              <a:rPr lang="en-US" dirty="0" err="1">
                <a:hlinkClick r:id="rId2"/>
              </a:rPr>
              <a:t>classificação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053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5346110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9946767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8234</TotalTime>
  <Words>2334</Words>
  <Application>Microsoft Office PowerPoint</Application>
  <PresentationFormat>Widescreen</PresentationFormat>
  <Paragraphs>314</Paragraphs>
  <Slides>33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Wingdings</vt:lpstr>
      <vt:lpstr>Tema do Office</vt:lpstr>
      <vt:lpstr>C24 – Inteligência Artificial: Métricas de classificação</vt:lpstr>
      <vt:lpstr>O que vamos ver?</vt:lpstr>
      <vt:lpstr>Matriz de confusão</vt:lpstr>
      <vt:lpstr>Matriz de confusão</vt:lpstr>
      <vt:lpstr>Matriz de confusão</vt:lpstr>
      <vt:lpstr>Matriz de confusão</vt:lpstr>
      <vt:lpstr>Matriz de confusão</vt:lpstr>
      <vt:lpstr>Matriz de confusão para caso binário (Q=2)</vt:lpstr>
      <vt:lpstr>Matriz de confusão para caso binário (Q=2)</vt:lpstr>
      <vt:lpstr>Apresentação do PowerPoint</vt:lpstr>
      <vt:lpstr>Acurácia</vt:lpstr>
      <vt:lpstr>Acurácia</vt:lpstr>
      <vt:lpstr>Acurácia</vt:lpstr>
      <vt:lpstr>Apresentação do PowerPoint</vt:lpstr>
      <vt:lpstr>Precisão</vt:lpstr>
      <vt:lpstr>Precisão</vt:lpstr>
      <vt:lpstr>Recall</vt:lpstr>
      <vt:lpstr>Recall</vt:lpstr>
      <vt:lpstr>Apresentação do PowerPoint</vt:lpstr>
      <vt:lpstr>Precisão versus recall</vt:lpstr>
      <vt:lpstr>F1-score</vt:lpstr>
      <vt:lpstr>Apresentação do PowerPoint</vt:lpstr>
      <vt:lpstr>Matriz de confusão para caso multiclasses</vt:lpstr>
      <vt:lpstr>Um-Contra-o-Resto</vt:lpstr>
      <vt:lpstr>Matriz de confusão para Q=3</vt:lpstr>
      <vt:lpstr>Matriz de confusão para Q=3</vt:lpstr>
      <vt:lpstr>Matriz de confusão para Q=3</vt:lpstr>
      <vt:lpstr>Acurácia para o caso multiclasses</vt:lpstr>
      <vt:lpstr>Apresentação do PowerPoint</vt:lpstr>
      <vt:lpstr>Exemplo</vt:lpstr>
      <vt:lpstr>Lista de exercícios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1819</cp:revision>
  <dcterms:created xsi:type="dcterms:W3CDTF">2020-01-20T13:50:05Z</dcterms:created>
  <dcterms:modified xsi:type="dcterms:W3CDTF">2026-09-14T21:58:11Z</dcterms:modified>
</cp:coreProperties>
</file>