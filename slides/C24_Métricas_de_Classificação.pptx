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316" r:id="rId3"/>
    <p:sldId id="344" r:id="rId4"/>
    <p:sldId id="317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327" r:id="rId15"/>
    <p:sldId id="458" r:id="rId16"/>
    <p:sldId id="328" r:id="rId17"/>
    <p:sldId id="459" r:id="rId18"/>
    <p:sldId id="332" r:id="rId19"/>
    <p:sldId id="333" r:id="rId20"/>
    <p:sldId id="329" r:id="rId21"/>
    <p:sldId id="330" r:id="rId22"/>
    <p:sldId id="460" r:id="rId23"/>
    <p:sldId id="331" r:id="rId24"/>
    <p:sldId id="463" r:id="rId25"/>
    <p:sldId id="462" r:id="rId26"/>
    <p:sldId id="461" r:id="rId27"/>
    <p:sldId id="334" r:id="rId28"/>
    <p:sldId id="457" r:id="rId29"/>
    <p:sldId id="336" r:id="rId30"/>
    <p:sldId id="337" r:id="rId3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962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</a:t>
            </a:r>
            <a:r>
              <a:rPr lang="pt-BR" sz="1200" dirty="0"/>
              <a:t>u seja, </a:t>
            </a:r>
            <a:r>
              <a:rPr lang="pt-BR" sz="1200" b="1" i="1" dirty="0"/>
              <a:t>rotulando incorretamente</a:t>
            </a:r>
            <a:r>
              <a:rPr lang="pt-BR" sz="1200" dirty="0"/>
              <a:t> os exemplos.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595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03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79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acurácia é uma métrica de avaliação comumente usada no contexto de classificação de modelos de aprendizado de máquina. Ela mede a proporção de exemplos classificados corretamente em relação ao total de exemplos avaliados. Em outras palavras, a acurácia fornece uma indicação de quão bem o modelo está fazendo suas previsões corretas em comparação com todas as previsões feitas.</a:t>
            </a:r>
          </a:p>
          <a:p>
            <a:endParaRPr lang="pt-BR" dirty="0"/>
          </a:p>
          <a:p>
            <a:r>
              <a:rPr lang="pt-BR" dirty="0"/>
              <a:t>A fórmula básica da acurácia é a seguinte:</a:t>
            </a:r>
          </a:p>
          <a:p>
            <a:endParaRPr lang="pt-BR" dirty="0"/>
          </a:p>
          <a:p>
            <a:r>
              <a:rPr lang="pt-BR" dirty="0"/>
              <a:t>\[ \</a:t>
            </a:r>
            <a:r>
              <a:rPr lang="pt-BR" dirty="0" err="1"/>
              <a:t>text</a:t>
            </a:r>
            <a:r>
              <a:rPr lang="pt-BR" dirty="0"/>
              <a:t>{Acurácia} = \</a:t>
            </a:r>
            <a:r>
              <a:rPr lang="pt-BR" dirty="0" err="1"/>
              <a:t>frac</a:t>
            </a:r>
            <a:r>
              <a:rPr lang="pt-BR" dirty="0"/>
              <a:t>{\</a:t>
            </a:r>
            <a:r>
              <a:rPr lang="pt-BR" dirty="0" err="1"/>
              <a:t>text</a:t>
            </a:r>
            <a:r>
              <a:rPr lang="pt-BR" dirty="0"/>
              <a:t>{Número de previsões corretas}}{\</a:t>
            </a:r>
            <a:r>
              <a:rPr lang="pt-BR" dirty="0" err="1"/>
              <a:t>text</a:t>
            </a:r>
            <a:r>
              <a:rPr lang="pt-BR" dirty="0"/>
              <a:t>{Total de exemplos}} \]</a:t>
            </a:r>
          </a:p>
          <a:p>
            <a:endParaRPr lang="pt-BR" dirty="0"/>
          </a:p>
          <a:p>
            <a:r>
              <a:rPr lang="pt-BR" dirty="0"/>
              <a:t>Por exemplo, se um modelo classificar corretamente 85 amostras de um total de 100, a acurácia seria \( \</a:t>
            </a:r>
            <a:r>
              <a:rPr lang="pt-BR" dirty="0" err="1"/>
              <a:t>frac</a:t>
            </a:r>
            <a:r>
              <a:rPr lang="pt-BR" dirty="0"/>
              <a:t>{85}{100} = 0.85 \), ou seja, 85%.</a:t>
            </a:r>
          </a:p>
          <a:p>
            <a:endParaRPr lang="pt-BR" dirty="0"/>
          </a:p>
          <a:p>
            <a:r>
              <a:rPr lang="pt-BR" dirty="0"/>
              <a:t>Apesar de ser uma métrica útil para avaliar a performance geral de um modelo, a acurácia pode ser enganosa em alguns cenários, especialmente quando os dados estão desbalanceados (quando uma classe é mais comum que a outra) ou quando os custos de falsos positivos e falsos negativos não são iguais. Portanto, em casos mais complexos, é importante considerar outras métricas, como precisão, recall, F1-score, entre outras, para ter uma visão mais completa do desempenho do modelo.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745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418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303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https://colab.research.google.com/github/zz4fap/c24_inteligencia_artificial/blob/master/notebooks/m%C3%A9tricas_de_classifica%C3%A7%C3%A3o.ipynb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3281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2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m%C3%A9tricas_de_classifica%C3%A7%C3%A3o.ipynb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jpeg"/><Relationship Id="rId4" Type="http://schemas.openxmlformats.org/officeDocument/2006/relationships/image" Target="../media/image4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8%20-%20M%C3%A9tricas%20de%20classifica%C3%A7%C3%A3o.pdf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Métricas de 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05444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para realizar a análise do desempenho de um classificador, usamos apenas a acurácia. </a:t>
            </a:r>
          </a:p>
          <a:p>
            <a:r>
              <a:rPr lang="pt-BR" dirty="0"/>
              <a:t>Porém, existem outras métricas que podem ser usadas para se medir a qualidade de um classificador.</a:t>
            </a:r>
          </a:p>
          <a:p>
            <a:r>
              <a:rPr lang="pt-BR" dirty="0"/>
              <a:t>Portanto, neste tópico, veremos algumas outras métricas.</a:t>
            </a:r>
          </a:p>
        </p:txBody>
      </p:sp>
    </p:spTree>
    <p:extLst>
      <p:ext uri="{BB962C8B-B14F-4D97-AF65-F5344CB8AC3E}">
        <p14:creationId xmlns:p14="http://schemas.microsoft.com/office/powerpoint/2010/main" val="2177516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36" y="1491183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6095999" y="2479702"/>
            <a:ext cx="5965371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O nome, </a:t>
            </a:r>
            <a:r>
              <a:rPr lang="pt-BR" sz="2800" b="1" dirty="0"/>
              <a:t>matriz de confusão</a:t>
            </a:r>
            <a:r>
              <a:rPr lang="pt-BR" sz="2800" dirty="0"/>
              <a:t>,</a:t>
            </a:r>
            <a:r>
              <a:rPr lang="pt-BR" sz="2800" b="1" dirty="0"/>
              <a:t> </a:t>
            </a:r>
            <a:r>
              <a:rPr lang="pt-BR" sz="2800" dirty="0"/>
              <a:t>mostra o </a:t>
            </a:r>
            <a:r>
              <a:rPr lang="pt-BR" sz="2800" b="1" dirty="0">
                <a:solidFill>
                  <a:schemeClr val="accent2"/>
                </a:solidFill>
              </a:rPr>
              <a:t>quanto</a:t>
            </a:r>
            <a:r>
              <a:rPr lang="pt-BR" sz="2800" dirty="0"/>
              <a:t> um classificador está se </a:t>
            </a:r>
            <a:r>
              <a:rPr lang="pt-BR" sz="2800" b="1" dirty="0"/>
              <a:t>confundindo</a:t>
            </a:r>
            <a:r>
              <a:rPr lang="pt-BR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 matriz permite verificar quais classes o </a:t>
            </a:r>
            <a:r>
              <a:rPr lang="pt-BR" sz="2800" b="1" dirty="0"/>
              <a:t>classificador</a:t>
            </a:r>
            <a:r>
              <a:rPr lang="pt-BR" sz="2800" dirty="0"/>
              <a:t> tem </a:t>
            </a:r>
            <a:r>
              <a:rPr lang="pt-BR" sz="2800" b="1" dirty="0">
                <a:solidFill>
                  <a:srgbClr val="00B050"/>
                </a:solidFill>
              </a:rPr>
              <a:t>maior dificuldade em classificar</a:t>
            </a:r>
            <a:r>
              <a:rPr lang="pt-BR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52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/>
                  <a:t>matriz de confusão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contabiliza o número de classificações corretas e incorretas </a:t>
                </a:r>
                <a:r>
                  <a:rPr lang="pt-BR" sz="2800" dirty="0"/>
                  <a:t>para cada uma das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classes existentes. </a:t>
                </a:r>
              </a:p>
              <a:p>
                <a:r>
                  <a:rPr lang="pt-BR" dirty="0"/>
                  <a:t>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matriz quadrada </a:t>
                </a:r>
                <a:r>
                  <a:rPr lang="pt-BR" dirty="0"/>
                  <a:t>com dimensões </a:t>
                </a:r>
                <a:r>
                  <a:rPr lang="pt-BR" sz="2800" b="1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822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id="{314F6830-34E9-8654-9AF0-D69DE9FAE980}"/>
              </a:ext>
            </a:extLst>
          </p:cNvPr>
          <p:cNvSpPr/>
          <p:nvPr/>
        </p:nvSpPr>
        <p:spPr>
          <a:xfrm rot="16200000" flipH="1">
            <a:off x="6371397" y="2963136"/>
            <a:ext cx="340913" cy="33949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46DBC8-FBDE-250B-240D-193F0A609C0C}"/>
              </a:ext>
            </a:extLst>
          </p:cNvPr>
          <p:cNvSpPr txBox="1"/>
          <p:nvPr/>
        </p:nvSpPr>
        <p:spPr>
          <a:xfrm>
            <a:off x="4844376" y="4846951"/>
            <a:ext cx="3394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Rótulos</a:t>
            </a:r>
            <a:r>
              <a:rPr lang="pt-BR" dirty="0"/>
              <a:t>: classes a que realmente pertencem os exemplos</a:t>
            </a:r>
          </a:p>
        </p:txBody>
      </p:sp>
      <p:sp>
        <p:nvSpPr>
          <p:cNvPr id="7" name="Chave Direita 6">
            <a:extLst>
              <a:ext uri="{FF2B5EF4-FFF2-40B4-BE49-F238E27FC236}">
                <a16:creationId xmlns:a16="http://schemas.microsoft.com/office/drawing/2014/main" id="{E94D5995-3604-C1B4-B485-9B393568D39B}"/>
              </a:ext>
            </a:extLst>
          </p:cNvPr>
          <p:cNvSpPr/>
          <p:nvPr/>
        </p:nvSpPr>
        <p:spPr>
          <a:xfrm flipH="1">
            <a:off x="4172678" y="2509734"/>
            <a:ext cx="340913" cy="18385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F3B44CB-FB5A-9774-1C6B-808D8FC9AA1C}"/>
              </a:ext>
            </a:extLst>
          </p:cNvPr>
          <p:cNvSpPr txBox="1"/>
          <p:nvPr/>
        </p:nvSpPr>
        <p:spPr>
          <a:xfrm>
            <a:off x="1381327" y="3105832"/>
            <a:ext cx="27334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Predições</a:t>
            </a:r>
            <a:r>
              <a:rPr lang="pt-BR" dirty="0"/>
              <a:t>: classes a que os exemplos foram atribuídos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DC4B7-28AE-3B52-6F26-3A317D0DAC53}"/>
              </a:ext>
            </a:extLst>
          </p:cNvPr>
          <p:cNvSpPr txBox="1"/>
          <p:nvPr/>
        </p:nvSpPr>
        <p:spPr>
          <a:xfrm>
            <a:off x="0" y="6612468"/>
            <a:ext cx="56477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*em geral se apresenta a matriz desta forma, mas ela pode ser encontrada transposta também.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059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diagonal principal </a:t>
                </a:r>
                <a:r>
                  <a:rPr lang="pt-BR" sz="2800" dirty="0"/>
                  <a:t>fornece o número de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classificações corretas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linha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foram classificados como pertencentes a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exemplos que pertencem e não pertencem à classe.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coluna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realmente pertencem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classificações corretas e incorretas.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  <a:blipFill>
                <a:blip r:embed="rId3"/>
                <a:stretch>
                  <a:fillRect l="-1706" t="-1937" r="-1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E3C2398C-FA6E-B604-0A4E-B8DC5CF24EF7}"/>
              </a:ext>
            </a:extLst>
          </p:cNvPr>
          <p:cNvSpPr/>
          <p:nvPr/>
        </p:nvSpPr>
        <p:spPr>
          <a:xfrm>
            <a:off x="1051034" y="270382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BF1D53-FE8C-A737-118B-224A249F0F55}"/>
              </a:ext>
            </a:extLst>
          </p:cNvPr>
          <p:cNvSpPr/>
          <p:nvPr/>
        </p:nvSpPr>
        <p:spPr>
          <a:xfrm rot="5400000">
            <a:off x="559069" y="335727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3">
            <a:extLst>
              <a:ext uri="{FF2B5EF4-FFF2-40B4-BE49-F238E27FC236}">
                <a16:creationId xmlns:a16="http://schemas.microsoft.com/office/drawing/2014/main" id="{E9839706-E14C-629A-7F56-18012BB99C3A}"/>
              </a:ext>
            </a:extLst>
          </p:cNvPr>
          <p:cNvSpPr/>
          <p:nvPr/>
        </p:nvSpPr>
        <p:spPr>
          <a:xfrm>
            <a:off x="3794234" y="2523792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6279C33D-9270-DC3C-212E-0FD57AC45F7D}"/>
              </a:ext>
            </a:extLst>
          </p:cNvPr>
          <p:cNvSpPr txBox="1"/>
          <p:nvPr/>
        </p:nvSpPr>
        <p:spPr>
          <a:xfrm>
            <a:off x="7894389" y="2452160"/>
            <a:ext cx="34013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Exemplos classificados como pertencentes à classe 1.</a:t>
            </a:r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1BD26B11-37BD-057A-7642-8513680C0B09}"/>
              </a:ext>
            </a:extLst>
          </p:cNvPr>
          <p:cNvSpPr/>
          <p:nvPr/>
        </p:nvSpPr>
        <p:spPr>
          <a:xfrm rot="5400000">
            <a:off x="3302270" y="314164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0F0FD986-F79E-DA0A-829E-1F5A7437324A}"/>
              </a:ext>
            </a:extLst>
          </p:cNvPr>
          <p:cNvSpPr/>
          <p:nvPr/>
        </p:nvSpPr>
        <p:spPr>
          <a:xfrm>
            <a:off x="7525012" y="2452160"/>
            <a:ext cx="577516" cy="145253"/>
          </a:xfrm>
          <a:custGeom>
            <a:avLst/>
            <a:gdLst>
              <a:gd name="connsiteX0" fmla="*/ 0 w 577516"/>
              <a:gd name="connsiteY0" fmla="*/ 145253 h 145253"/>
              <a:gd name="connsiteX1" fmla="*/ 272716 w 577516"/>
              <a:gd name="connsiteY1" fmla="*/ 874 h 145253"/>
              <a:gd name="connsiteX2" fmla="*/ 577516 w 577516"/>
              <a:gd name="connsiteY2" fmla="*/ 81085 h 145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516" h="145253">
                <a:moveTo>
                  <a:pt x="0" y="145253"/>
                </a:moveTo>
                <a:cubicBezTo>
                  <a:pt x="88231" y="78411"/>
                  <a:pt x="176463" y="11569"/>
                  <a:pt x="272716" y="874"/>
                </a:cubicBezTo>
                <a:cubicBezTo>
                  <a:pt x="368969" y="-9821"/>
                  <a:pt x="577516" y="81085"/>
                  <a:pt x="577516" y="8108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0228E55-A04A-15F3-F542-24A94935CB8F}"/>
              </a:ext>
            </a:extLst>
          </p:cNvPr>
          <p:cNvSpPr txBox="1"/>
          <p:nvPr/>
        </p:nvSpPr>
        <p:spPr>
          <a:xfrm>
            <a:off x="1260491" y="4807062"/>
            <a:ext cx="3921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Quantidade de exemplos que realmente pertencentes à classe 1.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DE8EF324-A6C8-6014-6A79-6F6CD536E661}"/>
              </a:ext>
            </a:extLst>
          </p:cNvPr>
          <p:cNvSpPr/>
          <p:nvPr/>
        </p:nvSpPr>
        <p:spPr>
          <a:xfrm rot="871324">
            <a:off x="3488790" y="4556114"/>
            <a:ext cx="792260" cy="501897"/>
          </a:xfrm>
          <a:custGeom>
            <a:avLst/>
            <a:gdLst>
              <a:gd name="connsiteX0" fmla="*/ 994610 w 994610"/>
              <a:gd name="connsiteY0" fmla="*/ 0 h 80211"/>
              <a:gd name="connsiteX1" fmla="*/ 0 w 994610"/>
              <a:gd name="connsiteY1" fmla="*/ 80211 h 8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4610" h="80211">
                <a:moveTo>
                  <a:pt x="994610" y="0"/>
                </a:moveTo>
                <a:cubicBezTo>
                  <a:pt x="596231" y="18716"/>
                  <a:pt x="197853" y="37432"/>
                  <a:pt x="0" y="8021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/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1 foram corretamente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2 foram atribuídos à classe 1.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  <a:blipFill>
                <a:blip r:embed="rId3"/>
                <a:stretch>
                  <a:fillRect l="-879" t="-2304" b="-73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6663" y="1825624"/>
                <a:ext cx="615913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Verdadeiros Positivos </a:t>
                </a:r>
                <a:r>
                  <a:rPr lang="pt-BR" dirty="0"/>
                  <a:t>(TP): número de exemplos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classificados corretamente. </a:t>
                </a:r>
              </a:p>
              <a:p>
                <a:r>
                  <a:rPr lang="pt-BR" b="1" dirty="0"/>
                  <a:t>Verdadeiros Negativos</a:t>
                </a:r>
                <a:r>
                  <a:rPr lang="pt-BR" dirty="0"/>
                  <a:t> (TN): número de exemplos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classificados corretamente.</a:t>
                </a:r>
              </a:p>
              <a:p>
                <a:r>
                  <a:rPr lang="pt-BR" b="1" dirty="0"/>
                  <a:t>Falsos Positivos </a:t>
                </a:r>
                <a:r>
                  <a:rPr lang="pt-BR" dirty="0"/>
                  <a:t>(FP): número de exemplos atribuídos à classe positiva, mas que pertencem à classe negativa.</a:t>
                </a:r>
              </a:p>
              <a:p>
                <a:r>
                  <a:rPr lang="pt-BR" b="1" dirty="0"/>
                  <a:t>Falsos Negativos</a:t>
                </a:r>
                <a:r>
                  <a:rPr lang="pt-BR" dirty="0"/>
                  <a:t> (FN): número de exemplos atribuídos à classe negativa, mas que pertencem à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6663" y="1825624"/>
                <a:ext cx="6159137" cy="5032375"/>
              </a:xfrm>
              <a:blipFill>
                <a:blip r:embed="rId3"/>
                <a:stretch>
                  <a:fillRect l="-1780" t="-2663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id="{744D7738-C774-F8D0-DD85-76976F9C0032}"/>
              </a:ext>
            </a:extLst>
          </p:cNvPr>
          <p:cNvGraphicFramePr>
            <a:graphicFrameLocks noGrp="1"/>
          </p:cNvGraphicFramePr>
          <p:nvPr/>
        </p:nvGraphicFramePr>
        <p:xfrm>
          <a:off x="1411239" y="2716108"/>
          <a:ext cx="420579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2895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2102895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Negativos (TN)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Falsos</a:t>
                      </a:r>
                      <a:b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Negativos (FN)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Falsos </a:t>
                      </a:r>
                      <a:b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Positivos (FP)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Positivos (TP)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44F3702B-0FE3-BDED-62A7-35438A8F3B75}"/>
              </a:ext>
            </a:extLst>
          </p:cNvPr>
          <p:cNvSpPr txBox="1"/>
          <p:nvPr/>
        </p:nvSpPr>
        <p:spPr>
          <a:xfrm rot="16200000">
            <a:off x="-452875" y="3354402"/>
            <a:ext cx="193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ctr"/>
            <a:r>
              <a:rPr lang="pt-BR" sz="1800" b="1" dirty="0">
                <a:effectLst/>
              </a:rPr>
              <a:t>Classes Estimadas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FC82D3C-E180-54E3-CEFE-B2BD9B8D3E2A}"/>
              </a:ext>
            </a:extLst>
          </p:cNvPr>
          <p:cNvSpPr txBox="1"/>
          <p:nvPr/>
        </p:nvSpPr>
        <p:spPr>
          <a:xfrm>
            <a:off x="1517411" y="4856336"/>
            <a:ext cx="399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b"/>
            <a:r>
              <a:rPr lang="pt-BR" sz="1800" b="1" dirty="0">
                <a:effectLst/>
              </a:rPr>
              <a:t>Classes Verdadeiras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/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blipFill>
                <a:blip r:embed="rId4"/>
                <a:stretch>
                  <a:fillRect l="-7563" t="-8197" r="-6723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/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blipFill>
                <a:blip r:embed="rId5"/>
                <a:stretch>
                  <a:fillRect l="-3361" t="-8197" r="-4202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/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/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blipFill>
                <a:blip r:embed="rId7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47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m 21">
            <a:extLst>
              <a:ext uri="{FF2B5EF4-FFF2-40B4-BE49-F238E27FC236}">
                <a16:creationId xmlns:a16="http://schemas.microsoft.com/office/drawing/2014/main" id="{43854156-1399-9016-BDBA-8C80710C3E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539" y="1611691"/>
            <a:ext cx="6420922" cy="523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511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418656-538C-BBD9-47FA-40A924A66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5380"/>
            <a:ext cx="10515600" cy="280079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Nós podemos calcular algumas métricas de desempenho importantes a partir das informações contidas na </a:t>
            </a:r>
            <a:r>
              <a:rPr lang="pt-BR" sz="4800" b="1" dirty="0">
                <a:solidFill>
                  <a:srgbClr val="7030A0"/>
                </a:solidFill>
              </a:rPr>
              <a:t>matriz de confusão binária</a:t>
            </a:r>
            <a:r>
              <a:rPr lang="pt-BR" sz="4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906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C76DB9-C5DB-DAD2-5D1D-F064916F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43F063-09F2-F192-E084-325BC503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265333" cy="5032375"/>
          </a:xfrm>
        </p:spPr>
        <p:txBody>
          <a:bodyPr/>
          <a:lstStyle/>
          <a:p>
            <a:r>
              <a:rPr lang="pt-BR" dirty="0"/>
              <a:t>Acurácia med</a:t>
            </a:r>
            <a:r>
              <a:rPr lang="pt-BR" b="0" dirty="0">
                <a:effectLst/>
              </a:rPr>
              <a:t>e a </a:t>
            </a:r>
            <a:r>
              <a:rPr lang="pt-BR" b="1" dirty="0">
                <a:solidFill>
                  <a:srgbClr val="00B050"/>
                </a:solidFill>
                <a:effectLst/>
              </a:rPr>
              <a:t>proporção de exemplos classificados corretamente em relação ao total de exemplos </a:t>
            </a:r>
            <a:r>
              <a:rPr lang="pt-BR" b="0" dirty="0">
                <a:effectLst/>
              </a:rPr>
              <a:t>avaliados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b="0" i="0" dirty="0">
                <a:effectLst/>
              </a:rPr>
              <a:t>Em outras palavras, a acurácia fornece uma indicação de quão bem o </a:t>
            </a:r>
            <a:r>
              <a:rPr lang="pt-BR" b="0" dirty="0">
                <a:effectLst/>
              </a:rPr>
              <a:t>modelo está fazendo suas </a:t>
            </a:r>
            <a:r>
              <a:rPr lang="pt-BR" b="1" dirty="0">
                <a:solidFill>
                  <a:srgbClr val="00B050"/>
                </a:solidFill>
                <a:effectLst/>
              </a:rPr>
              <a:t>predições corretas em comparação com todas as previsões feitas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b="0" dirty="0">
                <a:effectLst/>
              </a:rPr>
              <a:t>É uma métrica útil para avaliar a </a:t>
            </a:r>
            <a:r>
              <a:rPr lang="pt-BR" b="1" dirty="0">
                <a:solidFill>
                  <a:srgbClr val="FF0000"/>
                </a:solidFill>
                <a:effectLst/>
              </a:rPr>
              <a:t>performance geral</a:t>
            </a:r>
            <a:r>
              <a:rPr lang="pt-BR" b="1" dirty="0">
                <a:solidFill>
                  <a:srgbClr val="00B050"/>
                </a:solidFill>
                <a:effectLst/>
              </a:rPr>
              <a:t> do modelo</a:t>
            </a:r>
            <a:r>
              <a:rPr lang="pt-BR" b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/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5289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9D007B-9E18-00C3-2CF2-47D7955EB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1" y="1690688"/>
            <a:ext cx="6324600" cy="5167312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 </a:t>
            </a:r>
            <a:r>
              <a:rPr lang="pt-BR" b="1" dirty="0">
                <a:solidFill>
                  <a:srgbClr val="00B050"/>
                </a:solidFill>
              </a:rPr>
              <a:t>acurácia</a:t>
            </a:r>
            <a:r>
              <a:rPr lang="pt-BR" dirty="0">
                <a:solidFill>
                  <a:schemeClr val="tx1"/>
                </a:solidFill>
              </a:rPr>
              <a:t> é, geralmente, a </a:t>
            </a:r>
            <a:r>
              <a:rPr lang="pt-BR" b="1" dirty="0">
                <a:solidFill>
                  <a:srgbClr val="00B050"/>
                </a:solidFill>
              </a:rPr>
              <a:t>primeira escolha </a:t>
            </a:r>
            <a:r>
              <a:rPr lang="pt-BR" dirty="0">
                <a:solidFill>
                  <a:schemeClr val="tx1"/>
                </a:solidFill>
              </a:rPr>
              <a:t>para medir a qualidade de um classificador.</a:t>
            </a:r>
          </a:p>
          <a:p>
            <a:r>
              <a:rPr lang="pt-BR" dirty="0">
                <a:solidFill>
                  <a:schemeClr val="tx1"/>
                </a:solidFill>
              </a:rPr>
              <a:t>Entretanto, ela pode ser </a:t>
            </a:r>
            <a:r>
              <a:rPr lang="pt-BR" b="1" dirty="0">
                <a:solidFill>
                  <a:srgbClr val="00B050"/>
                </a:solidFill>
              </a:rPr>
              <a:t>enganosa com problemas </a:t>
            </a:r>
            <a:r>
              <a:rPr lang="pt-BR" b="1" dirty="0">
                <a:solidFill>
                  <a:srgbClr val="FF0000"/>
                </a:solidFill>
              </a:rPr>
              <a:t>desbalanceados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Problemas onde uma ou algumas classes têm muito mais exemplos do que as demais.</a:t>
            </a:r>
            <a:endParaRPr lang="pt-BR" dirty="0">
              <a:solidFill>
                <a:schemeClr val="tx1"/>
              </a:solidFill>
            </a:endParaRPr>
          </a:p>
          <a:p>
            <a:r>
              <a:rPr lang="pt-BR" dirty="0"/>
              <a:t>Nesses casos, ela pode nos levar a </a:t>
            </a:r>
            <a:r>
              <a:rPr lang="pt-BR" b="1" dirty="0">
                <a:solidFill>
                  <a:schemeClr val="accent2"/>
                </a:solidFill>
              </a:rPr>
              <a:t>concluir</a:t>
            </a:r>
            <a:r>
              <a:rPr lang="pt-BR" dirty="0"/>
              <a:t> que um </a:t>
            </a:r>
            <a:r>
              <a:rPr lang="pt-BR" b="1" dirty="0">
                <a:solidFill>
                  <a:srgbClr val="7030A0"/>
                </a:solidFill>
              </a:rPr>
              <a:t>classificador ruim é muito bom</a:t>
            </a:r>
            <a:r>
              <a:rPr lang="pt-BR" dirty="0"/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/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6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Analisando a equação da acurácia, o que aconteceria se TP fosse muito maior do que TN, FN e FP?</a:t>
                </a: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acur</m:t>
                          </m:r>
                          <m: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á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cia</m:t>
                          </m:r>
                        </m:e>
                      </m:func>
                      <m:r>
                        <a:rPr lang="pt-BR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d>
                        <m:d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den>
                          </m:f>
                        </m:e>
                      </m:d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pt-BR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 mesmo aconteceria se TN fosse muito maior do que TP, FN e FP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Portanto, quando temos </a:t>
                </a:r>
                <a:r>
                  <a:rPr lang="pt-BR" b="1" dirty="0">
                    <a:solidFill>
                      <a:srgbClr val="00B050"/>
                    </a:solidFill>
                  </a:rPr>
                  <a:t>classes desbalanceadas,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analisar outras métricas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Ela também é enganosa quando os custos de falsos positivos e falsos negativos não são iguais.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  <a:blipFill>
                <a:blip r:embed="rId3"/>
                <a:stretch>
                  <a:fillRect l="-926" t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356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9409E-2F7C-F9FB-1D90-828F558DA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7B3338-3C79-280E-33CD-E184CC75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8428" y="1870780"/>
            <a:ext cx="6668105" cy="4987219"/>
          </a:xfrm>
        </p:spPr>
        <p:txBody>
          <a:bodyPr>
            <a:normAutofit/>
          </a:bodyPr>
          <a:lstStyle/>
          <a:p>
            <a:r>
              <a:rPr lang="pt-BR" b="1" dirty="0"/>
              <a:t>Precisão</a:t>
            </a:r>
            <a:r>
              <a:rPr lang="pt-BR" dirty="0"/>
              <a:t> é a proporção de exemplos da classe positiva corretamente classificados (TP) em relação a todos os exemplos atribuídos à classe positiva (TP + FP).</a:t>
            </a:r>
          </a:p>
          <a:p>
            <a:r>
              <a:rPr lang="pt-BR" dirty="0"/>
              <a:t>É uma </a:t>
            </a:r>
            <a:r>
              <a:rPr lang="pt-BR" b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do classificador </a:t>
            </a:r>
            <a:r>
              <a:rPr lang="pt-BR" b="1" dirty="0">
                <a:solidFill>
                  <a:srgbClr val="00B050"/>
                </a:solidFill>
              </a:rPr>
              <a:t>quando os custos de </a:t>
            </a:r>
            <a:r>
              <a:rPr lang="pt-BR" b="1" dirty="0">
                <a:solidFill>
                  <a:srgbClr val="FF0000"/>
                </a:solidFill>
              </a:rPr>
              <a:t>falsos positivos</a:t>
            </a:r>
            <a:r>
              <a:rPr lang="pt-BR" b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/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0D5ABCB4-5EB5-F832-F110-AD1F2FD3532A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685BDF4E-E4CF-5896-0326-96A536D9643C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3650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94076-840C-F8A0-1EBA-0559789D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837E6-3644-108F-C376-E31809129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D50CCD-BAF9-D705-F6DD-4E87FC3E6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690" y="1870780"/>
            <a:ext cx="7115224" cy="4987219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i="1" dirty="0"/>
              <a:t>spams</a:t>
            </a:r>
            <a:r>
              <a:rPr lang="pt-BR" dirty="0"/>
              <a:t> onde o </a:t>
            </a:r>
            <a:r>
              <a:rPr lang="pt-BR" b="1" dirty="0"/>
              <a:t>verdadeiro positivo</a:t>
            </a:r>
            <a:r>
              <a:rPr lang="pt-BR" dirty="0"/>
              <a:t> é um </a:t>
            </a:r>
            <a:r>
              <a:rPr lang="pt-BR" dirty="0" err="1"/>
              <a:t>email</a:t>
            </a:r>
            <a:r>
              <a:rPr lang="pt-BR" dirty="0"/>
              <a:t> de </a:t>
            </a:r>
            <a:r>
              <a:rPr lang="pt-BR" b="1" i="1" dirty="0"/>
              <a:t>spam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/>
              <a:t>falso positivo </a:t>
            </a:r>
            <a:r>
              <a:rPr lang="pt-BR" dirty="0"/>
              <a:t>significa que um </a:t>
            </a:r>
            <a:r>
              <a:rPr lang="pt-BR" b="1" i="1" dirty="0" err="1"/>
              <a:t>ham</a:t>
            </a:r>
            <a:r>
              <a:rPr lang="pt-BR" dirty="0"/>
              <a:t> (</a:t>
            </a:r>
            <a:r>
              <a:rPr lang="pt-BR" b="1" dirty="0"/>
              <a:t>verdadeiro negativo</a:t>
            </a:r>
            <a:r>
              <a:rPr lang="pt-BR" dirty="0"/>
              <a:t>) foi classificado como </a:t>
            </a:r>
            <a:r>
              <a:rPr lang="pt-BR" b="1" i="1" dirty="0"/>
              <a:t>spam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caso, o cliente do serviço de </a:t>
            </a:r>
            <a:r>
              <a:rPr lang="pt-BR" dirty="0" err="1"/>
              <a:t>email</a:t>
            </a:r>
            <a:r>
              <a:rPr lang="pt-BR" dirty="0"/>
              <a:t> pode perder correspondências importantes se a </a:t>
            </a:r>
            <a:r>
              <a:rPr lang="pt-BR" b="1" dirty="0"/>
              <a:t>precisão</a:t>
            </a:r>
            <a:r>
              <a:rPr lang="pt-BR" dirty="0"/>
              <a:t> for baixa.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704D3BDA-16E0-C30B-2504-2D58C9069DF7}"/>
                  </a:ext>
                </a:extLst>
              </p:cNvPr>
              <p:cNvSpPr txBox="1"/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72E4F38E-A7EF-429F-6B31-B7E993C4BB4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7DBCA45D-01DE-F21C-9CC9-EBEE7C31C895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2256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87A758-CC86-49D1-9698-4D8C118C4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E4F4E1-BE8B-2CDE-011D-F70A3522A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374869" cy="5032375"/>
          </a:xfrm>
        </p:spPr>
        <p:txBody>
          <a:bodyPr>
            <a:normAutofit/>
          </a:bodyPr>
          <a:lstStyle/>
          <a:p>
            <a:r>
              <a:rPr lang="pt-BR" b="1" i="1" dirty="0"/>
              <a:t>Recall</a:t>
            </a:r>
            <a:r>
              <a:rPr lang="pt-BR" dirty="0"/>
              <a:t> ou </a:t>
            </a:r>
            <a:r>
              <a:rPr lang="pt-BR" b="1" i="1" dirty="0"/>
              <a:t>sensibilidade</a:t>
            </a:r>
            <a:r>
              <a:rPr lang="pt-BR" dirty="0"/>
              <a:t> é a proporção de exemplos da classe positiva corretamente classificados.</a:t>
            </a:r>
            <a:endParaRPr lang="pt-BR" b="1" dirty="0"/>
          </a:p>
          <a:p>
            <a:r>
              <a:rPr lang="pt-BR" dirty="0"/>
              <a:t>O </a:t>
            </a:r>
            <a:r>
              <a:rPr lang="pt-BR" i="1" dirty="0"/>
              <a:t>recall</a:t>
            </a:r>
            <a:r>
              <a:rPr lang="pt-BR" dirty="0"/>
              <a:t> calcula quantos exemplos realmente positivos o classificador captura em relação a todos exemplos positivos. </a:t>
            </a:r>
            <a:endParaRPr lang="pt-BR" sz="2100" dirty="0"/>
          </a:p>
          <a:p>
            <a:r>
              <a:rPr lang="pt-BR" dirty="0"/>
              <a:t>É uma </a:t>
            </a:r>
            <a:r>
              <a:rPr lang="pt-BR" b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de um classificador </a:t>
            </a:r>
            <a:r>
              <a:rPr lang="pt-BR" b="1" dirty="0">
                <a:solidFill>
                  <a:srgbClr val="00B050"/>
                </a:solidFill>
              </a:rPr>
              <a:t>quando os custos de </a:t>
            </a:r>
            <a:r>
              <a:rPr lang="pt-BR" b="1" dirty="0">
                <a:solidFill>
                  <a:srgbClr val="FF0000"/>
                </a:solidFill>
              </a:rPr>
              <a:t>falsos negativos</a:t>
            </a:r>
            <a:r>
              <a:rPr lang="pt-BR" b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AB28634A-9E6D-BA06-E08B-AF1826CF657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894B2598-B989-4F1A-AB5A-34B5BD2133A9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934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8E56-1063-9535-583F-68F98BEE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281AC0-3FAB-E1EC-DE8A-76F8FBB33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A4931E-FED8-1E19-BC1E-B1813EAF8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461955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dirty="0"/>
              <a:t>doenças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um paciente doente (</a:t>
            </a:r>
            <a:r>
              <a:rPr lang="pt-BR" b="1" dirty="0"/>
              <a:t>verdadeiro positivo</a:t>
            </a:r>
            <a:r>
              <a:rPr lang="pt-BR" dirty="0"/>
              <a:t>) for classificado como não doente (</a:t>
            </a:r>
            <a:r>
              <a:rPr lang="pt-BR" b="1" dirty="0"/>
              <a:t>falso negativo</a:t>
            </a:r>
            <a:r>
              <a:rPr lang="pt-BR" dirty="0"/>
              <a:t>).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custo associado ao </a:t>
            </a:r>
            <a:r>
              <a:rPr lang="pt-BR" b="1" dirty="0"/>
              <a:t>falso negativo </a:t>
            </a:r>
            <a:r>
              <a:rPr lang="pt-BR" dirty="0"/>
              <a:t>será extremamente alto se a doença for contagiosa.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38A3350-B424-FFC8-887E-A4F979401EC1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6F8B50E5-59B3-7D20-E676-F37DDCFCA230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26508683-E050-40A0-9B76-B0CF504C46C8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52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F87474-9D5C-0B3D-63E8-AD1CF986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 versus </a:t>
            </a:r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DAA94B-AA8F-AF15-EE11-8B107DF8C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1971" y="1825624"/>
            <a:ext cx="6760029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precisão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negativos</a:t>
            </a:r>
            <a:r>
              <a:rPr lang="pt-BR" dirty="0"/>
              <a:t>. </a:t>
            </a:r>
          </a:p>
          <a:p>
            <a:r>
              <a:rPr lang="pt-BR" dirty="0"/>
              <a:t>Por outro lado, o </a:t>
            </a:r>
            <a:r>
              <a:rPr lang="pt-BR" b="1" i="1" dirty="0">
                <a:solidFill>
                  <a:srgbClr val="00B050"/>
                </a:solidFill>
              </a:rPr>
              <a:t>recall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positivos</a:t>
            </a:r>
            <a:r>
              <a:rPr lang="pt-BR" dirty="0"/>
              <a:t>.</a:t>
            </a:r>
          </a:p>
          <a:p>
            <a:r>
              <a:rPr lang="pt-BR" dirty="0"/>
              <a:t>Mas e se os </a:t>
            </a:r>
            <a:r>
              <a:rPr lang="pt-BR" b="1" dirty="0">
                <a:solidFill>
                  <a:srgbClr val="00B050"/>
                </a:solidFill>
              </a:rPr>
              <a:t>custos associados a falsos positivos e negativos </a:t>
            </a:r>
            <a:r>
              <a:rPr lang="pt-BR" b="1" dirty="0">
                <a:solidFill>
                  <a:schemeClr val="accent2"/>
                </a:solidFill>
              </a:rPr>
              <a:t>são iguais</a:t>
            </a:r>
            <a:r>
              <a:rPr lang="pt-BR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cães e gatos, por exemplo.</a:t>
            </a:r>
          </a:p>
          <a:p>
            <a:r>
              <a:rPr lang="pt-BR" dirty="0"/>
              <a:t>Nesse caso, para analisarmos o desempenho de um classificador, precisamos de </a:t>
            </a:r>
            <a:r>
              <a:rPr lang="pt-BR" b="1" dirty="0">
                <a:solidFill>
                  <a:schemeClr val="accent2"/>
                </a:solidFill>
              </a:rPr>
              <a:t>uma métrica que combine as duas</a:t>
            </a:r>
            <a:r>
              <a:rPr lang="pt-BR" dirty="0"/>
              <a:t>.</a:t>
            </a:r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/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/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2549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DCA44-CC6E-8998-A693-998426B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F1-</a:t>
            </a:r>
            <a:r>
              <a:rPr lang="pt-BR" i="1" dirty="0"/>
              <a:t>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F1-</a:t>
                </a:r>
                <a:r>
                  <a:rPr lang="pt-BR" i="1" dirty="0"/>
                  <a:t>score</a:t>
                </a:r>
                <a:r>
                  <a:rPr lang="pt-BR" dirty="0"/>
                  <a:t> combina as duas métricas em uma única.</a:t>
                </a:r>
              </a:p>
              <a:p>
                <a:r>
                  <a:rPr lang="pt-BR" dirty="0"/>
                  <a:t>A métrica dá a mesma importância à </a:t>
                </a:r>
                <a:r>
                  <a:rPr lang="pt-BR" b="1" dirty="0"/>
                  <a:t>precisão</a:t>
                </a:r>
                <a:r>
                  <a:rPr lang="pt-BR" dirty="0"/>
                  <a:t> e ao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próximos de 1 indicam que o </a:t>
                </a:r>
                <a:r>
                  <a:rPr lang="pt-BR" b="1" dirty="0"/>
                  <a:t>classificador</a:t>
                </a:r>
                <a:r>
                  <a:rPr lang="pt-BR" dirty="0"/>
                  <a:t> obteve ótimos resultados tanto de </a:t>
                </a:r>
                <a:r>
                  <a:rPr lang="pt-BR" b="1" dirty="0"/>
                  <a:t>precisão</a:t>
                </a:r>
                <a:r>
                  <a:rPr lang="pt-BR" dirty="0"/>
                  <a:t> quanto de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significa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FN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FP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/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num>
                            <m:den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40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BR" sz="4800" dirty="0"/>
                  <a:t>OK, consigo calcular as métricas para problemas binários, mas e quando </a:t>
                </a:r>
                <a14:m>
                  <m:oMath xmlns:m="http://schemas.openxmlformats.org/officeDocument/2006/math">
                    <m:r>
                      <a:rPr lang="pt-BR" sz="48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4800" dirty="0"/>
                  <a:t> &gt; 2?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  <a:blipFill>
                <a:blip r:embed="rId2"/>
                <a:stretch>
                  <a:fillRect l="-1305" t="-11806" r="-12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6118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 t="-13364" b="-21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9491"/>
                <a:ext cx="11333449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É possível calcular todas as métricas anteriores para o cenário multiclasses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Para isso, basta selecionar </a:t>
                </a:r>
                <a:r>
                  <a:rPr lang="pt-BR" b="1" dirty="0">
                    <a:solidFill>
                      <a:srgbClr val="7030A0"/>
                    </a:solidFill>
                  </a:rPr>
                  <a:t>uma classe por vez</a:t>
                </a:r>
                <a:r>
                  <a:rPr lang="pt-BR" dirty="0"/>
                  <a:t> como sendo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classe positiva</a:t>
                </a:r>
                <a:r>
                  <a:rPr lang="pt-BR" dirty="0"/>
                  <a:t>, enquanto todas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as demais classes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formam a classe negativa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Essa abordagem se chama </a:t>
                </a:r>
                <a:r>
                  <a:rPr lang="pt-BR" b="1" dirty="0">
                    <a:solidFill>
                      <a:srgbClr val="0070C0"/>
                    </a:solidFill>
                  </a:rPr>
                  <a:t>um-contra-o-resto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uma maneira de transformar um problema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problemas binários.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</a:t>
                </a:r>
                <a:r>
                  <a:rPr lang="pt-BR" b="1" dirty="0">
                    <a:solidFill>
                      <a:srgbClr val="7030A0"/>
                    </a:solidFill>
                  </a:rPr>
                  <a:t>passamos a ter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matrizes de confusão binárias.</a:t>
                </a:r>
              </a:p>
              <a:p>
                <a:r>
                  <a:rPr lang="pt-BR" dirty="0"/>
                  <a:t>Assim, obtém-se os valores das </a:t>
                </a:r>
                <a:r>
                  <a:rPr lang="pt-BR" b="1" dirty="0">
                    <a:solidFill>
                      <a:srgbClr val="00B050"/>
                    </a:solidFill>
                  </a:rPr>
                  <a:t>métricas para cada uma das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um exemplo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9491"/>
                <a:ext cx="11333449" cy="4998509"/>
              </a:xfrm>
              <a:blipFill>
                <a:blip r:embed="rId3"/>
                <a:stretch>
                  <a:fillRect l="-968" t="-1951" r="-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138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0EF1D-BFF8-2F82-4975-9C47E037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01543" y="1859491"/>
                <a:ext cx="5270107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teremos 3 matrizes de confusão binárias.</a:t>
                </a:r>
              </a:p>
              <a:p>
                <a:r>
                  <a:rPr lang="pt-BR" dirty="0"/>
                  <a:t>A primeira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como a classe positiva e união das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como a classe negativa.</a:t>
                </a:r>
              </a:p>
              <a:p>
                <a:r>
                  <a:rPr lang="pt-BR" dirty="0"/>
                  <a:t>Agora, de posse de TP, TN, FP, e FN, nós conseguimos 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sendo a classe positiva.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01543" y="1859491"/>
                <a:ext cx="5270107" cy="4998509"/>
              </a:xfrm>
              <a:blipFill>
                <a:blip r:embed="rId3"/>
                <a:stretch>
                  <a:fillRect l="-2081" t="-1951" r="-3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2093670"/>
                  </p:ext>
                </p:extLst>
              </p:nvPr>
            </p:nvGraphicFramePr>
            <p:xfrm>
              <a:off x="259836" y="2722033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2093670"/>
                  </p:ext>
                </p:extLst>
              </p:nvPr>
            </p:nvGraphicFramePr>
            <p:xfrm>
              <a:off x="259836" y="2722033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870" r="-438994" b="-3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100870" r="-438994" b="-2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202632" r="-438994" b="-1385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828" t="-500000" r="-2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4828" t="-500000" r="-1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4828" t="-500000" r="-862" b="-1289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/>
              <p:nvPr/>
            </p:nvSpPr>
            <p:spPr>
              <a:xfrm>
                <a:off x="2422868" y="2260368"/>
                <a:ext cx="42333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2868" y="2260368"/>
                <a:ext cx="4233333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7205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5949868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7092" r="-51570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41121" r="-515702" b="-253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82979" r="-515702" b="-921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000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0966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966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/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FB9017A-4D48-F779-0F83-6B9ADCB476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49143" y="1859491"/>
                <a:ext cx="5422507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segunda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como a classe positiva e união das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como a classe negativa.</a:t>
                </a:r>
              </a:p>
              <a:p>
                <a:r>
                  <a:rPr lang="pt-BR" dirty="0"/>
                  <a:t>Agora, de posse de TP, TN, FP, e FN, nós conseguimos 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sendo a classe positiva.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FB9017A-4D48-F779-0F83-6B9ADCB47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49143" y="1859491"/>
                <a:ext cx="5422507" cy="4998509"/>
              </a:xfrm>
              <a:blipFill>
                <a:blip r:embed="rId6"/>
                <a:stretch>
                  <a:fillRect l="-2022" t="-1951" r="-21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24173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63306-0FB6-57F4-8340-A91D68410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9383E70-93A4-E908-802C-517D3ED3BE0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7ECD143D-AF30-8E23-B045-8B71B6EDF9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57668363"/>
                  </p:ext>
                </p:extLst>
              </p:nvPr>
            </p:nvGraphicFramePr>
            <p:xfrm>
              <a:off x="485423" y="2649668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7ECD143D-AF30-8E23-B045-8B71B6EDF9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57668363"/>
                  </p:ext>
                </p:extLst>
              </p:nvPr>
            </p:nvGraphicFramePr>
            <p:xfrm>
              <a:off x="485423" y="2649668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6338" r="-548246" b="-266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107092" r="-548246" b="-1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272897" r="-548246" b="-1214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481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1449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1449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5330AE9-A322-005B-2219-EB4A7E59F328}"/>
                  </a:ext>
                </a:extLst>
              </p:cNvPr>
              <p:cNvSpPr txBox="1"/>
              <p:nvPr/>
            </p:nvSpPr>
            <p:spPr>
              <a:xfrm>
                <a:off x="2302933" y="2189330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é a positiva.</a:t>
                </a:r>
              </a:p>
            </p:txBody>
          </p:sp>
        </mc:Choice>
        <mc:Fallback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5330AE9-A322-005B-2219-EB4A7E59F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933" y="2189330"/>
                <a:ext cx="3793067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DD8A4E-6FAD-9F48-24F8-EBBD83CDE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60029" y="1859491"/>
                <a:ext cx="5411621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terceira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como a classe positiva e união das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como a classe negativa.</a:t>
                </a:r>
              </a:p>
              <a:p>
                <a:r>
                  <a:rPr lang="pt-BR" dirty="0"/>
                  <a:t>Agora, de posse de TP, TN, FP, e FN, nós conseguimos 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sendo a classe positiva.</a:t>
                </a:r>
              </a:p>
              <a:p>
                <a:r>
                  <a:rPr lang="pt-BR" dirty="0"/>
                  <a:t>Percebam que teremos um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de métricas (precisão,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recall</a:t>
                </a:r>
                <a:r>
                  <a:rPr lang="pt-BR" b="1" dirty="0">
                    <a:solidFill>
                      <a:schemeClr val="accent2"/>
                    </a:solidFill>
                  </a:rPr>
                  <a:t>, F1-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score</a:t>
                </a:r>
                <a:r>
                  <a:rPr lang="pt-BR" b="1" dirty="0">
                    <a:solidFill>
                      <a:schemeClr val="accent2"/>
                    </a:solidFill>
                  </a:rPr>
                  <a:t>) por classe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DD8A4E-6FAD-9F48-24F8-EBBD83CDE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60029" y="1859491"/>
                <a:ext cx="5411621" cy="4998509"/>
              </a:xfrm>
              <a:blipFill>
                <a:blip r:embed="rId5"/>
                <a:stretch>
                  <a:fillRect l="-2027" t="-1951" r="-22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520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478C6-7197-E66C-805B-12C1C5C16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 para o caso multiclasses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A3077-842E-10B4-83E8-F6B58E093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6113" y="1825625"/>
            <a:ext cx="5617029" cy="4351338"/>
          </a:xfrm>
        </p:spPr>
        <p:txBody>
          <a:bodyPr/>
          <a:lstStyle/>
          <a:p>
            <a:r>
              <a:rPr lang="pt-BR" dirty="0"/>
              <a:t>Para o caso multiclasses, a acurácia é calculada como razão entre a soma de todos os acertos e a soma erros e acertos.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/>
              <p:nvPr/>
            </p:nvSpPr>
            <p:spPr>
              <a:xfrm>
                <a:off x="1458685" y="5418979"/>
                <a:ext cx="9274629" cy="1027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diagonal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princial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todos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685" y="5418979"/>
                <a:ext cx="9274629" cy="10275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DB5CB5-58D6-D6F0-CAE4-AE7FAAC84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64785"/>
              </p:ext>
            </p:extLst>
          </p:nvPr>
        </p:nvGraphicFramePr>
        <p:xfrm>
          <a:off x="2139041" y="2511547"/>
          <a:ext cx="2590803" cy="1817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3601">
                  <a:extLst>
                    <a:ext uri="{9D8B030D-6E8A-4147-A177-3AD203B41FA5}">
                      <a16:colId xmlns:a16="http://schemas.microsoft.com/office/drawing/2014/main" val="3867026763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2035180929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1096411002"/>
                    </a:ext>
                  </a:extLst>
                </a:gridCol>
              </a:tblGrid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2607757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Acerto</a:t>
                      </a:r>
                      <a:endParaRPr 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3955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300212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B9EF39-B90C-8E8A-FAA1-894F1357DF08}"/>
              </a:ext>
            </a:extLst>
          </p:cNvPr>
          <p:cNvSpPr txBox="1"/>
          <p:nvPr/>
        </p:nvSpPr>
        <p:spPr>
          <a:xfrm>
            <a:off x="2416628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98951F-EC06-3600-8596-2C37C9D3F470}"/>
              </a:ext>
            </a:extLst>
          </p:cNvPr>
          <p:cNvSpPr txBox="1"/>
          <p:nvPr/>
        </p:nvSpPr>
        <p:spPr>
          <a:xfrm>
            <a:off x="3271550" y="432857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A648ED-ACCF-A0E8-A7FF-A93266861237}"/>
              </a:ext>
            </a:extLst>
          </p:cNvPr>
          <p:cNvSpPr txBox="1"/>
          <p:nvPr/>
        </p:nvSpPr>
        <p:spPr>
          <a:xfrm>
            <a:off x="4152897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24060A-F1D6-9DB5-76BA-3A64C1CCFBA2}"/>
              </a:ext>
            </a:extLst>
          </p:cNvPr>
          <p:cNvSpPr txBox="1"/>
          <p:nvPr/>
        </p:nvSpPr>
        <p:spPr>
          <a:xfrm>
            <a:off x="1837355" y="2569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4D6480-6017-F7EF-CBF8-45BE5E5980C6}"/>
              </a:ext>
            </a:extLst>
          </p:cNvPr>
          <p:cNvSpPr txBox="1"/>
          <p:nvPr/>
        </p:nvSpPr>
        <p:spPr>
          <a:xfrm>
            <a:off x="1837355" y="3235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A34B0-3C80-7E6E-DB17-529180947558}"/>
              </a:ext>
            </a:extLst>
          </p:cNvPr>
          <p:cNvSpPr txBox="1"/>
          <p:nvPr/>
        </p:nvSpPr>
        <p:spPr>
          <a:xfrm>
            <a:off x="1837355" y="37994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3936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99DC6-5E81-1EFB-D850-9CA5951E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2082459"/>
            <a:ext cx="5050971" cy="32439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200" dirty="0"/>
              <a:t>Não precisamos calcular nenhuma dessas métricas de forma manual.</a:t>
            </a:r>
          </a:p>
          <a:p>
            <a:pPr marL="0" indent="0" algn="ctr">
              <a:buNone/>
            </a:pPr>
            <a:endParaRPr lang="pt-BR" sz="3200" dirty="0"/>
          </a:p>
          <a:p>
            <a:pPr marL="0" indent="0" algn="ctr">
              <a:buNone/>
            </a:pPr>
            <a:r>
              <a:rPr lang="pt-BR" sz="3200" dirty="0"/>
              <a:t>Existem funções prontas para isso.</a:t>
            </a:r>
            <a:endParaRPr lang="en-US" sz="3200" dirty="0"/>
          </a:p>
        </p:txBody>
      </p:sp>
      <p:pic>
        <p:nvPicPr>
          <p:cNvPr id="1026" name="Picture 2" descr="7 razões pelas quais você não deve se desesperar com a vigência imediata da  LGPD">
            <a:extLst>
              <a:ext uri="{FF2B5EF4-FFF2-40B4-BE49-F238E27FC236}">
                <a16:creationId xmlns:a16="http://schemas.microsoft.com/office/drawing/2014/main" id="{3834F76E-882E-CE2E-2975-876D4AFD7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1483405"/>
            <a:ext cx="5754885" cy="444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63610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>
                <a:hlinkClick r:id="rId3"/>
              </a:rPr>
              <a:t>Exemplo: Métricas de classificação</a:t>
            </a:r>
            <a:endParaRPr lang="pt-BR" dirty="0"/>
          </a:p>
        </p:txBody>
      </p:sp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52" y="3317393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7085609" y="2896205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1729838" y="3317393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3700195" y="3685597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6388968" y="3682923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8059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#8 – </a:t>
            </a:r>
            <a:r>
              <a:rPr lang="en-US" dirty="0" err="1">
                <a:hlinkClick r:id="rId2"/>
              </a:rPr>
              <a:t>Métricas</a:t>
            </a:r>
            <a:r>
              <a:rPr lang="en-US" dirty="0">
                <a:hlinkClick r:id="rId2"/>
              </a:rPr>
              <a:t> de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5346110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994676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8055</TotalTime>
  <Words>2697</Words>
  <Application>Microsoft Office PowerPoint</Application>
  <PresentationFormat>Widescreen</PresentationFormat>
  <Paragraphs>259</Paragraphs>
  <Slides>30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Métricas de classificação</vt:lpstr>
      <vt:lpstr>O que vamos ver?</vt:lpstr>
      <vt:lpstr>Matriz de confusão</vt:lpstr>
      <vt:lpstr>Matriz de confusão</vt:lpstr>
      <vt:lpstr>Matriz de confusão</vt:lpstr>
      <vt:lpstr>Matriz de confusão</vt:lpstr>
      <vt:lpstr>Matriz de confusão</vt:lpstr>
      <vt:lpstr>Matriz de confusão para caso binário (Q=2)</vt:lpstr>
      <vt:lpstr>Matriz de confusão para caso binário (Q=2)</vt:lpstr>
      <vt:lpstr>PowerPoint Presentation</vt:lpstr>
      <vt:lpstr>Acurácia</vt:lpstr>
      <vt:lpstr>Acurácia</vt:lpstr>
      <vt:lpstr>Acurácia</vt:lpstr>
      <vt:lpstr>Precisão</vt:lpstr>
      <vt:lpstr>Precisão</vt:lpstr>
      <vt:lpstr>Recall</vt:lpstr>
      <vt:lpstr>Recall</vt:lpstr>
      <vt:lpstr>Precisão versus recall</vt:lpstr>
      <vt:lpstr>F1-score</vt:lpstr>
      <vt:lpstr>PowerPoint Presentation</vt:lpstr>
      <vt:lpstr>Matriz de confusão para caso multiclasses (Q&gt;2)</vt:lpstr>
      <vt:lpstr>Matriz de confusão para Q=3</vt:lpstr>
      <vt:lpstr>Matriz de confusão para Q=3</vt:lpstr>
      <vt:lpstr>Matriz de confusão para Q=3</vt:lpstr>
      <vt:lpstr>Acurácia para o caso multiclasses</vt:lpstr>
      <vt:lpstr>PowerPoint Presentation</vt:lpstr>
      <vt:lpstr>Exemplo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1769</cp:revision>
  <dcterms:created xsi:type="dcterms:W3CDTF">2020-01-20T13:50:05Z</dcterms:created>
  <dcterms:modified xsi:type="dcterms:W3CDTF">2026-04-07T17:45:24Z</dcterms:modified>
</cp:coreProperties>
</file>