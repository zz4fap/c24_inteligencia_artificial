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464" r:id="rId15"/>
    <p:sldId id="327" r:id="rId16"/>
    <p:sldId id="458" r:id="rId17"/>
    <p:sldId id="328" r:id="rId18"/>
    <p:sldId id="459" r:id="rId19"/>
    <p:sldId id="465" r:id="rId20"/>
    <p:sldId id="332" r:id="rId21"/>
    <p:sldId id="333" r:id="rId22"/>
    <p:sldId id="329" r:id="rId23"/>
    <p:sldId id="330" r:id="rId24"/>
    <p:sldId id="381" r:id="rId25"/>
    <p:sldId id="460" r:id="rId26"/>
    <p:sldId id="331" r:id="rId27"/>
    <p:sldId id="463" r:id="rId28"/>
    <p:sldId id="462" r:id="rId29"/>
    <p:sldId id="461" r:id="rId30"/>
    <p:sldId id="334" r:id="rId31"/>
    <p:sldId id="457" r:id="rId32"/>
    <p:sldId id="336" r:id="rId33"/>
    <p:sldId id="337" r:id="rId3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041" autoAdjust="0"/>
  </p:normalViewPr>
  <p:slideViewPr>
    <p:cSldViewPr snapToGrid="0">
      <p:cViewPr varScale="1">
        <p:scale>
          <a:sx n="101" d="100"/>
          <a:sy n="101" d="100"/>
        </p:scale>
        <p:origin x="1218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040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pode tender à 1 (100%)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esteja</a:t>
            </a:r>
            <a:r>
              <a:rPr lang="en-US" dirty="0"/>
              <a:t> tendo um </a:t>
            </a: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ruim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identificação</a:t>
            </a:r>
            <a:r>
              <a:rPr lang="en-US" dirty="0"/>
              <a:t> da </a:t>
            </a:r>
            <a:r>
              <a:rPr lang="en-US" dirty="0" err="1"/>
              <a:t>classe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tudo</a:t>
            </a:r>
            <a:r>
              <a:rPr lang="en-US" dirty="0"/>
              <a:t> </a:t>
            </a:r>
            <a:r>
              <a:rPr lang="en-US" dirty="0" err="1"/>
              <a:t>aquilo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classificou</a:t>
            </a:r>
            <a:r>
              <a:rPr lang="en-US" dirty="0"/>
              <a:t>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, o </a:t>
            </a:r>
            <a:r>
              <a:rPr lang="en-US" dirty="0" err="1"/>
              <a:t>quanto</a:t>
            </a:r>
            <a:r>
              <a:rPr lang="en-US" dirty="0"/>
              <a:t> é </a:t>
            </a:r>
            <a:r>
              <a:rPr lang="en-US" dirty="0" err="1"/>
              <a:t>realmente</a:t>
            </a:r>
            <a:r>
              <a:rPr lang="en-US" dirty="0"/>
              <a:t> </a:t>
            </a:r>
            <a:r>
              <a:rPr lang="en-US" dirty="0" err="1"/>
              <a:t>positivo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dirty="0" err="1"/>
              <a:t>Precisão</a:t>
            </a:r>
            <a:r>
              <a:rPr lang="en-US" dirty="0"/>
              <a:t> </a:t>
            </a:r>
            <a:r>
              <a:rPr lang="en-US" dirty="0" err="1"/>
              <a:t>mede</a:t>
            </a:r>
            <a:r>
              <a:rPr lang="en-US" dirty="0"/>
              <a:t> a </a:t>
            </a:r>
            <a:r>
              <a:rPr lang="en-US" dirty="0" err="1"/>
              <a:t>confiabilidade</a:t>
            </a:r>
            <a:r>
              <a:rPr lang="en-US" dirty="0"/>
              <a:t> das </a:t>
            </a:r>
            <a:r>
              <a:rPr lang="en-US" dirty="0" err="1"/>
              <a:t>previsões</a:t>
            </a:r>
            <a:r>
              <a:rPr lang="en-US" dirty="0"/>
              <a:t> </a:t>
            </a:r>
            <a:r>
              <a:rPr lang="en-US" dirty="0" err="1"/>
              <a:t>positivas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770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33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../media/image25.png"/><Relationship Id="rId19" Type="http://schemas.openxmlformats.org/officeDocument/2006/relationships/image" Target="../media/image26.png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0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2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37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analisar 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30" y="1556497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5998028" y="2708302"/>
            <a:ext cx="596537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Como o próprio nome diz, a </a:t>
            </a:r>
            <a:r>
              <a:rPr lang="pt-BR" sz="2800" b="1" dirty="0"/>
              <a:t>matriz de confusão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os exemplos pertencem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9554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</a:t>
            </a:r>
            <a:r>
              <a:rPr lang="pt-BR" sz="1100" b="1" dirty="0"/>
              <a:t>OBS</a:t>
            </a:r>
            <a:r>
              <a:rPr lang="pt-BR" sz="1100" dirty="0"/>
              <a:t>.: 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13326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061635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2751123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061635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416537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pertencem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165589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2 foram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OBS</a:t>
                </a:r>
                <a:r>
                  <a:rPr lang="pt-BR" sz="2400" dirty="0"/>
                  <a:t>.: Algumas versões da matriz apresentam porcentagens ao invés de contagens.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  <a:blipFill>
                <a:blip r:embed="rId3"/>
                <a:stretch>
                  <a:fillRect l="-762"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b="1" dirty="0"/>
                  <a:t>Matriz com dimensão: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  <a:blipFill>
                <a:blip r:embed="rId4"/>
                <a:stretch>
                  <a:fillRect l="-1294" t="-1816" r="-2502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361054"/>
              </p:ext>
            </p:extLst>
          </p:nvPr>
        </p:nvGraphicFramePr>
        <p:xfrm>
          <a:off x="1313262" y="3107994"/>
          <a:ext cx="3563538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769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1781769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Falsos </a:t>
                      </a:r>
                      <a:b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Positivos (FP)</a:t>
                      </a:r>
                      <a:endParaRPr lang="pt-BR" sz="2000" b="1" kern="1200" dirty="0">
                        <a:solidFill>
                          <a:srgbClr val="7030A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0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511047" y="3619395"/>
            <a:ext cx="1916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Preditas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313262" y="4926676"/>
            <a:ext cx="3510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7627" t="-6557" r="-762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blipFill>
                <a:blip r:embed="rId6"/>
                <a:stretch>
                  <a:fillRect l="-3361" t="-8333" r="-4202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blipFill>
                <a:blip r:embed="rId8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604"/>
            <a:ext cx="10515600" cy="28007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</a:t>
            </a:r>
            <a:r>
              <a:rPr lang="pt-BR" sz="4800" b="1" dirty="0">
                <a:solidFill>
                  <a:srgbClr val="7030A0"/>
                </a:solidFill>
              </a:rPr>
              <a:t>matriz de confusão binária</a:t>
            </a:r>
            <a:r>
              <a:rPr lang="pt-BR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886" y="1825624"/>
            <a:ext cx="646611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</a:t>
            </a:r>
            <a:r>
              <a:rPr lang="pt-BR" dirty="0"/>
              <a:t>o</a:t>
            </a:r>
            <a:r>
              <a:rPr lang="pt-BR" b="0" dirty="0">
                <a:effectLst/>
              </a:rPr>
              <a:t> </a:t>
            </a:r>
            <a:r>
              <a:rPr lang="pt-BR" b="1" dirty="0">
                <a:solidFill>
                  <a:srgbClr val="FF0000"/>
                </a:solidFill>
                <a:effectLst/>
              </a:rPr>
              <a:t>desempenho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pt-BR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A acurácia pode tender à 1 mesmo que o modelo tenha um desempenho ruim na identificação da classe negativa.</a:t>
                </a:r>
              </a:p>
              <a:p>
                <a:r>
                  <a:rPr lang="pt-BR" noProof="0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b="0" noProof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Por exemplo, para um modelo de classificação de doenças contagiosas, o custo de um FN (tem a doença, mas o modelo diz que não) é mais alto do que o de um FP.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  <a:blipFill>
                <a:blip r:embed="rId3"/>
                <a:stretch>
                  <a:fillRect l="-913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351861-7A86-07B3-5514-F1B15497F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2217737"/>
            <a:ext cx="11306175" cy="24225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Portanto, quando temos </a:t>
            </a:r>
            <a:r>
              <a:rPr lang="pt-BR" sz="5400" b="1" dirty="0">
                <a:solidFill>
                  <a:srgbClr val="00B050"/>
                </a:solidFill>
              </a:rPr>
              <a:t>classes desbalanceadas ou custos diferentes, devemos </a:t>
            </a:r>
            <a:r>
              <a:rPr lang="pt-BR" sz="5400" b="1" dirty="0">
                <a:solidFill>
                  <a:srgbClr val="7030A0"/>
                </a:solidFill>
              </a:rPr>
              <a:t>analisar outras métricas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2112176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70780"/>
            <a:ext cx="6836228" cy="4987219"/>
          </a:xfrm>
        </p:spPr>
        <p:txBody>
          <a:bodyPr>
            <a:normAutofit/>
          </a:bodyPr>
          <a:lstStyle/>
          <a:p>
            <a:r>
              <a:rPr lang="pt-BR" b="1" noProof="0" dirty="0"/>
              <a:t>Precisão</a:t>
            </a:r>
            <a:r>
              <a:rPr lang="pt-BR" noProof="0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noProof="0" dirty="0"/>
              <a:t>Ou seja, de tudo aquilo que o modelo classificou como positivo, quanto realmente é positivo?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Quando ele prediz positivo, podemos confiar?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do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positivos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43164" y="4941012"/>
            <a:ext cx="609602" cy="195262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54846-7200-8A13-7CE3-866E0423AC95}"/>
              </a:ext>
            </a:extLst>
          </p:cNvPr>
          <p:cNvSpPr txBox="1"/>
          <p:nvPr/>
        </p:nvSpPr>
        <p:spPr>
          <a:xfrm>
            <a:off x="2200275" y="6157592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5BECE90-0299-928D-2937-BAD69964EB36}"/>
              </a:ext>
            </a:extLst>
          </p:cNvPr>
          <p:cNvSpPr txBox="1"/>
          <p:nvPr/>
        </p:nvSpPr>
        <p:spPr>
          <a:xfrm>
            <a:off x="3070353" y="61701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E5240CA-203C-851E-7E56-73BFF976FA1B}"/>
              </a:ext>
            </a:extLst>
          </p:cNvPr>
          <p:cNvSpPr txBox="1"/>
          <p:nvPr/>
        </p:nvSpPr>
        <p:spPr>
          <a:xfrm>
            <a:off x="1469270" y="56880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DF3936-009E-86E3-DA9B-9C242B4A2046}"/>
              </a:ext>
            </a:extLst>
          </p:cNvPr>
          <p:cNvSpPr txBox="1"/>
          <p:nvPr/>
        </p:nvSpPr>
        <p:spPr>
          <a:xfrm>
            <a:off x="1491712" y="528093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dirty="0" err="1"/>
              <a:t>email</a:t>
            </a:r>
            <a:r>
              <a:rPr lang="pt-BR" b="1" dirty="0"/>
              <a:t> legítimo </a:t>
            </a:r>
            <a:r>
              <a:rPr lang="pt-BR" dirty="0"/>
              <a:t>(</a:t>
            </a:r>
            <a:r>
              <a:rPr lang="pt-BR" i="1" dirty="0" err="1"/>
              <a:t>ham</a:t>
            </a:r>
            <a:r>
              <a:rPr lang="pt-BR" dirty="0"/>
              <a:t>)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D64B03D-AF6E-F650-7BA8-30B1ADE878DC}"/>
              </a:ext>
            </a:extLst>
          </p:cNvPr>
          <p:cNvSpPr txBox="1"/>
          <p:nvPr/>
        </p:nvSpPr>
        <p:spPr>
          <a:xfrm>
            <a:off x="2943805" y="622212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C6F87C0-602F-3FE7-1A8C-E76501466135}"/>
              </a:ext>
            </a:extLst>
          </p:cNvPr>
          <p:cNvSpPr txBox="1"/>
          <p:nvPr/>
        </p:nvSpPr>
        <p:spPr>
          <a:xfrm>
            <a:off x="2007143" y="62345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11FED4-798F-FE62-4DD0-9B02BCE4FF2E}"/>
              </a:ext>
            </a:extLst>
          </p:cNvPr>
          <p:cNvSpPr txBox="1"/>
          <p:nvPr/>
        </p:nvSpPr>
        <p:spPr>
          <a:xfrm>
            <a:off x="1238641" y="52308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F6DA85B-6614-958D-C680-07895E10B379}"/>
              </a:ext>
            </a:extLst>
          </p:cNvPr>
          <p:cNvSpPr txBox="1"/>
          <p:nvPr/>
        </p:nvSpPr>
        <p:spPr>
          <a:xfrm>
            <a:off x="1171177" y="568801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noProof="0" dirty="0"/>
              <a:t>Recall</a:t>
            </a:r>
            <a:r>
              <a:rPr lang="pt-BR" noProof="0" dirty="0"/>
              <a:t> ou </a:t>
            </a:r>
            <a:r>
              <a:rPr lang="pt-BR" b="1" i="1" noProof="0" dirty="0"/>
              <a:t>sensibilidade</a:t>
            </a:r>
            <a:r>
              <a:rPr lang="pt-BR" noProof="0" dirty="0"/>
              <a:t> é a proporção de exemplos da classe positiva corretamente classificados.</a:t>
            </a:r>
          </a:p>
          <a:p>
            <a:r>
              <a:rPr lang="pt-BR" noProof="0" dirty="0"/>
              <a:t>Dos exemplos que realmente são positivos, quantos o modelo conseguiu acertar?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O modelo conseguiu encontrar todos os positivos?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de um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negativos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4E8F31-70DD-AFAD-34E2-A822946626E9}"/>
              </a:ext>
            </a:extLst>
          </p:cNvPr>
          <p:cNvSpPr txBox="1"/>
          <p:nvPr/>
        </p:nvSpPr>
        <p:spPr>
          <a:xfrm>
            <a:off x="2781709" y="6181265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339B622-0A8F-73D9-2449-EDF1095410C1}"/>
              </a:ext>
            </a:extLst>
          </p:cNvPr>
          <p:cNvSpPr txBox="1"/>
          <p:nvPr/>
        </p:nvSpPr>
        <p:spPr>
          <a:xfrm>
            <a:off x="1775984" y="6181265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8BDA5C3-77D9-BE4A-F72B-0D83504807E8}"/>
              </a:ext>
            </a:extLst>
          </p:cNvPr>
          <p:cNvSpPr txBox="1"/>
          <p:nvPr/>
        </p:nvSpPr>
        <p:spPr>
          <a:xfrm>
            <a:off x="838200" y="5248003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5CFE41C-61A5-A9A5-1493-12FF02B34221}"/>
              </a:ext>
            </a:extLst>
          </p:cNvPr>
          <p:cNvSpPr txBox="1"/>
          <p:nvPr/>
        </p:nvSpPr>
        <p:spPr>
          <a:xfrm>
            <a:off x="1001652" y="5696608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71E3951-9049-F65B-B03A-1DB6F460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92337"/>
            <a:ext cx="10515600" cy="247332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Mas e se falsos positivos e falsos negativos tiverem custos iguais, que métrica usar?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6658556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8796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identificação de cães e gatos onde ambas as classificações corretas são importantes.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mesma importância </a:t>
                </a:r>
                <a:r>
                  <a:rPr lang="pt-BR" dirty="0"/>
                  <a:t>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00025" y="2505100"/>
                <a:ext cx="11791950" cy="1847799"/>
              </a:xfrm>
            </p:spPr>
            <p:txBody>
              <a:bodyPr>
                <a:noAutofit/>
              </a:bodyPr>
              <a:lstStyle/>
              <a:p>
                <a:pPr marL="0" indent="0" algn="ctr">
                  <a:buNone/>
                </a:pPr>
                <a:r>
                  <a:rPr lang="pt-BR" sz="54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5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5400" dirty="0"/>
                  <a:t> &gt; 2?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00025" y="2505100"/>
                <a:ext cx="11791950" cy="1847799"/>
              </a:xfrm>
              <a:blipFill>
                <a:blip r:embed="rId2"/>
                <a:stretch>
                  <a:fillRect l="-2585" t="-13531" r="-2482" b="-5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F6D18B-0399-55B9-FD83-C7EDF77FF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89356" cy="1325563"/>
          </a:xfrm>
        </p:spPr>
        <p:txBody>
          <a:bodyPr/>
          <a:lstStyle/>
          <a:p>
            <a:r>
              <a:rPr lang="pt-BR" dirty="0"/>
              <a:t>Matriz de confusão para caso multiclasses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</a:t>
                </a:r>
                <a:r>
                  <a:rPr lang="pt-BR" b="1" dirty="0">
                    <a:solidFill>
                      <a:srgbClr val="0070C0"/>
                    </a:solidFill>
                  </a:rPr>
                  <a:t>um-contra-o-resto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</a:t>
                </a:r>
                <a:r>
                  <a:rPr lang="pt-BR" b="1" dirty="0">
                    <a:solidFill>
                      <a:srgbClr val="7030A0"/>
                    </a:solidFill>
                  </a:rPr>
                  <a:t>passamos a ter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matrizes de confusão binárias, uma para cada classe sendo a classe positiva.</a:t>
                </a:r>
              </a:p>
              <a:p>
                <a:r>
                  <a:rPr lang="pt-BR" dirty="0"/>
                  <a:t>Desta forma,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  <a:blipFill>
                <a:blip r:embed="rId3"/>
                <a:stretch>
                  <a:fillRect l="-967" t="-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5995D85-6E2F-F101-4F83-A59335472961}"/>
              </a:ext>
            </a:extLst>
          </p:cNvPr>
          <p:cNvGrpSpPr/>
          <p:nvPr/>
        </p:nvGrpSpPr>
        <p:grpSpPr>
          <a:xfrm>
            <a:off x="1617294" y="242939"/>
            <a:ext cx="6992205" cy="6506243"/>
            <a:chOff x="2194241" y="188509"/>
            <a:chExt cx="6992205" cy="6506243"/>
          </a:xfrm>
        </p:grpSpPr>
        <p:grpSp>
          <p:nvGrpSpPr>
            <p:cNvPr id="14" name="Group 13"/>
            <p:cNvGrpSpPr/>
            <p:nvPr/>
          </p:nvGrpSpPr>
          <p:grpSpPr>
            <a:xfrm>
              <a:off x="2194241" y="188509"/>
              <a:ext cx="6992205" cy="6506243"/>
              <a:chOff x="2194241" y="188509"/>
              <a:chExt cx="6992205" cy="6506243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2194241" y="2343949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" name="TextBox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2"/>
                      <a:stretch>
                        <a:fillRect r="-3448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" name="TextBox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3"/>
                      <a:stretch>
                        <a:fillRect r="-1695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5" name="Oval 14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6" name="Oval 25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8" name="Oval 27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0" name="Multiply 29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1" name="Multiply 30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2" name="Multiply 31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3" name="Multiply 32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5" name="Multiply 34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6" name="Oval 35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8" name="Oval 37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2" name="Isosceles Triangle 51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3" name="Isosceles Triangle 52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4" name="Isosceles Triangle 53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5" name="Isosceles Triangle 54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6" name="Isosceles Triangle 55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64" name="Group 63"/>
              <p:cNvGrpSpPr/>
              <p:nvPr/>
            </p:nvGrpSpPr>
            <p:grpSpPr>
              <a:xfrm>
                <a:off x="6571874" y="4650684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65" name="Straight Connector 6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7" name="TextBox 6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4"/>
                      <a:stretch>
                        <a:fillRect r="-5172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8" name="TextBox 6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9" name="Oval 68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0" name="Oval 6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1" name="Oval 70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2" name="Oval 71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4" name="Multiply 73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5" name="Multiply 74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6" name="Multiply 75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7" name="Multiply 76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8" name="Multiply 77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9" name="Oval 78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0" name="Oval 79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1" name="Isosceles Triangle 80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2" name="Isosceles Triangle 81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3" name="Isosceles Triangle 82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4" name="Isosceles Triangle 83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5" name="Isosceles Triangle 84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86" name="Group 85"/>
              <p:cNvGrpSpPr/>
              <p:nvPr/>
            </p:nvGrpSpPr>
            <p:grpSpPr>
              <a:xfrm>
                <a:off x="6543675" y="2448410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87" name="Straight Connector 86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Box 88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9" name="TextBox 8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6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7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1" name="Oval 90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6" name="Multiply 95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7" name="Multiply 96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8" name="Multiply 97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9" name="Multiply 98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0" name="Multiply 99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3" name="Isosceles Triangle 102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4" name="Isosceles Triangle 103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5" name="Isosceles Triangle 104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6" name="Isosceles Triangle 105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7" name="Isosceles Triangle 106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150" name="Group 149"/>
              <p:cNvGrpSpPr/>
              <p:nvPr/>
            </p:nvGrpSpPr>
            <p:grpSpPr>
              <a:xfrm>
                <a:off x="6543675" y="188509"/>
                <a:ext cx="2614572" cy="2044068"/>
                <a:chOff x="6543675" y="188509"/>
                <a:chExt cx="2614572" cy="2044068"/>
              </a:xfrm>
            </p:grpSpPr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6696157" y="332948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rot="16200000">
                  <a:off x="7699784" y="941893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1" name="TextBox 110"/>
                    <p:cNvSpPr txBox="1"/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1" name="TextBox 1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8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2" name="TextBox 111"/>
                    <p:cNvSpPr txBox="1"/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2" name="TextBox 11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9"/>
                      <a:stretch>
                        <a:fillRect r="-1724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13" name="Oval 112"/>
                <p:cNvSpPr/>
                <p:nvPr/>
              </p:nvSpPr>
              <p:spPr>
                <a:xfrm>
                  <a:off x="7899673" y="739543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4" name="Oval 113"/>
                <p:cNvSpPr/>
                <p:nvPr/>
              </p:nvSpPr>
              <p:spPr>
                <a:xfrm>
                  <a:off x="7893448" y="920997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5" name="Oval 114"/>
                <p:cNvSpPr/>
                <p:nvPr/>
              </p:nvSpPr>
              <p:spPr>
                <a:xfrm>
                  <a:off x="8312438" y="59088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6" name="Oval 115"/>
                <p:cNvSpPr/>
                <p:nvPr/>
              </p:nvSpPr>
              <p:spPr>
                <a:xfrm>
                  <a:off x="7932586" y="52684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7" name="Oval 116"/>
                <p:cNvSpPr/>
                <p:nvPr/>
              </p:nvSpPr>
              <p:spPr>
                <a:xfrm>
                  <a:off x="8125921" y="70513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8" name="Multiply 117"/>
                <p:cNvSpPr/>
                <p:nvPr/>
              </p:nvSpPr>
              <p:spPr>
                <a:xfrm>
                  <a:off x="7084902" y="61246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9" name="Multiply 118"/>
                <p:cNvSpPr/>
                <p:nvPr/>
              </p:nvSpPr>
              <p:spPr>
                <a:xfrm>
                  <a:off x="6966504" y="802940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0" name="Multiply 119"/>
                <p:cNvSpPr/>
                <p:nvPr/>
              </p:nvSpPr>
              <p:spPr>
                <a:xfrm>
                  <a:off x="6861472" y="580805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1" name="Multiply 120"/>
                <p:cNvSpPr/>
                <p:nvPr/>
              </p:nvSpPr>
              <p:spPr>
                <a:xfrm>
                  <a:off x="6723093" y="84008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2" name="Multiply 121"/>
                <p:cNvSpPr/>
                <p:nvPr/>
              </p:nvSpPr>
              <p:spPr>
                <a:xfrm>
                  <a:off x="6943577" y="104510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3" name="Oval 122"/>
                <p:cNvSpPr/>
                <p:nvPr/>
              </p:nvSpPr>
              <p:spPr>
                <a:xfrm>
                  <a:off x="8102886" y="496456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4" name="Oval 123"/>
                <p:cNvSpPr/>
                <p:nvPr/>
              </p:nvSpPr>
              <p:spPr>
                <a:xfrm>
                  <a:off x="8200596" y="9013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5" name="Isosceles Triangle 124"/>
                <p:cNvSpPr/>
                <p:nvPr/>
              </p:nvSpPr>
              <p:spPr>
                <a:xfrm>
                  <a:off x="7323861" y="151874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6" name="Isosceles Triangle 125"/>
                <p:cNvSpPr/>
                <p:nvPr/>
              </p:nvSpPr>
              <p:spPr>
                <a:xfrm>
                  <a:off x="7605194" y="1465903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7" name="Isosceles Triangle 126"/>
                <p:cNvSpPr/>
                <p:nvPr/>
              </p:nvSpPr>
              <p:spPr>
                <a:xfrm>
                  <a:off x="7519505" y="1724602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8" name="Isosceles Triangle 127"/>
                <p:cNvSpPr/>
                <p:nvPr/>
              </p:nvSpPr>
              <p:spPr>
                <a:xfrm>
                  <a:off x="7251861" y="176352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9" name="Isosceles Triangle 128"/>
                <p:cNvSpPr/>
                <p:nvPr/>
              </p:nvSpPr>
              <p:spPr>
                <a:xfrm>
                  <a:off x="7790168" y="166974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Rectangle 150"/>
                  <p:cNvSpPr/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1" name="Rectangle 15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Rectangle 151"/>
                  <p:cNvSpPr/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2" name="Rectangle 15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Rectangle 152"/>
                  <p:cNvSpPr/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3" name="Rectangle 1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Rectangle 153"/>
                  <p:cNvSpPr/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4" name="Rectangle 1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Rectangle 154"/>
                  <p:cNvSpPr/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5" name="Rectangle 15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Rectangle 155"/>
                  <p:cNvSpPr/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6" name="Rectangle 1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7" name="Rectangle 156"/>
                  <p:cNvSpPr/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7" name="Rectangle 1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Rectangle 157"/>
                  <p:cNvSpPr/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8" name="Rectangle 15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Rectangle 158"/>
                  <p:cNvSpPr/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9" name="Rectangle 15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/>
              <p:cNvCxnSpPr/>
              <p:nvPr/>
            </p:nvCxnSpPr>
            <p:spPr>
              <a:xfrm flipV="1">
                <a:off x="5127093" y="1537903"/>
                <a:ext cx="1243999" cy="13715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/>
              <p:nvPr/>
            </p:nvCxnSpPr>
            <p:spPr>
              <a:xfrm>
                <a:off x="5186436" y="3501324"/>
                <a:ext cx="13281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/>
              <p:cNvCxnSpPr/>
              <p:nvPr/>
            </p:nvCxnSpPr>
            <p:spPr>
              <a:xfrm>
                <a:off x="5127093" y="3969187"/>
                <a:ext cx="1243999" cy="17344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/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0" dirty="0" smtClean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/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blipFill>
                  <a:blip r:embed="rId20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/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/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Com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sz="2400" dirty="0"/>
                  <a:t>, passamos a ter </a:t>
                </a:r>
                <a:r>
                  <a:rPr lang="pt-BR" sz="2400" b="1" dirty="0"/>
                  <a:t>3 problemas binários</a:t>
                </a:r>
                <a:r>
                  <a:rPr lang="pt-BR" sz="2400" dirty="0"/>
                  <a:t>.</a:t>
                </a:r>
                <a:endParaRPr lang="pt-BR" sz="2400" b="1" i="1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blipFill>
                <a:blip r:embed="rId22"/>
                <a:stretch>
                  <a:fillRect t="-5839" r="-900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itle 1">
            <a:extLst>
              <a:ext uri="{FF2B5EF4-FFF2-40B4-BE49-F238E27FC236}">
                <a16:creationId xmlns:a16="http://schemas.microsoft.com/office/drawing/2014/main" id="{1A0E4709-46E3-F10D-1F0B-C228BEF03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Um-Contra-o-Resto</a:t>
            </a:r>
          </a:p>
        </p:txBody>
      </p:sp>
      <p:sp>
        <p:nvSpPr>
          <p:cNvPr id="23" name="Espaço Reservado para Conteúdo 2">
            <a:extLst>
              <a:ext uri="{FF2B5EF4-FFF2-40B4-BE49-F238E27FC236}">
                <a16:creationId xmlns:a16="http://schemas.microsoft.com/office/drawing/2014/main" id="{1F869FA1-6ABE-A62C-D1D9-85E87B1FF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9306" y="1859491"/>
            <a:ext cx="3552694" cy="4998509"/>
          </a:xfrm>
        </p:spPr>
        <p:txBody>
          <a:bodyPr>
            <a:normAutofit/>
          </a:bodyPr>
          <a:lstStyle/>
          <a:p>
            <a:r>
              <a:rPr lang="pt-BR" dirty="0"/>
              <a:t>Os rótulos originais são: 1, 2, 3.</a:t>
            </a:r>
          </a:p>
          <a:p>
            <a:r>
              <a:rPr lang="pt-BR" dirty="0"/>
              <a:t>Para cada problema binário, mudamos os rótulos de </a:t>
            </a:r>
            <a:r>
              <a:rPr lang="pt-BR" b="1" dirty="0">
                <a:solidFill>
                  <a:srgbClr val="7030A0"/>
                </a:solidFill>
              </a:rPr>
              <a:t>uma classe</a:t>
            </a:r>
            <a:r>
              <a:rPr lang="pt-BR" dirty="0"/>
              <a:t> para 2 (+) </a:t>
            </a:r>
            <a:r>
              <a:rPr lang="pt-BR" b="1" dirty="0">
                <a:solidFill>
                  <a:schemeClr val="accent2"/>
                </a:solidFill>
              </a:rPr>
              <a:t>e das demais</a:t>
            </a:r>
            <a:r>
              <a:rPr lang="pt-BR" dirty="0"/>
              <a:t> para 1 (-).</a:t>
            </a:r>
          </a:p>
        </p:txBody>
      </p:sp>
    </p:spTree>
    <p:extLst>
      <p:ext uri="{BB962C8B-B14F-4D97-AF65-F5344CB8AC3E}">
        <p14:creationId xmlns:p14="http://schemas.microsoft.com/office/powerpoint/2010/main" val="9370966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teremos 3 matrizes de confusão binárias.</a:t>
                </a:r>
              </a:p>
              <a:p>
                <a:r>
                  <a:rPr lang="pt-BR" dirty="0"/>
                  <a:t>A primeira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conseguimos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sendo a classe positiva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Devemos somar todos os elementos com a mesma identificação.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  <a:blipFill>
                <a:blip r:embed="rId3"/>
                <a:stretch>
                  <a:fillRect l="-2032" t="-1951" r="-3273" b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2632" r="-438994" b="-1385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0000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0000" r="-1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0000" r="-862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segunda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  <a:blipFill>
                <a:blip r:embed="rId6"/>
                <a:stretch>
                  <a:fillRect l="-2022" t="-1951" r="-2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63306-0FB6-57F4-8340-A91D684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383E70-93A4-E908-802C-517D3ED3BE0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6338" r="-548246" b="-2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107092" r="-548246" b="-1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272897" r="-548246" b="-121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/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terceira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  <a:p>
                <a:r>
                  <a:rPr lang="pt-BR" dirty="0"/>
                  <a:t>Percebam que, ao final, teremos um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de métricas (precisão,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recall</a:t>
                </a:r>
                <a:r>
                  <a:rPr lang="pt-BR" b="1" dirty="0">
                    <a:solidFill>
                      <a:schemeClr val="accent2"/>
                    </a:solidFill>
                  </a:rPr>
                  <a:t>, F1-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score</a:t>
                </a:r>
                <a:r>
                  <a:rPr lang="pt-BR" b="1" dirty="0">
                    <a:solidFill>
                      <a:schemeClr val="accent2"/>
                    </a:solidFill>
                  </a:rPr>
                  <a:t>) por classe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  <a:blipFill>
                <a:blip r:embed="rId5"/>
                <a:stretch>
                  <a:fillRect l="-2027" t="-1951" r="-2815" b="-25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5202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o total de exemplos avaliados (i.e., a soma erros e acertos).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731383" y="5421759"/>
                <a:ext cx="10729233" cy="11148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principal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erros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acertos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383" y="5421759"/>
                <a:ext cx="10729233" cy="11148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082459"/>
            <a:ext cx="5050971" cy="32439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Não precisamos calcular nenhuma dessas métricas manualmente.</a:t>
            </a:r>
          </a:p>
          <a:p>
            <a:pPr marL="0" indent="0" algn="ctr">
              <a:buNone/>
            </a:pPr>
            <a:endParaRPr lang="pt-BR" sz="3200" dirty="0"/>
          </a:p>
          <a:p>
            <a:pPr marL="0" indent="0" algn="ctr">
              <a:buNone/>
            </a:pPr>
            <a:r>
              <a:rPr lang="pt-BR" sz="3200" dirty="0"/>
              <a:t>Existem funções prontas para isso.</a:t>
            </a:r>
            <a:endParaRPr lang="en-US" sz="3200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8223</TotalTime>
  <Words>3020</Words>
  <Application>Microsoft Office PowerPoint</Application>
  <PresentationFormat>Widescreen</PresentationFormat>
  <Paragraphs>310</Paragraphs>
  <Slides>33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Apresentação do PowerPoint</vt:lpstr>
      <vt:lpstr>Acurácia</vt:lpstr>
      <vt:lpstr>Acurácia</vt:lpstr>
      <vt:lpstr>Acurácia</vt:lpstr>
      <vt:lpstr>Apresentação do PowerPoint</vt:lpstr>
      <vt:lpstr>Precisão</vt:lpstr>
      <vt:lpstr>Precisão</vt:lpstr>
      <vt:lpstr>Recall</vt:lpstr>
      <vt:lpstr>Recall</vt:lpstr>
      <vt:lpstr>Apresentação do PowerPoint</vt:lpstr>
      <vt:lpstr>Precisão versus recall</vt:lpstr>
      <vt:lpstr>F1-score</vt:lpstr>
      <vt:lpstr>Apresentação do PowerPoint</vt:lpstr>
      <vt:lpstr>Matriz de confusão para caso multiclasses</vt:lpstr>
      <vt:lpstr>Um-Contra-o-Resto</vt:lpstr>
      <vt:lpstr>Matriz de confusão para Q=3</vt:lpstr>
      <vt:lpstr>Matriz de confusão para Q=3</vt:lpstr>
      <vt:lpstr>Matriz de confusão para Q=3</vt:lpstr>
      <vt:lpstr>Acurácia para o caso multiclasses</vt:lpstr>
      <vt:lpstr>Apresentação do PowerPoint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1818</cp:revision>
  <dcterms:created xsi:type="dcterms:W3CDTF">2020-01-20T13:50:05Z</dcterms:created>
  <dcterms:modified xsi:type="dcterms:W3CDTF">2026-09-14T20:12:40Z</dcterms:modified>
</cp:coreProperties>
</file>