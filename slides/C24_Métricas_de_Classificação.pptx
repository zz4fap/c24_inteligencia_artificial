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457" r:id="rId23"/>
    <p:sldId id="336" r:id="rId24"/>
    <p:sldId id="337" r:id="rId2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</a:t>
            </a:r>
            <a:r>
              <a:rPr lang="pt-BR"/>
              <a:t>notebooks/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6000" y="2479702"/>
            <a:ext cx="58854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 </a:t>
            </a:r>
            <a:r>
              <a:rPr lang="pt-BR" sz="2800" dirty="0"/>
              <a:t>mostra o quanto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de </a:t>
                </a:r>
                <a14:m>
                  <m:oMath xmlns:m="http://schemas.openxmlformats.org/officeDocument/2006/math">
                    <m:r>
                      <a:rPr lang="pt-BR" sz="2800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pt-BR" sz="2800" dirty="0"/>
                  <a:t> fornece o número de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 r="-17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i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i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i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  <a:blipFill>
                <a:blip r:embed="rId3"/>
                <a:stretch>
                  <a:fillRect l="-1802" t="-2663" r="-16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b="1" i="1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379" y="1825624"/>
            <a:ext cx="576015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i="0" dirty="0">
                <a:effectLst/>
              </a:rPr>
              <a:t>e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i="0" dirty="0">
                <a:effectLst/>
              </a:rPr>
              <a:t>avaliados.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modelo está fazendo suas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É uma métrica útil para avaliar a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5626" y="1690688"/>
            <a:ext cx="544225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i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i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i="1" dirty="0">
                <a:solidFill>
                  <a:srgbClr val="00B050"/>
                </a:solidFill>
              </a:rPr>
              <a:t>enganosa com problemas </a:t>
            </a:r>
            <a:r>
              <a:rPr lang="pt-BR" b="1" i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concluir que um </a:t>
            </a:r>
            <a:r>
              <a:rPr lang="pt-BR" b="1" i="1" dirty="0">
                <a:solidFill>
                  <a:srgbClr val="00B05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066844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positivos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(</a:t>
            </a:r>
            <a:r>
              <a:rPr lang="pt-BR" b="1" i="1" dirty="0"/>
              <a:t>verdadeiro positivo</a:t>
            </a:r>
            <a:r>
              <a:rPr lang="pt-BR" dirty="0"/>
              <a:t>), um </a:t>
            </a:r>
            <a:r>
              <a:rPr lang="pt-BR" b="1" i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i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O usuário de </a:t>
            </a:r>
            <a:r>
              <a:rPr lang="pt-BR" i="1" dirty="0" err="1"/>
              <a:t>email</a:t>
            </a:r>
            <a:r>
              <a:rPr lang="pt-BR" dirty="0"/>
              <a:t> pode perder </a:t>
            </a:r>
            <a:r>
              <a:rPr lang="pt-BR" i="1" dirty="0" err="1"/>
              <a:t>emails</a:t>
            </a:r>
            <a:r>
              <a:rPr lang="pt-BR" dirty="0"/>
              <a:t> importantes se a </a:t>
            </a:r>
            <a:r>
              <a:rPr lang="pt-BR" b="1" i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5" y="1825624"/>
            <a:ext cx="7326490" cy="5032375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Recall</a:t>
            </a:r>
            <a:r>
              <a:rPr lang="pt-BR" dirty="0"/>
              <a:t> ou sensibilidade é a proporção de exemplos da classe positiva corretamente classificados.</a:t>
            </a:r>
            <a:endParaRPr lang="pt-BR" b="1" i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negativos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doenças, se um paciente doente (</a:t>
            </a:r>
            <a:r>
              <a:rPr lang="pt-BR" b="1" i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i="1" dirty="0"/>
              <a:t>falso negativo</a:t>
            </a:r>
            <a:r>
              <a:rPr lang="pt-BR" dirty="0"/>
              <a:t>). O custo associado ao </a:t>
            </a:r>
            <a:r>
              <a:rPr lang="pt-BR" b="1" i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b="1" i="1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sz="4800" b="1" i="1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  <a:blipFill>
                <a:blip r:embed="rId2"/>
                <a:stretch>
                  <a:fillRect l="-2213" t="-11604" r="-21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É possível calcular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selecionar, uma vez, cada classe como sendo a classe positiva, enquanto todas as demais classes formam a classe negativa.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  <a:blipFill>
                <a:blip r:embed="rId3"/>
                <a:stretch>
                  <a:fillRect l="-1921" t="-2683" r="-1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8325068-7110-8CDE-99D3-4E05F625B76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8325068-7110-8CDE-99D3-4E05F625B7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6512468"/>
                  </p:ext>
                </p:extLst>
              </p:nvPr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887" t="-501449" r="-10173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397" t="-501449" r="-1293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5882695-5DE1-C1D3-36F2-0FBA637ABB6A}"/>
                  </a:ext>
                </a:extLst>
              </p:cNvPr>
              <p:cNvSpPr txBox="1"/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5882695-5DE1-C1D3-36F2-0FBA637AB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0136" y="1825624"/>
            <a:ext cx="6352162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i="1" dirty="0">
                <a:solidFill>
                  <a:srgbClr val="00B050"/>
                </a:solidFill>
              </a:rPr>
              <a:t>custos associados a falsos positivos e negativos são iguais</a:t>
            </a:r>
            <a:r>
              <a:rPr lang="pt-BR" dirty="0"/>
              <a:t>?</a:t>
            </a:r>
          </a:p>
          <a:p>
            <a:r>
              <a:rPr lang="pt-BR" dirty="0"/>
              <a:t>Nesse caso, para analisarmos o desempenho de um classificador, precisamos de uma métrica que </a:t>
            </a:r>
            <a:r>
              <a:rPr lang="pt-BR" b="1" i="1" dirty="0">
                <a:solidFill>
                  <a:srgbClr val="00B050"/>
                </a:solidFill>
              </a:rPr>
              <a:t>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a </a:t>
                </a:r>
                <a:r>
                  <a:rPr lang="pt-BR" b="1" i="1" dirty="0"/>
                  <a:t>precisão</a:t>
                </a:r>
                <a:r>
                  <a:rPr lang="pt-BR" dirty="0"/>
                  <a:t> e para 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próximos de 1 indicam que o </a:t>
                </a:r>
                <a:r>
                  <a:rPr lang="pt-BR" b="1" i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i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/>
              <a:t>Exemplo: Métricas de classificação</a:t>
            </a:r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Lista #8 – </a:t>
            </a:r>
            <a:r>
              <a:rPr lang="en-US" dirty="0" err="1"/>
              <a:t>Métricas</a:t>
            </a:r>
            <a:r>
              <a:rPr lang="en-US" dirty="0"/>
              <a:t> de </a:t>
            </a:r>
            <a:r>
              <a:rPr lang="en-US" dirty="0" err="1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7962</TotalTime>
  <Words>2354</Words>
  <Application>Microsoft Office PowerPoint</Application>
  <PresentationFormat>Widescreen</PresentationFormat>
  <Paragraphs>207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PowerPoint Presentation</vt:lpstr>
      <vt:lpstr>Acurácia</vt:lpstr>
      <vt:lpstr>Acurácia</vt:lpstr>
      <vt:lpstr>Acurácia</vt:lpstr>
      <vt:lpstr>Precisão</vt:lpstr>
      <vt:lpstr>Recall</vt:lpstr>
      <vt:lpstr>PowerPoint Presentation</vt:lpstr>
      <vt:lpstr>Matriz de confusão para caso multiclasses (Q&gt;2)</vt:lpstr>
      <vt:lpstr>Matriz de confusão para caso multiclasses (Q&gt;2)</vt:lpstr>
      <vt:lpstr>Precisão versus recall</vt:lpstr>
      <vt:lpstr>F1-score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1738</cp:revision>
  <dcterms:created xsi:type="dcterms:W3CDTF">2020-01-20T13:50:05Z</dcterms:created>
  <dcterms:modified xsi:type="dcterms:W3CDTF">2026-02-27T14:32:00Z</dcterms:modified>
</cp:coreProperties>
</file>